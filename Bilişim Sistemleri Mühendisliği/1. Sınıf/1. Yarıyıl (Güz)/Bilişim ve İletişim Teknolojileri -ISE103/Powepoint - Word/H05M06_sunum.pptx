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4.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5.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6.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7.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8.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9.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10.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7"/>
  </p:notesMasterIdLst>
  <p:sldIdLst>
    <p:sldId id="256" r:id="rId3"/>
    <p:sldId id="260" r:id="rId4"/>
    <p:sldId id="258" r:id="rId5"/>
    <p:sldId id="297" r:id="rId6"/>
    <p:sldId id="304" r:id="rId7"/>
    <p:sldId id="298" r:id="rId8"/>
    <p:sldId id="299" r:id="rId9"/>
    <p:sldId id="305" r:id="rId10"/>
    <p:sldId id="306" r:id="rId11"/>
    <p:sldId id="307" r:id="rId12"/>
    <p:sldId id="308" r:id="rId13"/>
    <p:sldId id="309" r:id="rId14"/>
    <p:sldId id="310" r:id="rId15"/>
    <p:sldId id="311" r:id="rId16"/>
  </p:sldIdLst>
  <p:sldSz cx="9144000" cy="6858000" type="screen4x3"/>
  <p:notesSz cx="6858000" cy="9144000"/>
  <p:custDataLst>
    <p:tags r:id="rId18"/>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27" autoAdjust="0"/>
  </p:normalViewPr>
  <p:slideViewPr>
    <p:cSldViewPr>
      <p:cViewPr>
        <p:scale>
          <a:sx n="70" d="100"/>
          <a:sy n="70" d="100"/>
        </p:scale>
        <p:origin x="-1368" y="-7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17.09.2011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b="1" dirty="0" smtClean="0"/>
              <a:t>0. </a:t>
            </a:r>
            <a:r>
              <a:rPr lang="tr-TR" sz="1200" kern="1200" dirty="0" smtClean="0">
                <a:solidFill>
                  <a:schemeClr val="tx1"/>
                </a:solidFill>
                <a:effectLst/>
                <a:latin typeface="+mn-lt"/>
                <a:ea typeface="+mn-ea"/>
                <a:cs typeface="+mn-cs"/>
              </a:rPr>
              <a:t>PowerPoint slaytlarınıza tablo eklemek için,  PowerPoint içinden bir tablo oluşturulabilir, Word'deki bir tabloyu veya Excel'deki bir hücre grubunu kopyalayıp yapıştırabilir ya da Excel elektronik tablosunu PowerPoint içinden ekleyebilirsiniz.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dirty="0" smtClean="0"/>
              <a:t>0. </a:t>
            </a:r>
            <a:r>
              <a:rPr lang="tr-TR" sz="1200" dirty="0" smtClean="0"/>
              <a:t>PowerPoint sununuzdan bir tabloyu kopyalayıp Excel çalışma sayfasına veya Word belgesine de yapıştırabilirsiniz.</a:t>
            </a:r>
          </a:p>
          <a:p>
            <a:endParaRPr lang="tr-T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tr-TR" sz="1200" b="0" dirty="0" smtClean="0"/>
              <a:t>&lt; 3. </a:t>
            </a:r>
            <a:r>
              <a:rPr lang="tr-TR" sz="1200" dirty="0" smtClean="0"/>
              <a:t>Sununuza bir Excel elektronik tablosu eklediğinizde, bazı Excel elektronik tablosu işlevlerinden yararlanabilirsiniz. Ancak, sununuzun temasını değiştirirseniz, tema eklediğiniz elektronik tabloyu güncelleştirmez.. </a:t>
            </a:r>
          </a:p>
          <a:p>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Sununuzdaki tablo üzerinde işlem yaparken (tablo seçili iken, imleç tablonun içinde iken </a:t>
            </a:r>
            <a:r>
              <a:rPr lang="tr-TR" sz="1200" kern="1200" dirty="0" err="1" smtClean="0">
                <a:solidFill>
                  <a:schemeClr val="tx1"/>
                </a:solidFill>
                <a:effectLst/>
                <a:latin typeface="+mn-lt"/>
                <a:ea typeface="+mn-ea"/>
                <a:cs typeface="+mn-cs"/>
              </a:rPr>
              <a:t>v.b</a:t>
            </a:r>
            <a:r>
              <a:rPr lang="tr-TR" sz="1200" kern="1200" dirty="0" smtClean="0">
                <a:solidFill>
                  <a:schemeClr val="tx1"/>
                </a:solidFill>
                <a:effectLst/>
                <a:latin typeface="+mn-lt"/>
                <a:ea typeface="+mn-ea"/>
                <a:cs typeface="+mn-cs"/>
              </a:rPr>
              <a:t>.) Şerit üzerinde </a:t>
            </a:r>
            <a:r>
              <a:rPr lang="tr-TR" sz="1200" i="1" kern="1200" dirty="0" smtClean="0">
                <a:solidFill>
                  <a:schemeClr val="tx1"/>
                </a:solidFill>
                <a:effectLst/>
                <a:latin typeface="+mn-lt"/>
                <a:ea typeface="+mn-ea"/>
                <a:cs typeface="+mn-cs"/>
              </a:rPr>
              <a:t>Tablo Araçları</a:t>
            </a:r>
            <a:r>
              <a:rPr lang="tr-TR" sz="1200" kern="1200" dirty="0" smtClean="0">
                <a:solidFill>
                  <a:schemeClr val="tx1"/>
                </a:solidFill>
                <a:effectLst/>
                <a:latin typeface="+mn-lt"/>
                <a:ea typeface="+mn-ea"/>
                <a:cs typeface="+mn-cs"/>
              </a:rPr>
              <a:t> başlığı altında </a:t>
            </a:r>
            <a:r>
              <a:rPr lang="tr-TR" sz="1200" i="1" kern="1200" dirty="0" smtClean="0">
                <a:solidFill>
                  <a:schemeClr val="tx1"/>
                </a:solidFill>
                <a:effectLst/>
                <a:latin typeface="+mn-lt"/>
                <a:ea typeface="+mn-ea"/>
                <a:cs typeface="+mn-cs"/>
              </a:rPr>
              <a:t>Tasarım</a:t>
            </a:r>
            <a:r>
              <a:rPr lang="tr-TR" sz="1200" kern="1200" dirty="0" smtClean="0">
                <a:solidFill>
                  <a:schemeClr val="tx1"/>
                </a:solidFill>
                <a:effectLst/>
                <a:latin typeface="+mn-lt"/>
                <a:ea typeface="+mn-ea"/>
                <a:cs typeface="+mn-cs"/>
              </a:rPr>
              <a:t> ve </a:t>
            </a:r>
            <a:r>
              <a:rPr lang="tr-TR" sz="1200" i="1" kern="1200" dirty="0" smtClean="0">
                <a:solidFill>
                  <a:schemeClr val="tx1"/>
                </a:solidFill>
                <a:effectLst/>
                <a:latin typeface="+mn-lt"/>
                <a:ea typeface="+mn-ea"/>
                <a:cs typeface="+mn-cs"/>
              </a:rPr>
              <a:t>Düzen</a:t>
            </a:r>
            <a:r>
              <a:rPr lang="tr-TR" sz="1200" kern="1200" dirty="0" smtClean="0">
                <a:solidFill>
                  <a:schemeClr val="tx1"/>
                </a:solidFill>
                <a:effectLst/>
                <a:latin typeface="+mn-lt"/>
                <a:ea typeface="+mn-ea"/>
                <a:cs typeface="+mn-cs"/>
              </a:rPr>
              <a:t> ek sekmeleri açılmaktadır.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b="1" dirty="0" smtClean="0"/>
              <a:t>0. </a:t>
            </a:r>
            <a:r>
              <a:rPr lang="tr-TR" sz="1200" kern="1200" dirty="0" smtClean="0">
                <a:solidFill>
                  <a:schemeClr val="tx1"/>
                </a:solidFill>
                <a:effectLst/>
                <a:latin typeface="+mn-lt"/>
                <a:ea typeface="+mn-ea"/>
                <a:cs typeface="+mn-cs"/>
              </a:rPr>
              <a:t>Tablo stili, farklı biçimlendirme seçeneklerinin, sununun tema renklerinden türetilen renk birleşimlerini de içeren bir birleşimidir. Eğer bir tema kullanıyorsanız sunuya eklediğiniz her tabloya otomatik olarak uygulanan bir tablo stili vardır.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b="1" dirty="0" smtClean="0"/>
              <a:t>0. </a:t>
            </a:r>
            <a:r>
              <a:rPr lang="tr-TR" sz="1200" kern="1200" dirty="0" smtClean="0">
                <a:solidFill>
                  <a:schemeClr val="tx1"/>
                </a:solidFill>
                <a:effectLst/>
                <a:latin typeface="+mn-lt"/>
                <a:ea typeface="+mn-ea"/>
                <a:cs typeface="+mn-cs"/>
              </a:rPr>
              <a:t>Tablonuza veya hücrelere kenarlık eklemek ve kenarlık biçimlerini değiştirmek için;</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12</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400" b="1" dirty="0" smtClean="0"/>
              <a:t>&gt;3. </a:t>
            </a:r>
            <a:r>
              <a:rPr lang="tr-TR" sz="1200" kern="1200" dirty="0" smtClean="0">
                <a:solidFill>
                  <a:schemeClr val="tx1"/>
                </a:solidFill>
                <a:effectLst/>
                <a:latin typeface="+mn-lt"/>
                <a:ea typeface="+mn-ea"/>
                <a:cs typeface="+mn-cs"/>
              </a:rPr>
              <a:t>Bir hücreyi yatay olarak bölmek için Satır sayısı kutusuna istediğiniz yeni hücrelerin sayısını girin. Bir hücreyi hem yatay hem de dikey olarak bölmek için, Sütun sayısı kutusuna istediğiniz yeni sütun sayısını, Satır sayısı kutusuna da istediğiniz yeni satır sayısını girin.</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13</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400" b="1" dirty="0" smtClean="0"/>
              <a:t>&gt;3. </a:t>
            </a:r>
            <a:r>
              <a:rPr lang="tr-TR" sz="1200" kern="1200" dirty="0" smtClean="0">
                <a:solidFill>
                  <a:schemeClr val="tx1"/>
                </a:solidFill>
                <a:effectLst/>
                <a:latin typeface="+mn-lt"/>
                <a:ea typeface="+mn-ea"/>
                <a:cs typeface="+mn-cs"/>
              </a:rPr>
              <a:t>Bir hücreyi yatay olarak bölmek için Satır sayısı kutusuna istediğiniz yeni hücrelerin sayısını girin. Bir hücreyi hem yatay hem de dikey olarak bölmek için, Sütun sayısı kutusuna istediğiniz yeni sütun sayısını, Satır sayısı kutusuna da istediğiniz yeni satır sayısını girin.</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14</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17.09.2011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17.09.2011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17.09.2011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17.09.2011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17.09.2011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17.09.2011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17.09.2011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17.09.2011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17.09.2011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17.09.2011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17.09.2011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5.png"/><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4.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notesSlide" Target="../notesSlides/notesSlide1.xml"/><Relationship Id="rId5" Type="http://schemas.openxmlformats.org/officeDocument/2006/relationships/tags" Target="../tags/tag57.xml"/><Relationship Id="rId15" Type="http://schemas.openxmlformats.org/officeDocument/2006/relationships/image" Target="../media/image7.png"/><Relationship Id="rId10" Type="http://schemas.openxmlformats.org/officeDocument/2006/relationships/slideLayout" Target="../slideLayouts/slideLayout13.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notesSlide" Target="../notesSlides/notesSlide2.xml"/><Relationship Id="rId4" Type="http://schemas.openxmlformats.org/officeDocument/2006/relationships/tags" Target="../tags/tag65.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5" Type="http://schemas.openxmlformats.org/officeDocument/2006/relationships/tags" Target="../tags/tag74.xml"/><Relationship Id="rId10" Type="http://schemas.openxmlformats.org/officeDocument/2006/relationships/notesSlide" Target="../notesSlides/notesSlide3.xml"/><Relationship Id="rId4" Type="http://schemas.openxmlformats.org/officeDocument/2006/relationships/tags" Target="../tags/tag73.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8.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notesSlide" Target="../notesSlides/notesSlide4.xml"/><Relationship Id="rId5" Type="http://schemas.openxmlformats.org/officeDocument/2006/relationships/tags" Target="../tags/tag82.xml"/><Relationship Id="rId10" Type="http://schemas.openxmlformats.org/officeDocument/2006/relationships/slideLayout" Target="../slideLayouts/slideLayout13.xml"/><Relationship Id="rId4" Type="http://schemas.openxmlformats.org/officeDocument/2006/relationships/tags" Target="../tags/tag81.xml"/><Relationship Id="rId9" Type="http://schemas.openxmlformats.org/officeDocument/2006/relationships/tags" Target="../tags/tag86.xml"/></Relationships>
</file>

<file path=ppt/slides/_rels/slide8.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10.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9.png"/><Relationship Id="rId5" Type="http://schemas.openxmlformats.org/officeDocument/2006/relationships/tags" Target="../tags/tag91.xml"/><Relationship Id="rId10" Type="http://schemas.openxmlformats.org/officeDocument/2006/relationships/notesSlide" Target="../notesSlides/notesSlide5.xml"/><Relationship Id="rId4" Type="http://schemas.openxmlformats.org/officeDocument/2006/relationships/tags" Target="../tags/tag90.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image" Target="../media/image13.png"/><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12.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image" Target="../media/image11.png"/><Relationship Id="rId5" Type="http://schemas.openxmlformats.org/officeDocument/2006/relationships/tags" Target="../tags/tag99.xml"/><Relationship Id="rId10" Type="http://schemas.openxmlformats.org/officeDocument/2006/relationships/notesSlide" Target="../notesSlides/notesSlide6.xml"/><Relationship Id="rId4" Type="http://schemas.openxmlformats.org/officeDocument/2006/relationships/tags" Target="../tags/tag98.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image" Target="../media/image15.pn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image" Target="../media/image14.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notesSlide" Target="../notesSlides/notesSlide7.xml"/><Relationship Id="rId5" Type="http://schemas.openxmlformats.org/officeDocument/2006/relationships/tags" Target="../tags/tag107.xml"/><Relationship Id="rId15" Type="http://schemas.openxmlformats.org/officeDocument/2006/relationships/image" Target="../media/image17.png"/><Relationship Id="rId10" Type="http://schemas.openxmlformats.org/officeDocument/2006/relationships/slideLayout" Target="../slideLayouts/slideLayout13.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image" Target="../media/image16.gif"/></Relationships>
</file>

<file path=ppt/slides/_rels/slide11.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image" Target="../media/image18.png"/><Relationship Id="rId5" Type="http://schemas.openxmlformats.org/officeDocument/2006/relationships/tags" Target="../tags/tag116.xml"/><Relationship Id="rId10" Type="http://schemas.openxmlformats.org/officeDocument/2006/relationships/notesSlide" Target="../notesSlides/notesSlide8.xml"/><Relationship Id="rId4" Type="http://schemas.openxmlformats.org/officeDocument/2006/relationships/tags" Target="../tags/tag115.xml"/><Relationship Id="rId9"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20.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9.png"/><Relationship Id="rId5" Type="http://schemas.openxmlformats.org/officeDocument/2006/relationships/tags" Target="../tags/tag124.xml"/><Relationship Id="rId10" Type="http://schemas.openxmlformats.org/officeDocument/2006/relationships/notesSlide" Target="../notesSlides/notesSlide9.xml"/><Relationship Id="rId4" Type="http://schemas.openxmlformats.org/officeDocument/2006/relationships/tags" Target="../tags/tag123.xml"/><Relationship Id="rId9"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notesSlide" Target="../notesSlides/notesSlide10.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slideLayout" Target="../slideLayouts/slideLayout13.xml"/><Relationship Id="rId17" Type="http://schemas.openxmlformats.org/officeDocument/2006/relationships/image" Target="../media/image23.png"/><Relationship Id="rId2" Type="http://schemas.openxmlformats.org/officeDocument/2006/relationships/tags" Target="../tags/tag129.xml"/><Relationship Id="rId16" Type="http://schemas.openxmlformats.org/officeDocument/2006/relationships/image" Target="../media/image22.png"/><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image" Target="../media/image16.gif"/><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25.png"/><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24.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notesSlide" Target="../notesSlides/notesSlide11.xml"/><Relationship Id="rId5" Type="http://schemas.openxmlformats.org/officeDocument/2006/relationships/tags" Target="../tags/tag143.xml"/><Relationship Id="rId10" Type="http://schemas.openxmlformats.org/officeDocument/2006/relationships/slideLayout" Target="../slideLayouts/slideLayout13.xml"/><Relationship Id="rId4" Type="http://schemas.openxmlformats.org/officeDocument/2006/relationships/tags" Target="../tags/tag142.xml"/><Relationship Id="rId9" Type="http://schemas.openxmlformats.org/officeDocument/2006/relationships/tags" Target="../tags/tag1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6000"/>
            <a:ext cx="5943600" cy="1752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6705600" cy="1200329"/>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Slaytlara tablo ekler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Tablo içine metin girer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Tablo biçimlendirmelerini yapar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3"/>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4.3.    Tablo</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4.3.1.  </a:t>
            </a:r>
            <a:r>
              <a:rPr lang="tr-TR" sz="1600" b="1" dirty="0" err="1">
                <a:latin typeface="Calibri" pitchFamily="34" charset="0"/>
                <a:cs typeface="Calibri" pitchFamily="34" charset="0"/>
              </a:rPr>
              <a:t>Slayta</a:t>
            </a:r>
            <a:r>
              <a:rPr lang="tr-TR" sz="1600" b="1" dirty="0">
                <a:latin typeface="Calibri" pitchFamily="34" charset="0"/>
                <a:cs typeface="Calibri" pitchFamily="34" charset="0"/>
              </a:rPr>
              <a:t> tablo ekleme</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4.3.2. Tablo içine metin girme</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4.3.3. Tablonun arka planına veya hücrelere renk ve doku ekleme</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4.3.4. Tablo stillerini kullanmak</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4.3.5. Tablo kenarlıklarını ayarlamak</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4.3.6. Tabloya efekt eklemek</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4.3.7. Tablo içine satır/sütun eklemek, silmek</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4.3.8. Hücre birleştirme ve bölme, metin yönü ve hizalama</a:t>
            </a:r>
          </a:p>
        </p:txBody>
      </p:sp>
      <p:sp>
        <p:nvSpPr>
          <p:cNvPr id="15" name="Slayt Numarası Yer Tutucusu 14"/>
          <p:cNvSpPr>
            <a:spLocks noGrp="1"/>
          </p:cNvSpPr>
          <p:nvPr>
            <p:ph type="sldNum" sz="quarter" idx="12"/>
            <p:custDataLst>
              <p:tags r:id="rId4"/>
            </p:custDataLst>
          </p:nvPr>
        </p:nvSpPr>
        <p:spPr/>
        <p:txBody>
          <a:bodyPr/>
          <a:lstStyle/>
          <a:p>
            <a:fld id="{C1FA2219-9131-49AD-A1B5-1FFD48A79E7F}" type="slidenum">
              <a:rPr lang="tr-TR" smtClean="0"/>
              <a:t>3</a:t>
            </a:fld>
            <a:endParaRPr lang="tr-TR"/>
          </a:p>
        </p:txBody>
      </p:sp>
      <p:sp>
        <p:nvSpPr>
          <p:cNvPr id="8" name="Dikdörtgen 7"/>
          <p:cNvSpPr/>
          <p:nvPr>
            <p:custDataLst>
              <p:tags r:id="rId5"/>
            </p:custDataLst>
          </p:nvPr>
        </p:nvSpPr>
        <p:spPr>
          <a:xfrm>
            <a:off x="457200" y="1828800"/>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tr-T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tr-TR"/>
          </a:p>
        </p:txBody>
      </p:sp>
      <p:sp>
        <p:nvSpPr>
          <p:cNvPr id="9" name="Metin kutusu 6"/>
          <p:cNvSpPr txBox="1"/>
          <p:nvPr>
            <p:custDataLst>
              <p:tags r:id="rId6"/>
            </p:custDataLst>
          </p:nvPr>
        </p:nvSpPr>
        <p:spPr>
          <a:xfrm>
            <a:off x="533400" y="1964525"/>
            <a:ext cx="2667000" cy="242631"/>
          </a:xfrm>
          <a:prstGeom prst="rect">
            <a:avLst/>
          </a:prstGeom>
          <a:noFill/>
        </p:spPr>
        <p:txBody>
          <a:bodyPr wrap="squar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Slayta</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tablo ekleme</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tablo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pPr marL="342900" indent="-342900">
              <a:buFont typeface="+mj-lt"/>
              <a:buAutoNum type="arabicPeriod"/>
            </a:pPr>
            <a:r>
              <a:rPr lang="tr-TR" sz="1600" dirty="0" smtClean="0"/>
              <a:t>Tablo </a:t>
            </a:r>
            <a:r>
              <a:rPr lang="tr-TR" sz="1600" dirty="0"/>
              <a:t>eklemek istediğiniz slaydı seçin.</a:t>
            </a:r>
          </a:p>
          <a:p>
            <a:pPr marL="342900" indent="-342900">
              <a:buFont typeface="+mj-lt"/>
              <a:buAutoNum type="arabicPeriod"/>
            </a:pPr>
            <a:r>
              <a:rPr lang="tr-TR" sz="1600" b="1" i="1" dirty="0" smtClean="0"/>
              <a:t>Ekle </a:t>
            </a:r>
            <a:r>
              <a:rPr lang="tr-TR" sz="1600" b="1" i="1" dirty="0"/>
              <a:t>sekmesi &gt; Tablolar komut grubunda &gt; </a:t>
            </a:r>
            <a:r>
              <a:rPr lang="tr-TR" sz="1600" b="1" i="1" dirty="0" err="1"/>
              <a:t>Tablo</a:t>
            </a:r>
            <a:r>
              <a:rPr lang="tr-TR" sz="1600" dirty="0" err="1"/>
              <a:t>'yu</a:t>
            </a:r>
            <a:r>
              <a:rPr lang="tr-TR" sz="1600" dirty="0"/>
              <a:t> tıklatın.</a:t>
            </a:r>
          </a:p>
          <a:p>
            <a:pPr marL="342900" indent="-342900">
              <a:buFont typeface="+mj-lt"/>
              <a:buAutoNum type="arabicPeriod"/>
            </a:pPr>
            <a:r>
              <a:rPr lang="tr-TR" sz="1600" dirty="0" smtClean="0"/>
              <a:t>Fareyi </a:t>
            </a:r>
            <a:r>
              <a:rPr lang="tr-TR" sz="1600" dirty="0"/>
              <a:t>tıklatıp işaretçiyi hareket ettirerek istediğiniz sayıda satır ve sütunu seçin ve sonra da fare düğmesini bırakın. Ya da aynı menüden </a:t>
            </a:r>
            <a:r>
              <a:rPr lang="tr-TR" sz="1600" b="1" i="1" dirty="0"/>
              <a:t>Tablo </a:t>
            </a:r>
            <a:r>
              <a:rPr lang="tr-TR" sz="1600" b="1" i="1" dirty="0" err="1"/>
              <a:t>Ekle</a:t>
            </a:r>
            <a:r>
              <a:rPr lang="tr-TR" sz="1600" dirty="0" err="1"/>
              <a:t>'yi</a:t>
            </a:r>
            <a:r>
              <a:rPr lang="tr-TR" sz="1600" dirty="0"/>
              <a:t> tıklatıp </a:t>
            </a:r>
            <a:r>
              <a:rPr lang="tr-TR" sz="1600" b="1" i="1" dirty="0"/>
              <a:t>Sütun sayısı </a:t>
            </a:r>
            <a:r>
              <a:rPr lang="tr-TR" sz="1600" dirty="0"/>
              <a:t>ve </a:t>
            </a:r>
            <a:r>
              <a:rPr lang="tr-TR" sz="1600" b="1" i="1" dirty="0"/>
              <a:t>Satır sayısını</a:t>
            </a:r>
            <a:r>
              <a:rPr lang="tr-TR" sz="1600" dirty="0"/>
              <a:t> girin.</a:t>
            </a:r>
          </a:p>
        </p:txBody>
      </p:sp>
      <p:pic>
        <p:nvPicPr>
          <p:cNvPr id="17" name="Resim 16"/>
          <p:cNvPicPr/>
          <p:nvPr/>
        </p:nvPicPr>
        <p:blipFill>
          <a:blip r:embed="rId12"/>
          <a:stretch>
            <a:fillRect/>
          </a:stretch>
        </p:blipFill>
        <p:spPr>
          <a:xfrm>
            <a:off x="958816" y="2707549"/>
            <a:ext cx="3394075" cy="2435225"/>
          </a:xfrm>
          <a:prstGeom prst="rect">
            <a:avLst/>
          </a:prstGeom>
        </p:spPr>
      </p:pic>
      <p:pic>
        <p:nvPicPr>
          <p:cNvPr id="19" name="Resim 18"/>
          <p:cNvPicPr/>
          <p:nvPr/>
        </p:nvPicPr>
        <p:blipFill>
          <a:blip r:embed="rId13"/>
          <a:stretch>
            <a:fillRect/>
          </a:stretch>
        </p:blipFill>
        <p:spPr>
          <a:xfrm>
            <a:off x="4953000" y="3089056"/>
            <a:ext cx="1752600" cy="1134293"/>
          </a:xfrm>
          <a:prstGeom prst="rect">
            <a:avLst/>
          </a:prstGeom>
        </p:spPr>
      </p:pic>
      <p:sp>
        <p:nvSpPr>
          <p:cNvPr id="20" name="Metin kutusu 19"/>
          <p:cNvSpPr txBox="1"/>
          <p:nvPr>
            <p:custDataLst>
              <p:tags r:id="rId6"/>
            </p:custDataLst>
          </p:nvPr>
        </p:nvSpPr>
        <p:spPr>
          <a:xfrm>
            <a:off x="533400" y="5142774"/>
            <a:ext cx="7772400" cy="584775"/>
          </a:xfrm>
          <a:prstGeom prst="rect">
            <a:avLst/>
          </a:prstGeom>
          <a:noFill/>
        </p:spPr>
        <p:txBody>
          <a:bodyPr wrap="square" rtlCol="0">
            <a:spAutoFit/>
          </a:bodyPr>
          <a:lstStyle/>
          <a:p>
            <a:pPr marL="342900" indent="-342900">
              <a:buFont typeface="+mj-lt"/>
              <a:buAutoNum type="arabicPeriod" startAt="4"/>
            </a:pPr>
            <a:r>
              <a:rPr lang="tr-TR" sz="1600" dirty="0"/>
              <a:t>Alternatif olarak içerik eklenebilecek şekilde tasarlanmış slayt düzenlerinde, </a:t>
            </a:r>
            <a:r>
              <a:rPr lang="tr-TR" sz="1600" b="1" i="1" dirty="0"/>
              <a:t>Tablo Ekle </a:t>
            </a:r>
            <a:r>
              <a:rPr lang="tr-TR" sz="1600" dirty="0"/>
              <a:t>öğesini </a:t>
            </a:r>
            <a:r>
              <a:rPr lang="tr-TR" sz="1600" dirty="0" smtClean="0"/>
              <a:t>(        ) </a:t>
            </a:r>
            <a:r>
              <a:rPr lang="tr-TR" sz="1600" dirty="0"/>
              <a:t>tıklatarak yine </a:t>
            </a:r>
            <a:r>
              <a:rPr lang="tr-TR" sz="1600" b="1" i="1" dirty="0"/>
              <a:t>Sütun sayısı</a:t>
            </a:r>
            <a:r>
              <a:rPr lang="tr-TR" sz="1600" dirty="0"/>
              <a:t> ve </a:t>
            </a:r>
            <a:r>
              <a:rPr lang="tr-TR" sz="1600" b="1" i="1" dirty="0"/>
              <a:t>Satır sayısını </a:t>
            </a:r>
            <a:r>
              <a:rPr lang="tr-TR" sz="1600" dirty="0"/>
              <a:t>girerek Tablo ekleyebilirsiniz.</a:t>
            </a:r>
          </a:p>
        </p:txBody>
      </p:sp>
      <p:pic>
        <p:nvPicPr>
          <p:cNvPr id="6146"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8700" y="5867400"/>
            <a:ext cx="11620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Resim 21"/>
          <p:cNvPicPr/>
          <p:nvPr/>
        </p:nvPicPr>
        <p:blipFill>
          <a:blip r:embed="rId15"/>
          <a:stretch>
            <a:fillRect/>
          </a:stretch>
        </p:blipFill>
        <p:spPr>
          <a:xfrm>
            <a:off x="1698616" y="5435161"/>
            <a:ext cx="294640" cy="256540"/>
          </a:xfrm>
          <a:prstGeom prst="rect">
            <a:avLst/>
          </a:prstGeom>
        </p:spPr>
      </p:pic>
    </p:spTree>
    <p:custDataLst>
      <p:tags r:id="rId1"/>
    </p:custDataLst>
    <p:extLst>
      <p:ext uri="{BB962C8B-B14F-4D97-AF65-F5344CB8AC3E}">
        <p14:creationId xmlns:p14="http://schemas.microsoft.com/office/powerpoint/2010/main" val="241850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6146"/>
                                        </p:tgtEl>
                                        <p:attrNameLst>
                                          <p:attrName>style.visibility</p:attrName>
                                        </p:attrNameLst>
                                      </p:cBhvr>
                                      <p:to>
                                        <p:strVal val="visible"/>
                                      </p:to>
                                    </p:set>
                                    <p:animEffect transition="in" filter="fade">
                                      <p:cBhvr>
                                        <p:cTn id="34"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Slayta</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tablo ekleme</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tablo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33400" y="1371600"/>
            <a:ext cx="7772400" cy="3539430"/>
          </a:xfrm>
          <a:prstGeom prst="rect">
            <a:avLst/>
          </a:prstGeom>
          <a:noFill/>
        </p:spPr>
        <p:txBody>
          <a:bodyPr wrap="square" rtlCol="0">
            <a:spAutoFit/>
          </a:bodyPr>
          <a:lstStyle/>
          <a:p>
            <a:r>
              <a:rPr lang="tr-TR" sz="1600" b="1" u="sng" dirty="0"/>
              <a:t>Word'den bir tabloyu kopyalayıp yapıştırma</a:t>
            </a:r>
            <a:endParaRPr lang="tr-TR" sz="1600" b="1" dirty="0"/>
          </a:p>
          <a:p>
            <a:pPr marL="342900" indent="-342900">
              <a:buFont typeface="+mj-lt"/>
              <a:buAutoNum type="arabicPeriod"/>
            </a:pPr>
            <a:r>
              <a:rPr lang="tr-TR" sz="1600" dirty="0" smtClean="0"/>
              <a:t>Word'de</a:t>
            </a:r>
            <a:r>
              <a:rPr lang="tr-TR" sz="1600" dirty="0"/>
              <a:t>, kopyalamak istediğiniz tabloyu tıklatın ve kopyalayın</a:t>
            </a:r>
            <a:r>
              <a:rPr lang="tr-TR" sz="1600" dirty="0" smtClean="0"/>
              <a:t>.</a:t>
            </a:r>
          </a:p>
          <a:p>
            <a:pPr marL="342900" indent="-342900">
              <a:buFont typeface="+mj-lt"/>
              <a:buAutoNum type="arabicPeriod"/>
            </a:pPr>
            <a:r>
              <a:rPr lang="tr-TR" sz="1600" dirty="0" smtClean="0"/>
              <a:t>PowerPoint </a:t>
            </a:r>
            <a:r>
              <a:rPr lang="tr-TR" sz="1600" dirty="0"/>
              <a:t>sununuzda, tabloyu kopyalamak istediğiniz slaydı seçin ve yapıştırın</a:t>
            </a:r>
          </a:p>
          <a:p>
            <a:r>
              <a:rPr lang="tr-TR" sz="1600" dirty="0"/>
              <a:t> </a:t>
            </a:r>
          </a:p>
          <a:p>
            <a:r>
              <a:rPr lang="tr-TR" sz="1600" b="1" u="sng" dirty="0"/>
              <a:t>Excel'den bir hücre grubunu kopyalayıp yapıştırma</a:t>
            </a:r>
            <a:endParaRPr lang="tr-TR" sz="1600" b="1" dirty="0"/>
          </a:p>
          <a:p>
            <a:pPr marL="342900" indent="-342900">
              <a:buFont typeface="+mj-lt"/>
              <a:buAutoNum type="arabicPeriod"/>
            </a:pPr>
            <a:r>
              <a:rPr lang="tr-TR" sz="1600" dirty="0" smtClean="0"/>
              <a:t>Excel’de kopyalamak </a:t>
            </a:r>
            <a:r>
              <a:rPr lang="tr-TR" sz="1600" dirty="0"/>
              <a:t>istediğiniz hücreler üzerinde işaretçiyi sürükleyerek istediğiniz satır ve sütunları seçin. </a:t>
            </a:r>
          </a:p>
          <a:p>
            <a:pPr marL="342900" indent="-342900">
              <a:buFont typeface="+mj-lt"/>
              <a:buAutoNum type="arabicPeriod"/>
            </a:pPr>
            <a:r>
              <a:rPr lang="tr-TR" sz="1600" b="1" i="1" dirty="0" smtClean="0"/>
              <a:t>Giriş sekmesi &gt; Pano grubu &gt;</a:t>
            </a:r>
            <a:r>
              <a:rPr lang="tr-TR" sz="1600" b="1" i="1" dirty="0" err="1" smtClean="0"/>
              <a:t>Kopyala</a:t>
            </a:r>
            <a:r>
              <a:rPr lang="tr-TR" sz="1600" dirty="0" err="1" smtClean="0"/>
              <a:t>'yı</a:t>
            </a:r>
            <a:r>
              <a:rPr lang="tr-TR" sz="1600" dirty="0" smtClean="0"/>
              <a:t> </a:t>
            </a:r>
            <a:r>
              <a:rPr lang="tr-TR" sz="1600" dirty="0"/>
              <a:t>tıklatın.</a:t>
            </a:r>
          </a:p>
          <a:p>
            <a:pPr marL="342900" indent="-342900">
              <a:buFont typeface="+mj-lt"/>
              <a:buAutoNum type="arabicPeriod"/>
            </a:pPr>
            <a:r>
              <a:rPr lang="tr-TR" sz="1600" dirty="0" smtClean="0"/>
              <a:t>PowerPoint </a:t>
            </a:r>
            <a:r>
              <a:rPr lang="tr-TR" sz="1600" dirty="0"/>
              <a:t>sununuzda, tabloyu kopyalamak istediğiniz slaydı seçin ve yapıştırın</a:t>
            </a:r>
          </a:p>
          <a:p>
            <a:r>
              <a:rPr lang="tr-TR" sz="1600" dirty="0"/>
              <a:t> </a:t>
            </a:r>
          </a:p>
          <a:p>
            <a:r>
              <a:rPr lang="tr-TR" sz="1600" b="1" u="sng" dirty="0"/>
              <a:t>Excel elektronik tablosunu PowerPoint içinden ekleme</a:t>
            </a:r>
            <a:endParaRPr lang="tr-TR" sz="1600" b="1" dirty="0"/>
          </a:p>
          <a:p>
            <a:pPr marL="342900" indent="-342900">
              <a:buFont typeface="+mj-lt"/>
              <a:buAutoNum type="arabicPeriod"/>
            </a:pPr>
            <a:r>
              <a:rPr lang="tr-TR" sz="1600" dirty="0" smtClean="0"/>
              <a:t>Excel </a:t>
            </a:r>
            <a:r>
              <a:rPr lang="tr-TR" sz="1600" dirty="0"/>
              <a:t>elektronik tablosu eklemek istediğiniz slaydı seçin.</a:t>
            </a:r>
          </a:p>
          <a:p>
            <a:pPr marL="342900" indent="-342900">
              <a:buFont typeface="+mj-lt"/>
              <a:buAutoNum type="arabicPeriod"/>
            </a:pPr>
            <a:r>
              <a:rPr lang="tr-TR" sz="1600" b="1" i="1" dirty="0" smtClean="0"/>
              <a:t>Ekle </a:t>
            </a:r>
            <a:r>
              <a:rPr lang="tr-TR" sz="1600" b="1" i="1" dirty="0"/>
              <a:t>sekmesi &gt; Tablolar grubu &gt; </a:t>
            </a:r>
            <a:r>
              <a:rPr lang="tr-TR" sz="1600" b="1" i="1" dirty="0" err="1"/>
              <a:t>Tablo</a:t>
            </a:r>
            <a:r>
              <a:rPr lang="tr-TR" sz="1600" dirty="0" err="1"/>
              <a:t>'yu</a:t>
            </a:r>
            <a:r>
              <a:rPr lang="tr-TR" sz="1600" dirty="0"/>
              <a:t> tıklatın ve sonra </a:t>
            </a:r>
            <a:r>
              <a:rPr lang="tr-TR" sz="1600" b="1" i="1" dirty="0"/>
              <a:t>Excel Elektronik </a:t>
            </a:r>
            <a:r>
              <a:rPr lang="tr-TR" sz="1600" b="1" i="1" dirty="0" err="1"/>
              <a:t>Tablosu</a:t>
            </a:r>
            <a:r>
              <a:rPr lang="tr-TR" sz="1600" dirty="0" err="1"/>
              <a:t>'nu</a:t>
            </a:r>
            <a:r>
              <a:rPr lang="tr-TR" sz="1600" dirty="0"/>
              <a:t> tıklatın.</a:t>
            </a:r>
          </a:p>
        </p:txBody>
      </p:sp>
    </p:spTree>
    <p:custDataLst>
      <p:tags r:id="rId1"/>
    </p:custDataLst>
    <p:extLst>
      <p:ext uri="{BB962C8B-B14F-4D97-AF65-F5344CB8AC3E}">
        <p14:creationId xmlns:p14="http://schemas.microsoft.com/office/powerpoint/2010/main" val="1287312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Effect transition="in" filter="fade">
                                      <p:cBhvr>
                                        <p:cTn id="27" dur="500"/>
                                        <p:tgtEl>
                                          <p:spTgt spid="7">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9" end="9"/>
                                            </p:txEl>
                                          </p:spTgt>
                                        </p:tgtEl>
                                        <p:attrNameLst>
                                          <p:attrName>style.visibility</p:attrName>
                                        </p:attrNameLst>
                                      </p:cBhvr>
                                      <p:to>
                                        <p:strVal val="visible"/>
                                      </p:to>
                                    </p:set>
                                    <p:animEffect transition="in" filter="fade">
                                      <p:cBhvr>
                                        <p:cTn id="32" dur="500"/>
                                        <p:tgtEl>
                                          <p:spTgt spid="7">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animEffect transition="in" filter="fade">
                                      <p:cBhvr>
                                        <p:cTn id="35" dur="500"/>
                                        <p:tgtEl>
                                          <p:spTgt spid="7">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7">
                                            <p:txEl>
                                              <p:pRg st="11" end="11"/>
                                            </p:txEl>
                                          </p:spTgt>
                                        </p:tgtEl>
                                        <p:attrNameLst>
                                          <p:attrName>style.visibility</p:attrName>
                                        </p:attrNameLst>
                                      </p:cBhvr>
                                      <p:to>
                                        <p:strVal val="visible"/>
                                      </p:to>
                                    </p:set>
                                    <p:animEffect transition="in" filter="fade">
                                      <p:cBhvr>
                                        <p:cTn id="38"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 içine metin girme</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Tablo içine metin </a:t>
            </a:r>
            <a:r>
              <a:rPr lang="tr-TR" sz="1400" b="1" dirty="0" smtClean="0">
                <a:solidFill>
                  <a:schemeClr val="bg1"/>
                </a:solidFill>
              </a:rPr>
              <a:t>girer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7772400" cy="738664"/>
          </a:xfrm>
          <a:prstGeom prst="rect">
            <a:avLst/>
          </a:prstGeom>
          <a:noFill/>
        </p:spPr>
        <p:txBody>
          <a:bodyPr wrap="square" rtlCol="0">
            <a:spAutoFit/>
          </a:bodyPr>
          <a:lstStyle/>
          <a:p>
            <a:pPr marL="342900" indent="-342900">
              <a:spcAft>
                <a:spcPts val="1200"/>
              </a:spcAft>
              <a:buFont typeface="+mj-lt"/>
              <a:buAutoNum type="arabicPeriod"/>
            </a:pPr>
            <a:r>
              <a:rPr lang="tr-TR" sz="1600" dirty="0" smtClean="0"/>
              <a:t>Tablo </a:t>
            </a:r>
            <a:r>
              <a:rPr lang="tr-TR" sz="1600" dirty="0"/>
              <a:t>hücrelerine metin eklemek için, bir hücreyi tıklatın ve metninizi girin. </a:t>
            </a:r>
          </a:p>
          <a:p>
            <a:pPr marL="342900" indent="-342900">
              <a:spcAft>
                <a:spcPts val="1200"/>
              </a:spcAft>
              <a:buFont typeface="+mj-lt"/>
              <a:buAutoNum type="arabicPeriod"/>
            </a:pPr>
            <a:r>
              <a:rPr lang="tr-TR" sz="1600" dirty="0" smtClean="0"/>
              <a:t>Metninizi </a:t>
            </a:r>
            <a:r>
              <a:rPr lang="tr-TR" sz="1600" dirty="0"/>
              <a:t>girdikten sonra, tablonun dışını tıklatın</a:t>
            </a:r>
          </a:p>
        </p:txBody>
      </p:sp>
    </p:spTree>
    <p:custDataLst>
      <p:tags r:id="rId1"/>
    </p:custDataLst>
    <p:extLst>
      <p:ext uri="{BB962C8B-B14F-4D97-AF65-F5344CB8AC3E}">
        <p14:creationId xmlns:p14="http://schemas.microsoft.com/office/powerpoint/2010/main" val="27023454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nn-NO"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Tablonun arka planına veya hücrelere renk ve doku ekleme</a:t>
            </a:r>
            <a:endParaRPr lang="tr-TR"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2062103"/>
          </a:xfrm>
          <a:prstGeom prst="rect">
            <a:avLst/>
          </a:prstGeom>
          <a:noFill/>
        </p:spPr>
        <p:txBody>
          <a:bodyPr wrap="square" rtlCol="0">
            <a:spAutoFit/>
          </a:bodyPr>
          <a:lstStyle/>
          <a:p>
            <a:r>
              <a:rPr lang="tr-TR" sz="1600" dirty="0"/>
              <a:t>Tablonun arka planına veya hücrelere renk ve doku eklemek için</a:t>
            </a:r>
            <a:r>
              <a:rPr lang="tr-TR" sz="1600" dirty="0" smtClean="0"/>
              <a:t>;</a:t>
            </a:r>
          </a:p>
          <a:p>
            <a:pPr marL="342900" lvl="0" indent="-342900">
              <a:buFont typeface="+mj-lt"/>
              <a:buAutoNum type="arabicPeriod"/>
            </a:pPr>
            <a:r>
              <a:rPr lang="tr-TR" sz="1600" dirty="0"/>
              <a:t>Tüm tablonun arka planına bir renk veya doku eklemek için tablo kenarlığına bir kez tıklayın. Sadece istediğiniz hücrelerin arka planına bir renk eklemek için, istediğiniz hücre veya hücreleri imleci sürükleyerek seçiniz.</a:t>
            </a:r>
          </a:p>
          <a:p>
            <a:pPr marL="342900" lvl="0" indent="-342900">
              <a:buFont typeface="+mj-lt"/>
              <a:buAutoNum type="arabicPeriod"/>
            </a:pPr>
            <a:r>
              <a:rPr lang="tr-TR" sz="1600" dirty="0"/>
              <a:t>Renk eklemek için </a:t>
            </a:r>
            <a:r>
              <a:rPr lang="tr-TR" sz="1600" b="1" i="1" dirty="0"/>
              <a:t>Tasarım ek sekmesi &gt; Tablo Stilleri grubunda &gt; Gölgelendirme </a:t>
            </a:r>
            <a:r>
              <a:rPr lang="tr-TR" sz="1600" dirty="0"/>
              <a:t>düğmesine tıklayınız ve istediğiniz rengi seçiniz veya renk seçmemek için </a:t>
            </a:r>
            <a:r>
              <a:rPr lang="tr-TR" sz="1600" b="1" i="1" dirty="0"/>
              <a:t>Dolgu </a:t>
            </a:r>
            <a:r>
              <a:rPr lang="tr-TR" sz="1600" b="1" i="1" dirty="0" err="1"/>
              <a:t>Yok</a:t>
            </a:r>
            <a:r>
              <a:rPr lang="tr-TR" sz="1600" dirty="0" err="1"/>
              <a:t>'u</a:t>
            </a:r>
            <a:r>
              <a:rPr lang="tr-TR" sz="1600" dirty="0"/>
              <a:t> tıklatın.</a:t>
            </a:r>
          </a:p>
          <a:p>
            <a:endParaRPr lang="tr-TR" sz="1600" dirty="0"/>
          </a:p>
        </p:txBody>
      </p:sp>
      <p:pic>
        <p:nvPicPr>
          <p:cNvPr id="13" name="Resim 12"/>
          <p:cNvPicPr/>
          <p:nvPr/>
        </p:nvPicPr>
        <p:blipFill>
          <a:blip r:embed="rId12"/>
          <a:stretch>
            <a:fillRect/>
          </a:stretch>
        </p:blipFill>
        <p:spPr>
          <a:xfrm>
            <a:off x="1828800" y="3124199"/>
            <a:ext cx="1600200" cy="2702811"/>
          </a:xfrm>
          <a:prstGeom prst="rect">
            <a:avLst/>
          </a:prstGeom>
        </p:spPr>
      </p:pic>
      <p:sp>
        <p:nvSpPr>
          <p:cNvPr id="14" name="Metin kutusu 13"/>
          <p:cNvSpPr txBox="1"/>
          <p:nvPr>
            <p:custDataLst>
              <p:tags r:id="rId6"/>
            </p:custDataLst>
          </p:nvPr>
        </p:nvSpPr>
        <p:spPr>
          <a:xfrm>
            <a:off x="533400" y="5846191"/>
            <a:ext cx="7772400" cy="1077218"/>
          </a:xfrm>
          <a:prstGeom prst="rect">
            <a:avLst/>
          </a:prstGeom>
          <a:noFill/>
        </p:spPr>
        <p:txBody>
          <a:bodyPr wrap="square" rtlCol="0">
            <a:spAutoFit/>
          </a:bodyPr>
          <a:lstStyle/>
          <a:p>
            <a:pPr marL="342900" lvl="0" indent="-342900">
              <a:buFont typeface="+mj-lt"/>
              <a:buAutoNum type="arabicPeriod" startAt="3"/>
            </a:pPr>
            <a:r>
              <a:rPr lang="tr-TR" sz="1600" dirty="0"/>
              <a:t>Aynı şekilde </a:t>
            </a:r>
            <a:r>
              <a:rPr lang="tr-TR" sz="1600" b="1" i="1" dirty="0"/>
              <a:t>Tasarım ek sekmesi &gt; Tablo Stilleri grubunda &gt; Gölgelendirme </a:t>
            </a:r>
            <a:r>
              <a:rPr lang="tr-TR" sz="1600" dirty="0" err="1"/>
              <a:t>yi</a:t>
            </a:r>
            <a:r>
              <a:rPr lang="tr-TR" sz="1600" dirty="0"/>
              <a:t> kullanarak tablonun veya hücrelerin arka planına Resim, </a:t>
            </a:r>
            <a:r>
              <a:rPr lang="tr-TR" sz="1600" dirty="0" err="1"/>
              <a:t>Gradyan</a:t>
            </a:r>
            <a:r>
              <a:rPr lang="tr-TR" sz="1600" dirty="0"/>
              <a:t> veya Doku ekleyebilirsiniz.</a:t>
            </a:r>
          </a:p>
          <a:p>
            <a:pPr marL="342900" indent="-342900">
              <a:buFont typeface="+mj-lt"/>
              <a:buAutoNum type="arabicPeriod" startAt="3"/>
            </a:pPr>
            <a:endParaRPr lang="tr-TR" sz="1600" dirty="0"/>
          </a:p>
        </p:txBody>
      </p:sp>
    </p:spTree>
    <p:custDataLst>
      <p:tags r:id="rId1"/>
    </p:custDataLst>
    <p:extLst>
      <p:ext uri="{BB962C8B-B14F-4D97-AF65-F5344CB8AC3E}">
        <p14:creationId xmlns:p14="http://schemas.microsoft.com/office/powerpoint/2010/main" val="270234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nn-NO"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 stillerini kullanmak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3477875"/>
          </a:xfrm>
          <a:prstGeom prst="rect">
            <a:avLst/>
          </a:prstGeom>
          <a:noFill/>
        </p:spPr>
        <p:txBody>
          <a:bodyPr wrap="square" rtlCol="0">
            <a:spAutoFit/>
          </a:bodyPr>
          <a:lstStyle/>
          <a:p>
            <a:pPr marL="342900" lvl="0" indent="-342900">
              <a:spcAft>
                <a:spcPts val="1200"/>
              </a:spcAft>
              <a:buFont typeface="+mj-lt"/>
              <a:buAutoNum type="arabicPeriod"/>
            </a:pPr>
            <a:r>
              <a:rPr lang="tr-TR" sz="1600" dirty="0"/>
              <a:t>Tablo stili uygulamak istediğiniz tablonun içine bir yere tıklayın.</a:t>
            </a:r>
          </a:p>
          <a:p>
            <a:pPr marL="342900" lvl="0" indent="-342900">
              <a:spcAft>
                <a:spcPts val="1200"/>
              </a:spcAft>
              <a:buFont typeface="+mj-lt"/>
              <a:buAutoNum type="arabicPeriod"/>
            </a:pPr>
            <a:r>
              <a:rPr lang="tr-TR" sz="1600" dirty="0"/>
              <a:t>Tablo stillerinin küçük resimleri </a:t>
            </a:r>
            <a:r>
              <a:rPr lang="tr-TR" sz="1600" b="1" i="1" dirty="0"/>
              <a:t>Tasarım ek sekmesi &gt; Tablo Stilleri grubu &gt; Hızlı Stiller </a:t>
            </a:r>
            <a:r>
              <a:rPr lang="tr-TR" sz="1600" dirty="0"/>
              <a:t>de görünür. İşaretçinizi bir Hızlı Stil üzerine getirdiğinizde, bu Hızlı </a:t>
            </a:r>
            <a:r>
              <a:rPr lang="tr-TR" sz="1600" dirty="0" err="1"/>
              <a:t>Stil'in</a:t>
            </a:r>
            <a:r>
              <a:rPr lang="tr-TR" sz="1600" dirty="0"/>
              <a:t> tablonuzu nasıl etkilediğini görebilirsiniz. Diğer tablo stillerini görmek için </a:t>
            </a:r>
            <a:r>
              <a:rPr lang="tr-TR" sz="1600" i="1" dirty="0"/>
              <a:t>Diğer</a:t>
            </a:r>
            <a:r>
              <a:rPr lang="tr-TR" sz="1600" dirty="0"/>
              <a:t> </a:t>
            </a:r>
            <a:r>
              <a:rPr lang="tr-TR" sz="1600" dirty="0" smtClean="0"/>
              <a:t>(    </a:t>
            </a:r>
            <a:r>
              <a:rPr lang="tr-TR" sz="1600" dirty="0"/>
              <a:t>) düğmesini tıklatın</a:t>
            </a:r>
            <a:r>
              <a:rPr lang="tr-TR" sz="1600" dirty="0" smtClean="0"/>
              <a:t>.</a:t>
            </a:r>
          </a:p>
          <a:p>
            <a:pPr marL="342900" lvl="0" indent="-342900">
              <a:spcAft>
                <a:spcPts val="1200"/>
              </a:spcAft>
              <a:buFont typeface="+mj-lt"/>
              <a:buAutoNum type="arabicPeriod"/>
            </a:pPr>
            <a:endParaRPr lang="tr-TR" sz="1600" dirty="0" smtClean="0"/>
          </a:p>
          <a:p>
            <a:pPr marL="342900" lvl="0" indent="-342900">
              <a:spcAft>
                <a:spcPts val="1200"/>
              </a:spcAft>
              <a:buFont typeface="+mj-lt"/>
              <a:buAutoNum type="arabicPeriod"/>
            </a:pPr>
            <a:endParaRPr lang="tr-TR" sz="1600" dirty="0"/>
          </a:p>
          <a:p>
            <a:pPr marL="342900" lvl="0" indent="-342900">
              <a:spcAft>
                <a:spcPts val="1200"/>
              </a:spcAft>
              <a:buFont typeface="+mj-lt"/>
              <a:buAutoNum type="arabicPeriod"/>
            </a:pPr>
            <a:endParaRPr lang="tr-TR" sz="1600" dirty="0"/>
          </a:p>
          <a:p>
            <a:pPr marL="342900" lvl="0" indent="-342900">
              <a:spcAft>
                <a:spcPts val="1200"/>
              </a:spcAft>
              <a:buFont typeface="+mj-lt"/>
              <a:buAutoNum type="arabicPeriod"/>
            </a:pPr>
            <a:r>
              <a:rPr lang="tr-TR" sz="1600" dirty="0"/>
              <a:t>Uygulamak istediğiniz stile tıklayın</a:t>
            </a:r>
          </a:p>
          <a:p>
            <a:pPr marL="342900" lvl="0" indent="-342900">
              <a:spcAft>
                <a:spcPts val="1200"/>
              </a:spcAft>
              <a:buFont typeface="+mj-lt"/>
              <a:buAutoNum type="arabicPeriod"/>
            </a:pPr>
            <a:r>
              <a:rPr lang="tr-TR" sz="1600" dirty="0"/>
              <a:t>Bir tablo stilini kaldırmak için, </a:t>
            </a:r>
            <a:r>
              <a:rPr lang="tr-TR" sz="1600" b="1" i="1" dirty="0"/>
              <a:t>Tasarım ek sekmesi &gt; Tablo Stilleri grubu &gt; Hızlı Stiller&gt; Tabloyu </a:t>
            </a:r>
            <a:r>
              <a:rPr lang="tr-TR" sz="1600" b="1" i="1" dirty="0" err="1"/>
              <a:t>Sil</a:t>
            </a:r>
            <a:r>
              <a:rPr lang="tr-TR" sz="1600" dirty="0" err="1"/>
              <a:t>'i</a:t>
            </a:r>
            <a:r>
              <a:rPr lang="tr-TR" sz="1600" dirty="0"/>
              <a:t> tıklatın.</a:t>
            </a:r>
          </a:p>
        </p:txBody>
      </p:sp>
      <p:pic>
        <p:nvPicPr>
          <p:cNvPr id="13" name="Resim 12"/>
          <p:cNvPicPr/>
          <p:nvPr/>
        </p:nvPicPr>
        <p:blipFill>
          <a:blip r:embed="rId11"/>
          <a:stretch>
            <a:fillRect/>
          </a:stretch>
        </p:blipFill>
        <p:spPr>
          <a:xfrm>
            <a:off x="6315710" y="2362200"/>
            <a:ext cx="161290" cy="208915"/>
          </a:xfrm>
          <a:prstGeom prst="rect">
            <a:avLst/>
          </a:prstGeom>
        </p:spPr>
      </p:pic>
      <p:pic>
        <p:nvPicPr>
          <p:cNvPr id="7170"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14500" y="2696199"/>
            <a:ext cx="50292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50677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7170"/>
                                        </p:tgtEl>
                                        <p:attrNameLst>
                                          <p:attrName>style.visibility</p:attrName>
                                        </p:attrNameLst>
                                      </p:cBhvr>
                                      <p:to>
                                        <p:strVal val="visible"/>
                                      </p:to>
                                    </p:set>
                                    <p:animEffect transition="in" filter="fade">
                                      <p:cBhvr>
                                        <p:cTn id="18" dur="500"/>
                                        <p:tgtEl>
                                          <p:spTgt spid="717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Effect transition="in" filter="fade">
                                      <p:cBhvr>
                                        <p:cTn id="23" dur="500"/>
                                        <p:tgtEl>
                                          <p:spTgt spid="7">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nn-NO"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 </a:t>
            </a:r>
            <a:r>
              <a:rPr lang="nn-NO"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kenarlıklarını ayarlamak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371600"/>
            <a:ext cx="6629400" cy="3416320"/>
          </a:xfrm>
          <a:prstGeom prst="rect">
            <a:avLst/>
          </a:prstGeom>
          <a:noFill/>
        </p:spPr>
        <p:txBody>
          <a:bodyPr wrap="square" rtlCol="0">
            <a:spAutoFit/>
          </a:bodyPr>
          <a:lstStyle/>
          <a:p>
            <a:pPr marL="342900" indent="-342900">
              <a:spcAft>
                <a:spcPts val="1200"/>
              </a:spcAft>
              <a:buFont typeface="+mj-lt"/>
              <a:buAutoNum type="arabicPeriod"/>
            </a:pPr>
            <a:r>
              <a:rPr lang="tr-TR" sz="1600" dirty="0" smtClean="0"/>
              <a:t>Tablo kenarlığını eklemek veya değiştirmek istediğiniz tablo hücrelerini seçin.</a:t>
            </a:r>
          </a:p>
          <a:p>
            <a:pPr marL="342900" indent="-342900">
              <a:spcAft>
                <a:spcPts val="1200"/>
              </a:spcAft>
              <a:buFont typeface="+mj-lt"/>
              <a:buAutoNum type="arabicPeriod"/>
            </a:pPr>
            <a:r>
              <a:rPr lang="tr-TR" sz="1600" b="1" i="1" dirty="0" smtClean="0"/>
              <a:t>Tasarım ek sekmesi &gt; Kenarlık Çiz</a:t>
            </a:r>
            <a:r>
              <a:rPr lang="tr-TR" sz="1600" dirty="0" smtClean="0"/>
              <a:t> grubunda aşağıdakilerden birini veya birden fazlasını yapın:</a:t>
            </a:r>
          </a:p>
          <a:p>
            <a:pPr marL="857250" lvl="1" indent="-400050">
              <a:spcAft>
                <a:spcPts val="1200"/>
              </a:spcAft>
              <a:buFont typeface="+mj-lt"/>
              <a:buAutoNum type="romanLcPeriod"/>
            </a:pPr>
            <a:r>
              <a:rPr lang="tr-TR" sz="1600" dirty="0"/>
              <a:t>Kenarlığın rengini değiştirmek için, </a:t>
            </a:r>
            <a:r>
              <a:rPr lang="tr-TR" sz="1600" b="1" i="1" dirty="0"/>
              <a:t>Kalem </a:t>
            </a:r>
            <a:r>
              <a:rPr lang="tr-TR" sz="1600" b="1" i="1" dirty="0" err="1"/>
              <a:t>Rengi</a:t>
            </a:r>
            <a:r>
              <a:rPr lang="tr-TR" sz="1600" i="1" dirty="0" err="1"/>
              <a:t>’</a:t>
            </a:r>
            <a:r>
              <a:rPr lang="tr-TR" sz="1600" dirty="0" err="1"/>
              <a:t>ne</a:t>
            </a:r>
            <a:r>
              <a:rPr lang="tr-TR" sz="1600" dirty="0"/>
              <a:t> tıklatın, ardından istediğiniz rengi seçin veya </a:t>
            </a:r>
            <a:r>
              <a:rPr lang="tr-TR" sz="1600" b="1" i="1" dirty="0"/>
              <a:t>Tüm Kenarlık </a:t>
            </a:r>
            <a:r>
              <a:rPr lang="tr-TR" sz="1600" b="1" i="1" dirty="0" err="1"/>
              <a:t>Renkleri</a:t>
            </a:r>
            <a:r>
              <a:rPr lang="tr-TR" sz="1600" i="1" dirty="0" err="1"/>
              <a:t>’</a:t>
            </a:r>
            <a:r>
              <a:rPr lang="tr-TR" sz="1600" dirty="0" err="1"/>
              <a:t>ne</a:t>
            </a:r>
            <a:r>
              <a:rPr lang="tr-TR" sz="1600" dirty="0"/>
              <a:t> tıklayarak bir renk </a:t>
            </a:r>
            <a:r>
              <a:rPr lang="tr-TR" sz="1600" dirty="0" smtClean="0"/>
              <a:t>seçin</a:t>
            </a:r>
          </a:p>
          <a:p>
            <a:pPr marL="857250" lvl="1" indent="-400050">
              <a:spcAft>
                <a:spcPts val="1200"/>
              </a:spcAft>
              <a:buFont typeface="+mj-lt"/>
              <a:buAutoNum type="romanLcPeriod"/>
            </a:pPr>
            <a:r>
              <a:rPr lang="tr-TR" sz="1600" dirty="0"/>
              <a:t>Kenarlığın kalınlığını değiştirmek için, </a:t>
            </a:r>
            <a:r>
              <a:rPr lang="tr-TR" sz="1600" b="1" i="1" dirty="0"/>
              <a:t>Kalem </a:t>
            </a:r>
            <a:r>
              <a:rPr lang="tr-TR" sz="1600" b="1" i="1" dirty="0" err="1"/>
              <a:t>Kalınlığı</a:t>
            </a:r>
            <a:r>
              <a:rPr lang="tr-TR" sz="1600" dirty="0" err="1"/>
              <a:t>'na</a:t>
            </a:r>
            <a:r>
              <a:rPr lang="tr-TR" sz="1600" dirty="0"/>
              <a:t> tıklatın, ardından istediğiniz çizgi kalınlığını tıklatın. </a:t>
            </a:r>
            <a:endParaRPr lang="tr-TR" sz="1600" dirty="0" smtClean="0"/>
          </a:p>
          <a:p>
            <a:pPr marL="857250" lvl="1" indent="-400050">
              <a:spcAft>
                <a:spcPts val="1200"/>
              </a:spcAft>
              <a:buFont typeface="+mj-lt"/>
              <a:buAutoNum type="romanLcPeriod"/>
            </a:pPr>
            <a:r>
              <a:rPr lang="tr-TR" sz="1600" dirty="0"/>
              <a:t>Kenarlığın çizgi stilini değiştirmek için, </a:t>
            </a:r>
            <a:r>
              <a:rPr lang="tr-TR" sz="1600" b="1" i="1" dirty="0"/>
              <a:t>Kalem </a:t>
            </a:r>
            <a:r>
              <a:rPr lang="tr-TR" sz="1600" b="1" i="1" dirty="0" err="1"/>
              <a:t>Stili</a:t>
            </a:r>
            <a:r>
              <a:rPr lang="tr-TR" sz="1600" dirty="0" err="1"/>
              <a:t>'ne</a:t>
            </a:r>
            <a:r>
              <a:rPr lang="tr-TR" sz="1600" dirty="0"/>
              <a:t> tıklatın, ardından istediğiniz çizgi stilini tıklatın</a:t>
            </a:r>
            <a:r>
              <a:rPr lang="tr-TR" sz="1600" dirty="0" smtClean="0"/>
              <a:t>. </a:t>
            </a:r>
            <a:endParaRPr lang="tr-TR" sz="1600" dirty="0"/>
          </a:p>
        </p:txBody>
      </p:sp>
      <p:pic>
        <p:nvPicPr>
          <p:cNvPr id="13" name="Resim 12"/>
          <p:cNvPicPr/>
          <p:nvPr/>
        </p:nvPicPr>
        <p:blipFill>
          <a:blip r:embed="rId11"/>
          <a:stretch>
            <a:fillRect/>
          </a:stretch>
        </p:blipFill>
        <p:spPr>
          <a:xfrm>
            <a:off x="7444740" y="1371600"/>
            <a:ext cx="1264920" cy="1327150"/>
          </a:xfrm>
          <a:prstGeom prst="rect">
            <a:avLst/>
          </a:prstGeom>
        </p:spPr>
      </p:pic>
      <p:pic>
        <p:nvPicPr>
          <p:cNvPr id="14" name="Resim 13"/>
          <p:cNvPicPr/>
          <p:nvPr/>
        </p:nvPicPr>
        <p:blipFill>
          <a:blip r:embed="rId12"/>
          <a:stretch>
            <a:fillRect/>
          </a:stretch>
        </p:blipFill>
        <p:spPr>
          <a:xfrm>
            <a:off x="7781290" y="2865934"/>
            <a:ext cx="591820" cy="1536065"/>
          </a:xfrm>
          <a:prstGeom prst="rect">
            <a:avLst/>
          </a:prstGeom>
        </p:spPr>
      </p:pic>
      <p:pic>
        <p:nvPicPr>
          <p:cNvPr id="15" name="Resim 14"/>
          <p:cNvPicPr/>
          <p:nvPr/>
        </p:nvPicPr>
        <p:blipFill>
          <a:blip r:embed="rId13"/>
          <a:stretch>
            <a:fillRect/>
          </a:stretch>
        </p:blipFill>
        <p:spPr>
          <a:xfrm>
            <a:off x="7769121" y="4495800"/>
            <a:ext cx="599440" cy="1864995"/>
          </a:xfrm>
          <a:prstGeom prst="rect">
            <a:avLst/>
          </a:prstGeom>
        </p:spPr>
      </p:pic>
    </p:spTree>
    <p:custDataLst>
      <p:tags r:id="rId1"/>
    </p:custDataLst>
    <p:extLst>
      <p:ext uri="{BB962C8B-B14F-4D97-AF65-F5344CB8AC3E}">
        <p14:creationId xmlns:p14="http://schemas.microsoft.com/office/powerpoint/2010/main" val="300910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500"/>
                                        <p:tgtEl>
                                          <p:spTgt spid="7">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animEffect transition="in" filter="fade">
                                      <p:cBhvr>
                                        <p:cTn id="3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nn-NO"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 stillerini kullanmak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33400" y="1371600"/>
            <a:ext cx="7772400" cy="1723549"/>
          </a:xfrm>
          <a:prstGeom prst="rect">
            <a:avLst/>
          </a:prstGeom>
          <a:noFill/>
        </p:spPr>
        <p:txBody>
          <a:bodyPr wrap="square" rtlCol="0">
            <a:spAutoFit/>
          </a:bodyPr>
          <a:lstStyle/>
          <a:p>
            <a:pPr marL="400050" indent="-400050">
              <a:spcAft>
                <a:spcPts val="1200"/>
              </a:spcAft>
              <a:buFont typeface="+mj-lt"/>
              <a:buAutoNum type="arabicPeriod" startAt="3"/>
            </a:pPr>
            <a:r>
              <a:rPr lang="tr-TR" sz="1600" dirty="0"/>
              <a:t>Yukarıdaki bu seçimleri yaptıktan sonra seçtiğiniz renk, kalınlık veya çizgi stilini tabloya uygulamak için ;</a:t>
            </a:r>
          </a:p>
          <a:p>
            <a:pPr marL="857250" lvl="1" indent="-400050">
              <a:buFont typeface="+mj-lt"/>
              <a:buAutoNum type="romanLcPeriod"/>
            </a:pPr>
            <a:r>
              <a:rPr lang="tr-TR" sz="1600" dirty="0"/>
              <a:t>Tablonuzun üzerine gidin ve işaretçi kalem ( </a:t>
            </a:r>
            <a:r>
              <a:rPr lang="tr-TR" sz="1600" dirty="0" smtClean="0"/>
              <a:t>    ) </a:t>
            </a:r>
            <a:r>
              <a:rPr lang="tr-TR" sz="1600" dirty="0"/>
              <a:t>gibi görünürken değiştirmek istediğiniz kenarlıkları tıklatın.</a:t>
            </a:r>
          </a:p>
          <a:p>
            <a:pPr marL="857250" lvl="1" indent="-400050">
              <a:buFont typeface="+mj-lt"/>
              <a:buAutoNum type="romanLcPeriod"/>
            </a:pPr>
            <a:r>
              <a:rPr lang="tr-TR" sz="1600" b="1" i="1" dirty="0"/>
              <a:t>Tasarım ek sekmesi &gt; Tablo Stilleri grubu &gt; </a:t>
            </a:r>
            <a:r>
              <a:rPr lang="tr-TR" sz="1600" b="1" i="1" dirty="0" err="1"/>
              <a:t>Kenarlıklar</a:t>
            </a:r>
            <a:r>
              <a:rPr lang="tr-TR" sz="1600" dirty="0" err="1"/>
              <a:t>’a</a:t>
            </a:r>
            <a:r>
              <a:rPr lang="tr-TR" sz="1600" dirty="0"/>
              <a:t> tıklayın ve açılan listede vermek istediğiniz kenarlıktan birini seçin.</a:t>
            </a:r>
          </a:p>
        </p:txBody>
      </p:sp>
      <p:pic>
        <p:nvPicPr>
          <p:cNvPr id="13" name="Resim 12"/>
          <p:cNvPicPr/>
          <p:nvPr/>
        </p:nvPicPr>
        <p:blipFill>
          <a:blip r:embed="rId12"/>
          <a:stretch>
            <a:fillRect/>
          </a:stretch>
        </p:blipFill>
        <p:spPr>
          <a:xfrm>
            <a:off x="5105400" y="2000885"/>
            <a:ext cx="161290" cy="285115"/>
          </a:xfrm>
          <a:prstGeom prst="rect">
            <a:avLst/>
          </a:prstGeom>
        </p:spPr>
      </p:pic>
      <p:pic>
        <p:nvPicPr>
          <p:cNvPr id="14" name="Resim 13"/>
          <p:cNvPicPr/>
          <p:nvPr/>
        </p:nvPicPr>
        <p:blipFill>
          <a:blip r:embed="rId13"/>
          <a:stretch>
            <a:fillRect/>
          </a:stretch>
        </p:blipFill>
        <p:spPr>
          <a:xfrm>
            <a:off x="1524000" y="3429000"/>
            <a:ext cx="1495468" cy="2438400"/>
          </a:xfrm>
          <a:prstGeom prst="rect">
            <a:avLst/>
          </a:prstGeom>
        </p:spPr>
      </p:pic>
      <p:pic>
        <p:nvPicPr>
          <p:cNvPr id="15" name="Picture 2" descr="G:\Muhittin Akgül\imajlar\postit.gif"/>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23310" y="3402842"/>
            <a:ext cx="3444468" cy="3198779"/>
          </a:xfrm>
          <a:prstGeom prst="rect">
            <a:avLst/>
          </a:prstGeom>
          <a:noFill/>
          <a:extLst>
            <a:ext uri="{909E8E84-426E-40DD-AFC4-6F175D3DCCD1}">
              <a14:hiddenFill xmlns:a14="http://schemas.microsoft.com/office/drawing/2010/main">
                <a:solidFill>
                  <a:srgbClr val="FFFFFF"/>
                </a:solidFill>
              </a14:hiddenFill>
            </a:ext>
          </a:extLst>
        </p:spPr>
      </p:pic>
      <p:sp>
        <p:nvSpPr>
          <p:cNvPr id="16" name="Metin kutusu 15"/>
          <p:cNvSpPr txBox="1"/>
          <p:nvPr>
            <p:custDataLst>
              <p:tags r:id="rId6"/>
            </p:custDataLst>
          </p:nvPr>
        </p:nvSpPr>
        <p:spPr>
          <a:xfrm>
            <a:off x="5105400" y="4054315"/>
            <a:ext cx="2971800" cy="2554545"/>
          </a:xfrm>
          <a:prstGeom prst="rect">
            <a:avLst/>
          </a:prstGeom>
          <a:noFill/>
        </p:spPr>
        <p:txBody>
          <a:bodyPr wrap="square" rtlCol="0">
            <a:spAutoFit/>
          </a:bodyPr>
          <a:lstStyle/>
          <a:p>
            <a:pPr marL="342900" indent="-342900">
              <a:buFont typeface="+mj-lt"/>
              <a:buAutoNum type="arabicPeriod"/>
            </a:pPr>
            <a:r>
              <a:rPr lang="tr-TR" sz="1600" dirty="0" smtClean="0"/>
              <a:t>Tablo </a:t>
            </a:r>
            <a:r>
              <a:rPr lang="tr-TR" sz="1600" dirty="0"/>
              <a:t>hücreleri arasındaki kenarlıkları silmek için </a:t>
            </a:r>
            <a:r>
              <a:rPr lang="tr-TR" sz="1600" b="1" i="1" dirty="0"/>
              <a:t>Tasarım ek sekmesi &gt; Kenarlık Çiz &gt; Silgi</a:t>
            </a:r>
            <a:r>
              <a:rPr lang="tr-TR" sz="1600" i="1" dirty="0"/>
              <a:t>(</a:t>
            </a:r>
            <a:r>
              <a:rPr lang="tr-TR" sz="1600" dirty="0"/>
              <a:t> </a:t>
            </a:r>
            <a:r>
              <a:rPr lang="tr-TR" sz="1600" dirty="0" smtClean="0"/>
              <a:t>    </a:t>
            </a:r>
            <a:r>
              <a:rPr lang="tr-TR" sz="1600" i="1" dirty="0" smtClean="0"/>
              <a:t>) </a:t>
            </a:r>
            <a:r>
              <a:rPr lang="tr-TR" sz="1600" dirty="0"/>
              <a:t>'</a:t>
            </a:r>
            <a:r>
              <a:rPr lang="tr-TR" sz="1600" dirty="0" err="1"/>
              <a:t>yi</a:t>
            </a:r>
            <a:r>
              <a:rPr lang="tr-TR" sz="1600" dirty="0"/>
              <a:t> kullanabilirsiniz. </a:t>
            </a:r>
          </a:p>
          <a:p>
            <a:pPr marL="342900" indent="-342900">
              <a:buFont typeface="+mj-lt"/>
              <a:buAutoNum type="arabicPeriod"/>
            </a:pPr>
            <a:r>
              <a:rPr lang="tr-TR" sz="1600" dirty="0" smtClean="0"/>
              <a:t>İşaretçi </a:t>
            </a:r>
            <a:r>
              <a:rPr lang="tr-TR" sz="1600" dirty="0"/>
              <a:t>bir kalem olduğu sırada SHIFT tuşunu basılı tutup, silmek istediğiniz kenarlıkları tıklatın.</a:t>
            </a:r>
          </a:p>
          <a:p>
            <a:r>
              <a:rPr lang="tr-TR" sz="1600" dirty="0" smtClean="0"/>
              <a:t>.</a:t>
            </a:r>
            <a:endParaRPr lang="tr-TR" sz="1600" dirty="0"/>
          </a:p>
        </p:txBody>
      </p:sp>
      <p:pic>
        <p:nvPicPr>
          <p:cNvPr id="17" name="Resim 16"/>
          <p:cNvPicPr/>
          <p:nvPr/>
        </p:nvPicPr>
        <p:blipFill>
          <a:blip r:embed="rId15"/>
          <a:stretch>
            <a:fillRect/>
          </a:stretch>
        </p:blipFill>
        <p:spPr>
          <a:xfrm>
            <a:off x="7162800" y="4876800"/>
            <a:ext cx="180340" cy="208915"/>
          </a:xfrm>
          <a:prstGeom prst="rect">
            <a:avLst/>
          </a:prstGeom>
        </p:spPr>
      </p:pic>
    </p:spTree>
    <p:custDataLst>
      <p:tags r:id="rId1"/>
    </p:custDataLst>
    <p:extLst>
      <p:ext uri="{BB962C8B-B14F-4D97-AF65-F5344CB8AC3E}">
        <p14:creationId xmlns:p14="http://schemas.microsoft.com/office/powerpoint/2010/main" val="300910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nn-NO"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Tabloya efekt eklemek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7" name="Metin kutusu 6"/>
          <p:cNvSpPr txBox="1"/>
          <p:nvPr>
            <p:custDataLst>
              <p:tags r:id="rId5"/>
            </p:custDataLst>
          </p:nvPr>
        </p:nvSpPr>
        <p:spPr>
          <a:xfrm>
            <a:off x="533400" y="1371600"/>
            <a:ext cx="7772400" cy="1138773"/>
          </a:xfrm>
          <a:prstGeom prst="rect">
            <a:avLst/>
          </a:prstGeom>
          <a:noFill/>
        </p:spPr>
        <p:txBody>
          <a:bodyPr wrap="square" rtlCol="0">
            <a:spAutoFit/>
          </a:bodyPr>
          <a:lstStyle/>
          <a:p>
            <a:pPr marL="342900" indent="-342900">
              <a:spcAft>
                <a:spcPts val="1200"/>
              </a:spcAft>
              <a:buFont typeface="+mj-lt"/>
              <a:buAutoNum type="arabicPeriod"/>
            </a:pPr>
            <a:r>
              <a:rPr lang="tr-TR" sz="1600" dirty="0" smtClean="0"/>
              <a:t>Efekt </a:t>
            </a:r>
            <a:r>
              <a:rPr lang="tr-TR" sz="1600" dirty="0"/>
              <a:t>eklemek istediğiniz tabloyu  seçin.</a:t>
            </a:r>
          </a:p>
          <a:p>
            <a:pPr marL="342900" indent="-342900">
              <a:spcAft>
                <a:spcPts val="1200"/>
              </a:spcAft>
              <a:buFont typeface="+mj-lt"/>
              <a:buAutoNum type="arabicPeriod"/>
            </a:pPr>
            <a:r>
              <a:rPr lang="tr-TR" sz="1600" b="1" i="1" dirty="0" smtClean="0"/>
              <a:t>Tasarım </a:t>
            </a:r>
            <a:r>
              <a:rPr lang="tr-TR" sz="1600" b="1" i="1" dirty="0"/>
              <a:t>ek sekmesi &gt; Tablo Stilleri grubu &gt; Efektler</a:t>
            </a:r>
            <a:r>
              <a:rPr lang="tr-TR" sz="1600" b="1" dirty="0"/>
              <a:t> </a:t>
            </a:r>
            <a:r>
              <a:rPr lang="tr-TR" sz="1600" dirty="0"/>
              <a:t>‘e tıklayın.</a:t>
            </a:r>
          </a:p>
          <a:p>
            <a:pPr marL="342900" indent="-342900">
              <a:spcAft>
                <a:spcPts val="1200"/>
              </a:spcAft>
              <a:buFont typeface="+mj-lt"/>
              <a:buAutoNum type="arabicPeriod"/>
            </a:pPr>
            <a:r>
              <a:rPr lang="tr-TR" sz="1600" b="1" i="1" dirty="0" smtClean="0"/>
              <a:t>Hücre </a:t>
            </a:r>
            <a:r>
              <a:rPr lang="tr-TR" sz="1600" b="1" i="1" dirty="0"/>
              <a:t>Eğimi, Gölge</a:t>
            </a:r>
            <a:r>
              <a:rPr lang="tr-TR" sz="1600" dirty="0"/>
              <a:t> veya </a:t>
            </a:r>
            <a:r>
              <a:rPr lang="tr-TR" sz="1600" b="1" i="1" dirty="0"/>
              <a:t>Yansıma</a:t>
            </a:r>
            <a:r>
              <a:rPr lang="tr-TR" sz="1600" dirty="0"/>
              <a:t> efektlerinden birini veya birkaçını seçin.</a:t>
            </a:r>
          </a:p>
        </p:txBody>
      </p:sp>
      <p:pic>
        <p:nvPicPr>
          <p:cNvPr id="13" name="Resim 12"/>
          <p:cNvPicPr/>
          <p:nvPr/>
        </p:nvPicPr>
        <p:blipFill>
          <a:blip r:embed="rId11"/>
          <a:stretch>
            <a:fillRect/>
          </a:stretch>
        </p:blipFill>
        <p:spPr>
          <a:xfrm>
            <a:off x="3737457" y="2667000"/>
            <a:ext cx="1669086" cy="1742758"/>
          </a:xfrm>
          <a:prstGeom prst="rect">
            <a:avLst/>
          </a:prstGeom>
        </p:spPr>
      </p:pic>
    </p:spTree>
    <p:custDataLst>
      <p:tags r:id="rId1"/>
    </p:custDataLst>
    <p:extLst>
      <p:ext uri="{BB962C8B-B14F-4D97-AF65-F5344CB8AC3E}">
        <p14:creationId xmlns:p14="http://schemas.microsoft.com/office/powerpoint/2010/main" val="30091060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nn-NO"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 içine satır/sütun eklemek, silmek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12</a:t>
            </a:fld>
            <a:endParaRPr lang="tr-TR"/>
          </a:p>
        </p:txBody>
      </p:sp>
      <p:sp>
        <p:nvSpPr>
          <p:cNvPr id="7" name="Metin kutusu 6"/>
          <p:cNvSpPr txBox="1"/>
          <p:nvPr>
            <p:custDataLst>
              <p:tags r:id="rId5"/>
            </p:custDataLst>
          </p:nvPr>
        </p:nvSpPr>
        <p:spPr>
          <a:xfrm>
            <a:off x="533400" y="1371600"/>
            <a:ext cx="7772400" cy="4524315"/>
          </a:xfrm>
          <a:prstGeom prst="rect">
            <a:avLst/>
          </a:prstGeom>
          <a:noFill/>
        </p:spPr>
        <p:txBody>
          <a:bodyPr wrap="square" rtlCol="0">
            <a:spAutoFit/>
          </a:bodyPr>
          <a:lstStyle/>
          <a:p>
            <a:pPr marL="342900" indent="-342900">
              <a:buFont typeface="+mj-lt"/>
              <a:buAutoNum type="arabicPeriod"/>
            </a:pPr>
            <a:r>
              <a:rPr lang="tr-TR" sz="1600" dirty="0" smtClean="0"/>
              <a:t>Yeni </a:t>
            </a:r>
            <a:r>
              <a:rPr lang="tr-TR" sz="1600" dirty="0"/>
              <a:t>satır eklemek istediğiniz yerin üstündeki veya altındaki satırda bir tablo hücresini tıklatın.</a:t>
            </a:r>
          </a:p>
          <a:p>
            <a:pPr marL="342900" indent="-342900">
              <a:buFont typeface="+mj-lt"/>
              <a:buAutoNum type="arabicPeriod"/>
            </a:pPr>
            <a:r>
              <a:rPr lang="tr-TR" sz="1600" dirty="0" smtClean="0"/>
              <a:t>Eğer </a:t>
            </a:r>
            <a:r>
              <a:rPr lang="tr-TR" sz="1600" dirty="0"/>
              <a:t>bir sütün eklemek istiyorsanız eklemek istediğiniz yerin solundaki veya sağındaki sütunda bir tablo hücresini tıklatın.</a:t>
            </a:r>
          </a:p>
          <a:p>
            <a:pPr marL="342900" indent="-342900">
              <a:buFont typeface="+mj-lt"/>
              <a:buAutoNum type="arabicPeriod"/>
            </a:pPr>
            <a:r>
              <a:rPr lang="tr-TR" sz="1600" b="1" i="1" dirty="0" smtClean="0"/>
              <a:t>Düzen </a:t>
            </a:r>
            <a:r>
              <a:rPr lang="tr-TR" sz="1600" b="1" i="1" dirty="0"/>
              <a:t>ek sekmesi &gt; Satırlar ve Sütunlar</a:t>
            </a:r>
            <a:r>
              <a:rPr lang="tr-TR" sz="1600" b="1" dirty="0"/>
              <a:t> </a:t>
            </a:r>
            <a:r>
              <a:rPr lang="tr-TR" sz="1600" dirty="0"/>
              <a:t>komut grubu da yer alan aşağıdaki işlemlerden birini yapın:</a:t>
            </a:r>
          </a:p>
          <a:p>
            <a:pPr marL="857250" lvl="1" indent="-400050">
              <a:buFont typeface="+mj-lt"/>
              <a:buAutoNum type="romanLcPeriod"/>
            </a:pPr>
            <a:r>
              <a:rPr lang="tr-TR" sz="1600" dirty="0"/>
              <a:t>Seçili hücrenin üstüne satır eklemek için </a:t>
            </a:r>
            <a:r>
              <a:rPr lang="tr-TR" sz="1600" b="1" dirty="0"/>
              <a:t>Üstüne </a:t>
            </a:r>
            <a:r>
              <a:rPr lang="tr-TR" sz="1600" b="1" dirty="0" err="1"/>
              <a:t>Ekle</a:t>
            </a:r>
            <a:r>
              <a:rPr lang="tr-TR" sz="1600" dirty="0" err="1"/>
              <a:t>'yi</a:t>
            </a:r>
            <a:r>
              <a:rPr lang="tr-TR" sz="1600" dirty="0"/>
              <a:t> tıklatın.</a:t>
            </a:r>
          </a:p>
          <a:p>
            <a:pPr marL="857250" lvl="1" indent="-400050">
              <a:buFont typeface="+mj-lt"/>
              <a:buAutoNum type="romanLcPeriod"/>
            </a:pPr>
            <a:r>
              <a:rPr lang="tr-TR" sz="1600" dirty="0"/>
              <a:t>Seçili hücrenin altına satır eklemek için </a:t>
            </a:r>
            <a:r>
              <a:rPr lang="tr-TR" sz="1600" b="1" dirty="0"/>
              <a:t>Altına </a:t>
            </a:r>
            <a:r>
              <a:rPr lang="tr-TR" sz="1600" b="1" dirty="0" err="1"/>
              <a:t>Ekle</a:t>
            </a:r>
            <a:r>
              <a:rPr lang="tr-TR" sz="1600" dirty="0" err="1"/>
              <a:t>'yi</a:t>
            </a:r>
            <a:r>
              <a:rPr lang="tr-TR" sz="1600" dirty="0"/>
              <a:t> tıklatın.</a:t>
            </a:r>
          </a:p>
          <a:p>
            <a:pPr marL="857250" lvl="1" indent="-400050">
              <a:buFont typeface="+mj-lt"/>
              <a:buAutoNum type="romanLcPeriod"/>
            </a:pPr>
            <a:r>
              <a:rPr lang="tr-TR" sz="1600" dirty="0"/>
              <a:t>Seçilen hücrenin soluna sütun eklemek için </a:t>
            </a:r>
            <a:r>
              <a:rPr lang="tr-TR" sz="1600" b="1" dirty="0"/>
              <a:t>Sola </a:t>
            </a:r>
            <a:r>
              <a:rPr lang="tr-TR" sz="1600" b="1" dirty="0" err="1"/>
              <a:t>Ekle</a:t>
            </a:r>
            <a:r>
              <a:rPr lang="tr-TR" sz="1600" dirty="0" err="1"/>
              <a:t>'yi</a:t>
            </a:r>
            <a:r>
              <a:rPr lang="tr-TR" sz="1600" dirty="0"/>
              <a:t> tıklatın.</a:t>
            </a:r>
          </a:p>
          <a:p>
            <a:pPr marL="857250" lvl="1" indent="-400050">
              <a:buFont typeface="+mj-lt"/>
              <a:buAutoNum type="romanLcPeriod"/>
            </a:pPr>
            <a:r>
              <a:rPr lang="tr-TR" sz="1600" dirty="0"/>
              <a:t>Seçilen hücrenin sağına sütun eklemek için </a:t>
            </a:r>
            <a:r>
              <a:rPr lang="tr-TR" sz="1600" b="1" dirty="0"/>
              <a:t>Sağa </a:t>
            </a:r>
            <a:r>
              <a:rPr lang="tr-TR" sz="1600" b="1" dirty="0" err="1"/>
              <a:t>Ekle</a:t>
            </a:r>
            <a:r>
              <a:rPr lang="tr-TR" sz="1600" dirty="0" err="1"/>
              <a:t>'yi</a:t>
            </a:r>
            <a:r>
              <a:rPr lang="tr-TR" sz="1600" dirty="0"/>
              <a:t> tıklatın</a:t>
            </a:r>
            <a:r>
              <a:rPr lang="tr-TR" sz="1600" dirty="0" smtClean="0"/>
              <a:t>.</a:t>
            </a:r>
          </a:p>
          <a:p>
            <a:pPr marL="857250" lvl="1" indent="-400050">
              <a:buFont typeface="+mj-lt"/>
              <a:buAutoNum type="romanLcPeriod"/>
            </a:pPr>
            <a:endParaRPr lang="tr-TR" sz="1600" dirty="0"/>
          </a:p>
          <a:p>
            <a:pPr marL="857250" lvl="1" indent="-400050">
              <a:buFont typeface="+mj-lt"/>
              <a:buAutoNum type="romanLcPeriod"/>
            </a:pPr>
            <a:endParaRPr lang="tr-TR" sz="1600" dirty="0" smtClean="0"/>
          </a:p>
          <a:p>
            <a:pPr marL="857250" lvl="1" indent="-400050">
              <a:buFont typeface="+mj-lt"/>
              <a:buAutoNum type="romanLcPeriod"/>
            </a:pPr>
            <a:endParaRPr lang="tr-TR" sz="1600" dirty="0"/>
          </a:p>
          <a:p>
            <a:pPr marL="342900" indent="-342900">
              <a:buFont typeface="+mj-lt"/>
              <a:buAutoNum type="arabicPeriod"/>
            </a:pPr>
            <a:r>
              <a:rPr lang="tr-TR" sz="1600" dirty="0" smtClean="0"/>
              <a:t>Eğer </a:t>
            </a:r>
            <a:r>
              <a:rPr lang="tr-TR" sz="1600" dirty="0"/>
              <a:t>bir sütun veya satır silmek istiyorsanız, silmek istediğiniz sütundaki veya satırdaki bir tablo hücresini tıklatın.</a:t>
            </a:r>
          </a:p>
          <a:p>
            <a:pPr marL="342900" indent="-342900">
              <a:buFont typeface="+mj-lt"/>
              <a:buAutoNum type="arabicPeriod"/>
            </a:pPr>
            <a:r>
              <a:rPr lang="tr-TR" sz="1600" b="1" i="1" dirty="0" smtClean="0"/>
              <a:t>Düzen </a:t>
            </a:r>
            <a:r>
              <a:rPr lang="tr-TR" sz="1600" b="1" i="1" dirty="0"/>
              <a:t>ek sekmesi &gt; Satırlar ve Sütunlar</a:t>
            </a:r>
            <a:r>
              <a:rPr lang="tr-TR" sz="1600" b="1" dirty="0"/>
              <a:t> &gt; </a:t>
            </a:r>
            <a:r>
              <a:rPr lang="tr-TR" sz="1600" b="1" i="1" dirty="0"/>
              <a:t>Sil</a:t>
            </a:r>
            <a:r>
              <a:rPr lang="tr-TR" sz="1600" dirty="0"/>
              <a:t> 'i tıklatın ve yapmak istediğiniz işlemi seçin.</a:t>
            </a:r>
          </a:p>
          <a:p>
            <a:pPr marL="400050" indent="-400050">
              <a:buFont typeface="+mj-lt"/>
              <a:buAutoNum type="arabicPeriod"/>
            </a:pPr>
            <a:endParaRPr lang="tr-TR" sz="1600" dirty="0"/>
          </a:p>
        </p:txBody>
      </p:sp>
      <p:pic>
        <p:nvPicPr>
          <p:cNvPr id="13" name="Resim 12"/>
          <p:cNvPicPr/>
          <p:nvPr/>
        </p:nvPicPr>
        <p:blipFill>
          <a:blip r:embed="rId11"/>
          <a:stretch>
            <a:fillRect/>
          </a:stretch>
        </p:blipFill>
        <p:spPr>
          <a:xfrm>
            <a:off x="3574415" y="3886200"/>
            <a:ext cx="1801426" cy="685800"/>
          </a:xfrm>
          <a:prstGeom prst="rect">
            <a:avLst/>
          </a:prstGeom>
        </p:spPr>
      </p:pic>
      <p:pic>
        <p:nvPicPr>
          <p:cNvPr id="14" name="Resim 13"/>
          <p:cNvPicPr/>
          <p:nvPr/>
        </p:nvPicPr>
        <p:blipFill>
          <a:blip r:embed="rId12"/>
          <a:stretch>
            <a:fillRect/>
          </a:stretch>
        </p:blipFill>
        <p:spPr>
          <a:xfrm>
            <a:off x="3355918" y="5343985"/>
            <a:ext cx="1216082" cy="1422982"/>
          </a:xfrm>
          <a:prstGeom prst="rect">
            <a:avLst/>
          </a:prstGeom>
        </p:spPr>
      </p:pic>
    </p:spTree>
    <p:custDataLst>
      <p:tags r:id="rId1"/>
    </p:custDataLst>
    <p:extLst>
      <p:ext uri="{BB962C8B-B14F-4D97-AF65-F5344CB8AC3E}">
        <p14:creationId xmlns:p14="http://schemas.microsoft.com/office/powerpoint/2010/main" val="300910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animEffect transition="in" filter="fade">
                                      <p:cBhvr>
                                        <p:cTn id="37" dur="500"/>
                                        <p:tgtEl>
                                          <p:spTgt spid="7">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11" end="11"/>
                                            </p:txEl>
                                          </p:spTgt>
                                        </p:tgtEl>
                                        <p:attrNameLst>
                                          <p:attrName>style.visibility</p:attrName>
                                        </p:attrNameLst>
                                      </p:cBhvr>
                                      <p:to>
                                        <p:strVal val="visible"/>
                                      </p:to>
                                    </p:set>
                                    <p:animEffect transition="in" filter="fade">
                                      <p:cBhvr>
                                        <p:cTn id="42" dur="500"/>
                                        <p:tgtEl>
                                          <p:spTgt spid="7">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es-ES"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Hücre birleştirme ve bölme, metin yönü ve hizalama</a:t>
            </a:r>
            <a:endPar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13</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r>
              <a:rPr lang="tr-TR" sz="1600" b="1" u="sng" dirty="0"/>
              <a:t>Hücre Birleştirme</a:t>
            </a:r>
            <a:endParaRPr lang="tr-TR" sz="1600" b="1" dirty="0"/>
          </a:p>
          <a:p>
            <a:r>
              <a:rPr lang="tr-TR" sz="1600" dirty="0"/>
              <a:t>Aynı satır veya sütundaki iki ya da daha çok tablo hücresini tek hücre olarak birleştirmek için</a:t>
            </a:r>
          </a:p>
          <a:p>
            <a:pPr marL="342900" indent="-342900">
              <a:buFont typeface="+mj-lt"/>
              <a:buAutoNum type="arabicPeriod"/>
            </a:pPr>
            <a:r>
              <a:rPr lang="tr-TR" sz="1600" dirty="0"/>
              <a:t> </a:t>
            </a:r>
            <a:r>
              <a:rPr lang="tr-TR" sz="1600" dirty="0" smtClean="0"/>
              <a:t>Slaytta </a:t>
            </a:r>
            <a:r>
              <a:rPr lang="tr-TR" sz="1600" dirty="0"/>
              <a:t>birleştirmek istediğiniz bitişik olan hücreleri seçin.</a:t>
            </a:r>
          </a:p>
          <a:p>
            <a:pPr marL="342900" indent="-342900">
              <a:buFont typeface="+mj-lt"/>
              <a:buAutoNum type="arabicPeriod"/>
            </a:pPr>
            <a:r>
              <a:rPr lang="tr-TR" sz="1600" dirty="0"/>
              <a:t> </a:t>
            </a:r>
            <a:r>
              <a:rPr lang="tr-TR" sz="1600" b="1" i="1" dirty="0" smtClean="0"/>
              <a:t>Düzen </a:t>
            </a:r>
            <a:r>
              <a:rPr lang="tr-TR" sz="1600" b="1" i="1" dirty="0"/>
              <a:t>ek sekmesi &gt; Birleştir Komut grubu &gt; </a:t>
            </a:r>
            <a:r>
              <a:rPr lang="tr-TR" sz="1600" b="1" i="1" dirty="0" smtClean="0"/>
              <a:t>Hücreleri </a:t>
            </a:r>
            <a:r>
              <a:rPr lang="tr-TR" sz="1600" b="1" i="1" dirty="0" err="1"/>
              <a:t>Birleştir</a:t>
            </a:r>
            <a:r>
              <a:rPr lang="tr-TR" sz="1600" i="1" dirty="0" err="1"/>
              <a:t>’e</a:t>
            </a:r>
            <a:r>
              <a:rPr lang="tr-TR" sz="1600" dirty="0"/>
              <a:t> tıklayın.</a:t>
            </a:r>
          </a:p>
        </p:txBody>
      </p:sp>
      <p:pic>
        <p:nvPicPr>
          <p:cNvPr id="13" name="Resim 12"/>
          <p:cNvPicPr/>
          <p:nvPr/>
        </p:nvPicPr>
        <p:blipFill>
          <a:blip r:embed="rId14"/>
          <a:stretch>
            <a:fillRect/>
          </a:stretch>
        </p:blipFill>
        <p:spPr>
          <a:xfrm>
            <a:off x="1441545" y="2506551"/>
            <a:ext cx="533400" cy="638043"/>
          </a:xfrm>
          <a:prstGeom prst="rect">
            <a:avLst/>
          </a:prstGeom>
        </p:spPr>
      </p:pic>
      <p:pic>
        <p:nvPicPr>
          <p:cNvPr id="14"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39150" y="2446543"/>
            <a:ext cx="1833325" cy="1702557"/>
          </a:xfrm>
          <a:prstGeom prst="rect">
            <a:avLst/>
          </a:prstGeom>
          <a:noFill/>
          <a:extLst>
            <a:ext uri="{909E8E84-426E-40DD-AFC4-6F175D3DCCD1}">
              <a14:hiddenFill xmlns:a14="http://schemas.microsoft.com/office/drawing/2010/main">
                <a:solidFill>
                  <a:srgbClr val="FFFFFF"/>
                </a:solidFill>
              </a14:hiddenFill>
            </a:ext>
          </a:extLst>
        </p:spPr>
      </p:pic>
      <p:sp>
        <p:nvSpPr>
          <p:cNvPr id="15" name="Metin kutusu 14"/>
          <p:cNvSpPr txBox="1"/>
          <p:nvPr>
            <p:custDataLst>
              <p:tags r:id="rId6"/>
            </p:custDataLst>
          </p:nvPr>
        </p:nvSpPr>
        <p:spPr>
          <a:xfrm>
            <a:off x="4677173" y="2853700"/>
            <a:ext cx="1833325" cy="1169551"/>
          </a:xfrm>
          <a:prstGeom prst="rect">
            <a:avLst/>
          </a:prstGeom>
          <a:noFill/>
        </p:spPr>
        <p:txBody>
          <a:bodyPr wrap="square" rtlCol="0">
            <a:spAutoFit/>
          </a:bodyPr>
          <a:lstStyle/>
          <a:p>
            <a:r>
              <a:rPr lang="tr-TR" sz="1400" dirty="0"/>
              <a:t>Bu birleştirme işlemi daha önce anlatılan kenarlık silme işlemi ile de yapılabilmektedir</a:t>
            </a:r>
            <a:r>
              <a:rPr lang="tr-TR" sz="1400" dirty="0" smtClean="0"/>
              <a:t>.</a:t>
            </a:r>
            <a:endParaRPr lang="tr-TR" sz="1400" dirty="0"/>
          </a:p>
        </p:txBody>
      </p:sp>
      <p:sp>
        <p:nvSpPr>
          <p:cNvPr id="16" name="Metin kutusu 15"/>
          <p:cNvSpPr txBox="1"/>
          <p:nvPr>
            <p:custDataLst>
              <p:tags r:id="rId7"/>
            </p:custDataLst>
          </p:nvPr>
        </p:nvSpPr>
        <p:spPr>
          <a:xfrm>
            <a:off x="533400" y="4142276"/>
            <a:ext cx="7772400" cy="1077218"/>
          </a:xfrm>
          <a:prstGeom prst="rect">
            <a:avLst/>
          </a:prstGeom>
          <a:noFill/>
        </p:spPr>
        <p:txBody>
          <a:bodyPr wrap="square" rtlCol="0">
            <a:spAutoFit/>
          </a:bodyPr>
          <a:lstStyle/>
          <a:p>
            <a:r>
              <a:rPr lang="tr-TR" sz="1600" b="1" u="sng" dirty="0"/>
              <a:t>Hücre Bölme</a:t>
            </a:r>
            <a:endParaRPr lang="tr-TR" sz="1600" b="1" dirty="0"/>
          </a:p>
          <a:p>
            <a:pPr marL="342900" lvl="0" indent="-342900">
              <a:buFont typeface="+mj-lt"/>
              <a:buAutoNum type="arabicPeriod"/>
            </a:pPr>
            <a:r>
              <a:rPr lang="tr-TR" sz="1600" dirty="0"/>
              <a:t>Bölmek istediğiniz tablo hücreyi seçiniz (tek bir hücre seçilmelidir) tıklatın.</a:t>
            </a:r>
          </a:p>
          <a:p>
            <a:pPr marL="342900" lvl="0" indent="-342900">
              <a:buFont typeface="+mj-lt"/>
              <a:buAutoNum type="arabicPeriod"/>
            </a:pPr>
            <a:r>
              <a:rPr lang="tr-TR" sz="1600" b="1" i="1" dirty="0"/>
              <a:t>Düzen ek sekmesi &gt; Birleştir Komut grubu &gt; </a:t>
            </a:r>
            <a:r>
              <a:rPr lang="tr-TR" sz="1600" b="1" i="1" dirty="0" err="1"/>
              <a:t>Hücleri</a:t>
            </a:r>
            <a:r>
              <a:rPr lang="tr-TR" sz="1600" b="1" i="1" dirty="0"/>
              <a:t> </a:t>
            </a:r>
            <a:r>
              <a:rPr lang="tr-TR" sz="1600" b="1" i="1" dirty="0" err="1"/>
              <a:t>Böl</a:t>
            </a:r>
            <a:r>
              <a:rPr lang="tr-TR" sz="1600" i="1" dirty="0" err="1"/>
              <a:t>’e</a:t>
            </a:r>
            <a:r>
              <a:rPr lang="tr-TR" sz="1600" dirty="0"/>
              <a:t> tıklayın. Hücreleri böl iletişim kutusu açılacaktır.</a:t>
            </a:r>
          </a:p>
        </p:txBody>
      </p:sp>
      <p:pic>
        <p:nvPicPr>
          <p:cNvPr id="17" name="Resim 16"/>
          <p:cNvPicPr/>
          <p:nvPr/>
        </p:nvPicPr>
        <p:blipFill>
          <a:blip r:embed="rId16"/>
          <a:stretch>
            <a:fillRect/>
          </a:stretch>
        </p:blipFill>
        <p:spPr>
          <a:xfrm>
            <a:off x="2209800" y="5255500"/>
            <a:ext cx="456565" cy="637540"/>
          </a:xfrm>
          <a:prstGeom prst="rect">
            <a:avLst/>
          </a:prstGeom>
        </p:spPr>
      </p:pic>
      <p:pic>
        <p:nvPicPr>
          <p:cNvPr id="18" name="Resim 17"/>
          <p:cNvPicPr/>
          <p:nvPr/>
        </p:nvPicPr>
        <p:blipFill>
          <a:blip r:embed="rId17"/>
          <a:stretch>
            <a:fillRect/>
          </a:stretch>
        </p:blipFill>
        <p:spPr>
          <a:xfrm>
            <a:off x="3331608" y="4923868"/>
            <a:ext cx="1622211" cy="1028906"/>
          </a:xfrm>
          <a:prstGeom prst="rect">
            <a:avLst/>
          </a:prstGeom>
        </p:spPr>
      </p:pic>
      <p:sp>
        <p:nvSpPr>
          <p:cNvPr id="19" name="Metin kutusu 18"/>
          <p:cNvSpPr txBox="1"/>
          <p:nvPr>
            <p:custDataLst>
              <p:tags r:id="rId8"/>
            </p:custDataLst>
          </p:nvPr>
        </p:nvSpPr>
        <p:spPr>
          <a:xfrm>
            <a:off x="533400" y="6073115"/>
            <a:ext cx="7772400" cy="584775"/>
          </a:xfrm>
          <a:prstGeom prst="rect">
            <a:avLst/>
          </a:prstGeom>
          <a:noFill/>
        </p:spPr>
        <p:txBody>
          <a:bodyPr wrap="square" rtlCol="0">
            <a:spAutoFit/>
          </a:bodyPr>
          <a:lstStyle/>
          <a:p>
            <a:pPr marL="342900" indent="-342900">
              <a:buFont typeface="+mj-lt"/>
              <a:buAutoNum type="arabicPeriod" startAt="3"/>
            </a:pPr>
            <a:r>
              <a:rPr lang="tr-TR" sz="1600" dirty="0"/>
              <a:t>Bir hücreyi dikey olarak bölmek için Sütun sayısı kutusuna istediğiniz yeni hücrelerin sayısını girin. </a:t>
            </a:r>
          </a:p>
        </p:txBody>
      </p:sp>
    </p:spTree>
    <p:custDataLst>
      <p:tags r:id="rId1"/>
    </p:custDataLst>
    <p:extLst>
      <p:ext uri="{BB962C8B-B14F-4D97-AF65-F5344CB8AC3E}">
        <p14:creationId xmlns:p14="http://schemas.microsoft.com/office/powerpoint/2010/main" val="300910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500"/>
                                        <p:tgtEl>
                                          <p:spTgt spid="7">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xEl>
                                              <p:pRg st="0" end="0"/>
                                            </p:txEl>
                                          </p:spTgt>
                                        </p:tgtEl>
                                        <p:attrNameLst>
                                          <p:attrName>style.visibility</p:attrName>
                                        </p:attrNameLst>
                                      </p:cBhvr>
                                      <p:to>
                                        <p:strVal val="visible"/>
                                      </p:to>
                                    </p:set>
                                    <p:animEffect transition="in" filter="fade">
                                      <p:cBhvr>
                                        <p:cTn id="26" dur="500"/>
                                        <p:tgtEl>
                                          <p:spTgt spid="16">
                                            <p:txEl>
                                              <p:pRg st="0" end="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xEl>
                                              <p:pRg st="1" end="1"/>
                                            </p:txEl>
                                          </p:spTgt>
                                        </p:tgtEl>
                                        <p:attrNameLst>
                                          <p:attrName>style.visibility</p:attrName>
                                        </p:attrNameLst>
                                      </p:cBhvr>
                                      <p:to>
                                        <p:strVal val="visible"/>
                                      </p:to>
                                    </p:set>
                                    <p:animEffect transition="in" filter="fade">
                                      <p:cBhvr>
                                        <p:cTn id="29" dur="500"/>
                                        <p:tgtEl>
                                          <p:spTgt spid="16">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
                                            <p:txEl>
                                              <p:pRg st="2" end="2"/>
                                            </p:txEl>
                                          </p:spTgt>
                                        </p:tgtEl>
                                        <p:attrNameLst>
                                          <p:attrName>style.visibility</p:attrName>
                                        </p:attrNameLst>
                                      </p:cBhvr>
                                      <p:to>
                                        <p:strVal val="visible"/>
                                      </p:to>
                                    </p:set>
                                    <p:animEffect transition="in" filter="fade">
                                      <p:cBhvr>
                                        <p:cTn id="34" dur="500"/>
                                        <p:tgtEl>
                                          <p:spTgt spid="16">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es-ES"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Hücre birleştirme ve bölme, metin yönü ve hizalama</a:t>
            </a:r>
            <a:endPar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Tablo </a:t>
            </a:r>
            <a:r>
              <a:rPr lang="tr-TR" sz="1400" b="1">
                <a:solidFill>
                  <a:schemeClr val="bg1"/>
                </a:solidFill>
              </a:rPr>
              <a:t>biçimlendirmelerini </a:t>
            </a:r>
            <a:r>
              <a:rPr lang="tr-TR" sz="1400" b="1"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14</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r>
              <a:rPr lang="tr-TR" sz="1600" b="1" u="sng" dirty="0"/>
              <a:t>Metin Yönü</a:t>
            </a:r>
            <a:endParaRPr lang="tr-TR" sz="1600" b="1" dirty="0"/>
          </a:p>
          <a:p>
            <a:pPr marL="342900" lvl="0" indent="-342900">
              <a:buFont typeface="+mj-lt"/>
              <a:buAutoNum type="arabicPeriod"/>
            </a:pPr>
            <a:r>
              <a:rPr lang="tr-TR" sz="1600" dirty="0"/>
              <a:t>Metin yönünün değiştirmek istediğiniz hücre ya da hücreleri seçiniz</a:t>
            </a:r>
          </a:p>
          <a:p>
            <a:pPr marL="342900" lvl="0" indent="-342900">
              <a:buFont typeface="+mj-lt"/>
              <a:buAutoNum type="arabicPeriod"/>
            </a:pPr>
            <a:r>
              <a:rPr lang="tr-TR" sz="1600" b="1" i="1" dirty="0"/>
              <a:t>Düzen ek sekmesi&gt; </a:t>
            </a:r>
            <a:r>
              <a:rPr lang="tr-TR" sz="1600" b="1" i="1" dirty="0" err="1"/>
              <a:t>Hizlama</a:t>
            </a:r>
            <a:r>
              <a:rPr lang="tr-TR" sz="1600" b="1" i="1" dirty="0"/>
              <a:t> Komut grubu &gt; Metin </a:t>
            </a:r>
            <a:r>
              <a:rPr lang="tr-TR" sz="1600" b="1" i="1" dirty="0" err="1"/>
              <a:t>Yönü</a:t>
            </a:r>
            <a:r>
              <a:rPr lang="tr-TR" sz="1600" i="1" dirty="0" err="1"/>
              <a:t>’ne</a:t>
            </a:r>
            <a:r>
              <a:rPr lang="tr-TR" sz="1600" i="1" dirty="0"/>
              <a:t> tıklayın ve istediğiniz yönü seçin.</a:t>
            </a:r>
            <a:endParaRPr lang="tr-TR" sz="1600" dirty="0"/>
          </a:p>
        </p:txBody>
      </p:sp>
      <p:pic>
        <p:nvPicPr>
          <p:cNvPr id="20" name="Resim 19"/>
          <p:cNvPicPr/>
          <p:nvPr/>
        </p:nvPicPr>
        <p:blipFill>
          <a:blip r:embed="rId12"/>
          <a:stretch>
            <a:fillRect/>
          </a:stretch>
        </p:blipFill>
        <p:spPr>
          <a:xfrm>
            <a:off x="1600200" y="2286000"/>
            <a:ext cx="1141095" cy="1917065"/>
          </a:xfrm>
          <a:prstGeom prst="rect">
            <a:avLst/>
          </a:prstGeom>
        </p:spPr>
      </p:pic>
      <p:sp>
        <p:nvSpPr>
          <p:cNvPr id="21" name="Metin kutusu 20"/>
          <p:cNvSpPr txBox="1"/>
          <p:nvPr>
            <p:custDataLst>
              <p:tags r:id="rId6"/>
            </p:custDataLst>
          </p:nvPr>
        </p:nvSpPr>
        <p:spPr>
          <a:xfrm>
            <a:off x="533400" y="4343400"/>
            <a:ext cx="7772400" cy="2308324"/>
          </a:xfrm>
          <a:prstGeom prst="rect">
            <a:avLst/>
          </a:prstGeom>
          <a:noFill/>
        </p:spPr>
        <p:txBody>
          <a:bodyPr wrap="square" rtlCol="0">
            <a:spAutoFit/>
          </a:bodyPr>
          <a:lstStyle/>
          <a:p>
            <a:r>
              <a:rPr lang="tr-TR" sz="1600" b="1" u="sng" dirty="0"/>
              <a:t>Hizalama</a:t>
            </a:r>
            <a:endParaRPr lang="tr-TR" sz="1600" b="1" dirty="0"/>
          </a:p>
          <a:p>
            <a:pPr marL="342900" lvl="0" indent="-342900">
              <a:buFont typeface="+mj-lt"/>
              <a:buAutoNum type="arabicPeriod"/>
            </a:pPr>
            <a:r>
              <a:rPr lang="tr-TR" sz="1600" dirty="0"/>
              <a:t>Hizalamasında değişiklik yapmak istediğiniz hücre ya da hücreleri seçiniz</a:t>
            </a:r>
          </a:p>
          <a:p>
            <a:pPr marL="342900" lvl="0" indent="-342900">
              <a:buFont typeface="+mj-lt"/>
              <a:buAutoNum type="arabicPeriod"/>
            </a:pPr>
            <a:r>
              <a:rPr lang="tr-TR" sz="1600" b="1" i="1" dirty="0"/>
              <a:t>Düzen ek sekmesi&gt; </a:t>
            </a:r>
            <a:r>
              <a:rPr lang="tr-TR" sz="1600" b="1" i="1" dirty="0" err="1"/>
              <a:t>Hizlama</a:t>
            </a:r>
            <a:r>
              <a:rPr lang="tr-TR" sz="1600" b="1" i="1" dirty="0"/>
              <a:t> Komut grubu</a:t>
            </a:r>
            <a:r>
              <a:rPr lang="tr-TR" sz="1600" i="1" dirty="0"/>
              <a:t> </a:t>
            </a:r>
            <a:r>
              <a:rPr lang="tr-TR" sz="1600" i="1" dirty="0" err="1"/>
              <a:t>nda</a:t>
            </a:r>
            <a:r>
              <a:rPr lang="tr-TR" sz="1600" i="1" dirty="0"/>
              <a:t> yer alan hizalama </a:t>
            </a:r>
            <a:r>
              <a:rPr lang="tr-TR" sz="1600" i="1" dirty="0" smtClean="0"/>
              <a:t>düğmelerini kullanın.</a:t>
            </a:r>
            <a:endParaRPr lang="tr-TR" sz="1600" i="1" dirty="0" smtClean="0"/>
          </a:p>
          <a:p>
            <a:pPr marL="342900" lvl="0" indent="-342900">
              <a:buFont typeface="+mj-lt"/>
              <a:buAutoNum type="arabicPeriod"/>
            </a:pPr>
            <a:endParaRPr lang="tr-TR" sz="1600" i="1" dirty="0"/>
          </a:p>
          <a:p>
            <a:pPr marL="342900" lvl="0" indent="-342900">
              <a:buFont typeface="+mj-lt"/>
              <a:buAutoNum type="arabicPeriod"/>
            </a:pPr>
            <a:endParaRPr lang="tr-TR" sz="1600" dirty="0"/>
          </a:p>
          <a:p>
            <a:pPr marL="857250" lvl="1" indent="-400050">
              <a:buFont typeface="+mj-lt"/>
              <a:buAutoNum type="arabicPeriod"/>
            </a:pPr>
            <a:r>
              <a:rPr lang="tr-TR" sz="1600" dirty="0"/>
              <a:t>Metin hizalamaları üstteki resimde 1 numara ile gösterilmiş olan yerden seçim yapılır</a:t>
            </a:r>
          </a:p>
          <a:p>
            <a:pPr marL="857250" lvl="1" indent="-400050">
              <a:buFont typeface="+mj-lt"/>
              <a:buAutoNum type="arabicPeriod"/>
            </a:pPr>
            <a:r>
              <a:rPr lang="tr-TR" sz="1600" dirty="0"/>
              <a:t>Hücre içindeki hücrenin metnin üst, orta veya alt konuma yazılması için üstteki resimde 2 numara ile gösterilmiş olan yerden seçim yapılır.</a:t>
            </a:r>
          </a:p>
        </p:txBody>
      </p:sp>
      <p:pic>
        <p:nvPicPr>
          <p:cNvPr id="22" name="Resim 21"/>
          <p:cNvPicPr/>
          <p:nvPr/>
        </p:nvPicPr>
        <p:blipFill>
          <a:blip r:embed="rId13"/>
          <a:stretch>
            <a:fillRect/>
          </a:stretch>
        </p:blipFill>
        <p:spPr>
          <a:xfrm>
            <a:off x="1371600" y="5093781"/>
            <a:ext cx="980440" cy="561340"/>
          </a:xfrm>
          <a:prstGeom prst="rect">
            <a:avLst/>
          </a:prstGeom>
        </p:spPr>
      </p:pic>
    </p:spTree>
    <p:custDataLst>
      <p:tags r:id="rId1"/>
    </p:custDataLst>
    <p:extLst>
      <p:ext uri="{BB962C8B-B14F-4D97-AF65-F5344CB8AC3E}">
        <p14:creationId xmlns:p14="http://schemas.microsoft.com/office/powerpoint/2010/main" val="16671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xEl>
                                              <p:pRg st="0" end="0"/>
                                            </p:txEl>
                                          </p:spTgt>
                                        </p:tgtEl>
                                        <p:attrNameLst>
                                          <p:attrName>style.visibility</p:attrName>
                                        </p:attrNameLst>
                                      </p:cBhvr>
                                      <p:to>
                                        <p:strVal val="visible"/>
                                      </p:to>
                                    </p:set>
                                    <p:animEffect transition="in" filter="fade">
                                      <p:cBhvr>
                                        <p:cTn id="20" dur="500"/>
                                        <p:tgtEl>
                                          <p:spTgt spid="21">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xEl>
                                              <p:pRg st="1" end="1"/>
                                            </p:txEl>
                                          </p:spTgt>
                                        </p:tgtEl>
                                        <p:attrNameLst>
                                          <p:attrName>style.visibility</p:attrName>
                                        </p:attrNameLst>
                                      </p:cBhvr>
                                      <p:to>
                                        <p:strVal val="visible"/>
                                      </p:to>
                                    </p:set>
                                    <p:animEffect transition="in" filter="fade">
                                      <p:cBhvr>
                                        <p:cTn id="23" dur="500"/>
                                        <p:tgtEl>
                                          <p:spTgt spid="2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
                                            <p:txEl>
                                              <p:pRg st="2" end="2"/>
                                            </p:txEl>
                                          </p:spTgt>
                                        </p:tgtEl>
                                        <p:attrNameLst>
                                          <p:attrName>style.visibility</p:attrName>
                                        </p:attrNameLst>
                                      </p:cBhvr>
                                      <p:to>
                                        <p:strVal val="visible"/>
                                      </p:to>
                                    </p:set>
                                    <p:animEffect transition="in" filter="fade">
                                      <p:cBhvr>
                                        <p:cTn id="28" dur="500"/>
                                        <p:tgtEl>
                                          <p:spTgt spid="2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xEl>
                                              <p:pRg st="5" end="5"/>
                                            </p:txEl>
                                          </p:spTgt>
                                        </p:tgtEl>
                                        <p:attrNameLst>
                                          <p:attrName>style.visibility</p:attrName>
                                        </p:attrNameLst>
                                      </p:cBhvr>
                                      <p:to>
                                        <p:strVal val="visible"/>
                                      </p:to>
                                    </p:set>
                                    <p:animEffect transition="in" filter="fade">
                                      <p:cBhvr>
                                        <p:cTn id="36" dur="500"/>
                                        <p:tgtEl>
                                          <p:spTgt spid="21">
                                            <p:txEl>
                                              <p:pRg st="5" end="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xEl>
                                              <p:pRg st="6" end="6"/>
                                            </p:txEl>
                                          </p:spTgt>
                                        </p:tgtEl>
                                        <p:attrNameLst>
                                          <p:attrName>style.visibility</p:attrName>
                                        </p:attrNameLst>
                                      </p:cBhvr>
                                      <p:to>
                                        <p:strVal val="visible"/>
                                      </p:to>
                                    </p:set>
                                    <p:animEffect transition="in" filter="fade">
                                      <p:cBhvr>
                                        <p:cTn id="39" dur="500"/>
                                        <p:tgtEl>
                                          <p:spTgt spid="2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0PHOTO" val=""/>
  <p:tag name="MMPROD_0LOGO" val=""/>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4075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DPjv5V5baZ4k0+zPhyYmO4e1ibzURhtY8lgR/eGMmtIct7M0d+gfBy4MNkttv2Skbo/8Aab0r7B+C3i54fs8Vy8ac/dnG3kf3Wr5jsfAv9h3el3uj3A1DQ5J9kV5Ed6HLcbse1fSWieB5LGGS9u3WztbcedJPK+xYU/iZm9PeuFxcah6eHm+U+0vD3iSCTSl3kS/Jysf3f++vSvlP40/GqT4iXV54a8NXBTwpG7LqOpRHb/aR/ihRv+eK92/j+nXw34jftfeHby/fwjZXOof8IuHEV3qdjEv+lr/EqqSD5PqOrfT5a7Wxg07U9BsrvQLmG+0m4T9xc2x+Q46j2IPUNyK97AUI1Z80+nQ4cbieVckNu5gTQiaXZGmEToq1qW1vHpsL3c4DLCjPtztzir0eliELn73fdXOeM5Li8Frpdp965YtN7RD+H/gRb/x2voHornhfEeW619v8RXdkb2OWK9u7iSe4uWH7m1tidyRqw4yw212kmkz61o0XllLVF+QzynbkD7rbe9dLpmkxaTA6ffdgqybvu1k6n5rXKf2eLd0zxLK58qH/AGVTv/vVyqFveZTd9jpfhx8RNc+E9p/ZWmXMOraXcEv9h1OMtFG/8TxMGUpu/iHQ/wB2uui/aw0+O8+z6z4b2rna8+kXXm+X/eZldV/753V4teWcen7rjXLuW6Vd2FgB2O3psHP4NXOXOvS3ULeRZvp1uP4Wj+f/AL57Vx1cPSnq1qawlNdT7wg+wa9Z/bNHv7XVbNhuE9jMJVx/tY6Vl3NuY+1fD3h6PUbXWrfVLPUbrS7qH545bN/Kcf8AAh/Jq+jvBH7Q1peW6WHjQNb3QIVNZtoP3Mg/6bIPuH/aUY/2VryKmEnBXjqdcKqbtI9x+1Weg6PqGs6i/ladptrJd3UmduIkDO3/AKDtr8y/iX8TtZ+NXxCuvEeusIZ5kEVjYx/6qztvm2Qp/wB9ct3LMa+mf29/iLfaP4d0L4f6a7QR6rEdT1N1bb5sKPshh/3S6s7f7i18bXTG+gt7iP5J8hA39yTt+DbayijSTLumw/6ctuQdqh2K1Lf2aqyvs7crin+F/wDiaeIVmI2q1o7uvo24Ky/nWrc2v2i88v7yp8x57V0JaHPfU5qztz/p9tyyrCso9qzjCYyz7Pug/dro/D8P2zxZqNtyrS27qFUegzViPw+6+flOkYzUcl0PnsefzZbT5Rgl5SuPpWV5bx7SUKq396u+0fw6l5qF1AE+VId236mmal4V8uTy40+VaydN2NlUSK/g3xhrvg1nfRNVn07zDvMa4eJiO7I6sCf+A19eeJ/jXB8bf2ZtCnu3htPFK6zJpmtW1mm3z0hg8yGQJu+USbwfTfE+K+PE0lPsbCSWO3nSTZ857dfxrofDN1c+G4r82RSV7+BYvPaMqyYOdy57/wANXBe8mx+1cYtLqcb4nsUt9SnQDZsJXap3f5Ndn8H/AIzX3wj1lxsbUPD904+3aYz4z/00T+5IP1HB9p7bwPJ/Z7Xtym7eP3a/+zVz2n/D288Sa0lnZoVdzyzD5UH96toqpTmpw3I54OPLI+5tB1/RvHPhxNa8P3sd/p7/ACs6fK8L7fuOOqP7H/eXctc7q2pWGjzTzvLFvUbPMkkVVTH95jXl/g34Tax8J9dsdZ0bxDcaVKhX7QqYdJ0+9sKHIcf7LLXS3Gg6HHdvfyWUT3ErmVmlTc2S2W2r2r6BVpyh76szzpRipe6ydtcOsMzwB7qLPErBlhH+761VmklW6iLksyEN5bfLurRXWBsxBbP5rfKnmDaq+9ULyaPTw8sp8+6f9WpNiWhFd6hIs/mY33TZUbj8qf7q/wBapx6TJ4iRpLi9uFgR133Odqj2X/4qn6Jpb+ILtnndkshu8xl+9L/srWt4r1a30+H7FbYRYRz5Z+VE/wB6otdXexe2xT1L7JGPLtlS38nCG7c7/NYfwtjb5hq4mho0P7w3PT+IhP8Ax0LxXK+H9ckvpFk0/T5NXvE/1cudlpbD/fP3z/tBTXVWVrrEh8y9vbeJ26xWsbN/48W/9lrWm09TNqx5f+0D8Vo/id8bfEequwl0a2k/srTNp+VbaFmVXX/fbe//AAOvOZbWO1f94PMs5fvsp+Vkb+Jf93/2Wq9trgsSha28+1ccukIZv+A5rW07Wo9Sgls5UgvYMMfMtY/KuI/9oxH7/wDwCvmopWPSd90X/AEAXWPEs0rgpAicr/Fnk/8A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wBAt44lEisnHvXbeHI7fw74eutYuNsHmAyj2WqhSXMJydjD8bRx26RWFsg83GxEX+FR/FW34A0e20G2a5IDyk7t38TtXF6zNPNNbyyjbqWrSL5cTfejh/x29a9BRfsdsiZ2Kg+d2/gX/GuqnZyuZPRWLl9qD3Vz5k5DvH0XPyx//XrndW8SfPI4AKRHlm7tTHvDcbY4MorHaiKPu/7VZN4sU2q2umIR5CHzZ2atJVHIlI6i3mNrYfbLly0rjhW7f4Vzt3dG8knnncpBbjdM+f8AvlF9zVnWdSkvryKC2TdLKRFAimuU8Z6tHYy2eh2b+aySHfKv/LWbb87f8B+7WcpJI0SOgtfGT2NmxRAjv8kMEQ3MnoFrNik0ia/U+Jb4Xl3uzHotmDMye7hFzn3bH4VhQpHboLrV9RXStLJKPcq376Y/xRw45z/eI6fdHfHTaLdWFjF9j0C3isLLG5765CooX++2eT/vNx/tVMJue5VrI6+21qJbeIQRf2dZKPvSxqm3/ZVd3J/2av8AnSXS5j83yj0aUfO3+FcbpV7aR3onsLS/8TXWcLfMAIR/uyybUA/3FNb1xZ65eQb73V7XRYMf6uzRriX/AL7k2j/xyu6L0MmtTwXRtNvbh0knnltbX73X53X/AGfSuve8HnB/sUTKOkrRru4/2qZFZmP5z87Z+8wrX01R0cbmx/EK8enTSVjplO5x+oaXa6d8QfCus2MKwR3lxsnjRuBIO/tuDVd8Q/L8R7pPWNcNVjxxZjTbfR71B5UUOrQttI9chsVS8QZ/4TlZx/cVqTXLdFr3+UxPH9rutbqQj7sZ+avaW1BtU+BOl3g5d7NF+Xuw+WvKfFUYvNKvv4t0bYrs/hzqg1T4FWtpktLa3bROuO2f8Gq6T5ZyXdCqL3F6m74ZtZNP+Ek4jT96I5HC/wC1triPA1xHfeItOdzs+xRyXTt/tldi/wDoR/75r1vw7CJPD11ZABto3bcbdwK7a8i8BeVZ3Ximf+Hz/sycfd2cn9WrSorOBjF7jvEinXPEmnadGN32m6RNtej+LJItQ1eDTFO3S9NAluNv8bj7if1ryfRdUePx9YX+zzVtpGcL6t/DXQeNdeksdPnEZ/0ieQ4/vPKf/ifu1nGWjY3F3SNTwez+LPGd/rko3WVn/otuuPl3fxVr+JNY86b7JA+5FPzt/eaq+jxx+C/CNrZIR55j3O2PvOfvH/x6smwzcXCyyfNklq6I3UbdSZG3aSfYbZ7g/K+GrmpdWj02O61Cd3+c/d/9BFWtZvjM62yfdJ5bNc1C39uarEgH+h277U3fdd/WspSs7ISX2jpbLUpdL0SXWrtNmo3QMVlE3/LIfxNXCeFLG68aeM9q3KWVkmLY3kp27Fz85Hux3c1v/ES6P9mTyRv/AKmMW9rFnqS21j+dYlh4dSPSoLO5+1bHwz2tp8rzt/Qf71RK8ml0Nla1za8SaHp1jrjW9r4hs2uxtiEenWrahd7B2VvuR/7q4/GuksPD/hbw/HDf6g3lXboD9p1+fzbkn/cbp+C0zw94L1iO18jT4rXwvZHqsSbrhx/tSmuhsfBeiaGftN5LFdT/AHjPcvvauqnT1vYzc/skSeODqB/4klnLqzD5ftM+6KFP91T1qaHS9b1KZZL2WDaw5SLPFXLnxxpWnhI4I5Lh+0aDatZF3rms61N9meJdIs5TxFF+9u5h/ur9wf7TV1XUd3cx1ucToeoNeWy+em1f7zDrXS6XZi6u0COFx13dloorzodDWRwXx51+JdP0/TbcnKzecD7BcZ/M1Tg1y31p7W7+9Okaq+40UVzVJP2jOuCXJEvzYuI5RkfMNu2rHwKuNsutaMTtUSCUK3/fNFFOn8aE/hZ6TYa8NF8brZyY2zBsr64WvObXXNPTwjdTwo/2i6eeZEiHzF3cn/x1WWiiuiq2c8IqxX8GQpJdpevhkjj83d7mltLgeJvG1uHG2ysG81/4tz/w0UVhHZF9WdFreoHUr3YM+Uv92n/bBZx5QlVA+7RRXT1Muhz2s3zrC0UZ23Fydu70T1pui3EGnwzuhVUhTaGX+9RRWP2ykO8PaHPqxTULu7iiUyeVatdk7c/3lXqT/druIVi8Kun/ABM5Ly4VG/dWcZdyT9elFFa0gqD1vNc1SNUi0jdGesuoTs2f+AitK10PVVMUlxFYoqjjyoFbH57qKK7Y7mJqtmO1Ypc+U2eGSNV+auP8RTap5Tg6jJsdudvBb8qKKur8IU9z/9k="/>
  <p:tag name="MMPROD_44075LOGO" val=""/>
  <p:tag name="MMPROD_UIDATA" val="&lt;database version=&quot;7.0&quot;&gt;&lt;object type=&quot;1&quot; unique_id=&quot;10001&quot;&gt;&lt;property id=&quot;20141&quot; value=&quot;MS PowerPoint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5.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4075&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4075&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4075&quot;/&gt;&lt;property id=&quot;20312&quot; value=&quot;0&quot;/&gt;&lt;/object&gt;&lt;object type=&quot;3&quot; unique_id=&quot;42307&quot;&gt;&lt;property id=&quot;20148&quot; value=&quot;5&quot;/&gt;&lt;property id=&quot;20300&quot; value=&quot;Slide 4 - &amp;quot;Slayta tablo ekleme&amp;quot;&quot;/&gt;&lt;property id=&quot;20302&quot; value=&quot;0&quot;/&gt;&lt;property id=&quot;20303&quot; value=&quot;Zekeriya PARLAK&quot;/&gt;&lt;property id=&quot;20307&quot; value=&quot;297&quot;/&gt;&lt;property id=&quot;20309&quot; value=&quot;44075&quot;/&gt;&lt;property id=&quot;20312&quot; value=&quot;0&quot;/&gt;&lt;/object&gt;&lt;object type=&quot;3&quot; unique_id=&quot;42308&quot;&gt;&lt;property id=&quot;20148&quot; value=&quot;5&quot;/&gt;&lt;property id=&quot;20300&quot; value=&quot;Slide 6 - &amp;quot;Tablo içine metin girme&amp;quot;&quot;/&gt;&lt;property id=&quot;20302&quot; value=&quot;0&quot;/&gt;&lt;property id=&quot;20303&quot; value=&quot;Zekeriya PARLAK&quot;/&gt;&lt;property id=&quot;20307&quot; value=&quot;298&quot;/&gt;&lt;property id=&quot;20309&quot; value=&quot;44075&quot;/&gt;&lt;property id=&quot;20312&quot; value=&quot;0&quot;/&gt;&lt;/object&gt;&lt;object type=&quot;3&quot; unique_id=&quot;42309&quot;&gt;&lt;property id=&quot;20148&quot; value=&quot;5&quot;/&gt;&lt;property id=&quot;20300&quot; value=&quot;Slide 7 - &amp;quot;Tablonun arka planına veya hücrelere renk ve doku ekleme&amp;quot;&quot;/&gt;&lt;property id=&quot;20302&quot; value=&quot;0&quot;/&gt;&lt;property id=&quot;20303&quot; value=&quot;Zekeriya PARLAK&quot;/&gt;&lt;property id=&quot;20307&quot; value=&quot;299&quot;/&gt;&lt;property id=&quot;20309&quot; value=&quot;44075&quot;/&gt;&lt;property id=&quot;20312&quot; value=&quot;0&quot;/&gt;&lt;/object&gt;&lt;object type=&quot;3&quot; unique_id=&quot;42458&quot;&gt;&lt;property id=&quot;20148&quot; value=&quot;5&quot;/&gt;&lt;property id=&quot;20300&quot; value=&quot;Slide 5 - &amp;quot;Slayta tablo ekleme&amp;quot;&quot;/&gt;&lt;property id=&quot;20302&quot; value=&quot;0&quot;/&gt;&lt;property id=&quot;20303&quot; value=&quot;Zekeriya PARLAK&quot;/&gt;&lt;property id=&quot;20307&quot; value=&quot;304&quot;/&gt;&lt;property id=&quot;20309&quot; value=&quot;44075&quot;/&gt;&lt;property id=&quot;20312&quot; value=&quot;0&quot;/&gt;&lt;/object&gt;&lt;object type=&quot;3&quot; unique_id=&quot;42675&quot;&gt;&lt;property id=&quot;20148&quot; value=&quot;5&quot;/&gt;&lt;property id=&quot;20300&quot; value=&quot;Slide 8 - &amp;quot;Tablo stillerini kullanmak&amp;quot;&quot;/&gt;&lt;property id=&quot;20302&quot; value=&quot;0&quot;/&gt;&lt;property id=&quot;20303&quot; value=&quot;Zekeriya PARLAK&quot;/&gt;&lt;property id=&quot;20307&quot; value=&quot;305&quot;/&gt;&lt;property id=&quot;20309&quot; value=&quot;44075&quot;/&gt;&lt;property id=&quot;20312&quot; value=&quot;0&quot;/&gt;&lt;/object&gt;&lt;object type=&quot;3&quot; unique_id=&quot;42890&quot;&gt;&lt;property id=&quot;20148&quot; value=&quot;5&quot;/&gt;&lt;property id=&quot;20300&quot; value=&quot;Slide 9 - &amp;quot;Tablo kenarlıklarını ayarlamak&amp;quot;&quot;/&gt;&lt;property id=&quot;20302&quot; value=&quot;0&quot;/&gt;&lt;property id=&quot;20303&quot; value=&quot;Zekeriya PARLAK&quot;/&gt;&lt;property id=&quot;20307&quot; value=&quot;306&quot;/&gt;&lt;property id=&quot;20309&quot; value=&quot;44075&quot;/&gt;&lt;property id=&quot;20312&quot; value=&quot;0&quot;/&gt;&lt;/object&gt;&lt;object type=&quot;3&quot; unique_id=&quot;42891&quot;&gt;&lt;property id=&quot;20148&quot; value=&quot;5&quot;/&gt;&lt;property id=&quot;20300&quot; value=&quot;Slide 10 - &amp;quot;Tablo stillerini kullanmak&amp;quot;&quot;/&gt;&lt;property id=&quot;20302&quot; value=&quot;0&quot;/&gt;&lt;property id=&quot;20303&quot; value=&quot;Zekeriya PARLAK&quot;/&gt;&lt;property id=&quot;20307&quot; value=&quot;307&quot;/&gt;&lt;property id=&quot;20309&quot; value=&quot;44075&quot;/&gt;&lt;property id=&quot;20312&quot; value=&quot;0&quot;/&gt;&lt;/object&gt;&lt;object type=&quot;3&quot; unique_id=&quot;42892&quot;&gt;&lt;property id=&quot;20148&quot; value=&quot;5&quot;/&gt;&lt;property id=&quot;20300&quot; value=&quot;Slide 11 - &amp;quot;Tabloya efekt eklemek&amp;quot;&quot;/&gt;&lt;property id=&quot;20302&quot; value=&quot;0&quot;/&gt;&lt;property id=&quot;20303&quot; value=&quot;Zekeriya PARLAK&quot;/&gt;&lt;property id=&quot;20307&quot; value=&quot;308&quot;/&gt;&lt;property id=&quot;20309&quot; value=&quot;44075&quot;/&gt;&lt;property id=&quot;20312&quot; value=&quot;0&quot;/&gt;&lt;/object&gt;&lt;object type=&quot;3&quot; unique_id=&quot;42893&quot;&gt;&lt;property id=&quot;20148&quot; value=&quot;5&quot;/&gt;&lt;property id=&quot;20300&quot; value=&quot;Slide 12 - &amp;quot;Tablo içine satır/sütun eklemek, silmek&amp;quot;&quot;/&gt;&lt;property id=&quot;20302&quot; value=&quot;0&quot;/&gt;&lt;property id=&quot;20303&quot; value=&quot;Zekeriya PARLAK&quot;/&gt;&lt;property id=&quot;20307&quot; value=&quot;309&quot;/&gt;&lt;property id=&quot;20309&quot; value=&quot;44075&quot;/&gt;&lt;property id=&quot;20312&quot; value=&quot;0&quot;/&gt;&lt;/object&gt;&lt;object type=&quot;3&quot; unique_id=&quot;42894&quot;&gt;&lt;property id=&quot;20148&quot; value=&quot;5&quot;/&gt;&lt;property id=&quot;20300&quot; value=&quot;Slide 13 - &amp;quot;Hücre birleştirme ve bölme, metin yönü ve hizalama&amp;quot;&quot;/&gt;&lt;property id=&quot;20302&quot; value=&quot;0&quot;/&gt;&lt;property id=&quot;20303&quot; value=&quot;Zekeriya PARLAK&quot;/&gt;&lt;property id=&quot;20307&quot; value=&quot;310&quot;/&gt;&lt;property id=&quot;20309&quot; value=&quot;44075&quot;/&gt;&lt;property id=&quot;20312&quot; value=&quot;0&quot;/&gt;&lt;/object&gt;&lt;object type=&quot;3&quot; unique_id=&quot;43375&quot;&gt;&lt;property id=&quot;20148&quot; value=&quot;5&quot;/&gt;&lt;property id=&quot;20300&quot; value=&quot;Slide 14 - &amp;quot;Hücre birleştirme ve bölme, metin yönü ve hizalama&amp;quot;&quot;/&gt;&lt;property id=&quot;20302&quot; value=&quot;0&quot;/&gt;&lt;property id=&quot;20303&quot; value=&quot;Zekeriya PARLAK&quot;/&gt;&lt;property id=&quot;20307&quot; value=&quot;311&quot;/&gt;&lt;property id=&quot;20309&quot; value=&quot;44075&quot;/&gt;&lt;property id=&quot;20312&quot; value=&quot;0&quot;/&gt;&lt;/object&gt;&lt;/object&gt;&lt;object type=&quot;8&quot; unique_id=&quot;10563&quot;&gt;&lt;/object&gt;&lt;object type=&quot;4&quot; unique_id=&quot;10695&quot;&gt;&lt;object type=&quot;5&quot; unique_id=&quot;44075&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4223&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0BBB2936-E095-480E-8AFB-E9DD9CD48B13}&quot;/&gt;&lt;isInvalidForFieldText val=&quot;0&quot;/&gt;&lt;Image&gt;&lt;filename val=&quot;C:\Users\PRESEN~1\AppData\Local\Temp\PR\data\asimages\{0BBB2936-E095-480E-8AFB-E9DD9CD48B13}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1198440499,C:\Users\Presenter\Desktop\powerpoint_icerikler\moduller\modul5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66BC2C93-7E3C-4E5E-84EC-00AB3E7CA5D7}&quot;/&gt;&lt;isInvalidForFieldText val=&quot;0&quot;/&gt;&lt;Image&gt;&lt;filename val=&quot;C:\Users\PRESEN~1\AppData\Local\Temp\PR\data\asimages\{66BC2C93-7E3C-4E5E-84EC-00AB3E7CA5D7}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3&quot;/&gt;&lt;lineCharCount val=&quot;25&quot;/&gt;&lt;lineCharCount val=&quot;32&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5EBB6618-9C51-48E9-A41C-B867E6FE906D}&quot;/&gt;&lt;isInvalidForFieldText val=&quot;0&quot;/&gt;&lt;Image&gt;&lt;filename val=&quot;C:\Users\PRESEN~1\AppData\Local\Temp\PR\data\asimages\{5EBB6618-9C51-48E9-A41C-B867E6FE906D}_3.png&quot;/&gt;&lt;left val=&quot;25&quot;/&gt;&lt;top val=&quot;30&quot;/&gt;&lt;width val=&quot;659&quot;/&gt;&lt;height val=&quot;6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1&quot;/&gt;&lt;lineCharCount val=&quot;14&quot;/&gt;&lt;lineCharCount val=&quot;28&quot;/&gt;&lt;lineCharCount val=&quot;31&quot;/&gt;&lt;lineCharCount val=&quot;64&quot;/&gt;&lt;lineCharCount val=&quot;34&quot;/&gt;&lt;lineCharCount val=&quot;38&quot;/&gt;&lt;lineCharCount val=&quot;29&quot;/&gt;&lt;lineCharCount val=&quot;47&quot;/&gt;&lt;lineCharCount val=&quot;57&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1198440499,C:\Users\Presenter\Desktop\powerpoint_icerikler\moduller\modul5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PRESENTER_SHAPEINFO" val="&lt;ThreeDShapeInfo&gt;&lt;uuid val=&quot;{EA546F43-CCFD-45B1-B83C-3BE895808800}&quot;/&gt;&lt;isInvalidForFieldText val=&quot;0&quot;/&gt;&lt;Image&gt;&lt;filename val=&quot;C:\Users\PRESEN~1\AppData\Local\Temp\PR\data\asimages\{EA546F43-CCFD-45B1-B83C-3BE895808800}_4.png&quot;/&gt;&lt;left val=&quot;36&quot;/&gt;&lt;top val=&quot;30&quot;/&gt;&lt;width val=&quot;649&quot;/&gt;&lt;height val=&quot;62&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0&quot;/&gt;&lt;lineCharCount val=&quot;60&quot;/&gt;&lt;lineCharCount val=&quot;95&quot;/&gt;&lt;lineCharCount val=&quot;91&quot;/&gt;&lt;lineCharCount val=&quot;15&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0&quot;/&gt;&lt;lineCharCount val=&quot;97&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PSNARRATION" val="3,1198440499,C:\Users\Presenter\Desktop\powerpoint_icerikler\moduller\modul5_pptx\Media.ppcx"/>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PRESENTER_SHAPEINFO" val="&lt;ThreeDShapeInfo&gt;&lt;uuid val=&quot;{A9181A26-9FF1-45EB-A663-1B8A6F13E872}&quot;/&gt;&lt;isInvalidForFieldText val=&quot;0&quot;/&gt;&lt;Image&gt;&lt;filename val=&quot;C:\Users\PRESEN~1\AppData\Local\Temp\PR\data\asimages\{A9181A26-9FF1-45EB-A663-1B8A6F13E872}_5.png&quot;/&gt;&lt;left val=&quot;36&quot;/&gt;&lt;top val=&quot;30&quot;/&gt;&lt;width val=&quot;649&quot;/&gt;&lt;height val=&quot;62&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43&quot;/&gt;&lt;lineCharCount val=&quot;64&quot;/&gt;&lt;lineCharCount val=&quot;80&quot;/&gt;&lt;lineCharCount val=&quot;2&quot;/&gt;&lt;lineCharCount val=&quot;50&quot;/&gt;&lt;lineCharCount val=&quot;92&quot;/&gt;&lt;lineCharCount val=&quot;21&quot;/&gt;&lt;lineCharCount val=&quot;49&quot;/&gt;&lt;lineCharCount val=&quot;80&quot;/&gt;&lt;lineCharCount val=&quot;2&quot;/&gt;&lt;lineCharCount val=&quot;53&quot;/&gt;&lt;lineCharCount val=&quot;59&quot;/&gt;&lt;lineCharCount val=&quot;87&quot;/&gt;&lt;lineCharCount val=&quot;9&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PSNARRATION" val="4,1198440499,C:\Users\Presenter\Desktop\powerpoint_icerikler\moduller\modul5_pptx\Media.ppcx"/>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PRESENTER_SHAPEINFO" val="&lt;ThreeDShapeInfo&gt;&lt;uuid val=&quot;{80A24937-FD92-4D9F-AD44-63C10A66DAB2}&quot;/&gt;&lt;isInvalidForFieldText val=&quot;0&quot;/&gt;&lt;Image&gt;&lt;filename val=&quot;C:\Users\PRESEN~1\AppData\Local\Temp\PR\data\asimages\{80A24937-FD92-4D9F-AD44-63C10A66DAB2}_6.png&quot;/&gt;&lt;left val=&quot;36&quot;/&gt;&lt;top val=&quot;30&quot;/&gt;&lt;width val=&quot;649&quot;/&gt;&lt;height val=&quot;62&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0&quot;/&gt;&lt;lineCharCount val=&quot;51&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PSNARRATION" val="5,1198440499,C:\Users\Presenter\Desktop\powerpoint_icerikler\moduller\modul5_pptx\Media.ppcx"/>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6&quot;/&gt;&lt;/TableIndex&gt;&lt;/ShapeTextInfo&gt;"/>
  <p:tag name="PRESENTER_SHAPEINFO" val="&lt;ThreeDShapeInfo&gt;&lt;uuid val=&quot;{BA9746AF-5DEF-4409-9F4E-12A151FA1870}&quot;/&gt;&lt;isInvalidForFieldText val=&quot;0&quot;/&gt;&lt;Image&gt;&lt;filename val=&quot;C:\Users\PRESEN~1\AppData\Local\Temp\PR\data\asimages\{BA9746AF-5DEF-4409-9F4E-12A151FA1870}_7.png&quot;/&gt;&lt;left val=&quot;36&quot;/&gt;&lt;top val=&quot;36&quot;/&gt;&lt;width val=&quot;649&quot;/&gt;&lt;height val=&quot;51&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64&quot;/&gt;&lt;lineCharCount val=&quot;84&quot;/&gt;&lt;lineCharCount val=&quot;88&quot;/&gt;&lt;lineCharCount val=&quot;50&quot;/&gt;&lt;lineCharCount val=&quot;79&quot;/&gt;&lt;lineCharCount val=&quot;86&quot;/&gt;&lt;lineCharCount val=&quot;1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77&quot;/&gt;&lt;lineCharCount val=&quot;74&quot;/&gt;&lt;lineCharCount val=&quot;18&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PSNARRATION" val="6,1198440499,C:\Users\Presenter\Desktop\powerpoint_icerikler\moduller\modul5_pptx\Media.ppcx"/>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PRESENTER_SHAPEINFO" val="&lt;ThreeDShapeInfo&gt;&lt;uuid val=&quot;{1F501EDA-D301-4F16-AF9A-49386B9EF104}&quot;/&gt;&lt;isInvalidForFieldText val=&quot;0&quot;/&gt;&lt;Image&gt;&lt;filename val=&quot;C:\Users\PRESEN~1\AppData\Local\Temp\PR\data\asimages\{1F501EDA-D301-4F16-AF9A-49386B9EF104}_8.png&quot;/&gt;&lt;left val=&quot;36&quot;/&gt;&lt;top val=&quot;30&quot;/&gt;&lt;width val=&quot;649&quot;/&gt;&lt;height val=&quot;62&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68&quot;/&gt;&lt;lineCharCount val=&quot;92&quot;/&gt;&lt;lineCharCount val=&quot;97&quot;/&gt;&lt;lineCharCount val=&quot;97&quot;/&gt;&lt;lineCharCount val=&quot;1&quot;/&gt;&lt;lineCharCount val=&quot;1&quot;/&gt;&lt;lineCharCount val=&quot;1&quot;/&gt;&lt;lineCharCount val=&quot;37&quot;/&gt;&lt;lineCharCount val=&quot;93&quot;/&gt;&lt;lineCharCount val=&quot;23&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PSNARRATION" val="7,1198440499,C:\Users\Presenter\Desktop\powerpoint_icerikler\moduller\modul5_pptx\Media.ppcx"/>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 name="PRESENTER_SHAPEINFO" val="&lt;ThreeDShapeInfo&gt;&lt;uuid val=&quot;{01C9C359-5685-4426-A656-C2D84CFEDA83}&quot;/&gt;&lt;isInvalidForFieldText val=&quot;0&quot;/&gt;&lt;Image&gt;&lt;filename val=&quot;C:\Users\PRESEN~1\AppData\Local\Temp\PR\data\asimages\{01C9C359-5685-4426-A656-C2D84CFEDA83}_9.png&quot;/&gt;&lt;left val=&quot;36&quot;/&gt;&lt;top val=&quot;30&quot;/&gt;&lt;width val=&quot;649&quot;/&gt;&lt;height val=&quot;62&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73&quot;/&gt;&lt;lineCharCount val=&quot;7&quot;/&gt;&lt;lineCharCount val=&quot;71&quot;/&gt;&lt;lineCharCount val=&quot;24&quot;/&gt;&lt;lineCharCount val=&quot;62&quot;/&gt;&lt;lineCharCount val=&quot;63&quot;/&gt;&lt;lineCharCount val=&quot;26&quot;/&gt;&lt;lineCharCount val=&quot;70&quot;/&gt;&lt;lineCharCount val=&quot;50&quot;/&gt;&lt;lineCharCount val=&quot;68&quot;/&gt;&lt;lineCharCount val=&quot;45&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PSNARRATION" val="8,1198440499,C:\Users\Presenter\Desktop\powerpoint_icerikler\moduller\modul5_pptx\Media.ppcx"/>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PRESENTER_SHAPEINFO" val="&lt;ThreeDShapeInfo&gt;&lt;uuid val=&quot;{F86CBAE4-F00A-4191-955D-9AC9974B7500}&quot;/&gt;&lt;isInvalidForFieldText val=&quot;0&quot;/&gt;&lt;Image&gt;&lt;filename val=&quot;C:\Users\PRESEN~1\AppData\Local\Temp\PR\data\asimages\{F86CBAE4-F00A-4191-955D-9AC9974B7500}_10.png&quot;/&gt;&lt;left val=&quot;36&quot;/&gt;&lt;top val=&quot;30&quot;/&gt;&lt;width val=&quot;649&quot;/&gt;&lt;height val=&quot;62&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93&quot;/&gt;&lt;lineCharCount val=&quot;17&quot;/&gt;&lt;lineCharCount val=&quot;79&quot;/&gt;&lt;lineCharCount val=&quot;35&quot;/&gt;&lt;lineCharCount val=&quot;85&quot;/&gt;&lt;lineCharCount val=&quot;44&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27&quot;/&gt;&lt;lineCharCount val=&quot;25&quot;/&gt;&lt;lineCharCount val=&quot;21&quot;/&gt;&lt;lineCharCount val=&quot;32&quot;/&gt;&lt;lineCharCount val=&quot;20&quot;/&gt;&lt;lineCharCount val=&quot;26&quot;/&gt;&lt;lineCharCount val=&quot;27&quot;/&gt;&lt;lineCharCount val=&quot;26&quot;/&gt;&lt;lineCharCount val=&quot;23&quot;/&gt;&lt;lineCharCount val=&quot;1&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PSNARRATION" val="9,1198440499,C:\Users\Presenter\Desktop\powerpoint_icerikler\moduller\modul5_pptx\Media.ppcx"/>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PRESENTER_SHAPEINFO" val="&lt;ThreeDShapeInfo&gt;&lt;uuid val=&quot;{476065C6-842C-4E24-B172-6ACC596DF35B}&quot;/&gt;&lt;isInvalidForFieldText val=&quot;0&quot;/&gt;&lt;Image&gt;&lt;filename val=&quot;C:\Users\PRESEN~1\AppData\Local\Temp\PR\data\asimages\{476065C6-842C-4E24-B172-6ACC596DF35B}_11.png&quot;/&gt;&lt;left val=&quot;36&quot;/&gt;&lt;top val=&quot;30&quot;/&gt;&lt;width val=&quot;649&quot;/&gt;&lt;height val=&quot;62&quot;/&gt;&lt;hasText val=&quot;1&quot;/&gt;&lt;/Image&gt;&lt;/ThreeDShape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2&quot;/&gt;&lt;lineCharCount val=&quot;66&quot;/&gt;&lt;lineCharCount val=&quot;74&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PSNARRATION" val="10,1198440499,C:\Users\Presenter\Desktop\powerpoint_icerikler\moduller\modul5_pptx\Media.ppcx"/>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9&quot;/&gt;&lt;/TableIndex&gt;&lt;/ShapeTextInfo&gt;"/>
  <p:tag name="PRESENTER_SHAPEINFO" val="&lt;ThreeDShapeInfo&gt;&lt;uuid val=&quot;{23C2AFA1-84FC-49FF-A8A4-2489A9170CDE}&quot;/&gt;&lt;isInvalidForFieldText val=&quot;0&quot;/&gt;&lt;Image&gt;&lt;filename val=&quot;C:\Users\PRESEN~1\AppData\Local\Temp\PR\data\asimages\{23C2AFA1-84FC-49FF-A8A4-2489A9170CDE}_12.png&quot;/&gt;&lt;left val=&quot;36&quot;/&gt;&lt;top val=&quot;30&quot;/&gt;&lt;width val=&quot;649&quot;/&gt;&lt;height val=&quot;62&quot;/&gt;&lt;hasText val=&quot;1&quot;/&gt;&lt;/Image&gt;&lt;/ThreeDShape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90&quot;/&gt;&lt;lineCharCount val=&quot;10&quot;/&gt;&lt;lineCharCount val=&quot;87&quot;/&gt;&lt;lineCharCount val=&quot;38&quot;/&gt;&lt;lineCharCount val=&quot;86&quot;/&gt;&lt;lineCharCount val=&quot;14&quot;/&gt;&lt;lineCharCount val=&quot;67&quot;/&gt;&lt;lineCharCount val=&quot;67&quot;/&gt;&lt;lineCharCount val=&quot;66&quot;/&gt;&lt;lineCharCount val=&quot;66&quot;/&gt;&lt;lineCharCount val=&quot;1&quot;/&gt;&lt;lineCharCount val=&quot;1&quot;/&gt;&lt;lineCharCount val=&quot;1&quot;/&gt;&lt;lineCharCount val=&quot;91&quot;/&gt;&lt;lineCharCount val=&quot;30&quot;/&gt;&lt;lineCharCount val=&quot;87&quot;/&gt;&lt;lineCharCount val=&quot;7&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PSNARRATION" val="11,1198440499,C:\Users\Presenter\Desktop\powerpoint_icerikler\moduller\modul5_pptx\Media.ppcx"/>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 name="PRESENTER_SHAPEINFO" val="&lt;ThreeDShapeInfo&gt;&lt;uuid val=&quot;{EF535C27-F3A8-475C-B948-BBF932660801}&quot;/&gt;&lt;isInvalidForFieldText val=&quot;0&quot;/&gt;&lt;Image&gt;&lt;filename val=&quot;C:\Users\PRESEN~1\AppData\Local\Temp\PR\data\asimages\{EF535C27-F3A8-475C-B948-BBF932660801}_13.png&quot;/&gt;&lt;left val=&quot;27&quot;/&gt;&lt;top val=&quot;32&quot;/&gt;&lt;width val=&quot;666&quot;/&gt;&lt;height val=&quot;59&quot;/&gt;&lt;hasText val=&quot;1&quot;/&gt;&lt;/Image&gt;&lt;/ThreeDShape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8&quot;/&gt;&lt;lineCharCount val=&quot;96&quot;/&gt;&lt;lineCharCount val=&quot;64&quot;/&gt;&lt;lineCharCount val=&quot;75&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2&quot;/&gt;&lt;lineCharCount val=&quot;20&quot;/&gt;&lt;lineCharCount val=&quot;22&quot;/&gt;&lt;lineCharCount val=&quot;7&quot;/&gt;&lt;lineCharCount val=&quot;18&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80&quot;/&gt;&lt;lineCharCount val=&quot;90&quot;/&gt;&lt;lineCharCount val=&quot;19&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7&quot;/&gt;&lt;lineCharCount val=&quot;16&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PSNARRATION" val="12,1198440499,C:\Users\Presenter\Desktop\powerpoint_icerikler\moduller\modul5_pptx\Media.ppcx"/>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 name="PRESENTER_SHAPEINFO" val="&lt;ThreeDShapeInfo&gt;&lt;uuid val=&quot;{170910C2-CE58-4E33-A7EF-89B2C0F8165F}&quot;/&gt;&lt;isInvalidForFieldText val=&quot;0&quot;/&gt;&lt;Image&gt;&lt;filename val=&quot;C:\Users\PRESEN~1\AppData\Local\Temp\PR\data\asimages\{170910C2-CE58-4E33-A7EF-89B2C0F8165F}_14.png&quot;/&gt;&lt;left val=&quot;27&quot;/&gt;&lt;top val=&quot;32&quot;/&gt;&lt;width val=&quot;666&quot;/&gt;&lt;height val=&quot;59&quot;/&gt;&lt;hasText val=&quot;1&quot;/&gt;&lt;/Image&gt;&lt;/ThreeDShape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1&quot;/&gt;&lt;lineCharCount val=&quot;68&quot;/&gt;&lt;lineCharCount val=&quot;83&quot;/&gt;&lt;lineCharCount val=&quot;6&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9&quot;/&gt;&lt;lineCharCount val=&quot;74&quot;/&gt;&lt;lineCharCount val=&quot;82&quot;/&gt;&lt;lineCharCount val=&quot;1&quot;/&gt;&lt;lineCharCount val=&quot;1&quot;/&gt;&lt;lineCharCount val=&quot;78&quot;/&gt;&lt;lineCharCount val=&quot;8&quot;/&gt;&lt;lineCharCount val=&quot;80&quot;/&gt;&lt;lineCharCount val=&quot;59&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1539</TotalTime>
  <Words>1197</Words>
  <Application>Microsoft Office PowerPoint</Application>
  <PresentationFormat>Ekran Gösterisi (4:3)</PresentationFormat>
  <Paragraphs>149</Paragraphs>
  <Slides>14</Slides>
  <Notes>11</Notes>
  <HiddenSlides>0</HiddenSlides>
  <MMClips>0</MMClips>
  <ScaleCrop>false</ScaleCrop>
  <HeadingPairs>
    <vt:vector size="4" baseType="variant">
      <vt:variant>
        <vt:lpstr>Tema</vt:lpstr>
      </vt:variant>
      <vt:variant>
        <vt:i4>2</vt:i4>
      </vt:variant>
      <vt:variant>
        <vt:lpstr>Slayt Başlıkları</vt:lpstr>
      </vt:variant>
      <vt:variant>
        <vt:i4>14</vt:i4>
      </vt:variant>
    </vt:vector>
  </HeadingPairs>
  <TitlesOfParts>
    <vt:vector size="16" baseType="lpstr">
      <vt:lpstr>Hava Akımı</vt:lpstr>
      <vt:lpstr>Ofis Teması</vt:lpstr>
      <vt:lpstr>PowerPoint</vt:lpstr>
      <vt:lpstr>Öğrenme Hedefleri</vt:lpstr>
      <vt:lpstr>İçindekiler</vt:lpstr>
      <vt:lpstr>Slayta tablo ekleme</vt:lpstr>
      <vt:lpstr>Slayta tablo ekleme</vt:lpstr>
      <vt:lpstr>Tablo içine metin girme</vt:lpstr>
      <vt:lpstr>Tablonun arka planına veya hücrelere renk ve doku ekleme</vt:lpstr>
      <vt:lpstr>Tablo stillerini kullanmak</vt:lpstr>
      <vt:lpstr>Tablo kenarlıklarını ayarlamak</vt:lpstr>
      <vt:lpstr>Tablo stillerini kullanmak</vt:lpstr>
      <vt:lpstr>Tabloya efekt eklemek</vt:lpstr>
      <vt:lpstr>Tablo içine satır/sütun eklemek, silmek</vt:lpstr>
      <vt:lpstr>Hücre birleştirme ve bölme, metin yönü ve hizalama</vt:lpstr>
      <vt:lpstr>Hücre birleştirme ve bölme, metin yönü ve hizalama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415</cp:revision>
  <dcterms:created xsi:type="dcterms:W3CDTF">2011-06-08T08:18:11Z</dcterms:created>
  <dcterms:modified xsi:type="dcterms:W3CDTF">2011-09-17T09:31:25Z</dcterms:modified>
</cp:coreProperties>
</file>