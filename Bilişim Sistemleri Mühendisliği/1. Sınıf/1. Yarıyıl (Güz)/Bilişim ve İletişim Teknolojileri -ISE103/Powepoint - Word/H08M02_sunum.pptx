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3.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5.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6.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7.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8.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9.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0.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1.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1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6"/>
  </p:notesMasterIdLst>
  <p:sldIdLst>
    <p:sldId id="256" r:id="rId3"/>
    <p:sldId id="260" r:id="rId4"/>
    <p:sldId id="258" r:id="rId5"/>
    <p:sldId id="257" r:id="rId6"/>
    <p:sldId id="271" r:id="rId7"/>
    <p:sldId id="275" r:id="rId8"/>
    <p:sldId id="277" r:id="rId9"/>
    <p:sldId id="261" r:id="rId10"/>
    <p:sldId id="276" r:id="rId11"/>
    <p:sldId id="272" r:id="rId12"/>
    <p:sldId id="263" r:id="rId13"/>
    <p:sldId id="278" r:id="rId14"/>
    <p:sldId id="279" r:id="rId15"/>
  </p:sldIdLst>
  <p:sldSz cx="9144000" cy="6858000" type="screen4x3"/>
  <p:notesSz cx="6669088" cy="9928225"/>
  <p:custDataLst>
    <p:tags r:id="rId17"/>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46F890A9-2807-4EBB-B81D-B2AA78EC7F39}" styleName="Koyu Stil 2 - Vurgu 5/Vurgu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42" autoAdjust="0"/>
  </p:normalViewPr>
  <p:slideViewPr>
    <p:cSldViewPr>
      <p:cViewPr>
        <p:scale>
          <a:sx n="100" d="100"/>
          <a:sy n="100" d="100"/>
        </p:scale>
        <p:origin x="-122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19.10.2011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283110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50308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418738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Word’de </a:t>
            </a:r>
            <a:r>
              <a:rPr lang="tr-TR" sz="1200" kern="1200" dirty="0" err="1" smtClean="0">
                <a:solidFill>
                  <a:schemeClr val="tx1"/>
                </a:solidFill>
                <a:effectLst/>
                <a:latin typeface="+mn-lt"/>
                <a:ea typeface="+mn-ea"/>
                <a:cs typeface="+mn-cs"/>
              </a:rPr>
              <a:t>Enter</a:t>
            </a:r>
            <a:r>
              <a:rPr lang="tr-TR" sz="1200" kern="1200" dirty="0" smtClean="0">
                <a:solidFill>
                  <a:schemeClr val="tx1"/>
                </a:solidFill>
                <a:effectLst/>
                <a:latin typeface="+mn-lt"/>
                <a:ea typeface="+mn-ea"/>
                <a:cs typeface="+mn-cs"/>
              </a:rPr>
              <a:t> tuşuna basmak aslında bir paragrafı sonlandırıp imleci bir sonraki paragrafın ilk satırına geçmesidir. Giriş sekmesinde bulunan</a:t>
            </a:r>
            <a:r>
              <a:rPr lang="tr-TR" sz="1200" kern="1200" baseline="0" dirty="0" smtClean="0">
                <a:solidFill>
                  <a:schemeClr val="tx1"/>
                </a:solidFill>
                <a:effectLst/>
                <a:latin typeface="+mn-lt"/>
                <a:ea typeface="+mn-ea"/>
                <a:cs typeface="+mn-cs"/>
              </a:rPr>
              <a:t> </a:t>
            </a:r>
            <a:r>
              <a:rPr lang="tr-TR" sz="1200" kern="1200" dirty="0" smtClean="0">
                <a:solidFill>
                  <a:schemeClr val="tx1"/>
                </a:solidFill>
                <a:effectLst/>
                <a:latin typeface="+mn-lt"/>
                <a:ea typeface="+mn-ea"/>
                <a:cs typeface="+mn-cs"/>
              </a:rPr>
              <a:t>Tümünü Göster komutuna tıkladığımızda her paragrafın sonunda paragraf işaretinin olduğunu göreceksiniz “¶”. Dolayısıyla her </a:t>
            </a:r>
            <a:r>
              <a:rPr lang="tr-TR" sz="1200" kern="1200" dirty="0" err="1" smtClean="0">
                <a:solidFill>
                  <a:schemeClr val="tx1"/>
                </a:solidFill>
                <a:effectLst/>
                <a:latin typeface="+mn-lt"/>
                <a:ea typeface="+mn-ea"/>
                <a:cs typeface="+mn-cs"/>
              </a:rPr>
              <a:t>Enter</a:t>
            </a:r>
            <a:r>
              <a:rPr lang="tr-TR" sz="1200" kern="1200" dirty="0" smtClean="0">
                <a:solidFill>
                  <a:schemeClr val="tx1"/>
                </a:solidFill>
                <a:effectLst/>
                <a:latin typeface="+mn-lt"/>
                <a:ea typeface="+mn-ea"/>
                <a:cs typeface="+mn-cs"/>
              </a:rPr>
              <a:t> tuşuna bastığımızda aslında biz paragrafın sonuna bir paragraf işareti koymuş oluyoruz.</a:t>
            </a:r>
          </a:p>
          <a:p>
            <a:r>
              <a:rPr lang="tr-TR" sz="1200" kern="1200" dirty="0" smtClean="0">
                <a:solidFill>
                  <a:schemeClr val="tx1"/>
                </a:solidFill>
                <a:effectLst/>
                <a:latin typeface="+mn-lt"/>
                <a:ea typeface="+mn-ea"/>
                <a:cs typeface="+mn-cs"/>
              </a:rPr>
              <a:t>Koymuş olduğumuz paragraf işaretini kaldırmak metin içerisinde herhangi bir karakteri silmeyle aynıdır. </a:t>
            </a:r>
            <a:r>
              <a:rPr lang="tr-TR" sz="1200" kern="1200" dirty="0" err="1" smtClean="0">
                <a:solidFill>
                  <a:schemeClr val="tx1"/>
                </a:solidFill>
                <a:effectLst/>
                <a:latin typeface="+mn-lt"/>
                <a:ea typeface="+mn-ea"/>
                <a:cs typeface="+mn-cs"/>
              </a:rPr>
              <a:t>Delete</a:t>
            </a:r>
            <a:r>
              <a:rPr lang="tr-TR" sz="1200" kern="1200" dirty="0" smtClean="0">
                <a:solidFill>
                  <a:schemeClr val="tx1"/>
                </a:solidFill>
                <a:effectLst/>
                <a:latin typeface="+mn-lt"/>
                <a:ea typeface="+mn-ea"/>
                <a:cs typeface="+mn-cs"/>
              </a:rPr>
              <a:t> veya </a:t>
            </a:r>
            <a:r>
              <a:rPr lang="tr-TR" sz="1200" kern="1200" dirty="0" err="1" smtClean="0">
                <a:solidFill>
                  <a:schemeClr val="tx1"/>
                </a:solidFill>
                <a:effectLst/>
                <a:latin typeface="+mn-lt"/>
                <a:ea typeface="+mn-ea"/>
                <a:cs typeface="+mn-cs"/>
              </a:rPr>
              <a:t>Baskspace</a:t>
            </a:r>
            <a:r>
              <a:rPr lang="tr-TR" sz="1200" kern="1200" dirty="0" smtClean="0">
                <a:solidFill>
                  <a:schemeClr val="tx1"/>
                </a:solidFill>
                <a:effectLst/>
                <a:latin typeface="+mn-lt"/>
                <a:ea typeface="+mn-ea"/>
                <a:cs typeface="+mn-cs"/>
              </a:rPr>
              <a:t> tuşlarını kullanarak silebiliriz. </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Word</a:t>
            </a:r>
            <a:r>
              <a:rPr lang="tr-TR" baseline="0" dirty="0" smtClean="0"/>
              <a:t> belgesine veri girerken paragrafı sonlandırmadan bir alt satıra geçmek için Elle satır işareti koyarız. </a:t>
            </a:r>
            <a:r>
              <a:rPr lang="tr-TR" sz="1200" dirty="0" smtClean="0"/>
              <a:t>Elle Satır Sonu işareti  koymak için</a:t>
            </a:r>
          </a:p>
          <a:p>
            <a:r>
              <a:rPr lang="tr-TR" sz="1200" dirty="0" err="1" smtClean="0"/>
              <a:t>ÜstKrkt+Enter</a:t>
            </a:r>
            <a:r>
              <a:rPr lang="tr-TR" sz="1200" dirty="0" smtClean="0"/>
              <a:t>  tuşlarını kullanılır. </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dirty="0" smtClean="0"/>
              <a:t>Koymuş olduğumuz satır kesme işaretlerini kaldırmak için </a:t>
            </a:r>
            <a:r>
              <a:rPr lang="tr-TR" sz="1200" b="1" dirty="0" err="1" smtClean="0"/>
              <a:t>Delete</a:t>
            </a:r>
            <a:r>
              <a:rPr lang="tr-TR" sz="1200" b="1" dirty="0" smtClean="0"/>
              <a:t> </a:t>
            </a:r>
            <a:r>
              <a:rPr lang="tr-TR" sz="1200" dirty="0" smtClean="0"/>
              <a:t>veya </a:t>
            </a:r>
            <a:r>
              <a:rPr lang="tr-TR" sz="1200" b="1" dirty="0" err="1" smtClean="0"/>
              <a:t>Baskspace</a:t>
            </a:r>
            <a:r>
              <a:rPr lang="tr-TR" sz="1200" dirty="0" smtClean="0"/>
              <a:t> tuşlarından biri kullanılır. </a:t>
            </a:r>
          </a:p>
          <a:p>
            <a:endParaRPr lang="tr-TR" sz="1200" dirty="0" smtClean="0"/>
          </a:p>
          <a:p>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Word belgesinin kenar</a:t>
            </a:r>
            <a:r>
              <a:rPr lang="tr-TR" sz="1200" kern="1200" baseline="0" dirty="0" smtClean="0">
                <a:solidFill>
                  <a:schemeClr val="tx1"/>
                </a:solidFill>
                <a:effectLst/>
                <a:latin typeface="+mn-lt"/>
                <a:ea typeface="+mn-ea"/>
                <a:cs typeface="+mn-cs"/>
              </a:rPr>
              <a:t> boşluklarına veya ortaya göre konumlandırılmasına hizalama deniyor. </a:t>
            </a:r>
            <a:r>
              <a:rPr lang="tr-TR" sz="1200" kern="1200" dirty="0" smtClean="0">
                <a:solidFill>
                  <a:schemeClr val="tx1"/>
                </a:solidFill>
                <a:effectLst/>
                <a:latin typeface="+mn-lt"/>
                <a:ea typeface="+mn-ea"/>
                <a:cs typeface="+mn-cs"/>
              </a:rPr>
              <a:t>Bir paragrafın satırları, sayfanın hangi tarafındaki kenar boşluğuna hizalanıyorsa, paragrafın hizalama düzenine o ad verilir. Metin hizalamak için </a:t>
            </a:r>
          </a:p>
          <a:p>
            <a:r>
              <a:rPr lang="tr-TR" sz="1200" b="1" dirty="0" smtClean="0"/>
              <a:t>Giriş</a:t>
            </a:r>
            <a:r>
              <a:rPr lang="tr-TR" sz="1200" dirty="0" smtClean="0"/>
              <a:t> sekmesi</a:t>
            </a:r>
            <a:r>
              <a:rPr lang="tr-TR" sz="1200" b="1" dirty="0" smtClean="0"/>
              <a:t>&gt;Paragraf </a:t>
            </a:r>
            <a:r>
              <a:rPr lang="tr-TR" sz="1200" dirty="0" smtClean="0"/>
              <a:t>komut grubu</a:t>
            </a:r>
          </a:p>
          <a:p>
            <a:r>
              <a:rPr lang="tr-TR" sz="1200" b="1" dirty="0" smtClean="0"/>
              <a:t>Paragraf </a:t>
            </a:r>
            <a:r>
              <a:rPr lang="tr-TR" sz="1200" dirty="0" smtClean="0"/>
              <a:t>komut grubundan</a:t>
            </a:r>
            <a:r>
              <a:rPr lang="tr-TR" sz="1200" baseline="0" dirty="0" smtClean="0"/>
              <a:t> ve Fare </a:t>
            </a:r>
            <a:r>
              <a:rPr lang="tr-TR" sz="1200" baseline="0" dirty="0" err="1" smtClean="0"/>
              <a:t>kısayol</a:t>
            </a:r>
            <a:r>
              <a:rPr lang="tr-TR" sz="1200" baseline="0" dirty="0" smtClean="0"/>
              <a:t> menüsünden açılan </a:t>
            </a:r>
            <a:r>
              <a:rPr lang="tr-TR" sz="1200" b="1" dirty="0" smtClean="0"/>
              <a:t>Paragraf </a:t>
            </a:r>
            <a:r>
              <a:rPr lang="tr-TR" sz="1200" dirty="0" smtClean="0"/>
              <a:t>iletişim penceresi Hizalama komutu</a:t>
            </a:r>
          </a:p>
          <a:p>
            <a:r>
              <a:rPr lang="tr-TR" sz="1200" b="1" dirty="0" smtClean="0"/>
              <a:t>Fare işaretçisi </a:t>
            </a:r>
            <a:r>
              <a:rPr lang="tr-TR" sz="1200" dirty="0" err="1" smtClean="0"/>
              <a:t>kısayol</a:t>
            </a:r>
            <a:r>
              <a:rPr lang="tr-TR" sz="1200" dirty="0" smtClean="0"/>
              <a:t> menüsü kullanılır.</a:t>
            </a:r>
            <a:endParaRPr lang="tr-TR" sz="1200" kern="1200" dirty="0" smtClean="0">
              <a:solidFill>
                <a:schemeClr val="tx1"/>
              </a:solidFill>
              <a:effectLst/>
              <a:latin typeface="+mn-lt"/>
              <a:ea typeface="+mn-ea"/>
              <a:cs typeface="+mn-cs"/>
            </a:endParaRPr>
          </a:p>
          <a:p>
            <a:r>
              <a:rPr lang="tr-TR" sz="1200" kern="1200" dirty="0" smtClean="0">
                <a:solidFill>
                  <a:schemeClr val="tx1"/>
                </a:solidFill>
                <a:effectLst/>
                <a:latin typeface="+mn-lt"/>
                <a:ea typeface="+mn-ea"/>
                <a:cs typeface="+mn-cs"/>
              </a:rPr>
              <a:t>Hizalamayı yeni boş belgeye açtığımızda metin girmeden yaparsak bütün metin boyunca aynı hizalama işlemi yapılmış olur. Aksi halde hizalamak</a:t>
            </a:r>
            <a:r>
              <a:rPr lang="tr-TR" sz="1200" kern="1200" baseline="0" dirty="0" smtClean="0">
                <a:solidFill>
                  <a:schemeClr val="tx1"/>
                </a:solidFill>
                <a:effectLst/>
                <a:latin typeface="+mn-lt"/>
                <a:ea typeface="+mn-ea"/>
                <a:cs typeface="+mn-cs"/>
              </a:rPr>
              <a:t> istediğimiz metni seçmemiz gerekir.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dirty="0" smtClean="0"/>
              <a:t>Word</a:t>
            </a:r>
            <a:r>
              <a:rPr lang="tr-TR" sz="1200" baseline="0" dirty="0" smtClean="0"/>
              <a:t> belgesi içerisinde paragrafların ilk satırlarını girintili yapmak için </a:t>
            </a:r>
          </a:p>
          <a:p>
            <a:r>
              <a:rPr lang="tr-TR" sz="1200" b="1" baseline="0" dirty="0" smtClean="0"/>
              <a:t>Cetvel</a:t>
            </a:r>
            <a:r>
              <a:rPr lang="tr-TR" sz="1200" baseline="0" dirty="0" smtClean="0"/>
              <a:t> üzerinde bulunan </a:t>
            </a:r>
            <a:r>
              <a:rPr lang="tr-TR" sz="1200" b="1" baseline="0" dirty="0" smtClean="0"/>
              <a:t>İlk Satır Girintisi </a:t>
            </a:r>
            <a:r>
              <a:rPr lang="tr-TR" sz="1200" baseline="0" dirty="0" smtClean="0"/>
              <a:t>işaretçisini sürüklemek veya  </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b="1" dirty="0" smtClean="0"/>
              <a:t>Paragraf </a:t>
            </a:r>
            <a:r>
              <a:rPr lang="tr-TR" sz="1200" dirty="0" smtClean="0"/>
              <a:t>komut grubundan</a:t>
            </a:r>
            <a:r>
              <a:rPr lang="tr-TR" sz="1200" baseline="0" dirty="0" smtClean="0"/>
              <a:t> ve Fare </a:t>
            </a:r>
            <a:r>
              <a:rPr lang="tr-TR" sz="1200" baseline="0" dirty="0" err="1" smtClean="0"/>
              <a:t>kısayol</a:t>
            </a:r>
            <a:r>
              <a:rPr lang="tr-TR" sz="1200" baseline="0" dirty="0" smtClean="0"/>
              <a:t> menüsünden açılan </a:t>
            </a:r>
            <a:r>
              <a:rPr lang="tr-TR" sz="1200" b="1" dirty="0" smtClean="0"/>
              <a:t>Paragraf </a:t>
            </a:r>
            <a:r>
              <a:rPr lang="tr-TR" sz="1200" dirty="0" smtClean="0"/>
              <a:t>iletişim penceresinde Özel seçeneğinden İlk satır seçilerek hemen yanında kutucuğa değer girmek gerekir.</a:t>
            </a:r>
          </a:p>
          <a:p>
            <a:endParaRPr lang="tr-TR" sz="1200" baseline="0" dirty="0" smtClean="0"/>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dirty="0" smtClean="0"/>
              <a:t>Word belgesinde satırlar</a:t>
            </a:r>
            <a:r>
              <a:rPr lang="tr-TR" baseline="0" dirty="0" smtClean="0"/>
              <a:t> arasındaki mesafeye ayarlamak için Giriş sekmesi Satır ve Paragraf aralığı açılır menüsünü, Paragraf iletişim penceresi Satır aralığı komutunu kullanırız. Bütün paragraf bazındaki biçimlendirmelerde olduğu gibi bu yollardan birini seçip paragraf aralığını belirlediğimizde ekleme noktasının bulunduğu aktif paragrafın satır aralığını değiştirmiş oluruz. Birden fazla paragrafın paragraf aralığını değiştirmek için değiştirmek istediğimiz paragrafları önce seçmemiz sonra da Giriş sekmesinden veya Paragraf iletişim penceresinden satır aralığını belirlememiz gerekir.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Paragrafta satırlara arasındaki mesafeyi ayarlayabildiğimiz gibi, paragraflar arasındaki aralıkta ayarlanabilmektedir. Paragraflar arasındaki aralığı belirlemek için, satır aralığında olduğu gibi Giriş sekmesinde bulunan Satır ve Paragraf Aralığı komutundan veya Paragraf komut grubunda bulunan iletişim başlatıcı komutunu tıklayarak paragrafın üstündeki veya altındaki boşluğu istediğiniz değeri ayarlayabilirsiniz</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 içerisinde</a:t>
            </a:r>
            <a:r>
              <a:rPr lang="tr-TR" sz="1200" kern="1200" baseline="0" dirty="0" smtClean="0">
                <a:solidFill>
                  <a:schemeClr val="tx1"/>
                </a:solidFill>
                <a:effectLst/>
                <a:latin typeface="+mn-lt"/>
                <a:ea typeface="+mn-ea"/>
                <a:cs typeface="+mn-cs"/>
              </a:rPr>
              <a:t> kullanılan en önemli hizalama araçlarından bir sekmelerdir. Varsayılan olarak belge içerisinde her 1,25 cm bir sekme durağı vardır. Klavyeden </a:t>
            </a:r>
            <a:r>
              <a:rPr lang="tr-TR" sz="1200" kern="1200" baseline="0" dirty="0" err="1" smtClean="0">
                <a:solidFill>
                  <a:schemeClr val="tx1"/>
                </a:solidFill>
                <a:effectLst/>
                <a:latin typeface="+mn-lt"/>
                <a:ea typeface="+mn-ea"/>
                <a:cs typeface="+mn-cs"/>
              </a:rPr>
              <a:t>Tab</a:t>
            </a:r>
            <a:r>
              <a:rPr lang="tr-TR" sz="1200" kern="1200" baseline="0" dirty="0" smtClean="0">
                <a:solidFill>
                  <a:schemeClr val="tx1"/>
                </a:solidFill>
                <a:effectLst/>
                <a:latin typeface="+mn-lt"/>
                <a:ea typeface="+mn-ea"/>
                <a:cs typeface="+mn-cs"/>
              </a:rPr>
              <a:t> tuşuna tıkladığımızda ekleme noktası bulunduğu yerden bir sonraki sekme durağına gider. Eğer biz bir sekme durağı ayarlarsak, o sekme durağından önceki varsayılan sekme durakları devre dışı kalır. Belge içerisindeki metin ve sayıları hizalamak için genel olarak dört tane sekme kullanılmaktadır: soldan, ortadan, sağdan ve ondalık sekme kullanılmaktadır. Belgemize sekme eklemek istediğimizde dikey cetvelin en üstünde bulunan sekme simgesinden istediğimiz sekmeyi tıklayarak seçeriz ve cetvel üzerinde durak eklemek istediğimiz yere tıklarız veya Paragraf iletişim penceresinin sol alt köşesinde bulunan Sekmeler komutuna tıklayarak Sekmelere iletişim penceresinden durak yeri girip, hizalamayı türünü seçeriz ve Ayarla komutuna ve daha sonra da Tamam komutuna tıklarız. Ekleme noktasını sekme durağına ötelemek için </a:t>
            </a:r>
            <a:r>
              <a:rPr lang="tr-TR" sz="1200" kern="1200" baseline="0" dirty="0" err="1" smtClean="0">
                <a:solidFill>
                  <a:schemeClr val="tx1"/>
                </a:solidFill>
                <a:effectLst/>
                <a:latin typeface="+mn-lt"/>
                <a:ea typeface="+mn-ea"/>
                <a:cs typeface="+mn-cs"/>
              </a:rPr>
              <a:t>Tab</a:t>
            </a:r>
            <a:r>
              <a:rPr lang="tr-TR" sz="1200" kern="1200" baseline="0" dirty="0" smtClean="0">
                <a:solidFill>
                  <a:schemeClr val="tx1"/>
                </a:solidFill>
                <a:effectLst/>
                <a:latin typeface="+mn-lt"/>
                <a:ea typeface="+mn-ea"/>
                <a:cs typeface="+mn-cs"/>
              </a:rPr>
              <a:t> tuşuna basmamız yeterlidir. İçindekiler tablosunu oluştururken sekmeleri kullandığımızdaysa Sekmeler iletişim penceresinden Öncü türünü belirlememiz gerekir. Belgemizden sekmeleri kaldırmak için cetvel üzerindeki sekmeyi farenin işaretçisiyle sayfaya sürükleyip bırakmamız veya Sekmeler iletişim penceresinde sekme durağını seçip Temizle komutuna tıklamamız yeterlidir. Bütün sekme duraklarını kaldırmak için Tümünü Temizle komutunu kullanırız.</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10</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Listeler hayatımızın her bölümünde yer almaktadır- Alışveriş listesi, geziye katılacakların listesini oluştururken veya futbol takımı kurarken listeleri kullanırız. Listeler belge içinde çok kullanışlı öğelerdir.  Oluşturduğumuz listedeki</a:t>
            </a:r>
            <a:r>
              <a:rPr lang="tr-TR" sz="1200" kern="1200" baseline="0" dirty="0" smtClean="0">
                <a:solidFill>
                  <a:schemeClr val="tx1"/>
                </a:solidFill>
                <a:effectLst/>
                <a:latin typeface="+mn-lt"/>
                <a:ea typeface="+mn-ea"/>
                <a:cs typeface="+mn-cs"/>
              </a:rPr>
              <a:t> maddelerin sırasının bir önemi yoksa madde işaretli, sıralamanın önemi varsa numaralı yaparız. </a:t>
            </a:r>
            <a:r>
              <a:rPr lang="tr-TR" sz="1200" kern="1200" dirty="0" smtClean="0">
                <a:solidFill>
                  <a:schemeClr val="tx1"/>
                </a:solidFill>
                <a:effectLst/>
                <a:latin typeface="+mn-lt"/>
                <a:ea typeface="+mn-ea"/>
                <a:cs typeface="+mn-cs"/>
              </a:rPr>
              <a:t>Word’de liste oluştururken en yaygın kullanılan yöntem listeyi yazarken otomatik olarak oluşturmaktır. Madde işaretli bir liste gerekiyorsa, yıldız işareti (*) yazıp ardından bir boşluk bırakmanız yeterli olur. Yıldız işareti bir madde işaretine dönüşür ve liste başlatılır. Listenizin ilk öğesini yazmayı tamamladığınızda ENTER tuşuna basın; bir sonraki satırda yeni bir madde işareti görüntülenecektir. Numaralandırılmış listeleri otomatik olarak oluşturmak için, bir yazıp ardından nokta koyup</a:t>
            </a:r>
            <a:r>
              <a:rPr lang="tr-TR" sz="1200" kern="1200" baseline="0" dirty="0" smtClean="0">
                <a:solidFill>
                  <a:schemeClr val="tx1"/>
                </a:solidFill>
                <a:effectLst/>
                <a:latin typeface="+mn-lt"/>
                <a:ea typeface="+mn-ea"/>
                <a:cs typeface="+mn-cs"/>
              </a:rPr>
              <a:t> boşluk bırakmak yeterlidir. İlk maddenin sonuna geldiğimizde </a:t>
            </a:r>
            <a:r>
              <a:rPr lang="tr-TR" sz="1200" kern="1200" baseline="0" dirty="0" err="1" smtClean="0">
                <a:solidFill>
                  <a:schemeClr val="tx1"/>
                </a:solidFill>
                <a:effectLst/>
                <a:latin typeface="+mn-lt"/>
                <a:ea typeface="+mn-ea"/>
                <a:cs typeface="+mn-cs"/>
              </a:rPr>
              <a:t>Enter</a:t>
            </a:r>
            <a:r>
              <a:rPr lang="tr-TR" sz="1200" kern="1200" baseline="0" dirty="0" smtClean="0">
                <a:solidFill>
                  <a:schemeClr val="tx1"/>
                </a:solidFill>
                <a:effectLst/>
                <a:latin typeface="+mn-lt"/>
                <a:ea typeface="+mn-ea"/>
                <a:cs typeface="+mn-cs"/>
              </a:rPr>
              <a:t> tuşuna basmak ekleme noktasının listedeki bir sonraki maddeye gönderir. Listeyi bitirdikten sonra listeyi sonlandırmak için iki kere </a:t>
            </a:r>
            <a:r>
              <a:rPr lang="tr-TR" sz="1200" kern="1200" baseline="0" dirty="0" err="1" smtClean="0">
                <a:solidFill>
                  <a:schemeClr val="tx1"/>
                </a:solidFill>
                <a:effectLst/>
                <a:latin typeface="+mn-lt"/>
                <a:ea typeface="+mn-ea"/>
                <a:cs typeface="+mn-cs"/>
              </a:rPr>
              <a:t>Enter</a:t>
            </a:r>
            <a:r>
              <a:rPr lang="tr-TR" sz="1200" kern="1200" baseline="0" dirty="0" smtClean="0">
                <a:solidFill>
                  <a:schemeClr val="tx1"/>
                </a:solidFill>
                <a:effectLst/>
                <a:latin typeface="+mn-lt"/>
                <a:ea typeface="+mn-ea"/>
                <a:cs typeface="+mn-cs"/>
              </a:rPr>
              <a:t> tuşuna veya Geri tuşunu kullanın.</a:t>
            </a:r>
            <a:endParaRPr lang="tr-TR" sz="1200" kern="1200" dirty="0" smtClean="0">
              <a:solidFill>
                <a:schemeClr val="tx1"/>
              </a:solidFill>
              <a:effectLst/>
              <a:latin typeface="+mn-lt"/>
              <a:ea typeface="+mn-ea"/>
              <a:cs typeface="+mn-cs"/>
            </a:endParaRP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11</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Varsayılanların dışında Numaralandırma veya Madde İşareti öğesi metne eklemek için Numaralandırma veya Madde İşaretleri düğmesinin yanındaki oku tıklayarak Kitaplıkları açmamız gerekir. Kitaplıktan beğendiğimiz madde işaretini seçebiliriz. Eğer kitaplıkta bulunan tasarımlardan hiç birini beğenmezseniz iletişim kutusunun alt kısmındaki Yeni Madde İşareti </a:t>
            </a:r>
            <a:r>
              <a:rPr lang="tr-TR" sz="1200" kern="1200" dirty="0" err="1" smtClean="0">
                <a:solidFill>
                  <a:schemeClr val="tx1"/>
                </a:solidFill>
                <a:effectLst/>
                <a:latin typeface="+mn-lt"/>
                <a:ea typeface="+mn-ea"/>
                <a:cs typeface="+mn-cs"/>
              </a:rPr>
              <a:t>Tanımla'yı</a:t>
            </a:r>
            <a:r>
              <a:rPr lang="tr-TR" sz="1200" kern="1200" dirty="0" smtClean="0">
                <a:solidFill>
                  <a:schemeClr val="tx1"/>
                </a:solidFill>
                <a:effectLst/>
                <a:latin typeface="+mn-lt"/>
                <a:ea typeface="+mn-ea"/>
                <a:cs typeface="+mn-cs"/>
              </a:rPr>
              <a:t> tıklatarak kendi tasarımınızı oluşturabilirsiniz.</a:t>
            </a: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12</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Kenarlıklar ve Gölgelendirme düzenlemeleri yazının ve grafik nesnelerinin kenarlıklarının düzenlenmesini ve içerisinin doldurulmasını kapsar. Kenarlıklar, metnin belli bir kısmı için yapılan çerçevedir. Değişik kalınlıklardaki çizgiler seçilerek ve istenilen taraflarından (kenarlarından) metin çerçeve içine alınır. Bu işlem için Giriş sekmesi Paragraf komut grubundaki Kenarlıklar ve Gölgelendirme komutu ve açılır menüsü  </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kern="1200" dirty="0" smtClean="0">
                <a:solidFill>
                  <a:schemeClr val="tx1"/>
                </a:solidFill>
                <a:effectLst/>
                <a:latin typeface="+mn-lt"/>
                <a:ea typeface="+mn-ea"/>
                <a:cs typeface="+mn-cs"/>
              </a:rPr>
              <a:t>Kenarlık ve Gölgelendirme iletişim penceresi kullanılır. İletişim penceresini</a:t>
            </a:r>
            <a:r>
              <a:rPr lang="tr-TR" sz="1200" kern="1200" baseline="0" dirty="0" smtClean="0">
                <a:solidFill>
                  <a:schemeClr val="tx1"/>
                </a:solidFill>
                <a:effectLst/>
                <a:latin typeface="+mn-lt"/>
                <a:ea typeface="+mn-ea"/>
                <a:cs typeface="+mn-cs"/>
              </a:rPr>
              <a:t> açmak için açılır menüde bulunan Kenarlıklar ve Gölgelendirme komutu kullanılır. Açılan iletişim penceresinin Kenarlıklar sekmesinden kenarlıkları, Gölgelendirme sekmesinden de gölgelendirmeyi ekleriz. Gölgelendirme yapmanın bir başka yolu da </a:t>
            </a:r>
            <a:r>
              <a:rPr lang="tr-TR" sz="1200" b="1" dirty="0" smtClean="0"/>
              <a:t>Giriş</a:t>
            </a:r>
            <a:r>
              <a:rPr lang="tr-TR" sz="1200" dirty="0" smtClean="0"/>
              <a:t> sekmesi </a:t>
            </a:r>
            <a:r>
              <a:rPr lang="tr-TR" sz="1200" b="1" dirty="0" smtClean="0"/>
              <a:t>Paragraf</a:t>
            </a:r>
            <a:r>
              <a:rPr lang="tr-TR" sz="1200" dirty="0" smtClean="0"/>
              <a:t> komut grubundaki </a:t>
            </a:r>
            <a:r>
              <a:rPr lang="tr-TR" sz="1200" b="1" dirty="0" smtClean="0"/>
              <a:t>Gölgelendirme </a:t>
            </a:r>
            <a:r>
              <a:rPr lang="tr-TR" sz="1200" b="1" smtClean="0"/>
              <a:t>komutudur.</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13</a:t>
            </a:fld>
            <a:endParaRPr lang="tr-TR"/>
          </a:p>
        </p:txBody>
      </p:sp>
    </p:spTree>
    <p:extLst>
      <p:ext uri="{BB962C8B-B14F-4D97-AF65-F5344CB8AC3E}">
        <p14:creationId xmlns:p14="http://schemas.microsoft.com/office/powerpoint/2010/main" val="95327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19.10.2011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19.10.2011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19.10.2011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19.10.2011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19.10.2011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19.10.2011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19.10.2011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19.10.2011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19.10.2011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19.10.2011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19.10.2011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19.10.2011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19.10.2011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19.10.2011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19.10.2011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19.10.2011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19.10.2011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19.10.2011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19.10.2011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19.10.2011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19.10.2011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19.10.2011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19.10.2011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19.10.2011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50.xml"/><Relationship Id="rId7"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tags" Target="../tags/tag61.xml"/><Relationship Id="rId3" Type="http://schemas.openxmlformats.org/officeDocument/2006/relationships/tags" Target="../tags/tag56.xml"/><Relationship Id="rId7" Type="http://schemas.openxmlformats.org/officeDocument/2006/relationships/tags" Target="../tags/tag60.xml"/><Relationship Id="rId12" Type="http://schemas.openxmlformats.org/officeDocument/2006/relationships/image" Target="../media/image6.png"/><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image" Target="../media/image5.png"/><Relationship Id="rId5" Type="http://schemas.openxmlformats.org/officeDocument/2006/relationships/tags" Target="../tags/tag58.xml"/><Relationship Id="rId10" Type="http://schemas.openxmlformats.org/officeDocument/2006/relationships/notesSlide" Target="../notesSlides/notesSlide4.xml"/><Relationship Id="rId4" Type="http://schemas.openxmlformats.org/officeDocument/2006/relationships/tags" Target="../tags/tag57.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image" Target="../media/image7.png"/><Relationship Id="rId5" Type="http://schemas.openxmlformats.org/officeDocument/2006/relationships/tags" Target="../tags/tag66.xml"/><Relationship Id="rId10" Type="http://schemas.openxmlformats.org/officeDocument/2006/relationships/notesSlide" Target="../notesSlides/notesSlide5.xml"/><Relationship Id="rId4" Type="http://schemas.openxmlformats.org/officeDocument/2006/relationships/tags" Target="../tags/tag65.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image" Target="../media/image10.png"/><Relationship Id="rId3" Type="http://schemas.openxmlformats.org/officeDocument/2006/relationships/tags" Target="../tags/tag72.xml"/><Relationship Id="rId7" Type="http://schemas.openxmlformats.org/officeDocument/2006/relationships/tags" Target="../tags/tag76.xml"/><Relationship Id="rId12" Type="http://schemas.openxmlformats.org/officeDocument/2006/relationships/image" Target="../media/image9.png"/><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image" Target="../media/image8.png"/><Relationship Id="rId5" Type="http://schemas.openxmlformats.org/officeDocument/2006/relationships/tags" Target="../tags/tag74.xml"/><Relationship Id="rId10" Type="http://schemas.openxmlformats.org/officeDocument/2006/relationships/notesSlide" Target="../notesSlides/notesSlide6.xml"/><Relationship Id="rId4" Type="http://schemas.openxmlformats.org/officeDocument/2006/relationships/tags" Target="../tags/tag73.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image" Target="../media/image13.pn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2.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image" Target="../media/image11.jpeg"/><Relationship Id="rId5" Type="http://schemas.openxmlformats.org/officeDocument/2006/relationships/tags" Target="../tags/tag82.xml"/><Relationship Id="rId10" Type="http://schemas.openxmlformats.org/officeDocument/2006/relationships/notesSlide" Target="../notesSlides/notesSlide7.xml"/><Relationship Id="rId4" Type="http://schemas.openxmlformats.org/officeDocument/2006/relationships/tags" Target="../tags/tag81.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3.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image" Target="../media/image15.png"/><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image" Target="../media/image14.png"/><Relationship Id="rId5" Type="http://schemas.openxmlformats.org/officeDocument/2006/relationships/tags" Target="../tags/tag90.xml"/><Relationship Id="rId10" Type="http://schemas.openxmlformats.org/officeDocument/2006/relationships/notesSlide" Target="../notesSlides/notesSlide8.xml"/><Relationship Id="rId4" Type="http://schemas.openxmlformats.org/officeDocument/2006/relationships/tags" Target="../tags/tag89.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1.xm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17.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media/image16.png"/><Relationship Id="rId5" Type="http://schemas.openxmlformats.org/officeDocument/2006/relationships/tags" Target="../tags/tag98.xml"/><Relationship Id="rId10" Type="http://schemas.openxmlformats.org/officeDocument/2006/relationships/notesSlide" Target="../notesSlides/notesSlide9.xml"/><Relationship Id="rId4" Type="http://schemas.openxmlformats.org/officeDocument/2006/relationships/tags" Target="../tags/tag97.xml"/><Relationship Id="rId9"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image" Target="../media/image20.png"/><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image" Target="../media/image19.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media/image18.png"/><Relationship Id="rId5" Type="http://schemas.openxmlformats.org/officeDocument/2006/relationships/tags" Target="../tags/tag106.xml"/><Relationship Id="rId10" Type="http://schemas.openxmlformats.org/officeDocument/2006/relationships/notesSlide" Target="../notesSlides/notesSlide10.xml"/><Relationship Id="rId4" Type="http://schemas.openxmlformats.org/officeDocument/2006/relationships/tags" Target="../tags/tag105.xml"/><Relationship Id="rId9" Type="http://schemas.openxmlformats.org/officeDocument/2006/relationships/slideLayout" Target="../slideLayouts/slideLayout13.xml"/><Relationship Id="rId1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tags" Target="../tags/tag117.xml"/><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media/image23.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22.png"/><Relationship Id="rId5" Type="http://schemas.openxmlformats.org/officeDocument/2006/relationships/tags" Target="../tags/tag114.xml"/><Relationship Id="rId10" Type="http://schemas.openxmlformats.org/officeDocument/2006/relationships/notesSlide" Target="../notesSlides/notesSlide11.xml"/><Relationship Id="rId4" Type="http://schemas.openxmlformats.org/officeDocument/2006/relationships/tags" Target="../tags/tag113.xml"/><Relationship Id="rId9"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8" Type="http://schemas.openxmlformats.org/officeDocument/2006/relationships/tags" Target="../tags/tag125.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image" Target="../media/image25.png"/><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image" Target="../media/image24.png"/><Relationship Id="rId5" Type="http://schemas.openxmlformats.org/officeDocument/2006/relationships/tags" Target="../tags/tag122.xml"/><Relationship Id="rId10" Type="http://schemas.openxmlformats.org/officeDocument/2006/relationships/notesSlide" Target="../notesSlides/notesSlide12.xml"/><Relationship Id="rId4" Type="http://schemas.openxmlformats.org/officeDocument/2006/relationships/tags" Target="../tags/tag121.xml"/><Relationship Id="rId9"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8" Type="http://schemas.openxmlformats.org/officeDocument/2006/relationships/tags" Target="../tags/tag133.xml"/><Relationship Id="rId3" Type="http://schemas.openxmlformats.org/officeDocument/2006/relationships/tags" Target="../tags/tag128.xml"/><Relationship Id="rId7" Type="http://schemas.openxmlformats.org/officeDocument/2006/relationships/tags" Target="../tags/tag132.xml"/><Relationship Id="rId12" Type="http://schemas.openxmlformats.org/officeDocument/2006/relationships/image" Target="../media/image27.png"/><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11" Type="http://schemas.openxmlformats.org/officeDocument/2006/relationships/image" Target="../media/image26.png"/><Relationship Id="rId5" Type="http://schemas.openxmlformats.org/officeDocument/2006/relationships/tags" Target="../tags/tag130.xml"/><Relationship Id="rId10" Type="http://schemas.openxmlformats.org/officeDocument/2006/relationships/notesSlide" Target="../notesSlides/notesSlide13.xml"/><Relationship Id="rId4" Type="http://schemas.openxmlformats.org/officeDocument/2006/relationships/tags" Target="../tags/tag129.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524000"/>
            <a:ext cx="6096000" cy="3453762"/>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599658"/>
            <a:ext cx="6096000" cy="3416320"/>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Word </a:t>
            </a:r>
            <a:r>
              <a:rPr lang="tr-TR" sz="1600" dirty="0">
                <a:solidFill>
                  <a:schemeClr val="tx1">
                    <a:lumMod val="75000"/>
                    <a:lumOff val="25000"/>
                  </a:schemeClr>
                </a:solidFill>
                <a:latin typeface="Calibri" pitchFamily="34" charset="0"/>
                <a:cs typeface="Calibri" pitchFamily="34" charset="0"/>
              </a:rPr>
              <a:t>belgesinde paragraf oluşturur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Word’de </a:t>
            </a:r>
            <a:r>
              <a:rPr lang="tr-TR" sz="1600" dirty="0">
                <a:solidFill>
                  <a:schemeClr val="tx1">
                    <a:lumMod val="75000"/>
                    <a:lumOff val="25000"/>
                  </a:schemeClr>
                </a:solidFill>
                <a:latin typeface="Calibri" pitchFamily="34" charset="0"/>
                <a:cs typeface="Calibri" pitchFamily="34" charset="0"/>
              </a:rPr>
              <a:t>satır sonu işaretlerini kullanır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Belgede </a:t>
            </a:r>
            <a:r>
              <a:rPr lang="tr-TR" sz="1600" dirty="0">
                <a:solidFill>
                  <a:schemeClr val="tx1">
                    <a:lumMod val="75000"/>
                    <a:lumOff val="25000"/>
                  </a:schemeClr>
                </a:solidFill>
                <a:latin typeface="Calibri" pitchFamily="34" charset="0"/>
                <a:cs typeface="Calibri" pitchFamily="34" charset="0"/>
              </a:rPr>
              <a:t>hizalama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Paragrafları </a:t>
            </a:r>
            <a:r>
              <a:rPr lang="tr-TR" sz="1600" dirty="0">
                <a:solidFill>
                  <a:schemeClr val="tx1">
                    <a:lumMod val="75000"/>
                    <a:lumOff val="25000"/>
                  </a:schemeClr>
                </a:solidFill>
                <a:latin typeface="Calibri" pitchFamily="34" charset="0"/>
                <a:cs typeface="Calibri" pitchFamily="34" charset="0"/>
              </a:rPr>
              <a:t>girintili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Paragraflar </a:t>
            </a:r>
            <a:r>
              <a:rPr lang="tr-TR" sz="1600" dirty="0">
                <a:solidFill>
                  <a:schemeClr val="tx1">
                    <a:lumMod val="75000"/>
                    <a:lumOff val="25000"/>
                  </a:schemeClr>
                </a:solidFill>
                <a:latin typeface="Calibri" pitchFamily="34" charset="0"/>
                <a:cs typeface="Calibri" pitchFamily="34" charset="0"/>
              </a:rPr>
              <a:t>arasında boşlukları ayarlar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Sekmelerle </a:t>
            </a:r>
            <a:r>
              <a:rPr lang="tr-TR" sz="1600" dirty="0">
                <a:solidFill>
                  <a:schemeClr val="tx1">
                    <a:lumMod val="75000"/>
                    <a:lumOff val="25000"/>
                  </a:schemeClr>
                </a:solidFill>
                <a:latin typeface="Calibri" pitchFamily="34" charset="0"/>
                <a:cs typeface="Calibri" pitchFamily="34" charset="0"/>
              </a:rPr>
              <a:t>hizalama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Belgede </a:t>
            </a:r>
            <a:r>
              <a:rPr lang="tr-TR" sz="1600" dirty="0">
                <a:solidFill>
                  <a:schemeClr val="tx1">
                    <a:lumMod val="75000"/>
                    <a:lumOff val="25000"/>
                  </a:schemeClr>
                </a:solidFill>
                <a:latin typeface="Calibri" pitchFamily="34" charset="0"/>
                <a:cs typeface="Calibri" pitchFamily="34" charset="0"/>
              </a:rPr>
              <a:t>numaralı ve madde işaretli liste oluşturur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Madde </a:t>
            </a:r>
            <a:r>
              <a:rPr lang="tr-TR" sz="1600" dirty="0">
                <a:solidFill>
                  <a:schemeClr val="tx1">
                    <a:lumMod val="75000"/>
                    <a:lumOff val="25000"/>
                  </a:schemeClr>
                </a:solidFill>
                <a:latin typeface="Calibri" pitchFamily="34" charset="0"/>
                <a:cs typeface="Calibri" pitchFamily="34" charset="0"/>
              </a:rPr>
              <a:t>imleri ve numaralandırmayı düzenler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Paragraflara </a:t>
            </a:r>
            <a:r>
              <a:rPr lang="tr-TR" sz="1600" dirty="0">
                <a:solidFill>
                  <a:schemeClr val="tx1">
                    <a:lumMod val="75000"/>
                    <a:lumOff val="25000"/>
                  </a:schemeClr>
                </a:solidFill>
                <a:latin typeface="Calibri" pitchFamily="34" charset="0"/>
                <a:cs typeface="Calibri" pitchFamily="34" charset="0"/>
              </a:rPr>
              <a:t>kenarlık ve gölge </a:t>
            </a:r>
            <a:r>
              <a:rPr lang="tr-TR" sz="1600" dirty="0" smtClean="0">
                <a:solidFill>
                  <a:schemeClr val="tx1">
                    <a:lumMod val="75000"/>
                    <a:lumOff val="25000"/>
                  </a:schemeClr>
                </a:solidFill>
                <a:latin typeface="Calibri" pitchFamily="34" charset="0"/>
                <a:cs typeface="Calibri" pitchFamily="34" charset="0"/>
              </a:rPr>
              <a:t>ekler</a:t>
            </a:r>
            <a:endParaRPr lang="tr-TR" sz="1600" dirty="0">
              <a:solidFill>
                <a:schemeClr val="tx1">
                  <a:lumMod val="75000"/>
                  <a:lumOff val="25000"/>
                </a:schemeClr>
              </a:solidFill>
              <a:latin typeface="Calibri" pitchFamily="34" charset="0"/>
              <a:cs typeface="Calibri" pitchFamily="34" charset="0"/>
            </a:endParaRP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1"/>
            </p:custDataLst>
          </p:nvPr>
        </p:nvSpPr>
        <p:spPr>
          <a:xfrm>
            <a:off x="457200" y="2362200"/>
            <a:ext cx="41148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2"/>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4"/>
            </p:custDataLst>
          </p:nvPr>
        </p:nvSpPr>
        <p:spPr>
          <a:xfrm>
            <a:off x="457200" y="2362199"/>
            <a:ext cx="4114800" cy="3048001"/>
          </a:xfrm>
          <a:prstGeom prst="rect">
            <a:avLst/>
          </a:prstGeom>
        </p:spPr>
        <p:txBody>
          <a:bodyPr>
            <a:normAutofit fontScale="62500" lnSpcReduction="20000"/>
          </a:bodyPr>
          <a:lstStyle/>
          <a:p>
            <a:pPr marL="0" lvl="1" indent="0">
              <a:buFont typeface="Arial" pitchFamily="34" charset="0"/>
              <a:buNone/>
            </a:pPr>
            <a:endParaRPr lang="tr-TR" sz="1200" b="1" dirty="0">
              <a:latin typeface="Calibri" pitchFamily="34" charset="0"/>
              <a:cs typeface="Calibri" pitchFamily="34" charset="0"/>
            </a:endParaRPr>
          </a:p>
          <a:p>
            <a:pPr marL="265113" lvl="1" indent="-265113">
              <a:buFont typeface="Arial" pitchFamily="34" charset="0"/>
              <a:buNone/>
            </a:pPr>
            <a:r>
              <a:rPr lang="tr-TR" sz="1600" dirty="0">
                <a:latin typeface="Calibri" pitchFamily="34" charset="0"/>
                <a:cs typeface="Calibri" pitchFamily="34" charset="0"/>
              </a:rPr>
              <a:t>3.3	Biçimlendirme</a:t>
            </a:r>
          </a:p>
          <a:p>
            <a:pPr marL="627063" lvl="1" indent="-446088">
              <a:buFont typeface="Arial" pitchFamily="34" charset="0"/>
              <a:buNone/>
            </a:pPr>
            <a:r>
              <a:rPr lang="tr-TR" sz="1600" dirty="0">
                <a:latin typeface="Calibri" pitchFamily="34" charset="0"/>
                <a:cs typeface="Calibri" pitchFamily="34" charset="0"/>
              </a:rPr>
              <a:t>3.3.2	Paragraf Biçimlendirme</a:t>
            </a:r>
          </a:p>
          <a:p>
            <a:pPr marL="800100" lvl="1" indent="-446088">
              <a:buFont typeface="Arial" pitchFamily="34" charset="0"/>
              <a:buNone/>
            </a:pPr>
            <a:r>
              <a:rPr lang="tr-TR" sz="1600" dirty="0">
                <a:latin typeface="Calibri" pitchFamily="34" charset="0"/>
                <a:cs typeface="Calibri" pitchFamily="34" charset="0"/>
              </a:rPr>
              <a:t>3.3.2.1	Paragraf İşretlerini (Mark) Koymak veya Kaldırmak.</a:t>
            </a:r>
          </a:p>
          <a:p>
            <a:pPr marL="800100" lvl="1" indent="-446088">
              <a:buFont typeface="Arial" pitchFamily="34" charset="0"/>
              <a:buNone/>
            </a:pPr>
            <a:r>
              <a:rPr lang="tr-TR" sz="1600" dirty="0">
                <a:latin typeface="Calibri" pitchFamily="34" charset="0"/>
                <a:cs typeface="Calibri" pitchFamily="34" charset="0"/>
              </a:rPr>
              <a:t>3.3.2.2	Satır Kesme İşaretlerini Koymak veya Kaldırmak.</a:t>
            </a:r>
          </a:p>
          <a:p>
            <a:pPr marL="800100" lvl="1" indent="-446088">
              <a:buFont typeface="Arial" pitchFamily="34" charset="0"/>
              <a:buNone/>
            </a:pPr>
            <a:r>
              <a:rPr lang="tr-TR" sz="1600" dirty="0">
                <a:latin typeface="Calibri" pitchFamily="34" charset="0"/>
                <a:cs typeface="Calibri" pitchFamily="34" charset="0"/>
              </a:rPr>
              <a:t>3.3.2.3	Metni Sola, Sağa, Ortaya veya İki Kenara Hizalamak.</a:t>
            </a:r>
          </a:p>
          <a:p>
            <a:pPr marL="800100" lvl="1" indent="-446088">
              <a:buFont typeface="Arial" pitchFamily="34" charset="0"/>
              <a:buNone/>
            </a:pPr>
            <a:r>
              <a:rPr lang="tr-TR" sz="1600" dirty="0">
                <a:latin typeface="Calibri" pitchFamily="34" charset="0"/>
                <a:cs typeface="Calibri" pitchFamily="34" charset="0"/>
              </a:rPr>
              <a:t>3.3.2.4	Satırbaşının İçeriden Girintili Başlamasını Ayarlamak.</a:t>
            </a:r>
          </a:p>
          <a:p>
            <a:pPr marL="800100" lvl="1" indent="-446088">
              <a:buFont typeface="Arial" pitchFamily="34" charset="0"/>
              <a:buNone/>
            </a:pPr>
            <a:r>
              <a:rPr lang="tr-TR" sz="1600" dirty="0">
                <a:latin typeface="Calibri" pitchFamily="34" charset="0"/>
                <a:cs typeface="Calibri" pitchFamily="34" charset="0"/>
              </a:rPr>
              <a:t>3.3.2.5	Paragraf İçerisindeki Satırları Tek veya Çift Aralıklı Yapmak.</a:t>
            </a:r>
          </a:p>
          <a:p>
            <a:pPr marL="800100" lvl="1" indent="-446088">
              <a:buFont typeface="Arial" pitchFamily="34" charset="0"/>
              <a:buNone/>
            </a:pPr>
            <a:r>
              <a:rPr lang="tr-TR" sz="1600" dirty="0">
                <a:latin typeface="Calibri" pitchFamily="34" charset="0"/>
                <a:cs typeface="Calibri" pitchFamily="34" charset="0"/>
              </a:rPr>
              <a:t>3.3.2.6	Paragraf Üstündeki veya Altındaki Boşluğu Ayarlamak.</a:t>
            </a:r>
          </a:p>
          <a:p>
            <a:pPr marL="800100" lvl="1" indent="-446088">
              <a:buFont typeface="Arial" pitchFamily="34" charset="0"/>
              <a:buNone/>
            </a:pPr>
            <a:r>
              <a:rPr lang="tr-TR" sz="1600" dirty="0">
                <a:latin typeface="Calibri" pitchFamily="34" charset="0"/>
                <a:cs typeface="Calibri" pitchFamily="34" charset="0"/>
              </a:rPr>
              <a:t>3.3.2.7	Sekme Yerlerini Yerleştirme, Silme ve Sekmeyi Kullanmak.</a:t>
            </a:r>
          </a:p>
          <a:p>
            <a:pPr marL="800100" lvl="1" indent="-446088">
              <a:buFont typeface="Arial" pitchFamily="34" charset="0"/>
              <a:buNone/>
            </a:pPr>
            <a:r>
              <a:rPr lang="tr-TR" sz="1600" dirty="0">
                <a:latin typeface="Calibri" pitchFamily="34" charset="0"/>
                <a:cs typeface="Calibri" pitchFamily="34" charset="0"/>
              </a:rPr>
              <a:t>3.3.2.8	Bir Düzeyli Listelerde Madde İmlerinin Uygulanması veya Kaldırılması.</a:t>
            </a:r>
          </a:p>
          <a:p>
            <a:pPr marL="800100" lvl="1" indent="-446088">
              <a:buFont typeface="Arial" pitchFamily="34" charset="0"/>
              <a:buNone/>
            </a:pPr>
            <a:r>
              <a:rPr lang="tr-TR" sz="1600" dirty="0">
                <a:latin typeface="Calibri" pitchFamily="34" charset="0"/>
                <a:cs typeface="Calibri" pitchFamily="34" charset="0"/>
              </a:rPr>
              <a:t>3.3.2.9	Bütünleşik Standart Seçenekler İçerisinden Madde İmi veya Numaralandırmasını Değiştirmek.</a:t>
            </a:r>
          </a:p>
          <a:p>
            <a:pPr marL="800100" lvl="1" indent="-446088">
              <a:buFont typeface="Arial" pitchFamily="34" charset="0"/>
              <a:buNone/>
            </a:pPr>
            <a:r>
              <a:rPr lang="tr-TR" sz="1600" dirty="0">
                <a:latin typeface="Calibri" pitchFamily="34" charset="0"/>
                <a:cs typeface="Calibri" pitchFamily="34" charset="0"/>
              </a:rPr>
              <a:t>3.3.2.10	Paragraflara Üst ve Alt Kenar Çizgileri, Çerçeve Çizgisi ve Gölge Eklemek.</a:t>
            </a:r>
          </a:p>
        </p:txBody>
      </p:sp>
      <p:sp>
        <p:nvSpPr>
          <p:cNvPr id="7" name="Metin kutusu 6"/>
          <p:cNvSpPr txBox="1"/>
          <p:nvPr>
            <p:custDataLst>
              <p:tags r:id="rId5"/>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6"/>
            </p:custDataLst>
          </p:nvPr>
        </p:nvSpPr>
        <p:spPr/>
        <p:txBody>
          <a:bodyPr/>
          <a:lstStyle/>
          <a:p>
            <a:fld id="{C1FA2219-9131-49AD-A1B5-1FFD48A79E7F}" type="slidenum">
              <a:rPr lang="tr-TR" smtClean="0"/>
              <a:t>3</a:t>
            </a:fld>
            <a:endParaRPr lang="tr-TR"/>
          </a:p>
        </p:txBody>
      </p:sp>
      <p:pic>
        <p:nvPicPr>
          <p:cNvPr id="9" name="Resim 8" descr="C:\Users\YILMAZ\AppData\Local\Temp\SNAGHTML51bdf3.PNG"/>
          <p:cNvPicPr/>
          <p:nvPr/>
        </p:nvPicPr>
        <p:blipFill>
          <a:blip r:embed="rId9">
            <a:extLst>
              <a:ext uri="{28A0092B-C50C-407E-A947-70E740481C1C}">
                <a14:useLocalDpi xmlns:a14="http://schemas.microsoft.com/office/drawing/2010/main" val="0"/>
              </a:ext>
            </a:extLst>
          </a:blip>
          <a:srcRect/>
          <a:stretch>
            <a:fillRect/>
          </a:stretch>
        </p:blipFill>
        <p:spPr bwMode="auto">
          <a:xfrm>
            <a:off x="4678680" y="1295400"/>
            <a:ext cx="4465320" cy="4342130"/>
          </a:xfrm>
          <a:prstGeom prst="rect">
            <a:avLst/>
          </a:prstGeom>
          <a:noFill/>
          <a:ln>
            <a:noFill/>
          </a:ln>
        </p:spPr>
      </p:pic>
    </p:spTree>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Paragraf İşretlerini (Mark) Koymak veya Kaldırmak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a:solidFill>
                  <a:schemeClr val="bg1"/>
                </a:solidFill>
              </a:rPr>
              <a:t>Word </a:t>
            </a:r>
            <a:r>
              <a:rPr lang="de-DE" sz="1400" b="1" dirty="0" err="1">
                <a:solidFill>
                  <a:schemeClr val="bg1"/>
                </a:solidFill>
              </a:rPr>
              <a:t>belgesinde</a:t>
            </a:r>
            <a:r>
              <a:rPr lang="de-DE" sz="1400" b="1" dirty="0">
                <a:solidFill>
                  <a:schemeClr val="bg1"/>
                </a:solidFill>
              </a:rPr>
              <a:t> </a:t>
            </a:r>
            <a:r>
              <a:rPr lang="de-DE" sz="1400" b="1" dirty="0" err="1">
                <a:solidFill>
                  <a:schemeClr val="bg1"/>
                </a:solidFill>
              </a:rPr>
              <a:t>paragraf</a:t>
            </a:r>
            <a:r>
              <a:rPr lang="de-DE" sz="1400" b="1" dirty="0">
                <a:solidFill>
                  <a:schemeClr val="bg1"/>
                </a:solidFill>
              </a:rPr>
              <a:t> </a:t>
            </a:r>
            <a:r>
              <a:rPr lang="de-DE" sz="1400" b="1" dirty="0" err="1">
                <a:solidFill>
                  <a:schemeClr val="bg1"/>
                </a:solidFill>
              </a:rPr>
              <a:t>oluşturur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381014" y="962925"/>
            <a:ext cx="7772400" cy="830997"/>
          </a:xfrm>
          <a:prstGeom prst="rect">
            <a:avLst/>
          </a:prstGeom>
          <a:noFill/>
        </p:spPr>
        <p:txBody>
          <a:bodyPr wrap="square" rtlCol="0">
            <a:spAutoFit/>
          </a:bodyPr>
          <a:lstStyle/>
          <a:p>
            <a:r>
              <a:rPr lang="tr-TR" sz="1600" dirty="0" smtClean="0"/>
              <a:t>Paragraf işaretini koymak için ENTER tuşuna basılır. Paragraf işaretlerini görmek için  </a:t>
            </a:r>
          </a:p>
          <a:p>
            <a:r>
              <a:rPr lang="tr-TR" sz="1600" b="1" dirty="0" smtClean="0"/>
              <a:t>Giriş</a:t>
            </a:r>
            <a:r>
              <a:rPr lang="tr-TR" sz="1600" dirty="0" smtClean="0"/>
              <a:t> sekmesi </a:t>
            </a:r>
            <a:r>
              <a:rPr lang="tr-TR" sz="1600" b="1" dirty="0" smtClean="0"/>
              <a:t>&gt;Tümünü Göster </a:t>
            </a:r>
            <a:r>
              <a:rPr lang="tr-TR" sz="1600" dirty="0" smtClean="0"/>
              <a:t>komutu tıkla</a:t>
            </a:r>
          </a:p>
          <a:p>
            <a:r>
              <a:rPr lang="tr-TR" sz="1600" dirty="0" smtClean="0"/>
              <a:t>Silmek için  </a:t>
            </a:r>
            <a:r>
              <a:rPr lang="tr-TR" sz="1600" b="1" dirty="0" err="1" smtClean="0"/>
              <a:t>Delete</a:t>
            </a:r>
            <a:r>
              <a:rPr lang="tr-TR" sz="1600" b="1" dirty="0" smtClean="0"/>
              <a:t> </a:t>
            </a:r>
            <a:r>
              <a:rPr lang="tr-TR" sz="1600" dirty="0"/>
              <a:t>veya </a:t>
            </a:r>
            <a:r>
              <a:rPr lang="tr-TR" sz="1600" b="1" dirty="0" err="1"/>
              <a:t>Baskspace</a:t>
            </a:r>
            <a:r>
              <a:rPr lang="tr-TR" sz="1600" dirty="0"/>
              <a:t> tuşlarını </a:t>
            </a:r>
            <a:r>
              <a:rPr lang="tr-TR" sz="1600" dirty="0" smtClean="0"/>
              <a:t>kullan </a:t>
            </a:r>
            <a:endParaRPr lang="tr-TR" sz="1600" dirty="0"/>
          </a:p>
        </p:txBody>
      </p:sp>
      <p:pic>
        <p:nvPicPr>
          <p:cNvPr id="16" name="Resim 15" descr="Açıklama: Açıklama: C:\Users\MY\AppData\Local\Temp\SNAGHTMLb78133.PNG"/>
          <p:cNvPicPr/>
          <p:nvPr/>
        </p:nvPicPr>
        <p:blipFill>
          <a:blip r:embed="rId11">
            <a:extLst>
              <a:ext uri="{28A0092B-C50C-407E-A947-70E740481C1C}">
                <a14:useLocalDpi xmlns:a14="http://schemas.microsoft.com/office/drawing/2010/main" val="0"/>
              </a:ext>
            </a:extLst>
          </a:blip>
          <a:srcRect/>
          <a:stretch>
            <a:fillRect/>
          </a:stretch>
        </p:blipFill>
        <p:spPr bwMode="auto">
          <a:xfrm>
            <a:off x="600341" y="2133600"/>
            <a:ext cx="5610225" cy="2657475"/>
          </a:xfrm>
          <a:prstGeom prst="rect">
            <a:avLst/>
          </a:prstGeom>
          <a:noFill/>
          <a:ln>
            <a:noFill/>
          </a:ln>
        </p:spPr>
      </p:pic>
      <p:pic>
        <p:nvPicPr>
          <p:cNvPr id="17" name="Resim 16"/>
          <p:cNvPicPr/>
          <p:nvPr/>
        </p:nvPicPr>
        <p:blipFill>
          <a:blip r:embed="rId12"/>
          <a:stretch>
            <a:fillRect/>
          </a:stretch>
        </p:blipFill>
        <p:spPr>
          <a:xfrm>
            <a:off x="4201160" y="1197765"/>
            <a:ext cx="370840" cy="361315"/>
          </a:xfrm>
          <a:prstGeom prst="rect">
            <a:avLst/>
          </a:prstGeom>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fontScale="90000"/>
          </a:bodyPr>
          <a:lstStyle/>
          <a:p>
            <a:r>
              <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Satır Kesme İşaretlerini Koymak veya Kaldırmak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Word’de</a:t>
            </a:r>
            <a:r>
              <a:rPr lang="de-DE" sz="1400" b="1" dirty="0">
                <a:solidFill>
                  <a:schemeClr val="bg1"/>
                </a:solidFill>
              </a:rPr>
              <a:t> </a:t>
            </a:r>
            <a:r>
              <a:rPr lang="de-DE" sz="1400" b="1" dirty="0" err="1">
                <a:solidFill>
                  <a:schemeClr val="bg1"/>
                </a:solidFill>
              </a:rPr>
              <a:t>satır</a:t>
            </a:r>
            <a:r>
              <a:rPr lang="de-DE" sz="1400" b="1" dirty="0">
                <a:solidFill>
                  <a:schemeClr val="bg1"/>
                </a:solidFill>
              </a:rPr>
              <a:t> </a:t>
            </a:r>
            <a:r>
              <a:rPr lang="de-DE" sz="1400" b="1" dirty="0" err="1">
                <a:solidFill>
                  <a:schemeClr val="bg1"/>
                </a:solidFill>
              </a:rPr>
              <a:t>sonu</a:t>
            </a:r>
            <a:r>
              <a:rPr lang="de-DE" sz="1400" b="1" dirty="0">
                <a:solidFill>
                  <a:schemeClr val="bg1"/>
                </a:solidFill>
              </a:rPr>
              <a:t> </a:t>
            </a:r>
            <a:r>
              <a:rPr lang="de-DE" sz="1400" b="1" dirty="0" err="1">
                <a:solidFill>
                  <a:schemeClr val="bg1"/>
                </a:solidFill>
              </a:rPr>
              <a:t>işaretlerini</a:t>
            </a:r>
            <a:r>
              <a:rPr lang="de-DE" sz="1400" b="1" dirty="0">
                <a:solidFill>
                  <a:schemeClr val="bg1"/>
                </a:solidFill>
              </a:rPr>
              <a:t> </a:t>
            </a:r>
            <a:r>
              <a:rPr lang="de-DE" sz="1400" b="1" dirty="0" err="1">
                <a:solidFill>
                  <a:schemeClr val="bg1"/>
                </a:solidFill>
              </a:rPr>
              <a:t>kullanır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a:t>Elle Satır Sonu işareti </a:t>
            </a:r>
            <a:r>
              <a:rPr lang="tr-TR" sz="1600" dirty="0" smtClean="0"/>
              <a:t> koymak için</a:t>
            </a:r>
          </a:p>
          <a:p>
            <a:r>
              <a:rPr lang="tr-TR" sz="1600" dirty="0" err="1"/>
              <a:t>ÜstKrkt+Enter</a:t>
            </a:r>
            <a:r>
              <a:rPr lang="tr-TR" sz="1600" dirty="0"/>
              <a:t> </a:t>
            </a:r>
            <a:r>
              <a:rPr lang="tr-TR" sz="1600" dirty="0" smtClean="0"/>
              <a:t> tuşlarını kullan</a:t>
            </a:r>
          </a:p>
          <a:p>
            <a:r>
              <a:rPr lang="tr-TR" sz="1600" dirty="0"/>
              <a:t>Silmek için  </a:t>
            </a:r>
            <a:r>
              <a:rPr lang="tr-TR" sz="1600" b="1" dirty="0" err="1"/>
              <a:t>Delete</a:t>
            </a:r>
            <a:r>
              <a:rPr lang="tr-TR" sz="1600" b="1" dirty="0"/>
              <a:t> </a:t>
            </a:r>
            <a:r>
              <a:rPr lang="tr-TR" sz="1600" dirty="0"/>
              <a:t>veya </a:t>
            </a:r>
            <a:r>
              <a:rPr lang="tr-TR" sz="1600" b="1" dirty="0" err="1"/>
              <a:t>Baskspace</a:t>
            </a:r>
            <a:r>
              <a:rPr lang="tr-TR" sz="1600" dirty="0"/>
              <a:t> tuşlarını kullan </a:t>
            </a:r>
          </a:p>
        </p:txBody>
      </p:sp>
      <p:pic>
        <p:nvPicPr>
          <p:cNvPr id="14" name="Resim 13" descr="Açıklama: Açıklama: C:\Users\MY\AppData\Local\Temp\SNAGHTMLc63b8d.PNG"/>
          <p:cNvPicPr/>
          <p:nvPr/>
        </p:nvPicPr>
        <p:blipFill>
          <a:blip r:embed="rId11">
            <a:extLst>
              <a:ext uri="{28A0092B-C50C-407E-A947-70E740481C1C}">
                <a14:useLocalDpi xmlns:a14="http://schemas.microsoft.com/office/drawing/2010/main" val="0"/>
              </a:ext>
            </a:extLst>
          </a:blip>
          <a:srcRect/>
          <a:stretch>
            <a:fillRect/>
          </a:stretch>
        </p:blipFill>
        <p:spPr bwMode="auto">
          <a:xfrm>
            <a:off x="621362" y="2286000"/>
            <a:ext cx="5762625" cy="1657350"/>
          </a:xfrm>
          <a:prstGeom prst="rect">
            <a:avLst/>
          </a:prstGeom>
          <a:noFill/>
          <a:ln>
            <a:noFill/>
          </a:ln>
        </p:spPr>
      </p:pic>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Metni Sola, Sağa, Ortaya veya İki Kenara Hizalamak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Belgede</a:t>
            </a:r>
            <a:r>
              <a:rPr lang="de-DE" sz="1400" b="1" dirty="0">
                <a:solidFill>
                  <a:schemeClr val="bg1"/>
                </a:solidFill>
              </a:rPr>
              <a:t> </a:t>
            </a:r>
            <a:r>
              <a:rPr lang="de-DE" sz="1400" b="1" dirty="0" err="1">
                <a:solidFill>
                  <a:schemeClr val="bg1"/>
                </a:solidFill>
              </a:rPr>
              <a:t>hizalama</a:t>
            </a:r>
            <a:r>
              <a:rPr lang="de-DE" sz="1400" b="1" dirty="0">
                <a:solidFill>
                  <a:schemeClr val="bg1"/>
                </a:solidFill>
              </a:rPr>
              <a:t>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03325" y="1146117"/>
            <a:ext cx="7772400" cy="1077218"/>
          </a:xfrm>
          <a:prstGeom prst="rect">
            <a:avLst/>
          </a:prstGeom>
          <a:noFill/>
        </p:spPr>
        <p:txBody>
          <a:bodyPr wrap="square" rtlCol="0">
            <a:spAutoFit/>
          </a:bodyPr>
          <a:lstStyle/>
          <a:p>
            <a:r>
              <a:rPr lang="tr-TR" sz="1600" dirty="0" smtClean="0"/>
              <a:t>Metni hizalamak için </a:t>
            </a:r>
            <a:endParaRPr lang="tr-TR" sz="1600" dirty="0"/>
          </a:p>
          <a:p>
            <a:r>
              <a:rPr lang="tr-TR" sz="1600" b="1" dirty="0"/>
              <a:t>Giriş</a:t>
            </a:r>
            <a:r>
              <a:rPr lang="tr-TR" sz="1600" dirty="0"/>
              <a:t> </a:t>
            </a:r>
            <a:r>
              <a:rPr lang="tr-TR" sz="1600" dirty="0" smtClean="0"/>
              <a:t>sekmesi</a:t>
            </a:r>
            <a:r>
              <a:rPr lang="tr-TR" sz="1600" b="1" dirty="0" smtClean="0"/>
              <a:t>&gt;Paragraf </a:t>
            </a:r>
            <a:r>
              <a:rPr lang="tr-TR" sz="1600" dirty="0"/>
              <a:t>komut grubu</a:t>
            </a:r>
          </a:p>
          <a:p>
            <a:r>
              <a:rPr lang="tr-TR" sz="1600" b="1" dirty="0"/>
              <a:t>Paragraf </a:t>
            </a:r>
            <a:r>
              <a:rPr lang="tr-TR" sz="1600" dirty="0"/>
              <a:t>komut grubundan ve Fare </a:t>
            </a:r>
            <a:r>
              <a:rPr lang="tr-TR" sz="1600" dirty="0" err="1"/>
              <a:t>kısayol</a:t>
            </a:r>
            <a:r>
              <a:rPr lang="tr-TR" sz="1600" dirty="0"/>
              <a:t> menüsünden açılan </a:t>
            </a:r>
            <a:r>
              <a:rPr lang="tr-TR" sz="1600" b="1" dirty="0"/>
              <a:t>Paragraf </a:t>
            </a:r>
            <a:r>
              <a:rPr lang="tr-TR" sz="1600" dirty="0"/>
              <a:t>iletişim </a:t>
            </a:r>
            <a:r>
              <a:rPr lang="tr-TR" sz="1600" dirty="0" smtClean="0"/>
              <a:t>penceresi </a:t>
            </a:r>
            <a:endParaRPr lang="tr-TR" sz="1600" dirty="0"/>
          </a:p>
          <a:p>
            <a:r>
              <a:rPr lang="tr-TR" sz="1600" b="1" dirty="0" smtClean="0"/>
              <a:t>Fare </a:t>
            </a:r>
            <a:r>
              <a:rPr lang="tr-TR" sz="1600" b="1" dirty="0"/>
              <a:t>işaretçisi </a:t>
            </a:r>
            <a:r>
              <a:rPr lang="tr-TR" sz="1600" b="1" dirty="0" smtClean="0"/>
              <a:t>(</a:t>
            </a:r>
            <a:r>
              <a:rPr lang="tr-TR" sz="1600" dirty="0" smtClean="0"/>
              <a:t>sadece ortalamak için</a:t>
            </a:r>
            <a:r>
              <a:rPr lang="tr-TR" sz="1600" b="1" dirty="0" smtClean="0"/>
              <a:t>) </a:t>
            </a:r>
            <a:r>
              <a:rPr lang="tr-TR" sz="1600" dirty="0" err="1" smtClean="0"/>
              <a:t>kısayol</a:t>
            </a:r>
            <a:r>
              <a:rPr lang="tr-TR" sz="1600" dirty="0" smtClean="0"/>
              <a:t> </a:t>
            </a:r>
            <a:r>
              <a:rPr lang="tr-TR" sz="1600" dirty="0"/>
              <a:t>menüsü kullanılır</a:t>
            </a:r>
          </a:p>
        </p:txBody>
      </p:sp>
      <p:pic>
        <p:nvPicPr>
          <p:cNvPr id="13" name="Resim 12" descr="C:\Users\MY\AppData\Local\Temp\SNAGHTML15e0fcf.PNG"/>
          <p:cNvPicPr/>
          <p:nvPr/>
        </p:nvPicPr>
        <p:blipFill>
          <a:blip r:embed="rId11">
            <a:extLst>
              <a:ext uri="{28A0092B-C50C-407E-A947-70E740481C1C}">
                <a14:useLocalDpi xmlns:a14="http://schemas.microsoft.com/office/drawing/2010/main" val="0"/>
              </a:ext>
            </a:extLst>
          </a:blip>
          <a:srcRect/>
          <a:stretch>
            <a:fillRect/>
          </a:stretch>
        </p:blipFill>
        <p:spPr bwMode="auto">
          <a:xfrm>
            <a:off x="503325" y="2225963"/>
            <a:ext cx="5760720" cy="4416425"/>
          </a:xfrm>
          <a:prstGeom prst="rect">
            <a:avLst/>
          </a:prstGeom>
          <a:noFill/>
          <a:ln>
            <a:noFill/>
          </a:ln>
        </p:spPr>
      </p:pic>
      <p:pic>
        <p:nvPicPr>
          <p:cNvPr id="1028" name="Picture 4" descr="C:\Users\MY\AppData\Local\Temp\SNAGHTML26c84e.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8580" y="2209546"/>
            <a:ext cx="4867275"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Users\MY\AppData\Local\Temp\SNAGHTML2b036a.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3325" y="2225963"/>
            <a:ext cx="3952875" cy="397192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828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Satırbaşının İçeriden Girintili Başlamasını Ayarlamak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Paragrafları</a:t>
            </a:r>
            <a:r>
              <a:rPr lang="de-DE" sz="1400" b="1" dirty="0">
                <a:solidFill>
                  <a:schemeClr val="bg1"/>
                </a:solidFill>
              </a:rPr>
              <a:t> </a:t>
            </a:r>
            <a:r>
              <a:rPr lang="de-DE" sz="1400" b="1" dirty="0" err="1">
                <a:solidFill>
                  <a:schemeClr val="bg1"/>
                </a:solidFill>
              </a:rPr>
              <a:t>girintili</a:t>
            </a:r>
            <a:r>
              <a:rPr lang="de-DE" sz="1400" b="1" dirty="0">
                <a:solidFill>
                  <a:schemeClr val="bg1"/>
                </a:solidFill>
              </a:rPr>
              <a:t>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03325" y="1146117"/>
            <a:ext cx="4525875" cy="1815882"/>
          </a:xfrm>
          <a:prstGeom prst="rect">
            <a:avLst/>
          </a:prstGeom>
          <a:noFill/>
        </p:spPr>
        <p:txBody>
          <a:bodyPr wrap="square" rtlCol="0">
            <a:spAutoFit/>
          </a:bodyPr>
          <a:lstStyle/>
          <a:p>
            <a:r>
              <a:rPr lang="tr-TR" sz="1600" dirty="0"/>
              <a:t>Word belgesi içerisinde paragrafların ilk satırlarını girintili yapmak için </a:t>
            </a:r>
          </a:p>
          <a:p>
            <a:pPr marL="285750" indent="-285750">
              <a:buFont typeface="Arial" pitchFamily="34" charset="0"/>
              <a:buChar char="•"/>
            </a:pPr>
            <a:r>
              <a:rPr lang="tr-TR" sz="1600" b="1" dirty="0"/>
              <a:t>Cetvel</a:t>
            </a:r>
            <a:r>
              <a:rPr lang="tr-TR" sz="1600" dirty="0"/>
              <a:t> üzerinde bulunan </a:t>
            </a:r>
            <a:r>
              <a:rPr lang="tr-TR" sz="1600" b="1" dirty="0"/>
              <a:t>İlk Satır Girintisi </a:t>
            </a:r>
            <a:r>
              <a:rPr lang="tr-TR" sz="1600" dirty="0"/>
              <a:t>işaretçisini sürüklemek veya  </a:t>
            </a:r>
          </a:p>
          <a:p>
            <a:pPr marL="285750" indent="-285750">
              <a:buFont typeface="Arial" pitchFamily="34" charset="0"/>
              <a:buChar char="•"/>
              <a:defRPr/>
            </a:pPr>
            <a:r>
              <a:rPr lang="tr-TR" sz="1600" b="1" dirty="0"/>
              <a:t>Paragraf </a:t>
            </a:r>
            <a:r>
              <a:rPr lang="tr-TR" sz="1600" dirty="0"/>
              <a:t>komut grubundan ve Fare </a:t>
            </a:r>
            <a:r>
              <a:rPr lang="tr-TR" sz="1600" dirty="0" err="1"/>
              <a:t>kısayol</a:t>
            </a:r>
            <a:r>
              <a:rPr lang="tr-TR" sz="1600" dirty="0"/>
              <a:t> menüsünden açılan </a:t>
            </a:r>
            <a:r>
              <a:rPr lang="tr-TR" sz="1600" b="1" dirty="0"/>
              <a:t>Paragraf </a:t>
            </a:r>
            <a:r>
              <a:rPr lang="tr-TR" sz="1600" dirty="0"/>
              <a:t>iletişim penceresinde Özel seçeneğinden </a:t>
            </a:r>
            <a:endParaRPr lang="tr-TR" sz="1600" b="1" dirty="0"/>
          </a:p>
        </p:txBody>
      </p:sp>
      <p:pic>
        <p:nvPicPr>
          <p:cNvPr id="14" name="Resim 13" descr="Açıklama: Açıklama: işret"/>
          <p:cNvPicPr/>
          <p:nvPr/>
        </p:nvPicPr>
        <p:blipFill>
          <a:blip r:embed="rId11">
            <a:extLst>
              <a:ext uri="{28A0092B-C50C-407E-A947-70E740481C1C}">
                <a14:useLocalDpi xmlns:a14="http://schemas.microsoft.com/office/drawing/2010/main" val="0"/>
              </a:ext>
            </a:extLst>
          </a:blip>
          <a:srcRect/>
          <a:stretch>
            <a:fillRect/>
          </a:stretch>
        </p:blipFill>
        <p:spPr bwMode="auto">
          <a:xfrm>
            <a:off x="560927" y="3200400"/>
            <a:ext cx="5753100" cy="1762125"/>
          </a:xfrm>
          <a:prstGeom prst="rect">
            <a:avLst/>
          </a:prstGeom>
          <a:noFill/>
          <a:ln>
            <a:noFill/>
          </a:ln>
        </p:spPr>
      </p:pic>
      <p:pic>
        <p:nvPicPr>
          <p:cNvPr id="2050"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9594" y="1561615"/>
            <a:ext cx="3952875" cy="5248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descr="C:\Users\YILMAZ\AppData\Local\Temp\SNAGHTML32d1a1.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2868" y="2971524"/>
            <a:ext cx="4886325" cy="13525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068051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Paragraf İçerisindeki Satırları Tek veya Çift Aralıklı Yapmak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8763000" cy="307777"/>
          </a:xfrm>
          <a:prstGeom prst="rect">
            <a:avLst/>
          </a:prstGeom>
          <a:noFill/>
        </p:spPr>
        <p:txBody>
          <a:bodyPr wrap="square" rtlCol="0">
            <a:spAutoFit/>
          </a:bodyPr>
          <a:lstStyle/>
          <a:p>
            <a:r>
              <a:rPr lang="pt-BR" sz="1400" b="1" dirty="0">
                <a:solidFill>
                  <a:schemeClr val="bg1"/>
                </a:solidFill>
              </a:rPr>
              <a:t>Satır aralıklarını ayarlar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143000"/>
            <a:ext cx="7772400" cy="830997"/>
          </a:xfrm>
          <a:prstGeom prst="rect">
            <a:avLst/>
          </a:prstGeom>
          <a:noFill/>
        </p:spPr>
        <p:txBody>
          <a:bodyPr wrap="square" rtlCol="0">
            <a:spAutoFit/>
          </a:bodyPr>
          <a:lstStyle/>
          <a:p>
            <a:r>
              <a:rPr lang="tr-TR" sz="1600" dirty="0" smtClean="0"/>
              <a:t>Satır aralığını değiştirmek için</a:t>
            </a:r>
          </a:p>
          <a:p>
            <a:pPr marL="285750" indent="-285750">
              <a:buFont typeface="Arial" pitchFamily="34" charset="0"/>
              <a:buChar char="•"/>
            </a:pPr>
            <a:r>
              <a:rPr lang="tr-TR" sz="1600" b="1" dirty="0" smtClean="0"/>
              <a:t>Giriş</a:t>
            </a:r>
            <a:r>
              <a:rPr lang="tr-TR" sz="1600" dirty="0" smtClean="0"/>
              <a:t> sekmesi</a:t>
            </a:r>
            <a:r>
              <a:rPr lang="tr-TR" sz="1600" b="1" dirty="0" smtClean="0"/>
              <a:t>&gt;Satır </a:t>
            </a:r>
            <a:r>
              <a:rPr lang="tr-TR" sz="1600" b="1" dirty="0"/>
              <a:t>ve Paragraf </a:t>
            </a:r>
            <a:r>
              <a:rPr lang="tr-TR" sz="1600" dirty="0"/>
              <a:t>aralığı açılır </a:t>
            </a:r>
            <a:r>
              <a:rPr lang="tr-TR" sz="1600" dirty="0" smtClean="0"/>
              <a:t>menüsü </a:t>
            </a:r>
          </a:p>
          <a:p>
            <a:pPr marL="285750" indent="-285750">
              <a:buFont typeface="Arial" pitchFamily="34" charset="0"/>
              <a:buChar char="•"/>
            </a:pPr>
            <a:r>
              <a:rPr lang="tr-TR" sz="1600" b="1" dirty="0" smtClean="0"/>
              <a:t>Paragraf</a:t>
            </a:r>
            <a:r>
              <a:rPr lang="tr-TR" sz="1600" dirty="0" smtClean="0"/>
              <a:t> </a:t>
            </a:r>
            <a:r>
              <a:rPr lang="tr-TR" sz="1600" dirty="0"/>
              <a:t>iletişim penceresi </a:t>
            </a:r>
            <a:r>
              <a:rPr lang="tr-TR" sz="1600" b="1" dirty="0"/>
              <a:t>Satır aralığı </a:t>
            </a:r>
            <a:r>
              <a:rPr lang="tr-TR" sz="1600" dirty="0" smtClean="0"/>
              <a:t>komutu kullanılır</a:t>
            </a:r>
            <a:endParaRPr lang="tr-TR" sz="1600" dirty="0"/>
          </a:p>
        </p:txBody>
      </p:sp>
      <p:pic>
        <p:nvPicPr>
          <p:cNvPr id="16" name="Resim 15" descr="Açıklama: Açıklama: C:\Users\MY\AppData\Local\Temp\SNAGHTML152595c.PNG"/>
          <p:cNvPicPr/>
          <p:nvPr/>
        </p:nvPicPr>
        <p:blipFill>
          <a:blip r:embed="rId11">
            <a:extLst>
              <a:ext uri="{28A0092B-C50C-407E-A947-70E740481C1C}">
                <a14:useLocalDpi xmlns:a14="http://schemas.microsoft.com/office/drawing/2010/main" val="0"/>
              </a:ext>
            </a:extLst>
          </a:blip>
          <a:srcRect/>
          <a:stretch>
            <a:fillRect/>
          </a:stretch>
        </p:blipFill>
        <p:spPr bwMode="auto">
          <a:xfrm>
            <a:off x="628916" y="2286000"/>
            <a:ext cx="3800475" cy="3629025"/>
          </a:xfrm>
          <a:prstGeom prst="rect">
            <a:avLst/>
          </a:prstGeom>
          <a:noFill/>
          <a:ln>
            <a:noFill/>
          </a:ln>
        </p:spPr>
      </p:pic>
      <p:pic>
        <p:nvPicPr>
          <p:cNvPr id="17" name="Resim 16" descr="Açıklama: Açıklama: C:\Users\MY\AppData\Local\Temp\SNAGHTML1506628.PNG"/>
          <p:cNvPicPr/>
          <p:nvPr/>
        </p:nvPicPr>
        <p:blipFill>
          <a:blip r:embed="rId12">
            <a:extLst>
              <a:ext uri="{28A0092B-C50C-407E-A947-70E740481C1C}">
                <a14:useLocalDpi xmlns:a14="http://schemas.microsoft.com/office/drawing/2010/main" val="0"/>
              </a:ext>
            </a:extLst>
          </a:blip>
          <a:srcRect/>
          <a:stretch>
            <a:fillRect/>
          </a:stretch>
        </p:blipFill>
        <p:spPr bwMode="auto">
          <a:xfrm>
            <a:off x="4781550" y="2286000"/>
            <a:ext cx="3829050" cy="2971800"/>
          </a:xfrm>
          <a:prstGeom prst="rect">
            <a:avLst/>
          </a:prstGeom>
          <a:noFill/>
          <a:ln>
            <a:noFill/>
          </a:ln>
        </p:spPr>
      </p:pic>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7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Paragraf Üstündeki veya Altındaki Boşluğu Ayarlamak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Paragraflar arasında boşlukları ayarlar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143000"/>
            <a:ext cx="4629150" cy="1323439"/>
          </a:xfrm>
          <a:prstGeom prst="rect">
            <a:avLst/>
          </a:prstGeom>
          <a:noFill/>
        </p:spPr>
        <p:txBody>
          <a:bodyPr wrap="square" rtlCol="0">
            <a:spAutoFit/>
          </a:bodyPr>
          <a:lstStyle/>
          <a:p>
            <a:r>
              <a:rPr lang="tr-TR" sz="1600" dirty="0"/>
              <a:t>Satır aralığını değiştirmek için</a:t>
            </a:r>
          </a:p>
          <a:p>
            <a:pPr marL="285750" indent="-285750">
              <a:buFont typeface="Arial" pitchFamily="34" charset="0"/>
              <a:buChar char="•"/>
            </a:pPr>
            <a:r>
              <a:rPr lang="tr-TR" sz="1600" b="1" dirty="0"/>
              <a:t>Giriş</a:t>
            </a:r>
            <a:r>
              <a:rPr lang="tr-TR" sz="1600" dirty="0"/>
              <a:t> sekmesi</a:t>
            </a:r>
            <a:r>
              <a:rPr lang="tr-TR" sz="1600" b="1" dirty="0"/>
              <a:t>&gt;Satır ve Paragraf </a:t>
            </a:r>
            <a:r>
              <a:rPr lang="tr-TR" sz="1600" dirty="0"/>
              <a:t>aralığı açılır menüsü </a:t>
            </a:r>
          </a:p>
          <a:p>
            <a:pPr marL="285750" indent="-285750">
              <a:buFont typeface="Arial" pitchFamily="34" charset="0"/>
              <a:buChar char="•"/>
            </a:pPr>
            <a:r>
              <a:rPr lang="tr-TR" sz="1600" b="1" dirty="0"/>
              <a:t>Paragraf</a:t>
            </a:r>
            <a:r>
              <a:rPr lang="tr-TR" sz="1600" dirty="0"/>
              <a:t> iletişim penceresi </a:t>
            </a:r>
            <a:r>
              <a:rPr lang="tr-TR" sz="1600" b="1" dirty="0" smtClean="0"/>
              <a:t>Aralık </a:t>
            </a:r>
            <a:r>
              <a:rPr lang="tr-TR" sz="1600" dirty="0" smtClean="0"/>
              <a:t>sekmesi Önce ve Sonra komutları kullanılır.</a:t>
            </a:r>
            <a:endParaRPr lang="tr-TR" sz="1600" dirty="0"/>
          </a:p>
        </p:txBody>
      </p:sp>
      <p:pic>
        <p:nvPicPr>
          <p:cNvPr id="1026" name="Picture 2" descr="C:\Users\YILMAZ\AppData\Local\Temp\SNAGHTMLf99496.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1026" y="2819400"/>
            <a:ext cx="3190875" cy="33528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YILMAZ\AppData\Local\Temp\SNAGHTMLfac8de.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62550" y="1609725"/>
            <a:ext cx="3952875" cy="524827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86493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5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Sekme Yerlerini Yerleştirme, Silme ve Sekmeyi Kullanmak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nn-NO" sz="1400" b="1" dirty="0">
                <a:solidFill>
                  <a:schemeClr val="bg1"/>
                </a:solidFill>
              </a:rPr>
              <a:t>Sekmelerle hizalama yapar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10</a:t>
            </a:fld>
            <a:endParaRPr lang="tr-TR"/>
          </a:p>
        </p:txBody>
      </p:sp>
      <p:sp>
        <p:nvSpPr>
          <p:cNvPr id="7" name="Metin kutusu 6"/>
          <p:cNvSpPr txBox="1"/>
          <p:nvPr>
            <p:custDataLst>
              <p:tags r:id="rId5"/>
            </p:custDataLst>
          </p:nvPr>
        </p:nvSpPr>
        <p:spPr>
          <a:xfrm>
            <a:off x="228600" y="1033046"/>
            <a:ext cx="8077200" cy="830997"/>
          </a:xfrm>
          <a:prstGeom prst="rect">
            <a:avLst/>
          </a:prstGeom>
          <a:noFill/>
        </p:spPr>
        <p:txBody>
          <a:bodyPr wrap="square" rtlCol="0">
            <a:spAutoFit/>
          </a:bodyPr>
          <a:lstStyle/>
          <a:p>
            <a:r>
              <a:rPr lang="tr-TR" sz="1600" dirty="0" smtClean="0"/>
              <a:t>Belgemize sekme durağı eklemek için </a:t>
            </a:r>
          </a:p>
          <a:p>
            <a:r>
              <a:rPr lang="tr-TR" sz="1600" b="1" dirty="0" smtClean="0"/>
              <a:t>Dikey Cetvel sekme </a:t>
            </a:r>
            <a:r>
              <a:rPr lang="tr-TR" sz="1600" dirty="0" smtClean="0"/>
              <a:t>simgesi</a:t>
            </a:r>
          </a:p>
          <a:p>
            <a:r>
              <a:rPr lang="tr-TR" sz="1600" b="1" dirty="0" smtClean="0"/>
              <a:t>Giriş </a:t>
            </a:r>
            <a:r>
              <a:rPr lang="tr-TR" sz="1600" dirty="0" smtClean="0"/>
              <a:t>sekmesi</a:t>
            </a:r>
            <a:r>
              <a:rPr lang="tr-TR" sz="1600" b="1" dirty="0" smtClean="0"/>
              <a:t>&gt;Paragraf </a:t>
            </a:r>
            <a:r>
              <a:rPr lang="tr-TR" sz="1600" dirty="0" smtClean="0"/>
              <a:t>komut grubu</a:t>
            </a:r>
            <a:r>
              <a:rPr lang="tr-TR" sz="1600" b="1" dirty="0" smtClean="0"/>
              <a:t>&gt;Sekmeler </a:t>
            </a:r>
            <a:r>
              <a:rPr lang="tr-TR" sz="1600" dirty="0" smtClean="0"/>
              <a:t>komutu</a:t>
            </a:r>
            <a:r>
              <a:rPr lang="tr-TR" sz="1600" b="1" dirty="0" smtClean="0"/>
              <a:t>&gt;Sekmeler </a:t>
            </a:r>
            <a:r>
              <a:rPr lang="tr-TR" sz="1600" dirty="0" smtClean="0"/>
              <a:t>iletişim penceresi kullanılır</a:t>
            </a:r>
            <a:endParaRPr lang="tr-TR" sz="1600" dirty="0"/>
          </a:p>
        </p:txBody>
      </p:sp>
      <p:pic>
        <p:nvPicPr>
          <p:cNvPr id="13" name="Resim 12"/>
          <p:cNvPicPr/>
          <p:nvPr/>
        </p:nvPicPr>
        <p:blipFill>
          <a:blip r:embed="rId11">
            <a:extLst>
              <a:ext uri="{28A0092B-C50C-407E-A947-70E740481C1C}">
                <a14:useLocalDpi xmlns:a14="http://schemas.microsoft.com/office/drawing/2010/main" val="0"/>
              </a:ext>
            </a:extLst>
          </a:blip>
          <a:srcRect/>
          <a:stretch>
            <a:fillRect/>
          </a:stretch>
        </p:blipFill>
        <p:spPr bwMode="auto">
          <a:xfrm>
            <a:off x="152400" y="2038350"/>
            <a:ext cx="5762625" cy="2524125"/>
          </a:xfrm>
          <a:prstGeom prst="rect">
            <a:avLst/>
          </a:prstGeom>
          <a:noFill/>
          <a:ln>
            <a:noFill/>
          </a:ln>
        </p:spPr>
      </p:pic>
      <p:pic>
        <p:nvPicPr>
          <p:cNvPr id="14" name="Resim 13"/>
          <p:cNvPicPr/>
          <p:nvPr/>
        </p:nvPicPr>
        <p:blipFill>
          <a:blip r:embed="rId12">
            <a:extLst>
              <a:ext uri="{28A0092B-C50C-407E-A947-70E740481C1C}">
                <a14:useLocalDpi xmlns:a14="http://schemas.microsoft.com/office/drawing/2010/main" val="0"/>
              </a:ext>
            </a:extLst>
          </a:blip>
          <a:srcRect/>
          <a:stretch>
            <a:fillRect/>
          </a:stretch>
        </p:blipFill>
        <p:spPr bwMode="auto">
          <a:xfrm>
            <a:off x="228600" y="4562475"/>
            <a:ext cx="5762625" cy="1457325"/>
          </a:xfrm>
          <a:prstGeom prst="rect">
            <a:avLst/>
          </a:prstGeom>
          <a:noFill/>
          <a:ln>
            <a:noFill/>
          </a:ln>
        </p:spPr>
      </p:pic>
      <p:pic>
        <p:nvPicPr>
          <p:cNvPr id="2050" name="Picture 2" descr="C:\Users\YILMAZ\AppData\Local\Temp\SNAGHTML10fc47c.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67425" y="2038350"/>
            <a:ext cx="3038475" cy="339090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67012" y="1304955"/>
            <a:ext cx="68580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15292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5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Bir Düzeyli </a:t>
            </a:r>
            <a:r>
              <a:rPr lang="tr-TR" sz="205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Listelerde Madde İmlerinin Uygulanması veya Kaldırılması</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Belgede numaralı ve madde işaretli liste oluşturur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11</a:t>
            </a:fld>
            <a:endParaRPr lang="tr-TR"/>
          </a:p>
        </p:txBody>
      </p:sp>
      <p:sp>
        <p:nvSpPr>
          <p:cNvPr id="7" name="Metin kutusu 6"/>
          <p:cNvSpPr txBox="1"/>
          <p:nvPr>
            <p:custDataLst>
              <p:tags r:id="rId5"/>
            </p:custDataLst>
          </p:nvPr>
        </p:nvSpPr>
        <p:spPr>
          <a:xfrm>
            <a:off x="533400" y="1371600"/>
            <a:ext cx="7772400" cy="1323439"/>
          </a:xfrm>
          <a:prstGeom prst="rect">
            <a:avLst/>
          </a:prstGeom>
          <a:noFill/>
        </p:spPr>
        <p:txBody>
          <a:bodyPr wrap="square" rtlCol="0">
            <a:spAutoFit/>
          </a:bodyPr>
          <a:lstStyle/>
          <a:p>
            <a:r>
              <a:rPr lang="tr-TR" sz="1600" dirty="0" smtClean="0"/>
              <a:t>Belgede tek düzeyli liste oluştururken yeni paragrafa geç</a:t>
            </a:r>
          </a:p>
          <a:p>
            <a:pPr marL="285750" indent="-285750">
              <a:buFont typeface="Arial" pitchFamily="34" charset="0"/>
              <a:buChar char="•"/>
            </a:pPr>
            <a:r>
              <a:rPr lang="tr-TR" sz="1600" dirty="0" smtClean="0"/>
              <a:t>Madde işareti için * İşareti koy boşluk bırak, 1 ve yanına nokta yazıp boşluk tuşuna basmak</a:t>
            </a:r>
          </a:p>
          <a:p>
            <a:pPr marL="285750" indent="-285750">
              <a:buFont typeface="Arial" pitchFamily="34" charset="0"/>
              <a:buChar char="•"/>
            </a:pPr>
            <a:r>
              <a:rPr lang="tr-TR" sz="1600" b="1" dirty="0" smtClean="0"/>
              <a:t>Giriş sekmesi&gt;Paragraf </a:t>
            </a:r>
            <a:r>
              <a:rPr lang="tr-TR" sz="1600" dirty="0" smtClean="0"/>
              <a:t>komut grubu&gt;</a:t>
            </a:r>
            <a:r>
              <a:rPr lang="tr-TR" sz="1600" b="1" dirty="0" smtClean="0"/>
              <a:t>Madde işareti ve Numaralandırma </a:t>
            </a:r>
            <a:r>
              <a:rPr lang="tr-TR" sz="1600" dirty="0" smtClean="0"/>
              <a:t>komutları kullanılır</a:t>
            </a:r>
            <a:endParaRPr lang="tr-TR" sz="1600" dirty="0"/>
          </a:p>
        </p:txBody>
      </p:sp>
      <p:pic>
        <p:nvPicPr>
          <p:cNvPr id="13" name="Resim 12" descr="Açıklama: Açıklama: Açıklama: C:\Users\MY\AppData\Local\Temp\SNAGHTML886bdcf.PNG"/>
          <p:cNvPicPr/>
          <p:nvPr/>
        </p:nvPicPr>
        <p:blipFill>
          <a:blip r:embed="rId11">
            <a:extLst>
              <a:ext uri="{28A0092B-C50C-407E-A947-70E740481C1C}">
                <a14:useLocalDpi xmlns:a14="http://schemas.microsoft.com/office/drawing/2010/main" val="0"/>
              </a:ext>
            </a:extLst>
          </a:blip>
          <a:srcRect/>
          <a:stretch>
            <a:fillRect/>
          </a:stretch>
        </p:blipFill>
        <p:spPr bwMode="auto">
          <a:xfrm>
            <a:off x="514350" y="2819400"/>
            <a:ext cx="5657850" cy="2428875"/>
          </a:xfrm>
          <a:prstGeom prst="rect">
            <a:avLst/>
          </a:prstGeom>
          <a:noFill/>
          <a:ln>
            <a:noFill/>
          </a:ln>
        </p:spPr>
      </p:pic>
      <p:pic>
        <p:nvPicPr>
          <p:cNvPr id="3074" name="Picture 2" descr="C:\Users\YILMAZ\AppData\Local\Temp\SNAGHTML1254a5d.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8916" y="5410200"/>
            <a:ext cx="4886325" cy="135255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1233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16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Bütünleşik Standart Seçenekler İçerisinden Madde İmi veya Numaralandırmasını Değiştirmek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dirty="0">
                <a:solidFill>
                  <a:schemeClr val="bg1"/>
                </a:solidFill>
              </a:rPr>
              <a:t>Madde imleri ve numaralandırmayı düzenler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12</a:t>
            </a:fld>
            <a:endParaRPr lang="tr-TR"/>
          </a:p>
        </p:txBody>
      </p:sp>
      <p:sp>
        <p:nvSpPr>
          <p:cNvPr id="7" name="Metin kutusu 6"/>
          <p:cNvSpPr txBox="1"/>
          <p:nvPr>
            <p:custDataLst>
              <p:tags r:id="rId5"/>
            </p:custDataLst>
          </p:nvPr>
        </p:nvSpPr>
        <p:spPr>
          <a:xfrm>
            <a:off x="533400" y="1371600"/>
            <a:ext cx="7772400" cy="584775"/>
          </a:xfrm>
          <a:prstGeom prst="rect">
            <a:avLst/>
          </a:prstGeom>
          <a:noFill/>
        </p:spPr>
        <p:txBody>
          <a:bodyPr wrap="square" rtlCol="0">
            <a:spAutoFit/>
          </a:bodyPr>
          <a:lstStyle/>
          <a:p>
            <a:r>
              <a:rPr lang="tr-TR" sz="1600" dirty="0" smtClean="0"/>
              <a:t>Madde imi ve Numaralandırma seçeneklerini değiştirmek için</a:t>
            </a:r>
          </a:p>
          <a:p>
            <a:r>
              <a:rPr lang="tr-TR" sz="1600" b="1" dirty="0" smtClean="0"/>
              <a:t>Giriş </a:t>
            </a:r>
            <a:r>
              <a:rPr lang="tr-TR" sz="1600" dirty="0" smtClean="0"/>
              <a:t>sekmesi&gt;</a:t>
            </a:r>
            <a:r>
              <a:rPr lang="tr-TR" sz="1600" b="1" dirty="0" smtClean="0"/>
              <a:t>Paragraf</a:t>
            </a:r>
            <a:r>
              <a:rPr lang="tr-TR" sz="1600" dirty="0" smtClean="0"/>
              <a:t> komut grubu&gt; </a:t>
            </a:r>
            <a:r>
              <a:rPr lang="tr-TR" sz="1600" b="1" dirty="0" smtClean="0"/>
              <a:t>Numaralandırma/Madde işareti </a:t>
            </a:r>
            <a:r>
              <a:rPr lang="tr-TR" sz="1600" dirty="0" smtClean="0"/>
              <a:t>komutları kullanılır</a:t>
            </a:r>
            <a:endParaRPr lang="tr-TR" sz="1600" dirty="0"/>
          </a:p>
        </p:txBody>
      </p:sp>
      <p:pic>
        <p:nvPicPr>
          <p:cNvPr id="13" name="Resim 12"/>
          <p:cNvPicPr/>
          <p:nvPr/>
        </p:nvPicPr>
        <p:blipFill>
          <a:blip r:embed="rId11">
            <a:extLst>
              <a:ext uri="{28A0092B-C50C-407E-A947-70E740481C1C}">
                <a14:useLocalDpi xmlns:a14="http://schemas.microsoft.com/office/drawing/2010/main" val="0"/>
              </a:ext>
            </a:extLst>
          </a:blip>
          <a:srcRect/>
          <a:stretch>
            <a:fillRect/>
          </a:stretch>
        </p:blipFill>
        <p:spPr bwMode="auto">
          <a:xfrm>
            <a:off x="638440" y="2286000"/>
            <a:ext cx="2962275" cy="3209925"/>
          </a:xfrm>
          <a:prstGeom prst="rect">
            <a:avLst/>
          </a:prstGeom>
          <a:noFill/>
          <a:ln>
            <a:noFill/>
          </a:ln>
        </p:spPr>
      </p:pic>
      <p:pic>
        <p:nvPicPr>
          <p:cNvPr id="14" name="Resim 13"/>
          <p:cNvPicPr/>
          <p:nvPr/>
        </p:nvPicPr>
        <p:blipFill>
          <a:blip r:embed="rId12">
            <a:extLst>
              <a:ext uri="{28A0092B-C50C-407E-A947-70E740481C1C}">
                <a14:useLocalDpi xmlns:a14="http://schemas.microsoft.com/office/drawing/2010/main" val="0"/>
              </a:ext>
            </a:extLst>
          </a:blip>
          <a:srcRect/>
          <a:stretch>
            <a:fillRect/>
          </a:stretch>
        </p:blipFill>
        <p:spPr bwMode="auto">
          <a:xfrm>
            <a:off x="4229100" y="2286000"/>
            <a:ext cx="2628900" cy="3629025"/>
          </a:xfrm>
          <a:prstGeom prst="rect">
            <a:avLst/>
          </a:prstGeom>
          <a:noFill/>
          <a:ln>
            <a:noFill/>
          </a:ln>
        </p:spPr>
      </p:pic>
    </p:spTree>
    <p:custDataLst>
      <p:tags r:id="rId1"/>
    </p:custDataLst>
    <p:extLst>
      <p:ext uri="{BB962C8B-B14F-4D97-AF65-F5344CB8AC3E}">
        <p14:creationId xmlns:p14="http://schemas.microsoft.com/office/powerpoint/2010/main" val="10679613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Paragraflara Üst ve Alt Kenar Çizgileri, Çerçeve Çizgisi ve Gölge Eklemek</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tr-TR" sz="1400" b="1">
                <a:solidFill>
                  <a:schemeClr val="bg1"/>
                </a:solidFill>
              </a:rPr>
              <a:t>Paragraflara kenarlık ve gölge ekler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13</a:t>
            </a:fld>
            <a:endParaRPr lang="tr-TR"/>
          </a:p>
        </p:txBody>
      </p:sp>
      <p:sp>
        <p:nvSpPr>
          <p:cNvPr id="7" name="Metin kutusu 6"/>
          <p:cNvSpPr txBox="1"/>
          <p:nvPr>
            <p:custDataLst>
              <p:tags r:id="rId5"/>
            </p:custDataLst>
          </p:nvPr>
        </p:nvSpPr>
        <p:spPr>
          <a:xfrm>
            <a:off x="533399" y="1125378"/>
            <a:ext cx="8229601" cy="830997"/>
          </a:xfrm>
          <a:prstGeom prst="rect">
            <a:avLst/>
          </a:prstGeom>
          <a:noFill/>
        </p:spPr>
        <p:txBody>
          <a:bodyPr wrap="square" rtlCol="0">
            <a:spAutoFit/>
          </a:bodyPr>
          <a:lstStyle/>
          <a:p>
            <a:r>
              <a:rPr lang="tr-TR" sz="1600" dirty="0" smtClean="0"/>
              <a:t>Belgeye kenarlık eklemek için </a:t>
            </a:r>
            <a:endParaRPr lang="tr-TR" sz="1600" dirty="0"/>
          </a:p>
          <a:p>
            <a:pPr marL="285750" indent="-285750">
              <a:buFont typeface="Arial" pitchFamily="34" charset="0"/>
              <a:buChar char="•"/>
            </a:pPr>
            <a:r>
              <a:rPr lang="tr-TR" sz="1600" b="1" dirty="0" smtClean="0"/>
              <a:t>Giriş</a:t>
            </a:r>
            <a:r>
              <a:rPr lang="tr-TR" sz="1600" dirty="0" smtClean="0"/>
              <a:t> </a:t>
            </a:r>
            <a:r>
              <a:rPr lang="tr-TR" sz="1600" dirty="0"/>
              <a:t>sekmesi </a:t>
            </a:r>
            <a:r>
              <a:rPr lang="tr-TR" sz="1600" b="1" dirty="0"/>
              <a:t>Paragraf</a:t>
            </a:r>
            <a:r>
              <a:rPr lang="tr-TR" sz="1600" dirty="0"/>
              <a:t> komut grubundaki </a:t>
            </a:r>
            <a:r>
              <a:rPr lang="tr-TR" sz="1600" b="1" dirty="0"/>
              <a:t>Kenarlıklar ve Gölgelendirme komutu </a:t>
            </a:r>
            <a:r>
              <a:rPr lang="tr-TR" sz="1600" dirty="0" smtClean="0"/>
              <a:t>açılır menüsü</a:t>
            </a:r>
          </a:p>
          <a:p>
            <a:pPr marL="285750" indent="-285750">
              <a:buFont typeface="Arial" pitchFamily="34" charset="0"/>
              <a:buChar char="•"/>
            </a:pPr>
            <a:r>
              <a:rPr lang="tr-TR" sz="1600" b="1" dirty="0"/>
              <a:t>Kenarlık ve Gölgelendirme </a:t>
            </a:r>
            <a:r>
              <a:rPr lang="tr-TR" sz="1600" dirty="0"/>
              <a:t>iletişim penceresi </a:t>
            </a:r>
            <a:r>
              <a:rPr lang="tr-TR" sz="1600" dirty="0" smtClean="0"/>
              <a:t>kullanılır</a:t>
            </a:r>
          </a:p>
        </p:txBody>
      </p:sp>
      <p:pic>
        <p:nvPicPr>
          <p:cNvPr id="4100" name="Picture 4" descr="C:\Users\YILMAZ\AppData\Local\Temp\SNAGHTML14d3587.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1956375"/>
            <a:ext cx="2695575" cy="4819650"/>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29000" y="1956375"/>
            <a:ext cx="5114925"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421542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38498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8498LOGO" val=""/>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D:\Ders Materyali\İçerik\Temel Bilgi Teknolojisi Kullanımı&quot;/&gt;&lt;property id=&quot;20225&quot; value=&quot;D:\Ders Materyali\İçerik\Temel Bilgi Teknolojisi Kullanımı\TBTK\&quot;/&gt;&lt;property id=&quot;20226&quot; value=&quot;D:\Ders Materyali\İçerik\Temel Bilgi Teknolojisi Kullanımı\TBTK\Kelime İşlemci Modül 4.pptx&quot;/&gt;&lt;property id=&quot;20250&quot; value=&quot;0&quot;/&gt;&lt;property id=&quot;20251&quot; value=&quot;1&quot;/&gt;&lt;property id=&quot;20259&quot; value=&quot;0&quot;/&gt;&lt;property id=&quot;20501&quot; value=&quot;D:\Ders Materyali\İçerik\Temel Bilgi Teknolojisi Kullanımı\TBTK\&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8498&quot;/&gt;&lt;property id=&quot;20312&quot; value=&quot;0&quot;/&gt;&lt;/object&gt;&lt;object type=&quot;3&quot; unique_id=&quot;10588&quot;&gt;&lt;property id=&quot;20148&quot; value=&quot;5&quot;/&gt;&lt;property id=&quot;20300&quot; value=&quot;Slide 4 - &amp;quot;Paragraf İşretlerini (Mark) Koymak veya Kaldırmak&amp;quot;&quot;/&gt;&lt;property id=&quot;20302&quot; value=&quot;0&quot;/&gt;&lt;property id=&quot;20303&quot; value=&quot;Mustafa YILMAZ&quot;/&gt;&lt;property id=&quot;20307&quot; value=&quot;257&quot;/&gt;&lt;property id=&quot;20309&quot; value=&quot;38498&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8498&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8498&quot;/&gt;&lt;property id=&quot;20312&quot; value=&quot;0&quot;/&gt;&lt;/object&gt;&lt;object type=&quot;3&quot; unique_id=&quot;36872&quot;&gt;&lt;property id=&quot;20148&quot; value=&quot;5&quot;/&gt;&lt;property id=&quot;20300&quot; value=&quot;Slide 8 - &amp;quot;Paragraf İçerisindeki Satırları Tek veya Çift Aralıklı Yapmak&amp;quot;&quot;/&gt;&lt;property id=&quot;20302&quot; value=&quot;0&quot;/&gt;&lt;property id=&quot;20303&quot; value=&quot;Mustafa YILMAZ&quot;/&gt;&lt;property id=&quot;20307&quot; value=&quot;261&quot;/&gt;&lt;property id=&quot;20309&quot; value=&quot;38498&quot;/&gt;&lt;property id=&quot;20312&quot; value=&quot;0&quot;/&gt;&lt;/object&gt;&lt;object type=&quot;3&quot; unique_id=&quot;36949&quot;&gt;&lt;property id=&quot;20148&quot; value=&quot;5&quot;/&gt;&lt;property id=&quot;20300&quot; value=&quot;Slide 11 - &amp;quot;Bir Düzeyli Listelerde Madde İmlerinin Uygulanması veya Kaldırılması&amp;quot;&quot;/&gt;&lt;property id=&quot;20302&quot; value=&quot;0&quot;/&gt;&lt;property id=&quot;20303&quot; value=&quot;Mustafa YILMAZ&quot;/&gt;&lt;property id=&quot;20307&quot; value=&quot;263&quot;/&gt;&lt;property id=&quot;20309&quot; value=&quot;38498&quot;/&gt;&lt;property id=&quot;20312&quot; value=&quot;0&quot;/&gt;&lt;/object&gt;&lt;object type=&quot;3&quot; unique_id=&quot;37836&quot;&gt;&lt;property id=&quot;20148&quot; value=&quot;5&quot;/&gt;&lt;property id=&quot;20300&quot; value=&quot;Slide 5 - &amp;quot;Satır Kesme İşaretlerini Koymak veya Kaldırmak&amp;quot;&quot;/&gt;&lt;property id=&quot;20302&quot; value=&quot;0&quot;/&gt;&lt;property id=&quot;20303&quot; value=&quot;Mustafa YILMAZ&quot;/&gt;&lt;property id=&quot;20307&quot; value=&quot;271&quot;/&gt;&lt;property id=&quot;20309&quot; value=&quot;38498&quot;/&gt;&lt;property id=&quot;20312&quot; value=&quot;0&quot;/&gt;&lt;/object&gt;&lt;object type=&quot;3&quot; unique_id=&quot;37837&quot;&gt;&lt;property id=&quot;20148&quot; value=&quot;5&quot;/&gt;&lt;property id=&quot;20300&quot; value=&quot;Slide 10 - &amp;quot;Sekme Yerlerini Yerleştirme, Silme ve Sekmeyi Kullanmak&amp;quot;&quot;/&gt;&lt;property id=&quot;20302&quot; value=&quot;0&quot;/&gt;&lt;property id=&quot;20303&quot; value=&quot;Mustafa YILMAZ&quot;/&gt;&lt;property id=&quot;20307&quot; value=&quot;272&quot;/&gt;&lt;property id=&quot;20309&quot; value=&quot;38498&quot;/&gt;&lt;property id=&quot;20312&quot; value=&quot;0&quot;/&gt;&lt;/object&gt;&lt;object type=&quot;3&quot; unique_id=&quot;37865&quot;&gt;&lt;property id=&quot;20148&quot; value=&quot;5&quot;/&gt;&lt;property id=&quot;20300&quot; value=&quot;Slide 6 - &amp;quot;Metni Sola, Sağa, Ortaya veya İki Kenara Hizalamak&amp;quot;&quot;/&gt;&lt;property id=&quot;20302&quot; value=&quot;0&quot;/&gt;&lt;property id=&quot;20303&quot; value=&quot;Mustafa YILMAZ&quot;/&gt;&lt;property id=&quot;20307&quot; value=&quot;275&quot;/&gt;&lt;property id=&quot;20309&quot; value=&quot;38498&quot;/&gt;&lt;property id=&quot;20312&quot; value=&quot;0&quot;/&gt;&lt;/object&gt;&lt;object type=&quot;3&quot; unique_id=&quot;37986&quot;&gt;&lt;property id=&quot;20148&quot; value=&quot;5&quot;/&gt;&lt;property id=&quot;20300&quot; value=&quot;Slide 9 - &amp;quot;Paragraf Üstündeki veya Altındaki Boşluğu Ayarlamak&amp;quot;&quot;/&gt;&lt;property id=&quot;20302&quot; value=&quot;0&quot;/&gt;&lt;property id=&quot;20303&quot; value=&quot;Mustafa YILMAZ&quot;/&gt;&lt;property id=&quot;20307&quot; value=&quot;276&quot;/&gt;&lt;property id=&quot;20309&quot; value=&quot;38498&quot;/&gt;&lt;property id=&quot;20312&quot; value=&quot;0&quot;/&gt;&lt;/object&gt;&lt;object type=&quot;3&quot; unique_id=&quot;38503&quot;&gt;&lt;property id=&quot;20148&quot; value=&quot;5&quot;/&gt;&lt;property id=&quot;20300&quot; value=&quot;Slide 7 - &amp;quot;Satırbaşının İçeriden Girintili Başlamasını Ayarlamak&amp;quot;&quot;/&gt;&lt;property id=&quot;20303&quot; value=&quot;-1&quot;/&gt;&lt;property id=&quot;20307&quot; value=&quot;277&quot;/&gt;&lt;property id=&quot;20309&quot; value=&quot;-1&quot;/&gt;&lt;/object&gt;&lt;object type=&quot;3&quot; unique_id=&quot;38504&quot;&gt;&lt;property id=&quot;20148&quot; value=&quot;5&quot;/&gt;&lt;property id=&quot;20300&quot; value=&quot;Slide 12 - &amp;quot;Bütünleşik Standart Seçenekler İçerisinden Madde İmi veya Numaralandırmasını Değiştirmek&amp;quot;&quot;/&gt;&lt;property id=&quot;20303&quot; value=&quot;-1&quot;/&gt;&lt;property id=&quot;20307&quot; value=&quot;278&quot;/&gt;&lt;property id=&quot;20309&quot; value=&quot;-1&quot;/&gt;&lt;/object&gt;&lt;object type=&quot;3&quot; unique_id=&quot;38505&quot;&gt;&lt;property id=&quot;20148&quot; value=&quot;5&quot;/&gt;&lt;property id=&quot;20300&quot; value=&quot;Slide 13 - &amp;quot;Paragraflara Üst ve Alt Kenar Çizgileri, Çerçeve Çizgisi ve Gölge Eklemek&amp;quot;&quot;/&gt;&lt;property id=&quot;20303&quot; value=&quot;-1&quot;/&gt;&lt;property id=&quot;20307&quot; value=&quot;279&quot;/&gt;&lt;property id=&quot;20309&quot; value=&quot;-1&quot;/&gt;&lt;/object&gt;&lt;/object&gt;&lt;object type=&quot;8&quot; unique_id=&quot;10563&quot;&gt;&lt;object type=&quot;9&quot; unique_id=&quot;38622&quot;&gt;&lt;property id=&quot;20000&quot; value=&quot;0&quot;/&gt;&lt;property id=&quot;20400&quot; value=&quot;Kelime Islemci 4.Unite&quot;/&gt;&lt;property id=&quot;20401&quot; value=&quot;4. Unite.pdf&quot;/&gt;&lt;property id=&quot;20402&quot; value=&quot;0&quot;/&gt;&lt;property id=&quot;20404&quot; value=&quot;1223400&quot;/&gt;&lt;property id=&quot;20405&quot; value=&quot;0&quot;/&gt;&lt;/object&gt;&lt;/object&gt;&lt;object type=&quot;4&quot; unique_id=&quot;10695&quot;&gt;&lt;object type=&quot;5&quot; unique_id=&quot;10697&quot;&gt;&lt;property id=&quot;20149&quot; value=&quot;Esrin Palas&quot;/&gt;&lt;property id=&quot;20150&quot; value=&quot;Öğr. Gör.&quot;/&gt;&lt;property id=&quot;20153&quot; value=&quot;epalas@sakarya.edu.tr&quot;/&gt;&lt;property id=&quot;20159&quot; value=&quot;logo_sau.png&quot;/&gt;&lt;/object&gt;&lt;object type=&quot;5&quot; unique_id=&quot;38498&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849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1907493263,D:\Ders Materyali\İçerik\Temel Bilgi Teknolojisi Kullanımı\TBTK\Kelime İşlemci Modül 4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4EC8E979-E10F-48BB-B2DF-AB4604043E54}&quot;/&gt;&lt;isInvalidForFieldText val=&quot;0&quot;/&gt;&lt;Image&gt;&lt;filename val=&quot;C:\Users\YILMAZ\AppData\Local\Temp\PR\data\asimages\{4EC8E979-E10F-48BB-B2DF-AB4604043E54}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1907493263,D:\Ders Materyali\İçerik\Temel Bilgi Teknolojisi Kullanımı\TBTK\Kelime İşlemci Modül 4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5F35205D-FC37-4340-83AC-A1DB944FC6F0}&quot;/&gt;&lt;isInvalidForFieldText val=&quot;0&quot;/&gt;&lt;Image&gt;&lt;filename val=&quot;C:\Users\YILMAZ\AppData\Local\Temp\PR\data\asimages\{5F35205D-FC37-4340-83AC-A1DB944FC6F0}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9&quot;/&gt;&lt;lineCharCount val=&quot;36&quot;/&gt;&lt;lineCharCount val=&quot;42&quot;/&gt;&lt;lineCharCount val=&quot;24&quot;/&gt;&lt;lineCharCount val=&quot;30&quot;/&gt;&lt;lineCharCount val=&quot;41&quot;/&gt;&lt;lineCharCount val=&quot;27&quot;/&gt;&lt;lineCharCount val=&quot;52&quot;/&gt;&lt;lineCharCount val=&quot;43&quot;/&gt;&lt;lineCharCount val=&quot;37&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85C3BC2B-DAF8-4040-85C0-50FDF97597C6}&quot;/&gt;&lt;isInvalidForFieldText val=&quot;0&quot;/&gt;&lt;Image&gt;&lt;filename val=&quot;C:\Users\YILMAZ\AppData\Local\Temp\PR\data\asimages\{85C3BC2B-DAF8-4040-85C0-50FDF97597C6}_3.png&quot;/&gt;&lt;left val=&quot;25&quot;/&gt;&lt;top val=&quot;30&quot;/&gt;&lt;width val=&quot;659&quot;/&gt;&lt;height val=&quot;62&quot;/&gt;&lt;hasText val=&quot;1&quot;/&gt;&lt;/Image&gt;&lt;/ThreeDShape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6&quot;/&gt;&lt;lineCharCount val=&quot;1&quot;/&gt;&lt;lineCharCount val=&quot;18&quot;/&gt;&lt;lineCharCount val=&quot;29&quot;/&gt;&lt;lineCharCount val=&quot;59&quot;/&gt;&lt;lineCharCount val=&quot;56&quot;/&gt;&lt;lineCharCount val=&quot;60&quot;/&gt;&lt;lineCharCount val=&quot;63&quot;/&gt;&lt;lineCharCount val=&quot;71&quot;/&gt;&lt;lineCharCount val=&quot;61&quot;/&gt;&lt;lineCharCount val=&quot;65&quot;/&gt;&lt;lineCharCount val=&quot;64&quot;/&gt;&lt;lineCharCount val=&quot;14&quot;/&gt;&lt;lineCharCount val=&quot;66&quot;/&gt;&lt;lineCharCount val=&quot;32&quot;/&gt;&lt;lineCharCount val=&quot;69&quot;/&gt;&lt;lineCharCount val=&quot;14&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PSNARRATION" val="3,1907493263,D:\Ders Materyali\İçerik\Temel Bilgi Teknolojisi Kullanımı\TBTK\Kelime İşlemci Modül 4_pptx\Media.ppcx"/>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9&quot;/&gt;&lt;/TableIndex&gt;&lt;/ShapeTextInfo&gt;"/>
  <p:tag name="PRESENTER_SHAPEINFO" val="&lt;ThreeDShapeInfo&gt;&lt;uuid val=&quot;{E01BF92A-85BA-402C-8F12-65577B2F6517}&quot;/&gt;&lt;isInvalidForFieldText val=&quot;0&quot;/&gt;&lt;Image&gt;&lt;filename val=&quot;C:\Users\YILMAZ\AppData\Local\Temp\PR\data\asimages\{E01BF92A-85BA-402C-8F12-65577B2F6517}_4.png&quot;/&gt;&lt;left val=&quot;36&quot;/&gt;&lt;top val=&quot;32&quot;/&gt;&lt;width val=&quot;649&quot;/&gt;&lt;height val=&quot;59&quot;/&gt;&lt;hasText val=&quot;1&quot;/&gt;&lt;/Image&gt;&lt;/ThreeDShape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4&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89&quot;/&gt;&lt;lineCharCount val=&quot;42&quot;/&gt;&lt;lineCharCount val=&quot;52&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PSNARRATION" val="4,1907493263,D:\Ders Materyali\İçerik\Temel Bilgi Teknolojisi Kullanımı\TBTK\Kelime İşlemci Modül 4_pptx\Media.ppcx"/>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6&quot;/&gt;&lt;/TableIndex&gt;&lt;/ShapeTextInfo&gt;"/>
  <p:tag name="PRESENTER_SHAPEINFO" val="&lt;ThreeDShapeInfo&gt;&lt;uuid val=&quot;{00887CBF-1B6A-40D3-B1C1-90720F407709}&quot;/&gt;&lt;isInvalidForFieldText val=&quot;0&quot;/&gt;&lt;Image&gt;&lt;filename val=&quot;C:\Users\YILMAZ\AppData\Local\Temp\PR\data\asimages\{00887CBF-1B6A-40D3-B1C1-90720F407709}_5.png&quot;/&gt;&lt;left val=&quot;36&quot;/&gt;&lt;top val=&quot;30&quot;/&gt;&lt;width val=&quot;649&quot;/&gt;&lt;height val=&quot;62&quot;/&gt;&lt;hasText val=&quot;1&quot;/&gt;&lt;/Image&gt;&lt;/ThreeDShape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0&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7&quot;/&gt;&lt;lineCharCount val=&quot;32&quot;/&gt;&lt;lineCharCount val=&quot;52&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PSNARRATION" val="5,1907493263,D:\Ders Materyali\İçerik\Temel Bilgi Teknolojisi Kullanımı\TBTK\Kelime İşlemci Modül 4_pptx\Media.ppcx"/>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 name="PRESENTER_SHAPEINFO" val="&lt;ThreeDShapeInfo&gt;&lt;uuid val=&quot;{7A6B2A8F-17C8-4AD9-90D8-3388994468A0}&quot;/&gt;&lt;isInvalidForFieldText val=&quot;0&quot;/&gt;&lt;Image&gt;&lt;filename val=&quot;C:\Users\YILMAZ\AppData\Local\Temp\PR\data\asimages\{7A6B2A8F-17C8-4AD9-90D8-3388994468A0}_6.png&quot;/&gt;&lt;left val=&quot;33&quot;/&gt;&lt;top val=&quot;32&quot;/&gt;&lt;width val=&quot;653&quot;/&gt;&lt;height val=&quot;59&quot;/&gt;&lt;hasText val=&quot;1&quot;/&gt;&lt;/Image&gt;&lt;/ThreeDShape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2&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22&quot;/&gt;&lt;lineCharCount val=&quot;35&quot;/&gt;&lt;lineCharCount val=&quot;88&quot;/&gt;&lt;lineCharCount val=&quot;65&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PSNARRATION" val="6,1907493263,D:\Ders Materyali\İçerik\Temel Bilgi Teknolojisi Kullanımı\TBTK\Kelime İşlemci Modül 4_pptx\Media.ppcx"/>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3&quot;/&gt;&lt;/TableIndex&gt;&lt;/ShapeTextInfo&gt;"/>
  <p:tag name="PRESENTER_SHAPEINFO" val="&lt;ThreeDShapeInfo&gt;&lt;uuid val=&quot;{6E95221C-91DF-4767-88CF-0B9EF29D9A8E}&quot;/&gt;&lt;isInvalidForFieldText val=&quot;0&quot;/&gt;&lt;Image&gt;&lt;filename val=&quot;C:\Users\YILMAZ\AppData\Local\Temp\PR\data\asimages\{6E95221C-91DF-4767-88CF-0B9EF29D9A8E}_7.png&quot;/&gt;&lt;left val=&quot;27&quot;/&gt;&lt;top val=&quot;32&quot;/&gt;&lt;width val=&quot;667&quot;/&gt;&lt;height val=&quot;59&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8&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7&quot;/&gt;&lt;lineCharCount val=&quot;54&quot;/&gt;&lt;lineCharCount val=&quot;23&quot;/&gt;&lt;lineCharCount val=&quot;44&quot;/&gt;&lt;lineCharCount val=&quot;31&quot;/&gt;&lt;lineCharCount val=&quot;41&quot;/&gt;&lt;lineCharCount val=&quot;36&quot;/&gt;&lt;lineCharCount val=&quot;3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PSNARRATION" val="7,1907493263,D:\Ders Materyali\İçerik\Temel Bilgi Teknolojisi Kullanımı\TBTK\Kelime İşlemci Modül 4_pptx\Media.ppcx"/>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1&quot;/&gt;&lt;/TableIndex&gt;&lt;/ShapeTextInfo&gt;"/>
  <p:tag name="PRESENTER_SHAPEINFO" val="&lt;ThreeDShapeInfo&gt;&lt;uuid val=&quot;{BA76C32B-ADB5-4A5A-A436-AA9131307EBF}&quot;/&gt;&lt;isInvalidForFieldText val=&quot;0&quot;/&gt;&lt;Image&gt;&lt;filename val=&quot;C:\Users\YILMAZ\AppData\Local\Temp\PR\data\asimages\{BA76C32B-ADB5-4A5A-A436-AA9131307EBF}_8.png&quot;/&gt;&lt;left val=&quot;30&quot;/&gt;&lt;top val=&quot;34&quot;/&gt;&lt;width val=&quot;661&quot;/&gt;&lt;height val=&quot;53&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6&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3&quot;/&gt;&lt;lineCharCount val=&quot;55&quot;/&gt;&lt;lineCharCount val=&quot;59&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PSNARRATION" val="8,1907493263,D:\Ders Materyali\İçerik\Temel Bilgi Teknolojisi Kullanımı\TBTK\Kelime İşlemci Modül 4_pptx\Media.ppcx"/>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 name="PRESENTER_SHAPEINFO" val="&lt;ThreeDShapeInfo&gt;&lt;uuid val=&quot;{167F7114-C032-4AA6-BBF8-B32F81CBCDAD}&quot;/&gt;&lt;isInvalidForFieldText val=&quot;0&quot;/&gt;&lt;Image&gt;&lt;filename val=&quot;C:\Users\YILMAZ\AppData\Local\Temp\PR\data\asimages\{167F7114-C032-4AA6-BBF8-B32F81CBCDAD}_9.png&quot;/&gt;&lt;left val=&quot;30&quot;/&gt;&lt;top val=&quot;33&quot;/&gt;&lt;width val=&quot;660&quot;/&gt;&lt;height val=&quot;57&quot;/&gt;&lt;hasText val=&quot;1&quot;/&gt;&lt;/Image&gt;&lt;/ThreeDShape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9&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47&quot;/&gt;&lt;lineCharCount val=&quot;8&quot;/&gt;&lt;lineCharCount val=&quot;51&quot;/&gt;&lt;lineCharCount val=&quot;27&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PSNARRATION" val="9,1907493263,D:\Ders Materyali\İçerik\Temel Bilgi Teknolojisi Kullanımı\TBTK\Kelime İşlemci Modül 4_pptx\Media.ppcx"/>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5&quot;/&gt;&lt;/TableIndex&gt;&lt;/ShapeTextInfo&gt;"/>
  <p:tag name="PRESENTER_SHAPEINFO" val="&lt;ThreeDShapeInfo&gt;&lt;uuid val=&quot;{FB0C4FEB-85C3-4129-8A37-2E6FB3829A4A}&quot;/&gt;&lt;isInvalidForFieldText val=&quot;0&quot;/&gt;&lt;Image&gt;&lt;filename val=&quot;C:\Users\YILMAZ\AppData\Local\Temp\PR\data\asimages\{FB0C4FEB-85C3-4129-8A37-2E6FB3829A4A}_10.png&quot;/&gt;&lt;left val=&quot;34&quot;/&gt;&lt;top val=&quot;34&quot;/&gt;&lt;width val=&quot;652&quot;/&gt;&lt;height val=&quot;53&quot;/&gt;&lt;hasText val=&quot;1&quot;/&gt;&lt;/Image&gt;&lt;/ThreeDShape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7&quot;/&gt;&lt;lineCharCount val=&quot;27&quot;/&gt;&lt;lineCharCount val=&quot;89&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PSNARRATION" val="10,1907493263,D:\Ders Materyali\İçerik\Temel Bilgi Teknolojisi Kullanımı\TBTK\Kelime İşlemci Modül 4_pptx\Media.ppcx"/>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68&quot;/&gt;&lt;/TableIndex&gt;&lt;/ShapeTextInfo&gt;"/>
  <p:tag name="PRESENTER_SHAPEINFO" val="&lt;ThreeDShapeInfo&gt;&lt;uuid val=&quot;{1925F55F-57C3-41D1-9D22-F9136FA340FB}&quot;/&gt;&lt;isInvalidForFieldText val=&quot;0&quot;/&gt;&lt;Image&gt;&lt;filename val=&quot;C:\Users\YILMAZ\AppData\Local\Temp\PR\data\asimages\{1925F55F-57C3-41D1-9D22-F9136FA340FB}_11.png&quot;/&gt;&lt;left val=&quot;36&quot;/&gt;&lt;top val=&quot;36&quot;/&gt;&lt;width val=&quot;649&quot;/&gt;&lt;height val=&quot;46&quot;/&gt;&lt;hasText val=&quot;1&quot;/&gt;&lt;/Image&gt;&lt;/ThreeDShape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58&quot;/&gt;&lt;lineCharCount val=&quot;85&quot;/&gt;&lt;lineCharCount val=&quot;7&quot;/&gt;&lt;lineCharCount val=&quot;77&quot;/&gt;&lt;lineCharCount val=&quot;1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PSNARRATION" val="11,1907493263,D:\Ders Materyali\İçerik\Temel Bilgi Teknolojisi Kullanımı\TBTK\Kelime İşlemci Modül 4_pptx\Media.ppcx"/>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77&quot;/&gt;&lt;lineCharCount val=&quot;11&quot;/&gt;&lt;/TableIndex&gt;&lt;/ShapeTextInfo&gt;"/>
  <p:tag name="PRESENTER_SHAPEINFO" val="&lt;ThreeDShapeInfo&gt;&lt;uuid val=&quot;{FD954472-2ED7-42AC-AA17-750D216DF825}&quot;/&gt;&lt;isInvalidForFieldText val=&quot;0&quot;/&gt;&lt;Image&gt;&lt;filename val=&quot;C:\Users\YILMAZ\AppData\Local\Temp\PR\data\asimages\{FD954472-2ED7-42AC-AA17-750D216DF825}_12.png&quot;/&gt;&lt;left val=&quot;36&quot;/&gt;&lt;top val=&quot;33&quot;/&gt;&lt;width val=&quot;649&quot;/&gt;&lt;height val=&quot;53&quot;/&gt;&lt;hasText val=&quot;1&quot;/&gt;&lt;/Image&gt;&lt;/ThreeDShape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9&quot;/&gt;&lt;lineCharCount val=&quot;85&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PSNARRATION" val="12,1907493263,D:\Ders Materyali\İçerik\Temel Bilgi Teknolojisi Kullanımı\TBTK\Kelime İşlemci Modül 4_pptx\Media.ppcx"/>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3&quot;/&gt;&lt;/TableIndex&gt;&lt;/ShapeTextInfo&gt;"/>
  <p:tag name="PRESENTER_SHAPEINFO" val="&lt;ThreeDShapeInfo&gt;&lt;uuid val=&quot;{DB98906E-B10B-4810-8FEE-19FE84EB95A6}&quot;/&gt;&lt;isInvalidForFieldText val=&quot;0&quot;/&gt;&lt;Image&gt;&lt;filename val=&quot;C:\Users\YILMAZ\AppData\Local\Temp\PR\data\asimages\{DB98906E-B10B-4810-8FEE-19FE84EB95A6}_13.png&quot;/&gt;&lt;left val=&quot;33&quot;/&gt;&lt;top val=&quot;36&quot;/&gt;&lt;width val=&quot;652&quot;/&gt;&lt;height val=&quot;46&quot;/&gt;&lt;hasText val=&quot;1&quot;/&gt;&lt;/Image&gt;&lt;/ThreeDShape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6&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1&quot;/&gt;&lt;lineCharCount val=&quot;90&quot;/&gt;&lt;lineCharCount val=&quot;55&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3415</TotalTime>
  <Words>1284</Words>
  <Application>Microsoft Office PowerPoint</Application>
  <PresentationFormat>Ekran Gösterisi (4:3)</PresentationFormat>
  <Paragraphs>124</Paragraphs>
  <Slides>13</Slides>
  <Notes>13</Notes>
  <HiddenSlides>0</HiddenSlides>
  <MMClips>0</MMClips>
  <ScaleCrop>false</ScaleCrop>
  <HeadingPairs>
    <vt:vector size="4" baseType="variant">
      <vt:variant>
        <vt:lpstr>Tema</vt:lpstr>
      </vt:variant>
      <vt:variant>
        <vt:i4>2</vt:i4>
      </vt:variant>
      <vt:variant>
        <vt:lpstr>Slayt Başlıkları</vt:lpstr>
      </vt:variant>
      <vt:variant>
        <vt:i4>13</vt:i4>
      </vt:variant>
    </vt:vector>
  </HeadingPairs>
  <TitlesOfParts>
    <vt:vector size="15" baseType="lpstr">
      <vt:lpstr>Hava Akımı</vt:lpstr>
      <vt:lpstr>Ofis Teması</vt:lpstr>
      <vt:lpstr>Kelime İşlemci Word </vt:lpstr>
      <vt:lpstr>Öğrenme Hedefleri</vt:lpstr>
      <vt:lpstr>İçindekiler</vt:lpstr>
      <vt:lpstr>Paragraf İşretlerini (Mark) Koymak veya Kaldırmak</vt:lpstr>
      <vt:lpstr>Satır Kesme İşaretlerini Koymak veya Kaldırmak</vt:lpstr>
      <vt:lpstr>Metni Sola, Sağa, Ortaya veya İki Kenara Hizalamak</vt:lpstr>
      <vt:lpstr>Satırbaşının İçeriden Girintili Başlamasını Ayarlamak</vt:lpstr>
      <vt:lpstr>Paragraf İçerisindeki Satırları Tek veya Çift Aralıklı Yapmak</vt:lpstr>
      <vt:lpstr>Paragraf Üstündeki veya Altındaki Boşluğu Ayarlamak</vt:lpstr>
      <vt:lpstr>Sekme Yerlerini Yerleştirme, Silme ve Sekmeyi Kullanmak</vt:lpstr>
      <vt:lpstr>Bir Düzeyli Listelerde Madde İmlerinin Uygulanması veya Kaldırılması</vt:lpstr>
      <vt:lpstr>Bütünleşik Standart Seçenekler İçerisinden Madde İmi veya Numaralandırmasını Değiştirmek</vt:lpstr>
      <vt:lpstr>Paragraflara Üst ve Alt Kenar Çizgileri, Çerçeve Çizgisi ve Gölge Eklemek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457</cp:revision>
  <cp:lastPrinted>2011-09-23T15:10:57Z</cp:lastPrinted>
  <dcterms:created xsi:type="dcterms:W3CDTF">2011-06-08T08:18:11Z</dcterms:created>
  <dcterms:modified xsi:type="dcterms:W3CDTF">2011-10-19T08:19:26Z</dcterms:modified>
</cp:coreProperties>
</file>