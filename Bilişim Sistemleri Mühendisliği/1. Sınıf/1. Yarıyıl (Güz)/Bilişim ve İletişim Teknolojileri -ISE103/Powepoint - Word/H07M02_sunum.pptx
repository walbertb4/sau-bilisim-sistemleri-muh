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2.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3.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4.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5.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6.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7.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8.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9.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3"/>
  </p:notesMasterIdLst>
  <p:sldIdLst>
    <p:sldId id="256" r:id="rId3"/>
    <p:sldId id="260" r:id="rId4"/>
    <p:sldId id="258" r:id="rId5"/>
    <p:sldId id="257" r:id="rId6"/>
    <p:sldId id="271" r:id="rId7"/>
    <p:sldId id="275" r:id="rId8"/>
    <p:sldId id="261" r:id="rId9"/>
    <p:sldId id="276" r:id="rId10"/>
    <p:sldId id="272" r:id="rId11"/>
    <p:sldId id="263" r:id="rId12"/>
  </p:sldIdLst>
  <p:sldSz cx="9144000" cy="6858000" type="screen4x3"/>
  <p:notesSz cx="6669088" cy="9928225"/>
  <p:custDataLst>
    <p:tags r:id="rId14"/>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46F890A9-2807-4EBB-B81D-B2AA78EC7F39}" styleName="Koyu Stil 2 - Vurgu 5/Vurgu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CF1AB2-1976-4502-BF36-3FF5EA218861}" styleName="Orta Stil 4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042" autoAdjust="0"/>
  </p:normalViewPr>
  <p:slideViewPr>
    <p:cSldViewPr>
      <p:cViewPr>
        <p:scale>
          <a:sx n="90" d="100"/>
          <a:sy n="90" d="100"/>
        </p:scale>
        <p:origin x="-1524" y="-13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889938" cy="496411"/>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777607" y="0"/>
            <a:ext cx="2889938" cy="496411"/>
          </a:xfrm>
          <a:prstGeom prst="rect">
            <a:avLst/>
          </a:prstGeom>
        </p:spPr>
        <p:txBody>
          <a:bodyPr vert="horz" lIns="91440" tIns="45720" rIns="91440" bIns="45720" rtlCol="0"/>
          <a:lstStyle>
            <a:lvl1pPr algn="r">
              <a:defRPr sz="1200"/>
            </a:lvl1pPr>
          </a:lstStyle>
          <a:p>
            <a:fld id="{EFF07403-48BF-4B87-9E20-50CC050AC631}" type="datetimeFigureOut">
              <a:rPr lang="tr-TR" smtClean="0"/>
              <a:t>18.10.2011</a:t>
            </a:fld>
            <a:endParaRPr lang="tr-TR"/>
          </a:p>
        </p:txBody>
      </p:sp>
      <p:sp>
        <p:nvSpPr>
          <p:cNvPr id="4" name="Slayt Görüntüsü Yer Tutucusu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66909" y="4715907"/>
            <a:ext cx="5335270" cy="4467701"/>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9430091"/>
            <a:ext cx="2889938" cy="496411"/>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777607" y="9430091"/>
            <a:ext cx="2889938" cy="496411"/>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1</a:t>
            </a:fld>
            <a:endParaRPr lang="tr-TR"/>
          </a:p>
        </p:txBody>
      </p:sp>
    </p:spTree>
    <p:extLst>
      <p:ext uri="{BB962C8B-B14F-4D97-AF65-F5344CB8AC3E}">
        <p14:creationId xmlns:p14="http://schemas.microsoft.com/office/powerpoint/2010/main" val="2831107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2</a:t>
            </a:fld>
            <a:endParaRPr lang="tr-TR"/>
          </a:p>
        </p:txBody>
      </p:sp>
    </p:spTree>
    <p:extLst>
      <p:ext uri="{BB962C8B-B14F-4D97-AF65-F5344CB8AC3E}">
        <p14:creationId xmlns:p14="http://schemas.microsoft.com/office/powerpoint/2010/main" val="2503087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3</a:t>
            </a:fld>
            <a:endParaRPr lang="tr-TR"/>
          </a:p>
        </p:txBody>
      </p:sp>
    </p:spTree>
    <p:extLst>
      <p:ext uri="{BB962C8B-B14F-4D97-AF65-F5344CB8AC3E}">
        <p14:creationId xmlns:p14="http://schemas.microsoft.com/office/powerpoint/2010/main" val="4187383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Microsoft Word’de yazı yazarken dikkat edilmesi gereken birkaç nokta vardır.</a:t>
            </a:r>
          </a:p>
          <a:p>
            <a:pPr lvl="0"/>
            <a:r>
              <a:rPr lang="tr-TR" sz="1200" kern="1200" dirty="0" smtClean="0">
                <a:solidFill>
                  <a:schemeClr val="tx1"/>
                </a:solidFill>
                <a:effectLst/>
                <a:latin typeface="+mn-lt"/>
                <a:ea typeface="+mn-ea"/>
                <a:cs typeface="+mn-cs"/>
              </a:rPr>
              <a:t>Word ile çalışırken ancak yeni bir paragrafa geçmek için </a:t>
            </a:r>
            <a:r>
              <a:rPr lang="tr-TR" sz="1200" kern="1200" dirty="0" err="1" smtClean="0">
                <a:solidFill>
                  <a:schemeClr val="tx1"/>
                </a:solidFill>
                <a:effectLst/>
                <a:latin typeface="+mn-lt"/>
                <a:ea typeface="+mn-ea"/>
                <a:cs typeface="+mn-cs"/>
              </a:rPr>
              <a:t>Enter</a:t>
            </a:r>
            <a:r>
              <a:rPr lang="tr-TR" sz="1200" kern="1200" dirty="0" smtClean="0">
                <a:solidFill>
                  <a:schemeClr val="tx1"/>
                </a:solidFill>
                <a:effectLst/>
                <a:latin typeface="+mn-lt"/>
                <a:ea typeface="+mn-ea"/>
                <a:cs typeface="+mn-cs"/>
              </a:rPr>
              <a:t> tuşu kullanılır. Bir satır sonuna geldiğinde alt satıra geçmek için kesinlikle </a:t>
            </a:r>
            <a:r>
              <a:rPr lang="tr-TR" sz="1200" kern="1200" dirty="0" err="1" smtClean="0">
                <a:solidFill>
                  <a:schemeClr val="tx1"/>
                </a:solidFill>
                <a:effectLst/>
                <a:latin typeface="+mn-lt"/>
                <a:ea typeface="+mn-ea"/>
                <a:cs typeface="+mn-cs"/>
              </a:rPr>
              <a:t>Enter</a:t>
            </a:r>
            <a:r>
              <a:rPr lang="tr-TR" sz="1200" kern="1200" dirty="0" smtClean="0">
                <a:solidFill>
                  <a:schemeClr val="tx1"/>
                </a:solidFill>
                <a:effectLst/>
                <a:latin typeface="+mn-lt"/>
                <a:ea typeface="+mn-ea"/>
                <a:cs typeface="+mn-cs"/>
              </a:rPr>
              <a:t> tuşunu kullanmayın. Word satırın dolduğunu kendisi anlar ve yeni bir alt satıra otomatik olarak geçer.</a:t>
            </a:r>
          </a:p>
          <a:p>
            <a:pPr lvl="0"/>
            <a:r>
              <a:rPr lang="tr-TR" sz="1200" kern="1200" dirty="0" smtClean="0">
                <a:solidFill>
                  <a:schemeClr val="tx1"/>
                </a:solidFill>
                <a:effectLst/>
                <a:latin typeface="+mn-lt"/>
                <a:ea typeface="+mn-ea"/>
                <a:cs typeface="+mn-cs"/>
              </a:rPr>
              <a:t>Kelimler arasında boşluk bırakmak için ara çubuğuna bir kez basın</a:t>
            </a:r>
          </a:p>
          <a:p>
            <a:pPr lvl="0"/>
            <a:r>
              <a:rPr lang="tr-TR" sz="1200" kern="1200" dirty="0" smtClean="0">
                <a:solidFill>
                  <a:schemeClr val="tx1"/>
                </a:solidFill>
                <a:effectLst/>
                <a:latin typeface="+mn-lt"/>
                <a:ea typeface="+mn-ea"/>
                <a:cs typeface="+mn-cs"/>
              </a:rPr>
              <a:t>Karakter arasında birden fazla boşluk bırakmak için boşluk tuşu kullanmayın. Bunun yerine </a:t>
            </a:r>
            <a:r>
              <a:rPr lang="tr-TR" sz="1200" kern="1200" dirty="0" err="1" smtClean="0">
                <a:solidFill>
                  <a:schemeClr val="tx1"/>
                </a:solidFill>
                <a:effectLst/>
                <a:latin typeface="+mn-lt"/>
                <a:ea typeface="+mn-ea"/>
                <a:cs typeface="+mn-cs"/>
              </a:rPr>
              <a:t>Tab</a:t>
            </a:r>
            <a:r>
              <a:rPr lang="tr-TR" sz="1200" kern="1200" dirty="0" smtClean="0">
                <a:solidFill>
                  <a:schemeClr val="tx1"/>
                </a:solidFill>
                <a:effectLst/>
                <a:latin typeface="+mn-lt"/>
                <a:ea typeface="+mn-ea"/>
                <a:cs typeface="+mn-cs"/>
              </a:rPr>
              <a:t> tuşunu kullanın.</a:t>
            </a:r>
          </a:p>
          <a:p>
            <a:pPr lvl="0"/>
            <a:r>
              <a:rPr lang="tr-TR" sz="1200" kern="1200" dirty="0" smtClean="0">
                <a:solidFill>
                  <a:schemeClr val="tx1"/>
                </a:solidFill>
                <a:effectLst/>
                <a:latin typeface="+mn-lt"/>
                <a:ea typeface="+mn-ea"/>
                <a:cs typeface="+mn-cs"/>
              </a:rPr>
              <a:t>Büyük harf yazmak için Üst Karakter (</a:t>
            </a:r>
            <a:r>
              <a:rPr lang="tr-TR" sz="1200" kern="1200" dirty="0" err="1" smtClean="0">
                <a:solidFill>
                  <a:schemeClr val="tx1"/>
                </a:solidFill>
                <a:effectLst/>
                <a:latin typeface="+mn-lt"/>
                <a:ea typeface="+mn-ea"/>
                <a:cs typeface="+mn-cs"/>
              </a:rPr>
              <a:t>Shift</a:t>
            </a:r>
            <a:r>
              <a:rPr lang="tr-TR" sz="1200" kern="1200" dirty="0" smtClean="0">
                <a:solidFill>
                  <a:schemeClr val="tx1"/>
                </a:solidFill>
                <a:effectLst/>
                <a:latin typeface="+mn-lt"/>
                <a:ea typeface="+mn-ea"/>
                <a:cs typeface="+mn-cs"/>
              </a:rPr>
              <a:t>) tuşu basılıyken yazmak istediğiniz harfin tuşuna basın.</a:t>
            </a:r>
          </a:p>
          <a:p>
            <a:pPr lvl="0"/>
            <a:r>
              <a:rPr lang="tr-TR" sz="1200" kern="1200" dirty="0" smtClean="0">
                <a:solidFill>
                  <a:schemeClr val="tx1"/>
                </a:solidFill>
                <a:effectLst/>
                <a:latin typeface="+mn-lt"/>
                <a:ea typeface="+mn-ea"/>
                <a:cs typeface="+mn-cs"/>
              </a:rPr>
              <a:t>Yazacağınız metnin tüm harfleri büyük ise </a:t>
            </a:r>
            <a:r>
              <a:rPr lang="tr-TR" sz="1200" kern="1200" dirty="0" err="1" smtClean="0">
                <a:solidFill>
                  <a:schemeClr val="tx1"/>
                </a:solidFill>
                <a:effectLst/>
                <a:latin typeface="+mn-lt"/>
                <a:ea typeface="+mn-ea"/>
                <a:cs typeface="+mn-cs"/>
              </a:rPr>
              <a:t>Caps</a:t>
            </a:r>
            <a:r>
              <a:rPr lang="tr-TR" sz="1200" kern="1200" dirty="0" smtClean="0">
                <a:solidFill>
                  <a:schemeClr val="tx1"/>
                </a:solidFill>
                <a:effectLst/>
                <a:latin typeface="+mn-lt"/>
                <a:ea typeface="+mn-ea"/>
                <a:cs typeface="+mn-cs"/>
              </a:rPr>
              <a:t> </a:t>
            </a:r>
            <a:r>
              <a:rPr lang="tr-TR" sz="1200" kern="1200" dirty="0" err="1" smtClean="0">
                <a:solidFill>
                  <a:schemeClr val="tx1"/>
                </a:solidFill>
                <a:effectLst/>
                <a:latin typeface="+mn-lt"/>
                <a:ea typeface="+mn-ea"/>
                <a:cs typeface="+mn-cs"/>
              </a:rPr>
              <a:t>Lock</a:t>
            </a:r>
            <a:r>
              <a:rPr lang="tr-TR" sz="1200" kern="1200" dirty="0" smtClean="0">
                <a:solidFill>
                  <a:schemeClr val="tx1"/>
                </a:solidFill>
                <a:effectLst/>
                <a:latin typeface="+mn-lt"/>
                <a:ea typeface="+mn-ea"/>
                <a:cs typeface="+mn-cs"/>
              </a:rPr>
              <a:t> tuşuna basın. </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tr-TR" sz="1200" kern="1200" dirty="0" smtClean="0">
                <a:solidFill>
                  <a:schemeClr val="tx1"/>
                </a:solidFill>
                <a:effectLst/>
                <a:latin typeface="+mn-lt"/>
                <a:ea typeface="+mn-ea"/>
                <a:cs typeface="+mn-cs"/>
              </a:rPr>
              <a:t>Word belgesi oluştururken sadece klavye bulunan karakterleri değil bunların dışında da bazı simgeleri ekleme ihtiyacı duyabiliriz. Örneğin resimdeki yazıda bulunan Avro</a:t>
            </a:r>
            <a:r>
              <a:rPr lang="tr-TR" sz="1200" kern="1200" baseline="0" dirty="0" smtClean="0">
                <a:solidFill>
                  <a:schemeClr val="tx1"/>
                </a:solidFill>
                <a:effectLst/>
                <a:latin typeface="+mn-lt"/>
                <a:ea typeface="+mn-ea"/>
                <a:cs typeface="+mn-cs"/>
              </a:rPr>
              <a:t> simgesi klavyede bulunmamaktadır. Bunu yazmak için </a:t>
            </a:r>
            <a:r>
              <a:rPr lang="tr-TR" sz="1200" b="1" dirty="0" smtClean="0"/>
              <a:t>Ekle Sekmesi &gt;Simgeler </a:t>
            </a:r>
            <a:r>
              <a:rPr lang="tr-TR" sz="1200" dirty="0" smtClean="0"/>
              <a:t>komutu kullanılır. Bu komuta tıkladığımızda açılan</a:t>
            </a:r>
            <a:r>
              <a:rPr lang="tr-TR" sz="1200" baseline="0" dirty="0" smtClean="0"/>
              <a:t> menüde eklemek istediğimiz simge yoksa Tüm simgeler komutuyla daha fazla simge içeren Simge iletişim penceresi kullanılabilir.</a:t>
            </a:r>
            <a:endParaRPr lang="tr-TR" sz="1200" dirty="0" smtClean="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dirty="0" smtClean="0"/>
              <a:t>Word’de</a:t>
            </a:r>
            <a:r>
              <a:rPr lang="tr-TR" sz="1200" dirty="0" smtClean="0"/>
              <a:t> düzenleme ve biçimlendirme yapmak için öncelikle işlem yapacağımız metnin seçili olması gerekir. Seçim yapmak için kullandığımız iki yol vardır. Klavye </a:t>
            </a:r>
            <a:r>
              <a:rPr lang="tr-TR" sz="1200" dirty="0" err="1" smtClean="0"/>
              <a:t>kısayolları</a:t>
            </a:r>
            <a:r>
              <a:rPr lang="tr-TR" sz="1200" dirty="0" smtClean="0"/>
              <a:t> ve fare işaretçisi. </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dirty="0" smtClean="0"/>
              <a:t>Klavye</a:t>
            </a:r>
            <a:r>
              <a:rPr lang="tr-TR" sz="1200" baseline="0" dirty="0" smtClean="0"/>
              <a:t> ile seçim yapmak için aynı anda klavyede bulunan birkaç tuşa basmak gerekiyor. Klavyeyle kullanabileceğimiz tuş kombinasyonları tabloda verilmiştir. Örneğin ekleme noktasından satır sonuna kadar seçim yapmak için </a:t>
            </a:r>
            <a:r>
              <a:rPr lang="tr-TR" sz="1200" dirty="0" err="1" smtClean="0">
                <a:effectLst/>
              </a:rPr>
              <a:t>ÜstKrkt+End</a:t>
            </a:r>
            <a:r>
              <a:rPr lang="tr-TR" sz="1200" dirty="0" smtClean="0">
                <a:effectLst/>
              </a:rPr>
              <a:t> tuşlarına aynı anda basmamız gerekir.</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Seçim işlemini yapmak için kullanılan yaygın yollardan biri de fare ile seçim yapmaktır. Fareyle seçim yapmak için</a:t>
            </a:r>
            <a:r>
              <a:rPr lang="tr-TR" sz="1200" kern="1200" baseline="0" dirty="0" smtClean="0">
                <a:solidFill>
                  <a:schemeClr val="tx1"/>
                </a:solidFill>
                <a:effectLst/>
                <a:latin typeface="+mn-lt"/>
                <a:ea typeface="+mn-ea"/>
                <a:cs typeface="+mn-cs"/>
              </a:rPr>
              <a:t> kullanabileceğimiz yöntemler tabloda verilmiştir. Örneğin tüm bir satırı en kısa yoldan seçmenin yolu sol kenar boşluğuna tıklamaktır.</a:t>
            </a:r>
            <a:endParaRPr lang="tr-TR"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tr-TR" sz="1400" dirty="0" smtClean="0">
              <a:effectLst/>
              <a:latin typeface="+mn-lt"/>
              <a:ea typeface="Calibri"/>
              <a:cs typeface="Times New Roman"/>
            </a:endParaRPr>
          </a:p>
          <a:p>
            <a:endParaRPr lang="tr-TR" sz="1200" dirty="0" smtClean="0"/>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Word belgesine bilgileri ekledikten sonra, belgenize yeni bir şeyler eklemek, içeriğini düzenlemek için üzerinde gezinmek gerekecektir. Belge içinde gezinmek için </a:t>
            </a:r>
            <a:r>
              <a:rPr lang="tr-TR" sz="1200" kern="1200" baseline="0" dirty="0" smtClean="0">
                <a:solidFill>
                  <a:schemeClr val="tx1"/>
                </a:solidFill>
                <a:effectLst/>
                <a:latin typeface="+mn-lt"/>
                <a:ea typeface="+mn-ea"/>
                <a:cs typeface="+mn-cs"/>
              </a:rPr>
              <a:t> </a:t>
            </a:r>
          </a:p>
          <a:p>
            <a:pPr marL="342900" indent="-342900">
              <a:buFont typeface="+mj-lt"/>
              <a:buAutoNum type="arabicPeriod"/>
            </a:pPr>
            <a:r>
              <a:rPr lang="tr-TR" sz="1200" b="1" dirty="0" smtClean="0"/>
              <a:t>Kaydırma Çubuklarını</a:t>
            </a:r>
          </a:p>
          <a:p>
            <a:pPr marL="342900" indent="-342900">
              <a:buFont typeface="+mj-lt"/>
              <a:buAutoNum type="arabicPeriod"/>
            </a:pPr>
            <a:r>
              <a:rPr lang="tr-TR" sz="1200" b="1" dirty="0" smtClean="0"/>
              <a:t>Klavye </a:t>
            </a:r>
            <a:r>
              <a:rPr lang="tr-TR" sz="1200" b="1" dirty="0" err="1" smtClean="0"/>
              <a:t>Kısayollarını</a:t>
            </a:r>
            <a:endParaRPr lang="tr-TR" sz="1200" b="1" dirty="0" smtClean="0"/>
          </a:p>
          <a:p>
            <a:pPr marL="342900" indent="-342900">
              <a:buFont typeface="+mj-lt"/>
              <a:buAutoNum type="arabicPeriod"/>
            </a:pPr>
            <a:r>
              <a:rPr lang="tr-TR" sz="1200" b="1" dirty="0" smtClean="0"/>
              <a:t>Belge Tarayıcısını </a:t>
            </a:r>
            <a:r>
              <a:rPr lang="tr-TR" sz="1200" dirty="0" smtClean="0"/>
              <a:t>kullanabiliriz</a:t>
            </a:r>
          </a:p>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Kaydırma çubuklarında</a:t>
            </a:r>
            <a:r>
              <a:rPr lang="tr-TR" baseline="0" dirty="0" smtClean="0"/>
              <a:t> bulunan ok işaretlerine tıklayarak veya kaydırma çubuğunu fareyle sürükleyerek belge için gezinebiliriz. Benzer şekilde Klavye </a:t>
            </a:r>
            <a:r>
              <a:rPr lang="tr-TR" baseline="0" dirty="0" err="1" smtClean="0"/>
              <a:t>kısayolları</a:t>
            </a:r>
            <a:r>
              <a:rPr lang="tr-TR" baseline="0" dirty="0" smtClean="0"/>
              <a:t> da seçme işleminde olduğu gibi belge içinde hareket etmek için kullanılabilir. Örneğin ekleme noktasını bulunduğu yerden satırın başına getirmek için Home tuşu kullanılır.  Üçüncü gezinme aracı olarak kaydırma çubuğunun hemen altında bulunan Belge tarayıcısı kullanılır. Burada bulanan komutlar yardımıyla belge içinde resme veya tabloya gibi nesnelere veya başlığa göre göz atılabilir.</a:t>
            </a:r>
          </a:p>
          <a:p>
            <a:pPr marL="0" marR="0" indent="0" algn="l" defTabSz="914400" rtl="0" eaLnBrk="1" fontAlgn="auto" latinLnBrk="0" hangingPunct="1">
              <a:lnSpc>
                <a:spcPct val="100000"/>
              </a:lnSpc>
              <a:spcBef>
                <a:spcPts val="0"/>
              </a:spcBef>
              <a:spcAft>
                <a:spcPts val="0"/>
              </a:spcAft>
              <a:buClrTx/>
              <a:buSzTx/>
              <a:buFontTx/>
              <a:buNone/>
              <a:tabLst/>
              <a:defRPr/>
            </a:pPr>
            <a:r>
              <a:rPr lang="tr-TR" baseline="0" dirty="0" smtClean="0"/>
              <a:t>Bu gezinme yöntemlerinden birini kullanarak belge içerisinde ekleme veya üzerine yazma yapacağımız yere ekleme noktasını getirdikten sonra ekleme işlemini yapabiliriz.</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Word belgesinde bazen</a:t>
            </a:r>
            <a:r>
              <a:rPr lang="tr-TR" baseline="0" dirty="0" smtClean="0"/>
              <a:t> yanlışlıkla veya bilerek yaptığımız düzenlemeleri geri almamız gerekebilir. </a:t>
            </a:r>
            <a:r>
              <a:rPr lang="tr-TR" sz="1200" dirty="0" smtClean="0"/>
              <a:t>Yaptığımız düzenlemeleri geri almak için</a:t>
            </a:r>
          </a:p>
          <a:p>
            <a:pPr marL="342900" indent="-342900">
              <a:buFont typeface="+mj-lt"/>
              <a:buAutoNum type="arabicPeriod"/>
            </a:pPr>
            <a:r>
              <a:rPr lang="tr-TR" sz="1200" b="1" dirty="0" smtClean="0"/>
              <a:t>Giriş sekmesi&gt;Hızlı erişim araç çubuğu&gt; Geri al yapıştır </a:t>
            </a:r>
          </a:p>
          <a:p>
            <a:pPr marL="342900" indent="-342900">
              <a:buFont typeface="+mj-lt"/>
              <a:buAutoNum type="arabicPeriod"/>
            </a:pPr>
            <a:r>
              <a:rPr lang="tr-TR" sz="1200" b="1" dirty="0" err="1" smtClean="0"/>
              <a:t>Ctrl+Z</a:t>
            </a:r>
            <a:endParaRPr lang="tr-TR" sz="1200" b="1" dirty="0" smtClean="0"/>
          </a:p>
          <a:p>
            <a:pPr marL="342900" indent="-342900">
              <a:buFont typeface="+mj-lt"/>
              <a:buAutoNum type="arabicPeriod"/>
            </a:pPr>
            <a:r>
              <a:rPr lang="tr-TR" sz="1200" b="1" dirty="0" err="1" smtClean="0"/>
              <a:t>Alt+Geri</a:t>
            </a:r>
            <a:r>
              <a:rPr lang="tr-TR" sz="1200" dirty="0" smtClean="0"/>
              <a:t> tuşlarını</a:t>
            </a:r>
            <a:r>
              <a:rPr lang="tr-TR" sz="1200" baseline="0" dirty="0" smtClean="0"/>
              <a:t> kullanırız</a:t>
            </a:r>
            <a:r>
              <a:rPr lang="tr-TR" sz="1200" dirty="0" smtClean="0"/>
              <a:t>.</a:t>
            </a:r>
          </a:p>
          <a:p>
            <a:r>
              <a:rPr lang="tr-TR" sz="1200" dirty="0" smtClean="0"/>
              <a:t>Ancak geri aldığımız değişikliği beğenmezsek ve geri aldığımız değişiklikleri tekrar yapmak istediğimizde </a:t>
            </a:r>
          </a:p>
          <a:p>
            <a:pPr marL="342900" indent="-342900">
              <a:buFont typeface="+mj-lt"/>
              <a:buAutoNum type="arabicPeriod"/>
            </a:pPr>
            <a:r>
              <a:rPr lang="tr-TR" sz="1200" b="1" dirty="0" smtClean="0"/>
              <a:t>Giriş sekmesi&gt;Hızlı erişim araç çubuğu&gt; Yeniden yazı</a:t>
            </a:r>
          </a:p>
          <a:p>
            <a:pPr marL="342900" indent="-342900">
              <a:buFont typeface="+mj-lt"/>
              <a:buAutoNum type="arabicPeriod"/>
            </a:pPr>
            <a:r>
              <a:rPr lang="tr-TR" sz="1200" b="1" dirty="0" err="1" smtClean="0"/>
              <a:t>Ctrl+Y</a:t>
            </a:r>
            <a:endParaRPr lang="tr-TR" sz="1200" b="1" dirty="0" smtClean="0"/>
          </a:p>
          <a:p>
            <a:pPr marL="342900" indent="-342900">
              <a:buFont typeface="+mj-lt"/>
              <a:buAutoNum type="arabicPeriod"/>
            </a:pPr>
            <a:r>
              <a:rPr lang="tr-TR" sz="1200" b="1" dirty="0" smtClean="0"/>
              <a:t>F4 </a:t>
            </a:r>
            <a:r>
              <a:rPr lang="tr-TR" sz="1200" dirty="0" smtClean="0"/>
              <a:t>tuşları kullanırız.</a:t>
            </a:r>
            <a:endParaRPr lang="tr-TR" sz="1200" b="1"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Kopyalamak, kesmek ve yapıştırmak işlemleri Word’ün bize sunmuş olduğu çok önemli kolaylıklardan üçüdür. Kopyalamak bir metin veya nesnenin benzerini oluşturarak başka bir yerde tekrar yazmaktan kurtarır. Bazen bir metin veya nesneyi benzerini oluşturmak yerine bunları oldukları yerden başka bir yere taşımak gerekir. Her iki durumda da kopyalanacak veya taşınacak olan metnin seçilmesi gerekir.</a:t>
            </a:r>
            <a:r>
              <a:rPr lang="tr-TR" sz="1200" kern="1200" baseline="0" dirty="0" smtClean="0">
                <a:solidFill>
                  <a:schemeClr val="tx1"/>
                </a:solidFill>
                <a:effectLst/>
                <a:latin typeface="+mn-lt"/>
                <a:ea typeface="+mn-ea"/>
                <a:cs typeface="+mn-cs"/>
              </a:rPr>
              <a:t> Seçim işleminden sonra </a:t>
            </a:r>
          </a:p>
          <a:p>
            <a:r>
              <a:rPr lang="tr-TR" sz="1200" b="1" dirty="0" smtClean="0"/>
              <a:t>Giriş sekmesi&gt;Pano komut grubu</a:t>
            </a:r>
          </a:p>
          <a:p>
            <a:r>
              <a:rPr lang="tr-TR" sz="1200" b="1" dirty="0" smtClean="0"/>
              <a:t>Fare sağ tuşuna tıkladığımızda açılan </a:t>
            </a:r>
            <a:r>
              <a:rPr lang="tr-TR" sz="1200" b="1" dirty="0" err="1" smtClean="0"/>
              <a:t>kısayol</a:t>
            </a:r>
            <a:r>
              <a:rPr lang="tr-TR" sz="1200" b="1" dirty="0" smtClean="0"/>
              <a:t> menüsü</a:t>
            </a:r>
          </a:p>
          <a:p>
            <a:r>
              <a:rPr lang="tr-TR" sz="1200" b="1" dirty="0" smtClean="0"/>
              <a:t>Klavye </a:t>
            </a:r>
            <a:r>
              <a:rPr lang="tr-TR" sz="1200" b="1" dirty="0" err="1" smtClean="0"/>
              <a:t>kısayollları</a:t>
            </a:r>
            <a:r>
              <a:rPr lang="tr-TR" sz="1200" b="1" dirty="0" smtClean="0"/>
              <a:t> </a:t>
            </a:r>
            <a:r>
              <a:rPr lang="tr-TR" sz="1200" b="0" dirty="0" smtClean="0"/>
              <a:t>kullanılarak</a:t>
            </a:r>
            <a:r>
              <a:rPr lang="tr-TR" sz="1200" b="0" baseline="0" dirty="0" smtClean="0"/>
              <a:t> kopyalama veya kesme komutu uygulanır. Daha sonra </a:t>
            </a:r>
            <a:r>
              <a:rPr lang="tr-TR" sz="1200" kern="1200" baseline="0" dirty="0" smtClean="0">
                <a:solidFill>
                  <a:schemeClr val="tx1"/>
                </a:solidFill>
                <a:effectLst/>
                <a:latin typeface="+mn-lt"/>
                <a:ea typeface="+mn-ea"/>
                <a:cs typeface="+mn-cs"/>
              </a:rPr>
              <a:t>ekleme noktası seçilen metnin kopyalanacağı veya taşınacağı yere konur. Bu nokta aynı belge içerisinde olabileceği gibi farklı bir belgede de olabilir. Ekleme noktası konulduktan sonra kopyalama veya kesme komutunun kullanıldığı üç yoldan biriyle yapıştırma işlemi yapılır.</a:t>
            </a:r>
          </a:p>
          <a:p>
            <a:r>
              <a:rPr lang="tr-TR" sz="1200" kern="1200" baseline="0" dirty="0" smtClean="0">
                <a:solidFill>
                  <a:schemeClr val="tx1"/>
                </a:solidFill>
                <a:effectLst/>
                <a:latin typeface="+mn-lt"/>
                <a:ea typeface="+mn-ea"/>
                <a:cs typeface="+mn-cs"/>
              </a:rPr>
              <a:t>Belge içerisinde silme işlemi yapmak için de önce sileceğimiz metin veya nesneyi seçmemiz gerekiyor. Seçim işlemini yaptıktan sonra klavyeden </a:t>
            </a:r>
          </a:p>
          <a:p>
            <a:r>
              <a:rPr lang="tr-TR" sz="1200" b="1" dirty="0" err="1" smtClean="0"/>
              <a:t>Delete</a:t>
            </a:r>
            <a:endParaRPr lang="tr-TR" sz="1200" b="1" dirty="0" smtClean="0"/>
          </a:p>
          <a:p>
            <a:r>
              <a:rPr lang="tr-TR" sz="1200" b="1" dirty="0" smtClean="0"/>
              <a:t>Geri (</a:t>
            </a:r>
            <a:r>
              <a:rPr lang="tr-TR" sz="1200" b="1" dirty="0" err="1" smtClean="0"/>
              <a:t>Backspace</a:t>
            </a:r>
            <a:r>
              <a:rPr lang="tr-TR" sz="1200" b="1" dirty="0" smtClean="0"/>
              <a:t>)</a:t>
            </a:r>
            <a:r>
              <a:rPr lang="tr-TR" sz="1200" dirty="0" smtClean="0"/>
              <a:t> tuşları kullanılarak</a:t>
            </a:r>
            <a:r>
              <a:rPr lang="tr-TR" sz="1200" baseline="0" dirty="0" smtClean="0"/>
              <a:t> seçilen metin veya nesne silinir. </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Birçok</a:t>
            </a:r>
            <a:r>
              <a:rPr lang="tr-TR" baseline="0" dirty="0" smtClean="0"/>
              <a:t> durumda belgeleri oluşturduktan sonra içerisinden bazı sözcükleri bulup onlara ilaveler yapmak veya bu sözcükleri değiştirme ihtiyacı duyabiliriz. Bu durumda b</a:t>
            </a:r>
            <a:r>
              <a:rPr lang="tr-TR" sz="1200" dirty="0" smtClean="0"/>
              <a:t>elge içerisinde sözcük öbeği aramak ve değiştirmek için</a:t>
            </a:r>
          </a:p>
          <a:p>
            <a:pPr marL="342900" indent="-342900">
              <a:buFont typeface="+mj-lt"/>
              <a:buAutoNum type="arabicPeriod"/>
            </a:pPr>
            <a:r>
              <a:rPr lang="tr-TR" sz="1200" b="1" dirty="0" smtClean="0"/>
              <a:t>Giriş</a:t>
            </a:r>
            <a:r>
              <a:rPr lang="tr-TR" sz="1200" dirty="0" smtClean="0"/>
              <a:t> sekmesi &gt; </a:t>
            </a:r>
            <a:r>
              <a:rPr lang="tr-TR" sz="1200" b="1" dirty="0" smtClean="0"/>
              <a:t>Düzenleme Komut Grubu&gt; Bul </a:t>
            </a:r>
            <a:r>
              <a:rPr lang="tr-TR" sz="1200" dirty="0" smtClean="0"/>
              <a:t>komutuna veya</a:t>
            </a:r>
          </a:p>
          <a:p>
            <a:pPr marL="342900" indent="-342900">
              <a:buFont typeface="+mj-lt"/>
              <a:buAutoNum type="arabicPeriod"/>
            </a:pPr>
            <a:r>
              <a:rPr lang="tr-TR" sz="1200" b="1" dirty="0" smtClean="0"/>
              <a:t>Giriş</a:t>
            </a:r>
            <a:r>
              <a:rPr lang="tr-TR" sz="1200" dirty="0" smtClean="0"/>
              <a:t> sekmesi &gt; </a:t>
            </a:r>
            <a:r>
              <a:rPr lang="tr-TR" sz="1200" b="1" dirty="0" smtClean="0"/>
              <a:t>Düzenleme Komut Grubu&gt; Gelişmiş Bul </a:t>
            </a:r>
            <a:r>
              <a:rPr lang="tr-TR" sz="1200" dirty="0" smtClean="0"/>
              <a:t>komutunu</a:t>
            </a:r>
            <a:r>
              <a:rPr lang="tr-TR" sz="1200" baseline="0" dirty="0" smtClean="0"/>
              <a:t> kullanırız. Bul komutuna tıkladığımızda belgenin solunda Gezinti Bölmesi görünür. Ara kutusuna aradığımız kelimeyi yazarsak belge içerisinde aradığımız kelimenin vurgu rengi sarı olur. /Eğer arama seçeneklerini genişletmek ve belli biçimdeki metinleri bulmak istersek Gelişmiş Bul komutunu kullanmalıyız. Açılan Bul ve Değiştir iletişim penceresinde aranan kutusuna arayacağımız anahtar kelimeyi girmemiz, sonra da  Sonrakini Bul komutuna tıklamalıyız. /Sadece aranan sözcük değil onun özel bir biçimini bulmak için Tüm Seçenekler komutuna tıklamamız gerekir.</a:t>
            </a:r>
            <a:endParaRPr lang="tr-TR" sz="1200" dirty="0" smtClean="0"/>
          </a:p>
          <a:p>
            <a:r>
              <a:rPr lang="tr-TR" sz="1200" dirty="0" smtClean="0"/>
              <a:t>Bazı durumlarda</a:t>
            </a:r>
            <a:r>
              <a:rPr lang="tr-TR" sz="1200" baseline="0" dirty="0" smtClean="0"/>
              <a:t> sadece sözcüğü bulmak değil bunları değiştirmek isteyebiliriz. </a:t>
            </a:r>
            <a:r>
              <a:rPr lang="tr-TR" sz="1200" dirty="0" smtClean="0"/>
              <a:t>Belge içerisinde sözcük öbeği aramak ve değiştirmek için</a:t>
            </a:r>
          </a:p>
          <a:p>
            <a:pPr marL="342900" indent="-342900">
              <a:buFont typeface="+mj-lt"/>
              <a:buAutoNum type="arabicPeriod"/>
            </a:pPr>
            <a:r>
              <a:rPr lang="tr-TR" sz="1200" b="1" dirty="0" smtClean="0"/>
              <a:t>Giriş</a:t>
            </a:r>
            <a:r>
              <a:rPr lang="tr-TR" sz="1200" dirty="0" smtClean="0"/>
              <a:t> sekmesi &gt; </a:t>
            </a:r>
            <a:r>
              <a:rPr lang="tr-TR" sz="1200" b="1" dirty="0" smtClean="0"/>
              <a:t>Düzenleme Komut Grubunda&gt; Değiştir </a:t>
            </a:r>
            <a:r>
              <a:rPr lang="tr-TR" sz="1200" dirty="0" smtClean="0"/>
              <a:t>komutuna</a:t>
            </a:r>
            <a:r>
              <a:rPr lang="tr-TR" sz="1200" baseline="0" dirty="0" smtClean="0"/>
              <a:t> tıklamalıyız. Buradan Bul ve Değiştir iletişim penceresi açılır. Burada aranan kutusuna arayacağımız anahtar kelimeyi Yeni değer kutusuna değiştirmek istediğim sözcüğü girilmemiz ve Değiştir veya Tümünü Değiştir komutuna tıklamalıyız.</a:t>
            </a:r>
            <a:endParaRPr lang="tr-TR" sz="1200" dirty="0" smtClean="0"/>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10</a:t>
            </a:fld>
            <a:endParaRPr lang="tr-TR"/>
          </a:p>
        </p:txBody>
      </p:sp>
    </p:spTree>
    <p:extLst>
      <p:ext uri="{BB962C8B-B14F-4D97-AF65-F5344CB8AC3E}">
        <p14:creationId xmlns:p14="http://schemas.microsoft.com/office/powerpoint/2010/main" val="953275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18.10.2011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18.10.2011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18.10.2011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18.10.2011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18.10.2011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18.10.2011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18.10.2011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18.10.2011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18.10.2011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18.10.2011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18.10.2011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image" Target="../media/image2.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image" Target="../media/image1.wmf"/><Relationship Id="rId5" Type="http://schemas.openxmlformats.org/officeDocument/2006/relationships/tags" Target="../tags/tag39.xml"/><Relationship Id="rId10" Type="http://schemas.openxmlformats.org/officeDocument/2006/relationships/notesSlide" Target="../notesSlides/notesSlide1.xml"/><Relationship Id="rId4" Type="http://schemas.openxmlformats.org/officeDocument/2006/relationships/tags" Target="../tags/tag38.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tags" Target="../tags/tag45.xml"/><Relationship Id="rId7" Type="http://schemas.openxmlformats.org/officeDocument/2006/relationships/notesSlide" Target="../notesSlides/notesSlide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Layout" Target="../slideLayouts/slideLayout2.xml"/><Relationship Id="rId5" Type="http://schemas.openxmlformats.org/officeDocument/2006/relationships/tags" Target="../tags/tag47.xml"/><Relationship Id="rId4" Type="http://schemas.openxmlformats.org/officeDocument/2006/relationships/tags" Target="../tags/tag46.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10" Type="http://schemas.openxmlformats.org/officeDocument/2006/relationships/image" Target="../media/image4.png"/><Relationship Id="rId4" Type="http://schemas.openxmlformats.org/officeDocument/2006/relationships/tags" Target="../tags/tag5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media/image5.png"/><Relationship Id="rId5" Type="http://schemas.openxmlformats.org/officeDocument/2006/relationships/tags" Target="../tags/tag59.xml"/><Relationship Id="rId10" Type="http://schemas.openxmlformats.org/officeDocument/2006/relationships/notesSlide" Target="../notesSlides/notesSlide4.xml"/><Relationship Id="rId4" Type="http://schemas.openxmlformats.org/officeDocument/2006/relationships/tags" Target="../tags/tag58.xml"/><Relationship Id="rId9"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tags" Target="../tags/tag70.xml"/><Relationship Id="rId13" Type="http://schemas.openxmlformats.org/officeDocument/2006/relationships/image" Target="../media/image7.png"/><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image" Target="../media/image6.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notesSlide" Target="../notesSlides/notesSlide5.xml"/><Relationship Id="rId5" Type="http://schemas.openxmlformats.org/officeDocument/2006/relationships/tags" Target="../tags/tag67.xml"/><Relationship Id="rId10" Type="http://schemas.openxmlformats.org/officeDocument/2006/relationships/slideLayout" Target="../slideLayouts/slideLayout13.xml"/><Relationship Id="rId4" Type="http://schemas.openxmlformats.org/officeDocument/2006/relationships/tags" Target="../tags/tag66.xml"/><Relationship Id="rId9" Type="http://schemas.openxmlformats.org/officeDocument/2006/relationships/tags" Target="../tags/tag71.xml"/></Relationships>
</file>

<file path=ppt/slides/_rels/slide6.xml.rels><?xml version="1.0" encoding="UTF-8" standalone="yes"?>
<Relationships xmlns="http://schemas.openxmlformats.org/package/2006/relationships"><Relationship Id="rId8" Type="http://schemas.openxmlformats.org/officeDocument/2006/relationships/tags" Target="../tags/tag79.xml"/><Relationship Id="rId13" Type="http://schemas.openxmlformats.org/officeDocument/2006/relationships/notesSlide" Target="../notesSlides/notesSlide6.xml"/><Relationship Id="rId3" Type="http://schemas.openxmlformats.org/officeDocument/2006/relationships/tags" Target="../tags/tag74.xml"/><Relationship Id="rId7" Type="http://schemas.openxmlformats.org/officeDocument/2006/relationships/tags" Target="../tags/tag78.xml"/><Relationship Id="rId12" Type="http://schemas.openxmlformats.org/officeDocument/2006/relationships/slideLayout" Target="../slideLayouts/slideLayout13.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11" Type="http://schemas.openxmlformats.org/officeDocument/2006/relationships/tags" Target="../tags/tag82.xml"/><Relationship Id="rId5" Type="http://schemas.openxmlformats.org/officeDocument/2006/relationships/tags" Target="../tags/tag76.xml"/><Relationship Id="rId10" Type="http://schemas.openxmlformats.org/officeDocument/2006/relationships/tags" Target="../tags/tag81.xml"/><Relationship Id="rId4" Type="http://schemas.openxmlformats.org/officeDocument/2006/relationships/tags" Target="../tags/tag75.xml"/><Relationship Id="rId9" Type="http://schemas.openxmlformats.org/officeDocument/2006/relationships/tags" Target="../tags/tag80.xml"/></Relationships>
</file>

<file path=ppt/slides/_rels/slide7.xml.rels><?xml version="1.0" encoding="UTF-8" standalone="yes"?>
<Relationships xmlns="http://schemas.openxmlformats.org/package/2006/relationships"><Relationship Id="rId8" Type="http://schemas.openxmlformats.org/officeDocument/2006/relationships/tags" Target="../tags/tag90.xml"/><Relationship Id="rId3" Type="http://schemas.openxmlformats.org/officeDocument/2006/relationships/tags" Target="../tags/tag85.xml"/><Relationship Id="rId7" Type="http://schemas.openxmlformats.org/officeDocument/2006/relationships/tags" Target="../tags/tag89.xml"/><Relationship Id="rId12" Type="http://schemas.openxmlformats.org/officeDocument/2006/relationships/image" Target="../media/image8.png"/><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11" Type="http://schemas.openxmlformats.org/officeDocument/2006/relationships/notesSlide" Target="../notesSlides/notesSlide7.xml"/><Relationship Id="rId5" Type="http://schemas.openxmlformats.org/officeDocument/2006/relationships/tags" Target="../tags/tag87.xml"/><Relationship Id="rId10" Type="http://schemas.openxmlformats.org/officeDocument/2006/relationships/slideLayout" Target="../slideLayouts/slideLayout13.xml"/><Relationship Id="rId4" Type="http://schemas.openxmlformats.org/officeDocument/2006/relationships/tags" Target="../tags/tag86.xml"/><Relationship Id="rId9" Type="http://schemas.openxmlformats.org/officeDocument/2006/relationships/tags" Target="../tags/tag91.xml"/></Relationships>
</file>

<file path=ppt/slides/_rels/slide8.xml.rels><?xml version="1.0" encoding="UTF-8" standalone="yes"?>
<Relationships xmlns="http://schemas.openxmlformats.org/package/2006/relationships"><Relationship Id="rId8" Type="http://schemas.openxmlformats.org/officeDocument/2006/relationships/tags" Target="../tags/tag99.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image" Target="../media/image10.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image" Target="../media/image9.png"/><Relationship Id="rId5" Type="http://schemas.openxmlformats.org/officeDocument/2006/relationships/tags" Target="../tags/tag96.xml"/><Relationship Id="rId10" Type="http://schemas.openxmlformats.org/officeDocument/2006/relationships/notesSlide" Target="../notesSlides/notesSlide8.xml"/><Relationship Id="rId4" Type="http://schemas.openxmlformats.org/officeDocument/2006/relationships/tags" Target="../tags/tag95.xml"/><Relationship Id="rId9"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7.xml"/><Relationship Id="rId13" Type="http://schemas.openxmlformats.org/officeDocument/2006/relationships/image" Target="../media/image11.jpeg"/><Relationship Id="rId3" Type="http://schemas.openxmlformats.org/officeDocument/2006/relationships/tags" Target="../tags/tag102.xml"/><Relationship Id="rId7" Type="http://schemas.openxmlformats.org/officeDocument/2006/relationships/tags" Target="../tags/tag106.xml"/><Relationship Id="rId12" Type="http://schemas.openxmlformats.org/officeDocument/2006/relationships/notesSlide" Target="../notesSlides/notesSlide9.xml"/><Relationship Id="rId2" Type="http://schemas.openxmlformats.org/officeDocument/2006/relationships/tags" Target="../tags/tag101.xml"/><Relationship Id="rId16" Type="http://schemas.openxmlformats.org/officeDocument/2006/relationships/image" Target="../media/image14.png"/><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slideLayout" Target="../slideLayouts/slideLayout13.xml"/><Relationship Id="rId5" Type="http://schemas.openxmlformats.org/officeDocument/2006/relationships/tags" Target="../tags/tag104.xml"/><Relationship Id="rId15" Type="http://schemas.openxmlformats.org/officeDocument/2006/relationships/image" Target="../media/image13.jpeg"/><Relationship Id="rId10" Type="http://schemas.openxmlformats.org/officeDocument/2006/relationships/tags" Target="../tags/tag109.xml"/><Relationship Id="rId4" Type="http://schemas.openxmlformats.org/officeDocument/2006/relationships/tags" Target="../tags/tag103.xml"/><Relationship Id="rId9" Type="http://schemas.openxmlformats.org/officeDocument/2006/relationships/tags" Target="../tags/tag108.xml"/><Relationship Id="rId14" Type="http://schemas.openxmlformats.org/officeDocument/2006/relationships/image" Target="../media/image12.jpeg"/></Relationships>
</file>

<file path=ppt/slides/_rels/slide10.xml.rels><?xml version="1.0" encoding="UTF-8" standalone="yes"?>
<Relationships xmlns="http://schemas.openxmlformats.org/package/2006/relationships"><Relationship Id="rId8" Type="http://schemas.openxmlformats.org/officeDocument/2006/relationships/tags" Target="../tags/tag117.xml"/><Relationship Id="rId13" Type="http://schemas.openxmlformats.org/officeDocument/2006/relationships/image" Target="../media/image17.png"/><Relationship Id="rId3" Type="http://schemas.openxmlformats.org/officeDocument/2006/relationships/tags" Target="../tags/tag112.xml"/><Relationship Id="rId7" Type="http://schemas.openxmlformats.org/officeDocument/2006/relationships/tags" Target="../tags/tag116.xml"/><Relationship Id="rId12" Type="http://schemas.openxmlformats.org/officeDocument/2006/relationships/image" Target="../media/image16.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image" Target="../media/image15.png"/><Relationship Id="rId5" Type="http://schemas.openxmlformats.org/officeDocument/2006/relationships/tags" Target="../tags/tag114.xml"/><Relationship Id="rId10" Type="http://schemas.openxmlformats.org/officeDocument/2006/relationships/notesSlide" Target="../notesSlides/notesSlide10.xml"/><Relationship Id="rId4" Type="http://schemas.openxmlformats.org/officeDocument/2006/relationships/tags" Target="../tags/tag113.xml"/><Relationship Id="rId9" Type="http://schemas.openxmlformats.org/officeDocument/2006/relationships/slideLayout" Target="../slideLayouts/slideLayout13.xml"/><Relationship Id="rId1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11"/>
          <a:stretch>
            <a:fillRect/>
          </a:stretch>
        </p:blipFill>
        <p:spPr>
          <a:xfrm>
            <a:off x="189107" y="4572000"/>
            <a:ext cx="8765785" cy="2188205"/>
          </a:xfrm>
          <a:prstGeom prst="rect">
            <a:avLst/>
          </a:prstGeom>
          <a:noFill/>
          <a:ln>
            <a:noFill/>
          </a:ln>
        </p:spPr>
      </p:pic>
      <p:sp>
        <p:nvSpPr>
          <p:cNvPr id="7" name="Dikdörtgen 6"/>
          <p:cNvSpPr/>
          <p:nvPr>
            <p:custDataLst>
              <p:tags r:id="rId2"/>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3"/>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4"/>
            </p:custDataLst>
          </p:nvPr>
        </p:nvSpPr>
        <p:spPr>
          <a:xfrm>
            <a:off x="0" y="2827491"/>
            <a:ext cx="7696200"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Kelime İşlemci Word </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5"/>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6"/>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a:t>
            </a:r>
            <a:r>
              <a:rPr lang="tr-TR" sz="1600" i="1" dirty="0" smtClean="0">
                <a:solidFill>
                  <a:schemeClr val="bg1"/>
                </a:solidFill>
              </a:rPr>
              <a:t>. Gör. Mustafa YILMAZ</a:t>
            </a:r>
            <a:endParaRPr lang="tr-TR" sz="1600" i="1" dirty="0">
              <a:solidFill>
                <a:schemeClr val="bg1"/>
              </a:solidFill>
            </a:endParaRPr>
          </a:p>
        </p:txBody>
      </p:sp>
      <p:sp>
        <p:nvSpPr>
          <p:cNvPr id="9" name="Dikdörtgen 8"/>
          <p:cNvSpPr/>
          <p:nvPr>
            <p:custDataLst>
              <p:tags r:id="rId7"/>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Metin kutusu 9"/>
          <p:cNvSpPr txBox="1"/>
          <p:nvPr>
            <p:custDataLst>
              <p:tags r:id="rId8"/>
            </p:custDataLst>
          </p:nvPr>
        </p:nvSpPr>
        <p:spPr>
          <a:xfrm>
            <a:off x="6045933" y="6629400"/>
            <a:ext cx="2678938" cy="261610"/>
          </a:xfrm>
          <a:prstGeom prst="rect">
            <a:avLst/>
          </a:prstGeom>
          <a:noFill/>
        </p:spPr>
        <p:txBody>
          <a:bodyPr wrap="none" rtlCol="0">
            <a:spAutoFit/>
          </a:bodyPr>
          <a:lstStyle/>
          <a:p>
            <a:r>
              <a:rPr lang="tr-TR" sz="1100" i="1" dirty="0" smtClean="0">
                <a:latin typeface="Calibri" pitchFamily="34" charset="0"/>
                <a:cs typeface="Calibri" pitchFamily="34" charset="0"/>
              </a:rPr>
              <a:t>Bilgisayar ve Bilişim Bilimleri Fakültesi</a:t>
            </a:r>
            <a:r>
              <a:rPr lang="tr-TR" sz="1100" i="1" smtClean="0">
                <a:latin typeface="Calibri" pitchFamily="34" charset="0"/>
                <a:cs typeface="Calibri" pitchFamily="34" charset="0"/>
              </a:rPr>
              <a:t>| YBS </a:t>
            </a:r>
            <a:endParaRPr lang="tr-TR" sz="1100" i="1" dirty="0">
              <a:latin typeface="Calibri" pitchFamily="34" charset="0"/>
              <a:cs typeface="Calibri" pitchFamily="34" charset="0"/>
            </a:endParaRPr>
          </a:p>
        </p:txBody>
      </p:sp>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431" y="2872952"/>
            <a:ext cx="1587569" cy="162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1524000"/>
            <a:ext cx="6096000" cy="3453762"/>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1599658"/>
            <a:ext cx="6096000" cy="3378104"/>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a:t>
            </a:r>
            <a:r>
              <a:rPr lang="tr-TR" sz="1600" dirty="0">
                <a:solidFill>
                  <a:schemeClr val="tx1">
                    <a:lumMod val="75000"/>
                    <a:lumOff val="25000"/>
                  </a:schemeClr>
                </a:solidFill>
                <a:latin typeface="Calibri" pitchFamily="34" charset="0"/>
                <a:cs typeface="Calibri" pitchFamily="34" charset="0"/>
              </a:rPr>
              <a:t>Word belgesine metin ekler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Word </a:t>
            </a:r>
            <a:r>
              <a:rPr lang="tr-TR" sz="1600" dirty="0">
                <a:solidFill>
                  <a:schemeClr val="tx1">
                    <a:lumMod val="75000"/>
                    <a:lumOff val="25000"/>
                  </a:schemeClr>
                </a:solidFill>
                <a:latin typeface="Calibri" pitchFamily="34" charset="0"/>
                <a:cs typeface="Calibri" pitchFamily="34" charset="0"/>
              </a:rPr>
              <a:t>belgesine simge ekler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Word </a:t>
            </a:r>
            <a:r>
              <a:rPr lang="tr-TR" sz="1600" dirty="0">
                <a:solidFill>
                  <a:schemeClr val="tx1">
                    <a:lumMod val="75000"/>
                    <a:lumOff val="25000"/>
                  </a:schemeClr>
                </a:solidFill>
                <a:latin typeface="Calibri" pitchFamily="34" charset="0"/>
                <a:cs typeface="Calibri" pitchFamily="34" charset="0"/>
              </a:rPr>
              <a:t>belgesinde seçim yapar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Belgeye </a:t>
            </a:r>
            <a:r>
              <a:rPr lang="tr-TR" sz="1600" dirty="0">
                <a:solidFill>
                  <a:schemeClr val="tx1">
                    <a:lumMod val="75000"/>
                    <a:lumOff val="25000"/>
                  </a:schemeClr>
                </a:solidFill>
                <a:latin typeface="Calibri" pitchFamily="34" charset="0"/>
                <a:cs typeface="Calibri" pitchFamily="34" charset="0"/>
              </a:rPr>
              <a:t>girilmiş veriler arasına karakter ve sözcük ekleme veya metin üzerine yazma gibi düzenlemeleri yapar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 </a:t>
            </a:r>
            <a:r>
              <a:rPr lang="tr-TR" sz="1600" dirty="0">
                <a:solidFill>
                  <a:schemeClr val="tx1">
                    <a:lumMod val="75000"/>
                    <a:lumOff val="25000"/>
                  </a:schemeClr>
                </a:solidFill>
                <a:latin typeface="Calibri" pitchFamily="34" charset="0"/>
                <a:cs typeface="Calibri" pitchFamily="34" charset="0"/>
              </a:rPr>
              <a:t>üzerinde yaptığı düzenlemeleri geri alır veya tekrar yapar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 </a:t>
            </a:r>
            <a:r>
              <a:rPr lang="tr-TR" sz="1600" dirty="0">
                <a:solidFill>
                  <a:schemeClr val="tx1">
                    <a:lumMod val="75000"/>
                    <a:lumOff val="25000"/>
                  </a:schemeClr>
                </a:solidFill>
                <a:latin typeface="Calibri" pitchFamily="34" charset="0"/>
                <a:cs typeface="Calibri" pitchFamily="34" charset="0"/>
              </a:rPr>
              <a:t>içinde ve belgeler arasında metin ve nesneleri kopyalama, taşıma ve silme işlemlerini yapar.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 </a:t>
            </a:r>
            <a:r>
              <a:rPr lang="tr-TR" sz="1600" dirty="0">
                <a:solidFill>
                  <a:schemeClr val="tx1">
                    <a:lumMod val="75000"/>
                    <a:lumOff val="25000"/>
                  </a:schemeClr>
                </a:solidFill>
                <a:latin typeface="Calibri" pitchFamily="34" charset="0"/>
                <a:cs typeface="Calibri" pitchFamily="34" charset="0"/>
              </a:rPr>
              <a:t>içerisinde sözcük öbeği arama ve değiştirme yapar</a:t>
            </a: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2"/>
            </p:custDataLst>
          </p:nvPr>
        </p:nvSpPr>
        <p:spPr>
          <a:xfrm>
            <a:off x="457200" y="2362200"/>
            <a:ext cx="4114800" cy="3124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5" name="Dikdörtgen 4"/>
          <p:cNvSpPr/>
          <p:nvPr>
            <p:custDataLst>
              <p:tags r:id="rId3"/>
            </p:custDataLst>
          </p:nvPr>
        </p:nvSpPr>
        <p:spPr>
          <a:xfrm>
            <a:off x="457200" y="1826156"/>
            <a:ext cx="41148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4"/>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5"/>
            </p:custDataLst>
          </p:nvPr>
        </p:nvSpPr>
        <p:spPr>
          <a:xfrm>
            <a:off x="457200" y="2362199"/>
            <a:ext cx="4114800" cy="3048001"/>
          </a:xfrm>
          <a:prstGeom prst="rect">
            <a:avLst/>
          </a:prstGeom>
        </p:spPr>
        <p:txBody>
          <a:bodyPr>
            <a:normAutofit fontScale="47500" lnSpcReduction="20000"/>
          </a:bodyPr>
          <a:lstStyle/>
          <a:p>
            <a:pPr marL="0" lvl="1" indent="0">
              <a:buFont typeface="Arial" pitchFamily="34" charset="0"/>
              <a:buNone/>
            </a:pPr>
            <a:endParaRPr lang="tr-TR" sz="1200" b="1" dirty="0">
              <a:latin typeface="Calibri" pitchFamily="34" charset="0"/>
              <a:cs typeface="Calibri" pitchFamily="34" charset="0"/>
            </a:endParaRPr>
          </a:p>
          <a:p>
            <a:pPr marL="265113" lvl="1" indent="-265113">
              <a:buFont typeface="Arial" pitchFamily="34" charset="0"/>
              <a:buNone/>
            </a:pPr>
            <a:r>
              <a:rPr lang="tr-TR" sz="1600" dirty="0">
                <a:latin typeface="Calibri" pitchFamily="34" charset="0"/>
                <a:cs typeface="Calibri" pitchFamily="34" charset="0"/>
              </a:rPr>
              <a:t>3.2	Temel İşlemler</a:t>
            </a:r>
          </a:p>
          <a:p>
            <a:pPr marL="446088" lvl="1" indent="-265113">
              <a:buFont typeface="Arial" pitchFamily="34" charset="0"/>
              <a:buNone/>
            </a:pPr>
            <a:r>
              <a:rPr lang="tr-TR" sz="1600" dirty="0">
                <a:latin typeface="Calibri" pitchFamily="34" charset="0"/>
                <a:cs typeface="Calibri" pitchFamily="34" charset="0"/>
              </a:rPr>
              <a:t>3.2.1	Veri Eklemek</a:t>
            </a:r>
          </a:p>
          <a:p>
            <a:pPr marL="627063" lvl="1" indent="-349250">
              <a:buFont typeface="Arial" pitchFamily="34" charset="0"/>
              <a:buNone/>
            </a:pPr>
            <a:r>
              <a:rPr lang="tr-TR" sz="1600" dirty="0">
                <a:latin typeface="Calibri" pitchFamily="34" charset="0"/>
                <a:cs typeface="Calibri" pitchFamily="34" charset="0"/>
              </a:rPr>
              <a:t>3.2.1.1	Metin ekleme.</a:t>
            </a:r>
          </a:p>
          <a:p>
            <a:pPr marL="627063" lvl="1" indent="-349250">
              <a:buFont typeface="Arial" pitchFamily="34" charset="0"/>
              <a:buNone/>
            </a:pPr>
            <a:r>
              <a:rPr lang="tr-TR" sz="1600" dirty="0">
                <a:latin typeface="Calibri" pitchFamily="34" charset="0"/>
                <a:cs typeface="Calibri" pitchFamily="34" charset="0"/>
              </a:rPr>
              <a:t>3.2.1.2	Özel karakter, simge ekleme.</a:t>
            </a:r>
          </a:p>
          <a:p>
            <a:pPr marL="446088" lvl="1" indent="-265113">
              <a:buFont typeface="Arial" pitchFamily="34" charset="0"/>
              <a:buNone/>
            </a:pPr>
            <a:r>
              <a:rPr lang="tr-TR" sz="1600" dirty="0">
                <a:latin typeface="Calibri" pitchFamily="34" charset="0"/>
                <a:cs typeface="Calibri" pitchFamily="34" charset="0"/>
              </a:rPr>
              <a:t>3.2.2	Veri Seçmek</a:t>
            </a:r>
          </a:p>
          <a:p>
            <a:pPr marL="627063" lvl="1" indent="-361950">
              <a:buFont typeface="Arial" pitchFamily="34" charset="0"/>
              <a:buNone/>
            </a:pPr>
            <a:r>
              <a:rPr lang="tr-TR" sz="1600" dirty="0">
                <a:latin typeface="Calibri" pitchFamily="34" charset="0"/>
                <a:cs typeface="Calibri" pitchFamily="34" charset="0"/>
              </a:rPr>
              <a:t>3.2.2.1	Karakter, sözcük, satır, cümle, paragraf veya tüm metni seçmek.</a:t>
            </a:r>
          </a:p>
          <a:p>
            <a:pPr marL="446088" lvl="1" indent="-265113">
              <a:buFont typeface="Arial" pitchFamily="34" charset="0"/>
              <a:buNone/>
            </a:pPr>
            <a:r>
              <a:rPr lang="tr-TR" sz="1600" dirty="0">
                <a:latin typeface="Calibri" pitchFamily="34" charset="0"/>
                <a:cs typeface="Calibri" pitchFamily="34" charset="0"/>
              </a:rPr>
              <a:t>3.2.3	Veri Düzenlemek</a:t>
            </a:r>
          </a:p>
          <a:p>
            <a:pPr marL="627063" lvl="1" indent="-361950">
              <a:buFont typeface="Arial" pitchFamily="34" charset="0"/>
              <a:buNone/>
            </a:pPr>
            <a:r>
              <a:rPr lang="tr-TR" sz="1600" dirty="0">
                <a:latin typeface="Calibri" pitchFamily="34" charset="0"/>
                <a:cs typeface="Calibri" pitchFamily="34" charset="0"/>
              </a:rPr>
              <a:t>3.2.3.1	Araya yeni karakter ekleme, metin içerisine yeni sözcük ekleme veya var olan metnin üzerine yazmak.</a:t>
            </a:r>
          </a:p>
          <a:p>
            <a:pPr marL="627063" lvl="1" indent="-361950">
              <a:buFont typeface="Arial" pitchFamily="34" charset="0"/>
              <a:buNone/>
            </a:pPr>
            <a:r>
              <a:rPr lang="tr-TR" sz="1600" dirty="0">
                <a:latin typeface="Calibri" pitchFamily="34" charset="0"/>
                <a:cs typeface="Calibri" pitchFamily="34" charset="0"/>
              </a:rPr>
              <a:t>3.2.3.2	Geri almak veya tekrar yapmak.</a:t>
            </a:r>
          </a:p>
          <a:p>
            <a:pPr marL="446088" lvl="1" indent="-265113">
              <a:buFont typeface="Arial" pitchFamily="34" charset="0"/>
              <a:buNone/>
            </a:pPr>
            <a:r>
              <a:rPr lang="tr-TR" sz="1600" dirty="0">
                <a:latin typeface="Calibri" pitchFamily="34" charset="0"/>
                <a:cs typeface="Calibri" pitchFamily="34" charset="0"/>
              </a:rPr>
              <a:t>3.2.4	Benzerini oluşturmak, Taşımak veya Silmek</a:t>
            </a:r>
          </a:p>
          <a:p>
            <a:pPr marL="627063" lvl="1" indent="-361950">
              <a:buFont typeface="Arial" pitchFamily="34" charset="0"/>
              <a:buNone/>
            </a:pPr>
            <a:r>
              <a:rPr lang="tr-TR" sz="1600" dirty="0">
                <a:latin typeface="Calibri" pitchFamily="34" charset="0"/>
                <a:cs typeface="Calibri" pitchFamily="34" charset="0"/>
              </a:rPr>
              <a:t>3.2.4.1	Metin parçasının belge içerisinde veya açık belgeler arasında kopyasının oluşturulması.</a:t>
            </a:r>
          </a:p>
          <a:p>
            <a:pPr marL="627063" lvl="1" indent="-361950">
              <a:buFont typeface="Arial" pitchFamily="34" charset="0"/>
              <a:buNone/>
            </a:pPr>
            <a:r>
              <a:rPr lang="tr-TR" sz="1600" dirty="0">
                <a:latin typeface="Calibri" pitchFamily="34" charset="0"/>
                <a:cs typeface="Calibri" pitchFamily="34" charset="0"/>
              </a:rPr>
              <a:t>3.2.4.2	Metin parçasının belge içerisinde veya açık belgeler arasında taşınması.</a:t>
            </a:r>
          </a:p>
          <a:p>
            <a:pPr marL="627063" lvl="1" indent="-361950">
              <a:buFont typeface="Arial" pitchFamily="34" charset="0"/>
              <a:buNone/>
            </a:pPr>
            <a:r>
              <a:rPr lang="tr-TR" sz="1600" dirty="0">
                <a:latin typeface="Calibri" pitchFamily="34" charset="0"/>
                <a:cs typeface="Calibri" pitchFamily="34" charset="0"/>
              </a:rPr>
              <a:t>3.2.4.3	Metni veya bir parçasını silmek.</a:t>
            </a:r>
          </a:p>
          <a:p>
            <a:pPr marL="446088" lvl="1" indent="-265113">
              <a:buFont typeface="Arial" pitchFamily="34" charset="0"/>
              <a:buNone/>
            </a:pPr>
            <a:r>
              <a:rPr lang="tr-TR" sz="1600" dirty="0">
                <a:latin typeface="Calibri" pitchFamily="34" charset="0"/>
                <a:cs typeface="Calibri" pitchFamily="34" charset="0"/>
              </a:rPr>
              <a:t>3.2.5	Arama ve Değiştirme</a:t>
            </a:r>
          </a:p>
          <a:p>
            <a:pPr marL="627063" lvl="1" indent="-361950">
              <a:buFont typeface="Arial" pitchFamily="34" charset="0"/>
              <a:buNone/>
            </a:pPr>
            <a:r>
              <a:rPr lang="tr-TR" sz="1600" dirty="0">
                <a:latin typeface="Calibri" pitchFamily="34" charset="0"/>
                <a:cs typeface="Calibri" pitchFamily="34" charset="0"/>
              </a:rPr>
              <a:t>3.2.5.1	Sözcük öbeği veya sözce için arama komutu kullanımı.</a:t>
            </a:r>
          </a:p>
          <a:p>
            <a:pPr marL="627063" lvl="1" indent="-361950">
              <a:buFont typeface="Arial" pitchFamily="34" charset="0"/>
              <a:buNone/>
            </a:pPr>
            <a:r>
              <a:rPr lang="tr-TR" sz="1600" dirty="0">
                <a:latin typeface="Calibri" pitchFamily="34" charset="0"/>
                <a:cs typeface="Calibri" pitchFamily="34" charset="0"/>
              </a:rPr>
              <a:t>3.2.5.2	Sözcük öbeği veya sözce için değiştirme komutu kullanımı.</a:t>
            </a:r>
          </a:p>
        </p:txBody>
      </p:sp>
      <p:sp>
        <p:nvSpPr>
          <p:cNvPr id="7" name="Metin kutusu 6"/>
          <p:cNvSpPr txBox="1"/>
          <p:nvPr>
            <p:custDataLst>
              <p:tags r:id="rId6"/>
            </p:custDataLst>
          </p:nvPr>
        </p:nvSpPr>
        <p:spPr>
          <a:xfrm>
            <a:off x="533400" y="1961881"/>
            <a:ext cx="2667000" cy="242631"/>
          </a:xfrm>
          <a:prstGeom prst="rect">
            <a:avLst/>
          </a:prstGeom>
          <a:noFill/>
        </p:spPr>
        <p:txBody>
          <a:bodyPr wrap="square" rtlCol="0">
            <a:spAutoFit/>
          </a:body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
        <p:nvSpPr>
          <p:cNvPr id="15" name="Slayt Numarası Yer Tutucusu 14"/>
          <p:cNvSpPr>
            <a:spLocks noGrp="1"/>
          </p:cNvSpPr>
          <p:nvPr>
            <p:ph type="sldNum" sz="quarter" idx="12"/>
            <p:custDataLst>
              <p:tags r:id="rId7"/>
            </p:custDataLst>
          </p:nvPr>
        </p:nvSpPr>
        <p:spPr/>
        <p:txBody>
          <a:bodyPr/>
          <a:lstStyle/>
          <a:p>
            <a:fld id="{C1FA2219-9131-49AD-A1B5-1FFD48A79E7F}" type="slidenum">
              <a:rPr lang="tr-TR" smtClean="0"/>
              <a:t>3</a:t>
            </a:fld>
            <a:endParaRPr lang="tr-TR"/>
          </a:p>
        </p:txBody>
      </p:sp>
      <p:pic>
        <p:nvPicPr>
          <p:cNvPr id="9" name="Resim 8" descr="C:\Users\YILMAZ\AppData\Local\Temp\SNAGHTML51bdf3.PNG"/>
          <p:cNvPicPr/>
          <p:nvPr/>
        </p:nvPicPr>
        <p:blipFill>
          <a:blip r:embed="rId10">
            <a:extLst>
              <a:ext uri="{28A0092B-C50C-407E-A947-70E740481C1C}">
                <a14:useLocalDpi xmlns:a14="http://schemas.microsoft.com/office/drawing/2010/main" val="0"/>
              </a:ext>
            </a:extLst>
          </a:blip>
          <a:srcRect/>
          <a:stretch>
            <a:fillRect/>
          </a:stretch>
        </p:blipFill>
        <p:spPr bwMode="auto">
          <a:xfrm>
            <a:off x="4678680" y="1295400"/>
            <a:ext cx="4465320" cy="4342130"/>
          </a:xfrm>
          <a:prstGeom prst="rect">
            <a:avLst/>
          </a:prstGeom>
          <a:noFill/>
          <a:ln>
            <a:noFill/>
          </a:ln>
        </p:spPr>
      </p:pic>
    </p:spTree>
    <p:custDataLst>
      <p:tags r:id="rId1"/>
    </p:custDataLst>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Metin Eklemek</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a:solidFill>
                  <a:schemeClr val="bg1"/>
                </a:solidFill>
              </a:rPr>
              <a:t>Word </a:t>
            </a:r>
            <a:r>
              <a:rPr lang="de-DE" sz="1400" b="1" dirty="0" err="1">
                <a:solidFill>
                  <a:schemeClr val="bg1"/>
                </a:solidFill>
              </a:rPr>
              <a:t>belgesine</a:t>
            </a:r>
            <a:r>
              <a:rPr lang="de-DE" sz="1400" b="1" dirty="0">
                <a:solidFill>
                  <a:schemeClr val="bg1"/>
                </a:solidFill>
              </a:rPr>
              <a:t> </a:t>
            </a:r>
            <a:r>
              <a:rPr lang="de-DE" sz="1400" b="1" dirty="0" err="1">
                <a:solidFill>
                  <a:schemeClr val="bg1"/>
                </a:solidFill>
              </a:rPr>
              <a:t>metin</a:t>
            </a:r>
            <a:r>
              <a:rPr lang="de-DE" sz="1400" b="1" dirty="0">
                <a:solidFill>
                  <a:schemeClr val="bg1"/>
                </a:solidFill>
              </a:rPr>
              <a:t> ekler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533400" y="1371600"/>
            <a:ext cx="7772400" cy="584775"/>
          </a:xfrm>
          <a:prstGeom prst="rect">
            <a:avLst/>
          </a:prstGeom>
          <a:noFill/>
        </p:spPr>
        <p:txBody>
          <a:bodyPr wrap="square" rtlCol="0">
            <a:spAutoFit/>
          </a:bodyPr>
          <a:lstStyle/>
          <a:p>
            <a:r>
              <a:rPr lang="tr-TR" sz="1600" dirty="0"/>
              <a:t>Bir Word belgesinde yazı yazmak </a:t>
            </a:r>
            <a:r>
              <a:rPr lang="tr-TR" sz="1600" dirty="0" smtClean="0"/>
              <a:t>için belgeye </a:t>
            </a:r>
            <a:r>
              <a:rPr lang="tr-TR" sz="1600" dirty="0"/>
              <a:t>tıklayın ve ekleme noktası yanıp sönmeye başladığında yazmaya başlayın. </a:t>
            </a:r>
            <a:r>
              <a:rPr lang="tr-TR" sz="1600" dirty="0" smtClean="0"/>
              <a:t>Yazdığınız metin ekleme noktasının solunda belirecektir.</a:t>
            </a:r>
            <a:endParaRPr lang="tr-TR" sz="1600" dirty="0"/>
          </a:p>
        </p:txBody>
      </p:sp>
      <p:pic>
        <p:nvPicPr>
          <p:cNvPr id="1026" name="Picture 2" descr="C:\Users\YILMAZ\AppData\Local\Temp\SNAGHTML43e6e6.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2297" y="2057400"/>
            <a:ext cx="7193606" cy="380711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9680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Simge </a:t>
            </a:r>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Eklemek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a:solidFill>
                  <a:schemeClr val="bg1"/>
                </a:solidFill>
              </a:rPr>
              <a:t>Word </a:t>
            </a:r>
            <a:r>
              <a:rPr lang="tr-TR" sz="1400" b="1" dirty="0" err="1" smtClean="0">
                <a:solidFill>
                  <a:schemeClr val="bg1"/>
                </a:solidFill>
              </a:rPr>
              <a:t>b</a:t>
            </a:r>
            <a:r>
              <a:rPr lang="de-DE" sz="1400" b="1" dirty="0" err="1" smtClean="0">
                <a:solidFill>
                  <a:schemeClr val="bg1"/>
                </a:solidFill>
              </a:rPr>
              <a:t>elgesine</a:t>
            </a:r>
            <a:r>
              <a:rPr lang="de-DE" sz="1400" b="1" dirty="0" smtClean="0">
                <a:solidFill>
                  <a:schemeClr val="bg1"/>
                </a:solidFill>
              </a:rPr>
              <a:t> </a:t>
            </a:r>
            <a:r>
              <a:rPr lang="de-DE" sz="1400" b="1" dirty="0" err="1">
                <a:solidFill>
                  <a:schemeClr val="bg1"/>
                </a:solidFill>
              </a:rPr>
              <a:t>simge</a:t>
            </a:r>
            <a:r>
              <a:rPr lang="de-DE" sz="1400" b="1" dirty="0">
                <a:solidFill>
                  <a:schemeClr val="bg1"/>
                </a:solidFill>
              </a:rPr>
              <a:t> ekler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03325" y="1146117"/>
            <a:ext cx="7772400" cy="338554"/>
          </a:xfrm>
          <a:prstGeom prst="rect">
            <a:avLst/>
          </a:prstGeom>
          <a:noFill/>
        </p:spPr>
        <p:txBody>
          <a:bodyPr wrap="square" rtlCol="0">
            <a:spAutoFit/>
          </a:bodyPr>
          <a:lstStyle/>
          <a:p>
            <a:r>
              <a:rPr lang="tr-TR" sz="1600" b="1" dirty="0" smtClean="0"/>
              <a:t>Ekle Sekmesi &gt;Simgeler </a:t>
            </a:r>
            <a:r>
              <a:rPr lang="tr-TR" sz="1600" dirty="0" smtClean="0"/>
              <a:t>komutu</a:t>
            </a:r>
            <a:endParaRPr lang="tr-TR" sz="1600" dirty="0"/>
          </a:p>
        </p:txBody>
      </p:sp>
      <p:sp>
        <p:nvSpPr>
          <p:cNvPr id="6" name="Metin kutusu 5"/>
          <p:cNvSpPr txBox="1"/>
          <p:nvPr>
            <p:custDataLst>
              <p:tags r:id="rId6"/>
            </p:custDataLst>
          </p:nvPr>
        </p:nvSpPr>
        <p:spPr>
          <a:xfrm>
            <a:off x="482060" y="1993611"/>
            <a:ext cx="4928140" cy="338554"/>
          </a:xfrm>
          <a:prstGeom prst="rect">
            <a:avLst/>
          </a:prstGeom>
          <a:noFill/>
        </p:spPr>
        <p:txBody>
          <a:bodyPr wrap="square" rtlCol="0">
            <a:spAutoFit/>
          </a:bodyPr>
          <a:lstStyle/>
          <a:p>
            <a:endParaRPr lang="tr-TR" sz="1600" dirty="0"/>
          </a:p>
        </p:txBody>
      </p:sp>
      <p:pic>
        <p:nvPicPr>
          <p:cNvPr id="2050" name="Picture 2" descr="C:\Users\YILMAZ\AppData\Local\Temp\SNAGHTML5b74d3.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5800" y="1730892"/>
            <a:ext cx="6124575" cy="5162550"/>
          </a:xfrm>
          <a:prstGeom prst="rect">
            <a:avLst/>
          </a:prstGeom>
          <a:noFill/>
          <a:extLst>
            <a:ext uri="{909E8E84-426E-40DD-AFC4-6F175D3DCCD1}">
              <a14:hiddenFill xmlns:a14="http://schemas.microsoft.com/office/drawing/2010/main">
                <a:solidFill>
                  <a:srgbClr val="FFFFFF"/>
                </a:solidFill>
              </a14:hiddenFill>
            </a:ext>
          </a:extLst>
        </p:spPr>
      </p:pic>
      <p:pic>
        <p:nvPicPr>
          <p:cNvPr id="18" name="Resim 17" descr="C:\Users\YILMAZ\AppData\Local\Temp\SNAGHTML460bf3.PNG"/>
          <p:cNvPicPr/>
          <p:nvPr/>
        </p:nvPicPr>
        <p:blipFill>
          <a:blip r:embed="rId13">
            <a:extLst>
              <a:ext uri="{28A0092B-C50C-407E-A947-70E740481C1C}">
                <a14:useLocalDpi xmlns:a14="http://schemas.microsoft.com/office/drawing/2010/main" val="0"/>
              </a:ext>
            </a:extLst>
          </a:blip>
          <a:srcRect/>
          <a:stretch>
            <a:fillRect/>
          </a:stretch>
        </p:blipFill>
        <p:spPr bwMode="auto">
          <a:xfrm>
            <a:off x="6858000" y="1725576"/>
            <a:ext cx="2343150" cy="2495550"/>
          </a:xfrm>
          <a:prstGeom prst="rect">
            <a:avLst/>
          </a:prstGeom>
          <a:noFill/>
          <a:ln>
            <a:noFill/>
          </a:ln>
        </p:spPr>
      </p:pic>
    </p:spTree>
    <p:custDataLst>
      <p:tags r:id="rId1"/>
    </p:custDataLst>
    <p:extLst>
      <p:ext uri="{BB962C8B-B14F-4D97-AF65-F5344CB8AC3E}">
        <p14:creationId xmlns:p14="http://schemas.microsoft.com/office/powerpoint/2010/main" val="29544828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Veri Seçmek</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9"/>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10"/>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1"/>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a:solidFill>
                  <a:schemeClr val="bg1"/>
                </a:solidFill>
              </a:rPr>
              <a:t>Word </a:t>
            </a:r>
            <a:r>
              <a:rPr lang="de-DE" sz="1400" b="1" dirty="0" err="1">
                <a:solidFill>
                  <a:schemeClr val="bg1"/>
                </a:solidFill>
              </a:rPr>
              <a:t>belgesinde</a:t>
            </a:r>
            <a:r>
              <a:rPr lang="de-DE" sz="1400" b="1" dirty="0">
                <a:solidFill>
                  <a:schemeClr val="bg1"/>
                </a:solidFill>
              </a:rPr>
              <a:t> </a:t>
            </a:r>
            <a:r>
              <a:rPr lang="de-DE" sz="1400" b="1" dirty="0" err="1">
                <a:solidFill>
                  <a:schemeClr val="bg1"/>
                </a:solidFill>
              </a:rPr>
              <a:t>seçim</a:t>
            </a:r>
            <a:r>
              <a:rPr lang="de-DE" sz="1400" b="1" dirty="0">
                <a:solidFill>
                  <a:schemeClr val="bg1"/>
                </a:solidFill>
              </a:rPr>
              <a:t> </a:t>
            </a:r>
            <a:r>
              <a:rPr lang="de-DE" sz="1400" b="1" dirty="0" err="1">
                <a:solidFill>
                  <a:schemeClr val="bg1"/>
                </a:solidFill>
              </a:rPr>
              <a:t>yapar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03325" y="1146117"/>
            <a:ext cx="7772400" cy="830997"/>
          </a:xfrm>
          <a:prstGeom prst="rect">
            <a:avLst/>
          </a:prstGeom>
          <a:noFill/>
        </p:spPr>
        <p:txBody>
          <a:bodyPr wrap="square" rtlCol="0">
            <a:spAutoFit/>
          </a:bodyPr>
          <a:lstStyle/>
          <a:p>
            <a:r>
              <a:rPr lang="tr-TR" sz="1600" b="1" dirty="0" smtClean="0"/>
              <a:t>Word’de</a:t>
            </a:r>
            <a:r>
              <a:rPr lang="tr-TR" sz="1600" dirty="0" smtClean="0"/>
              <a:t> seçim yapmak için kullandığımız iki yol vardır:</a:t>
            </a:r>
          </a:p>
          <a:p>
            <a:r>
              <a:rPr lang="tr-TR" sz="1600" b="1" dirty="0" smtClean="0"/>
              <a:t>Klavye </a:t>
            </a:r>
            <a:r>
              <a:rPr lang="tr-TR" sz="1600" b="1" dirty="0" err="1" smtClean="0"/>
              <a:t>kısayolları</a:t>
            </a:r>
            <a:endParaRPr lang="tr-TR" sz="1600" b="1" dirty="0" smtClean="0"/>
          </a:p>
          <a:p>
            <a:r>
              <a:rPr lang="tr-TR" sz="1600" b="1" dirty="0" smtClean="0"/>
              <a:t>Fare</a:t>
            </a:r>
            <a:endParaRPr lang="tr-TR" sz="1600" b="1" dirty="0"/>
          </a:p>
        </p:txBody>
      </p:sp>
      <p:sp>
        <p:nvSpPr>
          <p:cNvPr id="6" name="Metin kutusu 5"/>
          <p:cNvSpPr txBox="1"/>
          <p:nvPr>
            <p:custDataLst>
              <p:tags r:id="rId6"/>
            </p:custDataLst>
          </p:nvPr>
        </p:nvSpPr>
        <p:spPr>
          <a:xfrm>
            <a:off x="482060" y="1993611"/>
            <a:ext cx="4928140" cy="338554"/>
          </a:xfrm>
          <a:prstGeom prst="rect">
            <a:avLst/>
          </a:prstGeom>
          <a:noFill/>
        </p:spPr>
        <p:txBody>
          <a:bodyPr wrap="square" rtlCol="0">
            <a:spAutoFit/>
          </a:bodyPr>
          <a:lstStyle/>
          <a:p>
            <a:endParaRPr lang="tr-TR" sz="1600" dirty="0"/>
          </a:p>
        </p:txBody>
      </p:sp>
      <p:graphicFrame>
        <p:nvGraphicFramePr>
          <p:cNvPr id="3" name="Tablo 2"/>
          <p:cNvGraphicFramePr>
            <a:graphicFrameLocks noGrp="1"/>
          </p:cNvGraphicFramePr>
          <p:nvPr>
            <p:custDataLst>
              <p:tags r:id="rId7"/>
            </p:custDataLst>
            <p:extLst>
              <p:ext uri="{D42A27DB-BD31-4B8C-83A1-F6EECF244321}">
                <p14:modId xmlns:p14="http://schemas.microsoft.com/office/powerpoint/2010/main" val="4044858549"/>
              </p:ext>
            </p:extLst>
          </p:nvPr>
        </p:nvGraphicFramePr>
        <p:xfrm>
          <a:off x="2171700" y="1752600"/>
          <a:ext cx="6476999" cy="4953001"/>
        </p:xfrm>
        <a:graphic>
          <a:graphicData uri="http://schemas.openxmlformats.org/drawingml/2006/table">
            <a:tbl>
              <a:tblPr firstRow="1" firstCol="1" lastRow="1" lastCol="1" bandRow="1" bandCol="1">
                <a:tableStyleId>{69012ECD-51FC-41F1-AA8D-1B2483CD663E}</a:tableStyleId>
              </a:tblPr>
              <a:tblGrid>
                <a:gridCol w="1593051"/>
                <a:gridCol w="1772400"/>
                <a:gridCol w="3111548"/>
              </a:tblGrid>
              <a:tr h="141283">
                <a:tc>
                  <a:txBody>
                    <a:bodyPr/>
                    <a:lstStyle/>
                    <a:p>
                      <a:pPr algn="just">
                        <a:lnSpc>
                          <a:spcPct val="115000"/>
                        </a:lnSpc>
                        <a:spcBef>
                          <a:spcPts val="600"/>
                        </a:spcBef>
                        <a:spcAft>
                          <a:spcPts val="600"/>
                        </a:spcAft>
                      </a:pPr>
                      <a:r>
                        <a:rPr lang="tr-TR" sz="800" dirty="0">
                          <a:effectLst/>
                        </a:rPr>
                        <a:t>Seçim</a:t>
                      </a:r>
                      <a:endParaRPr lang="tr-TR" sz="900" dirty="0">
                        <a:effectLst/>
                        <a:latin typeface="Calibri"/>
                        <a:ea typeface="Calibri"/>
                        <a:cs typeface="Times New Roman"/>
                      </a:endParaRPr>
                    </a:p>
                  </a:txBody>
                  <a:tcPr marL="53668" marR="53668" marT="0" marB="0" anchor="ctr"/>
                </a:tc>
                <a:tc>
                  <a:txBody>
                    <a:bodyPr/>
                    <a:lstStyle/>
                    <a:p>
                      <a:pPr algn="just">
                        <a:lnSpc>
                          <a:spcPct val="115000"/>
                        </a:lnSpc>
                        <a:spcBef>
                          <a:spcPts val="600"/>
                        </a:spcBef>
                        <a:spcAft>
                          <a:spcPts val="600"/>
                        </a:spcAft>
                      </a:pPr>
                      <a:r>
                        <a:rPr lang="tr-TR" sz="800" dirty="0">
                          <a:effectLst/>
                        </a:rPr>
                        <a:t>Klavye </a:t>
                      </a:r>
                      <a:r>
                        <a:rPr lang="tr-TR" sz="800" dirty="0" err="1">
                          <a:effectLst/>
                        </a:rPr>
                        <a:t>Kısayolu</a:t>
                      </a:r>
                      <a:endParaRPr lang="tr-TR" sz="900" dirty="0">
                        <a:effectLst/>
                        <a:latin typeface="Calibri"/>
                        <a:ea typeface="Calibri"/>
                        <a:cs typeface="Times New Roman"/>
                      </a:endParaRPr>
                    </a:p>
                  </a:txBody>
                  <a:tcPr marL="53668" marR="53668" marT="0" marB="0" anchor="ctr"/>
                </a:tc>
                <a:tc>
                  <a:txBody>
                    <a:bodyPr/>
                    <a:lstStyle/>
                    <a:p>
                      <a:pPr algn="just">
                        <a:lnSpc>
                          <a:spcPct val="115000"/>
                        </a:lnSpc>
                        <a:spcBef>
                          <a:spcPts val="600"/>
                        </a:spcBef>
                        <a:spcAft>
                          <a:spcPts val="600"/>
                        </a:spcAft>
                      </a:pPr>
                      <a:r>
                        <a:rPr lang="tr-TR" sz="800">
                          <a:effectLst/>
                        </a:rPr>
                        <a:t>Yöntem</a:t>
                      </a:r>
                      <a:endParaRPr lang="tr-TR" sz="900">
                        <a:effectLst/>
                        <a:latin typeface="Calibri"/>
                        <a:ea typeface="Calibri"/>
                        <a:cs typeface="Times New Roman"/>
                      </a:endParaRPr>
                    </a:p>
                  </a:txBody>
                  <a:tcPr marL="53668" marR="53668" marT="0" marB="0"/>
                </a:tc>
              </a:tr>
              <a:tr h="424861">
                <a:tc>
                  <a:txBody>
                    <a:bodyPr/>
                    <a:lstStyle/>
                    <a:p>
                      <a:pPr algn="just">
                        <a:lnSpc>
                          <a:spcPct val="115000"/>
                        </a:lnSpc>
                        <a:spcAft>
                          <a:spcPts val="0"/>
                        </a:spcAft>
                      </a:pPr>
                      <a:r>
                        <a:rPr lang="tr-TR" sz="800">
                          <a:effectLst/>
                        </a:rPr>
                        <a:t>Sağdan tek karakter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ÜstKrkt+ Sağ Ok (</a:t>
                      </a:r>
                      <a:r>
                        <a:rPr lang="tr-TR" sz="800">
                          <a:effectLst/>
                          <a:sym typeface="Wingdings 3"/>
                        </a:rPr>
                        <a:t></a:t>
                      </a:r>
                      <a:r>
                        <a:rPr lang="tr-TR" sz="800">
                          <a:effectLst/>
                        </a:rPr>
                        <a:t>)</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noktasını seçmek istediğimiz karakterin önüne getirdikten sonra ÜstKrkt+Sağ Ok tuşuna basın</a:t>
                      </a:r>
                      <a:endParaRPr lang="tr-TR" sz="900">
                        <a:effectLst/>
                        <a:latin typeface="Calibri"/>
                        <a:ea typeface="Calibri"/>
                        <a:cs typeface="Times New Roman"/>
                      </a:endParaRPr>
                    </a:p>
                  </a:txBody>
                  <a:tcPr marL="53668" marR="53668" marT="0" marB="0"/>
                </a:tc>
              </a:tr>
              <a:tr h="424861">
                <a:tc>
                  <a:txBody>
                    <a:bodyPr/>
                    <a:lstStyle/>
                    <a:p>
                      <a:pPr algn="just">
                        <a:lnSpc>
                          <a:spcPct val="115000"/>
                        </a:lnSpc>
                        <a:spcAft>
                          <a:spcPts val="0"/>
                        </a:spcAft>
                      </a:pPr>
                      <a:r>
                        <a:rPr lang="tr-TR" sz="800">
                          <a:effectLst/>
                        </a:rPr>
                        <a:t>Soldan tek karakter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ÜstKrkt+ Sol Ok (</a:t>
                      </a:r>
                      <a:r>
                        <a:rPr lang="tr-TR" sz="800">
                          <a:effectLst/>
                          <a:sym typeface="Wingdings 3"/>
                        </a:rPr>
                        <a:t></a:t>
                      </a:r>
                      <a:r>
                        <a:rPr lang="tr-TR" sz="800">
                          <a:effectLst/>
                        </a:rPr>
                        <a:t>)</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noktasını seçmek istediğimiz karakterin sonuna getirdikten sonra ÜstKrkt+Sol Ok tuşuna basın</a:t>
                      </a:r>
                      <a:endParaRPr lang="tr-TR" sz="900">
                        <a:effectLst/>
                        <a:latin typeface="Calibri"/>
                        <a:ea typeface="Calibri"/>
                        <a:cs typeface="Times New Roman"/>
                      </a:endParaRPr>
                    </a:p>
                  </a:txBody>
                  <a:tcPr marL="53668" marR="53668" marT="0" marB="0"/>
                </a:tc>
              </a:tr>
              <a:tr h="424861">
                <a:tc>
                  <a:txBody>
                    <a:bodyPr/>
                    <a:lstStyle/>
                    <a:p>
                      <a:pPr algn="just">
                        <a:lnSpc>
                          <a:spcPct val="115000"/>
                        </a:lnSpc>
                        <a:spcAft>
                          <a:spcPts val="0"/>
                        </a:spcAft>
                      </a:pPr>
                      <a:r>
                        <a:rPr lang="tr-TR" sz="800">
                          <a:effectLst/>
                        </a:rPr>
                        <a:t>Sağdan tek kelime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Ctrl+ÜstKrkt+ Sağ Ok (</a:t>
                      </a:r>
                      <a:r>
                        <a:rPr lang="tr-TR" sz="800">
                          <a:effectLst/>
                          <a:sym typeface="Wingdings 3"/>
                        </a:rPr>
                        <a:t></a:t>
                      </a:r>
                      <a:r>
                        <a:rPr lang="tr-TR" sz="800">
                          <a:effectLst/>
                        </a:rPr>
                        <a:t>)</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noktasını seçmek istediğimiz kelimenin önüne getirdikten sonra Ctrl+ÜstKrkt+Sağ Ok tuşuna basın</a:t>
                      </a:r>
                      <a:endParaRPr lang="tr-TR" sz="900">
                        <a:effectLst/>
                        <a:latin typeface="Calibri"/>
                        <a:ea typeface="Calibri"/>
                        <a:cs typeface="Times New Roman"/>
                      </a:endParaRPr>
                    </a:p>
                  </a:txBody>
                  <a:tcPr marL="53668" marR="53668" marT="0" marB="0"/>
                </a:tc>
              </a:tr>
              <a:tr h="424861">
                <a:tc>
                  <a:txBody>
                    <a:bodyPr/>
                    <a:lstStyle/>
                    <a:p>
                      <a:pPr algn="just">
                        <a:lnSpc>
                          <a:spcPct val="115000"/>
                        </a:lnSpc>
                        <a:spcAft>
                          <a:spcPts val="0"/>
                        </a:spcAft>
                      </a:pPr>
                      <a:r>
                        <a:rPr lang="tr-TR" sz="800">
                          <a:effectLst/>
                        </a:rPr>
                        <a:t>Soldan tek kelime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Ctrl+ÜstKrkt+ Sol Ok (</a:t>
                      </a:r>
                      <a:r>
                        <a:rPr lang="tr-TR" sz="800">
                          <a:effectLst/>
                          <a:sym typeface="Wingdings 3"/>
                        </a:rPr>
                        <a:t></a:t>
                      </a:r>
                      <a:r>
                        <a:rPr lang="tr-TR" sz="800">
                          <a:effectLst/>
                        </a:rPr>
                        <a:t>)</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noktasını seçmek istediğimiz kelimenin önüne getirdikten sonra Ctrl+ÜstKrkt+Sol Ok tuşuna basın</a:t>
                      </a:r>
                      <a:endParaRPr lang="tr-TR" sz="900">
                        <a:effectLst/>
                        <a:latin typeface="Calibri"/>
                        <a:ea typeface="Calibri"/>
                        <a:cs typeface="Times New Roman"/>
                      </a:endParaRPr>
                    </a:p>
                  </a:txBody>
                  <a:tcPr marL="53668" marR="53668" marT="0" marB="0"/>
                </a:tc>
              </a:tr>
              <a:tr h="282566">
                <a:tc>
                  <a:txBody>
                    <a:bodyPr/>
                    <a:lstStyle/>
                    <a:p>
                      <a:pPr algn="just">
                        <a:lnSpc>
                          <a:spcPct val="115000"/>
                        </a:lnSpc>
                        <a:spcAft>
                          <a:spcPts val="0"/>
                        </a:spcAft>
                      </a:pPr>
                      <a:r>
                        <a:rPr lang="tr-TR" sz="800">
                          <a:effectLst/>
                        </a:rPr>
                        <a:t>Satır sonuna kadar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dirty="0" err="1">
                          <a:effectLst/>
                        </a:rPr>
                        <a:t>ÜstKrkt+End</a:t>
                      </a:r>
                      <a:endParaRPr lang="tr-TR" sz="900" dirty="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noktasından itibaren satır sonuna kadar seçmek için ÜstKrkt+End tuşuna basın</a:t>
                      </a:r>
                      <a:endParaRPr lang="tr-TR" sz="900">
                        <a:effectLst/>
                        <a:latin typeface="Calibri"/>
                        <a:ea typeface="Calibri"/>
                        <a:cs typeface="Times New Roman"/>
                      </a:endParaRPr>
                    </a:p>
                  </a:txBody>
                  <a:tcPr marL="53668" marR="53668" marT="0" marB="0"/>
                </a:tc>
              </a:tr>
              <a:tr h="282566">
                <a:tc>
                  <a:txBody>
                    <a:bodyPr/>
                    <a:lstStyle/>
                    <a:p>
                      <a:pPr algn="just">
                        <a:lnSpc>
                          <a:spcPct val="115000"/>
                        </a:lnSpc>
                        <a:spcAft>
                          <a:spcPts val="0"/>
                        </a:spcAft>
                      </a:pPr>
                      <a:r>
                        <a:rPr lang="tr-TR" sz="800">
                          <a:effectLst/>
                        </a:rPr>
                        <a:t>Satır başına kadar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ÜstKrkt+Home</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noktasından itibaren satır başına kadar seçmek için ÜstKrkt+Home tuşuna basın</a:t>
                      </a:r>
                      <a:endParaRPr lang="tr-TR" sz="900">
                        <a:effectLst/>
                        <a:latin typeface="Calibri"/>
                        <a:ea typeface="Calibri"/>
                        <a:cs typeface="Times New Roman"/>
                      </a:endParaRPr>
                    </a:p>
                  </a:txBody>
                  <a:tcPr marL="53668" marR="53668" marT="0" marB="0"/>
                </a:tc>
              </a:tr>
              <a:tr h="282566">
                <a:tc>
                  <a:txBody>
                    <a:bodyPr/>
                    <a:lstStyle/>
                    <a:p>
                      <a:pPr algn="just">
                        <a:lnSpc>
                          <a:spcPct val="115000"/>
                        </a:lnSpc>
                        <a:spcAft>
                          <a:spcPts val="0"/>
                        </a:spcAft>
                      </a:pPr>
                      <a:r>
                        <a:rPr lang="tr-TR" sz="800">
                          <a:effectLst/>
                        </a:rPr>
                        <a:t>Paragraf başına kadar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Ctrl+ÜstKrkt+ Yukarı Ok (</a:t>
                      </a:r>
                      <a:r>
                        <a:rPr lang="tr-TR" sz="800">
                          <a:effectLst/>
                          <a:sym typeface="Wingdings 3"/>
                        </a:rPr>
                        <a:t></a:t>
                      </a:r>
                      <a:r>
                        <a:rPr lang="tr-TR" sz="800">
                          <a:effectLst/>
                        </a:rPr>
                        <a:t>)</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noktasından itibaren satır başına kadar seçmek için Ctrl+ÜstKrkt+Yukarı Ok tuşuna basın</a:t>
                      </a:r>
                      <a:endParaRPr lang="tr-TR" sz="900">
                        <a:effectLst/>
                        <a:latin typeface="Calibri"/>
                        <a:ea typeface="Calibri"/>
                        <a:cs typeface="Times New Roman"/>
                      </a:endParaRPr>
                    </a:p>
                  </a:txBody>
                  <a:tcPr marL="53668" marR="53668" marT="0" marB="0"/>
                </a:tc>
              </a:tr>
              <a:tr h="282566">
                <a:tc>
                  <a:txBody>
                    <a:bodyPr/>
                    <a:lstStyle/>
                    <a:p>
                      <a:pPr algn="just">
                        <a:lnSpc>
                          <a:spcPct val="115000"/>
                        </a:lnSpc>
                        <a:spcAft>
                          <a:spcPts val="0"/>
                        </a:spcAft>
                      </a:pPr>
                      <a:r>
                        <a:rPr lang="tr-TR" sz="800">
                          <a:effectLst/>
                        </a:rPr>
                        <a:t>Paragraf sonuna kadar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Ctrl+ÜstKrkt+ Aşağı Ok (</a:t>
                      </a:r>
                      <a:r>
                        <a:rPr lang="tr-TR" sz="800">
                          <a:effectLst/>
                          <a:sym typeface="Wingdings 3"/>
                        </a:rPr>
                        <a:t></a:t>
                      </a:r>
                      <a:r>
                        <a:rPr lang="tr-TR" sz="800">
                          <a:effectLst/>
                        </a:rPr>
                        <a:t>)</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noktasından itibaren satır sonuna kadar seçmek için Ctrl+ÜstKrkt+Aşağı Ok tuşuna basın</a:t>
                      </a:r>
                      <a:endParaRPr lang="tr-TR" sz="900">
                        <a:effectLst/>
                        <a:latin typeface="Calibri"/>
                        <a:ea typeface="Calibri"/>
                        <a:cs typeface="Times New Roman"/>
                      </a:endParaRPr>
                    </a:p>
                  </a:txBody>
                  <a:tcPr marL="53668" marR="53668" marT="0" marB="0"/>
                </a:tc>
              </a:tr>
              <a:tr h="424861">
                <a:tc>
                  <a:txBody>
                    <a:bodyPr/>
                    <a:lstStyle/>
                    <a:p>
                      <a:pPr algn="just">
                        <a:lnSpc>
                          <a:spcPct val="115000"/>
                        </a:lnSpc>
                        <a:spcAft>
                          <a:spcPts val="0"/>
                        </a:spcAft>
                      </a:pPr>
                      <a:r>
                        <a:rPr lang="tr-TR" sz="800">
                          <a:effectLst/>
                        </a:rPr>
                        <a:t>Geçerli pencerenin sonuna kadar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Ctrl+Alt+ÜstKrkt+Page Down</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noktasından geçerli sayfanın sonuna kadar seçmek için Ctrl+Alt+ÜstKrkt+Page Down tuşlarına basın</a:t>
                      </a:r>
                      <a:endParaRPr lang="tr-TR" sz="900">
                        <a:effectLst/>
                        <a:latin typeface="Calibri"/>
                        <a:ea typeface="Calibri"/>
                        <a:cs typeface="Times New Roman"/>
                      </a:endParaRPr>
                    </a:p>
                  </a:txBody>
                  <a:tcPr marL="53668" marR="53668" marT="0" marB="0"/>
                </a:tc>
              </a:tr>
              <a:tr h="424861">
                <a:tc>
                  <a:txBody>
                    <a:bodyPr/>
                    <a:lstStyle/>
                    <a:p>
                      <a:pPr algn="just">
                        <a:lnSpc>
                          <a:spcPct val="115000"/>
                        </a:lnSpc>
                        <a:spcAft>
                          <a:spcPts val="0"/>
                        </a:spcAft>
                      </a:pPr>
                      <a:r>
                        <a:rPr lang="tr-TR" sz="800">
                          <a:effectLst/>
                        </a:rPr>
                        <a:t>Geçerli pencerenin başına kadar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Ctrl+Alt+ÜstKrkt+Page Up</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noktasından geçerli sayfanın başına kadar seçmek için Ctrl+Alt+ÜstKrkt+Page Up tuşlarına basın</a:t>
                      </a:r>
                      <a:endParaRPr lang="tr-TR" sz="900">
                        <a:effectLst/>
                        <a:latin typeface="Calibri"/>
                        <a:ea typeface="Calibri"/>
                        <a:cs typeface="Times New Roman"/>
                      </a:endParaRPr>
                    </a:p>
                  </a:txBody>
                  <a:tcPr marL="53668" marR="53668" marT="0" marB="0"/>
                </a:tc>
              </a:tr>
              <a:tr h="424861">
                <a:tc>
                  <a:txBody>
                    <a:bodyPr/>
                    <a:lstStyle/>
                    <a:p>
                      <a:pPr algn="just">
                        <a:lnSpc>
                          <a:spcPct val="115000"/>
                        </a:lnSpc>
                        <a:spcAft>
                          <a:spcPts val="0"/>
                        </a:spcAft>
                      </a:pPr>
                      <a:r>
                        <a:rPr lang="tr-TR" sz="800">
                          <a:effectLst/>
                        </a:rPr>
                        <a:t>Geçerli belgenin başına kadar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Ctrl+ÜstKrkt+Home</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noktasından geçerli belgenin başına kadar seçmek için Ctrl+ÜstKrkt+Home tuşlarına basın</a:t>
                      </a:r>
                      <a:endParaRPr lang="tr-TR" sz="900">
                        <a:effectLst/>
                        <a:latin typeface="Calibri"/>
                        <a:ea typeface="Calibri"/>
                        <a:cs typeface="Times New Roman"/>
                      </a:endParaRPr>
                    </a:p>
                  </a:txBody>
                  <a:tcPr marL="53668" marR="53668" marT="0" marB="0"/>
                </a:tc>
              </a:tr>
              <a:tr h="424861">
                <a:tc>
                  <a:txBody>
                    <a:bodyPr/>
                    <a:lstStyle/>
                    <a:p>
                      <a:pPr algn="just">
                        <a:lnSpc>
                          <a:spcPct val="115000"/>
                        </a:lnSpc>
                        <a:spcAft>
                          <a:spcPts val="0"/>
                        </a:spcAft>
                      </a:pPr>
                      <a:r>
                        <a:rPr lang="tr-TR" sz="800">
                          <a:effectLst/>
                        </a:rPr>
                        <a:t>Geçerli belgenin sonuna kadar seçmek</a:t>
                      </a:r>
                      <a:endParaRPr lang="tr-TR" sz="90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dirty="0" err="1">
                          <a:effectLst/>
                        </a:rPr>
                        <a:t>Ctrl+ÜstKrkt+End</a:t>
                      </a:r>
                      <a:endParaRPr lang="tr-TR" sz="900" dirty="0">
                        <a:effectLst/>
                        <a:latin typeface="Calibri"/>
                        <a:ea typeface="Calibri"/>
                        <a:cs typeface="Times New Roman"/>
                      </a:endParaRPr>
                    </a:p>
                  </a:txBody>
                  <a:tcPr marL="53668" marR="53668" marT="0" marB="0" anchor="ctr"/>
                </a:tc>
                <a:tc>
                  <a:txBody>
                    <a:bodyPr/>
                    <a:lstStyle/>
                    <a:p>
                      <a:pPr algn="just">
                        <a:lnSpc>
                          <a:spcPct val="115000"/>
                        </a:lnSpc>
                        <a:spcAft>
                          <a:spcPts val="0"/>
                        </a:spcAft>
                      </a:pPr>
                      <a:r>
                        <a:rPr lang="tr-TR" sz="800">
                          <a:effectLst/>
                        </a:rPr>
                        <a:t>Ekleme noktasından geçerli belgenin sonuna kadar seçmek için Ctrl+ÜstKrkt+End tuşlarına basın</a:t>
                      </a:r>
                      <a:endParaRPr lang="tr-TR" sz="900">
                        <a:effectLst/>
                        <a:latin typeface="Calibri"/>
                        <a:ea typeface="Calibri"/>
                        <a:cs typeface="Times New Roman"/>
                      </a:endParaRPr>
                    </a:p>
                  </a:txBody>
                  <a:tcPr marL="53668" marR="53668" marT="0" marB="0"/>
                </a:tc>
              </a:tr>
              <a:tr h="282566">
                <a:tc>
                  <a:txBody>
                    <a:bodyPr/>
                    <a:lstStyle/>
                    <a:p>
                      <a:pPr algn="just">
                        <a:lnSpc>
                          <a:spcPct val="115000"/>
                        </a:lnSpc>
                        <a:spcAft>
                          <a:spcPts val="0"/>
                        </a:spcAft>
                      </a:pPr>
                      <a:r>
                        <a:rPr lang="tr-TR" sz="800">
                          <a:effectLst/>
                        </a:rPr>
                        <a:t>Geçerli belgenin tümünü seçmek</a:t>
                      </a:r>
                      <a:endParaRPr lang="tr-TR" sz="900">
                        <a:effectLst/>
                        <a:latin typeface="Calibri"/>
                        <a:ea typeface="Calibri"/>
                        <a:cs typeface="Times New Roman"/>
                      </a:endParaRPr>
                    </a:p>
                  </a:txBody>
                  <a:tcPr marL="53668" marR="53668" marT="0" marB="0" anchor="ctr"/>
                </a:tc>
                <a:tc>
                  <a:txBody>
                    <a:bodyPr/>
                    <a:lstStyle/>
                    <a:p>
                      <a:pPr marL="0" algn="just" defTabSz="914400" rtl="0" eaLnBrk="1" latinLnBrk="0" hangingPunct="1">
                        <a:lnSpc>
                          <a:spcPct val="115000"/>
                        </a:lnSpc>
                        <a:spcAft>
                          <a:spcPts val="0"/>
                        </a:spcAft>
                      </a:pPr>
                      <a:r>
                        <a:rPr lang="tr-TR" sz="800" kern="1200" dirty="0" err="1">
                          <a:effectLst/>
                        </a:rPr>
                        <a:t>Ctrl+A</a:t>
                      </a:r>
                      <a:endParaRPr lang="tr-TR" sz="800" kern="1200" dirty="0">
                        <a:solidFill>
                          <a:schemeClr val="dk1"/>
                        </a:solidFill>
                        <a:effectLst/>
                        <a:latin typeface="+mn-lt"/>
                        <a:ea typeface="+mn-ea"/>
                        <a:cs typeface="+mn-cs"/>
                      </a:endParaRPr>
                    </a:p>
                  </a:txBody>
                  <a:tcPr marL="53668" marR="53668" marT="0" marB="0" anchor="ctr"/>
                </a:tc>
                <a:tc>
                  <a:txBody>
                    <a:bodyPr/>
                    <a:lstStyle/>
                    <a:p>
                      <a:pPr algn="just">
                        <a:lnSpc>
                          <a:spcPct val="115000"/>
                        </a:lnSpc>
                        <a:spcAft>
                          <a:spcPts val="0"/>
                        </a:spcAft>
                      </a:pPr>
                      <a:r>
                        <a:rPr lang="tr-TR" sz="800" dirty="0">
                          <a:effectLst/>
                        </a:rPr>
                        <a:t>Geçerli belgenin tümünü seçmek için </a:t>
                      </a:r>
                      <a:r>
                        <a:rPr lang="tr-TR" sz="800" dirty="0" err="1">
                          <a:effectLst/>
                        </a:rPr>
                        <a:t>Ctrl+A</a:t>
                      </a:r>
                      <a:r>
                        <a:rPr lang="tr-TR" sz="800" dirty="0">
                          <a:effectLst/>
                        </a:rPr>
                        <a:t> tuşlarına basın</a:t>
                      </a:r>
                      <a:endParaRPr lang="tr-TR" sz="900" dirty="0">
                        <a:effectLst/>
                        <a:latin typeface="Calibri"/>
                        <a:ea typeface="Calibri"/>
                        <a:cs typeface="Times New Roman"/>
                      </a:endParaRPr>
                    </a:p>
                  </a:txBody>
                  <a:tcPr marL="53668" marR="53668" marT="0" marB="0"/>
                </a:tc>
              </a:tr>
            </a:tbl>
          </a:graphicData>
        </a:graphic>
      </p:graphicFrame>
      <p:graphicFrame>
        <p:nvGraphicFramePr>
          <p:cNvPr id="13" name="Tablo 12"/>
          <p:cNvGraphicFramePr>
            <a:graphicFrameLocks noGrp="1"/>
          </p:cNvGraphicFramePr>
          <p:nvPr>
            <p:custDataLst>
              <p:tags r:id="rId8"/>
            </p:custDataLst>
            <p:extLst>
              <p:ext uri="{D42A27DB-BD31-4B8C-83A1-F6EECF244321}">
                <p14:modId xmlns:p14="http://schemas.microsoft.com/office/powerpoint/2010/main" val="4077267989"/>
              </p:ext>
            </p:extLst>
          </p:nvPr>
        </p:nvGraphicFramePr>
        <p:xfrm>
          <a:off x="457200" y="2011332"/>
          <a:ext cx="8229600" cy="4439285"/>
        </p:xfrm>
        <a:graphic>
          <a:graphicData uri="http://schemas.openxmlformats.org/drawingml/2006/table">
            <a:tbl>
              <a:tblPr>
                <a:tableStyleId>{69CF1AB2-1976-4502-BF36-3FF5EA218861}</a:tableStyleId>
              </a:tblPr>
              <a:tblGrid>
                <a:gridCol w="1924080"/>
                <a:gridCol w="6305520"/>
              </a:tblGrid>
              <a:tr h="345440">
                <a:tc>
                  <a:txBody>
                    <a:bodyPr/>
                    <a:lstStyle/>
                    <a:p>
                      <a:pPr marL="0" algn="just" defTabSz="914400" rtl="0" eaLnBrk="1" latinLnBrk="0" hangingPunct="1">
                        <a:lnSpc>
                          <a:spcPct val="115000"/>
                        </a:lnSpc>
                        <a:spcBef>
                          <a:spcPts val="600"/>
                        </a:spcBef>
                        <a:spcAft>
                          <a:spcPts val="600"/>
                        </a:spcAft>
                      </a:pPr>
                      <a:r>
                        <a:rPr lang="tr-TR" sz="1100" b="1" kern="1200" dirty="0" smtClean="0">
                          <a:solidFill>
                            <a:schemeClr val="tx1"/>
                          </a:solidFill>
                          <a:effectLst/>
                          <a:latin typeface="+mn-lt"/>
                          <a:ea typeface="+mn-ea"/>
                          <a:cs typeface="+mn-cs"/>
                        </a:rPr>
                        <a:t/>
                      </a:r>
                      <a:br>
                        <a:rPr lang="tr-TR" sz="1100" b="1" kern="1200" dirty="0" smtClean="0">
                          <a:solidFill>
                            <a:schemeClr val="tx1"/>
                          </a:solidFill>
                          <a:effectLst/>
                          <a:latin typeface="+mn-lt"/>
                          <a:ea typeface="+mn-ea"/>
                          <a:cs typeface="+mn-cs"/>
                        </a:rPr>
                      </a:br>
                      <a:r>
                        <a:rPr lang="tr-TR" sz="1100" b="1" kern="1200" dirty="0" smtClean="0">
                          <a:solidFill>
                            <a:schemeClr val="tx1"/>
                          </a:solidFill>
                          <a:effectLst/>
                          <a:latin typeface="+mn-lt"/>
                          <a:ea typeface="+mn-ea"/>
                          <a:cs typeface="+mn-cs"/>
                        </a:rPr>
                        <a:t> Seçim</a:t>
                      </a:r>
                      <a:endParaRPr lang="tr-TR" sz="1100" b="1" kern="1200" dirty="0">
                        <a:solidFill>
                          <a:schemeClr val="tx1"/>
                        </a:solidFill>
                        <a:effectLst/>
                        <a:latin typeface="+mn-lt"/>
                        <a:ea typeface="+mn-ea"/>
                        <a:cs typeface="+mn-cs"/>
                      </a:endParaRPr>
                    </a:p>
                  </a:txBody>
                  <a:tcPr marL="25400" marR="25400" marT="0" marB="0">
                    <a:solidFill>
                      <a:schemeClr val="tx2">
                        <a:lumMod val="60000"/>
                        <a:lumOff val="40000"/>
                      </a:schemeClr>
                    </a:solidFill>
                  </a:tcPr>
                </a:tc>
                <a:tc>
                  <a:txBody>
                    <a:bodyPr/>
                    <a:lstStyle/>
                    <a:p>
                      <a:pPr marL="0" algn="just" defTabSz="914400" rtl="0" eaLnBrk="1" latinLnBrk="0" hangingPunct="1">
                        <a:lnSpc>
                          <a:spcPct val="115000"/>
                        </a:lnSpc>
                        <a:spcBef>
                          <a:spcPts val="600"/>
                        </a:spcBef>
                        <a:spcAft>
                          <a:spcPts val="600"/>
                        </a:spcAft>
                      </a:pPr>
                      <a:r>
                        <a:rPr lang="tr-TR" sz="1100" b="1" kern="1200" dirty="0">
                          <a:solidFill>
                            <a:schemeClr val="tx1"/>
                          </a:solidFill>
                          <a:effectLst/>
                          <a:latin typeface="+mn-lt"/>
                          <a:ea typeface="+mn-ea"/>
                          <a:cs typeface="+mn-cs"/>
                        </a:rPr>
                        <a:t>Yöntem</a:t>
                      </a:r>
                    </a:p>
                  </a:txBody>
                  <a:tcPr marL="25400" marR="25400" marT="0" marB="0" anchor="ctr">
                    <a:solidFill>
                      <a:schemeClr val="tx2">
                        <a:lumMod val="60000"/>
                        <a:lumOff val="40000"/>
                      </a:schemeClr>
                    </a:solidFill>
                  </a:tcPr>
                </a:tc>
              </a:tr>
              <a:tr h="525780">
                <a:tc>
                  <a:txBody>
                    <a:bodyPr/>
                    <a:lstStyle/>
                    <a:p>
                      <a:pPr marL="0" algn="just" defTabSz="914400" rtl="0" eaLnBrk="1" latinLnBrk="0" hangingPunct="1">
                        <a:lnSpc>
                          <a:spcPct val="115000"/>
                        </a:lnSpc>
                        <a:spcAft>
                          <a:spcPts val="0"/>
                        </a:spcAft>
                      </a:pPr>
                      <a:r>
                        <a:rPr lang="tr-TR" sz="1100" b="0" kern="1200" dirty="0">
                          <a:solidFill>
                            <a:schemeClr val="dk1"/>
                          </a:solidFill>
                          <a:effectLst/>
                          <a:latin typeface="+mn-lt"/>
                          <a:ea typeface="+mn-ea"/>
                          <a:cs typeface="+mn-cs"/>
                        </a:rPr>
                        <a:t>Bitişik metin öğeler</a:t>
                      </a:r>
                    </a:p>
                  </a:txBody>
                  <a:tcPr marL="25400" marR="25400" marT="0" marB="0" anchor="ctr"/>
                </a:tc>
                <a:tc>
                  <a:txBody>
                    <a:bodyPr/>
                    <a:lstStyle/>
                    <a:p>
                      <a:pPr marL="0" algn="just" defTabSz="914400" rtl="0" eaLnBrk="1" latinLnBrk="0" hangingPunct="1">
                        <a:lnSpc>
                          <a:spcPct val="115000"/>
                        </a:lnSpc>
                        <a:spcAft>
                          <a:spcPts val="0"/>
                        </a:spcAft>
                      </a:pPr>
                      <a:r>
                        <a:rPr lang="tr-TR" sz="1100" b="0" kern="1200" dirty="0">
                          <a:solidFill>
                            <a:schemeClr val="dk1"/>
                          </a:solidFill>
                          <a:effectLst/>
                          <a:latin typeface="+mn-lt"/>
                          <a:ea typeface="+mn-ea"/>
                          <a:cs typeface="+mn-cs"/>
                        </a:rPr>
                        <a:t>Ekleme noktasını seçilecek metnin başlangıcına getirin, ya da istenilen metni seçmek için tıklayıp sürükleyin ve ardından da farenin düğmesini bırakın.</a:t>
                      </a:r>
                    </a:p>
                  </a:txBody>
                  <a:tcPr marL="25400" marR="25400" marT="0" marB="0" anchor="ctr"/>
                </a:tc>
              </a:tr>
              <a:tr h="281940">
                <a:tc>
                  <a:txBody>
                    <a:bodyPr/>
                    <a:lstStyle/>
                    <a:p>
                      <a:pPr marL="0" algn="just" defTabSz="914400" rtl="0" eaLnBrk="1" latinLnBrk="0" hangingPunct="1">
                        <a:lnSpc>
                          <a:spcPct val="115000"/>
                        </a:lnSpc>
                        <a:spcAft>
                          <a:spcPts val="0"/>
                        </a:spcAft>
                      </a:pPr>
                      <a:r>
                        <a:rPr lang="tr-TR" sz="1100" b="0" kern="1200" dirty="0">
                          <a:solidFill>
                            <a:schemeClr val="dk1"/>
                          </a:solidFill>
                          <a:effectLst/>
                          <a:latin typeface="+mn-lt"/>
                          <a:ea typeface="+mn-ea"/>
                          <a:cs typeface="+mn-cs"/>
                        </a:rPr>
                        <a:t>Sözcük ya da tek Öğe</a:t>
                      </a:r>
                    </a:p>
                  </a:txBody>
                  <a:tcPr marL="25400" marR="25400" marT="0" marB="0" anchor="ctr"/>
                </a:tc>
                <a:tc>
                  <a:txBody>
                    <a:bodyPr/>
                    <a:lstStyle/>
                    <a:p>
                      <a:pPr marL="0" algn="just" defTabSz="914400" rtl="0" eaLnBrk="1" latinLnBrk="0" hangingPunct="1">
                        <a:lnSpc>
                          <a:spcPct val="115000"/>
                        </a:lnSpc>
                        <a:spcAft>
                          <a:spcPts val="0"/>
                        </a:spcAft>
                      </a:pPr>
                      <a:r>
                        <a:rPr lang="tr-TR" sz="1100" b="0" kern="1200" dirty="0">
                          <a:solidFill>
                            <a:schemeClr val="dk1"/>
                          </a:solidFill>
                          <a:effectLst/>
                          <a:latin typeface="+mn-lt"/>
                          <a:ea typeface="+mn-ea"/>
                          <a:cs typeface="+mn-cs"/>
                        </a:rPr>
                        <a:t>Sözcük ya da öğeyi çift tıklayın.</a:t>
                      </a:r>
                    </a:p>
                  </a:txBody>
                  <a:tcPr marL="25400" marR="25400" marT="0" marB="0" anchor="ctr"/>
                </a:tc>
              </a:tr>
              <a:tr h="379730">
                <a:tc>
                  <a:txBody>
                    <a:bodyPr/>
                    <a:lstStyle/>
                    <a:p>
                      <a:pPr marL="0" algn="just" defTabSz="914400" rtl="0" eaLnBrk="1" latinLnBrk="0" hangingPunct="1">
                        <a:lnSpc>
                          <a:spcPct val="115000"/>
                        </a:lnSpc>
                        <a:spcAft>
                          <a:spcPts val="0"/>
                        </a:spcAft>
                      </a:pPr>
                      <a:r>
                        <a:rPr lang="tr-TR" sz="1100" b="0" kern="1200">
                          <a:solidFill>
                            <a:schemeClr val="dk1"/>
                          </a:solidFill>
                          <a:effectLst/>
                          <a:latin typeface="+mn-lt"/>
                          <a:ea typeface="+mn-ea"/>
                          <a:cs typeface="+mn-cs"/>
                        </a:rPr>
                        <a:t>Paragraf</a:t>
                      </a:r>
                    </a:p>
                  </a:txBody>
                  <a:tcPr marL="25400" marR="25400" marT="0" marB="0" anchor="ctr"/>
                </a:tc>
                <a:tc>
                  <a:txBody>
                    <a:bodyPr/>
                    <a:lstStyle/>
                    <a:p>
                      <a:pPr marL="0" algn="just" defTabSz="914400" rtl="0" eaLnBrk="1" latinLnBrk="0" hangingPunct="1">
                        <a:lnSpc>
                          <a:spcPct val="115000"/>
                        </a:lnSpc>
                        <a:spcAft>
                          <a:spcPts val="0"/>
                        </a:spcAft>
                      </a:pPr>
                      <a:r>
                        <a:rPr lang="tr-TR" sz="1100" b="0" kern="1200" dirty="0" smtClean="0">
                          <a:solidFill>
                            <a:schemeClr val="dk1"/>
                          </a:solidFill>
                          <a:effectLst/>
                          <a:latin typeface="+mn-lt"/>
                          <a:ea typeface="+mn-ea"/>
                          <a:cs typeface="+mn-cs"/>
                        </a:rPr>
                        <a:t>Paragrafı üç kez tıklayın ya da paragrafın yanındaki sol kenar boşluğunu çift tıklayın.</a:t>
                      </a:r>
                      <a:endParaRPr lang="tr-TR" sz="1100" b="0" kern="1200" dirty="0">
                        <a:solidFill>
                          <a:schemeClr val="dk1"/>
                        </a:solidFill>
                        <a:effectLst/>
                        <a:latin typeface="+mn-lt"/>
                        <a:ea typeface="+mn-ea"/>
                        <a:cs typeface="+mn-cs"/>
                      </a:endParaRPr>
                    </a:p>
                  </a:txBody>
                  <a:tcPr marL="25400" marR="25400" marT="0" marB="0" anchor="ctr"/>
                </a:tc>
              </a:tr>
              <a:tr h="228600">
                <a:tc>
                  <a:txBody>
                    <a:bodyPr/>
                    <a:lstStyle/>
                    <a:p>
                      <a:pPr marL="0" algn="just" defTabSz="914400" rtl="0" eaLnBrk="1" latinLnBrk="0" hangingPunct="1">
                        <a:lnSpc>
                          <a:spcPct val="115000"/>
                        </a:lnSpc>
                        <a:spcAft>
                          <a:spcPts val="0"/>
                        </a:spcAft>
                      </a:pPr>
                      <a:r>
                        <a:rPr lang="tr-TR" sz="1100" b="0" kern="1200">
                          <a:solidFill>
                            <a:schemeClr val="dk1"/>
                          </a:solidFill>
                          <a:effectLst/>
                          <a:latin typeface="+mn-lt"/>
                          <a:ea typeface="+mn-ea"/>
                          <a:cs typeface="+mn-cs"/>
                        </a:rPr>
                        <a:t>Tüm bir satır</a:t>
                      </a:r>
                    </a:p>
                  </a:txBody>
                  <a:tcPr marL="25400" marR="25400" marT="0" marB="0" anchor="ctr"/>
                </a:tc>
                <a:tc>
                  <a:txBody>
                    <a:bodyPr/>
                    <a:lstStyle/>
                    <a:p>
                      <a:pPr marL="0" algn="just" defTabSz="914400" rtl="0" eaLnBrk="1" latinLnBrk="0" hangingPunct="1">
                        <a:lnSpc>
                          <a:spcPct val="115000"/>
                        </a:lnSpc>
                        <a:spcAft>
                          <a:spcPts val="0"/>
                        </a:spcAft>
                      </a:pPr>
                      <a:r>
                        <a:rPr lang="tr-TR" sz="1100" b="0" kern="1200" dirty="0">
                          <a:solidFill>
                            <a:schemeClr val="dk1"/>
                          </a:solidFill>
                          <a:effectLst/>
                          <a:latin typeface="+mn-lt"/>
                          <a:ea typeface="+mn-ea"/>
                          <a:cs typeface="+mn-cs"/>
                        </a:rPr>
                        <a:t>Sol kenar boşluğunu tıklayın.</a:t>
                      </a:r>
                    </a:p>
                  </a:txBody>
                  <a:tcPr marL="25400" marR="25400" marT="0" marB="0" anchor="ctr"/>
                </a:tc>
              </a:tr>
              <a:tr h="228600">
                <a:tc>
                  <a:txBody>
                    <a:bodyPr/>
                    <a:lstStyle/>
                    <a:p>
                      <a:pPr marL="0" algn="just" defTabSz="914400" rtl="0" eaLnBrk="1" latinLnBrk="0" hangingPunct="1">
                        <a:lnSpc>
                          <a:spcPct val="115000"/>
                        </a:lnSpc>
                        <a:spcAft>
                          <a:spcPts val="0"/>
                        </a:spcAft>
                      </a:pPr>
                      <a:r>
                        <a:rPr lang="tr-TR" sz="1100" b="0" kern="1200">
                          <a:solidFill>
                            <a:schemeClr val="dk1"/>
                          </a:solidFill>
                          <a:effectLst/>
                          <a:latin typeface="+mn-lt"/>
                          <a:ea typeface="+mn-ea"/>
                          <a:cs typeface="+mn-cs"/>
                        </a:rPr>
                        <a:t>Birden çok satır</a:t>
                      </a:r>
                    </a:p>
                  </a:txBody>
                  <a:tcPr marL="25400" marR="25400" marT="0" marB="0" anchor="ctr"/>
                </a:tc>
                <a:tc>
                  <a:txBody>
                    <a:bodyPr/>
                    <a:lstStyle/>
                    <a:p>
                      <a:pPr marL="0" algn="just" defTabSz="914400" rtl="0" eaLnBrk="1" latinLnBrk="0" hangingPunct="1">
                        <a:lnSpc>
                          <a:spcPct val="115000"/>
                        </a:lnSpc>
                        <a:spcAft>
                          <a:spcPts val="0"/>
                        </a:spcAft>
                      </a:pPr>
                      <a:r>
                        <a:rPr lang="tr-TR" sz="1100" b="0" kern="1200" dirty="0">
                          <a:solidFill>
                            <a:schemeClr val="dk1"/>
                          </a:solidFill>
                          <a:effectLst/>
                          <a:latin typeface="+mn-lt"/>
                          <a:ea typeface="+mn-ea"/>
                          <a:cs typeface="+mn-cs"/>
                        </a:rPr>
                        <a:t>Sol kenar boşluğunu tıklayıp sürükleyin.</a:t>
                      </a:r>
                    </a:p>
                  </a:txBody>
                  <a:tcPr marL="25400" marR="25400" marT="0" marB="0" anchor="ctr"/>
                </a:tc>
              </a:tr>
              <a:tr h="524510">
                <a:tc>
                  <a:txBody>
                    <a:bodyPr/>
                    <a:lstStyle/>
                    <a:p>
                      <a:pPr marL="0" algn="just" defTabSz="914400" rtl="0" eaLnBrk="1" latinLnBrk="0" hangingPunct="1">
                        <a:lnSpc>
                          <a:spcPct val="115000"/>
                        </a:lnSpc>
                        <a:spcAft>
                          <a:spcPts val="0"/>
                        </a:spcAft>
                      </a:pPr>
                      <a:r>
                        <a:rPr lang="tr-TR" sz="1100" b="0" kern="1200">
                          <a:solidFill>
                            <a:schemeClr val="dk1"/>
                          </a:solidFill>
                          <a:effectLst/>
                          <a:latin typeface="+mn-lt"/>
                          <a:ea typeface="+mn-ea"/>
                          <a:cs typeface="+mn-cs"/>
                        </a:rPr>
                        <a:t>Metin ya da öğelerin çok sayıdaki bitişik olmayan kullanımları</a:t>
                      </a:r>
                    </a:p>
                  </a:txBody>
                  <a:tcPr marL="25400" marR="25400" marT="0" marB="0" anchor="ctr"/>
                </a:tc>
                <a:tc>
                  <a:txBody>
                    <a:bodyPr/>
                    <a:lstStyle/>
                    <a:p>
                      <a:pPr marL="0" algn="just" defTabSz="914400" rtl="0" eaLnBrk="1" latinLnBrk="0" hangingPunct="1">
                        <a:lnSpc>
                          <a:spcPct val="115000"/>
                        </a:lnSpc>
                        <a:spcAft>
                          <a:spcPts val="0"/>
                        </a:spcAft>
                      </a:pPr>
                      <a:r>
                        <a:rPr lang="tr-TR" sz="1100" b="0" kern="1200" dirty="0">
                          <a:solidFill>
                            <a:schemeClr val="dk1"/>
                          </a:solidFill>
                          <a:effectLst/>
                          <a:latin typeface="+mn-lt"/>
                          <a:ea typeface="+mn-ea"/>
                          <a:cs typeface="+mn-cs"/>
                        </a:rPr>
                        <a:t>İlk öğeyi seçin (yukarıda anlatıldığı gibi), </a:t>
                      </a:r>
                      <a:r>
                        <a:rPr lang="tr-TR" sz="1100" b="0" kern="1200" dirty="0" err="1">
                          <a:solidFill>
                            <a:schemeClr val="dk1"/>
                          </a:solidFill>
                          <a:effectLst/>
                          <a:latin typeface="+mn-lt"/>
                          <a:ea typeface="+mn-ea"/>
                          <a:cs typeface="+mn-cs"/>
                        </a:rPr>
                        <a:t>Ctrl</a:t>
                      </a:r>
                      <a:r>
                        <a:rPr lang="tr-TR" sz="1100" b="0" kern="1200" dirty="0">
                          <a:solidFill>
                            <a:schemeClr val="dk1"/>
                          </a:solidFill>
                          <a:effectLst/>
                          <a:latin typeface="+mn-lt"/>
                          <a:ea typeface="+mn-ea"/>
                          <a:cs typeface="+mn-cs"/>
                        </a:rPr>
                        <a:t> tuşuna basın ve sonra belgenizin başka yerlerindeki ek metin ya da öğeleri seçin.</a:t>
                      </a:r>
                    </a:p>
                  </a:txBody>
                  <a:tcPr marL="25400" marR="25400" marT="0" marB="0" anchor="ctr"/>
                </a:tc>
              </a:tr>
              <a:tr h="229235">
                <a:tc>
                  <a:txBody>
                    <a:bodyPr/>
                    <a:lstStyle/>
                    <a:p>
                      <a:pPr marL="0" algn="just" defTabSz="914400" rtl="0" eaLnBrk="1" latinLnBrk="0" hangingPunct="1">
                        <a:lnSpc>
                          <a:spcPct val="115000"/>
                        </a:lnSpc>
                        <a:spcAft>
                          <a:spcPts val="0"/>
                        </a:spcAft>
                      </a:pPr>
                      <a:r>
                        <a:rPr lang="tr-TR" sz="1100" b="0" kern="1200">
                          <a:solidFill>
                            <a:schemeClr val="dk1"/>
                          </a:solidFill>
                          <a:effectLst/>
                          <a:latin typeface="+mn-lt"/>
                          <a:ea typeface="+mn-ea"/>
                          <a:cs typeface="+mn-cs"/>
                        </a:rPr>
                        <a:t>Bütün bir bölüm</a:t>
                      </a:r>
                    </a:p>
                  </a:txBody>
                  <a:tcPr marL="25400" marR="25400" marT="0" marB="0" anchor="ctr"/>
                </a:tc>
                <a:tc>
                  <a:txBody>
                    <a:bodyPr/>
                    <a:lstStyle/>
                    <a:p>
                      <a:pPr marL="0" algn="just" defTabSz="914400" rtl="0" eaLnBrk="1" latinLnBrk="0" hangingPunct="1">
                        <a:lnSpc>
                          <a:spcPct val="115000"/>
                        </a:lnSpc>
                        <a:spcAft>
                          <a:spcPts val="0"/>
                        </a:spcAft>
                      </a:pPr>
                      <a:r>
                        <a:rPr lang="tr-TR" sz="1100" b="0" kern="1200" dirty="0">
                          <a:solidFill>
                            <a:schemeClr val="dk1"/>
                          </a:solidFill>
                          <a:effectLst/>
                          <a:latin typeface="+mn-lt"/>
                          <a:ea typeface="+mn-ea"/>
                          <a:cs typeface="+mn-cs"/>
                        </a:rPr>
                        <a:t>Belgenizi </a:t>
                      </a:r>
                      <a:r>
                        <a:rPr lang="tr-TR" sz="1100" b="0" kern="1200" dirty="0" err="1">
                          <a:solidFill>
                            <a:schemeClr val="dk1"/>
                          </a:solidFill>
                          <a:effectLst/>
                          <a:latin typeface="+mn-lt"/>
                          <a:ea typeface="+mn-ea"/>
                          <a:cs typeface="+mn-cs"/>
                        </a:rPr>
                        <a:t>Anahat</a:t>
                      </a:r>
                      <a:r>
                        <a:rPr lang="tr-TR" sz="1100" b="0" kern="1200" dirty="0">
                          <a:solidFill>
                            <a:schemeClr val="dk1"/>
                          </a:solidFill>
                          <a:effectLst/>
                          <a:latin typeface="+mn-lt"/>
                          <a:ea typeface="+mn-ea"/>
                          <a:cs typeface="+mn-cs"/>
                        </a:rPr>
                        <a:t> görünümünde görüntüleyin ve bir başlığı çift tıklayın</a:t>
                      </a:r>
                    </a:p>
                  </a:txBody>
                  <a:tcPr marL="25400" marR="25400" marT="0" marB="0" anchor="ctr"/>
                </a:tc>
              </a:tr>
              <a:tr h="384175">
                <a:tc>
                  <a:txBody>
                    <a:bodyPr/>
                    <a:lstStyle/>
                    <a:p>
                      <a:pPr marL="0" algn="just" defTabSz="914400" rtl="0" eaLnBrk="1" latinLnBrk="0" hangingPunct="1">
                        <a:lnSpc>
                          <a:spcPct val="115000"/>
                        </a:lnSpc>
                        <a:spcAft>
                          <a:spcPts val="0"/>
                        </a:spcAft>
                      </a:pPr>
                      <a:r>
                        <a:rPr lang="tr-TR" sz="1100" b="0" kern="1200">
                          <a:solidFill>
                            <a:schemeClr val="dk1"/>
                          </a:solidFill>
                          <a:effectLst/>
                          <a:latin typeface="+mn-lt"/>
                          <a:ea typeface="+mn-ea"/>
                          <a:cs typeface="+mn-cs"/>
                        </a:rPr>
                        <a:t>Büyük bir metin bloğu</a:t>
                      </a:r>
                    </a:p>
                  </a:txBody>
                  <a:tcPr marL="25400" marR="25400" marT="0" marB="0" anchor="ctr"/>
                </a:tc>
                <a:tc>
                  <a:txBody>
                    <a:bodyPr/>
                    <a:lstStyle/>
                    <a:p>
                      <a:pPr marL="0" algn="just" defTabSz="914400" rtl="0" eaLnBrk="1" latinLnBrk="0" hangingPunct="1">
                        <a:lnSpc>
                          <a:spcPct val="115000"/>
                        </a:lnSpc>
                        <a:spcAft>
                          <a:spcPts val="0"/>
                        </a:spcAft>
                      </a:pPr>
                      <a:r>
                        <a:rPr lang="tr-TR" sz="1100" b="0" kern="1200" dirty="0">
                          <a:solidFill>
                            <a:schemeClr val="dk1"/>
                          </a:solidFill>
                          <a:effectLst/>
                          <a:latin typeface="+mn-lt"/>
                          <a:ea typeface="+mn-ea"/>
                          <a:cs typeface="+mn-cs"/>
                        </a:rPr>
                        <a:t>Seçimin başlangıcını tıklayın, seçimin en sonuna gidin ve sonra fareyle tıklarken </a:t>
                      </a:r>
                      <a:r>
                        <a:rPr lang="tr-TR" sz="1100" b="0" kern="1200" dirty="0" err="1">
                          <a:solidFill>
                            <a:schemeClr val="dk1"/>
                          </a:solidFill>
                          <a:effectLst/>
                          <a:latin typeface="+mn-lt"/>
                          <a:ea typeface="+mn-ea"/>
                          <a:cs typeface="+mn-cs"/>
                        </a:rPr>
                        <a:t>ÜstKrkt</a:t>
                      </a:r>
                      <a:r>
                        <a:rPr lang="tr-TR" sz="1100" b="0" kern="1200" dirty="0">
                          <a:solidFill>
                            <a:schemeClr val="dk1"/>
                          </a:solidFill>
                          <a:effectLst/>
                          <a:latin typeface="+mn-lt"/>
                          <a:ea typeface="+mn-ea"/>
                          <a:cs typeface="+mn-cs"/>
                        </a:rPr>
                        <a:t> tuşunu basılı tutun.</a:t>
                      </a:r>
                    </a:p>
                  </a:txBody>
                  <a:tcPr marL="25400" marR="25400" marT="0" marB="0" anchor="ctr"/>
                </a:tc>
              </a:tr>
              <a:tr h="709930">
                <a:tc>
                  <a:txBody>
                    <a:bodyPr/>
                    <a:lstStyle/>
                    <a:p>
                      <a:pPr marL="0" algn="just" defTabSz="914400" rtl="0" eaLnBrk="1" latinLnBrk="0" hangingPunct="1">
                        <a:lnSpc>
                          <a:spcPct val="115000"/>
                        </a:lnSpc>
                        <a:spcAft>
                          <a:spcPts val="0"/>
                        </a:spcAft>
                      </a:pPr>
                      <a:r>
                        <a:rPr lang="tr-TR" sz="1100" b="0" kern="1200">
                          <a:solidFill>
                            <a:schemeClr val="dk1"/>
                          </a:solidFill>
                          <a:effectLst/>
                          <a:latin typeface="+mn-lt"/>
                          <a:ea typeface="+mn-ea"/>
                          <a:cs typeface="+mn-cs"/>
                        </a:rPr>
                        <a:t>Seçimi Genişlet modunu kullanan metin blokları</a:t>
                      </a:r>
                    </a:p>
                  </a:txBody>
                  <a:tcPr marL="25400" marR="25400" marT="0" marB="0" anchor="ctr"/>
                </a:tc>
                <a:tc>
                  <a:txBody>
                    <a:bodyPr/>
                    <a:lstStyle/>
                    <a:p>
                      <a:pPr marL="0" algn="just" defTabSz="914400" rtl="0" eaLnBrk="1" latinLnBrk="0" hangingPunct="1">
                        <a:lnSpc>
                          <a:spcPct val="115000"/>
                        </a:lnSpc>
                        <a:spcAft>
                          <a:spcPts val="0"/>
                        </a:spcAft>
                      </a:pPr>
                      <a:r>
                        <a:rPr lang="tr-TR" sz="1100" b="0" kern="1200" dirty="0">
                          <a:solidFill>
                            <a:schemeClr val="dk1"/>
                          </a:solidFill>
                          <a:effectLst/>
                          <a:latin typeface="+mn-lt"/>
                          <a:ea typeface="+mn-ea"/>
                          <a:cs typeface="+mn-cs"/>
                        </a:rPr>
                        <a:t>Seçeceğiniz metnin en başını tıklayın, sonra durum çubuğundaki SEÇ düğmesini çift tıklayın ve seçeceğiniz metnin en sonunu tıklayın. Seçimi Genişlet </a:t>
                      </a:r>
                      <a:r>
                        <a:rPr lang="tr-TR" sz="1100" b="0" kern="1200" dirty="0" err="1">
                          <a:solidFill>
                            <a:schemeClr val="dk1"/>
                          </a:solidFill>
                          <a:effectLst/>
                          <a:latin typeface="+mn-lt"/>
                          <a:ea typeface="+mn-ea"/>
                          <a:cs typeface="+mn-cs"/>
                        </a:rPr>
                        <a:t>modunu</a:t>
                      </a:r>
                      <a:r>
                        <a:rPr lang="tr-TR" sz="1100" b="0" kern="1200" dirty="0">
                          <a:solidFill>
                            <a:schemeClr val="dk1"/>
                          </a:solidFill>
                          <a:effectLst/>
                          <a:latin typeface="+mn-lt"/>
                          <a:ea typeface="+mn-ea"/>
                          <a:cs typeface="+mn-cs"/>
                        </a:rPr>
                        <a:t> devre dışı bırakmak için </a:t>
                      </a:r>
                      <a:r>
                        <a:rPr lang="tr-TR" sz="1100" b="0" kern="1200" dirty="0" err="1">
                          <a:solidFill>
                            <a:schemeClr val="dk1"/>
                          </a:solidFill>
                          <a:effectLst/>
                          <a:latin typeface="+mn-lt"/>
                          <a:ea typeface="+mn-ea"/>
                          <a:cs typeface="+mn-cs"/>
                        </a:rPr>
                        <a:t>Esc</a:t>
                      </a:r>
                      <a:r>
                        <a:rPr lang="tr-TR" sz="1100" b="0" kern="1200" dirty="0">
                          <a:solidFill>
                            <a:schemeClr val="dk1"/>
                          </a:solidFill>
                          <a:effectLst/>
                          <a:latin typeface="+mn-lt"/>
                          <a:ea typeface="+mn-ea"/>
                          <a:cs typeface="+mn-cs"/>
                        </a:rPr>
                        <a:t> tuşuna basın ya da durum çubuğunda silik bir görünüm alması için SEÇ düğmesini çift tıklayın.</a:t>
                      </a:r>
                    </a:p>
                  </a:txBody>
                  <a:tcPr marL="25400" marR="25400" marT="0" marB="0" anchor="ctr"/>
                </a:tc>
              </a:tr>
              <a:tr h="228600">
                <a:tc>
                  <a:txBody>
                    <a:bodyPr/>
                    <a:lstStyle/>
                    <a:p>
                      <a:pPr algn="just">
                        <a:lnSpc>
                          <a:spcPct val="115000"/>
                        </a:lnSpc>
                        <a:spcAft>
                          <a:spcPts val="1000"/>
                        </a:spcAft>
                      </a:pPr>
                      <a:r>
                        <a:rPr lang="tr-TR" sz="1100" b="0" dirty="0">
                          <a:effectLst/>
                        </a:rPr>
                        <a:t>Dikey metin bloğu</a:t>
                      </a:r>
                      <a:endParaRPr lang="tr-TR" sz="1100" b="0" dirty="0">
                        <a:effectLst/>
                        <a:latin typeface="Calibri"/>
                        <a:ea typeface="Calibri"/>
                        <a:cs typeface="Times New Roman"/>
                      </a:endParaRPr>
                    </a:p>
                  </a:txBody>
                  <a:tcPr marL="25400" marR="25400" marT="0" marB="0" anchor="ctr"/>
                </a:tc>
                <a:tc>
                  <a:txBody>
                    <a:bodyPr/>
                    <a:lstStyle/>
                    <a:p>
                      <a:pPr algn="just">
                        <a:lnSpc>
                          <a:spcPct val="115000"/>
                        </a:lnSpc>
                        <a:spcAft>
                          <a:spcPts val="1000"/>
                        </a:spcAft>
                      </a:pPr>
                      <a:r>
                        <a:rPr lang="tr-TR" sz="1100" b="0">
                          <a:effectLst/>
                        </a:rPr>
                        <a:t>Alt tuşuna basın ve metin boyunca kayın.</a:t>
                      </a:r>
                      <a:endParaRPr lang="tr-TR" sz="1100" b="0">
                        <a:effectLst/>
                        <a:latin typeface="Calibri"/>
                        <a:ea typeface="Calibri"/>
                        <a:cs typeface="Times New Roman"/>
                      </a:endParaRPr>
                    </a:p>
                  </a:txBody>
                  <a:tcPr marL="25400" marR="25400" marT="0" marB="0" anchor="ctr"/>
                </a:tc>
              </a:tr>
              <a:tr h="278765">
                <a:tc>
                  <a:txBody>
                    <a:bodyPr/>
                    <a:lstStyle/>
                    <a:p>
                      <a:pPr algn="just">
                        <a:lnSpc>
                          <a:spcPct val="115000"/>
                        </a:lnSpc>
                        <a:spcAft>
                          <a:spcPts val="1000"/>
                        </a:spcAft>
                      </a:pPr>
                      <a:r>
                        <a:rPr lang="tr-TR" sz="1100" b="0">
                          <a:effectLst/>
                        </a:rPr>
                        <a:t>Belgenin tümü</a:t>
                      </a:r>
                      <a:endParaRPr lang="tr-TR" sz="1100" b="0">
                        <a:effectLst/>
                        <a:latin typeface="Calibri"/>
                        <a:ea typeface="Calibri"/>
                        <a:cs typeface="Times New Roman"/>
                      </a:endParaRPr>
                    </a:p>
                  </a:txBody>
                  <a:tcPr marL="25400" marR="25400" marT="0" marB="0" anchor="ctr"/>
                </a:tc>
                <a:tc>
                  <a:txBody>
                    <a:bodyPr/>
                    <a:lstStyle/>
                    <a:p>
                      <a:pPr algn="just">
                        <a:lnSpc>
                          <a:spcPct val="115000"/>
                        </a:lnSpc>
                        <a:spcAft>
                          <a:spcPts val="1000"/>
                        </a:spcAft>
                      </a:pPr>
                      <a:r>
                        <a:rPr lang="tr-TR" sz="1100" b="0" dirty="0">
                          <a:effectLst/>
                        </a:rPr>
                        <a:t>Sol kenar boşluğuna üç kez tıklayın ya da </a:t>
                      </a:r>
                      <a:r>
                        <a:rPr lang="tr-TR" sz="1100" b="0" dirty="0" err="1">
                          <a:effectLst/>
                        </a:rPr>
                        <a:t>Ctrl+A</a:t>
                      </a:r>
                      <a:r>
                        <a:rPr lang="tr-TR" sz="1100" b="0" dirty="0">
                          <a:effectLst/>
                        </a:rPr>
                        <a:t> tuşlarına basın.</a:t>
                      </a:r>
                      <a:endParaRPr lang="tr-TR" sz="1100" b="0" dirty="0">
                        <a:effectLst/>
                        <a:latin typeface="Calibri"/>
                        <a:ea typeface="Calibri"/>
                        <a:cs typeface="Times New Roman"/>
                      </a:endParaRPr>
                    </a:p>
                  </a:txBody>
                  <a:tcPr marL="25400" marR="25400" marT="0" marB="0" anchor="ctr"/>
                </a:tc>
              </a:tr>
            </a:tbl>
          </a:graphicData>
        </a:graphic>
      </p:graphicFrame>
    </p:spTree>
    <p:custDataLst>
      <p:tags r:id="rId1"/>
    </p:custDataLst>
    <p:extLst>
      <p:ext uri="{BB962C8B-B14F-4D97-AF65-F5344CB8AC3E}">
        <p14:creationId xmlns:p14="http://schemas.microsoft.com/office/powerpoint/2010/main" val="68281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Veri Düzenlemek</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8763000" cy="307777"/>
          </a:xfrm>
          <a:prstGeom prst="rect">
            <a:avLst/>
          </a:prstGeom>
          <a:noFill/>
        </p:spPr>
        <p:txBody>
          <a:bodyPr wrap="square" rtlCol="0">
            <a:spAutoFit/>
          </a:bodyPr>
          <a:lstStyle/>
          <a:p>
            <a:r>
              <a:rPr lang="pt-BR" sz="1400" b="1" dirty="0">
                <a:solidFill>
                  <a:schemeClr val="bg1"/>
                </a:solidFill>
              </a:rPr>
              <a:t>Belgeye girilmiş veriler arasına karakter ve sözcük ekleme veya metin üzerine </a:t>
            </a:r>
            <a:r>
              <a:rPr lang="pt-BR" sz="1400" b="1" dirty="0" smtClean="0">
                <a:solidFill>
                  <a:schemeClr val="bg1"/>
                </a:solidFill>
              </a:rPr>
              <a:t>yazma</a:t>
            </a:r>
            <a:r>
              <a:rPr lang="tr-TR" sz="1400" b="1" dirty="0" smtClean="0">
                <a:solidFill>
                  <a:schemeClr val="bg1"/>
                </a:solidFill>
              </a:rPr>
              <a:t> </a:t>
            </a:r>
            <a:r>
              <a:rPr lang="pt-BR" sz="1400" b="1" dirty="0" smtClean="0">
                <a:solidFill>
                  <a:schemeClr val="bg1"/>
                </a:solidFill>
              </a:rPr>
              <a:t>gibi</a:t>
            </a:r>
            <a:r>
              <a:rPr lang="tr-TR" sz="1400" b="1" dirty="0" smtClean="0">
                <a:solidFill>
                  <a:schemeClr val="bg1"/>
                </a:solidFill>
              </a:rPr>
              <a:t> </a:t>
            </a:r>
            <a:r>
              <a:rPr lang="pt-BR" sz="1400" b="1" dirty="0" smtClean="0">
                <a:solidFill>
                  <a:schemeClr val="bg1"/>
                </a:solidFill>
              </a:rPr>
              <a:t>düzenlemeleri </a:t>
            </a:r>
            <a:r>
              <a:rPr lang="pt-BR" sz="1400" b="1" dirty="0">
                <a:solidFill>
                  <a:schemeClr val="bg1"/>
                </a:solidFill>
              </a:rPr>
              <a:t>yapar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33400" y="1143000"/>
            <a:ext cx="7772400" cy="1323439"/>
          </a:xfrm>
          <a:prstGeom prst="rect">
            <a:avLst/>
          </a:prstGeom>
          <a:noFill/>
        </p:spPr>
        <p:txBody>
          <a:bodyPr wrap="square" rtlCol="0">
            <a:spAutoFit/>
          </a:bodyPr>
          <a:lstStyle/>
          <a:p>
            <a:r>
              <a:rPr lang="tr-TR" sz="1600" dirty="0"/>
              <a:t>Word belgesine bilgileri ekledikten sonra, belgenize yeni bir şeyler eklemek, içeriğini düzenlemek için üzerinde gezinmek gerekecektir</a:t>
            </a:r>
            <a:r>
              <a:rPr lang="tr-TR" sz="1600" dirty="0" smtClean="0"/>
              <a:t>. Bunun için</a:t>
            </a:r>
          </a:p>
          <a:p>
            <a:pPr marL="342900" indent="-342900">
              <a:buFont typeface="+mj-lt"/>
              <a:buAutoNum type="arabicPeriod"/>
            </a:pPr>
            <a:r>
              <a:rPr lang="tr-TR" sz="1600" b="1" dirty="0" smtClean="0"/>
              <a:t>Kaydırma Çubuklarını</a:t>
            </a:r>
          </a:p>
          <a:p>
            <a:pPr marL="342900" indent="-342900">
              <a:buFont typeface="+mj-lt"/>
              <a:buAutoNum type="arabicPeriod"/>
            </a:pPr>
            <a:r>
              <a:rPr lang="tr-TR" sz="1600" b="1" dirty="0" smtClean="0"/>
              <a:t>Klavye </a:t>
            </a:r>
            <a:r>
              <a:rPr lang="tr-TR" sz="1600" b="1" dirty="0" err="1" smtClean="0"/>
              <a:t>Kısayollarını</a:t>
            </a:r>
            <a:endParaRPr lang="tr-TR" sz="1600" b="1" dirty="0" smtClean="0"/>
          </a:p>
          <a:p>
            <a:pPr marL="342900" indent="-342900">
              <a:buFont typeface="+mj-lt"/>
              <a:buAutoNum type="arabicPeriod"/>
            </a:pPr>
            <a:r>
              <a:rPr lang="tr-TR" sz="1600" b="1" dirty="0" smtClean="0"/>
              <a:t>Belge Tarayıcısını </a:t>
            </a:r>
            <a:r>
              <a:rPr lang="tr-TR" sz="1600" dirty="0" smtClean="0"/>
              <a:t>kullanabiliriz</a:t>
            </a:r>
            <a:endParaRPr lang="tr-TR" sz="1600" dirty="0"/>
          </a:p>
        </p:txBody>
      </p:sp>
      <p:pic>
        <p:nvPicPr>
          <p:cNvPr id="13" name="Resim 12" descr="C:\Users\YILMAZ\AppData\Local\Temp\SNAGHTML89eb0c.PNG"/>
          <p:cNvPicPr/>
          <p:nvPr/>
        </p:nvPicPr>
        <p:blipFill>
          <a:blip r:embed="rId12">
            <a:extLst>
              <a:ext uri="{28A0092B-C50C-407E-A947-70E740481C1C}">
                <a14:useLocalDpi xmlns:a14="http://schemas.microsoft.com/office/drawing/2010/main" val="0"/>
              </a:ext>
            </a:extLst>
          </a:blip>
          <a:srcRect/>
          <a:stretch>
            <a:fillRect/>
          </a:stretch>
        </p:blipFill>
        <p:spPr bwMode="auto">
          <a:xfrm>
            <a:off x="6858000" y="2867025"/>
            <a:ext cx="1733550" cy="1552575"/>
          </a:xfrm>
          <a:prstGeom prst="rect">
            <a:avLst/>
          </a:prstGeom>
          <a:noFill/>
          <a:ln>
            <a:noFill/>
          </a:ln>
        </p:spPr>
      </p:pic>
      <p:graphicFrame>
        <p:nvGraphicFramePr>
          <p:cNvPr id="3" name="Tablo 2"/>
          <p:cNvGraphicFramePr>
            <a:graphicFrameLocks noGrp="1"/>
          </p:cNvGraphicFramePr>
          <p:nvPr>
            <p:custDataLst>
              <p:tags r:id="rId6"/>
            </p:custDataLst>
            <p:extLst>
              <p:ext uri="{D42A27DB-BD31-4B8C-83A1-F6EECF244321}">
                <p14:modId xmlns:p14="http://schemas.microsoft.com/office/powerpoint/2010/main" val="1870021222"/>
              </p:ext>
            </p:extLst>
          </p:nvPr>
        </p:nvGraphicFramePr>
        <p:xfrm>
          <a:off x="533400" y="2590800"/>
          <a:ext cx="6172200" cy="3200400"/>
        </p:xfrm>
        <a:graphic>
          <a:graphicData uri="http://schemas.openxmlformats.org/drawingml/2006/table">
            <a:tbl>
              <a:tblPr firstRow="1" firstCol="1" lastRow="1" lastCol="1" bandRow="1" bandCol="1">
                <a:tableStyleId>{5C22544A-7EE6-4342-B048-85BDC9FD1C3A}</a:tableStyleId>
              </a:tblPr>
              <a:tblGrid>
                <a:gridCol w="1780911"/>
                <a:gridCol w="4391289"/>
              </a:tblGrid>
              <a:tr h="213360">
                <a:tc>
                  <a:txBody>
                    <a:bodyPr/>
                    <a:lstStyle/>
                    <a:p>
                      <a:pPr algn="just">
                        <a:lnSpc>
                          <a:spcPct val="115000"/>
                        </a:lnSpc>
                        <a:spcBef>
                          <a:spcPts val="600"/>
                        </a:spcBef>
                        <a:spcAft>
                          <a:spcPts val="600"/>
                        </a:spcAft>
                      </a:pPr>
                      <a:r>
                        <a:rPr lang="tr-TR" sz="1000" dirty="0">
                          <a:effectLst/>
                        </a:rPr>
                        <a:t>Klavye </a:t>
                      </a:r>
                      <a:r>
                        <a:rPr lang="tr-TR" sz="1000" dirty="0" err="1">
                          <a:effectLst/>
                        </a:rPr>
                        <a:t>Kısayolu</a:t>
                      </a:r>
                      <a:endParaRPr lang="tr-TR" sz="1100" dirty="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İşlevi</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Sağ Ok Tuşu (</a:t>
                      </a:r>
                      <a:r>
                        <a:rPr lang="tr-TR" sz="1000">
                          <a:effectLst/>
                          <a:sym typeface="Wingdings 3"/>
                        </a:rPr>
                        <a:t></a:t>
                      </a:r>
                      <a:r>
                        <a:rPr lang="tr-TR" sz="1000">
                          <a:effectLst/>
                        </a:rPr>
                        <a:t>)</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bir karakter sağa taşır. </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Sol Ok Tuşu (</a:t>
                      </a:r>
                      <a:r>
                        <a:rPr lang="tr-TR" sz="1000">
                          <a:effectLst/>
                          <a:sym typeface="Wingdings 3"/>
                        </a:rPr>
                        <a:t></a:t>
                      </a:r>
                      <a:r>
                        <a:rPr lang="tr-TR" sz="1000">
                          <a:effectLst/>
                        </a:rPr>
                        <a:t>)</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bir karakter sola taşır. </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Yukarı Ok Tuşu (</a:t>
                      </a:r>
                      <a:r>
                        <a:rPr lang="tr-TR" sz="1000">
                          <a:effectLst/>
                          <a:sym typeface="Wingdings 3"/>
                        </a:rPr>
                        <a:t></a:t>
                      </a:r>
                      <a:r>
                        <a:rPr lang="tr-TR" sz="1000">
                          <a:effectLst/>
                        </a:rPr>
                        <a:t>)</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bir satır yukarı taşır.</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Aşağı Ok Tuşu (</a:t>
                      </a:r>
                      <a:r>
                        <a:rPr lang="tr-TR" sz="1000">
                          <a:effectLst/>
                          <a:sym typeface="Wingdings 3"/>
                        </a:rPr>
                        <a:t></a:t>
                      </a:r>
                      <a:r>
                        <a:rPr lang="tr-TR" sz="1000">
                          <a:effectLst/>
                        </a:rPr>
                        <a:t>)</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bir satır aşağı taşır. </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Ctrl+Sağ Ok (</a:t>
                      </a:r>
                      <a:r>
                        <a:rPr lang="tr-TR" sz="1000">
                          <a:effectLst/>
                          <a:sym typeface="Wingdings 3"/>
                        </a:rPr>
                        <a:t></a:t>
                      </a:r>
                      <a:r>
                        <a:rPr lang="tr-TR" sz="1000">
                          <a:effectLst/>
                        </a:rPr>
                        <a:t>)</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bir sözcük ileri taşır.</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Ctrl+Sol Ok (</a:t>
                      </a:r>
                      <a:r>
                        <a:rPr lang="tr-TR" sz="1000">
                          <a:effectLst/>
                          <a:sym typeface="Wingdings 3"/>
                        </a:rPr>
                        <a:t></a:t>
                      </a:r>
                      <a:r>
                        <a:rPr lang="tr-TR" sz="1000">
                          <a:effectLst/>
                        </a:rPr>
                        <a:t>)</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bir sözcük geri taşır.</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Home</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satırın başına taşır.</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End</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satırın sonuna taşır.</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Ctrl+Yukarı Ok (</a:t>
                      </a:r>
                      <a:r>
                        <a:rPr lang="tr-TR" sz="1000">
                          <a:effectLst/>
                          <a:sym typeface="Wingdings 3"/>
                        </a:rPr>
                        <a:t></a:t>
                      </a:r>
                      <a:r>
                        <a:rPr lang="tr-TR" sz="1000">
                          <a:effectLst/>
                        </a:rPr>
                        <a:t>)</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bir paragraf yukarı taşır.</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Ctrl+Aşağı Ok (</a:t>
                      </a:r>
                      <a:r>
                        <a:rPr lang="tr-TR" sz="1000">
                          <a:effectLst/>
                          <a:sym typeface="Wingdings 3"/>
                        </a:rPr>
                        <a:t></a:t>
                      </a:r>
                      <a:r>
                        <a:rPr lang="tr-TR" sz="1000">
                          <a:effectLst/>
                        </a:rPr>
                        <a:t>)</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dirty="0">
                          <a:effectLst/>
                        </a:rPr>
                        <a:t>Ekleme noktasını bir paragraf aşağı taşır.</a:t>
                      </a:r>
                      <a:endParaRPr lang="tr-TR" sz="1100" dirty="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Page Up</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bir sayfa yukarı taşır.</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Page Down</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bir sayfa aşağı taşır.</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Ctrl+Home</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a:effectLst/>
                        </a:rPr>
                        <a:t>Ekleme noktasını içeriğin başlangıcına taşır.</a:t>
                      </a:r>
                      <a:endParaRPr lang="tr-TR" sz="1100">
                        <a:effectLst/>
                        <a:latin typeface="Calibri"/>
                        <a:ea typeface="Calibri"/>
                        <a:cs typeface="Times New Roman"/>
                      </a:endParaRPr>
                    </a:p>
                  </a:txBody>
                  <a:tcPr marL="68580" marR="68580" marT="0" marB="0"/>
                </a:tc>
              </a:tr>
              <a:tr h="213360">
                <a:tc>
                  <a:txBody>
                    <a:bodyPr/>
                    <a:lstStyle/>
                    <a:p>
                      <a:pPr algn="just">
                        <a:lnSpc>
                          <a:spcPct val="115000"/>
                        </a:lnSpc>
                        <a:spcBef>
                          <a:spcPts val="600"/>
                        </a:spcBef>
                        <a:spcAft>
                          <a:spcPts val="600"/>
                        </a:spcAft>
                      </a:pPr>
                      <a:r>
                        <a:rPr lang="tr-TR" sz="1000">
                          <a:effectLst/>
                        </a:rPr>
                        <a:t>Ctrl+End</a:t>
                      </a:r>
                      <a:endParaRPr lang="tr-TR" sz="1100">
                        <a:effectLst/>
                        <a:latin typeface="Calibri"/>
                        <a:ea typeface="Calibri"/>
                        <a:cs typeface="Times New Roman"/>
                      </a:endParaRPr>
                    </a:p>
                  </a:txBody>
                  <a:tcPr marL="68580" marR="68580" marT="0" marB="0"/>
                </a:tc>
                <a:tc>
                  <a:txBody>
                    <a:bodyPr/>
                    <a:lstStyle/>
                    <a:p>
                      <a:pPr algn="just">
                        <a:lnSpc>
                          <a:spcPct val="115000"/>
                        </a:lnSpc>
                        <a:spcBef>
                          <a:spcPts val="600"/>
                        </a:spcBef>
                        <a:spcAft>
                          <a:spcPts val="600"/>
                        </a:spcAft>
                      </a:pPr>
                      <a:r>
                        <a:rPr lang="tr-TR" sz="1000" dirty="0">
                          <a:effectLst/>
                        </a:rPr>
                        <a:t>Ekleme noktasını içeriğin sonuna taşır.</a:t>
                      </a:r>
                      <a:endParaRPr lang="tr-TR" sz="1100" dirty="0">
                        <a:effectLst/>
                        <a:latin typeface="Calibri"/>
                        <a:ea typeface="Calibri"/>
                        <a:cs typeface="Times New Roman"/>
                      </a:endParaRPr>
                    </a:p>
                  </a:txBody>
                  <a:tcPr marL="68580" marR="68580" marT="0" marB="0"/>
                </a:tc>
              </a:tr>
            </a:tbl>
          </a:graphicData>
        </a:graphic>
      </p:graphicFrame>
    </p:spTree>
    <p:custDataLst>
      <p:tags r:id="rId1"/>
    </p:custDataLst>
    <p:extLst>
      <p:ext uri="{BB962C8B-B14F-4D97-AF65-F5344CB8AC3E}">
        <p14:creationId xmlns:p14="http://schemas.microsoft.com/office/powerpoint/2010/main" val="29100053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Geri Almak veya Tekrar Yapmak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pt-BR" sz="1400" b="1" dirty="0">
                <a:solidFill>
                  <a:schemeClr val="bg1"/>
                </a:solidFill>
              </a:rPr>
              <a:t>Belge üzerinde yaptığı düzenlemeleri geri alır veya tekrar 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143000"/>
            <a:ext cx="7772400" cy="2308324"/>
          </a:xfrm>
          <a:prstGeom prst="rect">
            <a:avLst/>
          </a:prstGeom>
          <a:noFill/>
        </p:spPr>
        <p:txBody>
          <a:bodyPr wrap="square" rtlCol="0">
            <a:spAutoFit/>
          </a:bodyPr>
          <a:lstStyle/>
          <a:p>
            <a:r>
              <a:rPr lang="tr-TR" sz="1600" dirty="0" smtClean="0"/>
              <a:t>Yaptığımız düzenlemeleri geri almak için</a:t>
            </a:r>
          </a:p>
          <a:p>
            <a:pPr marL="342900" indent="-342900">
              <a:buFont typeface="+mj-lt"/>
              <a:buAutoNum type="arabicPeriod"/>
            </a:pPr>
            <a:r>
              <a:rPr lang="tr-TR" sz="1600" b="1" dirty="0" smtClean="0"/>
              <a:t>Giriş sekmesi&gt;Hızlı erişim araç çubuğu&gt; Geri al yapıştır </a:t>
            </a:r>
          </a:p>
          <a:p>
            <a:pPr marL="342900" indent="-342900">
              <a:buFont typeface="+mj-lt"/>
              <a:buAutoNum type="arabicPeriod"/>
            </a:pPr>
            <a:r>
              <a:rPr lang="tr-TR" sz="1600" b="1" dirty="0" err="1" smtClean="0"/>
              <a:t>Ctrl+Z</a:t>
            </a:r>
            <a:endParaRPr lang="tr-TR" sz="1600" b="1" dirty="0" smtClean="0"/>
          </a:p>
          <a:p>
            <a:pPr marL="342900" indent="-342900">
              <a:buFont typeface="+mj-lt"/>
              <a:buAutoNum type="arabicPeriod"/>
            </a:pPr>
            <a:r>
              <a:rPr lang="tr-TR" sz="1600" b="1" dirty="0" err="1"/>
              <a:t>Alt+Geri</a:t>
            </a:r>
            <a:r>
              <a:rPr lang="tr-TR" sz="1600" dirty="0"/>
              <a:t> tuşlarına </a:t>
            </a:r>
            <a:r>
              <a:rPr lang="tr-TR" sz="1600" dirty="0" smtClean="0"/>
              <a:t>basın.</a:t>
            </a:r>
            <a:endParaRPr lang="tr-TR" sz="1600" dirty="0"/>
          </a:p>
          <a:p>
            <a:r>
              <a:rPr lang="tr-TR" sz="1600" dirty="0" smtClean="0"/>
              <a:t>Geri aldığımız değişiklikleri tekrar yapmak için</a:t>
            </a:r>
          </a:p>
          <a:p>
            <a:pPr marL="342900" indent="-342900">
              <a:buFont typeface="+mj-lt"/>
              <a:buAutoNum type="arabicPeriod"/>
            </a:pPr>
            <a:r>
              <a:rPr lang="tr-TR" sz="1600" b="1" dirty="0"/>
              <a:t>Giriş sekmesi&gt;Hızlı erişim araç çubuğu&gt; </a:t>
            </a:r>
            <a:r>
              <a:rPr lang="tr-TR" sz="1600" b="1" dirty="0" smtClean="0"/>
              <a:t>Yeniden yazı</a:t>
            </a:r>
          </a:p>
          <a:p>
            <a:pPr marL="342900" indent="-342900">
              <a:buFont typeface="+mj-lt"/>
              <a:buAutoNum type="arabicPeriod"/>
            </a:pPr>
            <a:r>
              <a:rPr lang="tr-TR" sz="1600" b="1" dirty="0" err="1" smtClean="0"/>
              <a:t>Ctrl+Y</a:t>
            </a:r>
            <a:endParaRPr lang="tr-TR" sz="1600" b="1" dirty="0" smtClean="0"/>
          </a:p>
          <a:p>
            <a:pPr marL="342900" indent="-342900">
              <a:buFont typeface="+mj-lt"/>
              <a:buAutoNum type="arabicPeriod"/>
            </a:pPr>
            <a:r>
              <a:rPr lang="tr-TR" sz="1600" b="1" dirty="0" smtClean="0"/>
              <a:t>F4 </a:t>
            </a:r>
            <a:r>
              <a:rPr lang="tr-TR" sz="1600" dirty="0" smtClean="0"/>
              <a:t>tuşları kullanılır</a:t>
            </a:r>
            <a:endParaRPr lang="tr-TR" sz="1600" b="1" dirty="0" smtClean="0"/>
          </a:p>
          <a:p>
            <a:pPr marL="342900" indent="-342900">
              <a:buFont typeface="+mj-lt"/>
              <a:buAutoNum type="arabicPeriod"/>
            </a:pPr>
            <a:endParaRPr lang="tr-TR" sz="1600" b="1" dirty="0"/>
          </a:p>
        </p:txBody>
      </p:sp>
      <p:pic>
        <p:nvPicPr>
          <p:cNvPr id="5124" name="Picture 4" descr="C:\Users\YILMAZ\AppData\Local\Temp\SNAGHTML9c46d2.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3600" y="1371599"/>
            <a:ext cx="1409700" cy="590551"/>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C:\Users\YILMAZ\AppData\Local\Temp\SNAGHTML9e5331.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43600" y="2124164"/>
            <a:ext cx="1409700" cy="59055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864931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Benzerini Oluşturmak, Taşımak veya Silmek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8"/>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9"/>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0"/>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nn-NO" sz="1400" b="1" dirty="0">
                <a:solidFill>
                  <a:schemeClr val="bg1"/>
                </a:solidFill>
              </a:rPr>
              <a:t>Belge içinde ve belgeler arasında metin ve nesneleri kopyalama, taşıma ve silme işlemlerini 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a:p>
        </p:txBody>
      </p:sp>
      <p:sp>
        <p:nvSpPr>
          <p:cNvPr id="7" name="Metin kutusu 6"/>
          <p:cNvSpPr txBox="1"/>
          <p:nvPr>
            <p:custDataLst>
              <p:tags r:id="rId5"/>
            </p:custDataLst>
          </p:nvPr>
        </p:nvSpPr>
        <p:spPr>
          <a:xfrm>
            <a:off x="228600" y="1033046"/>
            <a:ext cx="7772400" cy="1077218"/>
          </a:xfrm>
          <a:prstGeom prst="rect">
            <a:avLst/>
          </a:prstGeom>
          <a:noFill/>
        </p:spPr>
        <p:txBody>
          <a:bodyPr wrap="square" rtlCol="0">
            <a:spAutoFit/>
          </a:bodyPr>
          <a:lstStyle/>
          <a:p>
            <a:r>
              <a:rPr lang="tr-TR" sz="1600" dirty="0"/>
              <a:t>Kopyalamak, kesmek ve yapıştırmak işlemleri </a:t>
            </a:r>
            <a:endParaRPr lang="tr-TR" sz="1600" dirty="0" smtClean="0"/>
          </a:p>
          <a:p>
            <a:r>
              <a:rPr lang="tr-TR" sz="1600" b="1" dirty="0" smtClean="0"/>
              <a:t>Giriş sekmesi&gt;Pano komut grubu</a:t>
            </a:r>
          </a:p>
          <a:p>
            <a:r>
              <a:rPr lang="tr-TR" sz="1600" b="1" dirty="0" smtClean="0"/>
              <a:t>Fare sağ tuşuna tıkladığımızda açılan </a:t>
            </a:r>
            <a:r>
              <a:rPr lang="tr-TR" sz="1600" b="1" dirty="0" err="1" smtClean="0"/>
              <a:t>kısayol</a:t>
            </a:r>
            <a:r>
              <a:rPr lang="tr-TR" sz="1600" b="1" dirty="0" smtClean="0"/>
              <a:t> menüsü</a:t>
            </a:r>
          </a:p>
          <a:p>
            <a:r>
              <a:rPr lang="tr-TR" sz="1600" b="1" dirty="0" smtClean="0"/>
              <a:t>Klavye </a:t>
            </a:r>
            <a:r>
              <a:rPr lang="tr-TR" sz="1600" b="1" dirty="0" err="1" smtClean="0"/>
              <a:t>kısayollları</a:t>
            </a:r>
            <a:r>
              <a:rPr lang="tr-TR" sz="1600" b="1" dirty="0" smtClean="0"/>
              <a:t> </a:t>
            </a:r>
            <a:endParaRPr lang="tr-TR" sz="1600" b="1" dirty="0"/>
          </a:p>
        </p:txBody>
      </p:sp>
      <p:graphicFrame>
        <p:nvGraphicFramePr>
          <p:cNvPr id="14" name="Tablo 13"/>
          <p:cNvGraphicFramePr>
            <a:graphicFrameLocks noGrp="1"/>
          </p:cNvGraphicFramePr>
          <p:nvPr>
            <p:custDataLst>
              <p:tags r:id="rId6"/>
            </p:custDataLst>
            <p:extLst>
              <p:ext uri="{D42A27DB-BD31-4B8C-83A1-F6EECF244321}">
                <p14:modId xmlns:p14="http://schemas.microsoft.com/office/powerpoint/2010/main" val="2195620685"/>
              </p:ext>
            </p:extLst>
          </p:nvPr>
        </p:nvGraphicFramePr>
        <p:xfrm>
          <a:off x="412912" y="2880995"/>
          <a:ext cx="5715000" cy="1667510"/>
        </p:xfrm>
        <a:graphic>
          <a:graphicData uri="http://schemas.openxmlformats.org/drawingml/2006/table">
            <a:tbl>
              <a:tblPr>
                <a:tableStyleId>{5C22544A-7EE6-4342-B048-85BDC9FD1C3A}</a:tableStyleId>
              </a:tblPr>
              <a:tblGrid>
                <a:gridCol w="608330"/>
                <a:gridCol w="1334770"/>
                <a:gridCol w="1371600"/>
                <a:gridCol w="2400300"/>
              </a:tblGrid>
              <a:tr h="318135">
                <a:tc>
                  <a:txBody>
                    <a:bodyPr/>
                    <a:lstStyle/>
                    <a:p>
                      <a:pPr algn="ctr">
                        <a:lnSpc>
                          <a:spcPct val="115000"/>
                        </a:lnSpc>
                        <a:spcBef>
                          <a:spcPts val="600"/>
                        </a:spcBef>
                        <a:spcAft>
                          <a:spcPts val="600"/>
                        </a:spcAft>
                      </a:pPr>
                      <a:r>
                        <a:rPr lang="tr-TR" sz="1200" b="1" dirty="0">
                          <a:effectLst/>
                          <a:latin typeface="+mj-lt"/>
                        </a:rPr>
                        <a:t>İşlem</a:t>
                      </a:r>
                      <a:endParaRPr lang="tr-TR" sz="1200" b="1" dirty="0">
                        <a:effectLst/>
                        <a:latin typeface="+mj-lt"/>
                        <a:ea typeface="Calibri"/>
                        <a:cs typeface="Times New Roman"/>
                      </a:endParaRPr>
                    </a:p>
                  </a:txBody>
                  <a:tcPr marL="25400" marR="25400" marT="0" marB="0"/>
                </a:tc>
                <a:tc>
                  <a:txBody>
                    <a:bodyPr/>
                    <a:lstStyle/>
                    <a:p>
                      <a:pPr algn="ctr">
                        <a:lnSpc>
                          <a:spcPct val="115000"/>
                        </a:lnSpc>
                        <a:spcBef>
                          <a:spcPts val="600"/>
                        </a:spcBef>
                        <a:spcAft>
                          <a:spcPts val="600"/>
                        </a:spcAft>
                      </a:pPr>
                      <a:r>
                        <a:rPr lang="tr-TR" sz="1200" b="1" dirty="0">
                          <a:effectLst/>
                          <a:latin typeface="+mj-lt"/>
                        </a:rPr>
                        <a:t>Sekme, Komut</a:t>
                      </a:r>
                      <a:endParaRPr lang="tr-TR" sz="1200" b="1" dirty="0">
                        <a:effectLst/>
                        <a:latin typeface="+mj-lt"/>
                        <a:ea typeface="Calibri"/>
                        <a:cs typeface="Times New Roman"/>
                      </a:endParaRPr>
                    </a:p>
                  </a:txBody>
                  <a:tcPr marL="25400" marR="25400" marT="0" marB="0"/>
                </a:tc>
                <a:tc>
                  <a:txBody>
                    <a:bodyPr/>
                    <a:lstStyle/>
                    <a:p>
                      <a:pPr algn="ctr">
                        <a:lnSpc>
                          <a:spcPct val="115000"/>
                        </a:lnSpc>
                        <a:spcBef>
                          <a:spcPts val="600"/>
                        </a:spcBef>
                        <a:spcAft>
                          <a:spcPts val="600"/>
                        </a:spcAft>
                      </a:pPr>
                      <a:r>
                        <a:rPr lang="tr-TR" sz="1200" b="1">
                          <a:effectLst/>
                          <a:latin typeface="+mj-lt"/>
                        </a:rPr>
                        <a:t>Klavye Kısayolu</a:t>
                      </a:r>
                      <a:endParaRPr lang="tr-TR" sz="1200" b="1">
                        <a:effectLst/>
                        <a:latin typeface="+mj-lt"/>
                        <a:ea typeface="Calibri"/>
                        <a:cs typeface="Times New Roman"/>
                      </a:endParaRPr>
                    </a:p>
                  </a:txBody>
                  <a:tcPr marL="25400" marR="25400" marT="0" marB="0"/>
                </a:tc>
                <a:tc>
                  <a:txBody>
                    <a:bodyPr/>
                    <a:lstStyle/>
                    <a:p>
                      <a:pPr algn="ctr">
                        <a:lnSpc>
                          <a:spcPct val="115000"/>
                        </a:lnSpc>
                        <a:spcBef>
                          <a:spcPts val="600"/>
                        </a:spcBef>
                        <a:spcAft>
                          <a:spcPts val="600"/>
                        </a:spcAft>
                      </a:pPr>
                      <a:r>
                        <a:rPr lang="tr-TR" sz="1200" b="1" dirty="0">
                          <a:effectLst/>
                          <a:latin typeface="+mj-lt"/>
                        </a:rPr>
                        <a:t>Araç Çubuğu Düğmesi</a:t>
                      </a:r>
                      <a:endParaRPr lang="tr-TR" sz="1200" b="1" dirty="0">
                        <a:effectLst/>
                        <a:latin typeface="+mj-lt"/>
                        <a:ea typeface="Calibri"/>
                        <a:cs typeface="Times New Roman"/>
                      </a:endParaRPr>
                    </a:p>
                  </a:txBody>
                  <a:tcPr marL="25400" marR="25400" marT="0" marB="0"/>
                </a:tc>
              </a:tr>
              <a:tr h="446405">
                <a:tc>
                  <a:txBody>
                    <a:bodyPr/>
                    <a:lstStyle/>
                    <a:p>
                      <a:pPr algn="just">
                        <a:lnSpc>
                          <a:spcPct val="115000"/>
                        </a:lnSpc>
                        <a:spcBef>
                          <a:spcPts val="600"/>
                        </a:spcBef>
                        <a:spcAft>
                          <a:spcPts val="600"/>
                        </a:spcAft>
                      </a:pPr>
                      <a:r>
                        <a:rPr lang="tr-TR" sz="1000">
                          <a:effectLst/>
                        </a:rPr>
                        <a:t>Kopyala</a:t>
                      </a:r>
                      <a:endParaRPr lang="tr-TR" sz="1100">
                        <a:effectLst/>
                        <a:latin typeface="Calibri"/>
                        <a:ea typeface="Calibri"/>
                        <a:cs typeface="Times New Roman"/>
                      </a:endParaRPr>
                    </a:p>
                  </a:txBody>
                  <a:tcPr marL="25400" marR="25400" marT="0" marB="0" anchor="ctr"/>
                </a:tc>
                <a:tc>
                  <a:txBody>
                    <a:bodyPr/>
                    <a:lstStyle/>
                    <a:p>
                      <a:pPr algn="just">
                        <a:lnSpc>
                          <a:spcPct val="115000"/>
                        </a:lnSpc>
                        <a:spcBef>
                          <a:spcPts val="600"/>
                        </a:spcBef>
                        <a:spcAft>
                          <a:spcPts val="600"/>
                        </a:spcAft>
                      </a:pPr>
                      <a:r>
                        <a:rPr lang="tr-TR" sz="1000">
                          <a:effectLst/>
                        </a:rPr>
                        <a:t>Giriş, Kopyala</a:t>
                      </a:r>
                      <a:endParaRPr lang="tr-TR" sz="1100">
                        <a:effectLst/>
                        <a:latin typeface="Calibri"/>
                        <a:ea typeface="Calibri"/>
                        <a:cs typeface="Times New Roman"/>
                      </a:endParaRPr>
                    </a:p>
                  </a:txBody>
                  <a:tcPr marL="25400" marR="25400" marT="0" marB="0" anchor="ctr"/>
                </a:tc>
                <a:tc>
                  <a:txBody>
                    <a:bodyPr/>
                    <a:lstStyle/>
                    <a:p>
                      <a:pPr algn="just">
                        <a:lnSpc>
                          <a:spcPct val="115000"/>
                        </a:lnSpc>
                        <a:spcBef>
                          <a:spcPts val="600"/>
                        </a:spcBef>
                        <a:spcAft>
                          <a:spcPts val="600"/>
                        </a:spcAft>
                      </a:pPr>
                      <a:r>
                        <a:rPr lang="tr-TR" sz="1000">
                          <a:effectLst/>
                        </a:rPr>
                        <a:t>Ctrl + C</a:t>
                      </a:r>
                      <a:endParaRPr lang="tr-TR" sz="1100">
                        <a:effectLst/>
                        <a:latin typeface="Calibri"/>
                        <a:ea typeface="Calibri"/>
                        <a:cs typeface="Times New Roman"/>
                      </a:endParaRPr>
                    </a:p>
                  </a:txBody>
                  <a:tcPr marL="25400" marR="25400" marT="0" marB="0" anchor="ctr"/>
                </a:tc>
                <a:tc>
                  <a:txBody>
                    <a:bodyPr/>
                    <a:lstStyle/>
                    <a:p>
                      <a:pPr algn="just">
                        <a:lnSpc>
                          <a:spcPct val="115000"/>
                        </a:lnSpc>
                        <a:spcBef>
                          <a:spcPts val="600"/>
                        </a:spcBef>
                        <a:spcAft>
                          <a:spcPts val="600"/>
                        </a:spcAft>
                      </a:pPr>
                      <a:endParaRPr lang="tr-TR" sz="1000">
                        <a:effectLst/>
                        <a:latin typeface="Calibri"/>
                        <a:ea typeface="Calibri"/>
                        <a:cs typeface="Times New Roman"/>
                      </a:endParaRPr>
                    </a:p>
                  </a:txBody>
                  <a:tcPr marL="25400" marR="25400" marT="0" marB="0" anchor="ctr"/>
                </a:tc>
              </a:tr>
              <a:tr h="458470">
                <a:tc>
                  <a:txBody>
                    <a:bodyPr/>
                    <a:lstStyle/>
                    <a:p>
                      <a:pPr algn="just">
                        <a:lnSpc>
                          <a:spcPct val="115000"/>
                        </a:lnSpc>
                        <a:spcBef>
                          <a:spcPts val="600"/>
                        </a:spcBef>
                        <a:spcAft>
                          <a:spcPts val="600"/>
                        </a:spcAft>
                      </a:pPr>
                      <a:r>
                        <a:rPr lang="tr-TR" sz="1000">
                          <a:effectLst/>
                        </a:rPr>
                        <a:t>Kes</a:t>
                      </a:r>
                      <a:endParaRPr lang="tr-TR" sz="1100">
                        <a:effectLst/>
                        <a:latin typeface="Calibri"/>
                        <a:ea typeface="Calibri"/>
                        <a:cs typeface="Times New Roman"/>
                      </a:endParaRPr>
                    </a:p>
                  </a:txBody>
                  <a:tcPr marL="25400" marR="25400" marT="0" marB="0" anchor="ctr"/>
                </a:tc>
                <a:tc>
                  <a:txBody>
                    <a:bodyPr/>
                    <a:lstStyle/>
                    <a:p>
                      <a:pPr algn="just">
                        <a:lnSpc>
                          <a:spcPct val="115000"/>
                        </a:lnSpc>
                        <a:spcBef>
                          <a:spcPts val="600"/>
                        </a:spcBef>
                        <a:spcAft>
                          <a:spcPts val="600"/>
                        </a:spcAft>
                      </a:pPr>
                      <a:r>
                        <a:rPr lang="tr-TR" sz="1000">
                          <a:effectLst/>
                        </a:rPr>
                        <a:t>Giriş, Kes</a:t>
                      </a:r>
                      <a:endParaRPr lang="tr-TR" sz="1100">
                        <a:effectLst/>
                        <a:latin typeface="Calibri"/>
                        <a:ea typeface="Calibri"/>
                        <a:cs typeface="Times New Roman"/>
                      </a:endParaRPr>
                    </a:p>
                  </a:txBody>
                  <a:tcPr marL="25400" marR="25400" marT="0" marB="0" anchor="ctr"/>
                </a:tc>
                <a:tc>
                  <a:txBody>
                    <a:bodyPr/>
                    <a:lstStyle/>
                    <a:p>
                      <a:pPr algn="just">
                        <a:lnSpc>
                          <a:spcPct val="115000"/>
                        </a:lnSpc>
                        <a:spcBef>
                          <a:spcPts val="600"/>
                        </a:spcBef>
                        <a:spcAft>
                          <a:spcPts val="600"/>
                        </a:spcAft>
                      </a:pPr>
                      <a:r>
                        <a:rPr lang="tr-TR" sz="1000">
                          <a:effectLst/>
                        </a:rPr>
                        <a:t>Ctrl+X</a:t>
                      </a:r>
                      <a:endParaRPr lang="tr-TR" sz="1100">
                        <a:effectLst/>
                        <a:latin typeface="Calibri"/>
                        <a:ea typeface="Calibri"/>
                        <a:cs typeface="Times New Roman"/>
                      </a:endParaRPr>
                    </a:p>
                  </a:txBody>
                  <a:tcPr marL="25400" marR="25400" marT="0" marB="0" anchor="ctr"/>
                </a:tc>
                <a:tc>
                  <a:txBody>
                    <a:bodyPr/>
                    <a:lstStyle/>
                    <a:p>
                      <a:pPr algn="just">
                        <a:lnSpc>
                          <a:spcPct val="115000"/>
                        </a:lnSpc>
                        <a:spcBef>
                          <a:spcPts val="600"/>
                        </a:spcBef>
                        <a:spcAft>
                          <a:spcPts val="600"/>
                        </a:spcAft>
                      </a:pPr>
                      <a:endParaRPr lang="tr-TR" sz="1000">
                        <a:effectLst/>
                        <a:latin typeface="Calibri"/>
                        <a:ea typeface="Calibri"/>
                        <a:cs typeface="Times New Roman"/>
                      </a:endParaRPr>
                    </a:p>
                  </a:txBody>
                  <a:tcPr marL="25400" marR="25400" marT="0" marB="0" anchor="ctr"/>
                </a:tc>
              </a:tr>
              <a:tr h="444500">
                <a:tc>
                  <a:txBody>
                    <a:bodyPr/>
                    <a:lstStyle/>
                    <a:p>
                      <a:pPr algn="just">
                        <a:lnSpc>
                          <a:spcPct val="115000"/>
                        </a:lnSpc>
                        <a:spcBef>
                          <a:spcPts val="600"/>
                        </a:spcBef>
                        <a:spcAft>
                          <a:spcPts val="600"/>
                        </a:spcAft>
                      </a:pPr>
                      <a:r>
                        <a:rPr lang="tr-TR" sz="1000">
                          <a:effectLst/>
                        </a:rPr>
                        <a:t>Yapıştır</a:t>
                      </a:r>
                      <a:endParaRPr lang="tr-TR" sz="1100">
                        <a:effectLst/>
                        <a:latin typeface="Calibri"/>
                        <a:ea typeface="Calibri"/>
                        <a:cs typeface="Times New Roman"/>
                      </a:endParaRPr>
                    </a:p>
                  </a:txBody>
                  <a:tcPr marL="25400" marR="25400" marT="0" marB="0" anchor="ctr"/>
                </a:tc>
                <a:tc>
                  <a:txBody>
                    <a:bodyPr/>
                    <a:lstStyle/>
                    <a:p>
                      <a:pPr algn="just">
                        <a:lnSpc>
                          <a:spcPct val="115000"/>
                        </a:lnSpc>
                        <a:spcBef>
                          <a:spcPts val="600"/>
                        </a:spcBef>
                        <a:spcAft>
                          <a:spcPts val="600"/>
                        </a:spcAft>
                      </a:pPr>
                      <a:r>
                        <a:rPr lang="tr-TR" sz="1000">
                          <a:effectLst/>
                        </a:rPr>
                        <a:t>Giriş, Yapıştır</a:t>
                      </a:r>
                      <a:endParaRPr lang="tr-TR" sz="1100">
                        <a:effectLst/>
                        <a:latin typeface="Calibri"/>
                        <a:ea typeface="Calibri"/>
                        <a:cs typeface="Times New Roman"/>
                      </a:endParaRPr>
                    </a:p>
                  </a:txBody>
                  <a:tcPr marL="25400" marR="25400" marT="0" marB="0" anchor="ctr"/>
                </a:tc>
                <a:tc>
                  <a:txBody>
                    <a:bodyPr/>
                    <a:lstStyle/>
                    <a:p>
                      <a:pPr algn="just">
                        <a:lnSpc>
                          <a:spcPct val="115000"/>
                        </a:lnSpc>
                        <a:spcBef>
                          <a:spcPts val="600"/>
                        </a:spcBef>
                        <a:spcAft>
                          <a:spcPts val="600"/>
                        </a:spcAft>
                      </a:pPr>
                      <a:r>
                        <a:rPr lang="tr-TR" sz="1000">
                          <a:effectLst/>
                        </a:rPr>
                        <a:t>Ctrl+V</a:t>
                      </a:r>
                      <a:endParaRPr lang="tr-TR" sz="1100">
                        <a:effectLst/>
                        <a:latin typeface="Calibri"/>
                        <a:ea typeface="Calibri"/>
                        <a:cs typeface="Times New Roman"/>
                      </a:endParaRPr>
                    </a:p>
                  </a:txBody>
                  <a:tcPr marL="25400" marR="25400" marT="0" marB="0" anchor="ctr"/>
                </a:tc>
                <a:tc>
                  <a:txBody>
                    <a:bodyPr/>
                    <a:lstStyle/>
                    <a:p>
                      <a:pPr algn="just">
                        <a:lnSpc>
                          <a:spcPct val="115000"/>
                        </a:lnSpc>
                        <a:spcBef>
                          <a:spcPts val="600"/>
                        </a:spcBef>
                        <a:spcAft>
                          <a:spcPts val="600"/>
                        </a:spcAft>
                      </a:pPr>
                      <a:endParaRPr lang="tr-TR" sz="1000" dirty="0">
                        <a:effectLst/>
                        <a:latin typeface="Calibri"/>
                        <a:ea typeface="Calibri"/>
                        <a:cs typeface="Times New Roman"/>
                      </a:endParaRPr>
                    </a:p>
                  </a:txBody>
                  <a:tcPr marL="25400" marR="25400" marT="0" marB="0"/>
                </a:tc>
              </a:tr>
            </a:tbl>
          </a:graphicData>
        </a:graphic>
      </p:graphicFrame>
      <p:pic>
        <p:nvPicPr>
          <p:cNvPr id="6147" name="Resim 42" descr="Açıklama: Açıklama: Açıklama: Açıklama: kopya"/>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84401" y="3248163"/>
            <a:ext cx="314325" cy="285750"/>
          </a:xfrm>
          <a:prstGeom prst="rect">
            <a:avLst/>
          </a:prstGeom>
          <a:noFill/>
          <a:extLst>
            <a:ext uri="{909E8E84-426E-40DD-AFC4-6F175D3DCCD1}">
              <a14:hiddenFill xmlns:a14="http://schemas.microsoft.com/office/drawing/2010/main">
                <a:solidFill>
                  <a:srgbClr val="FFFFFF"/>
                </a:solidFill>
              </a14:hiddenFill>
            </a:ext>
          </a:extLst>
        </p:spPr>
      </p:pic>
      <p:pic>
        <p:nvPicPr>
          <p:cNvPr id="6146" name="Resim 43" descr="Açıklama: Açıklama: Açıklama: Açıklama: makas"/>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65351" y="3728485"/>
            <a:ext cx="333375" cy="304800"/>
          </a:xfrm>
          <a:prstGeom prst="rect">
            <a:avLst/>
          </a:prstGeom>
          <a:noFill/>
          <a:extLst>
            <a:ext uri="{909E8E84-426E-40DD-AFC4-6F175D3DCCD1}">
              <a14:hiddenFill xmlns:a14="http://schemas.microsoft.com/office/drawing/2010/main">
                <a:solidFill>
                  <a:srgbClr val="FFFFFF"/>
                </a:solidFill>
              </a14:hiddenFill>
            </a:ext>
          </a:extLst>
        </p:spPr>
      </p:pic>
      <p:pic>
        <p:nvPicPr>
          <p:cNvPr id="6145" name="Resim 44" descr="Açıklama: Açıklama: Açıklama: Açıklama: yapıştı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74875" y="4224671"/>
            <a:ext cx="333375" cy="304800"/>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C:\Users\YILMAZ\AppData\Local\Temp\SNAGHTMLaeb1e4.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553200" y="2623584"/>
            <a:ext cx="2257425" cy="2209801"/>
          </a:xfrm>
          <a:prstGeom prst="rect">
            <a:avLst/>
          </a:prstGeom>
          <a:noFill/>
          <a:extLst>
            <a:ext uri="{909E8E84-426E-40DD-AFC4-6F175D3DCCD1}">
              <a14:hiddenFill xmlns:a14="http://schemas.microsoft.com/office/drawing/2010/main">
                <a:solidFill>
                  <a:srgbClr val="FFFFFF"/>
                </a:solidFill>
              </a14:hiddenFill>
            </a:ext>
          </a:extLst>
        </p:spPr>
      </p:pic>
      <p:sp>
        <p:nvSpPr>
          <p:cNvPr id="21" name="Metin kutusu 20"/>
          <p:cNvSpPr txBox="1"/>
          <p:nvPr>
            <p:custDataLst>
              <p:tags r:id="rId7"/>
            </p:custDataLst>
          </p:nvPr>
        </p:nvSpPr>
        <p:spPr>
          <a:xfrm>
            <a:off x="228600" y="4953000"/>
            <a:ext cx="7772400" cy="830997"/>
          </a:xfrm>
          <a:prstGeom prst="rect">
            <a:avLst/>
          </a:prstGeom>
          <a:noFill/>
        </p:spPr>
        <p:txBody>
          <a:bodyPr wrap="square" rtlCol="0">
            <a:spAutoFit/>
          </a:bodyPr>
          <a:lstStyle/>
          <a:p>
            <a:r>
              <a:rPr lang="tr-TR" sz="1600" dirty="0" smtClean="0"/>
              <a:t>Silme işlemi </a:t>
            </a:r>
          </a:p>
          <a:p>
            <a:r>
              <a:rPr lang="tr-TR" sz="1600" b="1" dirty="0" err="1" smtClean="0"/>
              <a:t>Delete</a:t>
            </a:r>
            <a:endParaRPr lang="tr-TR" sz="1600" b="1" dirty="0" smtClean="0"/>
          </a:p>
          <a:p>
            <a:r>
              <a:rPr lang="tr-TR" sz="1600" b="1" dirty="0" smtClean="0"/>
              <a:t>Geri (</a:t>
            </a:r>
            <a:r>
              <a:rPr lang="tr-TR" sz="1600" b="1" dirty="0" err="1" smtClean="0"/>
              <a:t>Backspace</a:t>
            </a:r>
            <a:r>
              <a:rPr lang="tr-TR" sz="1600" b="1" dirty="0" smtClean="0"/>
              <a:t>)</a:t>
            </a:r>
            <a:r>
              <a:rPr lang="tr-TR" sz="1600" dirty="0" smtClean="0"/>
              <a:t> tuşları kullanılır</a:t>
            </a:r>
          </a:p>
        </p:txBody>
      </p:sp>
    </p:spTree>
    <p:custDataLst>
      <p:tags r:id="rId1"/>
    </p:custDataLst>
    <p:extLst>
      <p:ext uri="{BB962C8B-B14F-4D97-AF65-F5344CB8AC3E}">
        <p14:creationId xmlns:p14="http://schemas.microsoft.com/office/powerpoint/2010/main" val="25152928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Arama ve Değiştirme</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Belge içerisinde sözcük öbeği arama ve değiştirme yapar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10</a:t>
            </a:fld>
            <a:endParaRPr lang="tr-TR"/>
          </a:p>
        </p:txBody>
      </p:sp>
      <p:sp>
        <p:nvSpPr>
          <p:cNvPr id="7" name="Metin kutusu 6"/>
          <p:cNvSpPr txBox="1"/>
          <p:nvPr>
            <p:custDataLst>
              <p:tags r:id="rId5"/>
            </p:custDataLst>
          </p:nvPr>
        </p:nvSpPr>
        <p:spPr>
          <a:xfrm>
            <a:off x="533400" y="1371600"/>
            <a:ext cx="7772400" cy="1323439"/>
          </a:xfrm>
          <a:prstGeom prst="rect">
            <a:avLst/>
          </a:prstGeom>
          <a:noFill/>
        </p:spPr>
        <p:txBody>
          <a:bodyPr wrap="square" rtlCol="0">
            <a:spAutoFit/>
          </a:bodyPr>
          <a:lstStyle/>
          <a:p>
            <a:r>
              <a:rPr lang="tr-TR" sz="1600" dirty="0" smtClean="0"/>
              <a:t>Belge içerisinde sözcük öbeği aramak ve değiştirmek için</a:t>
            </a:r>
          </a:p>
          <a:p>
            <a:pPr marL="342900" indent="-342900">
              <a:buFont typeface="+mj-lt"/>
              <a:buAutoNum type="arabicPeriod"/>
            </a:pPr>
            <a:r>
              <a:rPr lang="tr-TR" sz="1600" b="1" dirty="0" smtClean="0"/>
              <a:t>Giriş</a:t>
            </a:r>
            <a:r>
              <a:rPr lang="tr-TR" sz="1600" dirty="0" smtClean="0"/>
              <a:t> sekmesi &gt; </a:t>
            </a:r>
            <a:r>
              <a:rPr lang="tr-TR" sz="1600" b="1" dirty="0" smtClean="0"/>
              <a:t>Düzenleme </a:t>
            </a:r>
            <a:r>
              <a:rPr lang="tr-TR" sz="1600" b="1" dirty="0"/>
              <a:t>Komut </a:t>
            </a:r>
            <a:r>
              <a:rPr lang="tr-TR" sz="1600" b="1" dirty="0" smtClean="0"/>
              <a:t>Grubunda&gt; </a:t>
            </a:r>
            <a:r>
              <a:rPr lang="tr-TR" sz="1600" b="1" dirty="0"/>
              <a:t>Bul </a:t>
            </a:r>
            <a:r>
              <a:rPr lang="tr-TR" sz="1600" dirty="0" smtClean="0"/>
              <a:t>komutuna</a:t>
            </a:r>
          </a:p>
          <a:p>
            <a:pPr marL="342900" indent="-342900">
              <a:buFont typeface="+mj-lt"/>
              <a:buAutoNum type="arabicPeriod"/>
            </a:pPr>
            <a:r>
              <a:rPr lang="tr-TR" sz="1600" b="1" dirty="0" smtClean="0"/>
              <a:t>Giriş</a:t>
            </a:r>
            <a:r>
              <a:rPr lang="tr-TR" sz="1600" dirty="0" smtClean="0"/>
              <a:t> </a:t>
            </a:r>
            <a:r>
              <a:rPr lang="tr-TR" sz="1600" dirty="0"/>
              <a:t>sekmesi &gt; </a:t>
            </a:r>
            <a:r>
              <a:rPr lang="tr-TR" sz="1600" b="1" dirty="0"/>
              <a:t>Düzenleme Komut Grubunda&gt; </a:t>
            </a:r>
            <a:r>
              <a:rPr lang="tr-TR" sz="1600" b="1" dirty="0" smtClean="0"/>
              <a:t>Gelişmiş Bul </a:t>
            </a:r>
            <a:r>
              <a:rPr lang="tr-TR" sz="1600" dirty="0" smtClean="0"/>
              <a:t>komutuna tıklayın</a:t>
            </a:r>
          </a:p>
          <a:p>
            <a:r>
              <a:rPr lang="tr-TR" sz="1600" dirty="0"/>
              <a:t>Belge içerisinde sözcük öbeği aramak ve değiştirmek için</a:t>
            </a:r>
          </a:p>
          <a:p>
            <a:pPr marL="342900" indent="-342900">
              <a:buFont typeface="+mj-lt"/>
              <a:buAutoNum type="arabicPeriod"/>
            </a:pPr>
            <a:r>
              <a:rPr lang="tr-TR" sz="1600" b="1" dirty="0"/>
              <a:t>Giriş</a:t>
            </a:r>
            <a:r>
              <a:rPr lang="tr-TR" sz="1600" dirty="0"/>
              <a:t> sekmesi &gt; </a:t>
            </a:r>
            <a:r>
              <a:rPr lang="tr-TR" sz="1600" b="1" dirty="0"/>
              <a:t>Düzenleme Komut Grubunda&gt; </a:t>
            </a:r>
            <a:r>
              <a:rPr lang="tr-TR" sz="1600" b="1" dirty="0" smtClean="0"/>
              <a:t>Değiştir </a:t>
            </a:r>
            <a:r>
              <a:rPr lang="tr-TR" sz="1600" dirty="0" smtClean="0"/>
              <a:t>komutuna tıklayın</a:t>
            </a:r>
            <a:endParaRPr lang="tr-TR" sz="1600" dirty="0"/>
          </a:p>
        </p:txBody>
      </p:sp>
      <p:pic>
        <p:nvPicPr>
          <p:cNvPr id="1026" name="Picture 2" descr="C:\Users\YILMAZ\AppData\Local\Temp\SNAGHTML12ee15.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6253" y="2691180"/>
            <a:ext cx="6057900" cy="41243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YILMAZ\AppData\Local\Temp\SNAGHTML15c8bb.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3400" y="2695039"/>
            <a:ext cx="6058166" cy="425263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YILMAZ\AppData\Local\Temp\SNAGHTML1db338.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63526" y="2695039"/>
            <a:ext cx="57531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Users\YILMAZ\AppData\Local\Temp\SNAGHTML301738.PN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3400" y="2649135"/>
            <a:ext cx="5335405" cy="423974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1233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anim calcmode="lin" valueType="num">
                                      <p:cBhvr additive="base">
                                        <p:cTn id="7" dur="500" fill="hold"/>
                                        <p:tgtEl>
                                          <p:spTgt spid="1032"/>
                                        </p:tgtEl>
                                        <p:attrNameLst>
                                          <p:attrName>ppt_x</p:attrName>
                                        </p:attrNameLst>
                                      </p:cBhvr>
                                      <p:tavLst>
                                        <p:tav tm="0">
                                          <p:val>
                                            <p:strVal val="0-#ppt_w/2"/>
                                          </p:val>
                                        </p:tav>
                                        <p:tav tm="100000">
                                          <p:val>
                                            <p:strVal val="#ppt_x"/>
                                          </p:val>
                                        </p:tav>
                                      </p:tavLst>
                                    </p:anim>
                                    <p:anim calcmode="lin" valueType="num">
                                      <p:cBhvr additive="base">
                                        <p:cTn id="8" dur="500" fill="hold"/>
                                        <p:tgtEl>
                                          <p:spTgt spid="103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1032"/>
                                        </p:tgtEl>
                                        <p:attrNameLst>
                                          <p:attrName>ppt_x</p:attrName>
                                        </p:attrNameLst>
                                      </p:cBhvr>
                                      <p:tavLst>
                                        <p:tav tm="0">
                                          <p:val>
                                            <p:strVal val="ppt_x"/>
                                          </p:val>
                                        </p:tav>
                                        <p:tav tm="100000">
                                          <p:val>
                                            <p:strVal val="ppt_x"/>
                                          </p:val>
                                        </p:tav>
                                      </p:tavLst>
                                    </p:anim>
                                    <p:anim calcmode="lin" valueType="num">
                                      <p:cBhvr additive="base">
                                        <p:cTn id="13" dur="500"/>
                                        <p:tgtEl>
                                          <p:spTgt spid="1032"/>
                                        </p:tgtEl>
                                        <p:attrNameLst>
                                          <p:attrName>ppt_y</p:attrName>
                                        </p:attrNameLst>
                                      </p:cBhvr>
                                      <p:tavLst>
                                        <p:tav tm="0">
                                          <p:val>
                                            <p:strVal val="ppt_y"/>
                                          </p:val>
                                        </p:tav>
                                        <p:tav tm="100000">
                                          <p:val>
                                            <p:strVal val="1+ppt_h/2"/>
                                          </p:val>
                                        </p:tav>
                                      </p:tavLst>
                                    </p:anim>
                                    <p:set>
                                      <p:cBhvr>
                                        <p:cTn id="14" dur="1" fill="hold">
                                          <p:stCondLst>
                                            <p:cond delay="499"/>
                                          </p:stCondLst>
                                        </p:cTn>
                                        <p:tgtEl>
                                          <p:spTgt spid="103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anim calcmode="lin" valueType="num">
                                      <p:cBhvr additive="base">
                                        <p:cTn id="19" dur="500" fill="hold"/>
                                        <p:tgtEl>
                                          <p:spTgt spid="1026"/>
                                        </p:tgtEl>
                                        <p:attrNameLst>
                                          <p:attrName>ppt_x</p:attrName>
                                        </p:attrNameLst>
                                      </p:cBhvr>
                                      <p:tavLst>
                                        <p:tav tm="0">
                                          <p:val>
                                            <p:strVal val="0-#ppt_w/2"/>
                                          </p:val>
                                        </p:tav>
                                        <p:tav tm="100000">
                                          <p:val>
                                            <p:strVal val="#ppt_x"/>
                                          </p:val>
                                        </p:tav>
                                      </p:tavLst>
                                    </p:anim>
                                    <p:anim calcmode="lin" valueType="num">
                                      <p:cBhvr additive="base">
                                        <p:cTn id="20" dur="500" fill="hold"/>
                                        <p:tgtEl>
                                          <p:spTgt spid="102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nodeType="clickEffect">
                                  <p:stCondLst>
                                    <p:cond delay="0"/>
                                  </p:stCondLst>
                                  <p:childTnLst>
                                    <p:anim calcmode="lin" valueType="num">
                                      <p:cBhvr additive="base">
                                        <p:cTn id="24" dur="500"/>
                                        <p:tgtEl>
                                          <p:spTgt spid="1026"/>
                                        </p:tgtEl>
                                        <p:attrNameLst>
                                          <p:attrName>ppt_x</p:attrName>
                                        </p:attrNameLst>
                                      </p:cBhvr>
                                      <p:tavLst>
                                        <p:tav tm="0">
                                          <p:val>
                                            <p:strVal val="ppt_x"/>
                                          </p:val>
                                        </p:tav>
                                        <p:tav tm="100000">
                                          <p:val>
                                            <p:strVal val="ppt_x"/>
                                          </p:val>
                                        </p:tav>
                                      </p:tavLst>
                                    </p:anim>
                                    <p:anim calcmode="lin" valueType="num">
                                      <p:cBhvr additive="base">
                                        <p:cTn id="25" dur="500"/>
                                        <p:tgtEl>
                                          <p:spTgt spid="1026"/>
                                        </p:tgtEl>
                                        <p:attrNameLst>
                                          <p:attrName>ppt_y</p:attrName>
                                        </p:attrNameLst>
                                      </p:cBhvr>
                                      <p:tavLst>
                                        <p:tav tm="0">
                                          <p:val>
                                            <p:strVal val="ppt_y"/>
                                          </p:val>
                                        </p:tav>
                                        <p:tav tm="100000">
                                          <p:val>
                                            <p:strVal val="1+ppt_h/2"/>
                                          </p:val>
                                        </p:tav>
                                      </p:tavLst>
                                    </p:anim>
                                    <p:set>
                                      <p:cBhvr>
                                        <p:cTn id="26" dur="1" fill="hold">
                                          <p:stCondLst>
                                            <p:cond delay="499"/>
                                          </p:stCondLst>
                                        </p:cTn>
                                        <p:tgtEl>
                                          <p:spTgt spid="102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1030"/>
                                        </p:tgtEl>
                                        <p:attrNameLst>
                                          <p:attrName>style.visibility</p:attrName>
                                        </p:attrNameLst>
                                      </p:cBhvr>
                                      <p:to>
                                        <p:strVal val="visible"/>
                                      </p:to>
                                    </p:set>
                                    <p:anim calcmode="lin" valueType="num">
                                      <p:cBhvr additive="base">
                                        <p:cTn id="31" dur="500" fill="hold"/>
                                        <p:tgtEl>
                                          <p:spTgt spid="1030"/>
                                        </p:tgtEl>
                                        <p:attrNameLst>
                                          <p:attrName>ppt_x</p:attrName>
                                        </p:attrNameLst>
                                      </p:cBhvr>
                                      <p:tavLst>
                                        <p:tav tm="0">
                                          <p:val>
                                            <p:strVal val="0-#ppt_w/2"/>
                                          </p:val>
                                        </p:tav>
                                        <p:tav tm="100000">
                                          <p:val>
                                            <p:strVal val="#ppt_x"/>
                                          </p:val>
                                        </p:tav>
                                      </p:tavLst>
                                    </p:anim>
                                    <p:anim calcmode="lin" valueType="num">
                                      <p:cBhvr additive="base">
                                        <p:cTn id="32" dur="500" fill="hold"/>
                                        <p:tgtEl>
                                          <p:spTgt spid="103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nodeType="clickEffect">
                                  <p:stCondLst>
                                    <p:cond delay="0"/>
                                  </p:stCondLst>
                                  <p:childTnLst>
                                    <p:anim calcmode="lin" valueType="num">
                                      <p:cBhvr additive="base">
                                        <p:cTn id="36" dur="500"/>
                                        <p:tgtEl>
                                          <p:spTgt spid="1030"/>
                                        </p:tgtEl>
                                        <p:attrNameLst>
                                          <p:attrName>ppt_x</p:attrName>
                                        </p:attrNameLst>
                                      </p:cBhvr>
                                      <p:tavLst>
                                        <p:tav tm="0">
                                          <p:val>
                                            <p:strVal val="ppt_x"/>
                                          </p:val>
                                        </p:tav>
                                        <p:tav tm="100000">
                                          <p:val>
                                            <p:strVal val="ppt_x"/>
                                          </p:val>
                                        </p:tav>
                                      </p:tavLst>
                                    </p:anim>
                                    <p:anim calcmode="lin" valueType="num">
                                      <p:cBhvr additive="base">
                                        <p:cTn id="37" dur="500"/>
                                        <p:tgtEl>
                                          <p:spTgt spid="1030"/>
                                        </p:tgtEl>
                                        <p:attrNameLst>
                                          <p:attrName>ppt_y</p:attrName>
                                        </p:attrNameLst>
                                      </p:cBhvr>
                                      <p:tavLst>
                                        <p:tav tm="0">
                                          <p:val>
                                            <p:strVal val="ppt_y"/>
                                          </p:val>
                                        </p:tav>
                                        <p:tav tm="100000">
                                          <p:val>
                                            <p:strVal val="1+ppt_h/2"/>
                                          </p:val>
                                        </p:tav>
                                      </p:tavLst>
                                    </p:anim>
                                    <p:set>
                                      <p:cBhvr>
                                        <p:cTn id="38" dur="1" fill="hold">
                                          <p:stCondLst>
                                            <p:cond delay="499"/>
                                          </p:stCondLst>
                                        </p:cTn>
                                        <p:tgtEl>
                                          <p:spTgt spid="103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1028"/>
                                        </p:tgtEl>
                                        <p:attrNameLst>
                                          <p:attrName>style.visibility</p:attrName>
                                        </p:attrNameLst>
                                      </p:cBhvr>
                                      <p:to>
                                        <p:strVal val="visible"/>
                                      </p:to>
                                    </p:set>
                                    <p:anim calcmode="lin" valueType="num">
                                      <p:cBhvr additive="base">
                                        <p:cTn id="43" dur="500" fill="hold"/>
                                        <p:tgtEl>
                                          <p:spTgt spid="1028"/>
                                        </p:tgtEl>
                                        <p:attrNameLst>
                                          <p:attrName>ppt_x</p:attrName>
                                        </p:attrNameLst>
                                      </p:cBhvr>
                                      <p:tavLst>
                                        <p:tav tm="0">
                                          <p:val>
                                            <p:strVal val="0-#ppt_w/2"/>
                                          </p:val>
                                        </p:tav>
                                        <p:tav tm="100000">
                                          <p:val>
                                            <p:strVal val="#ppt_x"/>
                                          </p:val>
                                        </p:tav>
                                      </p:tavLst>
                                    </p:anim>
                                    <p:anim calcmode="lin" valueType="num">
                                      <p:cBhvr additive="base">
                                        <p:cTn id="44" dur="500" fill="hold"/>
                                        <p:tgtEl>
                                          <p:spTgt spid="10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38498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NSOtG2h+Wo4Yea0YYdtfKHo7jUj/4DViKGpEh9qsJDQVsMSGrCR09I/8AvmpUWqsZ35iHyaesfpVoW5YrVqGxLc4rTQLFJbc1E1uVNb6afwxxwOrN91apX0kFrcpbySRJcSjdHE0iq7j/AGV3ZNaKMiTN8sN2208Q1fhs5LjgROzd1UbttSmx2r33f7VFgMjyR81RvD7VpyWZzVWWMrxipAoGGoHhrRMf03VAY6AM54/mqvJHWpNHVN46kDMkj71Tlj2tWrJHzVK5joKRfhhq7FH92oo19quQrWKRWyHJHtqxHHQkftViGGqRPxAkO7rVqCz3N0qeC39q1LO1RQxchEQb3kb5VCj7zNV7j2IobOOFGllkjggiBaSWV1VEA+8WZvuivBviX+1xpGg2k8PhGzXVrtJAgvrwbYWz/FEgbL+uWwPl/irzL48fHi/+KmpPonhx3tfCVtNsjZQfN1B/u73X+5n7iN16/Sl4V+H8U2sQXOqRo+EDvuT5t5+bbt6Db92vUpYdQhz1DCMnWnyQM65X4ofHC98zWNZuX0452W0aCKFF/uqibR+LZq5c/sw6nGkVxPd3c86JtH7xmbA/hXNfSvhKaz02FLeCBIlxtCqK9LsrOO+tU3w/NnlVHzGodXXQ9ylgI294+M7H9nvxppNn5+n6pqunpcHZttp3XzlT7u7Dcla35PGHxg+Gs/73V4/GGlxBGK3MCu+30Ztu8fXcfu19veHvCsUltLFLAJYid3lt3qLVfgLpsl6t3BA8DZ3mJ3+V/mzg+1HMp7o0lgIbRPFvh38UtA+Jlp/xLrkJqkMKvdabL8ssLfxfUbu61001vu3HHzVQ+Ln7J4a8t/GHgZB4f8b6e/mwsp/0e/X+KGZR03fd3f7XzVF4P8WR+NvD0Gox27WF0rvb32nyt+9s7lOJY291b9Ntc0oreJ5VWhOi9R7x7TyKjeP5ulXrlTvziq7x96yMCnNGP+BVUmWrsymqr0mBSK1Vmj3VoOtVXj+9SAvRx1bjjpIY6tRR1BXxCxx1ft4aihhrRhjoWppsS20PtXmn7VPiiTwv8Hri3t5ZYrjVp0stsBw7x/ecf8CVcf8AAq9Xs49x714P+2ZDHdaf4LsRI6Tma5lH8S7dqL/OuuhFOokY1HofO3gFpJr61uLa3EXlDyVlkCthj8zfXaPlr3OaxFvbW8ifLsAQ8LXlnhLSxY6lAkW6VvM3bsc//Wr2GaMyWjx4DN/KvQxdRu0DfAUkryLejSXEc8En3kA+9Xvfw3jF9NbiVyqsN2+vJvDOima1i8xBGgx8znbur2LwTara7BGSr5ChlfctcEIyZ9JCcUrHu2m6PZ2Ig2JI7uOdu3/IrpodHtb5TKUVONsa55H1xWDolrczWls4bfgbSzen92tI3kzJ5YjXzUO0bY/l/wDQq7YWS1RyNTk9yl4k0X7NbPkhkP8AKvkDxhYnwf8AtD3CInkaX4s00XUe0fK95B8r/js2n/gVfYOu3E1xbeXISxYcqydK+Z/2kNLgV/BuquNs9hrsKxsp2tiRGRh/wJttcuntOVGWJTlR97oZssYbdkVVlh+9WtNCVdhj5s1A8frXNJWPG+yY00Py/wB7iqDrs4rZnj21Skh71BJnND/wGqskfzcVpOtVZo6AL0S1ft46qwrWlBHtFYmkdiWKP7tXYYxUMS81dt491bL4Si7ZR7dvBr56/a4kS18aeCo5HDq1lMxRQGWP51Pzehb+H2WvpPSoRJcxIf4nVWr4o1m8HjLxR4lvr2Odp7nXJ0XaW3Q4dlX6BQqrWlGXJUTN6WFeIhLW1jO8JRyr4guLjz/P3/c3H7v+7XpF/cT2emtLbwefdY4Xd8u6vL/BUwh8Y6pZ5+S2c7tw9fu/+O19AeANPstYScXKb3cMic9K7KjUp8zOihBqlyrc89t9L0RiNT+Ivi+WysscRLOYkjH91FFRarY+Do2g8QfCn4z6q8nmbBZ6raXCQl/7iXDqqH7rcbv4a9Guf2a4da1u31GeC3v9RhJVFupG8pV/2Owr1v4ffBbRfCHhLUvD9x4O0xNE1aQXF/BFcuPPkH3X2oqnevzbTu+XdXXTqK3Yh0pcxxvwN+P3ixdWg07xFfxXkrExFoBs/wD1n/ar3n4ufFTWPhloEV9BAbq6nTMCsfvtivi7XPDMHw/+KL3OhvPFpzXaKLWebe8X/Au5r6r+MfwlP7Qnw90W0k1W60ieC0laN7V+ZH2qu3du4+rVzqU29D1uS1K557oX7Tnxv8dToLP4VT+RHnzrqJFaFk/vby3X/d5/2ateK/E0Hxc8IeF5Liyl0jUYfElpa6ppk52vDMm9+/OGCq49mryXwz+z18RPhVomPAXi3xB/wk9td7xbam7xW08AHzQvFueNyWLfvFYfdWvadNsbi6urDWb22lsr2+k864ikTbyls6fN/utK3/fNXWcY+p5T5/ZvsWrmPdIxI+8fSqtxH/3zWhOvzZqpOvFeXc8xGPOv0qpNH8taU0e5lqncLtHSkyzLmXjFVX96vT1VmWpuQX7aP561EX7tUbSP5qvovSst2bE9uvNaVvHVK2/hrShWtLgX7L5XQ/xKa+Hf2itJ1Dwn8TPEMVl5q6dLqT3120A+eKGcJKr7R2++N3+zX3FB8tecfG34Q3PjKS18U6HHF/ben2rwXaOdvn2w5+XPBK/N8rdRThozuwlVU5OL6nzWLOzh8UXGp2c5lgnt4kj2/dZNu5W/KvTPAt5Jp8qTEnb3rzN9kl+s6fMroNrKNu75f7vau30O6NvYJH97ncGavRS5kbwqKnOx9H+C/FAuJ4EPzKx3hcV6/qrRQ6Bdaje3nkJHAcN6fLXzP8M5nmnil/5ZgrlmO2u58efECy1LwxcWQkzmMxbZB8rfw/ifmojf4T0KlWkrM+c11qfxVrzauiRvobzZTzc7pAD9/wBq+5vh5fbvB3hy+E0P2Tz/AC02SbiFIb71fnTYfs86xr98Ro11qDw6ZB/ojNcSDyY933eDg46DI/76r6n+AHgkrp2mS614nvp7e6tPPs7aIhIUmO4Avjk7PT1b/ZrZQklsYfWYzfLfQ+qtWsbSeJpJIo9/Z8fN/wDXrxD4hWpuPEmjOJXW3so7h0iU7VdnCp83rt+avUNO1GX+w4rW4kEt1D8jyKRj615f4lmF1qpx91E27fT5jXLV1Ma7VOm7dTDkXdxVW4X5atdmqCX7tcV7ngmXMu2qVytaE681UkXcuaGykZMy1Vf0q7cL/wACqlJ1qQZr233avItU7fpV+KoQyzbrzWlCtULdecDNaFv1qyy5bLtbit7SofMfy3wyOCp4/hK7ayLZa5z4ufELXPhz4Nlv/C2jWviHxKwd7fTrssqyImN/yjaSfm4HeqpU51JWjuZyaitT4+jj8t2Cjd5Llf8AawDXUWFxG1n5W/a4Zfm/2a5jR75NYsIb+IhluU811Ufcc/MyY7bW+Xa1TrIY7vptVf4s16VL3fdkdUpdT6I+Dlnb+ItHurB5/st1GN6OoX5z6NmvLPiTpvjvw743ntRLpV/pchDWS3kjQr/tbnCsD+la3w38WR2c3lEpE5Krvx8y16DeWo8bJLZahEv2V9v73+JT6rWjTjqgpTU37xk/Dm++OWm/vNO8HaFq+kon+kQQX0S5T+Ftz7c/xfMrV3d5rnj3RbBLK8+E0lhpEMTvZf2LeQSzQtjOf9b8+7/a7tXnUPwV8YeHZUk8GeM761ieTlVnKY/754r1zwP4d8X+H7H7Z4z8UXGvSxn5IJX+7j6df4f4a1ckoX6nqOtTcOVxRH8Lvig3jrwo+viO6tUUbJIrtGiljf0ZT3q/FIbiFZz/AMtBv+b0rDmbzr+60+zQImq3Rmk2pswu7Lv+X/oVdLMojXCDagG0L/s159Z6HjVKnMlDsZzqPm+tV5etW3XluarzL8rVxowM2delUZl3ZrRnqm/3aopGVcruZqoSfeNaVyvzcZqhJ8p7VBUtjXt4/wDgNaMaj5RVWBavwxluxqIFFq3X5lrRt4/QVBa2pbbx/wABWqvifxx4Y+HwT/hI9WjsrhxujsYo3uLuT/dhjVn/ABZcf7VdMacpu0dybnS2Nq8zqiJuLdFWvJfH+vQeIPES3ul38d7Z2CJDBPbTBonfDvLtYcH5lYf8Brxb44ftparqVhq/hzwHZW2kabeQvaPr1zJ5t8FK4fYiNshPzMAdzn+L5W6eB/C34+678JVi0TWI/wC2fC+d2z/ltb/IyZRv4h83Svfy3Deyqc9XQ4cS3OFon11r3wv0T4jXDXmkarF4L8Xz4lMkqbrHUWIPyzIPuO3yjzV+b5m3Z6V4v4qXXPhj4sTQPHvh+Xw/qTjfBJ5m+2vYt3+shlHDof73X1Va9a03WNL8XeF4tY0a8S6sN7NHOny7Yyfl3ehR2wV9JWruvBfxC0HxFpf/AAgXxV0mDxN4LupdsbXw3TabM21Fkjk+/HtG7oQy/wAPpXt4vAwqrnpb/mc1DFTh7stUeA3NmWs4rzTJ/NTG8bD/AOO1f0f4iXGnwobl5GiJRd6n0Ofwr0L4mfszXHwKuJ9X8FeI4vFnggwJezWNzMv9oabC5+VnUf6yPay/OuD83K45Pnb+HbLWl81PkZxyyHa1eBZwfJNHp251zwZ7b4b+P2nx+GpbeCeOCdHDxtIdyu275h7Vv6x8atL1TTPtMEiyyv8AI6xndvP+z7/7K185WfgHSPOl827uIFYfeyu4f7tek/DfwPo+m3UR09Jrh0Rpri+vJC32eEDc5XsPl3Vb5bCi5t8p618PfDGq/wDCOT+NdQtSLfUJ3soJV2/ukRudy9tz7v8Avn6VtStywre/Zm14R+EH0vVI3vLO7t08yC6+ZSh+8GPqu4DPdWiNTeN/A9x4Q1x7ZfMn06T57Wc9SODsfb/GuR9flP8AFXBicPOKVSOzJulJw6nJnrVeVR/u1pTW5Xqh/KqE8JVeleaWZtz/AOPVRlrQnjbd0qjMtBSM6461nS/erQvc1nP8zVncqWx0tjC7HAH0qv4r8feG/hzatJruoxQXCorixSRPOcH7vyllCBtrfMzD7teI/Hj9rGx+HGozeFfB3k6v4jgdotQ1DO6308/xRoekk3r/AAp/tNwvznqWvJ8QLhJLy5L3RcyurTmZ5Zj96R2dmLv/ACG0BQvFe1gsv9p79R2X5mUqiWh7P48/bC8R6hc3Fl4bsk07TvmBubOTdMB/v9f94rs/2f71eLajr134iunNzqkyTu5cwS/ulcn7zM2794fd2JrP1HwNDeRboZ3sbpG/d3Vv+6dD/tA9f/Har2160F9HoXiy3SKeT/j01JBiO4/wPtX0lKhGjpFWOdzb3Fm8Ny2rPPYDypU/1lt/D/8AWrJu7WPUkaKePyrjDYVhtzXQ3V5eeC7iJNRLXmku4QXWPng/3var+s6DBdQ/aIijREbhJEf/AEGtnS5tjM4rwB8UvEHwM1+f7KBe6LdN/p2lSn91Mu3DbW7HBK5/nX1L4S8b6J8SfDy6rolybiJG8meCfiaFtuV3j1x/F91ijf3q+ZtQ0WPUFWz1H5P4Y7rHy/7Iaud0l/FPwd8RHVNGdsYHmwON0U8ecgOv8Q757UU6s6Oj2MZ009VufpL4Y8YLa6Ba6yIUvIhAnh/XNPnga4iuU8orbzMnYPCrQn3iznLCsHxX8PbDTbS013Q45rvwjqQf7LOrF2spEOJbWZuodG+6zffQg9d1eb/s8fErTfjR/amhWSXFve6pYSpc6PG+Zo5oP9IhkRurBTGQCPm+Yg/er1j4e+Nbj4QeIptB1xpdV8H65CJZigDSQzIVUXKH5cuueRxvRlzzini6UcRSTh8S2/yOjCVfZT126mN4Y8L6PdXSPcSyXUrjiNX3Z/4DXpXjWzHgf4UatOkQt7rU0TTLWJ/l+adxF83f+KvZrT4f2ek3DuLCCKXu6R7Wb/arwz4nrc+PvizouniaS38M+EbuLUL6VEZlmvCD9nh/D/WN/uj+9Xy8YznNQR7z9nH94etfDDQLWCHWVvbk6NpFtpfnNqaTrbnTVRG2TM78IVUOMtx+5BNfD3xS/aAsvD3it9G+F2saoNBSd76/8UXcztLrN26KnnIHbIhUK2GPLs7n7u2ur/bg+NM2qeEpfhN4fV4Cklve+KLz5ttzIQJY7OM4UtCMrMT0JYBejV83/DqGPxFolxYSgfarZHVdo/g/iH519HToytyvY8Jrnqc7Ou8K/tGfE3QfE72//CWzalv+eO01MLcW8v8AdXnkBv8AZI+9XvHhH9sjw9rFg6eJ9Cv9J1S3P7/+zALiE+rKrsrj6c18cXljc31owtU36zprk26q23zk/ij+v8S+/wDvVdg8RRX01hr9uN9re/urhf8AnlcD72703fe/76rnq4OlP4kUqjR90+Fvj98PfGzP9i19LBlBbbqqfZlbH3vmPH/Ad1dRbX2n6xbtcaZf2mo2+dpns50mRT/dyGavzs03Sxb32rx26L5COsrwM25Dn/8Aax/wKt/4A+PLr4Sa94hu9Mje9062y1xpjuyrNCRvVQ3qv8JrzK2W2j+7Zqqh9zX8dZUi1d0HxFpnjjwrpfiDRp/tWk6lCJoJGG1sfxKy9ipVgf8AdqCeP5q+dceWXKb7o/MPT7NJnijOFQvs3f3Sf/r1pN4Xnk4gutkqfL/d2tWfYNuili/ixuH1FdJ9o+0W6Xce7e6btqn5c/db/wAer7imk4nCRWHiTW9F222qRtdWo+YNjdiuxtr3Q/Gmmf2XqADQzH5N33kPqh7Yqhp9xaatbLh0WXG0xyfK1P8A7L0+N2ScNZuTuKuPkLf3t3au2Ckut0QaWgSzWdzP4O8RkXEnlk6ffSruW6g/u/Ud6y9InuPh54nTQtRcyaHqBIs5ZR8sT/3Gat+Xw6df0kac07JLC3nWF/n57WYdOe6HoR6f8BqR7GH4p+CLywvV+za5CjKYmPzW11G3+R9Grp5X03X9WLsGo6PHIj20uVRjtH95GrL0pvLn/szUccH9zct8zL/s7e4/2a0PBGsHxX4NguLkhb+yf7FfJIdrhx91vrT9W003UKyjCyxnaWX1H3TVOKmudAYNz4JtbHV1v7SWXQ9XhcgXljOYSO24FGyM+v8AtV6ZoHxe1jT9DXw/4tiOvWaSJLBquf8ASIuNjK/ZwyM249fu9a5kQz61pH2mD/kKWafPE3/LaMdvqtU7OSPUtP8AtNlh0z++tnHzI38W30HtTglDYEj9Kvgr8X5fHvwchFmTrXiaxuE0FNjbvtRIb7NMzehQfP3HlNupf2hPip4b/Zk+FOm2K6PYeJPFdyxmtbW+DeXLcOMvczY5f/c44YLlV6fnp4C8eeJvhpr0WteDtcvNB1SMq7rbP8syg9JUO5JE/wB5T96rPxN8d6/8XvHF74m8T3/23VJD5flIuIYE+XakabuBj/LVxLCQVVzXwv8AMqUpzSh0Rzusa5qvii91HXNbuxdavqt21xdS+WFRnPZQPuIo2qB2CqKy/DDf8Ir8QonQ/uJ/ldV9/vda3rqx+y6dasMNiTcVWuf8RL5mppcx5Voj95a7pLks+xOxe8S6f/Z/iGUxfK4kbDKP8/7Nc9qmnR6dqFxqsUW7SNRIi1O1Vf8AUTfwzJ6fNz9frXZ+JGN9NBcAH99AJQyn+Po1Ztyws0ivZ4w9lMPs97E3bP8AFWcqauwaK2gwiHxdLpkkoZ7ixRoJf76n7rfmq1m/CtnkF1PcEPO8EMM+4dw8m6ta/h/sO0TVxln0nKrLn78BKt/47/7M1ZEOoxeFtJ8S3JXzHfUXS1jb70jnGwf+PUkoprm6Bsez/szfF60+HPhDS/CWvY/sOS4uGtdQUfPauZT9/wBUb5ee1fTl/b+SeoZT8wZTuVl9Vr4TTT4LGzsLZ3DywxrEF9/4q+iv2dPiM+sWT+C9UkDXlnGZdNlY/NLCPvw/VPvL7bv7tfL5pgFFe2pfM6YvSx8L2EiQ3aOT8mefpXQWcL2tzLaIe/2iBm/i/vD+v/Aa5BWKtn/x2up0rVEvI7dA6peW53QN7j+H+lerTf2TjNyO1t74sYJDa3gG5GU/e9qvW/iSPT5Psmv2/wC6cbROqbkpxsUvIILu3CQM43BcfMP7y1o2eySJYLmFLhPuncNystdsE0wGTzXHhuD+2tLI1fSYxm6gRsypH6r/ALta76xYWut6d4hsZybO+SFLrb829H+WKRvdW+Q/8Brn08Lra3yT6JdzaXKDwqfNF/u7aTW/Ct3qelS2tlbW+n6wIpvLjtuLe+UjLIF/gfeode25e2c1snOPQvUseB3Hh74x+K/Dr/8AHpqatPGrfdyV37v/AB6uyjt/LuWgk/iGwq3/AI6a8e1TxA0nirwJ4rQ7HuoFtp9o4WRDsbP/AH2Pyr2DVJBJdRSeeG37cKo+b7taUJppxBWKUMZ0PU4LyI7ufnVT97tWB4nU+CfE1vrlohXSL47biBX3KHNdNcrDcI0bnarH7zfw1VvLeDxFoN5pc4DS43JIo6N61rUjeOhVie402Ka3nuLMlonQXEEin5k/vBe4rO+2SLKkskW/zYQHlT5V3jj5l+ny/L/drN+GetS2skuhX5/fwblDMeq+la95G9rM0b/Kufur92oi04poFqi9fsGSzPKqx54+WsG9tXuJ3iOVXBrZnhkm0jB3b0O9dorNTF1tkJG5U2nn5mrWWpZa09v7Q0GAEtE9tIe3Y1M9vAoxvV7eQeU6tVDSW8m5lgP3HHKsanRSqvHJ8mPl20JXQGBdQ3C6VrmhSP5kT2snkMx6Ag7f++W21ytxP/bPjHw3ZO4a3hZLuXd93cI1f/Cuz1Jt2wgnzVDRHj+Eg7a82tbq4k1rVGtklnvTZxWNtDBGzuXMabyFHPy7ea86s7NGLR6XZXwvt+pz5aIB3j/3f71TaD4kufDPiHS/ENu/lXtpOJrSDG5nYfwt7MNyn2atH4S/DfXPjFdWuh+HntYoPMisTeXkm2FJHX5E43ElsMTtXjq1YPifQdX8F/EPV9B1dIYNU0p1t5pIpPNiVAN2+Ju4dWUg+jUOpCa5JG1pxV+h4yJAwwe9WbVirjB7/dqicR7jn5akjYqy49a81M5D0LwlrgaX7Ncksz/NHI394fw/5/u1vXkZZkeORlXP3Vry9LiRdsqEq+R83oa7/R9UGoWsTqfLc587b/A9d9Gd1Zlm3YKLd0dJ3Zgd3y/+zZrp7e6k1aJ7dJYlusfu2b5cH+FlYdDXEySJDuCFtx2/drW0NlUoTLsYHhWG2u2nLWxaZx/xA0e4tfDWqSPFJBKt2uoiLG3yZ92JVH+yQ+8f8C/u13q6k9xpFrLHIVV05VvvVoeKkj8SeG722VgZTA+1OrHhgf0Zq4LwlqH2jwvYZJY+SN/H8X8VJx9nU9UGzO3e4jZl2EP/ABbW3UlvcfZbpX+6jdeKx7O8ChQ8hZj8vzGrLTBovuHYPl+U1spFJmF4rUaH4pstXjO1JH2naK6zXmS8jinD/wCsQOFUVj+KLePVPC08ez96nzozfM1Q6VqBuPCunTkb2T5C2fm21kvdbj3JNnQb4zWcse4eYmUO6qKKY7yXBCqf4c/dqlol4LfWJQnypIOdx71PqDfZ7mU7Aq/zq73iVfQsWsm2Rtj7dy+tWJpnkTO75s1ljYr5TGSONx3UpvivmB8ruHDLTTRZW1y+Szheec7UjG8svtX1B+yd4Isvgp4IuvHmsWxt9Z2SatPdTx/MmVbyoU9vmXI7lv8AZWvBfhb4TT4gePbdLi2lutL0nZd3SKNyySk/uY29shnI/wBn3r63+KWpXGsW2jeCoIvls0Gp38Gf9Y/3reFvbcu/b/sivncdXcp2h0PQwsNeeSI/grpY8AeFde8b6xptrFa3N1da7eojhXjkm3k7l/3WVRtrl/Enw20K/wDgL8TPHHjPRbRte1K1bUF1duLi2m8tmVEPX73kwhPu4Fdn46mGteF/CvhSTS5LOfVZ0u9Ug+632aHB2Nj+9Js+X0Vqy/j14BbxpoegfDLQ9Y/sWLW5Y5dSurlDMtpaxlnXam5c5dPXojVw0pST0O2crrl5dT8zbyPa7MM7CMhqiik/2hux6VagnXU9NWcDbKDiVfR//r9aos3lt3ruTPmWadhIGDJyzdt1bWj3RsZtxfbA42yKv/jrf8B/+KrlLa68mVXH3e9bFtdBnXA3N/tVvTZJ3CzCMtI5G0FcbvSrulx3OqXKAfu4vvHaPmrlNMvtsiWxf7x2xtn/AMc/+Jrq/Dl0be5c7yiqN2/0rtpu8i0dl4fmsNP1OKNztdiyb5T1z94V5fpTP4buLjS5B81pO8O5v4gGwtdoniqC8lWwtokusld8s7bkSneKvB9xrj+bptjPNq0YCIixhlvV+6oG1vv9h6/LXVVXPC8ehb1MxL4bf+BcbTUkGoBdwIHX171pJ+zf8ariJSvw31q1Ujhrwx26/wDj7rRe/s+/FrS7Z57zw5FapECx3X8DMo/3Q7ZrzfrSh8TBRn2M1LwXSz2gy1w6HYifeP8AwGqPg+4uF8NXkVzBLb7JCQroyfKC3PPau/0bV4tP8PWR0KBbho0MtwqRulzcTwvsMzFEZ2hD8YDYH8XNd38AfhP4f8aNdeKdXkuoNL0p4vI0/TNGuGhvpCzbYWmmZYI0ZtyBWxksvfdWyrKbUkzknXcHqj52j1aJtTUJIjqf7pro9Qke4tllUFmHVdtfpH+2D8APB3iH4FL408DaFp2iS2FrFqEC6ZapCk9s6hhtSNcZG9DuHGM5J2jH5pWvih7hFLySQP3ZT8tb0ZqUL33N6croImnkRCI5WbH3fLPy1cm0nVFhglksJooJvmSWRNqP/wAC9f8AZpkmvXkiMDJvi7N5n3vyq7aXl1J4M8QAZZLOaC72R7e+6N/0Zf8Avla3ioPQ10R7j+ynrHhL4a6Xc6r4t8QWmlzz3ct3PHteV9o+SFNqKxPyrn5f71XvAf7RXw41L4w6trHijxBLpralevcRtc2kyqqJ8sKbgvoq18v6Try28NlcJLI9rcjhmHrWpqsNhq1u0V5apL/vfeX/AHa8x4OnOXNc6YV3GFon0j48/aQ8OalqviHU9PsL7VNSmcRaU04a2hSAcYdt2cN8z/KuQWXpXkd3+018XNN8RXevxR6LM88KW7LZ2yyvDGgYKFWTJO3cTnvmvLE+1+FZfkkkv9GJ+7L80sP+76itqO8jmiWeCRGQ9GU1cMJSXqEq85dbHhsF0dE1FpMf6LJjfEp6j29xV+8RXCSxsHicbg6r1H+f4aKK8un8JxMz3zlhmrNvcFW/2f7rUUVrHcg0PtRmCjO3H8Oa1v8AhIjcW/lyylX7sp/1g/xoorpUmaIuXXiCbw3o1ubIf8TK9O1JHwwgj9V9/wCVaOjaVp91fQajPZyR3FsApnluHlaaT+9y1FFdS3Qj0Xw38UPFnhGa9uLTxRqlhHOApjjuGZAoHy7lfcK9u+D/AO15odxB9i8eahJa3UT/AOj6x9n3LKD/AATKi8H/AG1X/e9SUVOIowa1R0qTPRfiN8EdA+IGiRfEz4XzWd14m00G7ju9MuikV+g+aWEtHyCy7vQg1zHib9pDwzp+g2t3rvjfxTreoT24f7LoepR6ZplgSFfy7ddjSTlPlXLqQdp3IvSiiuTD/C0eNjIrnifRPg74i2mofsX3UVnZ3Ws2Fv4fmt7iG1l82WGEq/kuj/xoilA4XoBkcdfyekbzLmcRDYiSMoZv7oNFFdcYpQdv60RpQbdx9vqwh2hEZ37sprqPCVxHdWfiuN5ViVtK3Bc/MzedGaKK2o/19x1s4XR5Hm8C2G/DIrso9q2fD+uvqOjQXD43AmF2X1FFFZwbv8ho1EvCyKD909VqpJC+mu0tqdqZ3PEw+VqKKuRZ/9k="/>
  <p:tag name="MMPROD_38498LOGO" val=""/>
  <p:tag name="MMPROD_UIDATA" val="&lt;database version=&quot;7.0&quot;&gt;&lt;object type=&quot;1&quot; unique_id=&quot;10001&quot;&gt;&lt;property id=&quot;20141&quot; value=&quot;MS Word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D:\Ders Materyali\İçerik\Temel Bilgi Teknolojisi Kullanımı&quot;/&gt;&lt;property id=&quot;20225&quot; value=&quot;D:\Ders Materyali\İçerik\Temel Bilgi Teknolojisi Kullanımı\TBTK\&quot;/&gt;&lt;property id=&quot;20226&quot; value=&quot;D:\Ders Materyali\İçerik\Temel Bilgi Teknolojisi Kullanımı\TBTK\Kelime İşlemci Modül 2.pptx&quot;/&gt;&lt;property id=&quot;20250&quot; value=&quot;0&quot;/&gt;&lt;property id=&quot;20251&quot; value=&quot;1&quot;/&gt;&lt;property id=&quot;20259&quot; value=&quot;0&quot;/&gt;&lt;property id=&quot;20501&quot; value=&quot;D:\Ders Materyali\İçerik\Temel Bilgi Teknolojisi Kullanımı\&quot;/&gt;&lt;object type=&quot;2&quot; unique_id=&quot;10559&quot;&gt;&lt;object type=&quot;3&quot; unique_id=&quot;10560&quot;&gt;&lt;property id=&quot;20148&quot; value=&quot;5&quot;/&gt;&lt;property id=&quot;20300&quot; value=&quot;Slide 1 - &amp;quot;Kelime İşlemci Word &amp;quot;&quot;/&gt;&lt;property id=&quot;20302&quot; value=&quot;0&quot;/&gt;&lt;property id=&quot;20303&quot; value=&quot;Mustafa YILMAZ&quot;/&gt;&lt;property id=&quot;20307&quot; value=&quot;256&quot;/&gt;&lt;property id=&quot;20309&quot; value=&quot;38498&quot;/&gt;&lt;property id=&quot;20312&quot; value=&quot;0&quot;/&gt;&lt;/object&gt;&lt;object type=&quot;3&quot; unique_id=&quot;10588&quot;&gt;&lt;property id=&quot;20148&quot; value=&quot;5&quot;/&gt;&lt;property id=&quot;20300&quot; value=&quot;Slide 4 - &amp;quot;Metin Eklemek&amp;quot;&quot;/&gt;&lt;property id=&quot;20302&quot; value=&quot;0&quot;/&gt;&lt;property id=&quot;20303&quot; value=&quot;Mustafa YILMAZ&quot;/&gt;&lt;property id=&quot;20307&quot; value=&quot;257&quot;/&gt;&lt;property id=&quot;20309&quot; value=&quot;38498&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Mustafa YILMAZ&quot;/&gt;&lt;property id=&quot;20307&quot; value=&quot;258&quot;/&gt;&lt;property id=&quot;20309&quot; value=&quot;38498&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Mustafa YILMAZ&quot;/&gt;&lt;property id=&quot;20307&quot; value=&quot;260&quot;/&gt;&lt;property id=&quot;20309&quot; value=&quot;38498&quot;/&gt;&lt;property id=&quot;20312&quot; value=&quot;0&quot;/&gt;&lt;/object&gt;&lt;object type=&quot;3&quot; unique_id=&quot;36872&quot;&gt;&lt;property id=&quot;20148&quot; value=&quot;5&quot;/&gt;&lt;property id=&quot;20300&quot; value=&quot;Slide 7 - &amp;quot;Veri Düzenlemek&amp;quot;&quot;/&gt;&lt;property id=&quot;20302&quot; value=&quot;0&quot;/&gt;&lt;property id=&quot;20303&quot; value=&quot;Mustafa YILMAZ&quot;/&gt;&lt;property id=&quot;20307&quot; value=&quot;261&quot;/&gt;&lt;property id=&quot;20309&quot; value=&quot;38498&quot;/&gt;&lt;property id=&quot;20312&quot; value=&quot;0&quot;/&gt;&lt;/object&gt;&lt;object type=&quot;3&quot; unique_id=&quot;36949&quot;&gt;&lt;property id=&quot;20148&quot; value=&quot;5&quot;/&gt;&lt;property id=&quot;20300&quot; value=&quot;Slide 10 - &amp;quot;Arama ve Değiştirme&amp;quot;&quot;/&gt;&lt;property id=&quot;20302&quot; value=&quot;0&quot;/&gt;&lt;property id=&quot;20303&quot; value=&quot;Mustafa YILMAZ&quot;/&gt;&lt;property id=&quot;20307&quot; value=&quot;263&quot;/&gt;&lt;property id=&quot;20309&quot; value=&quot;38498&quot;/&gt;&lt;property id=&quot;20312&quot; value=&quot;0&quot;/&gt;&lt;/object&gt;&lt;object type=&quot;3&quot; unique_id=&quot;37836&quot;&gt;&lt;property id=&quot;20148&quot; value=&quot;5&quot;/&gt;&lt;property id=&quot;20300&quot; value=&quot;Slide 5 - &amp;quot;Simge Eklemek&amp;quot;&quot;/&gt;&lt;property id=&quot;20302&quot; value=&quot;0&quot;/&gt;&lt;property id=&quot;20303&quot; value=&quot;Mustafa YILMAZ&quot;/&gt;&lt;property id=&quot;20307&quot; value=&quot;271&quot;/&gt;&lt;property id=&quot;20309&quot; value=&quot;38498&quot;/&gt;&lt;property id=&quot;20312&quot; value=&quot;0&quot;/&gt;&lt;/object&gt;&lt;object type=&quot;3&quot; unique_id=&quot;37837&quot;&gt;&lt;property id=&quot;20148&quot; value=&quot;5&quot;/&gt;&lt;property id=&quot;20300&quot; value=&quot;Slide 9 - &amp;quot;Benzerini Oluşturmak, Taşımak veya Silmek&amp;quot;&quot;/&gt;&lt;property id=&quot;20302&quot; value=&quot;0&quot;/&gt;&lt;property id=&quot;20303&quot; value=&quot;Mustafa YILMAZ&quot;/&gt;&lt;property id=&quot;20307&quot; value=&quot;272&quot;/&gt;&lt;property id=&quot;20309&quot; value=&quot;38498&quot;/&gt;&lt;property id=&quot;20312&quot; value=&quot;0&quot;/&gt;&lt;/object&gt;&lt;object type=&quot;3&quot; unique_id=&quot;37865&quot;&gt;&lt;property id=&quot;20148&quot; value=&quot;5&quot;/&gt;&lt;property id=&quot;20300&quot; value=&quot;Slide 6 - &amp;quot;Veri Seçmek&amp;quot;&quot;/&gt;&lt;property id=&quot;20302&quot; value=&quot;0&quot;/&gt;&lt;property id=&quot;20303&quot; value=&quot;Mustafa YILMAZ&quot;/&gt;&lt;property id=&quot;20307&quot; value=&quot;275&quot;/&gt;&lt;property id=&quot;20309&quot; value=&quot;38498&quot;/&gt;&lt;property id=&quot;20312&quot; value=&quot;0&quot;/&gt;&lt;/object&gt;&lt;object type=&quot;3&quot; unique_id=&quot;37986&quot;&gt;&lt;property id=&quot;20148&quot; value=&quot;5&quot;/&gt;&lt;property id=&quot;20300&quot; value=&quot;Slide 8 - &amp;quot;Geri Almak veya Tekrar Yapmak&amp;quot;&quot;/&gt;&lt;property id=&quot;20302&quot; value=&quot;0&quot;/&gt;&lt;property id=&quot;20303&quot; value=&quot;Mustafa YILMAZ&quot;/&gt;&lt;property id=&quot;20307&quot; value=&quot;276&quot;/&gt;&lt;property id=&quot;20309&quot; value=&quot;38498&quot;/&gt;&lt;property id=&quot;20312&quot; value=&quot;0&quot;/&gt;&lt;/object&gt;&lt;/object&gt;&lt;object type=&quot;8&quot; unique_id=&quot;10563&quot;&gt;&lt;object type=&quot;9&quot; unique_id=&quot;38503&quot;&gt;&lt;property id=&quot;20000&quot; value=&quot;0&quot;/&gt;&lt;property id=&quot;20400&quot; value=&quot;Kelime Islemci 2.Unite&quot;/&gt;&lt;property id=&quot;20401&quot; value=&quot;2. Unite.pdf&quot;/&gt;&lt;property id=&quot;20402&quot; value=&quot;0&quot;/&gt;&lt;property id=&quot;20404&quot; value=&quot;794793&quot;/&gt;&lt;property id=&quot;20405&quot; value=&quot;0&quot;/&gt;&lt;/object&gt;&lt;/object&gt;&lt;object type=&quot;4&quot; unique_id=&quot;10695&quot;&gt;&lt;object type=&quot;5&quot; unique_id=&quot;10697&quot;&gt;&lt;property id=&quot;20149&quot; value=&quot;Esrin Palas&quot;/&gt;&lt;property id=&quot;20150&quot; value=&quot;Öğr. Gör.&quot;/&gt;&lt;property id=&quot;20153&quot; value=&quot;epalas@sakarya.edu.tr&quot;/&gt;&lt;property id=&quot;20159&quot; value=&quot;logo_sau.png&quot;/&gt;&lt;/object&gt;&lt;object type=&quot;5&quot; unique_id=&quot;38498&quot;&gt;&lt;property id=&quot;20149&quot; value=&quot;Mustafa YILMAZ&quot;/&gt;&lt;property id=&quot;20150&quot; value=&quot;Öğr.Gör.&quot;/&gt;&lt;property id=&quot;20151&quot; value=&quot;mustafa-yilmaz.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38499&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PSNARRATION" val="1,1151331753,D:\Ders Materyali\İçerik\Temel Bilgi Teknolojisi Kullanımı\TBTK\Kelime İşlemci Modül 2_pptx\Media.ppcx"/>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93CB29AE-E383-4956-8FF4-D7D06211BC9A}&quot;/&gt;&lt;isInvalidForFieldText val=&quot;0&quot;/&gt;&lt;Image&gt;&lt;filename val=&quot;C:\Users\YILMAZ\AppData\Local\Temp\PR\data\asimages\{93CB29AE-E383-4956-8FF4-D7D06211BC9A}_1.png&quot;/&gt;&lt;left val=&quot;-27&quot;/&gt;&lt;top val=&quot;207&quot;/&gt;&lt;width val=&quot;634&quot;/&gt;&lt;height val=&quot;120&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PSNARRATION" val="2,1151331753,D:\Ders Materyali\İçerik\Temel Bilgi Teknolojisi Kullanımı\TBTK\Kelime İşlemci Modül 2_pptx\Media.ppcx"/>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36EB2270-F1E9-4F57-AC01-8BF848D1097F}&quot;/&gt;&lt;isInvalidForFieldText val=&quot;0&quot;/&gt;&lt;Image&gt;&lt;filename val=&quot;C:\Users\YILMAZ\AppData\Local\Temp\PR\data\asimages\{36EB2270-F1E9-4F57-AC01-8BF848D1097F}_2.png&quot;/&gt;&lt;left val=&quot;25&quot;/&gt;&lt;top val=&quot;30&quot;/&gt;&lt;width val=&quot;659&quot;/&gt;&lt;height val=&quot;62&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28&quot;/&gt;&lt;lineCharCount val=&quot;28&quot;/&gt;&lt;lineCharCount val=&quot;29&quot;/&gt;&lt;lineCharCount val=&quot;65&quot;/&gt;&lt;lineCharCount val=&quot;45&quot;/&gt;&lt;lineCharCount val=&quot;66&quot;/&gt;&lt;lineCharCount val=&quot;65&quot;/&gt;&lt;lineCharCount val=&quot;35&quot;/&gt;&lt;lineCharCount val=&quot;56&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PSNARRATION" val="3,1151331753,D:\Ders Materyali\İçerik\Temel Bilgi Teknolojisi Kullanımı\TBTK\Kelime İşlemci Modül 2_pptx\Media.ppcx"/>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84CDDDB1-87B9-4583-A74C-478DD2ECBD1B}&quot;/&gt;&lt;isInvalidForFieldText val=&quot;0&quot;/&gt;&lt;Image&gt;&lt;filename val=&quot;C:\Users\YILMAZ\AppData\Local\Temp\PR\data\asimages\{84CDDDB1-87B9-4583-A74C-478DD2ECBD1B}_3.png&quot;/&gt;&lt;left val=&quot;25&quot;/&gt;&lt;top val=&quot;30&quot;/&gt;&lt;width val=&quot;659&quot;/&gt;&lt;height val=&quot;62&quot;/&gt;&lt;hasText val=&quot;1&quot;/&gt;&lt;/Image&gt;&lt;/ThreeDShape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9&quot;/&gt;&lt;lineCharCount val=&quot;1&quot;/&gt;&lt;lineCharCount val=&quot;19&quot;/&gt;&lt;lineCharCount val=&quot;19&quot;/&gt;&lt;lineCharCount val=&quot;22&quot;/&gt;&lt;lineCharCount val=&quot;37&quot;/&gt;&lt;lineCharCount val=&quot;18&quot;/&gt;&lt;lineCharCount val=&quot;72&quot;/&gt;&lt;lineCharCount val=&quot;22&quot;/&gt;&lt;lineCharCount val=&quot;85&quot;/&gt;&lt;lineCharCount val=&quot;23&quot;/&gt;&lt;lineCharCount val=&quot;39&quot;/&gt;&lt;lineCharCount val=&quot;48&quot;/&gt;&lt;lineCharCount val=&quot;81&quot;/&gt;&lt;lineCharCount val=&quot;15&quot;/&gt;&lt;lineCharCount val=&quot;81&quot;/&gt;&lt;lineCharCount val=&quot;41&quot;/&gt;&lt;lineCharCount val=&quot;26&quot;/&gt;&lt;lineCharCount val=&quot;61&quot;/&gt;&lt;lineCharCount val=&quot;65&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PSNARRATION" val="4,1151331753,D:\Ders Materyali\İçerik\Temel Bilgi Teknolojisi Kullanımı\TBTK\Kelime İşlemci Modül 2_pptx\Media.ppcx"/>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PRESENTER_SHAPEINFO" val="&lt;ThreeDShapeInfo&gt;&lt;uuid val=&quot;{57AFACCC-A202-4083-9E6A-817C732387A4}&quot;/&gt;&lt;isInvalidForFieldText val=&quot;0&quot;/&gt;&lt;Image&gt;&lt;filename val=&quot;C:\Users\YILMAZ\AppData\Local\Temp\PR\data\asimages\{57AFACCC-A202-4083-9E6A-817C732387A4}_4.png&quot;/&gt;&lt;left val=&quot;36&quot;/&gt;&lt;top val=&quot;30&quot;/&gt;&lt;width val=&quot;649&quot;/&gt;&lt;height val=&quot;62&quot;/&gt;&lt;hasText val=&quot;1&quot;/&gt;&lt;/Image&gt;&lt;/ThreeDShape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86&quot;/&gt;&lt;lineCharCount val=&quot;87&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PSNARRATION" val="5,1151331753,D:\Ders Materyali\İçerik\Temel Bilgi Teknolojisi Kullanımı\TBTK\Kelime İşlemci Modül 2_pptx\Media.ppcx"/>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3&quot;/&gt;&lt;/TableIndex&gt;&lt;/ShapeTextInfo&gt;"/>
  <p:tag name="PRESENTER_SHAPEINFO" val="&lt;ThreeDShapeInfo&gt;&lt;uuid val=&quot;{C68101D3-E8A8-4254-B2D8-23E130F371E5}&quot;/&gt;&lt;isInvalidForFieldText val=&quot;0&quot;/&gt;&lt;Image&gt;&lt;filename val=&quot;C:\Users\YILMAZ\AppData\Local\Temp\PR\data\asimages\{C68101D3-E8A8-4254-B2D8-23E130F371E5}_5.png&quot;/&gt;&lt;left val=&quot;36&quot;/&gt;&lt;top val=&quot;30&quot;/&gt;&lt;width val=&quot;649&quot;/&gt;&lt;height val=&quot;62&quot;/&gt;&lt;hasText val=&quot;1&quot;/&gt;&lt;/Image&gt;&lt;/ThreeDShape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9&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PSNARRATION" val="6,1151331753,D:\Ders Materyali\İçerik\Temel Bilgi Teknolojisi Kullanımı\TBTK\Kelime İşlemci Modül 2_pptx\Media.ppcx"/>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8619448D-FC89-4BAA-88F9-A6F414786275}&quot;/&gt;&lt;isInvalidForFieldText val=&quot;0&quot;/&gt;&lt;Image&gt;&lt;filename val=&quot;C:\Users\YILMAZ\AppData\Local\Temp\PR\data\asimages\{8619448D-FC89-4BAA-88F9-A6F414786275}_6.png&quot;/&gt;&lt;left val=&quot;36&quot;/&gt;&lt;top val=&quot;30&quot;/&gt;&lt;width val=&quot;649&quot;/&gt;&lt;height val=&quot;62&quot;/&gt;&lt;hasText val=&quot;1&quot;/&gt;&lt;/Image&gt;&lt;/ThreeDShape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56&quot;/&gt;&lt;lineCharCount val=&quot;19&quot;/&gt;&lt;lineCharCount val=&quot;4&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TableIndex row=&quot;1&quot; col=&quot;2&quot;&gt;&lt;linesCount val=&quot;1&quot;/&gt;&lt;lineCharCount val=&quot;15&quot;/&gt;&lt;/TableIndex&gt;&lt;TableIndex row=&quot;1&quot; col=&quot;3&quot;&gt;&lt;linesCount val=&quot;1&quot;/&gt;&lt;lineCharCount val=&quot;6&quot;/&gt;&lt;/TableIndex&gt;&lt;TableIndex row=&quot;2&quot; col=&quot;1&quot;&gt;&lt;linesCount val=&quot;1&quot;/&gt;&lt;lineCharCount val=&quot;26&quot;/&gt;&lt;/TableIndex&gt;&lt;TableIndex row=&quot;2&quot; col=&quot;2&quot;&gt;&lt;linesCount val=&quot;1&quot;/&gt;&lt;lineCharCount val=&quot;19&quot;/&gt;&lt;/TableIndex&gt;&lt;TableIndex row=&quot;2&quot; col=&quot;3&quot;&gt;&lt;linesCount val=&quot;2&quot;/&gt;&lt;lineCharCount val=&quot;65&quot;/&gt;&lt;lineCharCount val=&quot;33&quot;/&gt;&lt;/TableIndex&gt;&lt;TableIndex row=&quot;3&quot; col=&quot;1&quot;&gt;&lt;linesCount val=&quot;1&quot;/&gt;&lt;lineCharCount val=&quot;26&quot;/&gt;&lt;/TableIndex&gt;&lt;TableIndex row=&quot;3&quot; col=&quot;2&quot;&gt;&lt;linesCount val=&quot;1&quot;/&gt;&lt;lineCharCount val=&quot;19&quot;/&gt;&lt;/TableIndex&gt;&lt;TableIndex row=&quot;3&quot; col=&quot;3&quot;&gt;&lt;linesCount val=&quot;2&quot;/&gt;&lt;lineCharCount val=&quot;66&quot;/&gt;&lt;lineCharCount val=&quot;33&quot;/&gt;&lt;/TableIndex&gt;&lt;TableIndex row=&quot;4&quot; col=&quot;1&quot;&gt;&lt;linesCount val=&quot;1&quot;/&gt;&lt;lineCharCount val=&quot;24&quot;/&gt;&lt;/TableIndex&gt;&lt;TableIndex row=&quot;4&quot; col=&quot;2&quot;&gt;&lt;linesCount val=&quot;1&quot;/&gt;&lt;lineCharCount val=&quot;24&quot;/&gt;&lt;/TableIndex&gt;&lt;TableIndex row=&quot;4&quot; col=&quot;3&quot;&gt;&lt;linesCount val=&quot;2&quot;/&gt;&lt;lineCharCount val=&quot;64&quot;/&gt;&lt;lineCharCount val=&quot;38&quot;/&gt;&lt;/TableIndex&gt;&lt;TableIndex row=&quot;5&quot; col=&quot;1&quot;&gt;&lt;linesCount val=&quot;1&quot;/&gt;&lt;lineCharCount val=&quot;24&quot;/&gt;&lt;/TableIndex&gt;&lt;TableIndex row=&quot;5&quot; col=&quot;2&quot;&gt;&lt;linesCount val=&quot;1&quot;/&gt;&lt;lineCharCount val=&quot;24&quot;/&gt;&lt;/TableIndex&gt;&lt;TableIndex row=&quot;5&quot; col=&quot;3&quot;&gt;&lt;linesCount val=&quot;2&quot;/&gt;&lt;lineCharCount val=&quot;64&quot;/&gt;&lt;lineCharCount val=&quot;38&quot;/&gt;&lt;/TableIndex&gt;&lt;TableIndex row=&quot;6&quot; col=&quot;1&quot;&gt;&lt;linesCount val=&quot;1&quot;/&gt;&lt;lineCharCount val=&quot;25&quot;/&gt;&lt;/TableIndex&gt;&lt;TableIndex row=&quot;6&quot; col=&quot;2&quot;&gt;&lt;linesCount val=&quot;1&quot;/&gt;&lt;lineCharCount val=&quot;11&quot;/&gt;&lt;/TableIndex&gt;&lt;TableIndex row=&quot;6&quot; col=&quot;3&quot;&gt;&lt;linesCount val=&quot;2&quot;/&gt;&lt;lineCharCount val=&quot;59&quot;/&gt;&lt;lineCharCount val=&quot;24&quot;/&gt;&lt;/TableIndex&gt;&lt;TableIndex row=&quot;7&quot; col=&quot;1&quot;&gt;&lt;linesCount val=&quot;1&quot;/&gt;&lt;lineCharCount val=&quot;25&quot;/&gt;&lt;/TableIndex&gt;&lt;TableIndex row=&quot;7&quot; col=&quot;2&quot;&gt;&lt;linesCount val=&quot;1&quot;/&gt;&lt;lineCharCount val=&quot;12&quot;/&gt;&lt;/TableIndex&gt;&lt;TableIndex row=&quot;7&quot; col=&quot;3&quot;&gt;&lt;linesCount val=&quot;2&quot;/&gt;&lt;lineCharCount val=&quot;59&quot;/&gt;&lt;lineCharCount val=&quot;25&quot;/&gt;&lt;/TableIndex&gt;&lt;TableIndex row=&quot;8&quot; col=&quot;1&quot;&gt;&lt;linesCount val=&quot;1&quot;/&gt;&lt;lineCharCount val=&quot;28&quot;/&gt;&lt;/TableIndex&gt;&lt;TableIndex row=&quot;8&quot; col=&quot;2&quot;&gt;&lt;linesCount val=&quot;1&quot;/&gt;&lt;lineCharCount val=&quot;27&quot;/&gt;&lt;/TableIndex&gt;&lt;TableIndex row=&quot;8&quot; col=&quot;3&quot;&gt;&lt;linesCount val=&quot;2&quot;/&gt;&lt;lineCharCount val=&quot;59&quot;/&gt;&lt;lineCharCount val=&quot;35&quot;/&gt;&lt;/TableIndex&gt;&lt;TableIndex row=&quot;9&quot; col=&quot;1&quot;&gt;&lt;linesCount val=&quot;1&quot;/&gt;&lt;lineCharCount val=&quot;28&quot;/&gt;&lt;/TableIndex&gt;&lt;TableIndex row=&quot;9&quot; col=&quot;2&quot;&gt;&lt;linesCount val=&quot;1&quot;/&gt;&lt;lineCharCount val=&quot;26&quot;/&gt;&lt;/TableIndex&gt;&lt;TableIndex row=&quot;9&quot; col=&quot;3&quot;&gt;&lt;linesCount val=&quot;2&quot;/&gt;&lt;lineCharCount val=&quot;59&quot;/&gt;&lt;lineCharCount val=&quot;34&quot;/&gt;&lt;/TableIndex&gt;&lt;TableIndex row=&quot;10&quot; col=&quot;1&quot;&gt;&lt;linesCount val=&quot;2&quot;/&gt;&lt;lineCharCount val=&quot;32&quot;/&gt;&lt;lineCharCount val=&quot;6&quot;/&gt;&lt;/TableIndex&gt;&lt;TableIndex row=&quot;10&quot; col=&quot;2&quot;&gt;&lt;linesCount val=&quot;1&quot;/&gt;&lt;lineCharCount val=&quot;26&quot;/&gt;&lt;/TableIndex&gt;&lt;TableIndex row=&quot;10&quot; col=&quot;3&quot;&gt;&lt;linesCount val=&quot;2&quot;/&gt;&lt;lineCharCount val=&quot;61&quot;/&gt;&lt;lineCharCount val=&quot;42&quot;/&gt;&lt;/TableIndex&gt;&lt;TableIndex row=&quot;11&quot; col=&quot;1&quot;&gt;&lt;linesCount val=&quot;2&quot;/&gt;&lt;lineCharCount val=&quot;32&quot;/&gt;&lt;lineCharCount val=&quot;6&quot;/&gt;&lt;/TableIndex&gt;&lt;TableIndex row=&quot;11&quot; col=&quot;2&quot;&gt;&lt;linesCount val=&quot;1&quot;/&gt;&lt;lineCharCount val=&quot;24&quot;/&gt;&lt;/TableIndex&gt;&lt;TableIndex row=&quot;11&quot; col=&quot;3&quot;&gt;&lt;linesCount val=&quot;2&quot;/&gt;&lt;lineCharCount val=&quot;61&quot;/&gt;&lt;lineCharCount val=&quot;40&quot;/&gt;&lt;/TableIndex&gt;&lt;TableIndex row=&quot;12&quot; col=&quot;1&quot;&gt;&lt;linesCount val=&quot;2&quot;/&gt;&lt;lineCharCount val=&quot;30&quot;/&gt;&lt;lineCharCount val=&quot;6&quot;/&gt;&lt;/TableIndex&gt;&lt;TableIndex row=&quot;12&quot; col=&quot;2&quot;&gt;&lt;linesCount val=&quot;1&quot;/&gt;&lt;lineCharCount val=&quot;17&quot;/&gt;&lt;/TableIndex&gt;&lt;TableIndex row=&quot;12&quot; col=&quot;3&quot;&gt;&lt;linesCount val=&quot;2&quot;/&gt;&lt;lineCharCount val=&quot;61&quot;/&gt;&lt;lineCharCount val=&quot;33&quot;/&gt;&lt;/TableIndex&gt;&lt;TableIndex row=&quot;13&quot; col=&quot;1&quot;&gt;&lt;linesCount val=&quot;2&quot;/&gt;&lt;lineCharCount val=&quot;30&quot;/&gt;&lt;lineCharCount val=&quot;6&quot;/&gt;&lt;/TableIndex&gt;&lt;TableIndex row=&quot;13&quot; col=&quot;2&quot;&gt;&lt;linesCount val=&quot;1&quot;/&gt;&lt;lineCharCount val=&quot;16&quot;/&gt;&lt;/TableIndex&gt;&lt;TableIndex row=&quot;13&quot; col=&quot;3&quot;&gt;&lt;linesCount val=&quot;2&quot;/&gt;&lt;lineCharCount val=&quot;61&quot;/&gt;&lt;lineCharCount val=&quot;32&quot;/&gt;&lt;/TableIndex&gt;&lt;TableIndex row=&quot;14&quot; col=&quot;1&quot;&gt;&lt;linesCount val=&quot;1&quot;/&gt;&lt;lineCharCount val=&quot;30&quot;/&gt;&lt;/TableIndex&gt;&lt;TableIndex row=&quot;14&quot; col=&quot;2&quot;&gt;&lt;linesCount val=&quot;1&quot;/&gt;&lt;lineCharCount val=&quot;6&quot;/&gt;&lt;/TableIndex&gt;&lt;TableIndex row=&quot;14&quot; col=&quot;3&quot;&gt;&lt;linesCount val=&quot;1&quot;/&gt;&lt;lineCharCount val=&quot;58&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1&quot;/&gt;&lt;lineCharCount val=&quot;6&quot;/&gt;&lt;/TableIndex&gt;&lt;TableIndex row=&quot;1&quot; col=&quot;2&quot;&gt;&lt;linesCount val=&quot;1&quot;/&gt;&lt;lineCharCount val=&quot;6&quot;/&gt;&lt;/TableIndex&gt;&lt;TableIndex row=&quot;2&quot; col=&quot;1&quot;&gt;&lt;linesCount val=&quot;1&quot;/&gt;&lt;lineCharCount val=&quot;20&quot;/&gt;&lt;/TableIndex&gt;&lt;TableIndex row=&quot;2&quot; col=&quot;2&quot;&gt;&lt;linesCount val=&quot;2&quot;/&gt;&lt;lineCharCount val=&quot;113&quot;/&gt;&lt;lineCharCount val=&quot;38&quot;/&gt;&lt;/TableIndex&gt;&lt;TableIndex row=&quot;3&quot; col=&quot;1&quot;&gt;&lt;linesCount val=&quot;1&quot;/&gt;&lt;lineCharCount val=&quot;20&quot;/&gt;&lt;/TableIndex&gt;&lt;TableIndex row=&quot;3&quot; col=&quot;2&quot;&gt;&lt;linesCount val=&quot;1&quot;/&gt;&lt;lineCharCount val=&quot;33&quot;/&gt;&lt;/TableIndex&gt;&lt;TableIndex row=&quot;4&quot; col=&quot;1&quot;&gt;&lt;linesCount val=&quot;1&quot;/&gt;&lt;lineCharCount val=&quot;8&quot;/&gt;&lt;/TableIndex&gt;&lt;TableIndex row=&quot;4&quot; col=&quot;2&quot;&gt;&lt;linesCount val=&quot;1&quot;/&gt;&lt;lineCharCount val=&quot;87&quot;/&gt;&lt;/TableIndex&gt;&lt;TableIndex row=&quot;5&quot; col=&quot;1&quot;&gt;&lt;linesCount val=&quot;1&quot;/&gt;&lt;lineCharCount val=&quot;13&quot;/&gt;&lt;/TableIndex&gt;&lt;TableIndex row=&quot;5&quot; col=&quot;2&quot;&gt;&lt;linesCount val=&quot;1&quot;/&gt;&lt;lineCharCount val=&quot;29&quot;/&gt;&lt;/TableIndex&gt;&lt;TableIndex row=&quot;6&quot; col=&quot;1&quot;&gt;&lt;linesCount val=&quot;1&quot;/&gt;&lt;lineCharCount val=&quot;16&quot;/&gt;&lt;/TableIndex&gt;&lt;TableIndex row=&quot;6&quot; col=&quot;2&quot;&gt;&lt;linesCount val=&quot;1&quot;/&gt;&lt;lineCharCount val=&quot;40&quot;/&gt;&lt;/TableIndex&gt;&lt;TableIndex row=&quot;7&quot; col=&quot;1&quot;&gt;&lt;linesCount val=&quot;3&quot;/&gt;&lt;lineCharCount val=&quot;25&quot;/&gt;&lt;lineCharCount val=&quot;25&quot;/&gt;&lt;lineCharCount val=&quot;12&quot;/&gt;&lt;/TableIndex&gt;&lt;TableIndex row=&quot;7&quot; col=&quot;2&quot;&gt;&lt;linesCount val=&quot;2&quot;/&gt;&lt;lineCharCount val=&quot;114&quot;/&gt;&lt;lineCharCount val=&quot;17&quot;/&gt;&lt;/TableIndex&gt;&lt;TableIndex row=&quot;8&quot; col=&quot;1&quot;&gt;&lt;linesCount val=&quot;1&quot;/&gt;&lt;lineCharCount val=&quot;15&quot;/&gt;&lt;/TableIndex&gt;&lt;TableIndex row=&quot;8&quot; col=&quot;2&quot;&gt;&lt;linesCount val=&quot;1&quot;/&gt;&lt;lineCharCount val=&quot;70&quot;/&gt;&lt;/TableIndex&gt;&lt;TableIndex row=&quot;9&quot; col=&quot;1&quot;&gt;&lt;linesCount val=&quot;1&quot;/&gt;&lt;lineCharCount val=&quot;21&quot;/&gt;&lt;/TableIndex&gt;&lt;TableIndex row=&quot;9&quot; col=&quot;2&quot;&gt;&lt;linesCount val=&quot;1&quot;/&gt;&lt;lineCharCount val=&quot;110&quot;/&gt;&lt;/TableIndex&gt;&lt;TableIndex row=&quot;10&quot; col=&quot;1&quot;&gt;&lt;linesCount val=&quot;2&quot;/&gt;&lt;lineCharCount val=&quot;23&quot;/&gt;&lt;lineCharCount val=&quot;23&quot;/&gt;&lt;/TableIndex&gt;&lt;TableIndex row=&quot;10&quot; col=&quot;2&quot;&gt;&lt;linesCount val=&quot;3&quot;/&gt;&lt;lineCharCount val=&quot;106&quot;/&gt;&lt;lineCharCount val=&quot;104&quot;/&gt;&lt;lineCharCount val=&quot;68&quot;/&gt;&lt;/TableIndex&gt;&lt;TableIndex row=&quot;11&quot; col=&quot;1&quot;&gt;&lt;linesCount val=&quot;1&quot;/&gt;&lt;lineCharCount val=&quot;17&quot;/&gt;&lt;/TableIndex&gt;&lt;TableIndex row=&quot;11&quot; col=&quot;2&quot;&gt;&lt;linesCount val=&quot;1&quot;/&gt;&lt;lineCharCount val=&quot;40&quot;/&gt;&lt;/TableIndex&gt;&lt;TableIndex row=&quot;12&quot; col=&quot;1&quot;&gt;&lt;linesCount val=&quot;1&quot;/&gt;&lt;lineCharCount val=&quot;13&quot;/&gt;&lt;/TableIndex&gt;&lt;TableIndex row=&quot;12&quot; col=&quot;2&quot;&gt;&lt;linesCount val=&quot;1&quot;/&gt;&lt;lineCharCount val=&quot;65&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PSNARRATION" val="7,1151331753,D:\Ders Materyali\İçerik\Temel Bilgi Teknolojisi Kullanımı\TBTK\Kelime İşlemci Modül 2_pptx\Media.ppcx"/>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 name="PRESENTER_SHAPEINFO" val="&lt;ThreeDShapeInfo&gt;&lt;uuid val=&quot;{78FDFDE6-7EBC-4506-96FA-408AAD1F74A2}&quot;/&gt;&lt;isInvalidForFieldText val=&quot;0&quot;/&gt;&lt;Image&gt;&lt;filename val=&quot;C:\Users\YILMAZ\AppData\Local\Temp\PR\data\asimages\{78FDFDE6-7EBC-4506-96FA-408AAD1F74A2}_7.png&quot;/&gt;&lt;left val=&quot;36&quot;/&gt;&lt;top val=&quot;30&quot;/&gt;&lt;width val=&quot;649&quot;/&gt;&lt;height val=&quot;62&quot;/&gt;&lt;hasText val=&quot;1&quot;/&gt;&lt;/Image&gt;&lt;/ThreeDShape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8&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88&quot;/&gt;&lt;lineCharCount val=&quot;59&quot;/&gt;&lt;lineCharCount val=&quot;21&quot;/&gt;&lt;lineCharCount val=&quot;21&quot;/&gt;&lt;lineCharCount val=&quot;33&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TableIndex row=&quot;1&quot; col=&quot;2&quot;&gt;&lt;linesCount val=&quot;1&quot;/&gt;&lt;lineCharCount val=&quot;6&quot;/&gt;&lt;/TableIndex&gt;&lt;TableIndex row=&quot;2&quot; col=&quot;1&quot;&gt;&lt;linesCount val=&quot;1&quot;/&gt;&lt;lineCharCount val=&quot;15&quot;/&gt;&lt;/TableIndex&gt;&lt;TableIndex row=&quot;2&quot; col=&quot;2&quot;&gt;&lt;linesCount val=&quot;1&quot;/&gt;&lt;lineCharCount val=&quot;42&quot;/&gt;&lt;/TableIndex&gt;&lt;TableIndex row=&quot;3&quot; col=&quot;1&quot;&gt;&lt;linesCount val=&quot;1&quot;/&gt;&lt;lineCharCount val=&quot;15&quot;/&gt;&lt;/TableIndex&gt;&lt;TableIndex row=&quot;3&quot; col=&quot;2&quot;&gt;&lt;linesCount val=&quot;1&quot;/&gt;&lt;lineCharCount val=&quot;42&quot;/&gt;&lt;/TableIndex&gt;&lt;TableIndex row=&quot;4&quot; col=&quot;1&quot;&gt;&lt;linesCount val=&quot;1&quot;/&gt;&lt;lineCharCount val=&quot;18&quot;/&gt;&lt;/TableIndex&gt;&lt;TableIndex row=&quot;4&quot; col=&quot;2&quot;&gt;&lt;linesCount val=&quot;1&quot;/&gt;&lt;lineCharCount val=&quot;40&quot;/&gt;&lt;/TableIndex&gt;&lt;TableIndex row=&quot;5&quot; col=&quot;1&quot;&gt;&lt;linesCount val=&quot;1&quot;/&gt;&lt;lineCharCount val=&quot;17&quot;/&gt;&lt;/TableIndex&gt;&lt;TableIndex row=&quot;5&quot; col=&quot;2&quot;&gt;&lt;linesCount val=&quot;1&quot;/&gt;&lt;lineCharCount val=&quot;40&quot;/&gt;&lt;/TableIndex&gt;&lt;TableIndex row=&quot;6&quot; col=&quot;1&quot;&gt;&lt;linesCount val=&quot;1&quot;/&gt;&lt;lineCharCount val=&quot;15&quot;/&gt;&lt;/TableIndex&gt;&lt;TableIndex row=&quot;6&quot; col=&quot;2&quot;&gt;&lt;linesCount val=&quot;1&quot;/&gt;&lt;lineCharCount val=&quot;40&quot;/&gt;&lt;/TableIndex&gt;&lt;TableIndex row=&quot;7&quot; col=&quot;1&quot;&gt;&lt;linesCount val=&quot;1&quot;/&gt;&lt;lineCharCount val=&quot;15&quot;/&gt;&lt;/TableIndex&gt;&lt;TableIndex row=&quot;7&quot; col=&quot;2&quot;&gt;&lt;linesCount val=&quot;1&quot;/&gt;&lt;lineCharCount val=&quot;39&quot;/&gt;&lt;/TableIndex&gt;&lt;TableIndex row=&quot;8&quot; col=&quot;1&quot;&gt;&lt;linesCount val=&quot;1&quot;/&gt;&lt;lineCharCount val=&quot;4&quot;/&gt;&lt;/TableIndex&gt;&lt;TableIndex row=&quot;8&quot; col=&quot;2&quot;&gt;&lt;linesCount val=&quot;1&quot;/&gt;&lt;lineCharCount val=&quot;38&quot;/&gt;&lt;/TableIndex&gt;&lt;TableIndex row=&quot;9&quot; col=&quot;1&quot;&gt;&lt;linesCount val=&quot;1&quot;/&gt;&lt;lineCharCount val=&quot;3&quot;/&gt;&lt;/TableIndex&gt;&lt;TableIndex row=&quot;9&quot; col=&quot;2&quot;&gt;&lt;linesCount val=&quot;1&quot;/&gt;&lt;lineCharCount val=&quot;38&quot;/&gt;&lt;/TableIndex&gt;&lt;TableIndex row=&quot;10&quot; col=&quot;1&quot;&gt;&lt;linesCount val=&quot;1&quot;/&gt;&lt;lineCharCount val=&quot;18&quot;/&gt;&lt;/TableIndex&gt;&lt;TableIndex row=&quot;10&quot; col=&quot;2&quot;&gt;&lt;linesCount val=&quot;1&quot;/&gt;&lt;lineCharCount val=&quot;43&quot;/&gt;&lt;/TableIndex&gt;&lt;TableIndex row=&quot;11&quot; col=&quot;1&quot;&gt;&lt;linesCount val=&quot;1&quot;/&gt;&lt;lineCharCount val=&quot;17&quot;/&gt;&lt;/TableIndex&gt;&lt;TableIndex row=&quot;11&quot; col=&quot;2&quot;&gt;&lt;linesCount val=&quot;1&quot;/&gt;&lt;lineCharCount val=&quot;42&quot;/&gt;&lt;/TableIndex&gt;&lt;TableIndex row=&quot;12&quot; col=&quot;1&quot;&gt;&lt;linesCount val=&quot;1&quot;/&gt;&lt;lineCharCount val=&quot;7&quot;/&gt;&lt;/TableIndex&gt;&lt;TableIndex row=&quot;12&quot; col=&quot;2&quot;&gt;&lt;linesCount val=&quot;1&quot;/&gt;&lt;lineCharCount val=&quot;40&quot;/&gt;&lt;/TableIndex&gt;&lt;TableIndex row=&quot;13&quot; col=&quot;1&quot;&gt;&lt;linesCount val=&quot;1&quot;/&gt;&lt;lineCharCount val=&quot;9&quot;/&gt;&lt;/TableIndex&gt;&lt;TableIndex row=&quot;13&quot; col=&quot;2&quot;&gt;&lt;linesCount val=&quot;1&quot;/&gt;&lt;lineCharCount val=&quot;39&quot;/&gt;&lt;/TableIndex&gt;&lt;TableIndex row=&quot;14&quot; col=&quot;1&quot;&gt;&lt;linesCount val=&quot;1&quot;/&gt;&lt;lineCharCount val=&quot;9&quot;/&gt;&lt;/TableIndex&gt;&lt;TableIndex row=&quot;14&quot; col=&quot;2&quot;&gt;&lt;linesCount val=&quot;1&quot;/&gt;&lt;lineCharCount val=&quot;45&quot;/&gt;&lt;/TableIndex&gt;&lt;TableIndex row=&quot;15&quot; col=&quot;1&quot;&gt;&lt;linesCount val=&quot;1&quot;/&gt;&lt;lineCharCount val=&quot;8&quot;/&gt;&lt;/TableIndex&gt;&lt;TableIndex row=&quot;15&quot; col=&quot;2&quot;&gt;&lt;linesCount val=&quot;1&quot;/&gt;&lt;lineCharCount val=&quot;39&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PSNARRATION" val="8,1151331753,D:\Ders Materyali\İçerik\Temel Bilgi Teknolojisi Kullanımı\TBTK\Kelime İşlemci Modül 2_pptx\Media.ppcx"/>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9&quot;/&gt;&lt;/TableIndex&gt;&lt;/ShapeTextInfo&gt;"/>
  <p:tag name="PRESENTER_SHAPEINFO" val="&lt;ThreeDShapeInfo&gt;&lt;uuid val=&quot;{50F8D69A-35B9-489A-833D-317141F43A93}&quot;/&gt;&lt;isInvalidForFieldText val=&quot;0&quot;/&gt;&lt;Image&gt;&lt;filename val=&quot;C:\Users\YILMAZ\AppData\Local\Temp\PR\data\asimages\{50F8D69A-35B9-489A-833D-317141F43A93}_8.png&quot;/&gt;&lt;left val=&quot;36&quot;/&gt;&lt;top val=&quot;30&quot;/&gt;&lt;width val=&quot;649&quot;/&gt;&lt;height val=&quot;62&quot;/&gt;&lt;hasText val=&quot;1&quot;/&gt;&lt;/Image&gt;&lt;/ThreeDShape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4&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41&quot;/&gt;&lt;lineCharCount val=&quot;58&quot;/&gt;&lt;lineCharCount val=&quot;7&quot;/&gt;&lt;lineCharCount val=&quot;26&quot;/&gt;&lt;lineCharCount val=&quot;49&quot;/&gt;&lt;lineCharCount val=&quot;53&quot;/&gt;&lt;lineCharCount val=&quot;7&quot;/&gt;&lt;lineCharCount val=&quot;22&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PSNARRATION" val="9,1151331753,D:\Ders Materyali\İçerik\Temel Bilgi Teknolojisi Kullanımı\TBTK\Kelime İşlemci Modül 2_pptx\Media.ppcx"/>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 name="PRESENTER_SHAPEINFO" val="&lt;ThreeDShapeInfo&gt;&lt;uuid val=&quot;{251D1374-E496-4A72-BAE0-B95D07000CED}&quot;/&gt;&lt;isInvalidForFieldText val=&quot;0&quot;/&gt;&lt;Image&gt;&lt;filename val=&quot;C:\Users\YILMAZ\AppData\Local\Temp\PR\data\asimages\{251D1374-E496-4A72-BAE0-B95D07000CED}_9.png&quot;/&gt;&lt;left val=&quot;36&quot;/&gt;&lt;top val=&quot;30&quot;/&gt;&lt;width val=&quot;649&quot;/&gt;&lt;height val=&quot;62&quot;/&gt;&lt;hasText val=&quot;1&quot;/&gt;&lt;/Image&gt;&lt;/ThreeDShape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98&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45&quot;/&gt;&lt;lineCharCount val=&quot;31&quot;/&gt;&lt;lineCharCount val=&quot;53&quot;/&gt;&lt;lineCharCount val=&quot;20&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quot;/&gt;&lt;/TableIndex&gt;&lt;TableIndex row=&quot;1&quot; col=&quot;2&quot;&gt;&lt;linesCount val=&quot;1&quot;/&gt;&lt;lineCharCount val=&quot;12&quot;/&gt;&lt;/TableIndex&gt;&lt;TableIndex row=&quot;1&quot; col=&quot;3&quot;&gt;&lt;linesCount val=&quot;1&quot;/&gt;&lt;lineCharCount val=&quot;15&quot;/&gt;&lt;/TableIndex&gt;&lt;TableIndex row=&quot;1&quot; col=&quot;4&quot;&gt;&lt;linesCount val=&quot;1&quot;/&gt;&lt;lineCharCount val=&quot;19&quot;/&gt;&lt;/TableIndex&gt;&lt;TableIndex row=&quot;2&quot; col=&quot;1&quot;&gt;&lt;linesCount val=&quot;1&quot;/&gt;&lt;lineCharCount val=&quot;7&quot;/&gt;&lt;/TableIndex&gt;&lt;TableIndex row=&quot;2&quot; col=&quot;2&quot;&gt;&lt;linesCount val=&quot;1&quot;/&gt;&lt;lineCharCount val=&quot;14&quot;/&gt;&lt;/TableIndex&gt;&lt;TableIndex row=&quot;2&quot; col=&quot;3&quot;&gt;&lt;linesCount val=&quot;1&quot;/&gt;&lt;lineCharCount val=&quot;8&quot;/&gt;&lt;/TableIndex&gt;&lt;TableIndex row=&quot;2&quot; col=&quot;4&quot;&gt;&lt;linesCount val=&quot;0&quot;/&gt;&lt;/TableIndex&gt;&lt;TableIndex row=&quot;3&quot; col=&quot;1&quot;&gt;&lt;linesCount val=&quot;1&quot;/&gt;&lt;lineCharCount val=&quot;3&quot;/&gt;&lt;/TableIndex&gt;&lt;TableIndex row=&quot;3&quot; col=&quot;2&quot;&gt;&lt;linesCount val=&quot;1&quot;/&gt;&lt;lineCharCount val=&quot;10&quot;/&gt;&lt;/TableIndex&gt;&lt;TableIndex row=&quot;3&quot; col=&quot;3&quot;&gt;&lt;linesCount val=&quot;1&quot;/&gt;&lt;lineCharCount val=&quot;6&quot;/&gt;&lt;/TableIndex&gt;&lt;TableIndex row=&quot;3&quot; col=&quot;4&quot;&gt;&lt;linesCount val=&quot;0&quot;/&gt;&lt;/TableIndex&gt;&lt;TableIndex row=&quot;4&quot; col=&quot;1&quot;&gt;&lt;linesCount val=&quot;1&quot;/&gt;&lt;lineCharCount val=&quot;8&quot;/&gt;&lt;/TableIndex&gt;&lt;TableIndex row=&quot;4&quot; col=&quot;2&quot;&gt;&lt;linesCount val=&quot;1&quot;/&gt;&lt;lineCharCount val=&quot;15&quot;/&gt;&lt;/TableIndex&gt;&lt;TableIndex row=&quot;4&quot; col=&quot;3&quot;&gt;&lt;linesCount val=&quot;1&quot;/&gt;&lt;lineCharCount val=&quot;6&quot;/&gt;&lt;/TableIndex&gt;&lt;TableIndex row=&quot;4&quot; col=&quot;4&quot;&gt;&lt;linesCount val=&quot;0&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14&quot;/&gt;&lt;lineCharCount val=&quot;7&quot;/&gt;&lt;lineCharCount val=&quot;35&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PSNARRATION" val="10,1151331753,D:\Ders Materyali\İçerik\Temel Bilgi Teknolojisi Kullanımı\TBTK\Kelime İşlemci Modül 2_pptx\Media.ppcx"/>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 name="PRESENTER_SHAPEINFO" val="&lt;ThreeDShapeInfo&gt;&lt;uuid val=&quot;{07EA1511-5A08-4490-9246-283F3E60A06C}&quot;/&gt;&lt;isInvalidForFieldText val=&quot;0&quot;/&gt;&lt;Image&gt;&lt;filename val=&quot;C:\Users\YILMAZ\AppData\Local\Temp\PR\data\asimages\{07EA1511-5A08-4490-9246-283F3E60A06C}_10.png&quot;/&gt;&lt;left val=&quot;36&quot;/&gt;&lt;top val=&quot;30&quot;/&gt;&lt;width val=&quot;649&quot;/&gt;&lt;height val=&quot;62&quot;/&gt;&lt;hasText val=&quot;1&quot;/&gt;&lt;/Image&gt;&lt;/ThreeDShape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6&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57&quot;/&gt;&lt;lineCharCount val=&quot;55&quot;/&gt;&lt;lineCharCount val=&quot;73&quot;/&gt;&lt;lineCharCount val=&quot;57&quot;/&gt;&lt;lineCharCount val=&quot;68&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2647</TotalTime>
  <Words>1806</Words>
  <Application>Microsoft Office PowerPoint</Application>
  <PresentationFormat>Ekran Gösterisi (4:3)</PresentationFormat>
  <Paragraphs>239</Paragraphs>
  <Slides>10</Slides>
  <Notes>10</Notes>
  <HiddenSlides>0</HiddenSlides>
  <MMClips>0</MMClips>
  <ScaleCrop>false</ScaleCrop>
  <HeadingPairs>
    <vt:vector size="4" baseType="variant">
      <vt:variant>
        <vt:lpstr>Tema</vt:lpstr>
      </vt:variant>
      <vt:variant>
        <vt:i4>2</vt:i4>
      </vt:variant>
      <vt:variant>
        <vt:lpstr>Slayt Başlıkları</vt:lpstr>
      </vt:variant>
      <vt:variant>
        <vt:i4>10</vt:i4>
      </vt:variant>
    </vt:vector>
  </HeadingPairs>
  <TitlesOfParts>
    <vt:vector size="12" baseType="lpstr">
      <vt:lpstr>Hava Akımı</vt:lpstr>
      <vt:lpstr>Ofis Teması</vt:lpstr>
      <vt:lpstr>Kelime İşlemci Word </vt:lpstr>
      <vt:lpstr>Öğrenme Hedefleri</vt:lpstr>
      <vt:lpstr>İçindekiler</vt:lpstr>
      <vt:lpstr>Metin Eklemek</vt:lpstr>
      <vt:lpstr>Simge Eklemek</vt:lpstr>
      <vt:lpstr>Veri Seçmek</vt:lpstr>
      <vt:lpstr>Veri Düzenlemek</vt:lpstr>
      <vt:lpstr>Geri Almak veya Tekrar Yapmak</vt:lpstr>
      <vt:lpstr>Benzerini Oluşturmak, Taşımak veya Silmek</vt:lpstr>
      <vt:lpstr>Arama ve Değiştirme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YILMAZ</cp:lastModifiedBy>
  <cp:revision>399</cp:revision>
  <cp:lastPrinted>2011-09-23T15:10:57Z</cp:lastPrinted>
  <dcterms:created xsi:type="dcterms:W3CDTF">2011-06-08T08:18:11Z</dcterms:created>
  <dcterms:modified xsi:type="dcterms:W3CDTF">2011-10-18T13:35:22Z</dcterms:modified>
</cp:coreProperties>
</file>