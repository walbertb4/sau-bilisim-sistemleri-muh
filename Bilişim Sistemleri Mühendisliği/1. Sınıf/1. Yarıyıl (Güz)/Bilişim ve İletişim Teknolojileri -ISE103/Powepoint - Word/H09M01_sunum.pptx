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5.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6.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8.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9.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0.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1.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12.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13.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7"/>
  </p:notesMasterIdLst>
  <p:sldIdLst>
    <p:sldId id="256" r:id="rId3"/>
    <p:sldId id="260" r:id="rId4"/>
    <p:sldId id="258" r:id="rId5"/>
    <p:sldId id="257" r:id="rId6"/>
    <p:sldId id="271" r:id="rId7"/>
    <p:sldId id="275" r:id="rId8"/>
    <p:sldId id="277" r:id="rId9"/>
    <p:sldId id="261" r:id="rId10"/>
    <p:sldId id="276" r:id="rId11"/>
    <p:sldId id="272" r:id="rId12"/>
    <p:sldId id="263" r:id="rId13"/>
    <p:sldId id="278" r:id="rId14"/>
    <p:sldId id="279" r:id="rId15"/>
    <p:sldId id="280" r:id="rId16"/>
  </p:sldIdLst>
  <p:sldSz cx="9144000" cy="6858000" type="screen4x3"/>
  <p:notesSz cx="6669088" cy="9928225"/>
  <p:custDataLst>
    <p:tags r:id="rId18"/>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46F890A9-2807-4EBB-B81D-B2AA78EC7F39}" styleName="Koyu Stil 2 - Vurgu 5/Vurgu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042" autoAdjust="0"/>
  </p:normalViewPr>
  <p:slideViewPr>
    <p:cSldViewPr>
      <p:cViewPr varScale="1">
        <p:scale>
          <a:sx n="92" d="100"/>
          <a:sy n="92" d="100"/>
        </p:scale>
        <p:origin x="-146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FF07403-48BF-4B87-9E20-50CC050AC631}" type="datetimeFigureOut">
              <a:rPr lang="tr-TR" smtClean="0"/>
              <a:t>18.10.2011</a:t>
            </a:fld>
            <a:endParaRPr lang="tr-TR"/>
          </a:p>
        </p:txBody>
      </p:sp>
      <p:sp>
        <p:nvSpPr>
          <p:cNvPr id="4" name="Slayt Görüntüsü Yer Tutucus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1</a:t>
            </a:fld>
            <a:endParaRPr lang="tr-TR"/>
          </a:p>
        </p:txBody>
      </p:sp>
    </p:spTree>
    <p:extLst>
      <p:ext uri="{BB962C8B-B14F-4D97-AF65-F5344CB8AC3E}">
        <p14:creationId xmlns:p14="http://schemas.microsoft.com/office/powerpoint/2010/main" val="283110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2</a:t>
            </a:fld>
            <a:endParaRPr lang="tr-TR"/>
          </a:p>
        </p:txBody>
      </p:sp>
    </p:spTree>
    <p:extLst>
      <p:ext uri="{BB962C8B-B14F-4D97-AF65-F5344CB8AC3E}">
        <p14:creationId xmlns:p14="http://schemas.microsoft.com/office/powerpoint/2010/main" val="250308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3</a:t>
            </a:fld>
            <a:endParaRPr lang="tr-TR"/>
          </a:p>
        </p:txBody>
      </p:sp>
    </p:spTree>
    <p:extLst>
      <p:ext uri="{BB962C8B-B14F-4D97-AF65-F5344CB8AC3E}">
        <p14:creationId xmlns:p14="http://schemas.microsoft.com/office/powerpoint/2010/main" val="418738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MS Word 2010’da belgeye tablo eklemek için Ekle Sekmesini kullanılmaktadır. Tablo eklemek için ilk yol menüde açılan ızgara alanından fareye tıklamadan sadece sürükleyerek istenilen sayıda sütun ve satır seçmektir. Tablo eklemenin bir diğer yolu Tablo Ekleme komutunu kullanmaktır. Bu komuta tıkladığımızda açılan Tablo Ekle iletişim penceresinden sütun ve satır sayısı girilip Tamam</a:t>
            </a:r>
            <a:r>
              <a:rPr lang="tr-TR" sz="1200" kern="1200" baseline="0" dirty="0" smtClean="0">
                <a:solidFill>
                  <a:schemeClr val="tx1"/>
                </a:solidFill>
                <a:effectLst/>
                <a:latin typeface="+mn-lt"/>
                <a:ea typeface="+mn-ea"/>
                <a:cs typeface="+mn-cs"/>
              </a:rPr>
              <a:t> komutuna tıkladığımızda tablo oluşturulmuş olur. Tablo Çiz komutu bize tabloyu kendimizin çizmesine imkan verir. Hazır tablolar komutundan açılan galeriden hazır tablolardan birini de seçerek tablo oluşturmak mümkündür.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 belgesine tablo eklediğimizde tablodaki ilk hücre aktif hale gelir. Yazacağımız herhangi bir metin bu hücreye girilir. Hücreler arası geçişte </a:t>
            </a:r>
            <a:r>
              <a:rPr lang="tr-TR" sz="1200" kern="1200" dirty="0" err="1" smtClean="0">
                <a:solidFill>
                  <a:schemeClr val="tx1"/>
                </a:solidFill>
                <a:effectLst/>
                <a:latin typeface="+mn-lt"/>
                <a:ea typeface="+mn-ea"/>
                <a:cs typeface="+mn-cs"/>
              </a:rPr>
              <a:t>Tab</a:t>
            </a:r>
            <a:r>
              <a:rPr lang="tr-TR" sz="1200" kern="1200" dirty="0" smtClean="0">
                <a:solidFill>
                  <a:schemeClr val="tx1"/>
                </a:solidFill>
                <a:effectLst/>
                <a:latin typeface="+mn-lt"/>
                <a:ea typeface="+mn-ea"/>
                <a:cs typeface="+mn-cs"/>
              </a:rPr>
              <a:t> tuşunu kullanabilirsiniz. Ayrıca istediğiniz hücrenin içine fare ile de tıklayabilirsiniz. Hücre içeresinde ilerlemeyi ok tuşlarıyla yapabilirsiniz.</a:t>
            </a:r>
          </a:p>
          <a:p>
            <a:r>
              <a:rPr lang="tr-TR" sz="1200" kern="1200" dirty="0" smtClean="0">
                <a:solidFill>
                  <a:schemeClr val="tx1"/>
                </a:solidFill>
                <a:effectLst/>
                <a:latin typeface="+mn-lt"/>
                <a:ea typeface="+mn-ea"/>
                <a:cs typeface="+mn-cs"/>
              </a:rPr>
              <a:t>Bu düzenlemeleri yapmak için tabloda görünmeyen simgeleri görünür yapmamız lazım. Fare işaretçisi tablonun üzerine geldiğinde sol üst köşesine görünür olan Tablo taşıma tutamacı tablonun tamamını seçmek için kullanılır. Tek satır seçmek için metin seçerken olduğu gibi sol boşluğa tıklarız. Sütun seçmek içinse sütunun dışında sütunun hemen üstünü tıklayın. Tabloda hücre seçmek için hücrenin soluna tıklanır. Seçilen hücre ve tablodaki</a:t>
            </a:r>
            <a:r>
              <a:rPr lang="tr-TR" sz="1200" kern="1200" baseline="0" dirty="0" smtClean="0">
                <a:solidFill>
                  <a:schemeClr val="tx1"/>
                </a:solidFill>
                <a:effectLst/>
                <a:latin typeface="+mn-lt"/>
                <a:ea typeface="+mn-ea"/>
                <a:cs typeface="+mn-cs"/>
              </a:rPr>
              <a:t> verileri silmek için </a:t>
            </a:r>
            <a:r>
              <a:rPr lang="tr-TR" sz="1200" kern="1200" baseline="0" dirty="0" err="1" smtClean="0">
                <a:solidFill>
                  <a:schemeClr val="tx1"/>
                </a:solidFill>
                <a:effectLst/>
                <a:latin typeface="+mn-lt"/>
                <a:ea typeface="+mn-ea"/>
                <a:cs typeface="+mn-cs"/>
              </a:rPr>
              <a:t>Delete</a:t>
            </a:r>
            <a:r>
              <a:rPr lang="tr-TR" sz="1200" kern="1200" baseline="0" dirty="0" smtClean="0">
                <a:solidFill>
                  <a:schemeClr val="tx1"/>
                </a:solidFill>
                <a:effectLst/>
                <a:latin typeface="+mn-lt"/>
                <a:ea typeface="+mn-ea"/>
                <a:cs typeface="+mn-cs"/>
              </a:rPr>
              <a:t> tuşu kullanılır. Tabloda hücreleri birleştirmek veya bölmek gibi düzenlemeleri yapmak için de hücrelerin seçilmesi gerekiyor. </a:t>
            </a:r>
            <a:r>
              <a:rPr lang="tr-TR" sz="1200" kern="1200" dirty="0" smtClean="0">
                <a:solidFill>
                  <a:schemeClr val="tx1"/>
                </a:solidFill>
                <a:effectLst/>
                <a:latin typeface="+mn-lt"/>
                <a:ea typeface="+mn-ea"/>
                <a:cs typeface="+mn-cs"/>
              </a:rPr>
              <a:t>Seçim işleminden sonra Açılan Tablo Araçları bağlamsal sekmelerinden Düzenden Hücreleri birleştirebilir, hücreleri</a:t>
            </a:r>
            <a:r>
              <a:rPr lang="tr-TR" sz="1200" kern="1200" baseline="0" dirty="0" smtClean="0">
                <a:solidFill>
                  <a:schemeClr val="tx1"/>
                </a:solidFill>
                <a:effectLst/>
                <a:latin typeface="+mn-lt"/>
                <a:ea typeface="+mn-ea"/>
                <a:cs typeface="+mn-cs"/>
              </a:rPr>
              <a:t> ve tabloyu </a:t>
            </a:r>
            <a:r>
              <a:rPr lang="tr-TR" sz="1200" kern="1200" dirty="0" smtClean="0">
                <a:solidFill>
                  <a:schemeClr val="tx1"/>
                </a:solidFill>
                <a:effectLst/>
                <a:latin typeface="+mn-lt"/>
                <a:ea typeface="+mn-ea"/>
                <a:cs typeface="+mn-cs"/>
              </a:rPr>
              <a:t>bölebiliriz.</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Oluşturulan tabloda ön tasarımına rağmen satır adedi yeterli olmadığı durumlarda ekleme noktasının bulunduğu hücrenin altına veya üstüne satır eklemek için </a:t>
            </a:r>
            <a:r>
              <a:rPr lang="tr-TR" sz="1200" dirty="0" smtClean="0"/>
              <a:t>Word belgesinde Satır veya Sütun Eklemek veya Silmek için </a:t>
            </a:r>
          </a:p>
          <a:p>
            <a:pPr marL="285750" indent="-285750">
              <a:buFont typeface="Arial" pitchFamily="34" charset="0"/>
              <a:buChar char="•"/>
            </a:pPr>
            <a:r>
              <a:rPr lang="tr-TR" sz="1200" b="1" dirty="0" smtClean="0"/>
              <a:t>Düzen Bağlamsal </a:t>
            </a:r>
            <a:r>
              <a:rPr lang="tr-TR" sz="1200" dirty="0" smtClean="0"/>
              <a:t>sekmesi&gt;</a:t>
            </a:r>
            <a:r>
              <a:rPr lang="tr-TR" sz="1200" b="1" dirty="0" smtClean="0"/>
              <a:t>Satırlar ve Sütunlar </a:t>
            </a:r>
            <a:r>
              <a:rPr lang="tr-TR" sz="1200" dirty="0" smtClean="0"/>
              <a:t>komut grubu</a:t>
            </a:r>
          </a:p>
          <a:p>
            <a:pPr marL="285750" indent="-285750">
              <a:buFont typeface="Arial" pitchFamily="34" charset="0"/>
              <a:buChar char="•"/>
            </a:pPr>
            <a:r>
              <a:rPr lang="tr-TR" sz="1200" b="1" dirty="0" smtClean="0"/>
              <a:t>Fare </a:t>
            </a:r>
            <a:r>
              <a:rPr lang="tr-TR" sz="1200" b="1" dirty="0" err="1" smtClean="0"/>
              <a:t>kısayol</a:t>
            </a:r>
            <a:r>
              <a:rPr lang="tr-TR" sz="1200" b="1" dirty="0" smtClean="0"/>
              <a:t> menüsü </a:t>
            </a:r>
            <a:r>
              <a:rPr lang="tr-TR" sz="1200" dirty="0" smtClean="0"/>
              <a:t>kullanılır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Ekleme işlemini yapmadan önce</a:t>
            </a:r>
            <a:r>
              <a:rPr lang="tr-TR" sz="1200" kern="1200" baseline="0" dirty="0" smtClean="0">
                <a:solidFill>
                  <a:schemeClr val="tx1"/>
                </a:solidFill>
                <a:effectLst/>
                <a:latin typeface="+mn-lt"/>
                <a:ea typeface="+mn-ea"/>
                <a:cs typeface="+mn-cs"/>
              </a:rPr>
              <a:t> önüne veya arkasına ekleme yapacağımız satır veya sütunu seçeriz ve </a:t>
            </a:r>
            <a:r>
              <a:rPr lang="tr-TR" sz="1200" b="1" dirty="0" smtClean="0"/>
              <a:t>Düzen Bağlamsal </a:t>
            </a:r>
            <a:r>
              <a:rPr lang="tr-TR" sz="1200" dirty="0" smtClean="0"/>
              <a:t>sekmesi&gt;</a:t>
            </a:r>
            <a:r>
              <a:rPr lang="tr-TR" sz="1200" b="1" dirty="0" smtClean="0"/>
              <a:t>Satırlar ve Sütunlar </a:t>
            </a:r>
            <a:r>
              <a:rPr lang="tr-TR" sz="1200" dirty="0" smtClean="0"/>
              <a:t>komut grubundaki</a:t>
            </a:r>
            <a:r>
              <a:rPr lang="tr-TR" sz="1200" baseline="0" dirty="0" smtClean="0"/>
              <a:t> veya fare </a:t>
            </a:r>
            <a:r>
              <a:rPr lang="tr-TR" sz="1200" baseline="0" dirty="0" err="1" smtClean="0"/>
              <a:t>kısayol</a:t>
            </a:r>
            <a:r>
              <a:rPr lang="tr-TR" sz="1200" baseline="0" dirty="0" smtClean="0"/>
              <a:t> menüsü Ekle açılır menüsündeki komutları kullanırız. Bir başka ekleme yolu da </a:t>
            </a:r>
            <a:r>
              <a:rPr lang="tr-TR" sz="1200" b="1" dirty="0" smtClean="0"/>
              <a:t>Satırlar ve Sütunlar </a:t>
            </a:r>
            <a:r>
              <a:rPr lang="tr-TR" sz="1200" dirty="0" smtClean="0"/>
              <a:t>komut grubundaki iletişim başlatıcıyla</a:t>
            </a:r>
            <a:r>
              <a:rPr lang="tr-TR" sz="1200" baseline="0" dirty="0" smtClean="0"/>
              <a:t> Hücre Ekle iletişim penceresindeki komutları kullanmaktır. Tabloya yeni satır eklemek için klavye tuşları da kullanılır. Ekleme noktasını satır sonu işaretçisinin yanına koyduktan sonra </a:t>
            </a:r>
            <a:r>
              <a:rPr lang="tr-TR" sz="1200" baseline="0" dirty="0" err="1" smtClean="0"/>
              <a:t>Enter</a:t>
            </a:r>
            <a:r>
              <a:rPr lang="tr-TR" sz="1200" baseline="0" dirty="0" smtClean="0"/>
              <a:t> tuşuna basmak tabloya yeni bir satır ekleyecektir.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baseline="0" dirty="0" smtClean="0"/>
              <a:t>Satır veya sütun silmek için kullanılan yollar eklemek için kullanılan yollarla yanıdır. Buradaki fark Sil komutunun kullanılmasıdır. Örneğin seçim işlemini yaptıktan sonra </a:t>
            </a:r>
            <a:r>
              <a:rPr lang="tr-TR" sz="1200" b="1" dirty="0" smtClean="0"/>
              <a:t>Düzen Bağlamsal </a:t>
            </a:r>
            <a:r>
              <a:rPr lang="tr-TR" sz="1200" dirty="0" smtClean="0"/>
              <a:t>sekmesi&gt;</a:t>
            </a:r>
            <a:r>
              <a:rPr lang="tr-TR" sz="1200" b="1" dirty="0" smtClean="0"/>
              <a:t>Satırlar ve Sütunlar </a:t>
            </a:r>
            <a:r>
              <a:rPr lang="tr-TR" sz="1200" dirty="0" smtClean="0"/>
              <a:t>komut grubundaki Sil komutuna tıkladığımızda açılan menüden satır,</a:t>
            </a:r>
            <a:r>
              <a:rPr lang="tr-TR" sz="1200" baseline="0" dirty="0" smtClean="0"/>
              <a:t> sütun ve tablo silebiliriz. Tablo silmenin bir başka yolu tablo tutamacından tabloyu seçtikten sonra Geri tuşuna basmaktır. Tablo seçiliyken </a:t>
            </a:r>
            <a:r>
              <a:rPr lang="tr-TR" sz="1200" baseline="0" dirty="0" err="1" smtClean="0"/>
              <a:t>Delete</a:t>
            </a:r>
            <a:r>
              <a:rPr lang="tr-TR" sz="1200" baseline="0" dirty="0" smtClean="0"/>
              <a:t> tuşunu kullanmak sadece tablo içindeki verileri siler. </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Tablo eklemeden önce planlamış olduğumuz tablonun boyutunda bazen değişiklik ihtiyacı duyabiliriz. </a:t>
            </a:r>
          </a:p>
          <a:p>
            <a:r>
              <a:rPr lang="tr-TR" sz="1200" dirty="0" smtClean="0"/>
              <a:t>Tablodaki sütunların genişliğini ve satır yüksekliğini düzenlemek için</a:t>
            </a:r>
          </a:p>
          <a:p>
            <a:pPr marL="285750" indent="-285750">
              <a:buFont typeface="Arial" pitchFamily="34" charset="0"/>
              <a:buChar char="•"/>
            </a:pPr>
            <a:r>
              <a:rPr lang="tr-TR" sz="1200" b="1" dirty="0" smtClean="0"/>
              <a:t>Fare işaretçisi</a:t>
            </a:r>
          </a:p>
          <a:p>
            <a:pPr marL="285750" indent="-285750">
              <a:buFont typeface="Arial" pitchFamily="34" charset="0"/>
              <a:buChar char="•"/>
            </a:pPr>
            <a:r>
              <a:rPr lang="tr-TR" sz="1200" b="1" dirty="0" smtClean="0"/>
              <a:t>Düzen Bağlamsal </a:t>
            </a:r>
            <a:r>
              <a:rPr lang="tr-TR" sz="1200" dirty="0" smtClean="0"/>
              <a:t>sekmesi&gt;</a:t>
            </a:r>
            <a:r>
              <a:rPr lang="tr-TR" sz="1200" b="1" dirty="0" smtClean="0"/>
              <a:t>Hücre Boyutu</a:t>
            </a:r>
            <a:r>
              <a:rPr lang="tr-TR" sz="1200" dirty="0" smtClean="0"/>
              <a:t> komut grubu</a:t>
            </a:r>
          </a:p>
          <a:p>
            <a:pPr marL="285750" indent="-285750">
              <a:buFont typeface="Arial" pitchFamily="34" charset="0"/>
              <a:buChar char="•"/>
            </a:pPr>
            <a:r>
              <a:rPr lang="tr-TR" sz="1200" b="1" dirty="0" smtClean="0"/>
              <a:t>Tablo Özellikleri </a:t>
            </a:r>
            <a:r>
              <a:rPr lang="tr-TR" sz="1200" dirty="0" smtClean="0"/>
              <a:t>iletişim penceresi kullanılır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Bunun en kolay ve basit yolu satır veya sütunların bölen çizgilerin üzerine geldiğimizde çift başlı oka dönüşen fare işaretçisini tıklayarak istediğimiz yöne sürüklemektir. Bu yolla tablonun satır ve sütun boyutlarını değiştirebiliriz.</a:t>
            </a:r>
            <a:r>
              <a:rPr lang="tr-TR" sz="1200" kern="1200" baseline="0" dirty="0" smtClean="0">
                <a:solidFill>
                  <a:schemeClr val="tx1"/>
                </a:solidFill>
                <a:effectLst/>
                <a:latin typeface="+mn-lt"/>
                <a:ea typeface="+mn-ea"/>
                <a:cs typeface="+mn-cs"/>
              </a:rPr>
              <a:t> Ancak bu yolla yapılan düzenlemede kesin boyut belirlemek zordur. Satır ve sütuna ölçü birimiyle değer vermek için </a:t>
            </a:r>
            <a:r>
              <a:rPr lang="tr-TR" sz="1200" b="1" dirty="0" smtClean="0"/>
              <a:t>Düzen Bağlamsal </a:t>
            </a:r>
            <a:r>
              <a:rPr lang="tr-TR" sz="1200" dirty="0" smtClean="0"/>
              <a:t>sekmesi&gt;</a:t>
            </a:r>
            <a:r>
              <a:rPr lang="tr-TR" sz="1200" b="1" dirty="0" smtClean="0"/>
              <a:t>Hücre Boyutu</a:t>
            </a:r>
            <a:r>
              <a:rPr lang="tr-TR" sz="1200" dirty="0" smtClean="0"/>
              <a:t> komut grubunda bulunan kutulara arzulanan değeri girmek</a:t>
            </a:r>
            <a:r>
              <a:rPr lang="tr-TR" sz="1200" baseline="0" dirty="0" smtClean="0"/>
              <a:t> veya Hücre boyutu komut grubu veya fare </a:t>
            </a:r>
            <a:r>
              <a:rPr lang="tr-TR" sz="1200" baseline="0" dirty="0" err="1" smtClean="0"/>
              <a:t>kısayolundan</a:t>
            </a:r>
            <a:r>
              <a:rPr lang="tr-TR" sz="1200" baseline="0" dirty="0" smtClean="0"/>
              <a:t> Tablo özellikleri iletişim penceresi açılır buradan tercih edilen boyutun girilmesi gerekir.</a:t>
            </a:r>
            <a:endParaRPr lang="tr-TR" sz="1200" dirty="0" smtClean="0"/>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Oluşturduğumuz tablonun biçimlendirmesini</a:t>
            </a:r>
            <a:r>
              <a:rPr lang="tr-TR" sz="1200" kern="1200" baseline="0" dirty="0" smtClean="0">
                <a:solidFill>
                  <a:schemeClr val="tx1"/>
                </a:solidFill>
                <a:effectLst/>
                <a:latin typeface="+mn-lt"/>
                <a:ea typeface="+mn-ea"/>
                <a:cs typeface="+mn-cs"/>
              </a:rPr>
              <a:t> yapmak için </a:t>
            </a:r>
          </a:p>
          <a:p>
            <a:pPr marL="285750" indent="-285750">
              <a:buFont typeface="Arial" pitchFamily="34" charset="0"/>
              <a:buChar char="•"/>
            </a:pPr>
            <a:r>
              <a:rPr lang="tr-TR" sz="1200" b="1" dirty="0" smtClean="0"/>
              <a:t>Giriş</a:t>
            </a:r>
            <a:r>
              <a:rPr lang="tr-TR" sz="1200" dirty="0" smtClean="0"/>
              <a:t> sekmesi </a:t>
            </a:r>
            <a:r>
              <a:rPr lang="tr-TR" sz="1200" b="1" dirty="0" smtClean="0"/>
              <a:t>Paragraf</a:t>
            </a:r>
            <a:r>
              <a:rPr lang="tr-TR" sz="1200" dirty="0" smtClean="0"/>
              <a:t> komut grubundaki </a:t>
            </a:r>
            <a:r>
              <a:rPr lang="tr-TR" sz="1200" b="1" dirty="0" smtClean="0"/>
              <a:t>Kenarlıklar ve Gölgelendirme komutu </a:t>
            </a:r>
            <a:r>
              <a:rPr lang="tr-TR" sz="1200" dirty="0" smtClean="0"/>
              <a:t>açılır menüsü</a:t>
            </a:r>
          </a:p>
          <a:p>
            <a:pPr marL="285750" indent="-285750">
              <a:buFont typeface="Arial" pitchFamily="34" charset="0"/>
              <a:buChar char="•"/>
            </a:pPr>
            <a:r>
              <a:rPr lang="tr-TR" sz="1200" b="1" dirty="0" smtClean="0"/>
              <a:t>Tasarım Bağlamsal</a:t>
            </a:r>
            <a:r>
              <a:rPr lang="tr-TR" sz="1200" dirty="0" smtClean="0"/>
              <a:t> sekmesi </a:t>
            </a:r>
            <a:r>
              <a:rPr lang="tr-TR" sz="1200" b="1" dirty="0" smtClean="0"/>
              <a:t>Tablo Stili </a:t>
            </a:r>
            <a:r>
              <a:rPr lang="tr-TR" sz="1200" dirty="0" smtClean="0"/>
              <a:t> komut grubundaki </a:t>
            </a:r>
            <a:r>
              <a:rPr lang="tr-TR" sz="1200" b="1" dirty="0" smtClean="0"/>
              <a:t>Kenarlıklar ve Gölgelendirme komutu </a:t>
            </a:r>
            <a:r>
              <a:rPr lang="tr-TR" sz="1200" dirty="0" smtClean="0"/>
              <a:t>açılır menüsü</a:t>
            </a:r>
          </a:p>
          <a:p>
            <a:pPr marL="285750" indent="-285750">
              <a:buFont typeface="Arial" pitchFamily="34" charset="0"/>
              <a:buChar char="•"/>
            </a:pPr>
            <a:r>
              <a:rPr lang="tr-TR" sz="1200" b="1" dirty="0" smtClean="0"/>
              <a:t>Kenarlık ve Gölgelendirme </a:t>
            </a:r>
            <a:r>
              <a:rPr lang="tr-TR" sz="1200" dirty="0" smtClean="0"/>
              <a:t>iletişim penceresi </a:t>
            </a:r>
          </a:p>
          <a:p>
            <a:pPr marL="285750" indent="-285750">
              <a:buFont typeface="Arial" pitchFamily="34" charset="0"/>
              <a:buChar char="•"/>
            </a:pPr>
            <a:r>
              <a:rPr lang="tr-TR" sz="1200" b="1" dirty="0" smtClean="0"/>
              <a:t>Tasarım Bağlamsal</a:t>
            </a:r>
            <a:r>
              <a:rPr lang="tr-TR" sz="1200" dirty="0" smtClean="0"/>
              <a:t> sekmesi </a:t>
            </a:r>
            <a:r>
              <a:rPr lang="tr-TR" sz="1200" b="1" dirty="0" smtClean="0"/>
              <a:t>Tablo Stili </a:t>
            </a:r>
            <a:r>
              <a:rPr lang="tr-TR" sz="1200" dirty="0" smtClean="0"/>
              <a:t> komut grubundaki </a:t>
            </a:r>
            <a:r>
              <a:rPr lang="tr-TR" sz="1200" b="1" dirty="0" smtClean="0"/>
              <a:t>Galeri </a:t>
            </a:r>
            <a:r>
              <a:rPr lang="tr-TR" sz="1200" dirty="0" smtClean="0"/>
              <a:t>kullanılır</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Daha önce paragraflara kenarlık</a:t>
            </a:r>
            <a:r>
              <a:rPr lang="tr-TR" baseline="0" dirty="0" smtClean="0"/>
              <a:t> ve gölgelendirme bahsinde de anlattığımız gibi tabloyu seçtikten sonra Giriş ve Tasarım sekmelerinden </a:t>
            </a:r>
            <a:r>
              <a:rPr lang="tr-TR" sz="1200" b="1" dirty="0" smtClean="0"/>
              <a:t>Kenarlıklar ve Gölgelendirme komutu </a:t>
            </a:r>
            <a:r>
              <a:rPr lang="tr-TR" sz="1200" dirty="0" smtClean="0"/>
              <a:t>açılır menüsünden tabloya kenarlık ekleyebileceğimiz gibi bu iş için </a:t>
            </a:r>
            <a:r>
              <a:rPr lang="tr-TR" sz="1200" b="1" dirty="0" smtClean="0"/>
              <a:t>Kenarlık ve Gölgelendirme </a:t>
            </a:r>
            <a:r>
              <a:rPr lang="tr-TR" sz="1200" dirty="0" smtClean="0"/>
              <a:t>iletişim penceresini</a:t>
            </a:r>
            <a:r>
              <a:rPr lang="tr-TR" sz="1200" baseline="0" dirty="0" smtClean="0"/>
              <a:t> de kullanabiliriz. İletişim penceresini açmak için </a:t>
            </a:r>
            <a:r>
              <a:rPr lang="tr-TR" sz="1200" b="1" dirty="0" smtClean="0"/>
              <a:t>Kenarlıklar ve Gölgelendirme komutu </a:t>
            </a:r>
            <a:r>
              <a:rPr lang="tr-TR" sz="1200" dirty="0" smtClean="0"/>
              <a:t>açılır menüsünü veya fare </a:t>
            </a:r>
            <a:r>
              <a:rPr lang="tr-TR" sz="1200" dirty="0" err="1" smtClean="0"/>
              <a:t>kısayol</a:t>
            </a:r>
            <a:r>
              <a:rPr lang="tr-TR" sz="1200" dirty="0" smtClean="0"/>
              <a:t> menüsünü kullanabiliriz. Açılan </a:t>
            </a:r>
            <a:r>
              <a:rPr lang="tr-TR" sz="1200" b="1" dirty="0" smtClean="0"/>
              <a:t>Kenarlık ve Gölgelendirme </a:t>
            </a:r>
            <a:r>
              <a:rPr lang="tr-TR" sz="1200" dirty="0" smtClean="0"/>
              <a:t>iletişim penceresinde</a:t>
            </a:r>
            <a:r>
              <a:rPr lang="tr-TR" sz="1200" baseline="0" dirty="0" smtClean="0"/>
              <a:t> Kenarlıklar sekmesinden kenarlık genişliğini, stilini ve rengini değiştirebiliriz.</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baseline="0" dirty="0" smtClean="0"/>
              <a:t>Word 2010’da tablo biçimlendirmenin bir diğer yolu da oluşturulan tablo stilleri galerisinden bir stil seçmektir. Tabloyu seçip fare işaretçisini galerideki stiller üzerinde gezdirdiğimizde </a:t>
            </a:r>
            <a:r>
              <a:rPr lang="tr-TR" sz="1200" baseline="0" dirty="0" err="1" smtClean="0"/>
              <a:t>önizlemeden</a:t>
            </a:r>
            <a:r>
              <a:rPr lang="tr-TR" sz="1200" baseline="0" dirty="0" smtClean="0"/>
              <a:t> tablonun nasıl görüneceğini görebilir ve beğendiğimiz stili seçebiliriz.</a:t>
            </a:r>
            <a:endParaRPr lang="tr-TR"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aseline="0" dirty="0" smtClean="0"/>
              <a:t>Tablo oluştururken en çok kullanılan biçimlendirmelerden biri de hücrelerin gölgelendirilmesidir. Örneğin başlık satırının başka bir renkle gölgelendirmek görsel olarak güzel ve başlığın diğer satırlardan daha çok ön plana çıkmasını sağlamaktadır. Tablodaki hücrelere gölgelendirme eklemek için önce gölgelendirme yapacağımız hücreleri seçmemiz gerekir. Seçim işleminden sonra gölgelendirme yapmak Giriş ve Tasarım sekmelerinde bulunan Gölgelendirme komutu veya Kenarlık ve Gölgelendirme iletişim penceresi Gölgelendirme sekmesinden dolgu rengini seçip hücrelere gölge ekleyebiliriz. Kenarlık ve Gölgelendirme iletişim penceresinden dolguya desen de eklemek mümkündür. Tasarım sekmesindeki stil galerisindeki seçeneklerin birçoğu da aslında gölgeleme içeren tablolar sunmaktadır. Dolayısıyla buradaki seçenekler de hücrelere gölgeleme yapmak için kullanılabilir.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Word 2010’da kullanıcılar için belgelerine resim ve diğer çizimleri eklemek oldukça basitleştirilmiştir. Şeritteki Ekle sekmesinde bulunan Çizimler Komut Grubu belgelerimize resim, şekil ve grafik gibi görsel nesneleri eklemek için gerekli komutları içermektedir. Belgemize resim eklemek</a:t>
            </a:r>
            <a:r>
              <a:rPr lang="tr-TR" sz="1200" kern="1200" baseline="0" dirty="0" smtClean="0">
                <a:solidFill>
                  <a:schemeClr val="tx1"/>
                </a:solidFill>
                <a:effectLst/>
                <a:latin typeface="+mn-lt"/>
                <a:ea typeface="+mn-ea"/>
                <a:cs typeface="+mn-cs"/>
              </a:rPr>
              <a:t> istediğimizde Resim komutuna tıklarız ve açılan Resim ekle iletişim penceresinden eklemek istediğimiz resmin bulunduğu klasöre gidip resmi seçip Ekle komutuna tıklamamız gerekir. Küçük resim komutuna tıkladığımızda Word penceresinin sağ tarafında Küçük Resim görev bölmesi açılır. </a:t>
            </a:r>
            <a:r>
              <a:rPr lang="tr-TR" sz="1200" kern="1200" dirty="0" smtClean="0">
                <a:solidFill>
                  <a:schemeClr val="tx1"/>
                </a:solidFill>
                <a:effectLst/>
                <a:latin typeface="+mn-lt"/>
                <a:ea typeface="+mn-ea"/>
                <a:cs typeface="+mn-cs"/>
              </a:rPr>
              <a:t>Açılan görev bölmesinde </a:t>
            </a:r>
            <a:r>
              <a:rPr lang="tr-TR" sz="1200" b="1" kern="1200" dirty="0" smtClean="0">
                <a:solidFill>
                  <a:schemeClr val="tx1"/>
                </a:solidFill>
                <a:effectLst/>
                <a:latin typeface="+mn-lt"/>
                <a:ea typeface="+mn-ea"/>
                <a:cs typeface="+mn-cs"/>
              </a:rPr>
              <a:t>Aranan</a:t>
            </a:r>
            <a:r>
              <a:rPr lang="tr-TR" sz="1200" kern="1200" dirty="0" smtClean="0">
                <a:solidFill>
                  <a:schemeClr val="tx1"/>
                </a:solidFill>
                <a:effectLst/>
                <a:latin typeface="+mn-lt"/>
                <a:ea typeface="+mn-ea"/>
                <a:cs typeface="+mn-cs"/>
              </a:rPr>
              <a:t> kutusuna aradığınız resim türünü tanımlayan anahtar kelime girerek git düğmesine bastığınızda görev bölmesinde arama kıstaslara uyan küçük resimler listelenir. Beğendiğiniz bir resim gördüğünüzde, resmi tıklatıp belgenize sürüklemeniz veya resmin sağ tarafında bulunan açılır</a:t>
            </a:r>
            <a:r>
              <a:rPr lang="tr-TR" sz="1200" kern="1200" baseline="0" dirty="0" smtClean="0">
                <a:solidFill>
                  <a:schemeClr val="tx1"/>
                </a:solidFill>
                <a:effectLst/>
                <a:latin typeface="+mn-lt"/>
                <a:ea typeface="+mn-ea"/>
                <a:cs typeface="+mn-cs"/>
              </a:rPr>
              <a:t> oka tıkladığımızda açılan menüden Ekle komutuna tıklamamız belgemize yeni resim eklemek için </a:t>
            </a:r>
            <a:r>
              <a:rPr lang="tr-TR" sz="1200" kern="1200" dirty="0" smtClean="0">
                <a:solidFill>
                  <a:schemeClr val="tx1"/>
                </a:solidFill>
                <a:effectLst/>
                <a:latin typeface="+mn-lt"/>
                <a:ea typeface="+mn-ea"/>
                <a:cs typeface="+mn-cs"/>
              </a:rPr>
              <a:t>yeterlidir.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Belgeye</a:t>
            </a:r>
            <a:r>
              <a:rPr lang="tr-TR" sz="1200" kern="1200" baseline="0" dirty="0" smtClean="0">
                <a:solidFill>
                  <a:schemeClr val="tx1"/>
                </a:solidFill>
                <a:effectLst/>
                <a:latin typeface="+mn-lt"/>
                <a:ea typeface="+mn-ea"/>
                <a:cs typeface="+mn-cs"/>
              </a:rPr>
              <a:t> şekil, </a:t>
            </a:r>
            <a:r>
              <a:rPr lang="tr-TR" sz="1200" kern="1200" baseline="0" dirty="0" err="1" smtClean="0">
                <a:solidFill>
                  <a:schemeClr val="tx1"/>
                </a:solidFill>
                <a:effectLst/>
                <a:latin typeface="+mn-lt"/>
                <a:ea typeface="+mn-ea"/>
                <a:cs typeface="+mn-cs"/>
              </a:rPr>
              <a:t>SmartArt</a:t>
            </a:r>
            <a:r>
              <a:rPr lang="tr-TR" sz="1200" kern="1200" baseline="0" dirty="0" smtClean="0">
                <a:solidFill>
                  <a:schemeClr val="tx1"/>
                </a:solidFill>
                <a:effectLst/>
                <a:latin typeface="+mn-lt"/>
                <a:ea typeface="+mn-ea"/>
                <a:cs typeface="+mn-cs"/>
              </a:rPr>
              <a:t> ve Grafik eklemek resim eklemekten biraz daha farklıdır. Örneğin </a:t>
            </a:r>
            <a:r>
              <a:rPr lang="tr-TR" sz="1200" kern="1200" baseline="0" dirty="0" err="1" smtClean="0">
                <a:solidFill>
                  <a:schemeClr val="tx1"/>
                </a:solidFill>
                <a:effectLst/>
                <a:latin typeface="+mn-lt"/>
                <a:ea typeface="+mn-ea"/>
                <a:cs typeface="+mn-cs"/>
              </a:rPr>
              <a:t>SmartArt</a:t>
            </a:r>
            <a:r>
              <a:rPr lang="tr-TR" sz="1200" kern="1200" baseline="0" dirty="0" smtClean="0">
                <a:solidFill>
                  <a:schemeClr val="tx1"/>
                </a:solidFill>
                <a:effectLst/>
                <a:latin typeface="+mn-lt"/>
                <a:ea typeface="+mn-ea"/>
                <a:cs typeface="+mn-cs"/>
              </a:rPr>
              <a:t> grafiği eklemek isteyip komuta tıkladığımızda </a:t>
            </a:r>
            <a:r>
              <a:rPr lang="tr-TR" sz="1200" kern="1200" baseline="0" dirty="0" err="1" smtClean="0">
                <a:solidFill>
                  <a:schemeClr val="tx1"/>
                </a:solidFill>
                <a:effectLst/>
                <a:latin typeface="+mn-lt"/>
                <a:ea typeface="+mn-ea"/>
                <a:cs typeface="+mn-cs"/>
              </a:rPr>
              <a:t>SmartArt</a:t>
            </a:r>
            <a:r>
              <a:rPr lang="tr-TR" sz="1200" kern="1200" baseline="0" dirty="0" smtClean="0">
                <a:solidFill>
                  <a:schemeClr val="tx1"/>
                </a:solidFill>
                <a:effectLst/>
                <a:latin typeface="+mn-lt"/>
                <a:ea typeface="+mn-ea"/>
                <a:cs typeface="+mn-cs"/>
              </a:rPr>
              <a:t>  Grafiği Seç, grafik eklemek için Grafik komutuna tıkladığımızdaysa Grafik Ekle iletişim penceresi açılır. Grafiği eklemek için önce bu iletişim pencerelerinden grafik türünü seçip Tamam komutuna tıklamamız gerekir. Bu işlemi yaptığımızda belgemize grafik eklemiş oluruz ancak bu grafiklerde veriler yoktur. Eksik olan verileri girdiğimizde grafikler tamamlanmış olur. </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baseline="0" dirty="0" smtClean="0">
                <a:solidFill>
                  <a:schemeClr val="tx1"/>
                </a:solidFill>
                <a:effectLst/>
                <a:latin typeface="+mn-lt"/>
                <a:ea typeface="+mn-ea"/>
                <a:cs typeface="+mn-cs"/>
              </a:rPr>
              <a:t>Word belgesine şekil eklemek biraz daha fazla zahmet gerektiren bir uğraştır. Çünkü şekli baştan bizim oluşturmamız gerekir.  Şekil komutuna tıkladığımızda açılan menüden tek tek şeklimizi oluşturacak parçaları seçip belgede çizeriz. Eğer şeklimizin parçalarının birlikte hareket etmesini istiyorsak çizimi yapmadan önce Yeni Çizim </a:t>
            </a:r>
            <a:r>
              <a:rPr lang="tr-TR" sz="1200" kern="1200" baseline="0" dirty="0" err="1" smtClean="0">
                <a:solidFill>
                  <a:schemeClr val="tx1"/>
                </a:solidFill>
                <a:effectLst/>
                <a:latin typeface="+mn-lt"/>
                <a:ea typeface="+mn-ea"/>
                <a:cs typeface="+mn-cs"/>
              </a:rPr>
              <a:t>Tuvalı</a:t>
            </a:r>
            <a:r>
              <a:rPr lang="tr-TR" sz="1200" kern="1200" baseline="0" dirty="0" smtClean="0">
                <a:solidFill>
                  <a:schemeClr val="tx1"/>
                </a:solidFill>
                <a:effectLst/>
                <a:latin typeface="+mn-lt"/>
                <a:ea typeface="+mn-ea"/>
                <a:cs typeface="+mn-cs"/>
              </a:rPr>
              <a:t> komutuna tıklayarak bir çizim tuvali oluşturur ve şekli bu tuvale çizeriz. </a:t>
            </a:r>
            <a:endParaRPr lang="tr-TR" sz="1200" kern="1200" dirty="0" smtClean="0">
              <a:solidFill>
                <a:schemeClr val="tx1"/>
              </a:solidFill>
              <a:effectLst/>
              <a:latin typeface="+mn-lt"/>
              <a:ea typeface="+mn-ea"/>
              <a:cs typeface="+mn-cs"/>
            </a:endParaRP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Belge içerisindeki nesneleri seçmek için fare işaretçisiyle üzerlerine geldiğimizde fare işaretçisi dört yöne ok şeklindeki nesne taşıma tutamacı belirir. Nesne üzerinde tıkladığımızda </a:t>
            </a:r>
          </a:p>
          <a:p>
            <a:r>
              <a:rPr lang="tr-TR" sz="1200" kern="1200" dirty="0" smtClean="0">
                <a:solidFill>
                  <a:schemeClr val="tx1"/>
                </a:solidFill>
                <a:effectLst/>
                <a:latin typeface="+mn-lt"/>
                <a:ea typeface="+mn-ea"/>
                <a:cs typeface="+mn-cs"/>
              </a:rPr>
              <a:t>Grafik, resim veya şekil seçilmiş olur. Seçili nesnenin kenarlarında</a:t>
            </a:r>
            <a:r>
              <a:rPr lang="tr-TR" sz="1200" kern="1200" baseline="0" dirty="0" smtClean="0">
                <a:solidFill>
                  <a:schemeClr val="tx1"/>
                </a:solidFill>
                <a:effectLst/>
                <a:latin typeface="+mn-lt"/>
                <a:ea typeface="+mn-ea"/>
                <a:cs typeface="+mn-cs"/>
              </a:rPr>
              <a:t> ortalarında ve köşelerinde noktalar olan çizgi belirir.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11</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 belgesi içerisinde veya belgeler arasında nesneleri kopyalamak metin kopyalamayla aynı adımlardan oluşmaktadır. Önce nesnenin seçilmesi ve sonra da </a:t>
            </a:r>
          </a:p>
          <a:p>
            <a:r>
              <a:rPr lang="tr-TR" sz="1200" b="1" dirty="0" smtClean="0"/>
              <a:t>Giriş sekmesi&gt;Pano komut grubu </a:t>
            </a:r>
            <a:r>
              <a:rPr lang="tr-TR" sz="1200" b="0" dirty="0" smtClean="0"/>
              <a:t>komutlar</a:t>
            </a:r>
            <a:endParaRPr lang="tr-TR" sz="1200" b="1" dirty="0" smtClean="0"/>
          </a:p>
          <a:p>
            <a:r>
              <a:rPr lang="tr-TR" sz="1200" b="1" dirty="0" smtClean="0"/>
              <a:t>Fare sağ tuşuna tıkladığımızda açılan </a:t>
            </a:r>
            <a:r>
              <a:rPr lang="tr-TR" sz="1200" b="1" dirty="0" err="1" smtClean="0"/>
              <a:t>kısayol</a:t>
            </a:r>
            <a:r>
              <a:rPr lang="tr-TR" sz="1200" b="1" dirty="0" smtClean="0"/>
              <a:t> menüsü</a:t>
            </a:r>
          </a:p>
          <a:p>
            <a:r>
              <a:rPr lang="tr-TR" sz="1200" b="1" dirty="0" smtClean="0"/>
              <a:t>Klavye </a:t>
            </a:r>
            <a:r>
              <a:rPr lang="tr-TR" sz="1200" b="1" dirty="0" err="1" smtClean="0"/>
              <a:t>kısayollları</a:t>
            </a:r>
            <a:r>
              <a:rPr lang="tr-TR" sz="1200" b="1" baseline="0" dirty="0" smtClean="0"/>
              <a:t> </a:t>
            </a:r>
            <a:endParaRPr lang="tr-TR" sz="1200" b="1" dirty="0" smtClean="0"/>
          </a:p>
          <a:p>
            <a:r>
              <a:rPr lang="tr-TR" sz="1200" kern="1200" dirty="0" smtClean="0">
                <a:solidFill>
                  <a:schemeClr val="tx1"/>
                </a:solidFill>
                <a:effectLst/>
                <a:latin typeface="+mn-lt"/>
                <a:ea typeface="+mn-ea"/>
                <a:cs typeface="+mn-cs"/>
              </a:rPr>
              <a:t>Komutlarından biri kullanılır. Kopyala veya kes komutuna tıklandıktan sonra nesnenin benzerinin</a:t>
            </a:r>
            <a:r>
              <a:rPr lang="tr-TR" sz="1200" kern="1200" baseline="0" dirty="0" smtClean="0">
                <a:solidFill>
                  <a:schemeClr val="tx1"/>
                </a:solidFill>
                <a:effectLst/>
                <a:latin typeface="+mn-lt"/>
                <a:ea typeface="+mn-ea"/>
                <a:cs typeface="+mn-cs"/>
              </a:rPr>
              <a:t> oluşturulacağı veya taşınacağı </a:t>
            </a:r>
            <a:r>
              <a:rPr lang="tr-TR" sz="1200" kern="1200" dirty="0" smtClean="0">
                <a:solidFill>
                  <a:schemeClr val="tx1"/>
                </a:solidFill>
                <a:effectLst/>
                <a:latin typeface="+mn-lt"/>
                <a:ea typeface="+mn-ea"/>
                <a:cs typeface="+mn-cs"/>
              </a:rPr>
              <a:t>kopyalanacak yere ekleme noktasını yerleştirdikten sonra Yapıştır komutuna tıklanması gerekmektedir. Kopyalama veya taşıma</a:t>
            </a:r>
            <a:r>
              <a:rPr lang="tr-TR" sz="1200" kern="1200" baseline="0" dirty="0" smtClean="0">
                <a:solidFill>
                  <a:schemeClr val="tx1"/>
                </a:solidFill>
                <a:effectLst/>
                <a:latin typeface="+mn-lt"/>
                <a:ea typeface="+mn-ea"/>
                <a:cs typeface="+mn-cs"/>
              </a:rPr>
              <a:t> işlemi başka bir belgeye yapılacaksa ekleme noktası diğer belgede bir yere yerleştirilir ve yapıştırma komutu kullanılır. </a:t>
            </a:r>
            <a:r>
              <a:rPr lang="tr-TR" sz="1200" kern="1200" dirty="0" smtClean="0">
                <a:solidFill>
                  <a:schemeClr val="tx1"/>
                </a:solidFill>
                <a:effectLst/>
                <a:latin typeface="+mn-lt"/>
                <a:ea typeface="+mn-ea"/>
                <a:cs typeface="+mn-cs"/>
              </a:rPr>
              <a:t>Bunun dışında başka bir yol seçilen nesnenin fareyle kopyalanacağı yere </a:t>
            </a:r>
            <a:r>
              <a:rPr lang="tr-TR" sz="1200" kern="1200" dirty="0" err="1" smtClean="0">
                <a:solidFill>
                  <a:schemeClr val="tx1"/>
                </a:solidFill>
                <a:effectLst/>
                <a:latin typeface="+mn-lt"/>
                <a:ea typeface="+mn-ea"/>
                <a:cs typeface="+mn-cs"/>
              </a:rPr>
              <a:t>Ctrl</a:t>
            </a:r>
            <a:r>
              <a:rPr lang="tr-TR" sz="1200" kern="1200" dirty="0" smtClean="0">
                <a:solidFill>
                  <a:schemeClr val="tx1"/>
                </a:solidFill>
                <a:effectLst/>
                <a:latin typeface="+mn-lt"/>
                <a:ea typeface="+mn-ea"/>
                <a:cs typeface="+mn-cs"/>
              </a:rPr>
              <a:t> tuşuna basılıyken taşınmasıdır.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12</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smtClean="0"/>
              <a:t>Nesneleri biçimlendirmek için </a:t>
            </a:r>
          </a:p>
          <a:p>
            <a:r>
              <a:rPr lang="tr-TR" sz="1200" dirty="0" smtClean="0"/>
              <a:t>Bağlamsal sekmeler</a:t>
            </a:r>
          </a:p>
          <a:p>
            <a:r>
              <a:rPr lang="tr-TR" sz="1200" dirty="0" smtClean="0"/>
              <a:t>Resim için</a:t>
            </a:r>
          </a:p>
          <a:p>
            <a:pPr marL="285750" indent="-285750">
              <a:buFont typeface="Arial" pitchFamily="34" charset="0"/>
              <a:buChar char="•"/>
            </a:pPr>
            <a:r>
              <a:rPr lang="tr-TR" sz="1200" dirty="0" smtClean="0"/>
              <a:t>Biçim</a:t>
            </a:r>
          </a:p>
          <a:p>
            <a:r>
              <a:rPr lang="tr-TR" sz="1200" dirty="0" err="1" smtClean="0"/>
              <a:t>SmartArt</a:t>
            </a:r>
            <a:r>
              <a:rPr lang="tr-TR" sz="1200" dirty="0" smtClean="0"/>
              <a:t> grafiği için</a:t>
            </a:r>
          </a:p>
          <a:p>
            <a:pPr marL="285750" indent="-285750">
              <a:buFont typeface="Arial" pitchFamily="34" charset="0"/>
              <a:buChar char="•"/>
            </a:pPr>
            <a:r>
              <a:rPr lang="tr-TR" sz="1200" dirty="0" smtClean="0"/>
              <a:t>Tasarım ve Biçim</a:t>
            </a:r>
          </a:p>
          <a:p>
            <a:r>
              <a:rPr lang="tr-TR" sz="1200" dirty="0" smtClean="0"/>
              <a:t>Grafik için </a:t>
            </a:r>
          </a:p>
          <a:p>
            <a:pPr marL="285750" indent="-285750">
              <a:buFont typeface="Arial" pitchFamily="34" charset="0"/>
              <a:buChar char="•"/>
            </a:pPr>
            <a:r>
              <a:rPr lang="tr-TR" sz="1200" dirty="0" smtClean="0"/>
              <a:t>Tasarım, Düzen ve Biçim Bağlamsal sekmelerdeki komutlar bu işlemleri yapmak için kullanılır.</a:t>
            </a:r>
          </a:p>
          <a:p>
            <a:r>
              <a:rPr lang="tr-TR" sz="1200" kern="1200" dirty="0" smtClean="0">
                <a:solidFill>
                  <a:schemeClr val="tx1"/>
                </a:solidFill>
                <a:effectLst/>
                <a:latin typeface="+mn-lt"/>
                <a:ea typeface="+mn-ea"/>
                <a:cs typeface="+mn-cs"/>
              </a:rPr>
              <a:t>Nesneleri biçimlendirmek için kullanılan bir diğer yolda </a:t>
            </a:r>
            <a:r>
              <a:rPr lang="tr-TR" sz="1200" b="1" dirty="0" smtClean="0"/>
              <a:t>Fare işaretçisi </a:t>
            </a:r>
            <a:r>
              <a:rPr lang="tr-TR" sz="1200" dirty="0" err="1" smtClean="0"/>
              <a:t>kısayol</a:t>
            </a:r>
            <a:r>
              <a:rPr lang="tr-TR" sz="1200" dirty="0" smtClean="0"/>
              <a:t> menüsüdür. Fareyle nesnenin</a:t>
            </a:r>
            <a:r>
              <a:rPr lang="tr-TR" sz="1200" baseline="0" dirty="0" smtClean="0"/>
              <a:t> üzerine tıkladığımızda açılan menü resim, grafik ve </a:t>
            </a:r>
            <a:r>
              <a:rPr lang="tr-TR" sz="1200" baseline="0" dirty="0" err="1" smtClean="0"/>
              <a:t>smartart</a:t>
            </a:r>
            <a:r>
              <a:rPr lang="tr-TR" sz="1200" baseline="0" dirty="0" smtClean="0"/>
              <a:t> </a:t>
            </a:r>
            <a:r>
              <a:rPr lang="tr-TR" sz="1200" baseline="0" dirty="0" err="1" smtClean="0"/>
              <a:t>grafiğne</a:t>
            </a:r>
            <a:r>
              <a:rPr lang="tr-TR" sz="1200" baseline="0" dirty="0" smtClean="0"/>
              <a:t> göre farklılık göstermektedir. Menüde yer alan bir başka komutta Resim yazısı ekle komutudur. Başvurular sekmesi Resim yazıları komut grubunda da bulunan bu komuta tıkladığımızda açılan Resim yazısı iletişim penceresinden nesneye Başlık eklemek mümkündür. Nesnelere bu yolla yazı eklemek etiketteki resim sayıları otomatik artmasını sağlar.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13</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Belgedeki nesneleri </a:t>
            </a:r>
            <a:r>
              <a:rPr lang="tr-TR" sz="1200" kern="1200" smtClean="0">
                <a:solidFill>
                  <a:schemeClr val="tx1"/>
                </a:solidFill>
                <a:effectLst/>
                <a:latin typeface="+mn-lt"/>
                <a:ea typeface="+mn-ea"/>
                <a:cs typeface="+mn-cs"/>
              </a:rPr>
              <a:t>silmek Word’deki </a:t>
            </a:r>
            <a:r>
              <a:rPr lang="tr-TR" sz="1200" kern="1200" dirty="0" smtClean="0">
                <a:solidFill>
                  <a:schemeClr val="tx1"/>
                </a:solidFill>
                <a:effectLst/>
                <a:latin typeface="+mn-lt"/>
                <a:ea typeface="+mn-ea"/>
                <a:cs typeface="+mn-cs"/>
              </a:rPr>
              <a:t>herhangi bir öğeyi silmekten</a:t>
            </a:r>
            <a:r>
              <a:rPr lang="tr-TR" sz="1200" kern="1200" baseline="0" dirty="0" smtClean="0">
                <a:solidFill>
                  <a:schemeClr val="tx1"/>
                </a:solidFill>
                <a:effectLst/>
                <a:latin typeface="+mn-lt"/>
                <a:ea typeface="+mn-ea"/>
                <a:cs typeface="+mn-cs"/>
              </a:rPr>
              <a:t> farklı değildir. Silmek için önce nesne seçilir ve klavyeden </a:t>
            </a:r>
          </a:p>
          <a:p>
            <a:pPr marL="285750" indent="-285750">
              <a:buFont typeface="Arial" pitchFamily="34" charset="0"/>
              <a:buChar char="•"/>
            </a:pPr>
            <a:r>
              <a:rPr lang="tr-TR" sz="1200" b="1" dirty="0" err="1" smtClean="0"/>
              <a:t>Delete</a:t>
            </a:r>
            <a:endParaRPr lang="tr-TR" sz="1200" b="1" dirty="0" smtClean="0"/>
          </a:p>
          <a:p>
            <a:pPr marL="285750" indent="-285750">
              <a:buFont typeface="Arial" pitchFamily="34" charset="0"/>
              <a:buChar char="•"/>
            </a:pPr>
            <a:r>
              <a:rPr lang="tr-TR" sz="1200" b="1" dirty="0" smtClean="0"/>
              <a:t>Geri</a:t>
            </a:r>
            <a:r>
              <a:rPr lang="tr-TR" sz="1200" dirty="0" smtClean="0"/>
              <a:t> tuşları kullanılır</a:t>
            </a:r>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14</a:t>
            </a:fld>
            <a:endParaRPr lang="tr-TR"/>
          </a:p>
        </p:txBody>
      </p:sp>
    </p:spTree>
    <p:extLst>
      <p:ext uri="{BB962C8B-B14F-4D97-AF65-F5344CB8AC3E}">
        <p14:creationId xmlns:p14="http://schemas.microsoft.com/office/powerpoint/2010/main" val="95327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18.10.2011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18.10.2011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18.10.2011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18.10.2011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18.10.2011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18.10.2011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18.10.2011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18.10.2011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18.10.2011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18.10.2011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18.10.2011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1.wmf"/><Relationship Id="rId5" Type="http://schemas.openxmlformats.org/officeDocument/2006/relationships/tags" Target="../tags/tag39.xml"/><Relationship Id="rId10" Type="http://schemas.openxmlformats.org/officeDocument/2006/relationships/notesSlide" Target="../notesSlides/notesSlide1.xml"/><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tags" Target="../tags/tag45.xml"/><Relationship Id="rId7" Type="http://schemas.openxmlformats.org/officeDocument/2006/relationships/notesSlide" Target="../notesSlides/notesSlid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50.xml"/><Relationship Id="rId7"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s>
</file>

<file path=ppt/slides/_rels/slide4.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image" Target="../media/image6.png"/><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5.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4.png"/><Relationship Id="rId5" Type="http://schemas.openxmlformats.org/officeDocument/2006/relationships/tags" Target="../tags/tag58.xml"/><Relationship Id="rId10" Type="http://schemas.openxmlformats.org/officeDocument/2006/relationships/notesSlide" Target="../notesSlides/notesSlide4.xml"/><Relationship Id="rId4" Type="http://schemas.openxmlformats.org/officeDocument/2006/relationships/tags" Target="../tags/tag57.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image" Target="../media/image9.png"/><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image" Target="../media/image8.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7.png"/><Relationship Id="rId5" Type="http://schemas.openxmlformats.org/officeDocument/2006/relationships/tags" Target="../tags/tag66.xml"/><Relationship Id="rId10" Type="http://schemas.openxmlformats.org/officeDocument/2006/relationships/notesSlide" Target="../notesSlides/notesSlide5.xml"/><Relationship Id="rId4" Type="http://schemas.openxmlformats.org/officeDocument/2006/relationships/tags" Target="../tags/tag65.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image" Target="../media/image12.png"/><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11.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10.png"/><Relationship Id="rId5" Type="http://schemas.openxmlformats.org/officeDocument/2006/relationships/tags" Target="../tags/tag74.xml"/><Relationship Id="rId10" Type="http://schemas.openxmlformats.org/officeDocument/2006/relationships/notesSlide" Target="../notesSlides/notesSlide6.xml"/><Relationship Id="rId4" Type="http://schemas.openxmlformats.org/officeDocument/2006/relationships/tags" Target="../tags/tag73.xml"/><Relationship Id="rId9" Type="http://schemas.openxmlformats.org/officeDocument/2006/relationships/slideLayout" Target="../slideLayouts/slideLayout13.xml"/><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image" Target="../media/image16.png"/><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5.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4.png"/><Relationship Id="rId5" Type="http://schemas.openxmlformats.org/officeDocument/2006/relationships/tags" Target="../tags/tag82.xml"/><Relationship Id="rId10" Type="http://schemas.openxmlformats.org/officeDocument/2006/relationships/notesSlide" Target="../notesSlides/notesSlide7.xml"/><Relationship Id="rId4" Type="http://schemas.openxmlformats.org/officeDocument/2006/relationships/tags" Target="../tags/tag81.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17.png"/><Relationship Id="rId5" Type="http://schemas.openxmlformats.org/officeDocument/2006/relationships/tags" Target="../tags/tag90.xml"/><Relationship Id="rId10" Type="http://schemas.openxmlformats.org/officeDocument/2006/relationships/notesSlide" Target="../notesSlides/notesSlide8.xml"/><Relationship Id="rId4" Type="http://schemas.openxmlformats.org/officeDocument/2006/relationships/tags" Target="../tags/tag89.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image" Target="../media/image20.png"/><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19.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8.png"/><Relationship Id="rId5" Type="http://schemas.openxmlformats.org/officeDocument/2006/relationships/tags" Target="../tags/tag98.xml"/><Relationship Id="rId10" Type="http://schemas.openxmlformats.org/officeDocument/2006/relationships/notesSlide" Target="../notesSlides/notesSlide9.xml"/><Relationship Id="rId4" Type="http://schemas.openxmlformats.org/officeDocument/2006/relationships/tags" Target="../tags/tag97.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image" Target="../media/image23.png"/><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22.png"/><Relationship Id="rId2" Type="http://schemas.openxmlformats.org/officeDocument/2006/relationships/tags" Target="../tags/tag103.xml"/><Relationship Id="rId16" Type="http://schemas.openxmlformats.org/officeDocument/2006/relationships/image" Target="../media/image26.png"/><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21.png"/><Relationship Id="rId5" Type="http://schemas.openxmlformats.org/officeDocument/2006/relationships/tags" Target="../tags/tag106.xml"/><Relationship Id="rId15" Type="http://schemas.openxmlformats.org/officeDocument/2006/relationships/image" Target="../media/image25.png"/><Relationship Id="rId10" Type="http://schemas.openxmlformats.org/officeDocument/2006/relationships/notesSlide" Target="../notesSlides/notesSlide10.xml"/><Relationship Id="rId4" Type="http://schemas.openxmlformats.org/officeDocument/2006/relationships/tags" Target="../tags/tag105.xml"/><Relationship Id="rId9" Type="http://schemas.openxmlformats.org/officeDocument/2006/relationships/slideLayout" Target="../slideLayouts/slideLayout13.xml"/><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tags" Target="../tags/tag117.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image" Target="../media/image28.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27.png"/><Relationship Id="rId5" Type="http://schemas.openxmlformats.org/officeDocument/2006/relationships/tags" Target="../tags/tag114.xml"/><Relationship Id="rId10" Type="http://schemas.openxmlformats.org/officeDocument/2006/relationships/notesSlide" Target="../notesSlides/notesSlide11.xml"/><Relationship Id="rId4" Type="http://schemas.openxmlformats.org/officeDocument/2006/relationships/tags" Target="../tags/tag113.xml"/><Relationship Id="rId9"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image" Target="../media/image31.png"/><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image" Target="../media/image30.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image" Target="../media/image29.png"/><Relationship Id="rId5" Type="http://schemas.openxmlformats.org/officeDocument/2006/relationships/tags" Target="../tags/tag122.xml"/><Relationship Id="rId10" Type="http://schemas.openxmlformats.org/officeDocument/2006/relationships/notesSlide" Target="../notesSlides/notesSlide12.xml"/><Relationship Id="rId4" Type="http://schemas.openxmlformats.org/officeDocument/2006/relationships/tags" Target="../tags/tag121.xml"/><Relationship Id="rId9"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image" Target="../media/image34.png"/><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image" Target="../media/image33.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image" Target="../media/image32.png"/><Relationship Id="rId5" Type="http://schemas.openxmlformats.org/officeDocument/2006/relationships/tags" Target="../tags/tag130.xml"/><Relationship Id="rId15" Type="http://schemas.openxmlformats.org/officeDocument/2006/relationships/image" Target="../media/image36.png"/><Relationship Id="rId10" Type="http://schemas.openxmlformats.org/officeDocument/2006/relationships/notesSlide" Target="../notesSlides/notesSlide13.xml"/><Relationship Id="rId4" Type="http://schemas.openxmlformats.org/officeDocument/2006/relationships/tags" Target="../tags/tag129.xml"/><Relationship Id="rId9" Type="http://schemas.openxmlformats.org/officeDocument/2006/relationships/slideLayout" Target="../slideLayouts/slideLayout13.xml"/><Relationship Id="rId1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tags" Target="../tags/tag141.xml"/><Relationship Id="rId3" Type="http://schemas.openxmlformats.org/officeDocument/2006/relationships/tags" Target="../tags/tag136.xml"/><Relationship Id="rId7" Type="http://schemas.openxmlformats.org/officeDocument/2006/relationships/tags" Target="../tags/tag140.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image" Target="../media/image37.png"/><Relationship Id="rId5" Type="http://schemas.openxmlformats.org/officeDocument/2006/relationships/tags" Target="../tags/tag138.xml"/><Relationship Id="rId10" Type="http://schemas.openxmlformats.org/officeDocument/2006/relationships/notesSlide" Target="../notesSlides/notesSlide14.xml"/><Relationship Id="rId4" Type="http://schemas.openxmlformats.org/officeDocument/2006/relationships/tags" Target="../tags/tag137.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1"/>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7696200"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Kelime İşlemci Word </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a:t>
            </a:r>
            <a:r>
              <a:rPr lang="tr-TR" sz="1600" i="1" dirty="0" smtClean="0">
                <a:solidFill>
                  <a:schemeClr val="bg1"/>
                </a:solidFill>
              </a:rPr>
              <a:t>. Gör. Mustafa YILMAZ</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Metin kutusu 9"/>
          <p:cNvSpPr txBox="1"/>
          <p:nvPr>
            <p:custDataLst>
              <p:tags r:id="rId8"/>
            </p:custDataLst>
          </p:nvPr>
        </p:nvSpPr>
        <p:spPr>
          <a:xfrm>
            <a:off x="6045933" y="6629400"/>
            <a:ext cx="2678938" cy="261610"/>
          </a:xfrm>
          <a:prstGeom prst="rect">
            <a:avLst/>
          </a:prstGeom>
          <a:noFill/>
        </p:spPr>
        <p:txBody>
          <a:bodyPr wrap="none" rtlCol="0">
            <a:spAutoFit/>
          </a:bodyPr>
          <a:lstStyle/>
          <a:p>
            <a:r>
              <a:rPr lang="tr-TR" sz="1100" i="1" dirty="0" smtClean="0">
                <a:latin typeface="Calibri" pitchFamily="34" charset="0"/>
                <a:cs typeface="Calibri" pitchFamily="34" charset="0"/>
              </a:rPr>
              <a:t>Bilgisayar ve Bilişim Bilimleri Fakültesi</a:t>
            </a:r>
            <a:r>
              <a:rPr lang="tr-TR" sz="1100" i="1" smtClean="0">
                <a:latin typeface="Calibri" pitchFamily="34" charset="0"/>
                <a:cs typeface="Calibri" pitchFamily="34" charset="0"/>
              </a:rPr>
              <a:t>| YBS </a:t>
            </a:r>
            <a:endParaRPr lang="tr-TR" sz="1100" i="1" dirty="0">
              <a:latin typeface="Calibri" pitchFamily="34" charset="0"/>
              <a:cs typeface="Calibri" pitchFamily="34" charset="0"/>
            </a:endParaRP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431" y="2872952"/>
            <a:ext cx="1587569" cy="16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1524000"/>
            <a:ext cx="6096000" cy="4561758"/>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1599658"/>
            <a:ext cx="6096000" cy="4486100"/>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Word </a:t>
            </a:r>
            <a:r>
              <a:rPr lang="tr-TR" sz="1600" dirty="0">
                <a:solidFill>
                  <a:schemeClr val="tx1">
                    <a:lumMod val="75000"/>
                    <a:lumOff val="25000"/>
                  </a:schemeClr>
                </a:solidFill>
                <a:latin typeface="Calibri" pitchFamily="34" charset="0"/>
                <a:cs typeface="Calibri" pitchFamily="34" charset="0"/>
              </a:rPr>
              <a:t>belgesinde tablo oluşturur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Tabloya </a:t>
            </a:r>
            <a:r>
              <a:rPr lang="tr-TR" sz="1600" dirty="0">
                <a:solidFill>
                  <a:schemeClr val="tx1">
                    <a:lumMod val="75000"/>
                    <a:lumOff val="25000"/>
                  </a:schemeClr>
                </a:solidFill>
                <a:latin typeface="Calibri" pitchFamily="34" charset="0"/>
                <a:cs typeface="Calibri" pitchFamily="34" charset="0"/>
              </a:rPr>
              <a:t>veri girer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Tabloya </a:t>
            </a:r>
            <a:r>
              <a:rPr lang="tr-TR" sz="1600" dirty="0">
                <a:solidFill>
                  <a:schemeClr val="tx1">
                    <a:lumMod val="75000"/>
                    <a:lumOff val="25000"/>
                  </a:schemeClr>
                </a:solidFill>
                <a:latin typeface="Calibri" pitchFamily="34" charset="0"/>
                <a:cs typeface="Calibri" pitchFamily="34" charset="0"/>
              </a:rPr>
              <a:t>satır, sütün ekler ve siler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Tablodaki </a:t>
            </a:r>
            <a:r>
              <a:rPr lang="tr-TR" sz="1600" dirty="0">
                <a:solidFill>
                  <a:schemeClr val="tx1">
                    <a:lumMod val="75000"/>
                    <a:lumOff val="25000"/>
                  </a:schemeClr>
                </a:solidFill>
                <a:latin typeface="Calibri" pitchFamily="34" charset="0"/>
                <a:cs typeface="Calibri" pitchFamily="34" charset="0"/>
              </a:rPr>
              <a:t>satırlar yüksekliği ve sütun genişliğini düzenler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Tabloya </a:t>
            </a:r>
            <a:r>
              <a:rPr lang="tr-TR" sz="1600" dirty="0">
                <a:solidFill>
                  <a:schemeClr val="tx1">
                    <a:lumMod val="75000"/>
                    <a:lumOff val="25000"/>
                  </a:schemeClr>
                </a:solidFill>
                <a:latin typeface="Calibri" pitchFamily="34" charset="0"/>
                <a:cs typeface="Calibri" pitchFamily="34" charset="0"/>
              </a:rPr>
              <a:t>değişik stil ve renkte kenarlık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Tabloya </a:t>
            </a:r>
            <a:r>
              <a:rPr lang="tr-TR" sz="1600" dirty="0">
                <a:solidFill>
                  <a:schemeClr val="tx1">
                    <a:lumMod val="75000"/>
                    <a:lumOff val="25000"/>
                  </a:schemeClr>
                </a:solidFill>
                <a:latin typeface="Calibri" pitchFamily="34" charset="0"/>
                <a:cs typeface="Calibri" pitchFamily="34" charset="0"/>
              </a:rPr>
              <a:t>gölgeleme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Word </a:t>
            </a:r>
            <a:r>
              <a:rPr lang="tr-TR" sz="1600" dirty="0">
                <a:solidFill>
                  <a:schemeClr val="tx1">
                    <a:lumMod val="75000"/>
                    <a:lumOff val="25000"/>
                  </a:schemeClr>
                </a:solidFill>
                <a:latin typeface="Calibri" pitchFamily="34" charset="0"/>
                <a:cs typeface="Calibri" pitchFamily="34" charset="0"/>
              </a:rPr>
              <a:t>belgesine resim, görüntü ve grafik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Belgede </a:t>
            </a:r>
            <a:r>
              <a:rPr lang="tr-TR" sz="1600" dirty="0">
                <a:solidFill>
                  <a:schemeClr val="tx1">
                    <a:lumMod val="75000"/>
                    <a:lumOff val="25000"/>
                  </a:schemeClr>
                </a:solidFill>
                <a:latin typeface="Calibri" pitchFamily="34" charset="0"/>
                <a:cs typeface="Calibri" pitchFamily="34" charset="0"/>
              </a:rPr>
              <a:t>resim, görüntü ve grafikleri seçer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Resim</a:t>
            </a:r>
            <a:r>
              <a:rPr lang="tr-TR" sz="1600" dirty="0">
                <a:solidFill>
                  <a:schemeClr val="tx1">
                    <a:lumMod val="75000"/>
                    <a:lumOff val="25000"/>
                  </a:schemeClr>
                </a:solidFill>
                <a:latin typeface="Calibri" pitchFamily="34" charset="0"/>
                <a:cs typeface="Calibri" pitchFamily="34" charset="0"/>
              </a:rPr>
              <a:t>, görüntü ve grafikleri belge içinde veya belgeler arasında kopyalar ve taşır</a:t>
            </a:r>
          </a:p>
          <a:p>
            <a:pPr marL="217170" indent="-171450">
              <a:lnSpc>
                <a:spcPct val="150000"/>
              </a:lnSpc>
              <a:buClr>
                <a:schemeClr val="accent6">
                  <a:lumMod val="75000"/>
                </a:schemeClr>
              </a:buClr>
              <a:buSzPct val="130000"/>
              <a:buBlip>
                <a:blip r:embed="rId8"/>
              </a:buBlip>
              <a:tabLst>
                <a:tab pos="182563" algn="l"/>
              </a:tabLst>
            </a:pPr>
            <a:r>
              <a:rPr lang="tr-TR" sz="1600" dirty="0">
                <a:solidFill>
                  <a:schemeClr val="tx1">
                    <a:lumMod val="75000"/>
                    <a:lumOff val="25000"/>
                  </a:schemeClr>
                </a:solidFill>
                <a:latin typeface="Calibri" pitchFamily="34" charset="0"/>
                <a:cs typeface="Calibri" pitchFamily="34" charset="0"/>
              </a:rPr>
              <a:t> Belgede resim, görüntü ve grafikleri biçimlendirir</a:t>
            </a:r>
          </a:p>
          <a:p>
            <a:pPr marL="217170" indent="-171450">
              <a:lnSpc>
                <a:spcPct val="150000"/>
              </a:lnSpc>
              <a:buClr>
                <a:schemeClr val="accent6">
                  <a:lumMod val="75000"/>
                </a:schemeClr>
              </a:buClr>
              <a:buSzPct val="130000"/>
              <a:buBlip>
                <a:blip r:embed="rId8"/>
              </a:buBlip>
              <a:tabLst>
                <a:tab pos="182563" algn="l"/>
              </a:tabLst>
            </a:pPr>
            <a:r>
              <a:rPr lang="tr-TR" sz="1600" smtClean="0">
                <a:solidFill>
                  <a:schemeClr val="tx1">
                    <a:lumMod val="75000"/>
                    <a:lumOff val="25000"/>
                  </a:schemeClr>
                </a:solidFill>
                <a:latin typeface="Calibri" pitchFamily="34" charset="0"/>
                <a:cs typeface="Calibri" pitchFamily="34" charset="0"/>
              </a:rPr>
              <a:t> Belgedeki </a:t>
            </a:r>
            <a:r>
              <a:rPr lang="tr-TR" sz="1600" dirty="0">
                <a:solidFill>
                  <a:schemeClr val="tx1">
                    <a:lumMod val="75000"/>
                    <a:lumOff val="25000"/>
                  </a:schemeClr>
                </a:solidFill>
                <a:latin typeface="Calibri" pitchFamily="34" charset="0"/>
                <a:cs typeface="Calibri" pitchFamily="34" charset="0"/>
              </a:rPr>
              <a:t>resim, görüntü ve grafikleri siler</a:t>
            </a: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47244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2"/>
            </p:custDataLst>
          </p:nvPr>
        </p:nvSpPr>
        <p:spPr>
          <a:xfrm>
            <a:off x="457200" y="1826156"/>
            <a:ext cx="41148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4"/>
            </p:custDataLst>
          </p:nvPr>
        </p:nvSpPr>
        <p:spPr>
          <a:xfrm>
            <a:off x="457200" y="2370083"/>
            <a:ext cx="4648200" cy="3886201"/>
          </a:xfrm>
          <a:prstGeom prst="rect">
            <a:avLst/>
          </a:prstGeom>
        </p:spPr>
        <p:txBody>
          <a:bodyPr>
            <a:normAutofit fontScale="92500" lnSpcReduction="10000"/>
          </a:bodyPr>
          <a:lstStyle/>
          <a:p>
            <a:pPr marL="361950" lvl="1" indent="-361950">
              <a:buFont typeface="Arial" pitchFamily="34" charset="0"/>
              <a:buNone/>
            </a:pPr>
            <a:r>
              <a:rPr lang="tr-TR" sz="1200" b="1" dirty="0">
                <a:latin typeface="Calibri" pitchFamily="34" charset="0"/>
                <a:cs typeface="Calibri" pitchFamily="34" charset="0"/>
              </a:rPr>
              <a:t>3.4	Nesneler</a:t>
            </a:r>
          </a:p>
          <a:p>
            <a:pPr marL="536575" lvl="1" indent="-363538">
              <a:buFont typeface="Arial" pitchFamily="34" charset="0"/>
              <a:buNone/>
            </a:pPr>
            <a:r>
              <a:rPr lang="tr-TR" sz="1200" b="1" dirty="0">
                <a:latin typeface="Calibri" pitchFamily="34" charset="0"/>
                <a:cs typeface="Calibri" pitchFamily="34" charset="0"/>
              </a:rPr>
              <a:t>3.4.1	Tablolar</a:t>
            </a:r>
          </a:p>
          <a:p>
            <a:pPr marL="803275" lvl="1" indent="-441325">
              <a:buFont typeface="Arial" pitchFamily="34" charset="0"/>
              <a:buNone/>
            </a:pPr>
            <a:r>
              <a:rPr lang="tr-TR" sz="1200" b="1" dirty="0">
                <a:latin typeface="Calibri" pitchFamily="34" charset="0"/>
                <a:cs typeface="Calibri" pitchFamily="34" charset="0"/>
              </a:rPr>
              <a:t>3.4.1.1	Veri girmeye hazır tablo oluşturmak.</a:t>
            </a:r>
          </a:p>
          <a:p>
            <a:pPr marL="803275" lvl="1" indent="-441325">
              <a:buFont typeface="Arial" pitchFamily="34" charset="0"/>
              <a:buNone/>
            </a:pPr>
            <a:r>
              <a:rPr lang="tr-TR" sz="1200" b="1" dirty="0">
                <a:latin typeface="Calibri" pitchFamily="34" charset="0"/>
                <a:cs typeface="Calibri" pitchFamily="34" charset="0"/>
              </a:rPr>
              <a:t>3.4.1.2	Tabloya veri girmek veya düzenlemek.</a:t>
            </a:r>
          </a:p>
          <a:p>
            <a:pPr marL="803275" lvl="1" indent="-441325">
              <a:buFont typeface="Arial" pitchFamily="34" charset="0"/>
              <a:buNone/>
            </a:pPr>
            <a:r>
              <a:rPr lang="tr-TR" sz="1200" b="1" dirty="0">
                <a:latin typeface="Calibri" pitchFamily="34" charset="0"/>
                <a:cs typeface="Calibri" pitchFamily="34" charset="0"/>
              </a:rPr>
              <a:t>3.4.1.3	Satır veya sütun eklemek veya silmek.</a:t>
            </a:r>
          </a:p>
          <a:p>
            <a:pPr marL="803275" lvl="1" indent="-441325">
              <a:buFont typeface="Arial" pitchFamily="34" charset="0"/>
              <a:buNone/>
            </a:pPr>
            <a:r>
              <a:rPr lang="tr-TR" sz="1200" b="1" dirty="0">
                <a:latin typeface="Calibri" pitchFamily="34" charset="0"/>
                <a:cs typeface="Calibri" pitchFamily="34" charset="0"/>
              </a:rPr>
              <a:t>3.4.1.4	Sütun genişliğini veya satır yüksekliğini değiştirmek.</a:t>
            </a:r>
          </a:p>
          <a:p>
            <a:pPr marL="803275" lvl="1" indent="-441325">
              <a:buFont typeface="Arial" pitchFamily="34" charset="0"/>
              <a:buNone/>
            </a:pPr>
            <a:r>
              <a:rPr lang="tr-TR" sz="1200" b="1" dirty="0">
                <a:latin typeface="Calibri" pitchFamily="34" charset="0"/>
                <a:cs typeface="Calibri" pitchFamily="34" charset="0"/>
              </a:rPr>
              <a:t>3.4.1.5	Hücre kenarlık genişliğini, stilini veya rengini değiştirmek.</a:t>
            </a:r>
          </a:p>
          <a:p>
            <a:pPr marL="803275" lvl="1" indent="-441325">
              <a:buFont typeface="Arial" pitchFamily="34" charset="0"/>
              <a:buNone/>
            </a:pPr>
            <a:r>
              <a:rPr lang="tr-TR" sz="1200" b="1" dirty="0">
                <a:latin typeface="Calibri" pitchFamily="34" charset="0"/>
                <a:cs typeface="Calibri" pitchFamily="34" charset="0"/>
              </a:rPr>
              <a:t>3.4.1.6	Hücreye gölgeleme eklemek.</a:t>
            </a:r>
          </a:p>
          <a:p>
            <a:pPr marL="536575" lvl="1" indent="-363538">
              <a:buFont typeface="Arial" pitchFamily="34" charset="0"/>
              <a:buNone/>
            </a:pPr>
            <a:r>
              <a:rPr lang="tr-TR" sz="1200" b="1" dirty="0">
                <a:latin typeface="Calibri" pitchFamily="34" charset="0"/>
                <a:cs typeface="Calibri" pitchFamily="34" charset="0"/>
              </a:rPr>
              <a:t>3.4.2	Resim, Görüntü ve Grafikler</a:t>
            </a:r>
          </a:p>
          <a:p>
            <a:pPr marL="803275" lvl="1" indent="-441325">
              <a:buFont typeface="Arial" pitchFamily="34" charset="0"/>
              <a:buNone/>
            </a:pPr>
            <a:r>
              <a:rPr lang="tr-TR" sz="1200" b="1" dirty="0">
                <a:latin typeface="Calibri" pitchFamily="34" charset="0"/>
                <a:cs typeface="Calibri" pitchFamily="34" charset="0"/>
              </a:rPr>
              <a:t>3.4.2.1	Belgeye resim, görüntü veya grafik eklemek.</a:t>
            </a:r>
          </a:p>
          <a:p>
            <a:pPr marL="803275" lvl="1" indent="-441325">
              <a:buFont typeface="Arial" pitchFamily="34" charset="0"/>
              <a:buNone/>
            </a:pPr>
            <a:r>
              <a:rPr lang="tr-TR" sz="1200" b="1" dirty="0">
                <a:latin typeface="Calibri" pitchFamily="34" charset="0"/>
                <a:cs typeface="Calibri" pitchFamily="34" charset="0"/>
              </a:rPr>
              <a:t>3.4.2.2	Belge içerisinde resim, görüntü veya grafik seçmek.</a:t>
            </a:r>
          </a:p>
          <a:p>
            <a:pPr marL="803275" lvl="1" indent="-441325">
              <a:buFont typeface="Arial" pitchFamily="34" charset="0"/>
              <a:buNone/>
            </a:pPr>
            <a:r>
              <a:rPr lang="tr-TR" sz="1200" b="1" dirty="0">
                <a:latin typeface="Calibri" pitchFamily="34" charset="0"/>
                <a:cs typeface="Calibri" pitchFamily="34" charset="0"/>
              </a:rPr>
              <a:t>3.4.2.3	Belge içerisinde veya açık belgeler arasında resim, görüntü veya grafik kopyalamak.</a:t>
            </a:r>
          </a:p>
          <a:p>
            <a:pPr marL="803275" lvl="1" indent="-441325">
              <a:buFont typeface="Arial" pitchFamily="34" charset="0"/>
              <a:buNone/>
            </a:pPr>
            <a:r>
              <a:rPr lang="tr-TR" sz="1200" b="1" dirty="0">
                <a:latin typeface="Calibri" pitchFamily="34" charset="0"/>
                <a:cs typeface="Calibri" pitchFamily="34" charset="0"/>
              </a:rPr>
              <a:t>3.4.2.4	Belge içerisinde veya açık belgeler arasında resim, görüntü veya grafik taşımak.</a:t>
            </a:r>
          </a:p>
          <a:p>
            <a:pPr marL="803275" lvl="1" indent="-441325">
              <a:buFont typeface="Arial" pitchFamily="34" charset="0"/>
              <a:buNone/>
            </a:pPr>
            <a:r>
              <a:rPr lang="tr-TR" sz="1200" b="1" dirty="0">
                <a:latin typeface="Calibri" pitchFamily="34" charset="0"/>
                <a:cs typeface="Calibri" pitchFamily="34" charset="0"/>
              </a:rPr>
              <a:t>3.4.2.5	Resim, görüntü veya grafiğin büyüklüğünü değiştirmek.</a:t>
            </a:r>
          </a:p>
          <a:p>
            <a:pPr marL="803275" lvl="1" indent="-441325">
              <a:buFont typeface="Arial" pitchFamily="34" charset="0"/>
              <a:buNone/>
            </a:pPr>
            <a:r>
              <a:rPr lang="tr-TR" sz="1200" b="1" dirty="0">
                <a:latin typeface="Calibri" pitchFamily="34" charset="0"/>
                <a:cs typeface="Calibri" pitchFamily="34" charset="0"/>
              </a:rPr>
              <a:t>3.4.2.6	Resim, görüntü ve grafiğin silinmesi.</a:t>
            </a:r>
          </a:p>
        </p:txBody>
      </p:sp>
      <p:sp>
        <p:nvSpPr>
          <p:cNvPr id="7" name="Metin kutusu 6"/>
          <p:cNvSpPr txBox="1"/>
          <p:nvPr>
            <p:custDataLst>
              <p:tags r:id="rId5"/>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6"/>
            </p:custDataLst>
          </p:nvPr>
        </p:nvSpPr>
        <p:spPr/>
        <p:txBody>
          <a:bodyPr/>
          <a:lstStyle/>
          <a:p>
            <a:fld id="{C1FA2219-9131-49AD-A1B5-1FFD48A79E7F}" type="slidenum">
              <a:rPr lang="tr-TR" smtClean="0"/>
              <a:t>3</a:t>
            </a:fld>
            <a:endParaRPr lang="tr-TR"/>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Veri Girmeye Hazır Tablo Oluşturmak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a:solidFill>
                  <a:schemeClr val="bg1"/>
                </a:solidFill>
              </a:rPr>
              <a:t>Word </a:t>
            </a:r>
            <a:r>
              <a:rPr lang="de-DE" sz="1400" b="1" dirty="0" err="1">
                <a:solidFill>
                  <a:schemeClr val="bg1"/>
                </a:solidFill>
              </a:rPr>
              <a:t>belgesinde</a:t>
            </a:r>
            <a:r>
              <a:rPr lang="de-DE" sz="1400" b="1" dirty="0">
                <a:solidFill>
                  <a:schemeClr val="bg1"/>
                </a:solidFill>
              </a:rPr>
              <a:t> </a:t>
            </a:r>
            <a:r>
              <a:rPr lang="de-DE" sz="1400" b="1" dirty="0" err="1">
                <a:solidFill>
                  <a:schemeClr val="bg1"/>
                </a:solidFill>
              </a:rPr>
              <a:t>tablo</a:t>
            </a:r>
            <a:r>
              <a:rPr lang="de-DE" sz="1400" b="1" dirty="0">
                <a:solidFill>
                  <a:schemeClr val="bg1"/>
                </a:solidFill>
              </a:rPr>
              <a:t> </a:t>
            </a:r>
            <a:r>
              <a:rPr lang="de-DE" sz="1400" b="1" dirty="0" err="1">
                <a:solidFill>
                  <a:schemeClr val="bg1"/>
                </a:solidFill>
              </a:rPr>
              <a:t>oluşturur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381014" y="962925"/>
            <a:ext cx="7772400" cy="1569660"/>
          </a:xfrm>
          <a:prstGeom prst="rect">
            <a:avLst/>
          </a:prstGeom>
          <a:noFill/>
        </p:spPr>
        <p:txBody>
          <a:bodyPr wrap="square" rtlCol="0">
            <a:spAutoFit/>
          </a:bodyPr>
          <a:lstStyle/>
          <a:p>
            <a:r>
              <a:rPr lang="tr-TR" sz="1600" dirty="0"/>
              <a:t>MS Word 2010’da belgeye tablo eklemek için </a:t>
            </a:r>
            <a:r>
              <a:rPr lang="tr-TR" sz="1600" b="1" dirty="0" smtClean="0"/>
              <a:t>Ekle</a:t>
            </a:r>
            <a:r>
              <a:rPr lang="tr-TR" sz="1600" dirty="0" smtClean="0"/>
              <a:t> sekmesi&gt;T</a:t>
            </a:r>
            <a:r>
              <a:rPr lang="tr-TR" sz="1600" b="1" dirty="0" smtClean="0"/>
              <a:t>ablolar</a:t>
            </a:r>
            <a:r>
              <a:rPr lang="tr-TR" sz="1600" dirty="0" smtClean="0"/>
              <a:t> komut grubu kullanılmaktadır.</a:t>
            </a:r>
          </a:p>
          <a:p>
            <a:pPr marL="285750" indent="-285750">
              <a:buFont typeface="Arial" pitchFamily="34" charset="0"/>
              <a:buChar char="•"/>
            </a:pPr>
            <a:r>
              <a:rPr lang="tr-TR" sz="1600" dirty="0" smtClean="0"/>
              <a:t>Buradan açılan ızgaradan istenilen sayıda sütun ve satır seçilir</a:t>
            </a:r>
          </a:p>
          <a:p>
            <a:pPr marL="285750" indent="-285750">
              <a:buFont typeface="Arial" pitchFamily="34" charset="0"/>
              <a:buChar char="•"/>
            </a:pPr>
            <a:r>
              <a:rPr lang="tr-TR" sz="1600" dirty="0" smtClean="0"/>
              <a:t>Tablo Ekle komutundan Tablo ekle iletişim penceresine satır sütun sayısı girilir</a:t>
            </a:r>
          </a:p>
          <a:p>
            <a:pPr marL="285750" indent="-285750">
              <a:buFont typeface="Arial" pitchFamily="34" charset="0"/>
              <a:buChar char="•"/>
            </a:pPr>
            <a:r>
              <a:rPr lang="tr-TR" sz="1600" dirty="0" smtClean="0"/>
              <a:t>Tablo çiz komutuyla elle tablo çizilir</a:t>
            </a:r>
          </a:p>
          <a:p>
            <a:pPr marL="285750" indent="-285750">
              <a:buFont typeface="Arial" pitchFamily="34" charset="0"/>
              <a:buChar char="•"/>
            </a:pPr>
            <a:r>
              <a:rPr lang="tr-TR" sz="1600" dirty="0" smtClean="0"/>
              <a:t>Hızlı Tablolardan bir tablo seçilir.</a:t>
            </a:r>
            <a:endParaRPr lang="tr-TR" sz="1600" dirty="0"/>
          </a:p>
        </p:txBody>
      </p:sp>
      <p:pic>
        <p:nvPicPr>
          <p:cNvPr id="1026" name="Picture 2" descr="C:\Users\YILMAZ\AppData\Local\Temp\SNAGHTML15650d4.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6926" y="2532585"/>
            <a:ext cx="2524125" cy="4133850"/>
          </a:xfrm>
          <a:prstGeom prst="rect">
            <a:avLst/>
          </a:prstGeom>
          <a:noFill/>
          <a:extLst>
            <a:ext uri="{909E8E84-426E-40DD-AFC4-6F175D3DCCD1}">
              <a14:hiddenFill xmlns:a14="http://schemas.microsoft.com/office/drawing/2010/main">
                <a:solidFill>
                  <a:srgbClr val="FFFFFF"/>
                </a:solidFill>
              </a14:hiddenFill>
            </a:ext>
          </a:extLst>
        </p:spPr>
      </p:pic>
      <p:pic>
        <p:nvPicPr>
          <p:cNvPr id="17" name="Resim 16" descr="Açıklama: Açıklama: C:\Users\MY\AppData\Local\Temp\SNAGHTML59532a1.PNG"/>
          <p:cNvPicPr/>
          <p:nvPr/>
        </p:nvPicPr>
        <p:blipFill>
          <a:blip r:embed="rId12">
            <a:extLst>
              <a:ext uri="{28A0092B-C50C-407E-A947-70E740481C1C}">
                <a14:useLocalDpi xmlns:a14="http://schemas.microsoft.com/office/drawing/2010/main" val="0"/>
              </a:ext>
            </a:extLst>
          </a:blip>
          <a:srcRect/>
          <a:stretch>
            <a:fillRect/>
          </a:stretch>
        </p:blipFill>
        <p:spPr bwMode="auto">
          <a:xfrm>
            <a:off x="3276600" y="2548171"/>
            <a:ext cx="5762625" cy="4114800"/>
          </a:xfrm>
          <a:prstGeom prst="rect">
            <a:avLst/>
          </a:prstGeom>
          <a:noFill/>
          <a:ln>
            <a:noFill/>
          </a:ln>
        </p:spPr>
      </p:pic>
      <p:pic>
        <p:nvPicPr>
          <p:cNvPr id="18" name="Resim 17"/>
          <p:cNvPicPr/>
          <p:nvPr/>
        </p:nvPicPr>
        <p:blipFill>
          <a:blip r:embed="rId13">
            <a:extLst>
              <a:ext uri="{28A0092B-C50C-407E-A947-70E740481C1C}">
                <a14:useLocalDpi xmlns:a14="http://schemas.microsoft.com/office/drawing/2010/main" val="0"/>
              </a:ext>
            </a:extLst>
          </a:blip>
          <a:srcRect/>
          <a:stretch>
            <a:fillRect/>
          </a:stretch>
        </p:blipFill>
        <p:spPr bwMode="auto">
          <a:xfrm>
            <a:off x="3238500" y="2548171"/>
            <a:ext cx="2733675" cy="2562225"/>
          </a:xfrm>
          <a:prstGeom prst="rect">
            <a:avLst/>
          </a:prstGeom>
          <a:noFill/>
          <a:ln>
            <a:noFill/>
          </a:ln>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Tabloya Veri Girmek veya Düzenlemek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Tabloya</a:t>
            </a:r>
            <a:r>
              <a:rPr lang="de-DE" sz="1400" b="1" dirty="0">
                <a:solidFill>
                  <a:schemeClr val="bg1"/>
                </a:solidFill>
              </a:rPr>
              <a:t> </a:t>
            </a:r>
            <a:r>
              <a:rPr lang="de-DE" sz="1400" b="1" dirty="0" err="1">
                <a:solidFill>
                  <a:schemeClr val="bg1"/>
                </a:solidFill>
              </a:rPr>
              <a:t>veri</a:t>
            </a:r>
            <a:r>
              <a:rPr lang="de-DE" sz="1400" b="1" dirty="0">
                <a:solidFill>
                  <a:schemeClr val="bg1"/>
                </a:solidFill>
              </a:rPr>
              <a:t> </a:t>
            </a:r>
            <a:r>
              <a:rPr lang="de-DE" sz="1400" b="1" dirty="0" err="1">
                <a:solidFill>
                  <a:schemeClr val="bg1"/>
                </a:solidFill>
              </a:rPr>
              <a:t>girer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03325" y="1146117"/>
            <a:ext cx="7772400" cy="584775"/>
          </a:xfrm>
          <a:prstGeom prst="rect">
            <a:avLst/>
          </a:prstGeom>
          <a:noFill/>
        </p:spPr>
        <p:txBody>
          <a:bodyPr wrap="square" rtlCol="0">
            <a:spAutoFit/>
          </a:bodyPr>
          <a:lstStyle/>
          <a:p>
            <a:r>
              <a:rPr lang="tr-TR" sz="1600" dirty="0" smtClean="0"/>
              <a:t>Tabloya veri girmek için ekleme noktasının hücrenin içinde yanıp sönmeye başlayınca klavyeden veri girin </a:t>
            </a:r>
            <a:endParaRPr lang="tr-TR" sz="1600" dirty="0"/>
          </a:p>
        </p:txBody>
      </p:sp>
      <p:pic>
        <p:nvPicPr>
          <p:cNvPr id="2050" name="Picture 2" descr="C:\Users\YILMAZ\AppData\Local\Temp\SNAGHTML165b6e7.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1828800"/>
            <a:ext cx="6324600" cy="1114425"/>
          </a:xfrm>
          <a:prstGeom prst="rect">
            <a:avLst/>
          </a:prstGeom>
          <a:noFill/>
          <a:extLst>
            <a:ext uri="{909E8E84-426E-40DD-AFC4-6F175D3DCCD1}">
              <a14:hiddenFill xmlns:a14="http://schemas.microsoft.com/office/drawing/2010/main">
                <a:solidFill>
                  <a:srgbClr val="FFFFFF"/>
                </a:solidFill>
              </a14:hiddenFill>
            </a:ext>
          </a:extLst>
        </p:spPr>
      </p:pic>
      <p:pic>
        <p:nvPicPr>
          <p:cNvPr id="17" name="Resim 16" descr="C:\Users\MY\AppData\Local\Temp\SNAGHTML167eab3.PNG"/>
          <p:cNvPicPr/>
          <p:nvPr/>
        </p:nvPicPr>
        <p:blipFill>
          <a:blip r:embed="rId12">
            <a:extLst>
              <a:ext uri="{28A0092B-C50C-407E-A947-70E740481C1C}">
                <a14:useLocalDpi xmlns:a14="http://schemas.microsoft.com/office/drawing/2010/main" val="0"/>
              </a:ext>
            </a:extLst>
          </a:blip>
          <a:srcRect/>
          <a:stretch>
            <a:fillRect/>
          </a:stretch>
        </p:blipFill>
        <p:spPr bwMode="auto">
          <a:xfrm>
            <a:off x="600341" y="3124200"/>
            <a:ext cx="5381625" cy="1943100"/>
          </a:xfrm>
          <a:prstGeom prst="rect">
            <a:avLst/>
          </a:prstGeom>
          <a:noFill/>
          <a:ln>
            <a:noFill/>
          </a:ln>
        </p:spPr>
      </p:pic>
      <p:pic>
        <p:nvPicPr>
          <p:cNvPr id="18" name="Resim 17"/>
          <p:cNvPicPr/>
          <p:nvPr/>
        </p:nvPicPr>
        <p:blipFill>
          <a:blip r:embed="rId13">
            <a:extLst>
              <a:ext uri="{28A0092B-C50C-407E-A947-70E740481C1C}">
                <a14:useLocalDpi xmlns:a14="http://schemas.microsoft.com/office/drawing/2010/main" val="0"/>
              </a:ext>
            </a:extLst>
          </a:blip>
          <a:srcRect/>
          <a:stretch>
            <a:fillRect/>
          </a:stretch>
        </p:blipFill>
        <p:spPr bwMode="auto">
          <a:xfrm>
            <a:off x="600341" y="5257800"/>
            <a:ext cx="4391025" cy="1400175"/>
          </a:xfrm>
          <a:prstGeom prst="rect">
            <a:avLst/>
          </a:prstGeom>
          <a:noFill/>
          <a:ln>
            <a:noFill/>
          </a:ln>
        </p:spPr>
      </p:pic>
    </p:spTree>
    <p:custDataLst>
      <p:tags r:id="rId1"/>
    </p:custDataLst>
    <p:extLst>
      <p:ext uri="{BB962C8B-B14F-4D97-AF65-F5344CB8AC3E}">
        <p14:creationId xmlns:p14="http://schemas.microsoft.com/office/powerpoint/2010/main" val="29544828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Satır veya Sütun Eklemek veya Silmek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Tabloya</a:t>
            </a:r>
            <a:r>
              <a:rPr lang="de-DE" sz="1400" b="1" dirty="0">
                <a:solidFill>
                  <a:schemeClr val="bg1"/>
                </a:solidFill>
              </a:rPr>
              <a:t> </a:t>
            </a:r>
            <a:r>
              <a:rPr lang="de-DE" sz="1400" b="1" dirty="0" err="1">
                <a:solidFill>
                  <a:schemeClr val="bg1"/>
                </a:solidFill>
              </a:rPr>
              <a:t>satır</a:t>
            </a:r>
            <a:r>
              <a:rPr lang="de-DE" sz="1400" b="1" dirty="0">
                <a:solidFill>
                  <a:schemeClr val="bg1"/>
                </a:solidFill>
              </a:rPr>
              <a:t>, </a:t>
            </a:r>
            <a:r>
              <a:rPr lang="de-DE" sz="1400" b="1" dirty="0" err="1">
                <a:solidFill>
                  <a:schemeClr val="bg1"/>
                </a:solidFill>
              </a:rPr>
              <a:t>sütün</a:t>
            </a:r>
            <a:r>
              <a:rPr lang="de-DE" sz="1400" b="1" dirty="0">
                <a:solidFill>
                  <a:schemeClr val="bg1"/>
                </a:solidFill>
              </a:rPr>
              <a:t> ekler </a:t>
            </a:r>
            <a:r>
              <a:rPr lang="de-DE" sz="1400" b="1" dirty="0" err="1">
                <a:solidFill>
                  <a:schemeClr val="bg1"/>
                </a:solidFill>
              </a:rPr>
              <a:t>ve</a:t>
            </a:r>
            <a:r>
              <a:rPr lang="de-DE" sz="1400" b="1" dirty="0">
                <a:solidFill>
                  <a:schemeClr val="bg1"/>
                </a:solidFill>
              </a:rPr>
              <a:t> </a:t>
            </a:r>
            <a:r>
              <a:rPr lang="de-DE" sz="1400" b="1" dirty="0" err="1">
                <a:solidFill>
                  <a:schemeClr val="bg1"/>
                </a:solidFill>
              </a:rPr>
              <a:t>siler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dirty="0"/>
              <a:t>Word </a:t>
            </a:r>
            <a:r>
              <a:rPr lang="tr-TR" sz="1600" dirty="0" smtClean="0"/>
              <a:t>belgesinde Satır </a:t>
            </a:r>
            <a:r>
              <a:rPr lang="tr-TR" sz="1600" dirty="0"/>
              <a:t>veya Sütun Eklemek veya </a:t>
            </a:r>
            <a:r>
              <a:rPr lang="tr-TR" sz="1600" dirty="0" smtClean="0"/>
              <a:t>Silmek için </a:t>
            </a:r>
          </a:p>
          <a:p>
            <a:pPr marL="285750" indent="-285750">
              <a:buFont typeface="Arial" pitchFamily="34" charset="0"/>
              <a:buChar char="•"/>
            </a:pPr>
            <a:r>
              <a:rPr lang="tr-TR" sz="1600" b="1" dirty="0" smtClean="0"/>
              <a:t>Düzen Bağlamsal </a:t>
            </a:r>
            <a:r>
              <a:rPr lang="tr-TR" sz="1600" dirty="0" smtClean="0"/>
              <a:t>sekmesi&gt;</a:t>
            </a:r>
            <a:r>
              <a:rPr lang="tr-TR" sz="1600" b="1" dirty="0" smtClean="0"/>
              <a:t>Satırlar ve Sütunlar </a:t>
            </a:r>
            <a:r>
              <a:rPr lang="tr-TR" sz="1600" dirty="0" smtClean="0"/>
              <a:t>komut grubu</a:t>
            </a:r>
          </a:p>
          <a:p>
            <a:pPr marL="285750" indent="-285750">
              <a:buFont typeface="Arial" pitchFamily="34" charset="0"/>
              <a:buChar char="•"/>
            </a:pPr>
            <a:r>
              <a:rPr lang="tr-TR" sz="1600" b="1" dirty="0" smtClean="0"/>
              <a:t>Fare </a:t>
            </a:r>
            <a:r>
              <a:rPr lang="tr-TR" sz="1600" b="1" dirty="0" err="1" smtClean="0"/>
              <a:t>kısayol</a:t>
            </a:r>
            <a:r>
              <a:rPr lang="tr-TR" sz="1600" b="1" dirty="0" smtClean="0"/>
              <a:t> menüsü </a:t>
            </a:r>
            <a:r>
              <a:rPr lang="tr-TR" sz="1600" dirty="0" smtClean="0"/>
              <a:t>kullanılır</a:t>
            </a:r>
            <a:endParaRPr lang="tr-TR" sz="1600" dirty="0"/>
          </a:p>
        </p:txBody>
      </p:sp>
      <p:pic>
        <p:nvPicPr>
          <p:cNvPr id="3" name="Picture 2" descr="C:\Users\YILMAZ\AppData\Local\Temp\SNAGHTML171dc80.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3325" y="2133600"/>
            <a:ext cx="7943850"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4" name="Resim 13"/>
          <p:cNvPicPr/>
          <p:nvPr/>
        </p:nvPicPr>
        <p:blipFill>
          <a:blip r:embed="rId12">
            <a:extLst>
              <a:ext uri="{28A0092B-C50C-407E-A947-70E740481C1C}">
                <a14:useLocalDpi xmlns:a14="http://schemas.microsoft.com/office/drawing/2010/main" val="0"/>
              </a:ext>
            </a:extLst>
          </a:blip>
          <a:srcRect/>
          <a:stretch>
            <a:fillRect/>
          </a:stretch>
        </p:blipFill>
        <p:spPr bwMode="auto">
          <a:xfrm>
            <a:off x="503325" y="3429000"/>
            <a:ext cx="3876675" cy="3429000"/>
          </a:xfrm>
          <a:prstGeom prst="rect">
            <a:avLst/>
          </a:prstGeom>
          <a:noFill/>
          <a:ln>
            <a:noFill/>
          </a:ln>
        </p:spPr>
      </p:pic>
      <p:pic>
        <p:nvPicPr>
          <p:cNvPr id="6" name="Picture 4" descr="C:\Users\YILMAZ\AppData\Local\Temp\SNAGHTML1729302.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92568" y="3646343"/>
            <a:ext cx="1781175" cy="1514475"/>
          </a:xfrm>
          <a:prstGeom prst="rect">
            <a:avLst/>
          </a:prstGeom>
          <a:noFill/>
          <a:extLst>
            <a:ext uri="{909E8E84-426E-40DD-AFC4-6F175D3DCCD1}">
              <a14:hiddenFill xmlns:a14="http://schemas.microsoft.com/office/drawing/2010/main">
                <a:solidFill>
                  <a:srgbClr val="FFFFFF"/>
                </a:solidFill>
              </a14:hiddenFill>
            </a:ext>
          </a:extLst>
        </p:spPr>
      </p:pic>
      <p:pic>
        <p:nvPicPr>
          <p:cNvPr id="16" name="Resim 15"/>
          <p:cNvPicPr/>
          <p:nvPr/>
        </p:nvPicPr>
        <p:blipFill>
          <a:blip r:embed="rId14">
            <a:extLst>
              <a:ext uri="{28A0092B-C50C-407E-A947-70E740481C1C}">
                <a14:useLocalDpi xmlns:a14="http://schemas.microsoft.com/office/drawing/2010/main" val="0"/>
              </a:ext>
            </a:extLst>
          </a:blip>
          <a:srcRect/>
          <a:stretch>
            <a:fillRect/>
          </a:stretch>
        </p:blipFill>
        <p:spPr bwMode="auto">
          <a:xfrm>
            <a:off x="6553432" y="3472295"/>
            <a:ext cx="1876425" cy="1971675"/>
          </a:xfrm>
          <a:prstGeom prst="rect">
            <a:avLst/>
          </a:prstGeom>
          <a:noFill/>
          <a:ln>
            <a:noFill/>
          </a:ln>
        </p:spPr>
      </p:pic>
    </p:spTree>
    <p:custDataLst>
      <p:tags r:id="rId1"/>
    </p:custDataLst>
    <p:extLst>
      <p:ext uri="{BB962C8B-B14F-4D97-AF65-F5344CB8AC3E}">
        <p14:creationId xmlns:p14="http://schemas.microsoft.com/office/powerpoint/2010/main" val="68281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Sütun Genişliğini veya Satır Yüksekliğini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Tablodaki</a:t>
            </a:r>
            <a:r>
              <a:rPr lang="de-DE" sz="1400" b="1" dirty="0">
                <a:solidFill>
                  <a:schemeClr val="bg1"/>
                </a:solidFill>
              </a:rPr>
              <a:t> </a:t>
            </a:r>
            <a:r>
              <a:rPr lang="de-DE" sz="1400" b="1" dirty="0" err="1">
                <a:solidFill>
                  <a:schemeClr val="bg1"/>
                </a:solidFill>
              </a:rPr>
              <a:t>satırlar</a:t>
            </a:r>
            <a:r>
              <a:rPr lang="de-DE" sz="1400" b="1" dirty="0">
                <a:solidFill>
                  <a:schemeClr val="bg1"/>
                </a:solidFill>
              </a:rPr>
              <a:t> </a:t>
            </a:r>
            <a:r>
              <a:rPr lang="de-DE" sz="1400" b="1" dirty="0" err="1">
                <a:solidFill>
                  <a:schemeClr val="bg1"/>
                </a:solidFill>
              </a:rPr>
              <a:t>yüksekliği</a:t>
            </a:r>
            <a:r>
              <a:rPr lang="de-DE" sz="1400" b="1" dirty="0">
                <a:solidFill>
                  <a:schemeClr val="bg1"/>
                </a:solidFill>
              </a:rPr>
              <a:t> </a:t>
            </a:r>
            <a:r>
              <a:rPr lang="de-DE" sz="1400" b="1" dirty="0" err="1">
                <a:solidFill>
                  <a:schemeClr val="bg1"/>
                </a:solidFill>
              </a:rPr>
              <a:t>ve</a:t>
            </a:r>
            <a:r>
              <a:rPr lang="de-DE" sz="1400" b="1" dirty="0">
                <a:solidFill>
                  <a:schemeClr val="bg1"/>
                </a:solidFill>
              </a:rPr>
              <a:t> </a:t>
            </a:r>
            <a:r>
              <a:rPr lang="de-DE" sz="1400" b="1" dirty="0" err="1">
                <a:solidFill>
                  <a:schemeClr val="bg1"/>
                </a:solidFill>
              </a:rPr>
              <a:t>sütun</a:t>
            </a:r>
            <a:r>
              <a:rPr lang="de-DE" sz="1400" b="1" dirty="0">
                <a:solidFill>
                  <a:schemeClr val="bg1"/>
                </a:solidFill>
              </a:rPr>
              <a:t> </a:t>
            </a:r>
            <a:r>
              <a:rPr lang="de-DE" sz="1400" b="1" dirty="0" err="1">
                <a:solidFill>
                  <a:schemeClr val="bg1"/>
                </a:solidFill>
              </a:rPr>
              <a:t>genişliğini</a:t>
            </a:r>
            <a:r>
              <a:rPr lang="de-DE" sz="1400" b="1" dirty="0">
                <a:solidFill>
                  <a:schemeClr val="bg1"/>
                </a:solidFill>
              </a:rPr>
              <a:t> </a:t>
            </a:r>
            <a:r>
              <a:rPr lang="de-DE" sz="1400" b="1" dirty="0" err="1">
                <a:solidFill>
                  <a:schemeClr val="bg1"/>
                </a:solidFill>
              </a:rPr>
              <a:t>düzenler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13716" y="1153044"/>
            <a:ext cx="7772400" cy="1077218"/>
          </a:xfrm>
          <a:prstGeom prst="rect">
            <a:avLst/>
          </a:prstGeom>
          <a:noFill/>
        </p:spPr>
        <p:txBody>
          <a:bodyPr wrap="square" rtlCol="0">
            <a:spAutoFit/>
          </a:bodyPr>
          <a:lstStyle/>
          <a:p>
            <a:r>
              <a:rPr lang="tr-TR" sz="1600" dirty="0" smtClean="0"/>
              <a:t>Tablodaki sütunların genişliğini ve satır yüksekliğini düzenlemek için</a:t>
            </a:r>
          </a:p>
          <a:p>
            <a:pPr marL="285750" indent="-285750">
              <a:buFont typeface="Arial" pitchFamily="34" charset="0"/>
              <a:buChar char="•"/>
            </a:pPr>
            <a:r>
              <a:rPr lang="tr-TR" sz="1600" b="1" dirty="0" smtClean="0"/>
              <a:t>Fare işaretçisi</a:t>
            </a:r>
          </a:p>
          <a:p>
            <a:pPr marL="285750" indent="-285750">
              <a:buFont typeface="Arial" pitchFamily="34" charset="0"/>
              <a:buChar char="•"/>
            </a:pPr>
            <a:r>
              <a:rPr lang="tr-TR" sz="1600" b="1" dirty="0" smtClean="0"/>
              <a:t>Düzen Bağlamsal </a:t>
            </a:r>
            <a:r>
              <a:rPr lang="tr-TR" sz="1600" dirty="0" smtClean="0"/>
              <a:t>sekmesi&gt;</a:t>
            </a:r>
            <a:r>
              <a:rPr lang="tr-TR" sz="1600" b="1" dirty="0" smtClean="0"/>
              <a:t>Hücre Boyutu</a:t>
            </a:r>
            <a:r>
              <a:rPr lang="tr-TR" sz="1600" dirty="0" smtClean="0"/>
              <a:t> komut grubu</a:t>
            </a:r>
          </a:p>
          <a:p>
            <a:pPr marL="285750" indent="-285750">
              <a:buFont typeface="Arial" pitchFamily="34" charset="0"/>
              <a:buChar char="•"/>
            </a:pPr>
            <a:r>
              <a:rPr lang="tr-TR" sz="1600" b="1" dirty="0" smtClean="0"/>
              <a:t>Tablo Özellikleri </a:t>
            </a:r>
            <a:r>
              <a:rPr lang="tr-TR" sz="1600" dirty="0" smtClean="0"/>
              <a:t>iletişim penceresi kullanılır</a:t>
            </a:r>
            <a:endParaRPr lang="tr-TR" sz="1600" dirty="0"/>
          </a:p>
        </p:txBody>
      </p:sp>
      <p:pic>
        <p:nvPicPr>
          <p:cNvPr id="14" name="Resim 13"/>
          <p:cNvPicPr/>
          <p:nvPr/>
        </p:nvPicPr>
        <p:blipFill>
          <a:blip r:embed="rId11">
            <a:extLst>
              <a:ext uri="{28A0092B-C50C-407E-A947-70E740481C1C}">
                <a14:useLocalDpi xmlns:a14="http://schemas.microsoft.com/office/drawing/2010/main" val="0"/>
              </a:ext>
            </a:extLst>
          </a:blip>
          <a:srcRect/>
          <a:stretch>
            <a:fillRect/>
          </a:stretch>
        </p:blipFill>
        <p:spPr bwMode="auto">
          <a:xfrm>
            <a:off x="503325" y="2209800"/>
            <a:ext cx="2819400" cy="2438400"/>
          </a:xfrm>
          <a:prstGeom prst="rect">
            <a:avLst/>
          </a:prstGeom>
          <a:noFill/>
          <a:ln>
            <a:noFill/>
          </a:ln>
        </p:spPr>
      </p:pic>
      <p:pic>
        <p:nvPicPr>
          <p:cNvPr id="15" name="Resim 14"/>
          <p:cNvPicPr/>
          <p:nvPr/>
        </p:nvPicPr>
        <p:blipFill>
          <a:blip r:embed="rId12">
            <a:extLst>
              <a:ext uri="{28A0092B-C50C-407E-A947-70E740481C1C}">
                <a14:useLocalDpi xmlns:a14="http://schemas.microsoft.com/office/drawing/2010/main" val="0"/>
              </a:ext>
            </a:extLst>
          </a:blip>
          <a:srcRect/>
          <a:stretch>
            <a:fillRect/>
          </a:stretch>
        </p:blipFill>
        <p:spPr bwMode="auto">
          <a:xfrm>
            <a:off x="513716" y="4724400"/>
            <a:ext cx="3800475" cy="1400175"/>
          </a:xfrm>
          <a:prstGeom prst="rect">
            <a:avLst/>
          </a:prstGeom>
          <a:noFill/>
          <a:ln>
            <a:noFill/>
          </a:ln>
        </p:spPr>
      </p:pic>
      <p:pic>
        <p:nvPicPr>
          <p:cNvPr id="3"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95800" y="2209800"/>
            <a:ext cx="4086225" cy="422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06805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5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Hücre Kenarlık Genişliğini, Stilini veya Rengini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8763000" cy="307777"/>
          </a:xfrm>
          <a:prstGeom prst="rect">
            <a:avLst/>
          </a:prstGeom>
          <a:noFill/>
        </p:spPr>
        <p:txBody>
          <a:bodyPr wrap="square" rtlCol="0">
            <a:spAutoFit/>
          </a:bodyPr>
          <a:lstStyle/>
          <a:p>
            <a:r>
              <a:rPr lang="pt-BR" sz="1400" b="1" dirty="0">
                <a:solidFill>
                  <a:schemeClr val="bg1"/>
                </a:solidFill>
              </a:rPr>
              <a:t>Tabloya değişik stil ve renkte kenarlık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143000"/>
            <a:ext cx="7772400" cy="1815882"/>
          </a:xfrm>
          <a:prstGeom prst="rect">
            <a:avLst/>
          </a:prstGeom>
          <a:noFill/>
        </p:spPr>
        <p:txBody>
          <a:bodyPr wrap="square" rtlCol="0">
            <a:spAutoFit/>
          </a:bodyPr>
          <a:lstStyle/>
          <a:p>
            <a:r>
              <a:rPr lang="tr-TR" sz="1600" dirty="0" smtClean="0"/>
              <a:t>Tablo kenarlıklarının genişliği, stili veya rengini değiştirmek için </a:t>
            </a:r>
          </a:p>
          <a:p>
            <a:pPr marL="285750" indent="-285750">
              <a:buFont typeface="Arial" pitchFamily="34" charset="0"/>
              <a:buChar char="•"/>
            </a:pPr>
            <a:r>
              <a:rPr lang="tr-TR" sz="1600" b="1" dirty="0"/>
              <a:t>Giriş</a:t>
            </a:r>
            <a:r>
              <a:rPr lang="tr-TR" sz="1600" dirty="0"/>
              <a:t> sekmesi </a:t>
            </a:r>
            <a:r>
              <a:rPr lang="tr-TR" sz="1600" b="1" dirty="0"/>
              <a:t>Paragraf</a:t>
            </a:r>
            <a:r>
              <a:rPr lang="tr-TR" sz="1600" dirty="0"/>
              <a:t> komut grubundaki </a:t>
            </a:r>
            <a:r>
              <a:rPr lang="tr-TR" sz="1600" b="1" dirty="0"/>
              <a:t>Kenarlıklar ve Gölgelendirme komutu </a:t>
            </a:r>
            <a:r>
              <a:rPr lang="tr-TR" sz="1600" dirty="0"/>
              <a:t>açılır menüsü</a:t>
            </a:r>
          </a:p>
          <a:p>
            <a:pPr marL="285750" indent="-285750">
              <a:buFont typeface="Arial" pitchFamily="34" charset="0"/>
              <a:buChar char="•"/>
            </a:pPr>
            <a:r>
              <a:rPr lang="tr-TR" sz="1600" b="1" dirty="0" smtClean="0"/>
              <a:t>Tasarım Bağlamsal</a:t>
            </a:r>
            <a:r>
              <a:rPr lang="tr-TR" sz="1600" dirty="0" smtClean="0"/>
              <a:t> </a:t>
            </a:r>
            <a:r>
              <a:rPr lang="tr-TR" sz="1600" dirty="0"/>
              <a:t>sekmesi </a:t>
            </a:r>
            <a:r>
              <a:rPr lang="tr-TR" sz="1600" b="1" dirty="0" smtClean="0"/>
              <a:t>Tablo Stili </a:t>
            </a:r>
            <a:r>
              <a:rPr lang="tr-TR" sz="1600" dirty="0" smtClean="0"/>
              <a:t> </a:t>
            </a:r>
            <a:r>
              <a:rPr lang="tr-TR" sz="1600" dirty="0"/>
              <a:t>komut grubundaki </a:t>
            </a:r>
            <a:r>
              <a:rPr lang="tr-TR" sz="1600" b="1" dirty="0"/>
              <a:t>Kenarlıklar ve Gölgelendirme komutu </a:t>
            </a:r>
            <a:r>
              <a:rPr lang="tr-TR" sz="1600" dirty="0"/>
              <a:t>açılır </a:t>
            </a:r>
            <a:r>
              <a:rPr lang="tr-TR" sz="1600" dirty="0" smtClean="0"/>
              <a:t>menüsü</a:t>
            </a:r>
          </a:p>
          <a:p>
            <a:pPr marL="285750" indent="-285750">
              <a:buFont typeface="Arial" pitchFamily="34" charset="0"/>
              <a:buChar char="•"/>
            </a:pPr>
            <a:r>
              <a:rPr lang="tr-TR" sz="1600" b="1" dirty="0"/>
              <a:t>Kenarlık ve Gölgelendirme </a:t>
            </a:r>
            <a:r>
              <a:rPr lang="tr-TR" sz="1600" dirty="0"/>
              <a:t>iletişim penceresi </a:t>
            </a:r>
            <a:endParaRPr lang="tr-TR" sz="1600" dirty="0" smtClean="0"/>
          </a:p>
          <a:p>
            <a:pPr marL="285750" indent="-285750">
              <a:buFont typeface="Arial" pitchFamily="34" charset="0"/>
              <a:buChar char="•"/>
            </a:pPr>
            <a:r>
              <a:rPr lang="tr-TR" sz="1600" b="1" dirty="0"/>
              <a:t>Tasarım Bağlamsal</a:t>
            </a:r>
            <a:r>
              <a:rPr lang="tr-TR" sz="1600" dirty="0"/>
              <a:t> sekmesi </a:t>
            </a:r>
            <a:r>
              <a:rPr lang="tr-TR" sz="1600" b="1" dirty="0"/>
              <a:t>Tablo Stili </a:t>
            </a:r>
            <a:r>
              <a:rPr lang="tr-TR" sz="1600" dirty="0"/>
              <a:t> komut grubundaki </a:t>
            </a:r>
            <a:r>
              <a:rPr lang="tr-TR" sz="1600" b="1" dirty="0" smtClean="0"/>
              <a:t>Galeri </a:t>
            </a:r>
            <a:r>
              <a:rPr lang="tr-TR" sz="1600" dirty="0" smtClean="0"/>
              <a:t>kullanılır</a:t>
            </a:r>
            <a:endParaRPr lang="tr-TR" sz="1600" dirty="0"/>
          </a:p>
        </p:txBody>
      </p:sp>
      <p:pic>
        <p:nvPicPr>
          <p:cNvPr id="16" name="Resim 15" descr="Açıklama: Açıklama: C:\Users\MY\AppData\Local\Temp\SNAGHTML5b64ee8.PNG"/>
          <p:cNvPicPr/>
          <p:nvPr/>
        </p:nvPicPr>
        <p:blipFill>
          <a:blip r:embed="rId11">
            <a:extLst>
              <a:ext uri="{28A0092B-C50C-407E-A947-70E740481C1C}">
                <a14:useLocalDpi xmlns:a14="http://schemas.microsoft.com/office/drawing/2010/main" val="0"/>
              </a:ext>
            </a:extLst>
          </a:blip>
          <a:srcRect/>
          <a:stretch>
            <a:fillRect/>
          </a:stretch>
        </p:blipFill>
        <p:spPr bwMode="auto">
          <a:xfrm>
            <a:off x="600341" y="3200399"/>
            <a:ext cx="5743575" cy="2638425"/>
          </a:xfrm>
          <a:prstGeom prst="rect">
            <a:avLst/>
          </a:prstGeom>
          <a:noFill/>
          <a:ln>
            <a:noFill/>
          </a:ln>
        </p:spPr>
      </p:pic>
    </p:spTree>
    <p:custDataLst>
      <p:tags r:id="rId1"/>
    </p:custDataLst>
    <p:extLst>
      <p:ext uri="{BB962C8B-B14F-4D97-AF65-F5344CB8AC3E}">
        <p14:creationId xmlns:p14="http://schemas.microsoft.com/office/powerpoint/2010/main" val="29100053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Hücreye Gölgeleme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pt-BR" sz="1400" b="1" dirty="0">
                <a:solidFill>
                  <a:schemeClr val="bg1"/>
                </a:solidFill>
              </a:rPr>
              <a:t>Tabloya gölgeleme 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143000"/>
            <a:ext cx="7772400" cy="1323439"/>
          </a:xfrm>
          <a:prstGeom prst="rect">
            <a:avLst/>
          </a:prstGeom>
          <a:noFill/>
        </p:spPr>
        <p:txBody>
          <a:bodyPr wrap="square" rtlCol="0">
            <a:spAutoFit/>
          </a:bodyPr>
          <a:lstStyle/>
          <a:p>
            <a:r>
              <a:rPr lang="tr-TR" sz="1600" dirty="0" smtClean="0"/>
              <a:t>Tablodaki hücreleri gölgeli yapmak için</a:t>
            </a:r>
          </a:p>
          <a:p>
            <a:pPr marL="285750" indent="-285750">
              <a:buFont typeface="Arial" pitchFamily="34" charset="0"/>
              <a:buChar char="•"/>
            </a:pPr>
            <a:r>
              <a:rPr lang="tr-TR" sz="1600" b="1" dirty="0"/>
              <a:t>Giriş</a:t>
            </a:r>
            <a:r>
              <a:rPr lang="tr-TR" sz="1600" dirty="0"/>
              <a:t> sekmesi </a:t>
            </a:r>
            <a:r>
              <a:rPr lang="tr-TR" sz="1600" b="1" dirty="0"/>
              <a:t>Paragraf</a:t>
            </a:r>
            <a:r>
              <a:rPr lang="tr-TR" sz="1600" dirty="0"/>
              <a:t> komut grubundaki </a:t>
            </a:r>
            <a:r>
              <a:rPr lang="tr-TR" sz="1600" b="1" dirty="0" smtClean="0"/>
              <a:t> </a:t>
            </a:r>
            <a:r>
              <a:rPr lang="tr-TR" sz="1600" b="1" dirty="0"/>
              <a:t>Gölgelendirme komutu </a:t>
            </a:r>
            <a:endParaRPr lang="tr-TR" sz="1600" dirty="0"/>
          </a:p>
          <a:p>
            <a:pPr marL="285750" indent="-285750">
              <a:buFont typeface="Arial" pitchFamily="34" charset="0"/>
              <a:buChar char="•"/>
            </a:pPr>
            <a:r>
              <a:rPr lang="tr-TR" sz="1600" b="1" dirty="0"/>
              <a:t>Tasarım Bağlamsal</a:t>
            </a:r>
            <a:r>
              <a:rPr lang="tr-TR" sz="1600" dirty="0"/>
              <a:t> sekmesi </a:t>
            </a:r>
            <a:r>
              <a:rPr lang="tr-TR" sz="1600" b="1" dirty="0"/>
              <a:t>Tablo Stili </a:t>
            </a:r>
            <a:r>
              <a:rPr lang="tr-TR" sz="1600" dirty="0"/>
              <a:t> komut </a:t>
            </a:r>
            <a:r>
              <a:rPr lang="tr-TR" sz="1600" dirty="0" smtClean="0"/>
              <a:t>grubundaki </a:t>
            </a:r>
            <a:r>
              <a:rPr lang="tr-TR" sz="1600" b="1" dirty="0" smtClean="0"/>
              <a:t>Gölgelendirme </a:t>
            </a:r>
            <a:r>
              <a:rPr lang="tr-TR" sz="1600" b="1" dirty="0"/>
              <a:t>komutu </a:t>
            </a:r>
            <a:endParaRPr lang="tr-TR" sz="1600" dirty="0" smtClean="0"/>
          </a:p>
          <a:p>
            <a:pPr marL="285750" indent="-285750">
              <a:buFont typeface="Arial" pitchFamily="34" charset="0"/>
              <a:buChar char="•"/>
            </a:pPr>
            <a:r>
              <a:rPr lang="tr-TR" sz="1600" b="1" dirty="0" smtClean="0"/>
              <a:t>Kenarlık ve Gölgelendirme </a:t>
            </a:r>
            <a:r>
              <a:rPr lang="tr-TR" sz="1600" dirty="0" smtClean="0"/>
              <a:t>iletişim penceresi </a:t>
            </a:r>
          </a:p>
          <a:p>
            <a:pPr marL="285750" indent="-285750">
              <a:buFont typeface="Arial" pitchFamily="34" charset="0"/>
              <a:buChar char="•"/>
            </a:pPr>
            <a:r>
              <a:rPr lang="tr-TR" sz="1600" b="1" dirty="0" smtClean="0"/>
              <a:t>Tasarım </a:t>
            </a:r>
            <a:r>
              <a:rPr lang="tr-TR" sz="1600" b="1" dirty="0"/>
              <a:t>Bağlamsal</a:t>
            </a:r>
            <a:r>
              <a:rPr lang="tr-TR" sz="1600" dirty="0"/>
              <a:t> sekmesi </a:t>
            </a:r>
            <a:r>
              <a:rPr lang="tr-TR" sz="1600" b="1" dirty="0"/>
              <a:t>Tablo Stili </a:t>
            </a:r>
            <a:r>
              <a:rPr lang="tr-TR" sz="1600" dirty="0"/>
              <a:t> komut grubundaki </a:t>
            </a:r>
            <a:r>
              <a:rPr lang="tr-TR" sz="1600" b="1" dirty="0"/>
              <a:t>Galeri </a:t>
            </a:r>
            <a:r>
              <a:rPr lang="tr-TR" sz="1600" dirty="0" smtClean="0"/>
              <a:t>kullanılır</a:t>
            </a:r>
            <a:endParaRPr lang="tr-TR" sz="1600" b="1" dirty="0"/>
          </a:p>
        </p:txBody>
      </p:sp>
      <p:pic>
        <p:nvPicPr>
          <p:cNvPr id="5122" name="Picture 2" descr="C:\Users\YILMAZ\AppData\Local\Temp\SNAGHTML1f78e63.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2562657"/>
            <a:ext cx="2419350" cy="317182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YILMAZ\AppData\Local\Temp\SNAGHTML1f8c72f.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2800" y="2562657"/>
            <a:ext cx="5143500" cy="4114801"/>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3414" y="2562657"/>
            <a:ext cx="5895975"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8649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12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Belgeye Resim, Görüntü veya Grafik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nn-NO" sz="1400" b="1" dirty="0">
                <a:solidFill>
                  <a:schemeClr val="bg1"/>
                </a:solidFill>
              </a:rPr>
              <a:t>Word belgesine resim, görüntü ve grafik 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558778" y="1143000"/>
            <a:ext cx="7772400" cy="584775"/>
          </a:xfrm>
          <a:prstGeom prst="rect">
            <a:avLst/>
          </a:prstGeom>
          <a:noFill/>
        </p:spPr>
        <p:txBody>
          <a:bodyPr wrap="square" rtlCol="0">
            <a:spAutoFit/>
          </a:bodyPr>
          <a:lstStyle/>
          <a:p>
            <a:r>
              <a:rPr lang="tr-TR" sz="1600" dirty="0" smtClean="0"/>
              <a:t>Word belgesinde resim, görüntü ve grafik eklemek için </a:t>
            </a:r>
          </a:p>
          <a:p>
            <a:r>
              <a:rPr lang="tr-TR" sz="1600" b="1" dirty="0"/>
              <a:t>Ekle </a:t>
            </a:r>
            <a:r>
              <a:rPr lang="tr-TR" sz="1600" b="1" dirty="0" smtClean="0"/>
              <a:t>sekmesi</a:t>
            </a:r>
            <a:r>
              <a:rPr lang="tr-TR" sz="1600" dirty="0" smtClean="0"/>
              <a:t>&gt; </a:t>
            </a:r>
            <a:r>
              <a:rPr lang="tr-TR" sz="1600" b="1" dirty="0"/>
              <a:t>Çizimler</a:t>
            </a:r>
            <a:r>
              <a:rPr lang="tr-TR" sz="1600" dirty="0"/>
              <a:t> </a:t>
            </a:r>
            <a:r>
              <a:rPr lang="tr-TR" sz="1600" dirty="0" smtClean="0"/>
              <a:t>komut grubu kullanılır</a:t>
            </a:r>
            <a:endParaRPr lang="tr-TR" sz="1600" b="1" dirty="0"/>
          </a:p>
        </p:txBody>
      </p:sp>
      <p:pic>
        <p:nvPicPr>
          <p:cNvPr id="13" name="Resim 12" descr="Açıklama: C:\Users\MY\AppData\Local\Temp\SNAGHTML5caed78.PNG"/>
          <p:cNvPicPr/>
          <p:nvPr/>
        </p:nvPicPr>
        <p:blipFill>
          <a:blip r:embed="rId11">
            <a:extLst>
              <a:ext uri="{28A0092B-C50C-407E-A947-70E740481C1C}">
                <a14:useLocalDpi xmlns:a14="http://schemas.microsoft.com/office/drawing/2010/main" val="0"/>
              </a:ext>
            </a:extLst>
          </a:blip>
          <a:srcRect/>
          <a:stretch>
            <a:fillRect/>
          </a:stretch>
        </p:blipFill>
        <p:spPr bwMode="auto">
          <a:xfrm>
            <a:off x="600341" y="1828800"/>
            <a:ext cx="4962525" cy="1314450"/>
          </a:xfrm>
          <a:prstGeom prst="rect">
            <a:avLst/>
          </a:prstGeom>
          <a:noFill/>
          <a:ln>
            <a:noFill/>
          </a:ln>
        </p:spPr>
      </p:pic>
      <p:pic>
        <p:nvPicPr>
          <p:cNvPr id="6148" name="Picture 4" descr="C:\Users\YILMAZ\AppData\Local\Temp\SNAGHTML20bd794.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341" y="1828800"/>
            <a:ext cx="5953125" cy="447675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Users\YILMAZ\AppData\Local\Temp\SNAGHTML20fe366.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0341" y="1828800"/>
            <a:ext cx="3524250" cy="46386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YILMAZ\AppData\Local\Temp\SNAGHTML55ef9d.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0341" y="1828800"/>
            <a:ext cx="7058025" cy="37147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ILMAZ\AppData\Local\Temp\SNAGHTML587723.PN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0202" y="1843087"/>
            <a:ext cx="5419725" cy="368617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YILMAZ\AppData\Local\Temp\SNAGHTML5ca5e1.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93466" y="914400"/>
            <a:ext cx="2520000" cy="607714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51529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614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615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02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02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 İçerisinde Resim, Görüntü veya Grafik Seçmek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Belgede resim, görüntü ve grafikleri seçer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11</a:t>
            </a:fld>
            <a:endParaRPr lang="tr-TR"/>
          </a:p>
        </p:txBody>
      </p:sp>
      <p:sp>
        <p:nvSpPr>
          <p:cNvPr id="7" name="Metin kutusu 6"/>
          <p:cNvSpPr txBox="1"/>
          <p:nvPr>
            <p:custDataLst>
              <p:tags r:id="rId5"/>
            </p:custDataLst>
          </p:nvPr>
        </p:nvSpPr>
        <p:spPr>
          <a:xfrm>
            <a:off x="533400" y="1371600"/>
            <a:ext cx="7772400" cy="338554"/>
          </a:xfrm>
          <a:prstGeom prst="rect">
            <a:avLst/>
          </a:prstGeom>
          <a:noFill/>
        </p:spPr>
        <p:txBody>
          <a:bodyPr wrap="square" rtlCol="0">
            <a:spAutoFit/>
          </a:bodyPr>
          <a:lstStyle/>
          <a:p>
            <a:r>
              <a:rPr lang="tr-TR" sz="1600" dirty="0" smtClean="0"/>
              <a:t>Nesne seçmek için Fare İşaretçisini nesnenin üzerine tıklayın.</a:t>
            </a:r>
            <a:endParaRPr lang="tr-TR" sz="1600" dirty="0"/>
          </a:p>
        </p:txBody>
      </p:sp>
      <p:pic>
        <p:nvPicPr>
          <p:cNvPr id="13" name="Resim 12" descr="C:\Users\MY\AppData\Local\Temp\SNAGHTML8a5b6a.PNG"/>
          <p:cNvPicPr/>
          <p:nvPr/>
        </p:nvPicPr>
        <p:blipFill>
          <a:blip r:embed="rId11">
            <a:extLst>
              <a:ext uri="{28A0092B-C50C-407E-A947-70E740481C1C}">
                <a14:useLocalDpi xmlns:a14="http://schemas.microsoft.com/office/drawing/2010/main" val="0"/>
              </a:ext>
            </a:extLst>
          </a:blip>
          <a:srcRect/>
          <a:stretch>
            <a:fillRect/>
          </a:stretch>
        </p:blipFill>
        <p:spPr bwMode="auto">
          <a:xfrm>
            <a:off x="600341" y="1956375"/>
            <a:ext cx="2352675" cy="1400175"/>
          </a:xfrm>
          <a:prstGeom prst="rect">
            <a:avLst/>
          </a:prstGeom>
          <a:noFill/>
          <a:ln>
            <a:noFill/>
          </a:ln>
        </p:spPr>
      </p:pic>
      <p:pic>
        <p:nvPicPr>
          <p:cNvPr id="14" name="Resim 13" descr="C:\Users\MY\AppData\Local\Temp\SNAGHTML8eee47.PNG"/>
          <p:cNvPicPr/>
          <p:nvPr/>
        </p:nvPicPr>
        <p:blipFill>
          <a:blip r:embed="rId12">
            <a:extLst>
              <a:ext uri="{28A0092B-C50C-407E-A947-70E740481C1C}">
                <a14:useLocalDpi xmlns:a14="http://schemas.microsoft.com/office/drawing/2010/main" val="0"/>
              </a:ext>
            </a:extLst>
          </a:blip>
          <a:srcRect/>
          <a:stretch>
            <a:fillRect/>
          </a:stretch>
        </p:blipFill>
        <p:spPr bwMode="auto">
          <a:xfrm>
            <a:off x="600341" y="3581400"/>
            <a:ext cx="2228850" cy="1457325"/>
          </a:xfrm>
          <a:prstGeom prst="rect">
            <a:avLst/>
          </a:prstGeom>
          <a:noFill/>
          <a:ln>
            <a:noFill/>
          </a:ln>
        </p:spPr>
      </p:pic>
    </p:spTree>
    <p:custDataLst>
      <p:tags r:id="rId1"/>
    </p:custDataLst>
    <p:extLst>
      <p:ext uri="{BB962C8B-B14F-4D97-AF65-F5344CB8AC3E}">
        <p14:creationId xmlns:p14="http://schemas.microsoft.com/office/powerpoint/2010/main" val="61233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 İçerisinde veya Açık Belgeler Arasında Resim, Görüntü veya Grafik </a:t>
            </a:r>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Kopyalamak, Taşımak</a:t>
            </a:r>
            <a:endPar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nb-NO" sz="1400" b="1" dirty="0">
                <a:solidFill>
                  <a:schemeClr val="bg1"/>
                </a:solidFill>
              </a:rPr>
              <a:t>Resim, görüntü ve grafikleri belge içinde veya belgeler arasında kopyalar ve taşır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12</a:t>
            </a:fld>
            <a:endParaRPr lang="tr-TR"/>
          </a:p>
        </p:txBody>
      </p:sp>
      <p:sp>
        <p:nvSpPr>
          <p:cNvPr id="7" name="Metin kutusu 6"/>
          <p:cNvSpPr txBox="1"/>
          <p:nvPr>
            <p:custDataLst>
              <p:tags r:id="rId5"/>
            </p:custDataLst>
          </p:nvPr>
        </p:nvSpPr>
        <p:spPr>
          <a:xfrm>
            <a:off x="533400" y="1098810"/>
            <a:ext cx="7772400" cy="1077218"/>
          </a:xfrm>
          <a:prstGeom prst="rect">
            <a:avLst/>
          </a:prstGeom>
          <a:noFill/>
        </p:spPr>
        <p:txBody>
          <a:bodyPr wrap="square" rtlCol="0">
            <a:spAutoFit/>
          </a:bodyPr>
          <a:lstStyle/>
          <a:p>
            <a:r>
              <a:rPr lang="tr-TR" sz="1600" dirty="0"/>
              <a:t>Kopyalamak, kesmek ve yapıştırmak işlemleri </a:t>
            </a:r>
          </a:p>
          <a:p>
            <a:r>
              <a:rPr lang="tr-TR" sz="1600" b="1" dirty="0"/>
              <a:t>Giriş sekmesi&gt;Pano komut grubu</a:t>
            </a:r>
          </a:p>
          <a:p>
            <a:r>
              <a:rPr lang="tr-TR" sz="1600" b="1" dirty="0"/>
              <a:t>Fare sağ tuşuna tıkladığımızda açılan </a:t>
            </a:r>
            <a:r>
              <a:rPr lang="tr-TR" sz="1600" b="1" dirty="0" err="1"/>
              <a:t>kısayol</a:t>
            </a:r>
            <a:r>
              <a:rPr lang="tr-TR" sz="1600" b="1" dirty="0"/>
              <a:t> menüsü</a:t>
            </a:r>
          </a:p>
          <a:p>
            <a:r>
              <a:rPr lang="tr-TR" sz="1600" b="1" dirty="0"/>
              <a:t>Klavye </a:t>
            </a:r>
            <a:r>
              <a:rPr lang="tr-TR" sz="1600" b="1" dirty="0" err="1"/>
              <a:t>kısayollları</a:t>
            </a:r>
            <a:r>
              <a:rPr lang="tr-TR" sz="1600" b="1" dirty="0"/>
              <a:t> </a:t>
            </a:r>
          </a:p>
        </p:txBody>
      </p:sp>
      <p:pic>
        <p:nvPicPr>
          <p:cNvPr id="2050" name="Picture 2" descr="C:\Users\YILMAZ\AppData\Local\Temp\SNAGHTML11912e9.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4410074"/>
            <a:ext cx="6229350" cy="244792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YILMAZ\AppData\Local\Temp\SNAGHTMLaeb1e4.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341" y="2165637"/>
            <a:ext cx="2257425" cy="22098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YILMAZ\AppData\Local\Temp\SNAGHTML11b60da.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57800" y="1672055"/>
            <a:ext cx="3457575" cy="263842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6796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Resim, Görüntü veya Grafiğin Büyüklüğünü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Belgede resim, görüntü ve grafikleri biçimlendirir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13</a:t>
            </a:fld>
            <a:endParaRPr lang="tr-TR"/>
          </a:p>
        </p:txBody>
      </p:sp>
      <p:sp>
        <p:nvSpPr>
          <p:cNvPr id="7" name="Metin kutusu 6"/>
          <p:cNvSpPr txBox="1"/>
          <p:nvPr>
            <p:custDataLst>
              <p:tags r:id="rId5"/>
            </p:custDataLst>
          </p:nvPr>
        </p:nvSpPr>
        <p:spPr>
          <a:xfrm>
            <a:off x="533400" y="1371600"/>
            <a:ext cx="4714009" cy="830997"/>
          </a:xfrm>
          <a:prstGeom prst="rect">
            <a:avLst/>
          </a:prstGeom>
          <a:noFill/>
        </p:spPr>
        <p:txBody>
          <a:bodyPr wrap="square" rtlCol="0">
            <a:spAutoFit/>
          </a:bodyPr>
          <a:lstStyle/>
          <a:p>
            <a:r>
              <a:rPr lang="tr-TR" sz="1600" dirty="0" smtClean="0"/>
              <a:t>Nesneleri biçimlendirmek için </a:t>
            </a:r>
          </a:p>
          <a:p>
            <a:pPr marL="285750" indent="-285750">
              <a:buFont typeface="Arial" pitchFamily="34" charset="0"/>
              <a:buChar char="•"/>
            </a:pPr>
            <a:r>
              <a:rPr lang="tr-TR" sz="1600" b="1" dirty="0" smtClean="0"/>
              <a:t>Bağlamsal </a:t>
            </a:r>
            <a:r>
              <a:rPr lang="tr-TR" sz="1600" dirty="0" smtClean="0"/>
              <a:t>sekmeler </a:t>
            </a:r>
          </a:p>
          <a:p>
            <a:pPr marL="285750" indent="-285750">
              <a:buFont typeface="Arial" pitchFamily="34" charset="0"/>
              <a:buChar char="•"/>
            </a:pPr>
            <a:r>
              <a:rPr lang="tr-TR" sz="1600" b="1" dirty="0" smtClean="0"/>
              <a:t>Fare işaretçisi </a:t>
            </a:r>
            <a:r>
              <a:rPr lang="tr-TR" sz="1600" dirty="0" err="1" smtClean="0"/>
              <a:t>kısayol</a:t>
            </a:r>
            <a:r>
              <a:rPr lang="tr-TR" sz="1600" dirty="0" smtClean="0"/>
              <a:t> menüsü kullanılır.</a:t>
            </a:r>
          </a:p>
        </p:txBody>
      </p:sp>
      <p:pic>
        <p:nvPicPr>
          <p:cNvPr id="3076" name="Picture 4" descr="C:\Users\YILMAZ\AppData\Local\Temp\SNAGHTML1251634.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2209800"/>
            <a:ext cx="8305800" cy="13525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Users\YILMAZ\AppData\Local\Temp\SNAGHTML125d4d1.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0341" y="2209800"/>
            <a:ext cx="8372475" cy="135255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Users\YILMAZ\AppData\Local\Temp\SNAGHTML126d53e.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7659" y="2209800"/>
            <a:ext cx="8543659" cy="11665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YILMAZ\AppData\Local\Temp\SNAGHTML132eb3e.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3023" y="2209800"/>
            <a:ext cx="2819400" cy="420052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33800" y="3886200"/>
            <a:ext cx="33147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42154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08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07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307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Resim, Görüntü ve Grafiğin Silinmesi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Belgedeki resim, görüntü ve grafikleri siler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14</a:t>
            </a:fld>
            <a:endParaRPr lang="tr-TR"/>
          </a:p>
        </p:txBody>
      </p:sp>
      <p:sp>
        <p:nvSpPr>
          <p:cNvPr id="7" name="Metin kutusu 6"/>
          <p:cNvSpPr txBox="1"/>
          <p:nvPr>
            <p:custDataLst>
              <p:tags r:id="rId5"/>
            </p:custDataLst>
          </p:nvPr>
        </p:nvSpPr>
        <p:spPr>
          <a:xfrm>
            <a:off x="533400" y="1371600"/>
            <a:ext cx="7772400" cy="830997"/>
          </a:xfrm>
          <a:prstGeom prst="rect">
            <a:avLst/>
          </a:prstGeom>
          <a:noFill/>
        </p:spPr>
        <p:txBody>
          <a:bodyPr wrap="square" rtlCol="0">
            <a:spAutoFit/>
          </a:bodyPr>
          <a:lstStyle/>
          <a:p>
            <a:r>
              <a:rPr lang="tr-TR" sz="1600" dirty="0" smtClean="0"/>
              <a:t>Nesneleri silmek için</a:t>
            </a:r>
          </a:p>
          <a:p>
            <a:pPr marL="285750" indent="-285750">
              <a:buFont typeface="Arial" pitchFamily="34" charset="0"/>
              <a:buChar char="•"/>
            </a:pPr>
            <a:r>
              <a:rPr lang="tr-TR" sz="1600" b="1" dirty="0" err="1" smtClean="0"/>
              <a:t>Delete</a:t>
            </a:r>
            <a:endParaRPr lang="tr-TR" sz="1600" b="1" dirty="0" smtClean="0"/>
          </a:p>
          <a:p>
            <a:pPr marL="285750" indent="-285750">
              <a:buFont typeface="Arial" pitchFamily="34" charset="0"/>
              <a:buChar char="•"/>
            </a:pPr>
            <a:r>
              <a:rPr lang="tr-TR" sz="1600" b="1" dirty="0" smtClean="0"/>
              <a:t>Geri</a:t>
            </a:r>
            <a:r>
              <a:rPr lang="tr-TR" sz="1600" dirty="0" smtClean="0"/>
              <a:t> tuşları kullanılır</a:t>
            </a:r>
            <a:endParaRPr lang="tr-TR" sz="1600" dirty="0"/>
          </a:p>
        </p:txBody>
      </p:sp>
      <p:pic>
        <p:nvPicPr>
          <p:cNvPr id="2050" name="Picture 2" descr="C:\Users\YILMAZ\AppData\Local\Temp\SNAGHTML141d4c2.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1500" y="2286000"/>
            <a:ext cx="6172200" cy="38481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2486675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38498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NSOtG2h+Wo4Yea0YYdtfKHo7jUj/4DViKGpEh9qsJDQVsMSGrCR09I/8AvmpUWqsZ35iHyaesfpVoW5YrVqGxLc4rTQLFJbc1E1uVNb6afwxxwOrN91apX0kFrcpbySRJcSjdHE0iq7j/AGV3ZNaKMiTN8sN2208Q1fhs5LjgROzd1UbttSmx2r33f7VFgMjyR81RvD7VpyWZzVWWMrxipAoGGoHhrRMf03VAY6AM54/mqvJHWpNHVN46kDMkj71Tlj2tWrJHzVK5joKRfhhq7FH92oo19quQrWKRWyHJHtqxHHQkftViGGqRPxAkO7rVqCz3N0qeC39q1LO1RQxchEQb3kb5VCj7zNV7j2IobOOFGllkjggiBaSWV1VEA+8WZvuivBviX+1xpGg2k8PhGzXVrtJAgvrwbYWz/FEgbL+uWwPl/irzL48fHi/+KmpPonhx3tfCVtNsjZQfN1B/u73X+5n7iN16/Sl4V+H8U2sQXOqRo+EDvuT5t5+bbt6Db92vUpYdQhz1DCMnWnyQM65X4ofHC98zWNZuX0452W0aCKFF/uqibR+LZq5c/sw6nGkVxPd3c86JtH7xmbA/hXNfSvhKaz02FLeCBIlxtCqK9LsrOO+tU3w/NnlVHzGodXXQ9ylgI294+M7H9nvxppNn5+n6pqunpcHZttp3XzlT7u7Dcla35PGHxg+Gs/73V4/GGlxBGK3MCu+30Ztu8fXcfu19veHvCsUltLFLAJYid3lt3qLVfgLpsl6t3BA8DZ3mJ3+V/mzg+1HMp7o0lgIbRPFvh38UtA+Jlp/xLrkJqkMKvdabL8ssLfxfUbu61001vu3HHzVQ+Ln7J4a8t/GHgZB4f8b6e/mwsp/0e/X+KGZR03fd3f7XzVF4P8WR+NvD0Gox27WF0rvb32nyt+9s7lOJY291b9Ntc0oreJ5VWhOi9R7x7TyKjeP5ulXrlTvziq7x96yMCnNGP+BVUmWrsymqr0mBSK1Vmj3VoOtVXj+9SAvRx1bjjpIY6tRR1BXxCxx1ft4aihhrRhjoWppsS20PtXmn7VPiiTwv8Hri3t5ZYrjVp0stsBw7x/ecf8CVcf8AAq9Xs49x714P+2ZDHdaf4LsRI6Tma5lH8S7dqL/OuuhFOokY1HofO3gFpJr61uLa3EXlDyVlkCthj8zfXaPlr3OaxFvbW8ifLsAQ8LXlnhLSxY6lAkW6VvM3bsc//Wr2GaMyWjx4DN/KvQxdRu0DfAUkryLejSXEc8En3kA+9Xvfw3jF9NbiVyqsN2+vJvDOima1i8xBGgx8znbur2LwTara7BGSr5ChlfctcEIyZ9JCcUrHu2m6PZ2Ig2JI7uOdu3/IrpodHtb5TKUVONsa55H1xWDolrczWls4bfgbSzen92tI3kzJ5YjXzUO0bY/l/wDQq7YWS1RyNTk9yl4k0X7NbPkhkP8AKvkDxhYnwf8AtD3CInkaX4s00XUe0fK95B8r/js2n/gVfYOu3E1xbeXISxYcqydK+Z/2kNLgV/BuquNs9hrsKxsp2tiRGRh/wJttcuntOVGWJTlR97oZssYbdkVVlh+9WtNCVdhj5s1A8frXNJWPG+yY00Py/wB7iqDrs4rZnj21Skh71BJnND/wGqskfzcVpOtVZo6AL0S1ft46qwrWlBHtFYmkdiWKP7tXYYxUMS81dt491bL4Si7ZR7dvBr56/a4kS18aeCo5HDq1lMxRQGWP51Pzehb+H2WvpPSoRJcxIf4nVWr4o1m8HjLxR4lvr2Odp7nXJ0XaW3Q4dlX6BQqrWlGXJUTN6WFeIhLW1jO8JRyr4guLjz/P3/c3H7v+7XpF/cT2emtLbwefdY4Xd8u6vL/BUwh8Y6pZ5+S2c7tw9fu/+O19AeANPstYScXKb3cMic9K7KjUp8zOihBqlyrc89t9L0RiNT+Ivi+WysscRLOYkjH91FFRarY+Do2g8QfCn4z6q8nmbBZ6raXCQl/7iXDqqH7rcbv4a9Guf2a4da1u31GeC3v9RhJVFupG8pV/2Owr1v4ffBbRfCHhLUvD9x4O0xNE1aQXF/BFcuPPkH3X2oqnevzbTu+XdXXTqK3Yh0pcxxvwN+P3ixdWg07xFfxXkrExFoBs/wD1n/ar3n4ufFTWPhloEV9BAbq6nTMCsfvtivi7XPDMHw/+KL3OhvPFpzXaKLWebe8X/Au5r6r+MfwlP7Qnw90W0k1W60ieC0laN7V+ZH2qu3du4+rVzqU29D1uS1K557oX7Tnxv8dToLP4VT+RHnzrqJFaFk/vby3X/d5/2ateK/E0Hxc8IeF5Liyl0jUYfElpa6ppk52vDMm9+/OGCq49mryXwz+z18RPhVomPAXi3xB/wk9td7xbam7xW08AHzQvFueNyWLfvFYfdWvadNsbi6urDWb22lsr2+k864ikTbyls6fN/utK3/fNXWcY+p5T5/ZvsWrmPdIxI+8fSqtxH/3zWhOvzZqpOvFeXc8xGPOv0qpNH8taU0e5lqncLtHSkyzLmXjFVX96vT1VmWpuQX7aP561EX7tUbSP5qvovSst2bE9uvNaVvHVK2/hrShWtLgX7L5XQ/xKa+Hf2itJ1Dwn8TPEMVl5q6dLqT3120A+eKGcJKr7R2++N3+zX3FB8tecfG34Q3PjKS18U6HHF/ben2rwXaOdvn2w5+XPBK/N8rdRThozuwlVU5OL6nzWLOzh8UXGp2c5lgnt4kj2/dZNu5W/KvTPAt5Jp8qTEnb3rzN9kl+s6fMroNrKNu75f7vau30O6NvYJH97ncGavRS5kbwqKnOx9H+C/FAuJ4EPzKx3hcV6/qrRQ6Bdaje3nkJHAcN6fLXzP8M5nmnil/5ZgrlmO2u58efECy1LwxcWQkzmMxbZB8rfw/ifmojf4T0KlWkrM+c11qfxVrzauiRvobzZTzc7pAD9/wBq+5vh5fbvB3hy+E0P2Tz/AC02SbiFIb71fnTYfs86xr98Ro11qDw6ZB/ojNcSDyY933eDg46DI/76r6n+AHgkrp2mS614nvp7e6tPPs7aIhIUmO4Avjk7PT1b/ZrZQklsYfWYzfLfQ+qtWsbSeJpJIo9/Z8fN/wDXrxD4hWpuPEmjOJXW3so7h0iU7VdnCp83rt+avUNO1GX+w4rW4kEt1D8jyKRj615f4lmF1qpx91E27fT5jXLV1Ma7VOm7dTDkXdxVW4X5atdmqCX7tcV7ngmXMu2qVytaE681UkXcuaGykZMy1Vf0q7cL/wACqlJ1qQZr233avItU7fpV+KoQyzbrzWlCtULdecDNaFv1qyy5bLtbit7SofMfy3wyOCp4/hK7ayLZa5z4ufELXPhz4Nlv/C2jWviHxKwd7fTrssqyImN/yjaSfm4HeqpU51JWjuZyaitT4+jj8t2Cjd5Llf8AawDXUWFxG1n5W/a4Zfm/2a5jR75NYsIb+IhluU811Ufcc/MyY7bW+Xa1TrIY7vptVf4s16VL3fdkdUpdT6I+Dlnb+ItHurB5/st1GN6OoX5z6NmvLPiTpvjvw743ntRLpV/pchDWS3kjQr/tbnCsD+la3w38WR2c3lEpE5Krvx8y16DeWo8bJLZahEv2V9v73+JT6rWjTjqgpTU37xk/Dm++OWm/vNO8HaFq+kon+kQQX0S5T+Ftz7c/xfMrV3d5rnj3RbBLK8+E0lhpEMTvZf2LeQSzQtjOf9b8+7/a7tXnUPwV8YeHZUk8GeM761ieTlVnKY/754r1zwP4d8X+H7H7Z4z8UXGvSxn5IJX+7j6df4f4a1ckoX6nqOtTcOVxRH8Lvig3jrwo+viO6tUUbJIrtGiljf0ZT3q/FIbiFZz/AMtBv+b0rDmbzr+60+zQImq3Rmk2pswu7Lv+X/oVdLMojXCDagG0L/s159Z6HjVKnMlDsZzqPm+tV5etW3XluarzL8rVxowM2delUZl3ZrRnqm/3aopGVcruZqoSfeNaVyvzcZqhJ8p7VBUtjXt4/wDgNaMaj5RVWBavwxluxqIFFq3X5lrRt4/QVBa2pbbx/wABWqvifxx4Y+HwT/hI9WjsrhxujsYo3uLuT/dhjVn/ABZcf7VdMacpu0dybnS2Nq8zqiJuLdFWvJfH+vQeIPES3ul38d7Z2CJDBPbTBonfDvLtYcH5lYf8Brxb44ftparqVhq/hzwHZW2kabeQvaPr1zJ5t8FK4fYiNshPzMAdzn+L5W6eB/C34+678JVi0TWI/wC2fC+d2z/ltb/IyZRv4h83Svfy3Deyqc9XQ4cS3OFon11r3wv0T4jXDXmkarF4L8Xz4lMkqbrHUWIPyzIPuO3yjzV+b5m3Z6V4v4qXXPhj4sTQPHvh+Xw/qTjfBJ5m+2vYt3+shlHDof73X1Va9a03WNL8XeF4tY0a8S6sN7NHOny7Yyfl3ehR2wV9JWruvBfxC0HxFpf/AAgXxV0mDxN4LupdsbXw3TabM21Fkjk+/HtG7oQy/wAPpXt4vAwqrnpb/mc1DFTh7stUeA3NmWs4rzTJ/NTG8bD/AOO1f0f4iXGnwobl5GiJRd6n0Ofwr0L4mfszXHwKuJ9X8FeI4vFnggwJezWNzMv9oabC5+VnUf6yPay/OuD83K45Pnb+HbLWl81PkZxyyHa1eBZwfJNHp251zwZ7b4b+P2nx+GpbeCeOCdHDxtIdyu275h7Vv6x8atL1TTPtMEiyyv8AI6xndvP+z7/7K185WfgHSPOl827uIFYfeyu4f7tek/DfwPo+m3UR09Jrh0Rpri+vJC32eEDc5XsPl3Vb5bCi5t8p618PfDGq/wDCOT+NdQtSLfUJ3soJV2/ukRudy9tz7v8Avn6VtStywre/Zm14R+EH0vVI3vLO7t08yC6+ZSh+8GPqu4DPdWiNTeN/A9x4Q1x7ZfMn06T57Wc9SODsfb/GuR9flP8AFXBicPOKVSOzJulJw6nJnrVeVR/u1pTW5Xqh/KqE8JVeleaWZtz/AOPVRlrQnjbd0qjMtBSM6461nS/erQvc1nP8zVncqWx0tjC7HAH0qv4r8feG/hzatJruoxQXCorixSRPOcH7vyllCBtrfMzD7teI/Hj9rGx+HGozeFfB3k6v4jgdotQ1DO6308/xRoekk3r/AAp/tNwvznqWvJ8QLhJLy5L3RcyurTmZ5Zj96R2dmLv/ACG0BQvFe1gsv9p79R2X5mUqiWh7P48/bC8R6hc3Fl4bsk07TvmBubOTdMB/v9f94rs/2f71eLajr134iunNzqkyTu5cwS/ulcn7zM2794fd2JrP1HwNDeRboZ3sbpG/d3Vv+6dD/tA9f/Har2160F9HoXiy3SKeT/j01JBiO4/wPtX0lKhGjpFWOdzb3Fm8Ny2rPPYDypU/1lt/D/8AWrJu7WPUkaKePyrjDYVhtzXQ3V5eeC7iJNRLXmku4QXWPng/3var+s6DBdQ/aIijREbhJEf/AEGtnS5tjM4rwB8UvEHwM1+f7KBe6LdN/p2lSn91Mu3DbW7HBK5/nX1L4S8b6J8SfDy6rolybiJG8meCfiaFtuV3j1x/F91ijf3q+ZtQ0WPUFWz1H5P4Y7rHy/7Iaud0l/FPwd8RHVNGdsYHmwON0U8ecgOv8Q757UU6s6Oj2MZ009VufpL4Y8YLa6Ba6yIUvIhAnh/XNPnga4iuU8orbzMnYPCrQn3iznLCsHxX8PbDTbS013Q45rvwjqQf7LOrF2spEOJbWZuodG+6zffQg9d1eb/s8fErTfjR/amhWSXFve6pYSpc6PG+Zo5oP9IhkRurBTGQCPm+Yg/er1j4e+Nbj4QeIptB1xpdV8H65CJZigDSQzIVUXKH5cuueRxvRlzzini6UcRSTh8S2/yOjCVfZT126mN4Y8L6PdXSPcSyXUrjiNX3Z/4DXpXjWzHgf4UatOkQt7rU0TTLWJ/l+adxF83f+KvZrT4f2ek3DuLCCKXu6R7Wb/arwz4nrc+PvizouniaS38M+EbuLUL6VEZlmvCD9nh/D/WN/uj+9Xy8YznNQR7z9nH94etfDDQLWCHWVvbk6NpFtpfnNqaTrbnTVRG2TM78IVUOMtx+5BNfD3xS/aAsvD3it9G+F2saoNBSd76/8UXcztLrN26KnnIHbIhUK2GPLs7n7u2ur/bg+NM2qeEpfhN4fV4Cklve+KLz5ttzIQJY7OM4UtCMrMT0JYBejV83/DqGPxFolxYSgfarZHVdo/g/iH519HToytyvY8Jrnqc7Ou8K/tGfE3QfE72//CWzalv+eO01MLcW8v8AdXnkBv8AZI+9XvHhH9sjw9rFg6eJ9Cv9J1S3P7/+zALiE+rKrsrj6c18cXljc31owtU36zprk26q23zk/ij+v8S+/wDvVdg8RRX01hr9uN9re/urhf8AnlcD72703fe/76rnq4OlP4kUqjR90+Fvj98PfGzP9i19LBlBbbqqfZlbH3vmPH/Ad1dRbX2n6xbtcaZf2mo2+dpns50mRT/dyGavzs03Sxb32rx26L5COsrwM25Dn/8Aax/wKt/4A+PLr4Sa94hu9Mje9062y1xpjuyrNCRvVQ3qv8JrzK2W2j+7Zqqh9zX8dZUi1d0HxFpnjjwrpfiDRp/tWk6lCJoJGG1sfxKy9ipVgf8AdqCeP5q+dceWXKb7o/MPT7NJnijOFQvs3f3Sf/r1pN4Xnk4gutkqfL/d2tWfYNuili/ixuH1FdJ9o+0W6Xce7e6btqn5c/db/wAer7imk4nCRWHiTW9F222qRtdWo+YNjdiuxtr3Q/Gmmf2XqADQzH5N33kPqh7Yqhp9xaatbLh0WXG0xyfK1P8A7L0+N2ScNZuTuKuPkLf3t3au2Ckut0QaWgSzWdzP4O8RkXEnlk6ffSruW6g/u/Ud6y9InuPh54nTQtRcyaHqBIs5ZR8sT/3Gat+Xw6df0kac07JLC3nWF/n57WYdOe6HoR6f8BqR7GH4p+CLywvV+za5CjKYmPzW11G3+R9Grp5X03X9WLsGo6PHIj20uVRjtH95GrL0pvLn/szUccH9zct8zL/s7e4/2a0PBGsHxX4NguLkhb+yf7FfJIdrhx91vrT9W003UKyjCyxnaWX1H3TVOKmudAYNz4JtbHV1v7SWXQ9XhcgXljOYSO24FGyM+v8AtV6ZoHxe1jT9DXw/4tiOvWaSJLBquf8ASIuNjK/ZwyM249fu9a5kQz61pH2mD/kKWafPE3/LaMdvqtU7OSPUtP8AtNlh0z++tnHzI38W30HtTglDYEj9Kvgr8X5fHvwchFmTrXiaxuE0FNjbvtRIb7NMzehQfP3HlNupf2hPip4b/Zk+FOm2K6PYeJPFdyxmtbW+DeXLcOMvczY5f/c44YLlV6fnp4C8eeJvhpr0WteDtcvNB1SMq7rbP8syg9JUO5JE/wB5T96rPxN8d6/8XvHF74m8T3/23VJD5flIuIYE+XakabuBj/LVxLCQVVzXwv8AMqUpzSh0Rzusa5qvii91HXNbuxdavqt21xdS+WFRnPZQPuIo2qB2CqKy/DDf8Ir8QonQ/uJ/ldV9/vda3rqx+y6dasMNiTcVWuf8RL5mppcx5Voj95a7pLks+xOxe8S6f/Z/iGUxfK4kbDKP8/7Nc9qmnR6dqFxqsUW7SNRIi1O1Vf8AUTfwzJ6fNz9frXZ+JGN9NBcAH99AJQyn+Po1Ztyws0ivZ4w9lMPs97E3bP8AFWcqauwaK2gwiHxdLpkkoZ7ixRoJf76n7rfmq1m/CtnkF1PcEPO8EMM+4dw8m6ta/h/sO0TVxln0nKrLn78BKt/47/7M1ZEOoxeFtJ8S3JXzHfUXS1jb70jnGwf+PUkoprm6Bsez/szfF60+HPhDS/CWvY/sOS4uGtdQUfPauZT9/wBUb5ee1fTl/b+SeoZT8wZTuVl9Vr4TTT4LGzsLZ3DywxrEF9/4q+iv2dPiM+sWT+C9UkDXlnGZdNlY/NLCPvw/VPvL7bv7tfL5pgFFe2pfM6YvSx8L2EiQ3aOT8mefpXQWcL2tzLaIe/2iBm/i/vD+v/Aa5BWKtn/x2up0rVEvI7dA6peW53QN7j+H+lerTf2TjNyO1t74sYJDa3gG5GU/e9qvW/iSPT5Psmv2/wC6cbROqbkpxsUvIILu3CQM43BcfMP7y1o2eySJYLmFLhPuncNystdsE0wGTzXHhuD+2tLI1fSYxm6gRsypH6r/ALta76xYWut6d4hsZybO+SFLrb829H+WKRvdW+Q/8Brn08Lra3yT6JdzaXKDwqfNF/u7aTW/Ct3qelS2tlbW+n6wIpvLjtuLe+UjLIF/gfeode25e2c1snOPQvUseB3Hh74x+K/Dr/8AHpqatPGrfdyV37v/AB6uyjt/LuWgk/iGwq3/AI6a8e1TxA0nirwJ4rQ7HuoFtp9o4WRDsbP/AH2Pyr2DVJBJdRSeeG37cKo+b7taUJppxBWKUMZ0PU4LyI7ufnVT97tWB4nU+CfE1vrlohXSL47biBX3KHNdNcrDcI0bnarH7zfw1VvLeDxFoN5pc4DS43JIo6N61rUjeOhVie402Ka3nuLMlonQXEEin5k/vBe4rO+2SLKkskW/zYQHlT5V3jj5l+ny/L/drN+GetS2skuhX5/fwblDMeq+la95G9rM0b/Kufur92oi04poFqi9fsGSzPKqx54+WsG9tXuJ3iOVXBrZnhkm0jB3b0O9dorNTF1tkJG5U2nn5mrWWpZa09v7Q0GAEtE9tIe3Y1M9vAoxvV7eQeU6tVDSW8m5lgP3HHKsanRSqvHJ8mPl20JXQGBdQ3C6VrmhSP5kT2snkMx6Ag7f++W21ytxP/bPjHw3ZO4a3hZLuXd93cI1f/Cuz1Jt2wgnzVDRHj+Eg7a82tbq4k1rVGtklnvTZxWNtDBGzuXMabyFHPy7ea86s7NGLR6XZXwvt+pz5aIB3j/3f71TaD4kufDPiHS/ENu/lXtpOJrSDG5nYfwt7MNyn2atH4S/DfXPjFdWuh+HntYoPMisTeXkm2FJHX5E43ElsMTtXjq1YPifQdX8F/EPV9B1dIYNU0p1t5pIpPNiVAN2+Ju4dWUg+jUOpCa5JG1pxV+h4yJAwwe9WbVirjB7/dqicR7jn5akjYqy49a81M5D0LwlrgaX7Ncksz/NHI394fw/5/u1vXkZZkeORlXP3Vry9LiRdsqEq+R83oa7/R9UGoWsTqfLc587b/A9d9Gd1Zlm3YKLd0dJ3Zgd3y/+zZrp7e6k1aJ7dJYlusfu2b5cH+FlYdDXEySJDuCFtx2/drW0NlUoTLsYHhWG2u2nLWxaZx/xA0e4tfDWqSPFJBKt2uoiLG3yZ92JVH+yQ+8f8C/u13q6k9xpFrLHIVV05VvvVoeKkj8SeG722VgZTA+1OrHhgf0Zq4LwlqH2jwvYZJY+SN/H8X8VJx9nU9UGzO3e4jZl2EP/ABbW3UlvcfZbpX+6jdeKx7O8ChQ8hZj8vzGrLTBovuHYPl+U1spFJmF4rUaH4pstXjO1JH2naK6zXmS8jinD/wCsQOFUVj+KLePVPC08ez96nzozfM1Q6VqBuPCunTkb2T5C2fm21kvdbj3JNnQb4zWcse4eYmUO6qKKY7yXBCqf4c/dqlol4LfWJQnypIOdx71PqDfZ7mU7Aq/zq73iVfQsWsm2Rtj7dy+tWJpnkTO75s1ljYr5TGSONx3UpvivmB8ruHDLTTRZW1y+Szheec7UjG8svtX1B+yd4Isvgp4IuvHmsWxt9Z2SatPdTx/MmVbyoU9vmXI7lv8AZWvBfhb4TT4gePbdLi2lutL0nZd3SKNyySk/uY29shnI/wBn3r63+KWpXGsW2jeCoIvls0Gp38Gf9Y/3reFvbcu/b/sivncdXcp2h0PQwsNeeSI/grpY8AeFde8b6xptrFa3N1da7eojhXjkm3k7l/3WVRtrl/Enw20K/wDgL8TPHHjPRbRte1K1bUF1duLi2m8tmVEPX73kwhPu4Fdn46mGteF/CvhSTS5LOfVZ0u9Ug+632aHB2Nj+9Js+X0Vqy/j14BbxpoegfDLQ9Y/sWLW5Y5dSurlDMtpaxlnXam5c5dPXojVw0pST0O2crrl5dT8zbyPa7MM7CMhqiik/2hux6VagnXU9NWcDbKDiVfR//r9aos3lt3ruTPmWadhIGDJyzdt1bWj3RsZtxfbA42yKv/jrf8B/+KrlLa68mVXH3e9bFtdBnXA3N/tVvTZJ3CzCMtI5G0FcbvSrulx3OqXKAfu4vvHaPmrlNMvtsiWxf7x2xtn/AMc/+Jrq/Dl0be5c7yiqN2/0rtpu8i0dl4fmsNP1OKNztdiyb5T1z94V5fpTP4buLjS5B81pO8O5v4gGwtdoniqC8lWwtokusld8s7bkSneKvB9xrj+bptjPNq0YCIixhlvV+6oG1vv9h6/LXVVXPC8ehb1MxL4bf+BcbTUkGoBdwIHX171pJ+zf8ariJSvw31q1Ujhrwx26/wDj7rRe/s+/FrS7Z57zw5FapECx3X8DMo/3Q7ZrzfrSh8TBRn2M1LwXSz2gy1w6HYifeP8AwGqPg+4uF8NXkVzBLb7JCQroyfKC3PPau/0bV4tP8PWR0KBbho0MtwqRulzcTwvsMzFEZ2hD8YDYH8XNd38AfhP4f8aNdeKdXkuoNL0p4vI0/TNGuGhvpCzbYWmmZYI0ZtyBWxksvfdWyrKbUkzknXcHqj52j1aJtTUJIjqf7pro9Qke4tllUFmHVdtfpH+2D8APB3iH4FL408DaFp2iS2FrFqEC6ZapCk9s6hhtSNcZG9DuHGM5J2jH5pWvih7hFLySQP3ZT8tb0ZqUL33N6croImnkRCI5WbH3fLPy1cm0nVFhglksJooJvmSWRNqP/wAC9f8AZpkmvXkiMDJvi7N5n3vyq7aXl1J4M8QAZZLOaC72R7e+6N/0Zf8Avla3ioPQ10R7j+ynrHhL4a6Xc6r4t8QWmlzz3ct3PHteV9o+SFNqKxPyrn5f71XvAf7RXw41L4w6trHijxBLpralevcRtc2kyqqJ8sKbgvoq18v6Try28NlcJLI9rcjhmHrWpqsNhq1u0V5apL/vfeX/AHa8x4OnOXNc6YV3GFon0j48/aQ8OalqviHU9PsL7VNSmcRaU04a2hSAcYdt2cN8z/KuQWXpXkd3+018XNN8RXevxR6LM88KW7LZ2yyvDGgYKFWTJO3cTnvmvLE+1+FZfkkkv9GJ+7L80sP+76itqO8jmiWeCRGQ9GU1cMJSXqEq85dbHhsF0dE1FpMf6LJjfEp6j29xV+8RXCSxsHicbg6r1H+f4aKK8un8JxMz3zlhmrNvcFW/2f7rUUVrHcg0PtRmCjO3H8Oa1v8AhIjcW/lyylX7sp/1g/xoorpUmaIuXXiCbw3o1ubIf8TK9O1JHwwgj9V9/wCVaOjaVp91fQajPZyR3FsApnluHlaaT+9y1FFdS3Qj0Xw38UPFnhGa9uLTxRqlhHOApjjuGZAoHy7lfcK9u+D/AO15odxB9i8eahJa3UT/AOj6x9n3LKD/AATKi8H/AG1X/e9SUVOIowa1R0qTPRfiN8EdA+IGiRfEz4XzWd14m00G7ju9MuikV+g+aWEtHyCy7vQg1zHib9pDwzp+g2t3rvjfxTreoT24f7LoepR6ZplgSFfy7ddjSTlPlXLqQdp3IvSiiuTD/C0eNjIrnifRPg74i2mofsX3UVnZ3Ws2Fv4fmt7iG1l82WGEq/kuj/xoilA4XoBkcdfyekbzLmcRDYiSMoZv7oNFFdcYpQdv60RpQbdx9vqwh2hEZ37sprqPCVxHdWfiuN5ViVtK3Bc/MzedGaKK2o/19x1s4XR5Hm8C2G/DIrso9q2fD+uvqOjQXD43AmF2X1FFFZwbv8ho1EvCyKD909VqpJC+mu0tqdqZ3PEw+VqKKuRZ/9k="/>
  <p:tag name="MMPROD_38498LOGO" val=""/>
  <p:tag name="MMPROD_UIDATA" val="&lt;database version=&quot;7.0&quot;&gt;&lt;object type=&quot;1&quot; unique_id=&quot;10001&quot;&gt;&lt;property id=&quot;20141&quot; value=&quot;MS Word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D:\Ders Materyali\İçerik\Temel Bilgi Teknolojisi Kullanımı&quot;/&gt;&lt;property id=&quot;20225&quot; value=&quot;D:\Ders Materyali\İçerik\Temel Bilgi Teknolojisi Kullanımı\TBTK\&quot;/&gt;&lt;property id=&quot;20226&quot; value=&quot;D:\Ders Materyali\İçerik\Temel Bilgi Teknolojisi Kullanımı\TBTK\Kelime İşlemci Modül 6.pptx&quot;/&gt;&lt;property id=&quot;20250&quot; value=&quot;0&quot;/&gt;&lt;property id=&quot;20251&quot; value=&quot;1&quot;/&gt;&lt;property id=&quot;20259&quot; value=&quot;0&quot;/&gt;&lt;property id=&quot;20501&quot; value=&quot;D:\Ders Materyali\İçerik\Temel Bilgi Teknolojisi Kullanımı\TBTK\&quot;/&gt;&lt;object type=&quot;2&quot; unique_id=&quot;10559&quot;&gt;&lt;object type=&quot;3&quot; unique_id=&quot;10560&quot;&gt;&lt;property id=&quot;20148&quot; value=&quot;5&quot;/&gt;&lt;property id=&quot;20300&quot; value=&quot;Slide 1 - &amp;quot;Kelime İşlemci Word &amp;quot;&quot;/&gt;&lt;property id=&quot;20302&quot; value=&quot;0&quot;/&gt;&lt;property id=&quot;20303&quot; value=&quot;Mustafa YILMAZ&quot;/&gt;&lt;property id=&quot;20307&quot; value=&quot;256&quot;/&gt;&lt;property id=&quot;20309&quot; value=&quot;38498&quot;/&gt;&lt;property id=&quot;20312&quot; value=&quot;0&quot;/&gt;&lt;/object&gt;&lt;object type=&quot;3&quot; unique_id=&quot;10588&quot;&gt;&lt;property id=&quot;20148&quot; value=&quot;5&quot;/&gt;&lt;property id=&quot;20300&quot; value=&quot;Slide 4 - &amp;quot;Veri Girmeye Hazır Tablo Oluşturmak&amp;quot;&quot;/&gt;&lt;property id=&quot;20302&quot; value=&quot;0&quot;/&gt;&lt;property id=&quot;20303&quot; value=&quot;Mustafa YILMAZ&quot;/&gt;&lt;property id=&quot;20307&quot; value=&quot;257&quot;/&gt;&lt;property id=&quot;20309&quot; value=&quot;38498&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Mustafa YILMAZ&quot;/&gt;&lt;property id=&quot;20307&quot; value=&quot;258&quot;/&gt;&lt;property id=&quot;20309&quot; value=&quot;38498&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Mustafa YILMAZ&quot;/&gt;&lt;property id=&quot;20307&quot; value=&quot;260&quot;/&gt;&lt;property id=&quot;20309&quot; value=&quot;38498&quot;/&gt;&lt;property id=&quot;20312&quot; value=&quot;0&quot;/&gt;&lt;/object&gt;&lt;object type=&quot;3&quot; unique_id=&quot;36872&quot;&gt;&lt;property id=&quot;20148&quot; value=&quot;5&quot;/&gt;&lt;property id=&quot;20300&quot; value=&quot;Slide 8 - &amp;quot;Hücre Kenarlık Genişliğini, Stilini veya Rengini Değiştirmek&amp;quot;&quot;/&gt;&lt;property id=&quot;20302&quot; value=&quot;0&quot;/&gt;&lt;property id=&quot;20303&quot; value=&quot;Mustafa YILMAZ&quot;/&gt;&lt;property id=&quot;20307&quot; value=&quot;261&quot;/&gt;&lt;property id=&quot;20309&quot; value=&quot;38498&quot;/&gt;&lt;property id=&quot;20312&quot; value=&quot;0&quot;/&gt;&lt;/object&gt;&lt;object type=&quot;3&quot; unique_id=&quot;36949&quot;&gt;&lt;property id=&quot;20148&quot; value=&quot;5&quot;/&gt;&lt;property id=&quot;20300&quot; value=&quot;Slide 11 - &amp;quot;Belge İçerisinde Resim, Görüntü veya Grafik Seçmek&amp;quot;&quot;/&gt;&lt;property id=&quot;20302&quot; value=&quot;0&quot;/&gt;&lt;property id=&quot;20303&quot; value=&quot;Mustafa YILMAZ&quot;/&gt;&lt;property id=&quot;20307&quot; value=&quot;263&quot;/&gt;&lt;property id=&quot;20309&quot; value=&quot;38498&quot;/&gt;&lt;property id=&quot;20312&quot; value=&quot;0&quot;/&gt;&lt;/object&gt;&lt;object type=&quot;3&quot; unique_id=&quot;37836&quot;&gt;&lt;property id=&quot;20148&quot; value=&quot;5&quot;/&gt;&lt;property id=&quot;20300&quot; value=&quot;Slide 5 - &amp;quot;Tabloya Veri Girmek veya Düzenlemek&amp;quot;&quot;/&gt;&lt;property id=&quot;20302&quot; value=&quot;0&quot;/&gt;&lt;property id=&quot;20303&quot; value=&quot;Mustafa YILMAZ&quot;/&gt;&lt;property id=&quot;20307&quot; value=&quot;271&quot;/&gt;&lt;property id=&quot;20309&quot; value=&quot;38498&quot;/&gt;&lt;property id=&quot;20312&quot; value=&quot;0&quot;/&gt;&lt;/object&gt;&lt;object type=&quot;3&quot; unique_id=&quot;37837&quot;&gt;&lt;property id=&quot;20148&quot; value=&quot;5&quot;/&gt;&lt;property id=&quot;20300&quot; value=&quot;Slide 10 - &amp;quot;Belgeye Resim, Görüntü veya Grafik Eklemek&amp;quot;&quot;/&gt;&lt;property id=&quot;20302&quot; value=&quot;0&quot;/&gt;&lt;property id=&quot;20303&quot; value=&quot;Mustafa YILMAZ&quot;/&gt;&lt;property id=&quot;20307&quot; value=&quot;272&quot;/&gt;&lt;property id=&quot;20309&quot; value=&quot;38498&quot;/&gt;&lt;property id=&quot;20312&quot; value=&quot;0&quot;/&gt;&lt;/object&gt;&lt;object type=&quot;3&quot; unique_id=&quot;37865&quot;&gt;&lt;property id=&quot;20148&quot; value=&quot;5&quot;/&gt;&lt;property id=&quot;20300&quot; value=&quot;Slide 6 - &amp;quot;Satır veya Sütun Eklemek veya Silmek&amp;quot;&quot;/&gt;&lt;property id=&quot;20302&quot; value=&quot;0&quot;/&gt;&lt;property id=&quot;20303&quot; value=&quot;Mustafa YILMAZ&quot;/&gt;&lt;property id=&quot;20307&quot; value=&quot;275&quot;/&gt;&lt;property id=&quot;20309&quot; value=&quot;38498&quot;/&gt;&lt;property id=&quot;20312&quot; value=&quot;0&quot;/&gt;&lt;/object&gt;&lt;object type=&quot;3&quot; unique_id=&quot;37986&quot;&gt;&lt;property id=&quot;20148&quot; value=&quot;5&quot;/&gt;&lt;property id=&quot;20300&quot; value=&quot;Slide 9 - &amp;quot;Hücreye Gölgeleme Eklemek&amp;quot;&quot;/&gt;&lt;property id=&quot;20302&quot; value=&quot;0&quot;/&gt;&lt;property id=&quot;20303&quot; value=&quot;Mustafa YILMAZ&quot;/&gt;&lt;property id=&quot;20307&quot; value=&quot;276&quot;/&gt;&lt;property id=&quot;20309&quot; value=&quot;38498&quot;/&gt;&lt;property id=&quot;20312&quot; value=&quot;0&quot;/&gt;&lt;/object&gt;&lt;object type=&quot;3&quot; unique_id=&quot;38621&quot;&gt;&lt;property id=&quot;20148&quot; value=&quot;5&quot;/&gt;&lt;property id=&quot;20300&quot; value=&quot;Slide 7 - &amp;quot;Sütun Genişliğini veya Satır Yüksekliğini Değiştirmek&amp;quot;&quot;/&gt;&lt;property id=&quot;20307&quot; value=&quot;277&quot;/&gt;&lt;property id=&quot;20309&quot; value=&quot;-1&quot;/&gt;&lt;/object&gt;&lt;object type=&quot;3&quot; unique_id=&quot;38622&quot;&gt;&lt;property id=&quot;20148&quot; value=&quot;5&quot;/&gt;&lt;property id=&quot;20300&quot; value=&quot;Slide 12 - &amp;quot;Belge İçerisinde veya Açık Belgeler Arasında Resim, Görüntü veya Grafik Kopyalamak, Taşımak&amp;quot;&quot;/&gt;&lt;property id=&quot;20307&quot; value=&quot;278&quot;/&gt;&lt;property id=&quot;20309&quot; value=&quot;-1&quot;/&gt;&lt;/object&gt;&lt;object type=&quot;3&quot; unique_id=&quot;38623&quot;&gt;&lt;property id=&quot;20148&quot; value=&quot;5&quot;/&gt;&lt;property id=&quot;20300&quot; value=&quot;Slide 13 - &amp;quot;Resim, Görüntü veya Grafiğin Büyüklüğünü Değiştirmek&amp;quot;&quot;/&gt;&lt;property id=&quot;20307&quot; value=&quot;279&quot;/&gt;&lt;property id=&quot;20309&quot; value=&quot;-1&quot;/&gt;&lt;/object&gt;&lt;object type=&quot;3&quot; unique_id=&quot;38624&quot;&gt;&lt;property id=&quot;20148&quot; value=&quot;5&quot;/&gt;&lt;property id=&quot;20300&quot; value=&quot;Slide 14 - &amp;quot;Resim, Görüntü ve Grafiğin Silinmesi&amp;quot;&quot;/&gt;&lt;property id=&quot;20307&quot; value=&quot;280&quot;/&gt;&lt;property id=&quot;20309&quot; value=&quot;-1&quot;/&gt;&lt;/object&gt;&lt;/object&gt;&lt;object type=&quot;8&quot; unique_id=&quot;10563&quot;&gt;&lt;object type=&quot;9&quot; unique_id=&quot;38900&quot;&gt;&lt;property id=&quot;20000&quot; value=&quot;0&quot;/&gt;&lt;property id=&quot;20400&quot; value=&quot;Kelime Islemci 6.Unite&quot;/&gt;&lt;property id=&quot;20401&quot; value=&quot;6. Unite.pdf&quot;/&gt;&lt;property id=&quot;20402&quot; value=&quot;0&quot;/&gt;&lt;property id=&quot;20404&quot; value=&quot;1570328&quot;/&gt;&lt;property id=&quot;20405&quot; value=&quot;0&quot;/&gt;&lt;/object&gt;&lt;/object&gt;&lt;object type=&quot;4&quot; unique_id=&quot;10695&quot;&gt;&lt;object type=&quot;5&quot; unique_id=&quot;10697&quot;&gt;&lt;property id=&quot;20149&quot; value=&quot;Esrin Palas&quot;/&gt;&lt;property id=&quot;20150&quot; value=&quot;Öğr. Gör.&quot;/&gt;&lt;property id=&quot;20153&quot; value=&quot;epalas@sakarya.edu.tr&quot;/&gt;&lt;property id=&quot;20159&quot; value=&quot;logo_sau.png&quot;/&gt;&lt;/object&gt;&lt;object type=&quot;5&quot; unique_id=&quot;38498&quot;&gt;&lt;property id=&quot;20149&quot; value=&quot;Mustafa YILMAZ&quot;/&gt;&lt;property id=&quot;20150&quot; value=&quot;Öğr.Gör.&quot;/&gt;&lt;property id=&quot;20151&quot; value=&quot;mustafa-yilmaz.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3849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1,2142394413,D:\Ders Materyali\İçerik\Temel Bilgi Teknolojisi Kullanımı\TBTK\Kelime İşlemci Modül 6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46ADBEC3-97F2-4AA0-995F-D5183C1E6269}&quot;/&gt;&lt;isInvalidForFieldText val=&quot;0&quot;/&gt;&lt;Image&gt;&lt;filename val=&quot;C:\Users\YILMAZ\AppData\Local\Temp\PR\data\asimages\{46ADBEC3-97F2-4AA0-995F-D5183C1E6269}_1.png&quot;/&gt;&lt;left val=&quot;-27&quot;/&gt;&lt;top val=&quot;207&quot;/&gt;&lt;width val=&quot;634&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2,2142394413,D:\Ders Materyali\İçerik\Temel Bilgi Teknolojisi Kullanımı\TBTK\Kelime İşlemci Modül 6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0884D837-8774-4721-87B7-15099F1CB069}&quot;/&gt;&lt;isInvalidForFieldText val=&quot;0&quot;/&gt;&lt;Image&gt;&lt;filename val=&quot;C:\Users\YILMAZ\AppData\Local\Temp\PR\data\asimages\{0884D837-8774-4721-87B7-15099F1CB069}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33&quot;/&gt;&lt;lineCharCount val=&quot;20&quot;/&gt;&lt;lineCharCount val=&quot;37&quot;/&gt;&lt;lineCharCount val=&quot;61&quot;/&gt;&lt;lineCharCount val=&quot;47&quot;/&gt;&lt;lineCharCount val=&quot;25&quot;/&gt;&lt;lineCharCount val=&quot;47&quot;/&gt;&lt;lineCharCount val=&quot;44&quot;/&gt;&lt;lineCharCount val=&quot;66&quot;/&gt;&lt;lineCharCount val=&quot;18&quot;/&gt;&lt;lineCharCount val=&quot;52&quot;/&gt;&lt;lineCharCount val=&quot;45&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1581EFED-8C15-45BB-83C6-47D9E801B0DA}&quot;/&gt;&lt;isInvalidForFieldText val=&quot;0&quot;/&gt;&lt;Image&gt;&lt;filename val=&quot;C:\Users\YILMAZ\AppData\Local\Temp\PR\data\asimages\{1581EFED-8C15-45BB-83C6-47D9E801B0DA}_3.png&quot;/&gt;&lt;left val=&quot;25&quot;/&gt;&lt;top val=&quot;30&quot;/&gt;&lt;width val=&quot;659&quot;/&gt;&lt;height val=&quot;62&quot;/&gt;&lt;hasText val=&quot;1&quot;/&gt;&lt;/Image&gt;&lt;/ThreeDShape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13&quot;/&gt;&lt;lineCharCount val=&quot;15&quot;/&gt;&lt;lineCharCount val=&quot;45&quot;/&gt;&lt;lineCharCount val=&quot;45&quot;/&gt;&lt;lineCharCount val=&quot;46&quot;/&gt;&lt;lineCharCount val=&quot;63&quot;/&gt;&lt;lineCharCount val=&quot;70&quot;/&gt;&lt;lineCharCount val=&quot;35&quot;/&gt;&lt;lineCharCount val=&quot;34&quot;/&gt;&lt;lineCharCount val=&quot;52&quot;/&gt;&lt;lineCharCount val=&quot;60&quot;/&gt;&lt;lineCharCount val=&quot;68&quot;/&gt;&lt;lineCharCount val=&quot;24&quot;/&gt;&lt;lineCharCount val=&quot;68&quot;/&gt;&lt;lineCharCount val=&quot;21&quot;/&gt;&lt;lineCharCount val=&quot;62&quot;/&gt;&lt;lineCharCount val=&quot;45&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PSNARRATION" val="3,2142394413,D:\Ders Materyali\İçerik\Temel Bilgi Teknolojisi Kullanımı\TBTK\Kelime İşlemci Modül 6_pptx\Media.ppcx"/>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 name="PRESENTER_SHAPEINFO" val="&lt;ThreeDShapeInfo&gt;&lt;uuid val=&quot;{9226044A-3268-4CDF-9AC9-3ED00A9ACA04}&quot;/&gt;&lt;isInvalidForFieldText val=&quot;0&quot;/&gt;&lt;Image&gt;&lt;filename val=&quot;C:\Users\YILMAZ\AppData\Local\Temp\PR\data\asimages\{9226044A-3268-4CDF-9AC9-3ED00A9ACA04}_4.png&quot;/&gt;&lt;left val=&quot;36&quot;/&gt;&lt;top val=&quot;32&quot;/&gt;&lt;width val=&quot;649&quot;/&gt;&lt;height val=&quot;59&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77&quot;/&gt;&lt;lineCharCount val=&quot;18&quot;/&gt;&lt;lineCharCount val=&quot;65&quot;/&gt;&lt;lineCharCount val=&quot;81&quot;/&gt;&lt;lineCharCount val=&quot;39&quot;/&gt;&lt;lineCharCount val=&quot;36&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PSNARRATION" val="4,2142394413,D:\Ders Materyali\İçerik\Temel Bilgi Teknolojisi Kullanımı\TBTK\Kelime İşlemci Modül 6_pptx\Media.ppcx"/>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 name="PRESENTER_SHAPEINFO" val="&lt;ThreeDShapeInfo&gt;&lt;uuid val=&quot;{2DF43F2E-D113-4960-9077-9B6E9EE000D4}&quot;/&gt;&lt;isInvalidForFieldText val=&quot;0&quot;/&gt;&lt;Image&gt;&lt;filename val=&quot;C:\Users\YILMAZ\AppData\Local\Temp\PR\data\asimages\{2DF43F2E-D113-4960-9077-9B6E9EE000D4}_5.png&quot;/&gt;&lt;left val=&quot;36&quot;/&gt;&lt;top val=&quot;30&quot;/&gt;&lt;width val=&quot;649&quot;/&gt;&lt;height val=&quot;62&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4&quot;/&gt;&lt;lineCharCount val=&quot;21&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PSNARRATION" val="5,2142394413,D:\Ders Materyali\İçerik\Temel Bilgi Teknolojisi Kullanımı\TBTK\Kelime İşlemci Modül 6_pptx\Media.ppcx"/>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6&quot;/&gt;&lt;/TableIndex&gt;&lt;/ShapeTextInfo&gt;"/>
  <p:tag name="PRESENTER_SHAPEINFO" val="&lt;ThreeDShapeInfo&gt;&lt;uuid val=&quot;{759810E6-3C10-4ABB-8C29-123B3095AB6E}&quot;/&gt;&lt;isInvalidForFieldText val=&quot;0&quot;/&gt;&lt;Image&gt;&lt;filename val=&quot;C:\Users\YILMAZ\AppData\Local\Temp\PR\data\asimages\{759810E6-3C10-4ABB-8C29-123B3095AB6E}_6.png&quot;/&gt;&lt;left val=&quot;36&quot;/&gt;&lt;top val=&quot;32&quot;/&gt;&lt;width val=&quot;649&quot;/&gt;&lt;height val=&quot;59&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59&quot;/&gt;&lt;lineCharCount val=&quot;57&quot;/&gt;&lt;lineCharCount val=&quot;3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PSNARRATION" val="6,2142394413,D:\Ders Materyali\İçerik\Temel Bilgi Teknolojisi Kullanımı\TBTK\Kelime İşlemci Modül 6_pptx\Media.ppcx"/>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3&quot;/&gt;&lt;/TableIndex&gt;&lt;/ShapeTextInfo&gt;"/>
  <p:tag name="PRESENTER_SHAPEINFO" val="&lt;ThreeDShapeInfo&gt;&lt;uuid val=&quot;{6E5C6EA9-E7D7-4CA4-A1D9-E0EC0BACFE51}&quot;/&gt;&lt;isInvalidForFieldText val=&quot;0&quot;/&gt;&lt;Image&gt;&lt;filename val=&quot;C:\Users\YILMAZ\AppData\Local\Temp\PR\data\asimages\{6E5C6EA9-E7D7-4CA4-A1D9-E0EC0BACFE51}_7.png&quot;/&gt;&lt;left val=&quot;27&quot;/&gt;&lt;top val=&quot;32&quot;/&gt;&lt;width val=&quot;667&quot;/&gt;&lt;height val=&quot;59&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9&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71&quot;/&gt;&lt;lineCharCount val=&quot;16&quot;/&gt;&lt;lineCharCount val=&quot;49&quot;/&gt;&lt;lineCharCount val=&quot;47&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PSNARRATION" val="7,2142394413,D:\Ders Materyali\İçerik\Temel Bilgi Teknolojisi Kullanımı\TBTK\Kelime İşlemci Modül 6_pptx\Media.ppcx"/>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0&quot;/&gt;&lt;/TableIndex&gt;&lt;/ShapeTextInfo&gt;"/>
  <p:tag name="PRESENTER_SHAPEINFO" val="&lt;ThreeDShapeInfo&gt;&lt;uuid val=&quot;{E8B712F9-4694-438D-A19E-8DCA98ECA4F2}&quot;/&gt;&lt;isInvalidForFieldText val=&quot;0&quot;/&gt;&lt;Image&gt;&lt;filename val=&quot;C:\Users\YILMAZ\AppData\Local\Temp\PR\data\asimages\{E8B712F9-4694-438D-A19E-8DCA98ECA4F2}_8.png&quot;/&gt;&lt;left val=&quot;27&quot;/&gt;&lt;top val=&quot;34&quot;/&gt;&lt;width val=&quot;665&quot;/&gt;&lt;height val=&quot;53&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5&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70&quot;/&gt;&lt;lineCharCount val=&quot;83&quot;/&gt;&lt;lineCharCount val=&quot;7&quot;/&gt;&lt;lineCharCount val=&quot;85&quot;/&gt;&lt;lineCharCount val=&quot;21&quot;/&gt;&lt;lineCharCount val=&quot;46&quot;/&gt;&lt;lineCharCount val=&quot;73&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PSNARRATION" val="8,2142394413,D:\Ders Materyali\İçerik\Temel Bilgi Teknolojisi Kullanımı\TBTK\Kelime İşlemci Modül 6_pptx\Media.ppcx"/>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 name="PRESENTER_SHAPEINFO" val="&lt;ThreeDShapeInfo&gt;&lt;uuid val=&quot;{6EDE7E94-CA2E-4DD2-8D3D-BF6B218EC2FA}&quot;/&gt;&lt;isInvalidForFieldText val=&quot;0&quot;/&gt;&lt;Image&gt;&lt;filename val=&quot;C:\Users\YILMAZ\AppData\Local\Temp\PR\data\asimages\{6EDE7E94-CA2E-4DD2-8D3D-BF6B218EC2FA}_9.png&quot;/&gt;&lt;left val=&quot;36&quot;/&gt;&lt;top val=&quot;30&quot;/&gt;&lt;width val=&quot;649&quot;/&gt;&lt;height val=&quot;62&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0&quot;/&gt;&lt;lineCharCount val=&quot;63&quot;/&gt;&lt;lineCharCount val=&quot;78&quot;/&gt;&lt;lineCharCount val=&quot;46&quot;/&gt;&lt;lineCharCount val=&quot;73&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PSNARRATION" val="9,2142394413,D:\Ders Materyali\İçerik\Temel Bilgi Teknolojisi Kullanımı\TBTK\Kelime İşlemci Modül 6_pptx\Media.ppcx"/>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PRESENTER_SHAPEINFO" val="&lt;ThreeDShapeInfo&gt;&lt;uuid val=&quot;{51FFF3CF-AF69-452E-A705-9A89F70B731E}&quot;/&gt;&lt;isInvalidForFieldText val=&quot;0&quot;/&gt;&lt;Image&gt;&lt;filename val=&quot;C:\Users\YILMAZ\AppData\Local\Temp\PR\data\asimages\{51FFF3CF-AF69-452E-A705-9A89F70B731E}_10.png&quot;/&gt;&lt;left val=&quot;36&quot;/&gt;&lt;top val=&quot;32&quot;/&gt;&lt;width val=&quot;649&quot;/&gt;&lt;height val=&quot;59&quot;/&gt;&lt;hasText val=&quot;1&quot;/&gt;&lt;/Image&gt;&lt;/ThreeDShape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5&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5&quot;/&gt;&lt;lineCharCount val=&quot;45&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PSNARRATION" val="10,2142394413,D:\Ders Materyali\İçerik\Temel Bilgi Teknolojisi Kullanımı\TBTK\Kelime İşlemci Modül 6_pptx\Media.ppcx"/>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 name="PRESENTER_SHAPEINFO" val="&lt;ThreeDShapeInfo&gt;&lt;uuid val=&quot;{B32E7A54-CFA9-4DC0-ADF6-CF248863C775}&quot;/&gt;&lt;isInvalidForFieldText val=&quot;0&quot;/&gt;&lt;Image&gt;&lt;filename val=&quot;C:\Users\YILMAZ\AppData\Local\Temp\PR\data\asimages\{B32E7A54-CFA9-4DC0-ADF6-CF248863C775}_11.png&quot;/&gt;&lt;left val=&quot;29&quot;/&gt;&lt;top val=&quot;32&quot;/&gt;&lt;width val=&quot;662&quot;/&gt;&lt;height val=&quot;59&quot;/&gt;&lt;hasText val=&quot;1&quot;/&gt;&lt;/Image&gt;&lt;/ThreeDShape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2&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PSNARRATION" val="11,2142394413,D:\Ders Materyali\İçerik\Temel Bilgi Teknolojisi Kullanımı\TBTK\Kelime İşlemci Modül 6_pptx\Media.ppcx"/>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2&quot;/&gt;&lt;lineCharCount val=&quot;19&quot;/&gt;&lt;/TableIndex&gt;&lt;/ShapeTextInfo&gt;"/>
  <p:tag name="PRESENTER_SHAPEINFO" val="&lt;ThreeDShapeInfo&gt;&lt;uuid val=&quot;{90B328D1-810D-479E-8BB4-FBA892766489}&quot;/&gt;&lt;isInvalidForFieldText val=&quot;0&quot;/&gt;&lt;Image&gt;&lt;filename val=&quot;C:\Users\YILMAZ\AppData\Local\Temp\PR\data\asimages\{90B328D1-810D-479E-8BB4-FBA892766489}_12.png&quot;/&gt;&lt;left val=&quot;31&quot;/&gt;&lt;top val=&quot;27&quot;/&gt;&lt;width val=&quot;660&quot;/&gt;&lt;height val=&quot;67&quot;/&gt;&lt;hasText val=&quot;1&quot;/&gt;&lt;/Image&gt;&lt;/ThreeDShape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2&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5&quot;/&gt;&lt;lineCharCount val=&quot;31&quot;/&gt;&lt;lineCharCount val=&quot;53&quot;/&gt;&lt;lineCharCount val=&quot;2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PSNARRATION" val="12,2142394413,D:\Ders Materyali\İçerik\Temel Bilgi Teknolojisi Kullanımı\TBTK\Kelime İşlemci Modül 6_pptx\Media.ppcx"/>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2&quot;/&gt;&lt;/TableIndex&gt;&lt;/ShapeTextInfo&gt;"/>
  <p:tag name="PRESENTER_SHAPEINFO" val="&lt;ThreeDShapeInfo&gt;&lt;uuid val=&quot;{68788A86-6D19-47F3-A352-1D528FE2A9D7}&quot;/&gt;&lt;isInvalidForFieldText val=&quot;0&quot;/&gt;&lt;Image&gt;&lt;filename val=&quot;C:\Users\YILMAZ\AppData\Local\Temp\PR\data\asimages\{68788A86-6D19-47F3-A352-1D528FE2A9D7}_13.png&quot;/&gt;&lt;left val=&quot;30&quot;/&gt;&lt;top val=&quot;33&quot;/&gt;&lt;width val=&quot;661&quot;/&gt;&lt;height val=&quot;56&quot;/&gt;&lt;hasText val=&quot;1&quot;/&gt;&lt;/Image&gt;&lt;/ThreeDShape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1&quot;/&gt;&lt;lineCharCount val=&quot;20&quot;/&gt;&lt;lineCharCount val=&quot;42&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PPSNARRATION" val="13,2142394413,D:\Ders Materyali\İçerik\Temel Bilgi Teknolojisi Kullanımı\TBTK\Kelime İşlemci Modül 6_pptx\Media.ppcx"/>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6&quot;/&gt;&lt;/TableIndex&gt;&lt;/ShapeTextInfo&gt;"/>
  <p:tag name="PRESENTER_SHAPEINFO" val="&lt;ThreeDShapeInfo&gt;&lt;uuid val=&quot;{7D1CB77D-F68D-4446-9113-6CB3463A2903}&quot;/&gt;&lt;isInvalidForFieldText val=&quot;0&quot;/&gt;&lt;Image&gt;&lt;filename val=&quot;C:\Users\YILMAZ\AppData\Local\Temp\PR\data\asimages\{7D1CB77D-F68D-4446-9113-6CB3463A2903}_14.png&quot;/&gt;&lt;left val=&quot;36&quot;/&gt;&lt;top val=&quot;30&quot;/&gt;&lt;width val=&quot;649&quot;/&gt;&lt;height val=&quot;62&quot;/&gt;&lt;hasText val=&quot;1&quot;/&gt;&lt;/Image&gt;&lt;/ThreeDShape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22&quot;/&gt;&lt;lineCharCount val=&quot;7&quot;/&gt;&lt;lineCharCount val=&quot;23&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3559</TotalTime>
  <Words>1829</Words>
  <Application>Microsoft Office PowerPoint</Application>
  <PresentationFormat>Ekran Gösterisi (4:3)</PresentationFormat>
  <Paragraphs>162</Paragraphs>
  <Slides>14</Slides>
  <Notes>14</Notes>
  <HiddenSlides>0</HiddenSlides>
  <MMClips>0</MMClips>
  <ScaleCrop>false</ScaleCrop>
  <HeadingPairs>
    <vt:vector size="4" baseType="variant">
      <vt:variant>
        <vt:lpstr>Tema</vt:lpstr>
      </vt:variant>
      <vt:variant>
        <vt:i4>2</vt:i4>
      </vt:variant>
      <vt:variant>
        <vt:lpstr>Slayt Başlıkları</vt:lpstr>
      </vt:variant>
      <vt:variant>
        <vt:i4>14</vt:i4>
      </vt:variant>
    </vt:vector>
  </HeadingPairs>
  <TitlesOfParts>
    <vt:vector size="16" baseType="lpstr">
      <vt:lpstr>Hava Akımı</vt:lpstr>
      <vt:lpstr>Ofis Teması</vt:lpstr>
      <vt:lpstr>Kelime İşlemci Word </vt:lpstr>
      <vt:lpstr>Öğrenme Hedefleri</vt:lpstr>
      <vt:lpstr>İçindekiler</vt:lpstr>
      <vt:lpstr>Veri Girmeye Hazır Tablo Oluşturmak</vt:lpstr>
      <vt:lpstr>Tabloya Veri Girmek veya Düzenlemek</vt:lpstr>
      <vt:lpstr>Satır veya Sütun Eklemek veya Silmek</vt:lpstr>
      <vt:lpstr>Sütun Genişliğini veya Satır Yüksekliğini Değiştirmek</vt:lpstr>
      <vt:lpstr>Hücre Kenarlık Genişliğini, Stilini veya Rengini Değiştirmek</vt:lpstr>
      <vt:lpstr>Hücreye Gölgeleme Eklemek</vt:lpstr>
      <vt:lpstr>Belgeye Resim, Görüntü veya Grafik Eklemek</vt:lpstr>
      <vt:lpstr>Belge İçerisinde Resim, Görüntü veya Grafik Seçmek</vt:lpstr>
      <vt:lpstr>Belge İçerisinde veya Açık Belgeler Arasında Resim, Görüntü veya Grafik Kopyalamak, Taşımak</vt:lpstr>
      <vt:lpstr>Resim, Görüntü veya Grafiğin Büyüklüğünü Değiştirmek</vt:lpstr>
      <vt:lpstr>Resim, Görüntü ve Grafiğin Silinmesi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YILMAZ</cp:lastModifiedBy>
  <cp:revision>453</cp:revision>
  <cp:lastPrinted>2011-09-23T15:10:57Z</cp:lastPrinted>
  <dcterms:created xsi:type="dcterms:W3CDTF">2011-06-08T08:18:11Z</dcterms:created>
  <dcterms:modified xsi:type="dcterms:W3CDTF">2011-10-18T13:48:20Z</dcterms:modified>
</cp:coreProperties>
</file>