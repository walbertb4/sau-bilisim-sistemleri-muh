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2.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3.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4.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5.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2"/>
  </p:notesMasterIdLst>
  <p:sldIdLst>
    <p:sldId id="256" r:id="rId3"/>
    <p:sldId id="260" r:id="rId4"/>
    <p:sldId id="258" r:id="rId5"/>
    <p:sldId id="297" r:id="rId6"/>
    <p:sldId id="298" r:id="rId7"/>
    <p:sldId id="299" r:id="rId8"/>
    <p:sldId id="300" r:id="rId9"/>
    <p:sldId id="309" r:id="rId10"/>
    <p:sldId id="301" r:id="rId11"/>
  </p:sldIdLst>
  <p:sldSz cx="9144000" cy="6858000" type="screen4x3"/>
  <p:notesSz cx="6858000" cy="9144000"/>
  <p:custDataLst>
    <p:tags r:id="rId13"/>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345" autoAdjust="0"/>
  </p:normalViewPr>
  <p:slideViewPr>
    <p:cSldViewPr>
      <p:cViewPr>
        <p:scale>
          <a:sx n="70" d="100"/>
          <a:sy n="70" d="100"/>
        </p:scale>
        <p:origin x="-1368" y="-5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gs" Target="tags/tag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F07403-48BF-4B87-9E20-50CC050AC631}" type="datetimeFigureOut">
              <a:rPr lang="tr-TR" smtClean="0"/>
              <a:t>17.09.2011</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800" b="1" kern="1200" dirty="0" smtClean="0">
                <a:solidFill>
                  <a:schemeClr val="tx1"/>
                </a:solidFill>
                <a:effectLst/>
                <a:latin typeface="+mn-lt"/>
                <a:ea typeface="+mn-ea"/>
                <a:cs typeface="+mn-cs"/>
              </a:rPr>
              <a:t>0.</a:t>
            </a:r>
            <a:r>
              <a:rPr lang="tr-TR" sz="1800" b="1" kern="1200" baseline="0" dirty="0" smtClean="0">
                <a:solidFill>
                  <a:schemeClr val="tx1"/>
                </a:solidFill>
                <a:effectLst/>
                <a:latin typeface="+mn-lt"/>
                <a:ea typeface="+mn-ea"/>
                <a:cs typeface="+mn-cs"/>
              </a:rPr>
              <a:t> </a:t>
            </a:r>
            <a:r>
              <a:rPr lang="tr-TR" sz="1200" kern="1200" dirty="0" smtClean="0">
                <a:solidFill>
                  <a:schemeClr val="tx1"/>
                </a:solidFill>
                <a:effectLst/>
                <a:latin typeface="+mn-lt"/>
                <a:ea typeface="+mn-ea"/>
                <a:cs typeface="+mn-cs"/>
              </a:rPr>
              <a:t>PowerPoint 2010 verilerinizi görselleştirerek anlamlaştırmak için yardımcı olacak çeşitli grafikler sunar. PowerPoint 2010’da sununuza sütun grafiği, çizgi grafiği, pasta grafiği, çubuk grafiği, alan grafiği, dağılım grafiği, hisse senedi grafiği, yüzey grafiği, halka grafiği, baloncuk grafiği ve radar grafiği gibi çok çeşitli türden grafik ekleyebilirsiniz. </a:t>
            </a:r>
          </a:p>
          <a:p>
            <a:pPr marL="0" marR="0" indent="0" algn="l" defTabSz="914400" rtl="0" eaLnBrk="1" fontAlgn="auto" latinLnBrk="0" hangingPunct="1">
              <a:lnSpc>
                <a:spcPct val="100000"/>
              </a:lnSpc>
              <a:spcBef>
                <a:spcPts val="0"/>
              </a:spcBef>
              <a:spcAft>
                <a:spcPts val="0"/>
              </a:spcAft>
              <a:buClrTx/>
              <a:buSzTx/>
              <a:buFontTx/>
              <a:buNone/>
              <a:tabLst/>
              <a:defRPr/>
            </a:pPr>
            <a:endParaRPr lang="tr-TR"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tr-TR" sz="1400" b="1" kern="1200" dirty="0" smtClean="0">
                <a:solidFill>
                  <a:schemeClr val="tx1"/>
                </a:solidFill>
                <a:effectLst/>
                <a:latin typeface="+mn-lt"/>
                <a:ea typeface="+mn-ea"/>
                <a:cs typeface="+mn-cs"/>
              </a:rPr>
              <a:t>&gt; 5. </a:t>
            </a:r>
            <a:r>
              <a:rPr lang="tr-TR" sz="1200" dirty="0" smtClean="0"/>
              <a:t>Excel ile verileri düzenleyin ve bitirdiğinizde Excel'i kapatın. Bu durumda </a:t>
            </a:r>
            <a:r>
              <a:rPr lang="tr-TR" sz="1200" dirty="0" err="1" smtClean="0"/>
              <a:t>istedğiniz</a:t>
            </a:r>
            <a:r>
              <a:rPr lang="tr-TR" sz="1200" dirty="0" smtClean="0"/>
              <a:t> grafiğin PowerPoint üzerinde oluştuğunuz göreceksiniz</a:t>
            </a:r>
          </a:p>
          <a:p>
            <a:pPr marL="0" marR="0" indent="0" algn="l" defTabSz="914400" rtl="0" eaLnBrk="1" fontAlgn="auto" latinLnBrk="0" hangingPunct="1">
              <a:lnSpc>
                <a:spcPct val="100000"/>
              </a:lnSpc>
              <a:spcBef>
                <a:spcPts val="0"/>
              </a:spcBef>
              <a:spcAft>
                <a:spcPts val="0"/>
              </a:spcAft>
              <a:buClrTx/>
              <a:buSzTx/>
              <a:buFontTx/>
              <a:buNone/>
              <a:tabLst/>
              <a:defRPr/>
            </a:pPr>
            <a:endParaRPr lang="tr-TR" sz="1200" kern="1200" dirty="0" smtClean="0">
              <a:solidFill>
                <a:schemeClr val="tx1"/>
              </a:solidFill>
              <a:effectLst/>
              <a:latin typeface="+mn-lt"/>
              <a:ea typeface="+mn-ea"/>
              <a:cs typeface="+mn-cs"/>
            </a:endParaRP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2000" b="1" kern="1200" dirty="0" smtClean="0">
                <a:solidFill>
                  <a:schemeClr val="tx1"/>
                </a:solidFill>
                <a:effectLst/>
                <a:latin typeface="+mn-lt"/>
                <a:ea typeface="+mn-ea"/>
                <a:cs typeface="+mn-cs"/>
              </a:rPr>
              <a:t>0.</a:t>
            </a:r>
            <a:r>
              <a:rPr lang="tr-TR" sz="1200" kern="1200" dirty="0" smtClean="0">
                <a:solidFill>
                  <a:schemeClr val="tx1"/>
                </a:solidFill>
                <a:effectLst/>
                <a:latin typeface="+mn-lt"/>
                <a:ea typeface="+mn-ea"/>
                <a:cs typeface="+mn-cs"/>
              </a:rPr>
              <a:t> Seçilen grafik türüne bağlı olarak varsayılan olarak bir ver tablosu Excel içinde açılır. Bu ver tablosu üzerinde değişiklik yaparak grafiği de değiştirmiş oluruz.</a:t>
            </a:r>
          </a:p>
          <a:p>
            <a:endParaRPr lang="tr-TR" sz="1200" kern="1200" dirty="0" smtClean="0">
              <a:solidFill>
                <a:schemeClr val="tx1"/>
              </a:solidFill>
              <a:effectLst/>
              <a:latin typeface="+mn-lt"/>
              <a:ea typeface="+mn-ea"/>
              <a:cs typeface="+mn-cs"/>
            </a:endParaRPr>
          </a:p>
          <a:p>
            <a:r>
              <a:rPr lang="tr-TR" sz="1400" b="1" kern="1200" dirty="0" smtClean="0">
                <a:solidFill>
                  <a:schemeClr val="tx1"/>
                </a:solidFill>
                <a:effectLst/>
                <a:latin typeface="+mn-lt"/>
                <a:ea typeface="+mn-ea"/>
                <a:cs typeface="+mn-cs"/>
              </a:rPr>
              <a:t>&gt; 1. </a:t>
            </a:r>
            <a:r>
              <a:rPr lang="tr-TR" sz="1200" dirty="0" smtClean="0"/>
              <a:t>Örnek olarak verilmiş olan bir veri tablosu üzerinde değişiklik yaptığımızda grafik bu yeni verilere göre şekillenecektir. Aslında bu örnek olarak verilmiş olan grafik PowerPoint grafiklerinin genel yapısını ortaya koymaktadır. Bu grafikler örnekteki gibi bir x-y eksenlerine sahip grafikler ise </a:t>
            </a:r>
          </a:p>
          <a:p>
            <a:endParaRPr lang="tr-TR"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tr-TR" sz="1600" b="1" kern="1200" dirty="0" smtClean="0">
                <a:solidFill>
                  <a:schemeClr val="tx1"/>
                </a:solidFill>
                <a:effectLst/>
                <a:latin typeface="+mn-lt"/>
                <a:ea typeface="+mn-ea"/>
                <a:cs typeface="+mn-cs"/>
              </a:rPr>
              <a:t>&gt; 5. </a:t>
            </a:r>
            <a:r>
              <a:rPr lang="tr-TR" sz="1200" kern="1200" dirty="0" smtClean="0">
                <a:solidFill>
                  <a:schemeClr val="tx1"/>
                </a:solidFill>
                <a:effectLst/>
                <a:latin typeface="+mn-lt"/>
                <a:ea typeface="+mn-ea"/>
                <a:cs typeface="+mn-cs"/>
              </a:rPr>
              <a:t>Bu örnek grafik üzerinde Kategori olarak yıllar ve Seri olarak yılın çeyrekleri yazılıp ve buna göre değerlerde değişiklik yapılırsa, bu veri tablosu üzerinde yapılan değişiklikler PowerPoint tarafından otomatik olarak algılanır ve grafik buna göre şekillenmiş olur.</a:t>
            </a:r>
          </a:p>
          <a:p>
            <a:endParaRPr lang="tr-TR" sz="1200" dirty="0" smtClean="0"/>
          </a:p>
          <a:p>
            <a:endParaRPr lang="tr-TR" b="1"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400" b="1" dirty="0" smtClean="0"/>
              <a:t>&gt;0.</a:t>
            </a:r>
            <a:r>
              <a:rPr lang="tr-TR" sz="1400" b="1" baseline="0" dirty="0" smtClean="0"/>
              <a:t> </a:t>
            </a:r>
            <a:r>
              <a:rPr lang="tr-TR" sz="1200" kern="1200" dirty="0" smtClean="0">
                <a:solidFill>
                  <a:schemeClr val="tx1"/>
                </a:solidFill>
                <a:effectLst/>
                <a:latin typeface="+mn-lt"/>
                <a:ea typeface="+mn-ea"/>
                <a:cs typeface="+mn-cs"/>
              </a:rPr>
              <a:t>Grafikte çok sayıda öğe vardır. Grafik öğelerin biçimlerini değiştirerek grafik öğelerinin görüntüsünü değiştirebilir veya görüntülenmesini istemediğiniz grafik öğelerini kaldırabilirsiniz. Bu öğelerin tümü bir grafik düzenini oluşturmaktadır.</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8</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9</a:t>
            </a:fld>
            <a:endParaRPr lang="tr-TR"/>
          </a:p>
        </p:txBody>
      </p:sp>
    </p:spTree>
    <p:extLst>
      <p:ext uri="{BB962C8B-B14F-4D97-AF65-F5344CB8AC3E}">
        <p14:creationId xmlns:p14="http://schemas.microsoft.com/office/powerpoint/2010/main" val="41879426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17.09.2011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17.09.2011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17.09.2011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17.09.2011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17.09.2011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17.09.2011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17.09.2011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17.09.2011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17.09.2011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17.09.2011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17.09.2011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10" Type="http://schemas.openxmlformats.org/officeDocument/2006/relationships/image" Target="../media/image2.jpg"/><Relationship Id="rId4" Type="http://schemas.openxmlformats.org/officeDocument/2006/relationships/tags" Target="../tags/tag38.xml"/><Relationship Id="rId9" Type="http://schemas.openxmlformats.org/officeDocument/2006/relationships/image" Target="../media/image1.wmf"/></Relationships>
</file>

<file path=ppt/slides/_rels/slide2.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3.gif"/><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slideLayout" Target="../slideLayouts/slideLayout2.xml"/><Relationship Id="rId5" Type="http://schemas.openxmlformats.org/officeDocument/2006/relationships/tags" Target="../tags/tag46.xml"/><Relationship Id="rId4" Type="http://schemas.openxmlformats.org/officeDocument/2006/relationships/tags" Target="../tags/tag45.xml"/></Relationships>
</file>

<file path=ppt/slides/_rels/slide3.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s>
</file>

<file path=ppt/slides/_rels/slide4.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image" Target="../media/image6.png"/><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image" Target="../media/image5.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image" Target="../media/image4.png"/><Relationship Id="rId5" Type="http://schemas.openxmlformats.org/officeDocument/2006/relationships/tags" Target="../tags/tag57.xml"/><Relationship Id="rId10" Type="http://schemas.openxmlformats.org/officeDocument/2006/relationships/notesSlide" Target="../notesSlides/notesSlide1.xml"/><Relationship Id="rId4" Type="http://schemas.openxmlformats.org/officeDocument/2006/relationships/tags" Target="../tags/tag56.xml"/><Relationship Id="rId9" Type="http://schemas.openxmlformats.org/officeDocument/2006/relationships/slideLayout" Target="../slideLayouts/slideLayout13.xml"/><Relationship Id="rId1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image" Target="../media/image9.png"/><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image" Target="../media/image8.png"/><Relationship Id="rId2" Type="http://schemas.openxmlformats.org/officeDocument/2006/relationships/tags" Target="../tags/tag62.xml"/><Relationship Id="rId16" Type="http://schemas.openxmlformats.org/officeDocument/2006/relationships/image" Target="../media/image12.png"/><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notesSlide" Target="../notesSlides/notesSlide2.xml"/><Relationship Id="rId5" Type="http://schemas.openxmlformats.org/officeDocument/2006/relationships/tags" Target="../tags/tag65.xml"/><Relationship Id="rId15" Type="http://schemas.openxmlformats.org/officeDocument/2006/relationships/image" Target="../media/image11.png"/><Relationship Id="rId10" Type="http://schemas.openxmlformats.org/officeDocument/2006/relationships/slideLayout" Target="../slideLayouts/slideLayout13.xml"/><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tags" Target="../tags/tag77.xml"/><Relationship Id="rId3" Type="http://schemas.openxmlformats.org/officeDocument/2006/relationships/tags" Target="../tags/tag72.xml"/><Relationship Id="rId7" Type="http://schemas.openxmlformats.org/officeDocument/2006/relationships/tags" Target="../tags/tag76.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media/image13.png"/><Relationship Id="rId5" Type="http://schemas.openxmlformats.org/officeDocument/2006/relationships/tags" Target="../tags/tag74.xml"/><Relationship Id="rId10" Type="http://schemas.openxmlformats.org/officeDocument/2006/relationships/notesSlide" Target="../notesSlides/notesSlide3.xml"/><Relationship Id="rId4" Type="http://schemas.openxmlformats.org/officeDocument/2006/relationships/tags" Target="../tags/tag73.xml"/><Relationship Id="rId9"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tags" Target="../tags/tag85.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15.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image" Target="../media/image14.gif"/><Relationship Id="rId5" Type="http://schemas.openxmlformats.org/officeDocument/2006/relationships/tags" Target="../tags/tag82.xml"/><Relationship Id="rId10" Type="http://schemas.openxmlformats.org/officeDocument/2006/relationships/notesSlide" Target="../notesSlides/notesSlide4.xml"/><Relationship Id="rId4" Type="http://schemas.openxmlformats.org/officeDocument/2006/relationships/tags" Target="../tags/tag81.xml"/><Relationship Id="rId9"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tags" Target="../tags/tag93.xm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image" Target="../media/image16.jpeg"/><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image" Target="../media/image14.gif"/><Relationship Id="rId5" Type="http://schemas.openxmlformats.org/officeDocument/2006/relationships/tags" Target="../tags/tag90.xml"/><Relationship Id="rId10" Type="http://schemas.openxmlformats.org/officeDocument/2006/relationships/notesSlide" Target="../notesSlides/notesSlide5.xml"/><Relationship Id="rId4" Type="http://schemas.openxmlformats.org/officeDocument/2006/relationships/tags" Target="../tags/tag89.xml"/><Relationship Id="rId9"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tags" Target="../tags/tag101.xml"/><Relationship Id="rId13" Type="http://schemas.openxmlformats.org/officeDocument/2006/relationships/image" Target="../media/image18.png"/><Relationship Id="rId3" Type="http://schemas.openxmlformats.org/officeDocument/2006/relationships/tags" Target="../tags/tag96.xml"/><Relationship Id="rId7" Type="http://schemas.openxmlformats.org/officeDocument/2006/relationships/tags" Target="../tags/tag100.xml"/><Relationship Id="rId12" Type="http://schemas.openxmlformats.org/officeDocument/2006/relationships/image" Target="../media/image17.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notesSlide" Target="../notesSlides/notesSlide6.xml"/><Relationship Id="rId5" Type="http://schemas.openxmlformats.org/officeDocument/2006/relationships/tags" Target="../tags/tag98.xml"/><Relationship Id="rId10" Type="http://schemas.openxmlformats.org/officeDocument/2006/relationships/slideLayout" Target="../slideLayouts/slideLayout13.xml"/><Relationship Id="rId4" Type="http://schemas.openxmlformats.org/officeDocument/2006/relationships/tags" Target="../tags/tag97.xml"/><Relationship Id="rId9" Type="http://schemas.openxmlformats.org/officeDocument/2006/relationships/tags" Target="../tags/tag1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9"/>
          <a:stretch>
            <a:fillRect/>
          </a:stretch>
        </p:blipFill>
        <p:spPr>
          <a:xfrm>
            <a:off x="189107" y="4572000"/>
            <a:ext cx="8765785" cy="2188205"/>
          </a:xfrm>
          <a:prstGeom prst="rect">
            <a:avLst/>
          </a:prstGeom>
          <a:noFill/>
          <a:ln>
            <a:noFill/>
          </a:ln>
        </p:spPr>
      </p:pic>
      <p:sp>
        <p:nvSpPr>
          <p:cNvPr id="7" name="Dikdörtgen 6"/>
          <p:cNvSpPr/>
          <p:nvPr>
            <p:custDataLst>
              <p:tags r:id="rId1"/>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2"/>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3"/>
            </p:custDataLst>
          </p:nvPr>
        </p:nvSpPr>
        <p:spPr>
          <a:xfrm>
            <a:off x="0" y="2827491"/>
            <a:ext cx="4455328"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PowerPoint</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4"/>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5"/>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Öğr.Gör.Dr</a:t>
            </a:r>
            <a:r>
              <a:rPr lang="tr-TR" sz="1600" i="1" dirty="0" smtClean="0">
                <a:solidFill>
                  <a:schemeClr val="bg1"/>
                </a:solidFill>
              </a:rPr>
              <a:t>. Zekeriya PARLAK</a:t>
            </a:r>
            <a:endParaRPr lang="tr-TR" sz="1600" i="1" dirty="0">
              <a:solidFill>
                <a:schemeClr val="bg1"/>
              </a:solidFill>
            </a:endParaRPr>
          </a:p>
        </p:txBody>
      </p:sp>
      <p:sp>
        <p:nvSpPr>
          <p:cNvPr id="9" name="Dikdörtgen 8"/>
          <p:cNvSpPr/>
          <p:nvPr>
            <p:custDataLst>
              <p:tags r:id="rId6"/>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4" name="Resim 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96200" y="2895600"/>
            <a:ext cx="1447800" cy="1600200"/>
          </a:xfrm>
          <a:prstGeom prst="rect">
            <a:avLst/>
          </a:prstGeom>
        </p:spPr>
      </p:pic>
      <p:sp>
        <p:nvSpPr>
          <p:cNvPr id="11" name="Metin kutusu 10"/>
          <p:cNvSpPr txBox="1"/>
          <p:nvPr>
            <p:custDataLst>
              <p:tags r:id="rId7"/>
            </p:custDataLst>
          </p:nvPr>
        </p:nvSpPr>
        <p:spPr>
          <a:xfrm>
            <a:off x="7813186" y="6629400"/>
            <a:ext cx="1330814" cy="261610"/>
          </a:xfrm>
          <a:prstGeom prst="rect">
            <a:avLst/>
          </a:prstGeom>
          <a:noFill/>
        </p:spPr>
        <p:txBody>
          <a:bodyPr wrap="none" rtlCol="0">
            <a:spAutoFit/>
          </a:bodyPr>
          <a:lstStyle/>
          <a:p>
            <a:r>
              <a:rPr lang="tr-TR" sz="1100" i="1" dirty="0" smtClean="0">
                <a:latin typeface="Calibri" pitchFamily="34" charset="0"/>
                <a:cs typeface="Calibri" pitchFamily="34" charset="0"/>
              </a:rPr>
              <a:t>Sakarya Üniversitesi</a:t>
            </a:r>
            <a:endParaRPr lang="tr-TR" sz="1100" i="1" dirty="0">
              <a:latin typeface="Calibri" pitchFamily="34" charset="0"/>
              <a:cs typeface="Calibri" pitchFamily="34" charset="0"/>
            </a:endParaRPr>
          </a:p>
        </p:txBody>
      </p:sp>
    </p:spTree>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2286000"/>
            <a:ext cx="5943600" cy="1295400"/>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2361658"/>
            <a:ext cx="6705600" cy="1938992"/>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err="1" smtClean="0">
                <a:solidFill>
                  <a:schemeClr val="tx1">
                    <a:lumMod val="75000"/>
                    <a:lumOff val="25000"/>
                  </a:schemeClr>
                </a:solidFill>
                <a:latin typeface="Calibri" pitchFamily="34" charset="0"/>
                <a:cs typeface="Calibri" pitchFamily="34" charset="0"/>
              </a:rPr>
              <a:t>Slayta</a:t>
            </a:r>
            <a:r>
              <a:rPr lang="tr-TR" sz="1600" dirty="0" smtClean="0">
                <a:solidFill>
                  <a:schemeClr val="tx1">
                    <a:lumMod val="75000"/>
                    <a:lumOff val="25000"/>
                  </a:schemeClr>
                </a:solidFill>
                <a:latin typeface="Calibri" pitchFamily="34" charset="0"/>
                <a:cs typeface="Calibri" pitchFamily="34" charset="0"/>
              </a:rPr>
              <a:t> grafik ekler</a:t>
            </a:r>
          </a:p>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Farklı türlerde grafik </a:t>
            </a:r>
            <a:r>
              <a:rPr lang="tr-TR" sz="1600" dirty="0" smtClean="0">
                <a:solidFill>
                  <a:schemeClr val="tx1">
                    <a:lumMod val="75000"/>
                    <a:lumOff val="25000"/>
                  </a:schemeClr>
                </a:solidFill>
                <a:latin typeface="Calibri" pitchFamily="34" charset="0"/>
                <a:cs typeface="Calibri" pitchFamily="34" charset="0"/>
              </a:rPr>
              <a:t>oluşturmak </a:t>
            </a:r>
            <a:r>
              <a:rPr lang="tr-TR" sz="1600" dirty="0" smtClean="0">
                <a:solidFill>
                  <a:schemeClr val="tx1">
                    <a:lumMod val="75000"/>
                    <a:lumOff val="25000"/>
                  </a:schemeClr>
                </a:solidFill>
                <a:latin typeface="Calibri" pitchFamily="34" charset="0"/>
                <a:cs typeface="Calibri" pitchFamily="34" charset="0"/>
              </a:rPr>
              <a:t>için veri girer</a:t>
            </a:r>
          </a:p>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Grafiklerin biçimlendirmelerini yapar</a:t>
            </a:r>
          </a:p>
          <a:p>
            <a:pPr marL="217170" indent="-171450">
              <a:lnSpc>
                <a:spcPct val="150000"/>
              </a:lnSpc>
              <a:buClr>
                <a:schemeClr val="accent6">
                  <a:lumMod val="75000"/>
                </a:schemeClr>
              </a:buClr>
              <a:buSzPct val="130000"/>
              <a:buBlip>
                <a:blip r:embed="rId7"/>
              </a:buBlip>
              <a:tabLst>
                <a:tab pos="182563" algn="l"/>
              </a:tabLst>
            </a:pPr>
            <a:endParaRPr lang="tr-TR" sz="1600" dirty="0" smtClean="0">
              <a:solidFill>
                <a:schemeClr val="tx1">
                  <a:lumMod val="75000"/>
                  <a:lumOff val="25000"/>
                </a:schemeClr>
              </a:solidFill>
              <a:latin typeface="Calibri" pitchFamily="34" charset="0"/>
              <a:cs typeface="Calibri" pitchFamily="34" charset="0"/>
            </a:endParaRPr>
          </a:p>
          <a:p>
            <a:pPr marL="217170" indent="-171450">
              <a:lnSpc>
                <a:spcPct val="150000"/>
              </a:lnSpc>
              <a:buClr>
                <a:schemeClr val="accent6">
                  <a:lumMod val="75000"/>
                </a:schemeClr>
              </a:buClr>
              <a:buSzPct val="130000"/>
              <a:buBlip>
                <a:blip r:embed="rId7"/>
              </a:buBlip>
              <a:tabLst>
                <a:tab pos="182563" algn="l"/>
              </a:tabLst>
            </a:pPr>
            <a:endParaRPr lang="tr-TR" sz="1600" dirty="0">
              <a:solidFill>
                <a:schemeClr val="tx1">
                  <a:lumMod val="75000"/>
                  <a:lumOff val="25000"/>
                </a:schemeClr>
              </a:solidFill>
              <a:latin typeface="Calibri" pitchFamily="34" charset="0"/>
              <a:cs typeface="Calibri" pitchFamily="34" charset="0"/>
            </a:endParaRP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1"/>
            </p:custDataLst>
          </p:nvPr>
        </p:nvSpPr>
        <p:spPr>
          <a:xfrm>
            <a:off x="457200" y="2362200"/>
            <a:ext cx="80772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3"/>
            </p:custDataLst>
          </p:nvPr>
        </p:nvSpPr>
        <p:spPr>
          <a:xfrm>
            <a:off x="457200" y="2362199"/>
            <a:ext cx="7467600" cy="3048001"/>
          </a:xfrm>
          <a:prstGeom prst="rect">
            <a:avLst/>
          </a:prstGeom>
        </p:spPr>
        <p:txBody>
          <a:bodyPr>
            <a:noAutofit/>
          </a:bodyPr>
          <a:lstStyle/>
          <a:p>
            <a:pPr marL="0" lvl="1" indent="0">
              <a:spcBef>
                <a:spcPts val="0"/>
              </a:spcBef>
              <a:spcAft>
                <a:spcPts val="0"/>
              </a:spcAft>
              <a:buFont typeface="Arial" pitchFamily="34" charset="0"/>
              <a:buNone/>
            </a:pPr>
            <a:endParaRPr lang="tr-TR" sz="1800" b="1" dirty="0">
              <a:latin typeface="Calibri" pitchFamily="34" charset="0"/>
              <a:cs typeface="Calibri" pitchFamily="34" charset="0"/>
            </a:endParaRPr>
          </a:p>
          <a:p>
            <a:pPr marL="0" lvl="1" indent="0">
              <a:spcBef>
                <a:spcPts val="0"/>
              </a:spcBef>
              <a:spcAft>
                <a:spcPts val="0"/>
              </a:spcAft>
              <a:buFont typeface="Arial" pitchFamily="34" charset="0"/>
              <a:buNone/>
            </a:pPr>
            <a:r>
              <a:rPr lang="tr-TR" b="1" dirty="0">
                <a:latin typeface="Calibri" pitchFamily="34" charset="0"/>
                <a:cs typeface="Calibri" pitchFamily="34" charset="0"/>
              </a:rPr>
              <a:t>5.       Grafik ve çizim nesneleri (otomatik şekil)</a:t>
            </a:r>
          </a:p>
          <a:p>
            <a:pPr marL="274320" lvl="2" indent="0">
              <a:spcBef>
                <a:spcPts val="0"/>
              </a:spcBef>
              <a:spcAft>
                <a:spcPts val="0"/>
              </a:spcAft>
              <a:buFont typeface="Arial" pitchFamily="34" charset="0"/>
              <a:buNone/>
            </a:pPr>
            <a:r>
              <a:rPr lang="tr-TR" b="1" dirty="0">
                <a:latin typeface="Calibri" pitchFamily="34" charset="0"/>
                <a:cs typeface="Calibri" pitchFamily="34" charset="0"/>
              </a:rPr>
              <a:t>5.1.    Grafik kullanma</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5.1.1. Farklı türlerde grafik oluşturmak için veri girmek</a:t>
            </a:r>
          </a:p>
          <a:p>
            <a:pPr marL="274320" lvl="2" indent="0">
              <a:spcBef>
                <a:spcPts val="0"/>
              </a:spcBef>
              <a:spcAft>
                <a:spcPts val="0"/>
              </a:spcAft>
              <a:buFont typeface="Arial" pitchFamily="34" charset="0"/>
              <a:buNone/>
            </a:pPr>
            <a:r>
              <a:rPr lang="tr-TR" b="1" dirty="0">
                <a:latin typeface="Calibri" pitchFamily="34" charset="0"/>
                <a:cs typeface="Calibri" pitchFamily="34" charset="0"/>
              </a:rPr>
              <a:t>5.2. Grafikleri Biçimlendirmek</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5.2.1. Önceden Tanımlanmış Bir Grafik Düzenini Uygulama</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5.2.2. Önceden Tanımlanmış Bir Grafik Stilini Uygulama</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5.2.3. Sütun, çubuk çizgi, pasta Grafiğin arka plan rengini değiştirmek</a:t>
            </a:r>
          </a:p>
        </p:txBody>
      </p:sp>
      <p:sp>
        <p:nvSpPr>
          <p:cNvPr id="15" name="Slayt Numarası Yer Tutucusu 14"/>
          <p:cNvSpPr>
            <a:spLocks noGrp="1"/>
          </p:cNvSpPr>
          <p:nvPr>
            <p:ph type="sldNum" sz="quarter" idx="12"/>
            <p:custDataLst>
              <p:tags r:id="rId4"/>
            </p:custDataLst>
          </p:nvPr>
        </p:nvSpPr>
        <p:spPr/>
        <p:txBody>
          <a:bodyPr/>
          <a:lstStyle/>
          <a:p>
            <a:fld id="{C1FA2219-9131-49AD-A1B5-1FFD48A79E7F}" type="slidenum">
              <a:rPr lang="tr-TR" smtClean="0"/>
              <a:t>3</a:t>
            </a:fld>
            <a:endParaRPr lang="tr-TR"/>
          </a:p>
        </p:txBody>
      </p:sp>
      <p:sp>
        <p:nvSpPr>
          <p:cNvPr id="6" name="Dikdörtgen 5"/>
          <p:cNvSpPr/>
          <p:nvPr>
            <p:custDataLst>
              <p:tags r:id="rId5"/>
            </p:custDataLst>
          </p:nvPr>
        </p:nvSpPr>
        <p:spPr>
          <a:xfrm>
            <a:off x="457200" y="1828800"/>
            <a:ext cx="80772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tr-T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tr-TR"/>
          </a:p>
        </p:txBody>
      </p:sp>
      <p:sp>
        <p:nvSpPr>
          <p:cNvPr id="7" name="Metin kutusu 6"/>
          <p:cNvSpPr txBox="1"/>
          <p:nvPr>
            <p:custDataLst>
              <p:tags r:id="rId6"/>
            </p:custDataLst>
          </p:nvPr>
        </p:nvSpPr>
        <p:spPr>
          <a:xfrm>
            <a:off x="533400" y="1964525"/>
            <a:ext cx="2667000" cy="242631"/>
          </a:xfrm>
          <a:prstGeom prst="rect">
            <a:avLst/>
          </a:prstGeom>
          <a:noFill/>
        </p:spPr>
        <p:txBody>
          <a:bodyPr wrap="square" rtlCol="0">
            <a:spAutoFit/>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Tree>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Grafik </a:t>
            </a:r>
            <a:r>
              <a:rPr lang="tr-TR" sz="29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kullanma</a:t>
            </a:r>
            <a:endPar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err="1">
                <a:solidFill>
                  <a:schemeClr val="bg1"/>
                </a:solidFill>
              </a:rPr>
              <a:t>Slayta</a:t>
            </a:r>
            <a:r>
              <a:rPr lang="tr-TR" sz="1400" b="1" dirty="0">
                <a:solidFill>
                  <a:schemeClr val="bg1"/>
                </a:solidFill>
              </a:rPr>
              <a:t> grafik </a:t>
            </a:r>
            <a:r>
              <a:rPr lang="tr-TR" sz="1400" b="1" dirty="0" smtClean="0">
                <a:solidFill>
                  <a:schemeClr val="bg1"/>
                </a:solidFill>
              </a:rPr>
              <a:t>ekler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533400" y="1371600"/>
            <a:ext cx="7772400" cy="5509200"/>
          </a:xfrm>
          <a:prstGeom prst="rect">
            <a:avLst/>
          </a:prstGeom>
          <a:noFill/>
        </p:spPr>
        <p:txBody>
          <a:bodyPr wrap="square" rtlCol="0">
            <a:spAutoFit/>
          </a:bodyPr>
          <a:lstStyle/>
          <a:p>
            <a:r>
              <a:rPr lang="tr-TR" sz="1600" dirty="0"/>
              <a:t>Grafik eklemek için;</a:t>
            </a:r>
          </a:p>
          <a:p>
            <a:pPr marL="342900" indent="-342900">
              <a:buFont typeface="+mj-lt"/>
              <a:buAutoNum type="arabicPeriod"/>
            </a:pPr>
            <a:r>
              <a:rPr lang="tr-TR" sz="1600" b="1" i="1" dirty="0" smtClean="0"/>
              <a:t>Ekle </a:t>
            </a:r>
            <a:r>
              <a:rPr lang="tr-TR" sz="1600" b="1" i="1" dirty="0"/>
              <a:t>sekmesi &gt; Çizimler komut grubu &gt; </a:t>
            </a:r>
            <a:r>
              <a:rPr lang="tr-TR" sz="1600" b="1" i="1" dirty="0" err="1"/>
              <a:t>Grafik</a:t>
            </a:r>
            <a:r>
              <a:rPr lang="tr-TR" sz="1600" dirty="0" err="1"/>
              <a:t>'i</a:t>
            </a:r>
            <a:r>
              <a:rPr lang="tr-TR" sz="1600" dirty="0"/>
              <a:t> tıklatın</a:t>
            </a:r>
            <a:r>
              <a:rPr lang="tr-TR" sz="1600" dirty="0" smtClean="0"/>
              <a:t>.</a:t>
            </a:r>
          </a:p>
          <a:p>
            <a:pPr marL="342900" indent="-342900">
              <a:buFont typeface="+mj-lt"/>
              <a:buAutoNum type="arabicPeriod"/>
            </a:pPr>
            <a:endParaRPr lang="tr-TR" sz="1600" dirty="0"/>
          </a:p>
          <a:p>
            <a:pPr marL="342900" indent="-342900">
              <a:buFont typeface="+mj-lt"/>
              <a:buAutoNum type="arabicPeriod"/>
            </a:pPr>
            <a:endParaRPr lang="tr-TR" sz="1600" dirty="0" smtClean="0"/>
          </a:p>
          <a:p>
            <a:pPr marL="342900" indent="-342900">
              <a:buFont typeface="+mj-lt"/>
              <a:buAutoNum type="arabicPeriod"/>
            </a:pPr>
            <a:endParaRPr lang="tr-TR" sz="1600" dirty="0"/>
          </a:p>
          <a:p>
            <a:pPr marL="342900" indent="-342900">
              <a:buFont typeface="+mj-lt"/>
              <a:buAutoNum type="arabicPeriod"/>
            </a:pPr>
            <a:endParaRPr lang="tr-TR" sz="1600" dirty="0" smtClean="0"/>
          </a:p>
          <a:p>
            <a:pPr marL="342900" indent="-342900">
              <a:buFont typeface="+mj-lt"/>
              <a:buAutoNum type="arabicPeriod"/>
            </a:pPr>
            <a:endParaRPr lang="tr-TR" sz="1600" dirty="0"/>
          </a:p>
          <a:p>
            <a:pPr marL="342900" indent="-342900">
              <a:buFont typeface="+mj-lt"/>
              <a:buAutoNum type="arabicPeriod"/>
            </a:pPr>
            <a:r>
              <a:rPr lang="tr-TR" sz="1600" dirty="0" smtClean="0"/>
              <a:t>Alternatif </a:t>
            </a:r>
            <a:r>
              <a:rPr lang="tr-TR" sz="1600" dirty="0"/>
              <a:t>olarak içerik eklenebilecek şekilde tasarlanmış slayt düzenlerinde, </a:t>
            </a:r>
            <a:r>
              <a:rPr lang="tr-TR" sz="1600" b="1" i="1" dirty="0"/>
              <a:t>Grafik Ekle öğesini</a:t>
            </a:r>
            <a:r>
              <a:rPr lang="tr-TR" sz="1600" dirty="0"/>
              <a:t> </a:t>
            </a:r>
            <a:r>
              <a:rPr lang="tr-TR" sz="1600" dirty="0" smtClean="0"/>
              <a:t>(          ) </a:t>
            </a:r>
            <a:r>
              <a:rPr lang="tr-TR" sz="1600" dirty="0" err="1" smtClean="0"/>
              <a:t>tıklalayabilirsiniz</a:t>
            </a:r>
            <a:endParaRPr lang="tr-TR" sz="1600" dirty="0" smtClean="0"/>
          </a:p>
          <a:p>
            <a:pPr marL="342900" indent="-342900">
              <a:buFont typeface="+mj-lt"/>
              <a:buAutoNum type="arabicPeriod"/>
            </a:pPr>
            <a:endParaRPr lang="tr-TR" sz="1600" dirty="0"/>
          </a:p>
          <a:p>
            <a:pPr marL="342900" indent="-342900">
              <a:buFont typeface="+mj-lt"/>
              <a:buAutoNum type="arabicPeriod"/>
            </a:pPr>
            <a:endParaRPr lang="tr-TR" sz="1600" dirty="0" smtClean="0"/>
          </a:p>
          <a:p>
            <a:pPr marL="342900" indent="-342900">
              <a:buFont typeface="+mj-lt"/>
              <a:buAutoNum type="arabicPeriod"/>
            </a:pPr>
            <a:endParaRPr lang="tr-TR" sz="1600" dirty="0" smtClean="0"/>
          </a:p>
          <a:p>
            <a:pPr marL="342900" indent="-342900">
              <a:buFont typeface="+mj-lt"/>
              <a:buAutoNum type="arabicPeriod"/>
            </a:pPr>
            <a:r>
              <a:rPr lang="tr-TR" sz="1600" dirty="0" smtClean="0"/>
              <a:t>Açılan </a:t>
            </a:r>
            <a:r>
              <a:rPr lang="tr-TR" sz="1600" b="1" i="1" dirty="0"/>
              <a:t>Grafik Ekle </a:t>
            </a:r>
            <a:r>
              <a:rPr lang="tr-TR" sz="1600" dirty="0"/>
              <a:t>iletişim kutusunda, İstediğiniz grafik türünü seçip </a:t>
            </a:r>
            <a:r>
              <a:rPr lang="tr-TR" sz="1600" b="1" i="1" dirty="0"/>
              <a:t>Tamam</a:t>
            </a:r>
            <a:r>
              <a:rPr lang="tr-TR" sz="1600" dirty="0"/>
              <a:t>’a tıklayın</a:t>
            </a:r>
            <a:r>
              <a:rPr lang="tr-TR" sz="1600" dirty="0" smtClean="0"/>
              <a:t>.</a:t>
            </a:r>
          </a:p>
          <a:p>
            <a:pPr marL="342900" indent="-342900">
              <a:buFont typeface="+mj-lt"/>
              <a:buAutoNum type="arabicPeriod"/>
            </a:pPr>
            <a:endParaRPr lang="tr-TR" sz="1600" dirty="0"/>
          </a:p>
          <a:p>
            <a:pPr marL="342900" indent="-342900">
              <a:buFont typeface="+mj-lt"/>
              <a:buAutoNum type="arabicPeriod"/>
            </a:pPr>
            <a:endParaRPr lang="tr-TR" sz="1600" dirty="0" smtClean="0"/>
          </a:p>
          <a:p>
            <a:pPr marL="342900" indent="-342900">
              <a:buFont typeface="+mj-lt"/>
              <a:buAutoNum type="arabicPeriod"/>
            </a:pPr>
            <a:endParaRPr lang="tr-TR" sz="1600" dirty="0"/>
          </a:p>
          <a:p>
            <a:pPr marL="342900" indent="-342900">
              <a:buFont typeface="+mj-lt"/>
              <a:buAutoNum type="arabicPeriod"/>
            </a:pPr>
            <a:endParaRPr lang="tr-TR" sz="1600" dirty="0" smtClean="0"/>
          </a:p>
          <a:p>
            <a:pPr marL="342900" indent="-342900">
              <a:buFont typeface="+mj-lt"/>
              <a:buAutoNum type="arabicPeriod"/>
            </a:pPr>
            <a:endParaRPr lang="tr-TR" sz="1600" dirty="0"/>
          </a:p>
          <a:p>
            <a:pPr marL="342900" indent="-342900">
              <a:buFont typeface="+mj-lt"/>
              <a:buAutoNum type="arabicPeriod"/>
            </a:pPr>
            <a:endParaRPr lang="tr-TR" sz="1600" dirty="0" smtClean="0"/>
          </a:p>
          <a:p>
            <a:pPr marL="342900" indent="-342900">
              <a:buFont typeface="+mj-lt"/>
              <a:buAutoNum type="arabicPeriod"/>
            </a:pPr>
            <a:endParaRPr lang="tr-TR" sz="1600" dirty="0"/>
          </a:p>
          <a:p>
            <a:pPr marL="342900" indent="-342900">
              <a:buFont typeface="+mj-lt"/>
              <a:buAutoNum type="arabicPeriod"/>
            </a:pPr>
            <a:r>
              <a:rPr lang="tr-TR" sz="1600" dirty="0" smtClean="0"/>
              <a:t>İstediğiniz </a:t>
            </a:r>
            <a:r>
              <a:rPr lang="tr-TR" sz="1600" dirty="0"/>
              <a:t>bir grafik türünü seçtiğinizde ekranınınız diğer </a:t>
            </a:r>
            <a:r>
              <a:rPr lang="tr-TR" sz="1600" dirty="0" smtClean="0"/>
              <a:t>tarafında </a:t>
            </a:r>
            <a:r>
              <a:rPr lang="tr-TR" sz="1600" dirty="0"/>
              <a:t>grafik verilerini düzenlemek için Excel 2010 açılacaktır. </a:t>
            </a:r>
          </a:p>
        </p:txBody>
      </p:sp>
      <p:pic>
        <p:nvPicPr>
          <p:cNvPr id="14" name="Resim 13"/>
          <p:cNvPicPr/>
          <p:nvPr/>
        </p:nvPicPr>
        <p:blipFill>
          <a:blip r:embed="rId11"/>
          <a:stretch>
            <a:fillRect/>
          </a:stretch>
        </p:blipFill>
        <p:spPr>
          <a:xfrm>
            <a:off x="958816" y="2057400"/>
            <a:ext cx="1860584" cy="1116570"/>
          </a:xfrm>
          <a:prstGeom prst="rect">
            <a:avLst/>
          </a:prstGeom>
        </p:spPr>
      </p:pic>
      <p:pic>
        <p:nvPicPr>
          <p:cNvPr id="15" name="Resim 14"/>
          <p:cNvPicPr/>
          <p:nvPr/>
        </p:nvPicPr>
        <p:blipFill rotWithShape="1">
          <a:blip r:embed="rId12"/>
          <a:srcRect t="15478"/>
          <a:stretch/>
        </p:blipFill>
        <p:spPr>
          <a:xfrm>
            <a:off x="1677346" y="3317467"/>
            <a:ext cx="380365" cy="313443"/>
          </a:xfrm>
          <a:prstGeom prst="rect">
            <a:avLst/>
          </a:prstGeom>
        </p:spPr>
      </p:pic>
      <p:pic>
        <p:nvPicPr>
          <p:cNvPr id="16" name="Resim 15"/>
          <p:cNvPicPr/>
          <p:nvPr/>
        </p:nvPicPr>
        <p:blipFill>
          <a:blip r:embed="rId13"/>
          <a:stretch>
            <a:fillRect/>
          </a:stretch>
        </p:blipFill>
        <p:spPr>
          <a:xfrm>
            <a:off x="1015966" y="3622406"/>
            <a:ext cx="1170940" cy="761365"/>
          </a:xfrm>
          <a:prstGeom prst="rect">
            <a:avLst/>
          </a:prstGeom>
        </p:spPr>
      </p:pic>
      <p:pic>
        <p:nvPicPr>
          <p:cNvPr id="17" name="Resim 16" descr="C:\Users\zparlak\AppData\Local\Temp\SNAGHTML551594.PNG"/>
          <p:cNvPicPr/>
          <p:nvPr/>
        </p:nvPicPr>
        <p:blipFill>
          <a:blip r:embed="rId14">
            <a:extLst>
              <a:ext uri="{28A0092B-C50C-407E-A947-70E740481C1C}">
                <a14:useLocalDpi xmlns:a14="http://schemas.microsoft.com/office/drawing/2010/main" val="0"/>
              </a:ext>
            </a:extLst>
          </a:blip>
          <a:srcRect/>
          <a:stretch>
            <a:fillRect/>
          </a:stretch>
        </p:blipFill>
        <p:spPr bwMode="auto">
          <a:xfrm>
            <a:off x="958816" y="4572000"/>
            <a:ext cx="2590800" cy="1762249"/>
          </a:xfrm>
          <a:prstGeom prst="rect">
            <a:avLst/>
          </a:prstGeom>
          <a:noFill/>
          <a:ln>
            <a:noFill/>
          </a:ln>
        </p:spPr>
      </p:pic>
    </p:spTree>
    <p:custDataLst>
      <p:tags r:id="rId1"/>
    </p:custDataLst>
    <p:extLst>
      <p:ext uri="{BB962C8B-B14F-4D97-AF65-F5344CB8AC3E}">
        <p14:creationId xmlns:p14="http://schemas.microsoft.com/office/powerpoint/2010/main" val="2418504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7" end="7"/>
                                            </p:txEl>
                                          </p:spTgt>
                                        </p:tgtEl>
                                        <p:attrNameLst>
                                          <p:attrName>style.visibility</p:attrName>
                                        </p:attrNameLst>
                                      </p:cBhvr>
                                      <p:to>
                                        <p:strVal val="visible"/>
                                      </p:to>
                                    </p:set>
                                    <p:animEffect transition="in" filter="fade">
                                      <p:cBhvr>
                                        <p:cTn id="20" dur="500"/>
                                        <p:tgtEl>
                                          <p:spTgt spid="7">
                                            <p:txEl>
                                              <p:pRg st="7" end="7"/>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xEl>
                                              <p:pRg st="11" end="11"/>
                                            </p:txEl>
                                          </p:spTgt>
                                        </p:tgtEl>
                                        <p:attrNameLst>
                                          <p:attrName>style.visibility</p:attrName>
                                        </p:attrNameLst>
                                      </p:cBhvr>
                                      <p:to>
                                        <p:strVal val="visible"/>
                                      </p:to>
                                    </p:set>
                                    <p:animEffect transition="in" filter="fade">
                                      <p:cBhvr>
                                        <p:cTn id="31" dur="500"/>
                                        <p:tgtEl>
                                          <p:spTgt spid="7">
                                            <p:txEl>
                                              <p:pRg st="11" end="1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7">
                                            <p:txEl>
                                              <p:pRg st="19" end="19"/>
                                            </p:txEl>
                                          </p:spTgt>
                                        </p:tgtEl>
                                        <p:attrNameLst>
                                          <p:attrName>style.visibility</p:attrName>
                                        </p:attrNameLst>
                                      </p:cBhvr>
                                      <p:to>
                                        <p:strVal val="visible"/>
                                      </p:to>
                                    </p:set>
                                    <p:animEffect transition="in" filter="fade">
                                      <p:cBhvr>
                                        <p:cTn id="39" dur="500"/>
                                        <p:tgtEl>
                                          <p:spTgt spid="7">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Farklı türlerde grafik oluşturmak için veri girmek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Farklı türlerde grafik </a:t>
            </a:r>
            <a:r>
              <a:rPr lang="tr-TR" sz="1400" b="1" dirty="0" smtClean="0">
                <a:solidFill>
                  <a:schemeClr val="bg1"/>
                </a:solidFill>
              </a:rPr>
              <a:t>oluşturur </a:t>
            </a:r>
            <a:r>
              <a:rPr lang="tr-TR" sz="1400" b="1" dirty="0">
                <a:solidFill>
                  <a:schemeClr val="bg1"/>
                </a:solidFill>
              </a:rPr>
              <a:t>için veri </a:t>
            </a:r>
            <a:r>
              <a:rPr lang="tr-TR" sz="1400" b="1" dirty="0" smtClean="0">
                <a:solidFill>
                  <a:schemeClr val="bg1"/>
                </a:solidFill>
              </a:rPr>
              <a:t>girer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a:p>
        </p:txBody>
      </p:sp>
      <p:pic>
        <p:nvPicPr>
          <p:cNvPr id="1026"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 y="1066800"/>
            <a:ext cx="3838575"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59657" y="1304925"/>
            <a:ext cx="3162300" cy="143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Metin kutusu 16"/>
          <p:cNvSpPr txBox="1"/>
          <p:nvPr>
            <p:custDataLst>
              <p:tags r:id="rId5"/>
            </p:custDataLst>
          </p:nvPr>
        </p:nvSpPr>
        <p:spPr>
          <a:xfrm>
            <a:off x="533400" y="3048000"/>
            <a:ext cx="7772400" cy="1354217"/>
          </a:xfrm>
          <a:prstGeom prst="rect">
            <a:avLst/>
          </a:prstGeom>
          <a:noFill/>
        </p:spPr>
        <p:txBody>
          <a:bodyPr wrap="square" rtlCol="0">
            <a:spAutoFit/>
          </a:bodyPr>
          <a:lstStyle/>
          <a:p>
            <a:pPr lvl="0"/>
            <a:r>
              <a:rPr lang="tr-TR" sz="1600" dirty="0" smtClean="0"/>
              <a:t>1 numara </a:t>
            </a:r>
            <a:r>
              <a:rPr lang="tr-TR" sz="1600" b="1" i="1" dirty="0" smtClean="0"/>
              <a:t>x </a:t>
            </a:r>
            <a:r>
              <a:rPr lang="tr-TR" sz="1600" b="1" i="1" dirty="0"/>
              <a:t>ekseni Kategorileri</a:t>
            </a:r>
            <a:r>
              <a:rPr lang="tr-TR" sz="1600" dirty="0"/>
              <a:t>, </a:t>
            </a:r>
            <a:endParaRPr lang="tr-TR" sz="1600" dirty="0" smtClean="0"/>
          </a:p>
          <a:p>
            <a:pPr lvl="0"/>
            <a:r>
              <a:rPr lang="tr-TR" sz="1600" dirty="0" smtClean="0"/>
              <a:t>2 numara </a:t>
            </a:r>
            <a:r>
              <a:rPr lang="tr-TR" sz="1600" b="1" i="1" dirty="0" smtClean="0"/>
              <a:t>y </a:t>
            </a:r>
            <a:r>
              <a:rPr lang="tr-TR" sz="1600" b="1" i="1" dirty="0"/>
              <a:t>ekseni Değerleri</a:t>
            </a:r>
            <a:r>
              <a:rPr lang="tr-TR" sz="1600" dirty="0"/>
              <a:t>, </a:t>
            </a:r>
          </a:p>
          <a:p>
            <a:r>
              <a:rPr lang="tr-TR" sz="1600" dirty="0" smtClean="0"/>
              <a:t>3 numara bu </a:t>
            </a:r>
            <a:r>
              <a:rPr lang="tr-TR" sz="1600" dirty="0"/>
              <a:t>örnekte sütun olarak gösterilmiş olan ancak çubuk veya çizgi şeklinde de olabilecek olan </a:t>
            </a:r>
            <a:r>
              <a:rPr lang="tr-TR" sz="1600" b="1" i="1" dirty="0"/>
              <a:t>Serileri</a:t>
            </a:r>
            <a:r>
              <a:rPr lang="tr-TR" sz="1600" dirty="0"/>
              <a:t> </a:t>
            </a:r>
            <a:r>
              <a:rPr lang="tr-TR" sz="1600" dirty="0" smtClean="0"/>
              <a:t> </a:t>
            </a:r>
            <a:r>
              <a:rPr lang="tr-TR" sz="1600" dirty="0"/>
              <a:t>göstermektedir.</a:t>
            </a:r>
          </a:p>
          <a:p>
            <a:pPr lvl="0"/>
            <a:endParaRPr lang="tr-TR" sz="1600" dirty="0"/>
          </a:p>
        </p:txBody>
      </p:sp>
      <p:pic>
        <p:nvPicPr>
          <p:cNvPr id="19" name="Resim 18"/>
          <p:cNvPicPr/>
          <p:nvPr/>
        </p:nvPicPr>
        <p:blipFill>
          <a:blip r:embed="rId14"/>
          <a:stretch>
            <a:fillRect/>
          </a:stretch>
        </p:blipFill>
        <p:spPr>
          <a:xfrm>
            <a:off x="611714" y="4114800"/>
            <a:ext cx="2668270" cy="1439545"/>
          </a:xfrm>
          <a:prstGeom prst="rect">
            <a:avLst/>
          </a:prstGeom>
        </p:spPr>
      </p:pic>
      <p:pic>
        <p:nvPicPr>
          <p:cNvPr id="20" name="Resim 19"/>
          <p:cNvPicPr/>
          <p:nvPr/>
        </p:nvPicPr>
        <p:blipFill>
          <a:blip r:embed="rId15"/>
          <a:stretch>
            <a:fillRect/>
          </a:stretch>
        </p:blipFill>
        <p:spPr>
          <a:xfrm>
            <a:off x="5143514" y="4358005"/>
            <a:ext cx="2394585" cy="899795"/>
          </a:xfrm>
          <a:prstGeom prst="rect">
            <a:avLst/>
          </a:prstGeom>
        </p:spPr>
      </p:pic>
      <p:sp>
        <p:nvSpPr>
          <p:cNvPr id="21" name="Metin kutusu 20"/>
          <p:cNvSpPr txBox="1"/>
          <p:nvPr>
            <p:custDataLst>
              <p:tags r:id="rId6"/>
            </p:custDataLst>
          </p:nvPr>
        </p:nvSpPr>
        <p:spPr>
          <a:xfrm>
            <a:off x="533400" y="5562600"/>
            <a:ext cx="7772400" cy="1569660"/>
          </a:xfrm>
          <a:prstGeom prst="rect">
            <a:avLst/>
          </a:prstGeom>
          <a:noFill/>
        </p:spPr>
        <p:txBody>
          <a:bodyPr wrap="square" rtlCol="0">
            <a:spAutoFit/>
          </a:bodyPr>
          <a:lstStyle/>
          <a:p>
            <a:r>
              <a:rPr lang="tr-TR" sz="1600" dirty="0"/>
              <a:t>Excel kapatıldıktan sonra bu veriler üzerinde tekrar bir değişiklik yapmak için </a:t>
            </a:r>
          </a:p>
          <a:p>
            <a:pPr marL="342900" lvl="0" indent="-342900">
              <a:buFont typeface="+mj-lt"/>
              <a:buAutoNum type="arabicPeriod"/>
            </a:pPr>
            <a:r>
              <a:rPr lang="tr-TR" sz="1600" dirty="0"/>
              <a:t>Grafiği seçin</a:t>
            </a:r>
          </a:p>
          <a:p>
            <a:pPr marL="342900" lvl="0" indent="-342900">
              <a:buFont typeface="+mj-lt"/>
              <a:buAutoNum type="arabicPeriod"/>
            </a:pPr>
            <a:r>
              <a:rPr lang="tr-TR" sz="1600" dirty="0"/>
              <a:t>Grafik seçildiğinde Grafik araçları başlığı altında üç adet ek sekme açılır. </a:t>
            </a:r>
          </a:p>
          <a:p>
            <a:pPr marL="342900" lvl="0" indent="-342900">
              <a:buFont typeface="+mj-lt"/>
              <a:buAutoNum type="arabicPeriod"/>
            </a:pPr>
            <a:r>
              <a:rPr lang="tr-TR" sz="1600" b="1" i="1" dirty="0"/>
              <a:t>Tasarım ek sekmesi &gt; Veri komut grubu &gt; Verileri </a:t>
            </a:r>
            <a:r>
              <a:rPr lang="tr-TR" sz="1600" b="1" i="1" dirty="0" err="1"/>
              <a:t>Düzenle</a:t>
            </a:r>
            <a:r>
              <a:rPr lang="tr-TR" sz="1600" dirty="0" err="1"/>
              <a:t>’ye</a:t>
            </a:r>
            <a:r>
              <a:rPr lang="tr-TR" sz="1600" dirty="0"/>
              <a:t> tıklatın</a:t>
            </a:r>
            <a:r>
              <a:rPr lang="tr-TR" sz="1600" dirty="0" smtClean="0"/>
              <a:t>.</a:t>
            </a:r>
          </a:p>
          <a:p>
            <a:pPr marL="342900" indent="-342900">
              <a:buFont typeface="+mj-lt"/>
              <a:buAutoNum type="arabicPeriod"/>
            </a:pPr>
            <a:r>
              <a:rPr lang="tr-TR" sz="1600" dirty="0"/>
              <a:t>Excel ekranı tekrar açılacaktır. İstediğiniz değişikleri yapın ve Excel’i </a:t>
            </a:r>
            <a:r>
              <a:rPr lang="tr-TR" sz="1600" dirty="0" smtClean="0"/>
              <a:t>kapatın</a:t>
            </a:r>
            <a:endParaRPr lang="tr-TR" sz="1600" dirty="0"/>
          </a:p>
          <a:p>
            <a:pPr lvl="0"/>
            <a:endParaRPr lang="tr-TR" sz="1600" dirty="0"/>
          </a:p>
        </p:txBody>
      </p:sp>
      <p:pic>
        <p:nvPicPr>
          <p:cNvPr id="22" name="Resim 21"/>
          <p:cNvPicPr/>
          <p:nvPr/>
        </p:nvPicPr>
        <p:blipFill>
          <a:blip r:embed="rId16"/>
          <a:stretch>
            <a:fillRect/>
          </a:stretch>
        </p:blipFill>
        <p:spPr>
          <a:xfrm>
            <a:off x="7357745" y="5943600"/>
            <a:ext cx="1557655" cy="662940"/>
          </a:xfrm>
          <a:prstGeom prst="rect">
            <a:avLst/>
          </a:prstGeom>
        </p:spPr>
      </p:pic>
    </p:spTree>
    <p:custDataLst>
      <p:tags r:id="rId1"/>
    </p:custDataLst>
    <p:extLst>
      <p:ext uri="{BB962C8B-B14F-4D97-AF65-F5344CB8AC3E}">
        <p14:creationId xmlns:p14="http://schemas.microsoft.com/office/powerpoint/2010/main" val="273535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par>
                                <p:cTn id="8" presetID="10" presetClass="entr" presetSubtype="0" fill="hold" nodeType="withEffect">
                                  <p:stCondLst>
                                    <p:cond delay="0"/>
                                  </p:stCondLst>
                                  <p:childTnLst>
                                    <p:set>
                                      <p:cBhvr>
                                        <p:cTn id="9" dur="1" fill="hold">
                                          <p:stCondLst>
                                            <p:cond delay="0"/>
                                          </p:stCondLst>
                                        </p:cTn>
                                        <p:tgtEl>
                                          <p:spTgt spid="1027"/>
                                        </p:tgtEl>
                                        <p:attrNameLst>
                                          <p:attrName>style.visibility</p:attrName>
                                        </p:attrNameLst>
                                      </p:cBhvr>
                                      <p:to>
                                        <p:strVal val="visible"/>
                                      </p:to>
                                    </p:set>
                                    <p:animEffect transition="in" filter="fade">
                                      <p:cBhvr>
                                        <p:cTn id="10" dur="500"/>
                                        <p:tgtEl>
                                          <p:spTgt spid="10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xEl>
                                              <p:pRg st="0" end="0"/>
                                            </p:txEl>
                                          </p:spTgt>
                                        </p:tgtEl>
                                        <p:attrNameLst>
                                          <p:attrName>style.visibility</p:attrName>
                                        </p:attrNameLst>
                                      </p:cBhvr>
                                      <p:to>
                                        <p:strVal val="visible"/>
                                      </p:to>
                                    </p:set>
                                    <p:animEffect transition="in" filter="fade">
                                      <p:cBhvr>
                                        <p:cTn id="15" dur="500"/>
                                        <p:tgtEl>
                                          <p:spTgt spid="1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xEl>
                                              <p:pRg st="1" end="1"/>
                                            </p:txEl>
                                          </p:spTgt>
                                        </p:tgtEl>
                                        <p:attrNameLst>
                                          <p:attrName>style.visibility</p:attrName>
                                        </p:attrNameLst>
                                      </p:cBhvr>
                                      <p:to>
                                        <p:strVal val="visible"/>
                                      </p:to>
                                    </p:set>
                                    <p:animEffect transition="in" filter="fade">
                                      <p:cBhvr>
                                        <p:cTn id="20" dur="500"/>
                                        <p:tgtEl>
                                          <p:spTgt spid="1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xEl>
                                              <p:pRg st="2" end="2"/>
                                            </p:txEl>
                                          </p:spTgt>
                                        </p:tgtEl>
                                        <p:attrNameLst>
                                          <p:attrName>style.visibility</p:attrName>
                                        </p:attrNameLst>
                                      </p:cBhvr>
                                      <p:to>
                                        <p:strVal val="visible"/>
                                      </p:to>
                                    </p:set>
                                    <p:animEffect transition="in" filter="fade">
                                      <p:cBhvr>
                                        <p:cTn id="25" dur="500"/>
                                        <p:tgtEl>
                                          <p:spTgt spid="1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xEl>
                                              <p:pRg st="0" end="0"/>
                                            </p:txEl>
                                          </p:spTgt>
                                        </p:tgtEl>
                                        <p:attrNameLst>
                                          <p:attrName>style.visibility</p:attrName>
                                        </p:attrNameLst>
                                      </p:cBhvr>
                                      <p:to>
                                        <p:strVal val="visible"/>
                                      </p:to>
                                    </p:set>
                                    <p:animEffect transition="in" filter="fade">
                                      <p:cBhvr>
                                        <p:cTn id="38" dur="500"/>
                                        <p:tgtEl>
                                          <p:spTgt spid="21">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1">
                                            <p:txEl>
                                              <p:pRg st="1" end="1"/>
                                            </p:txEl>
                                          </p:spTgt>
                                        </p:tgtEl>
                                        <p:attrNameLst>
                                          <p:attrName>style.visibility</p:attrName>
                                        </p:attrNameLst>
                                      </p:cBhvr>
                                      <p:to>
                                        <p:strVal val="visible"/>
                                      </p:to>
                                    </p:set>
                                    <p:animEffect transition="in" filter="fade">
                                      <p:cBhvr>
                                        <p:cTn id="43" dur="500"/>
                                        <p:tgtEl>
                                          <p:spTgt spid="21">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1">
                                            <p:txEl>
                                              <p:pRg st="2" end="2"/>
                                            </p:txEl>
                                          </p:spTgt>
                                        </p:tgtEl>
                                        <p:attrNameLst>
                                          <p:attrName>style.visibility</p:attrName>
                                        </p:attrNameLst>
                                      </p:cBhvr>
                                      <p:to>
                                        <p:strVal val="visible"/>
                                      </p:to>
                                    </p:set>
                                    <p:animEffect transition="in" filter="fade">
                                      <p:cBhvr>
                                        <p:cTn id="48" dur="500"/>
                                        <p:tgtEl>
                                          <p:spTgt spid="21">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1">
                                            <p:txEl>
                                              <p:pRg st="3" end="3"/>
                                            </p:txEl>
                                          </p:spTgt>
                                        </p:tgtEl>
                                        <p:attrNameLst>
                                          <p:attrName>style.visibility</p:attrName>
                                        </p:attrNameLst>
                                      </p:cBhvr>
                                      <p:to>
                                        <p:strVal val="visible"/>
                                      </p:to>
                                    </p:set>
                                    <p:animEffect transition="in" filter="fade">
                                      <p:cBhvr>
                                        <p:cTn id="53" dur="500"/>
                                        <p:tgtEl>
                                          <p:spTgt spid="21">
                                            <p:txEl>
                                              <p:pRg st="3" end="3"/>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1">
                                            <p:txEl>
                                              <p:pRg st="4" end="4"/>
                                            </p:txEl>
                                          </p:spTgt>
                                        </p:tgtEl>
                                        <p:attrNameLst>
                                          <p:attrName>style.visibility</p:attrName>
                                        </p:attrNameLst>
                                      </p:cBhvr>
                                      <p:to>
                                        <p:strVal val="visible"/>
                                      </p:to>
                                    </p:set>
                                    <p:animEffect transition="in" filter="fade">
                                      <p:cBhvr>
                                        <p:cTn id="61" dur="500"/>
                                        <p:tgtEl>
                                          <p:spTgt spid="2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uiExpand="1" build="p"/>
      <p:bldP spid="21"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Grafikleri Biçimlendirmek </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Grafiklerin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pic>
        <p:nvPicPr>
          <p:cNvPr id="2050"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3400" y="1295400"/>
            <a:ext cx="4982547"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Metin kutusu 13"/>
          <p:cNvSpPr txBox="1"/>
          <p:nvPr>
            <p:custDataLst>
              <p:tags r:id="rId5"/>
            </p:custDataLst>
          </p:nvPr>
        </p:nvSpPr>
        <p:spPr>
          <a:xfrm>
            <a:off x="5638800" y="1295400"/>
            <a:ext cx="3505200" cy="3046988"/>
          </a:xfrm>
          <a:prstGeom prst="rect">
            <a:avLst/>
          </a:prstGeom>
          <a:noFill/>
        </p:spPr>
        <p:txBody>
          <a:bodyPr wrap="square" rtlCol="0">
            <a:spAutoFit/>
          </a:bodyPr>
          <a:lstStyle/>
          <a:p>
            <a:pPr lvl="0"/>
            <a:r>
              <a:rPr lang="tr-TR" sz="1600" dirty="0" smtClean="0"/>
              <a:t>Burada;</a:t>
            </a:r>
          </a:p>
          <a:p>
            <a:pPr marL="342900" lvl="0" indent="-342900">
              <a:buFont typeface="+mj-lt"/>
              <a:buAutoNum type="arabicPeriod"/>
            </a:pPr>
            <a:r>
              <a:rPr lang="tr-TR" sz="1600" dirty="0" smtClean="0"/>
              <a:t>Grafiğin </a:t>
            </a:r>
            <a:r>
              <a:rPr lang="tr-TR" sz="1600" dirty="0"/>
              <a:t>grafik alanı.</a:t>
            </a:r>
          </a:p>
          <a:p>
            <a:pPr marL="342900" lvl="0" indent="-342900">
              <a:buFont typeface="+mj-lt"/>
              <a:buAutoNum type="arabicPeriod"/>
            </a:pPr>
            <a:r>
              <a:rPr lang="tr-TR" sz="1600" dirty="0"/>
              <a:t>Grafiğin çizim alanı.</a:t>
            </a:r>
          </a:p>
          <a:p>
            <a:pPr marL="342900" lvl="0" indent="-342900">
              <a:buFont typeface="+mj-lt"/>
              <a:buAutoNum type="arabicPeriod"/>
            </a:pPr>
            <a:r>
              <a:rPr lang="tr-TR" sz="1600" dirty="0"/>
              <a:t>Grafikte çizilen veri serisinin veri noktaları.</a:t>
            </a:r>
          </a:p>
          <a:p>
            <a:pPr marL="342900" lvl="0" indent="-342900">
              <a:buFont typeface="+mj-lt"/>
              <a:buAutoNum type="arabicPeriod"/>
            </a:pPr>
            <a:r>
              <a:rPr lang="tr-TR" sz="1600" dirty="0"/>
              <a:t>Grafikte verilerin çizildiği dikey (değer) eksen </a:t>
            </a:r>
          </a:p>
          <a:p>
            <a:pPr marL="342900" lvl="0" indent="-342900">
              <a:buFont typeface="+mj-lt"/>
              <a:buAutoNum type="arabicPeriod"/>
            </a:pPr>
            <a:r>
              <a:rPr lang="tr-TR" sz="1600" dirty="0"/>
              <a:t>Grafikte verilerin çizildiği yatay (kategori) eksen ve eksen başlığı</a:t>
            </a:r>
          </a:p>
          <a:p>
            <a:pPr marL="342900" lvl="0" indent="-342900">
              <a:buFont typeface="+mj-lt"/>
              <a:buAutoNum type="arabicPeriod"/>
            </a:pPr>
            <a:r>
              <a:rPr lang="tr-TR" sz="1600" dirty="0"/>
              <a:t>Grafiğin göstergesi.</a:t>
            </a:r>
          </a:p>
          <a:p>
            <a:pPr marL="342900" lvl="0" indent="-342900">
              <a:buFont typeface="+mj-lt"/>
              <a:buAutoNum type="arabicPeriod"/>
            </a:pPr>
            <a:r>
              <a:rPr lang="tr-TR" sz="1600" dirty="0"/>
              <a:t>Grafikte kullanabileceğiniz grafik ve eksen başlığı.</a:t>
            </a:r>
          </a:p>
        </p:txBody>
      </p:sp>
    </p:spTree>
    <p:custDataLst>
      <p:tags r:id="rId1"/>
    </p:custDataLst>
    <p:extLst>
      <p:ext uri="{BB962C8B-B14F-4D97-AF65-F5344CB8AC3E}">
        <p14:creationId xmlns:p14="http://schemas.microsoft.com/office/powerpoint/2010/main" val="273535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xEl>
                                              <p:pRg st="0" end="0"/>
                                            </p:txEl>
                                          </p:spTgt>
                                        </p:tgtEl>
                                        <p:attrNameLst>
                                          <p:attrName>style.visibility</p:attrName>
                                        </p:attrNameLst>
                                      </p:cBhvr>
                                      <p:to>
                                        <p:strVal val="visible"/>
                                      </p:to>
                                    </p:set>
                                    <p:animEffect transition="in" filter="fade">
                                      <p:cBhvr>
                                        <p:cTn id="10" dur="500"/>
                                        <p:tgtEl>
                                          <p:spTgt spid="1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animEffect transition="in" filter="fade">
                                      <p:cBhvr>
                                        <p:cTn id="15" dur="500"/>
                                        <p:tgtEl>
                                          <p:spTgt spid="1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xEl>
                                              <p:pRg st="2" end="2"/>
                                            </p:txEl>
                                          </p:spTgt>
                                        </p:tgtEl>
                                        <p:attrNameLst>
                                          <p:attrName>style.visibility</p:attrName>
                                        </p:attrNameLst>
                                      </p:cBhvr>
                                      <p:to>
                                        <p:strVal val="visible"/>
                                      </p:to>
                                    </p:set>
                                    <p:animEffect transition="in" filter="fade">
                                      <p:cBhvr>
                                        <p:cTn id="20" dur="500"/>
                                        <p:tgtEl>
                                          <p:spTgt spid="1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xEl>
                                              <p:pRg st="3" end="3"/>
                                            </p:txEl>
                                          </p:spTgt>
                                        </p:tgtEl>
                                        <p:attrNameLst>
                                          <p:attrName>style.visibility</p:attrName>
                                        </p:attrNameLst>
                                      </p:cBhvr>
                                      <p:to>
                                        <p:strVal val="visible"/>
                                      </p:to>
                                    </p:set>
                                    <p:animEffect transition="in" filter="fade">
                                      <p:cBhvr>
                                        <p:cTn id="25" dur="500"/>
                                        <p:tgtEl>
                                          <p:spTgt spid="14">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xEl>
                                              <p:pRg st="4" end="4"/>
                                            </p:txEl>
                                          </p:spTgt>
                                        </p:tgtEl>
                                        <p:attrNameLst>
                                          <p:attrName>style.visibility</p:attrName>
                                        </p:attrNameLst>
                                      </p:cBhvr>
                                      <p:to>
                                        <p:strVal val="visible"/>
                                      </p:to>
                                    </p:set>
                                    <p:animEffect transition="in" filter="fade">
                                      <p:cBhvr>
                                        <p:cTn id="30" dur="500"/>
                                        <p:tgtEl>
                                          <p:spTgt spid="14">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xEl>
                                              <p:pRg st="5" end="5"/>
                                            </p:txEl>
                                          </p:spTgt>
                                        </p:tgtEl>
                                        <p:attrNameLst>
                                          <p:attrName>style.visibility</p:attrName>
                                        </p:attrNameLst>
                                      </p:cBhvr>
                                      <p:to>
                                        <p:strVal val="visible"/>
                                      </p:to>
                                    </p:set>
                                    <p:animEffect transition="in" filter="fade">
                                      <p:cBhvr>
                                        <p:cTn id="35" dur="500"/>
                                        <p:tgtEl>
                                          <p:spTgt spid="14">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xEl>
                                              <p:pRg st="6" end="6"/>
                                            </p:txEl>
                                          </p:spTgt>
                                        </p:tgtEl>
                                        <p:attrNameLst>
                                          <p:attrName>style.visibility</p:attrName>
                                        </p:attrNameLst>
                                      </p:cBhvr>
                                      <p:to>
                                        <p:strVal val="visible"/>
                                      </p:to>
                                    </p:set>
                                    <p:animEffect transition="in" filter="fade">
                                      <p:cBhvr>
                                        <p:cTn id="40" dur="500"/>
                                        <p:tgtEl>
                                          <p:spTgt spid="14">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4">
                                            <p:txEl>
                                              <p:pRg st="7" end="7"/>
                                            </p:txEl>
                                          </p:spTgt>
                                        </p:tgtEl>
                                        <p:attrNameLst>
                                          <p:attrName>style.visibility</p:attrName>
                                        </p:attrNameLst>
                                      </p:cBhvr>
                                      <p:to>
                                        <p:strVal val="visible"/>
                                      </p:to>
                                    </p:set>
                                    <p:animEffect transition="in" filter="fade">
                                      <p:cBhvr>
                                        <p:cTn id="45" dur="500"/>
                                        <p:tgtEl>
                                          <p:spTgt spid="1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8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Önceden </a:t>
            </a:r>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Tanımlanmış Bir Grafik Düzenini Uygulama</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Grafiklerin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533400" y="1371600"/>
            <a:ext cx="7772400" cy="984885"/>
          </a:xfrm>
          <a:prstGeom prst="rect">
            <a:avLst/>
          </a:prstGeom>
          <a:noFill/>
        </p:spPr>
        <p:txBody>
          <a:bodyPr wrap="square" rtlCol="0">
            <a:spAutoFit/>
          </a:bodyPr>
          <a:lstStyle/>
          <a:p>
            <a:pPr marL="342900" lvl="0" indent="-342900">
              <a:spcAft>
                <a:spcPts val="1200"/>
              </a:spcAft>
              <a:buFont typeface="+mj-lt"/>
              <a:buAutoNum type="arabicPeriod"/>
            </a:pPr>
            <a:r>
              <a:rPr lang="tr-TR" sz="1600" dirty="0"/>
              <a:t>Biçimlendirmek istediğiniz grafiği seçin.</a:t>
            </a:r>
          </a:p>
          <a:p>
            <a:pPr marL="342900" lvl="0" indent="-342900">
              <a:spcAft>
                <a:spcPts val="1200"/>
              </a:spcAft>
              <a:buFont typeface="+mj-lt"/>
              <a:buAutoNum type="arabicPeriod"/>
            </a:pPr>
            <a:r>
              <a:rPr lang="tr-TR" sz="1600" b="1" i="1" dirty="0"/>
              <a:t>Tasarım ek sekmesi &gt; Grafik Düzenleri komutu </a:t>
            </a:r>
            <a:r>
              <a:rPr lang="tr-TR" sz="1600" b="1" i="1" dirty="0" smtClean="0"/>
              <a:t>grubunda </a:t>
            </a:r>
            <a:r>
              <a:rPr lang="tr-TR" sz="1600" i="1" dirty="0" smtClean="0"/>
              <a:t>kullanmak </a:t>
            </a:r>
            <a:r>
              <a:rPr lang="tr-TR" sz="1600" i="1" dirty="0"/>
              <a:t>istediğiniz grafik düzenini tıklatın</a:t>
            </a:r>
            <a:r>
              <a:rPr lang="tr-TR" sz="1600" dirty="0"/>
              <a:t>. Kullanılabilen tüm düzenleri görmek için </a:t>
            </a:r>
            <a:r>
              <a:rPr lang="tr-TR" sz="1600" b="1" dirty="0" smtClean="0"/>
              <a:t>Diğer </a:t>
            </a:r>
            <a:r>
              <a:rPr lang="tr-TR" sz="1600" dirty="0" smtClean="0"/>
              <a:t>(     ) </a:t>
            </a:r>
            <a:r>
              <a:rPr lang="tr-TR" sz="1600" dirty="0"/>
              <a:t>düğmesini tıklatın</a:t>
            </a:r>
            <a:r>
              <a:rPr lang="tr-TR" sz="1600" dirty="0" smtClean="0"/>
              <a:t>.</a:t>
            </a:r>
            <a:endParaRPr lang="tr-TR" sz="1600" dirty="0"/>
          </a:p>
        </p:txBody>
      </p:sp>
      <p:pic>
        <p:nvPicPr>
          <p:cNvPr id="13" name="Resim 12" descr="Düğme resmi"/>
          <p:cNvPicPr/>
          <p:nvPr/>
        </p:nvPicPr>
        <p:blipFill>
          <a:blip r:embed="rId11">
            <a:extLst>
              <a:ext uri="{28A0092B-C50C-407E-A947-70E740481C1C}">
                <a14:useLocalDpi xmlns:a14="http://schemas.microsoft.com/office/drawing/2010/main" val="0"/>
              </a:ext>
            </a:extLst>
          </a:blip>
          <a:srcRect/>
          <a:stretch>
            <a:fillRect/>
          </a:stretch>
        </p:blipFill>
        <p:spPr bwMode="auto">
          <a:xfrm>
            <a:off x="6324600" y="2057400"/>
            <a:ext cx="139065" cy="190500"/>
          </a:xfrm>
          <a:prstGeom prst="rect">
            <a:avLst/>
          </a:prstGeom>
          <a:noFill/>
          <a:ln>
            <a:noFill/>
          </a:ln>
        </p:spPr>
      </p:pic>
      <p:pic>
        <p:nvPicPr>
          <p:cNvPr id="15" name="Resim 14"/>
          <p:cNvPicPr/>
          <p:nvPr/>
        </p:nvPicPr>
        <p:blipFill>
          <a:blip r:embed="rId12"/>
          <a:stretch>
            <a:fillRect/>
          </a:stretch>
        </p:blipFill>
        <p:spPr>
          <a:xfrm>
            <a:off x="2895600" y="2605562"/>
            <a:ext cx="2667000" cy="1162421"/>
          </a:xfrm>
          <a:prstGeom prst="rect">
            <a:avLst/>
          </a:prstGeom>
        </p:spPr>
      </p:pic>
    </p:spTree>
    <p:custDataLst>
      <p:tags r:id="rId1"/>
    </p:custDataLst>
    <p:extLst>
      <p:ext uri="{BB962C8B-B14F-4D97-AF65-F5344CB8AC3E}">
        <p14:creationId xmlns:p14="http://schemas.microsoft.com/office/powerpoint/2010/main" val="273535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sv-SE"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Önceden Tanımlanmış Bir Grafik Stilini Uygulama</a:t>
            </a:r>
            <a:endPar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Grafiklerin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8</a:t>
            </a:fld>
            <a:endParaRPr lang="tr-TR"/>
          </a:p>
        </p:txBody>
      </p:sp>
      <p:sp>
        <p:nvSpPr>
          <p:cNvPr id="7" name="Metin kutusu 6"/>
          <p:cNvSpPr txBox="1"/>
          <p:nvPr>
            <p:custDataLst>
              <p:tags r:id="rId5"/>
            </p:custDataLst>
          </p:nvPr>
        </p:nvSpPr>
        <p:spPr>
          <a:xfrm>
            <a:off x="533400" y="1371600"/>
            <a:ext cx="7772400" cy="984885"/>
          </a:xfrm>
          <a:prstGeom prst="rect">
            <a:avLst/>
          </a:prstGeom>
          <a:noFill/>
        </p:spPr>
        <p:txBody>
          <a:bodyPr wrap="square" rtlCol="0">
            <a:spAutoFit/>
          </a:bodyPr>
          <a:lstStyle/>
          <a:p>
            <a:pPr marL="342900" lvl="0" indent="-342900">
              <a:spcAft>
                <a:spcPts val="1200"/>
              </a:spcAft>
              <a:buFont typeface="+mj-lt"/>
              <a:buAutoNum type="arabicPeriod"/>
            </a:pPr>
            <a:r>
              <a:rPr lang="tr-TR" sz="1600" dirty="0"/>
              <a:t>Biçimlendirmek istediğiniz grafiği seçin.</a:t>
            </a:r>
          </a:p>
          <a:p>
            <a:pPr marL="342900" lvl="0" indent="-342900">
              <a:spcAft>
                <a:spcPts val="1200"/>
              </a:spcAft>
              <a:buFont typeface="+mj-lt"/>
              <a:buAutoNum type="arabicPeriod"/>
            </a:pPr>
            <a:r>
              <a:rPr lang="tr-TR" sz="1600" b="1" i="1" dirty="0"/>
              <a:t>Tasarım ek sekmesi &gt; Grafik Stilleri </a:t>
            </a:r>
            <a:r>
              <a:rPr lang="tr-TR" sz="1600" b="1" i="1" dirty="0" smtClean="0"/>
              <a:t>komut grubunda </a:t>
            </a:r>
            <a:r>
              <a:rPr lang="tr-TR" sz="1600" i="1" dirty="0" smtClean="0"/>
              <a:t>kullanmak </a:t>
            </a:r>
            <a:r>
              <a:rPr lang="tr-TR" sz="1600" i="1" dirty="0"/>
              <a:t>istediğiniz grafik </a:t>
            </a:r>
            <a:r>
              <a:rPr lang="tr-TR" sz="1600" i="1" dirty="0" smtClean="0"/>
              <a:t>stilini </a:t>
            </a:r>
            <a:r>
              <a:rPr lang="tr-TR" sz="1600" i="1" dirty="0"/>
              <a:t>tıklatın</a:t>
            </a:r>
            <a:r>
              <a:rPr lang="tr-TR" sz="1600" dirty="0"/>
              <a:t>. </a:t>
            </a:r>
            <a:r>
              <a:rPr lang="tr-TR" sz="1600" dirty="0" smtClean="0"/>
              <a:t>Kullanılabilecek </a:t>
            </a:r>
            <a:r>
              <a:rPr lang="tr-TR" sz="1600" dirty="0"/>
              <a:t>tüm </a:t>
            </a:r>
            <a:r>
              <a:rPr lang="tr-TR" sz="1600" dirty="0" smtClean="0"/>
              <a:t>stilleri görmek </a:t>
            </a:r>
            <a:r>
              <a:rPr lang="tr-TR" sz="1600" dirty="0"/>
              <a:t>için </a:t>
            </a:r>
            <a:r>
              <a:rPr lang="tr-TR" sz="1600" b="1" dirty="0" smtClean="0"/>
              <a:t>Diğer </a:t>
            </a:r>
            <a:r>
              <a:rPr lang="tr-TR" sz="1600" dirty="0" smtClean="0"/>
              <a:t>(     ) </a:t>
            </a:r>
            <a:r>
              <a:rPr lang="tr-TR" sz="1600" dirty="0"/>
              <a:t>düğmesini tıklatın</a:t>
            </a:r>
            <a:r>
              <a:rPr lang="tr-TR" sz="1600" dirty="0" smtClean="0"/>
              <a:t>.</a:t>
            </a:r>
            <a:endParaRPr lang="tr-TR" sz="1600" dirty="0"/>
          </a:p>
        </p:txBody>
      </p:sp>
      <p:pic>
        <p:nvPicPr>
          <p:cNvPr id="13" name="Resim 12" descr="Düğme resmi"/>
          <p:cNvPicPr/>
          <p:nvPr/>
        </p:nvPicPr>
        <p:blipFill>
          <a:blip r:embed="rId11">
            <a:extLst>
              <a:ext uri="{28A0092B-C50C-407E-A947-70E740481C1C}">
                <a14:useLocalDpi xmlns:a14="http://schemas.microsoft.com/office/drawing/2010/main" val="0"/>
              </a:ext>
            </a:extLst>
          </a:blip>
          <a:srcRect/>
          <a:stretch>
            <a:fillRect/>
          </a:stretch>
        </p:blipFill>
        <p:spPr bwMode="auto">
          <a:xfrm>
            <a:off x="5493067" y="2085831"/>
            <a:ext cx="139065" cy="190500"/>
          </a:xfrm>
          <a:prstGeom prst="rect">
            <a:avLst/>
          </a:prstGeom>
          <a:noFill/>
          <a:ln>
            <a:noFill/>
          </a:ln>
        </p:spPr>
      </p:pic>
      <p:pic>
        <p:nvPicPr>
          <p:cNvPr id="14" name="Resim 13" descr="Şerit Resmi"/>
          <p:cNvPicPr/>
          <p:nvPr/>
        </p:nvPicPr>
        <p:blipFill>
          <a:blip r:embed="rId12">
            <a:extLst>
              <a:ext uri="{28A0092B-C50C-407E-A947-70E740481C1C}">
                <a14:useLocalDpi xmlns:a14="http://schemas.microsoft.com/office/drawing/2010/main" val="0"/>
              </a:ext>
            </a:extLst>
          </a:blip>
          <a:srcRect/>
          <a:stretch>
            <a:fillRect/>
          </a:stretch>
        </p:blipFill>
        <p:spPr bwMode="auto">
          <a:xfrm>
            <a:off x="1408126" y="2726068"/>
            <a:ext cx="5641947" cy="898525"/>
          </a:xfrm>
          <a:prstGeom prst="rect">
            <a:avLst/>
          </a:prstGeom>
          <a:noFill/>
          <a:ln>
            <a:noFill/>
          </a:ln>
        </p:spPr>
      </p:pic>
    </p:spTree>
    <p:custDataLst>
      <p:tags r:id="rId1"/>
    </p:custDataLst>
    <p:extLst>
      <p:ext uri="{BB962C8B-B14F-4D97-AF65-F5344CB8AC3E}">
        <p14:creationId xmlns:p14="http://schemas.microsoft.com/office/powerpoint/2010/main" val="909980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G</a:t>
            </a:r>
            <a:r>
              <a:rPr lang="sv-SE" sz="20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rafiğin </a:t>
            </a:r>
            <a:r>
              <a:rPr lang="tr-TR" sz="20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öğelerinin biçimlerimi değiştirmek ve </a:t>
            </a:r>
            <a:r>
              <a:rPr lang="sv-SE" sz="20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d</a:t>
            </a:r>
            <a:r>
              <a:rPr lang="tr-TR" sz="2000" b="1" spc="50" dirty="0" err="1"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üzenlemek</a:t>
            </a:r>
            <a:endPar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Grafiklerin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9</a:t>
            </a:fld>
            <a:endParaRPr lang="tr-TR"/>
          </a:p>
        </p:txBody>
      </p:sp>
      <p:sp>
        <p:nvSpPr>
          <p:cNvPr id="7" name="Metin kutusu 6"/>
          <p:cNvSpPr txBox="1"/>
          <p:nvPr>
            <p:custDataLst>
              <p:tags r:id="rId5"/>
            </p:custDataLst>
          </p:nvPr>
        </p:nvSpPr>
        <p:spPr>
          <a:xfrm>
            <a:off x="533400" y="1371600"/>
            <a:ext cx="7772400" cy="1323439"/>
          </a:xfrm>
          <a:prstGeom prst="rect">
            <a:avLst/>
          </a:prstGeom>
          <a:noFill/>
        </p:spPr>
        <p:txBody>
          <a:bodyPr wrap="square" rtlCol="0">
            <a:spAutoFit/>
          </a:bodyPr>
          <a:lstStyle/>
          <a:p>
            <a:r>
              <a:rPr lang="tr-TR" sz="1600" b="1" u="sng" dirty="0"/>
              <a:t>Grafik öğelerinin düzenini el ile değiştirme</a:t>
            </a:r>
            <a:endParaRPr lang="tr-TR" sz="1600" b="1" dirty="0"/>
          </a:p>
          <a:p>
            <a:pPr marL="342900" lvl="0" indent="-342900">
              <a:buFont typeface="+mj-lt"/>
              <a:buAutoNum type="arabicPeriod"/>
            </a:pPr>
            <a:r>
              <a:rPr lang="tr-TR" sz="1600" dirty="0"/>
              <a:t>Düzenini değiştirmek istediğiniz grafik öğesini tıklatın </a:t>
            </a:r>
          </a:p>
          <a:p>
            <a:pPr marL="342900" lvl="0" indent="-342900">
              <a:buFont typeface="+mj-lt"/>
              <a:buAutoNum type="arabicPeriod"/>
            </a:pPr>
            <a:r>
              <a:rPr lang="tr-TR" sz="1600" b="1" i="1" dirty="0"/>
              <a:t>Düzen ek sekmesi &gt; Etiketler , Eksenler </a:t>
            </a:r>
            <a:r>
              <a:rPr lang="tr-TR" sz="1600" i="1" dirty="0"/>
              <a:t>veya </a:t>
            </a:r>
            <a:r>
              <a:rPr lang="tr-TR" sz="1600" b="1" i="1" dirty="0"/>
              <a:t>Arka plan</a:t>
            </a:r>
            <a:r>
              <a:rPr lang="tr-TR" sz="1600" i="1" dirty="0"/>
              <a:t> </a:t>
            </a:r>
            <a:r>
              <a:rPr lang="tr-TR" sz="1600" b="1" i="1" dirty="0"/>
              <a:t>komut </a:t>
            </a:r>
            <a:r>
              <a:rPr lang="tr-TR" sz="1600" b="1" i="1" dirty="0" smtClean="0"/>
              <a:t>gruplarında </a:t>
            </a:r>
            <a:r>
              <a:rPr lang="tr-TR" sz="1600" dirty="0"/>
              <a:t>seçtiğiniz grafik öğesine karşılık gelen grafik öğesi düğmesini, ardından da istediğiniz düzen seçeneğini tıklatın.</a:t>
            </a:r>
          </a:p>
        </p:txBody>
      </p:sp>
      <p:pic>
        <p:nvPicPr>
          <p:cNvPr id="13" name="Resim 12"/>
          <p:cNvPicPr/>
          <p:nvPr/>
        </p:nvPicPr>
        <p:blipFill>
          <a:blip r:embed="rId12"/>
          <a:stretch>
            <a:fillRect/>
          </a:stretch>
        </p:blipFill>
        <p:spPr>
          <a:xfrm>
            <a:off x="1317787" y="2695039"/>
            <a:ext cx="6759413" cy="902018"/>
          </a:xfrm>
          <a:prstGeom prst="rect">
            <a:avLst/>
          </a:prstGeom>
        </p:spPr>
      </p:pic>
      <p:sp>
        <p:nvSpPr>
          <p:cNvPr id="14" name="Metin kutusu 13"/>
          <p:cNvSpPr txBox="1"/>
          <p:nvPr>
            <p:custDataLst>
              <p:tags r:id="rId6"/>
            </p:custDataLst>
          </p:nvPr>
        </p:nvSpPr>
        <p:spPr>
          <a:xfrm>
            <a:off x="533400" y="3733800"/>
            <a:ext cx="7772400" cy="2308324"/>
          </a:xfrm>
          <a:prstGeom prst="rect">
            <a:avLst/>
          </a:prstGeom>
          <a:noFill/>
        </p:spPr>
        <p:txBody>
          <a:bodyPr wrap="square" rtlCol="0">
            <a:spAutoFit/>
          </a:bodyPr>
          <a:lstStyle/>
          <a:p>
            <a:r>
              <a:rPr lang="tr-TR" sz="1600" b="1" u="sng" dirty="0"/>
              <a:t>Grafik Öğelerinin Biçimini El İle Değiştirme</a:t>
            </a:r>
          </a:p>
          <a:p>
            <a:pPr marL="342900" indent="-342900">
              <a:buFont typeface="+mj-lt"/>
              <a:buAutoNum type="arabicPeriod"/>
            </a:pPr>
            <a:r>
              <a:rPr lang="tr-TR" sz="1600" dirty="0" smtClean="0"/>
              <a:t>Stilini </a:t>
            </a:r>
            <a:r>
              <a:rPr lang="tr-TR" sz="1600" dirty="0"/>
              <a:t>değiştirmek istediğiniz grafik öğesini seçin</a:t>
            </a:r>
          </a:p>
          <a:p>
            <a:pPr marL="342900" indent="-342900">
              <a:buFont typeface="+mj-lt"/>
              <a:buAutoNum type="arabicPeriod"/>
            </a:pPr>
            <a:r>
              <a:rPr lang="tr-TR" sz="1600" b="1" i="1" dirty="0" smtClean="0"/>
              <a:t>Biçim </a:t>
            </a:r>
            <a:r>
              <a:rPr lang="tr-TR" sz="1600" b="1" i="1" dirty="0"/>
              <a:t>ek sekmesinde </a:t>
            </a:r>
            <a:r>
              <a:rPr lang="tr-TR" sz="1600" dirty="0"/>
              <a:t>aşağıdakilerden birini yapın:</a:t>
            </a:r>
          </a:p>
          <a:p>
            <a:pPr marL="742950" lvl="1" indent="-285750">
              <a:buFont typeface="Arial" pitchFamily="34" charset="0"/>
              <a:buChar char="•"/>
            </a:pPr>
            <a:r>
              <a:rPr lang="tr-TR" sz="1600" dirty="0" smtClean="0"/>
              <a:t>Seçili </a:t>
            </a:r>
            <a:r>
              <a:rPr lang="tr-TR" sz="1600" dirty="0"/>
              <a:t>bir grafik öğesinin şeklini biçimlendirmek için </a:t>
            </a:r>
            <a:r>
              <a:rPr lang="tr-TR" sz="1600" b="1" i="1" dirty="0"/>
              <a:t>Şekil Stilleri grubunda </a:t>
            </a:r>
            <a:r>
              <a:rPr lang="tr-TR" sz="1600" dirty="0"/>
              <a:t>istediğiniz stili tıklatın veya </a:t>
            </a:r>
            <a:r>
              <a:rPr lang="tr-TR" sz="1600" b="1" i="1" dirty="0"/>
              <a:t>Şekil Dolgusu, Şekil </a:t>
            </a:r>
            <a:r>
              <a:rPr lang="tr-TR" sz="1600" b="1" i="1" dirty="0" err="1"/>
              <a:t>Anahattı</a:t>
            </a:r>
            <a:r>
              <a:rPr lang="tr-TR" sz="1600" b="1" i="1" dirty="0"/>
              <a:t> </a:t>
            </a:r>
            <a:r>
              <a:rPr lang="tr-TR" sz="1600" dirty="0"/>
              <a:t>veya </a:t>
            </a:r>
            <a:r>
              <a:rPr lang="tr-TR" sz="1600" b="1" i="1" dirty="0"/>
              <a:t>Şekil </a:t>
            </a:r>
            <a:r>
              <a:rPr lang="tr-TR" sz="1600" b="1" i="1" dirty="0" err="1"/>
              <a:t>Efektleri</a:t>
            </a:r>
            <a:r>
              <a:rPr lang="tr-TR" sz="1600" dirty="0" err="1"/>
              <a:t>'ni</a:t>
            </a:r>
            <a:r>
              <a:rPr lang="tr-TR" sz="1600" dirty="0"/>
              <a:t> tıklatıp istediğiniz biçimlendirme seçeneklerini belirleyin.</a:t>
            </a:r>
          </a:p>
          <a:p>
            <a:pPr marL="742950" lvl="1" indent="-285750">
              <a:buFont typeface="Arial" pitchFamily="34" charset="0"/>
              <a:buChar char="•"/>
            </a:pPr>
            <a:r>
              <a:rPr lang="tr-TR" sz="1600" dirty="0" smtClean="0"/>
              <a:t>Seçili </a:t>
            </a:r>
            <a:r>
              <a:rPr lang="tr-TR" sz="1600" dirty="0"/>
              <a:t>bir grafik öğesindeki şekli </a:t>
            </a:r>
            <a:r>
              <a:rPr lang="tr-TR" sz="1600" b="1" i="1" dirty="0" err="1"/>
              <a:t>WordArt</a:t>
            </a:r>
            <a:r>
              <a:rPr lang="tr-TR" sz="1600" b="1" i="1" dirty="0"/>
              <a:t> </a:t>
            </a:r>
            <a:r>
              <a:rPr lang="tr-TR" sz="1600" dirty="0"/>
              <a:t>kullanarak biçimlendirmek için </a:t>
            </a:r>
            <a:r>
              <a:rPr lang="tr-TR" sz="1600" b="1" i="1" dirty="0" err="1"/>
              <a:t>WordArt</a:t>
            </a:r>
            <a:r>
              <a:rPr lang="tr-TR" sz="1600" b="1" i="1" dirty="0"/>
              <a:t> Stilleri grubunda</a:t>
            </a:r>
            <a:r>
              <a:rPr lang="tr-TR" sz="1600" dirty="0"/>
              <a:t> stili tıklatın. </a:t>
            </a:r>
            <a:r>
              <a:rPr lang="tr-TR" sz="1600" b="1" i="1" dirty="0"/>
              <a:t>Metin Dolgusu, Metin </a:t>
            </a:r>
            <a:r>
              <a:rPr lang="tr-TR" sz="1600" b="1" i="1" dirty="0" err="1"/>
              <a:t>Anahattı</a:t>
            </a:r>
            <a:r>
              <a:rPr lang="tr-TR" sz="1600" b="1" i="1" dirty="0"/>
              <a:t> </a:t>
            </a:r>
            <a:r>
              <a:rPr lang="tr-TR" sz="1600" dirty="0"/>
              <a:t>veya </a:t>
            </a:r>
            <a:r>
              <a:rPr lang="tr-TR" sz="1600" b="1" i="1" dirty="0"/>
              <a:t>Metin </a:t>
            </a:r>
            <a:r>
              <a:rPr lang="tr-TR" sz="1600" b="1" i="1" dirty="0" err="1"/>
              <a:t>Efektleri</a:t>
            </a:r>
            <a:r>
              <a:rPr lang="tr-TR" sz="1600" dirty="0" err="1"/>
              <a:t>'ni</a:t>
            </a:r>
            <a:r>
              <a:rPr lang="tr-TR" sz="1600" dirty="0"/>
              <a:t> tıklatıp istediğiniz biçimlendirme seçeneklerini de belirleyebilirsiniz.</a:t>
            </a:r>
          </a:p>
        </p:txBody>
      </p:sp>
      <p:pic>
        <p:nvPicPr>
          <p:cNvPr id="15" name="Resim 14"/>
          <p:cNvPicPr/>
          <p:nvPr/>
        </p:nvPicPr>
        <p:blipFill>
          <a:blip r:embed="rId13"/>
          <a:stretch>
            <a:fillRect/>
          </a:stretch>
        </p:blipFill>
        <p:spPr>
          <a:xfrm>
            <a:off x="918719" y="6042124"/>
            <a:ext cx="7306561" cy="777208"/>
          </a:xfrm>
          <a:prstGeom prst="rect">
            <a:avLst/>
          </a:prstGeom>
        </p:spPr>
      </p:pic>
    </p:spTree>
    <p:custDataLst>
      <p:tags r:id="rId1"/>
    </p:custDataLst>
    <p:extLst>
      <p:ext uri="{BB962C8B-B14F-4D97-AF65-F5344CB8AC3E}">
        <p14:creationId xmlns:p14="http://schemas.microsoft.com/office/powerpoint/2010/main" val="359752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Effect transition="in" filter="fade">
                                      <p:cBhvr>
                                        <p:cTn id="25" dur="500"/>
                                        <p:tgtEl>
                                          <p:spTgt spid="14">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xEl>
                                              <p:pRg st="1" end="1"/>
                                            </p:txEl>
                                          </p:spTgt>
                                        </p:tgtEl>
                                        <p:attrNameLst>
                                          <p:attrName>style.visibility</p:attrName>
                                        </p:attrNameLst>
                                      </p:cBhvr>
                                      <p:to>
                                        <p:strVal val="visible"/>
                                      </p:to>
                                    </p:set>
                                    <p:animEffect transition="in" filter="fade">
                                      <p:cBhvr>
                                        <p:cTn id="30" dur="500"/>
                                        <p:tgtEl>
                                          <p:spTgt spid="14">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xEl>
                                              <p:pRg st="2" end="2"/>
                                            </p:txEl>
                                          </p:spTgt>
                                        </p:tgtEl>
                                        <p:attrNameLst>
                                          <p:attrName>style.visibility</p:attrName>
                                        </p:attrNameLst>
                                      </p:cBhvr>
                                      <p:to>
                                        <p:strVal val="visible"/>
                                      </p:to>
                                    </p:set>
                                    <p:animEffect transition="in" filter="fade">
                                      <p:cBhvr>
                                        <p:cTn id="35" dur="500"/>
                                        <p:tgtEl>
                                          <p:spTgt spid="14">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xEl>
                                              <p:pRg st="3" end="3"/>
                                            </p:txEl>
                                          </p:spTgt>
                                        </p:tgtEl>
                                        <p:attrNameLst>
                                          <p:attrName>style.visibility</p:attrName>
                                        </p:attrNameLst>
                                      </p:cBhvr>
                                      <p:to>
                                        <p:strVal val="visible"/>
                                      </p:to>
                                    </p:set>
                                    <p:animEffect transition="in" filter="fade">
                                      <p:cBhvr>
                                        <p:cTn id="40" dur="500"/>
                                        <p:tgtEl>
                                          <p:spTgt spid="14">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4">
                                            <p:txEl>
                                              <p:pRg st="4" end="4"/>
                                            </p:txEl>
                                          </p:spTgt>
                                        </p:tgtEl>
                                        <p:attrNameLst>
                                          <p:attrName>style.visibility</p:attrName>
                                        </p:attrNameLst>
                                      </p:cBhvr>
                                      <p:to>
                                        <p:strVal val="visible"/>
                                      </p:to>
                                    </p:set>
                                    <p:animEffect transition="in" filter="fade">
                                      <p:cBhvr>
                                        <p:cTn id="45" dur="500"/>
                                        <p:tgtEl>
                                          <p:spTgt spid="14">
                                            <p:txEl>
                                              <p:pRg st="4" end="4"/>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4"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ARTICULATE_PROJECT_OPEN" val="0"/>
  <p:tag name="MMPROD_0PHOTO" val=""/>
  <p:tag name="MMPROD_0LOGO" val=""/>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45376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gkj/76p4jqVIanSHmhmdyAQ/LUqw1OsNSrH9aBFYR07ZVoQ0/yaAKojqRY6tJDuqZLUt2oKM/y6PJrXTTZGRSkTuv95RRPpcsYViDGuf4hQBkNHto8kNVqSaCN9jyRq/93evP+760QqlxDvTa2OjKaAKLR9qDHVxrfuPmprRnpwtAFIw7uaY0dXdtMK/WgCg8O2ovL21oPHUTQ/LQKxQdfY0xl/4FV14aheP/AL5oGX0jqVI/+BU9F9qnSMZ6UMkjSGpBHz0qVI+ORUqR/wCztoAiWE+lSpb7m6fNUyR7uKuJHFbwvPOdkUSFiyjdQA2z0mWYZCFlFeRfFP8AaAs/Bs0ukeHBbalq4O2S5zvht2/u8cOf9mvHfi18ZNT+IWsNBYXF1Z6CnyJbNOQs3+06ptFY2ieHbSSFJA5snc8uys0X/wBale+xqonSReNPGHi67zc65e2sE78/ZZvs8Wf4flHFdFL4Z1XT7ZdQuLm7v0hKqZYr196KTt3fe/h+9V3RobCx06LT3SB7mVNouYl3I+fuh1PBH/Af+BV1/gPwLcah5AnkZUzsaJDuwpb+H2X/AOJq2rHVTpObKp1BNJhi+2oLhSGiDRvuYOMc/wDAht+aom+J1vpdmlvbpJ99lWSc7V2jj5vevovSvg+L4pDcadDLBKPvM4RlzhVO4r/s7v8AgVcd8Uv2SYJNOuL3TALeaIF5Nj+ap9mrK7O14B8vMjhNA+KGn6lIsdw8as3yBY3HD/4V2kapdRLIuGUjcGU7s18u6XHrHhfxG2nxT2unTi42BpbdJYQw7OCuRu/vf9816v4Y1DV7ER3InFl5UhS9sWP7kN/eRenzVqtUeVOm4vlPSHt9tVmjK/7X+9WoGjurZJ4yHRxuDLULw1JkZzR011q48P8AwKonhoC5TdaieOrrx+1QsvpmgC6kdTpHT0Wp0j9qCRiR+1SpD7VMkdTpGd3SgCOC35UVx/7QXiaPwX8JtRlJ23F+RZQL/eLj5vwUbjXoNtD8/PrXy/8Ats69JN4h8NaBFIX+yWj3BiUfKryFVUt6nav+d1JlxPE/DFnca1c+RBHtgjG53x8qj+GvbvA3hG91iVLaOB9n3dzDcpqr4H8Ep4d0S0tCd9w43zsw+Yua+hfhNY20azoQN4T5dv8AFXKqjvoe7h8KpL3yfwL+z/ZRzpPekO2OYohsVj/SvoDw94T0jQbZIreyi342lsbmx/vVh+H2SOZHH3cbfmNd5ocIZ2klcLj5Rz/FWyu2e5TpwpqyRpaXZmTZ5duqqg+8o+9/wGtdNPguIXjMSrkFdy/rWnok1vcIwSJmYjlmFaD6ejcfc/2a6bWQOqk+U+C/2o/gedN1x9Q06I27v+981U+Vv7p/76XBH+0tcHZ6LLfQPJcSCeWWNEMUYDI/3cFe4ON3/j1fcXx70e3vPD7i43okce4T/wBxf4q/PvxP4o1LS/El7LGI2RY0ihlT5Udw3yq69t2773+7UpWPnsVbn5j1LwRHG2jzxxSvKkcm3a4+dOPutWtJHzWJ8KNUGvaVe3ETiWBvLfcw+dWI3bW916N71000fz4qWeRLczXWmGOrbw7TULx0ElN4+1V3jrQdf9moXX5u1BJdRd1Wo46dFCN3+zVmOPvQAyKP2qdI/u1KkftVhI9poFcLSPnpXzV+2HoZh8e+FNbkgRYJIPs4ZT8zlHV/m/P/AMdr6dhUqy15d+1v4bj1T4LT6wE/0rRruG4Rv7qO3lv/AOhLUy2NofEcbaWf75CR94Kfzr2zwN4biumt5YpyjsNv935q+f2h8Q+KJrC20R4rOIWkTvc3J2rnYp+b2XdXR6V8QvEfw5W3/te8s721U/vLy1DmJR/vhcf+PVyU4WPpqVXljsfWUOiy6Xp0sfmo8qQtL8vrXX+FZI7qHN5cRWqwp+8klfav1avEfBHjyf4iLLZ6ZIst5dW5WPaf4v8AerpvGPgPVfCWgrqfi24KWSIiyQQMdpYjo3+FdMZI9Hm0909nb4yfDvQ5lgPiWylvMbVgtn3M3/1v0+Wui8N/ETRvGFs0llJLFMshTZOm3ew/uN0NfBWhftCeGvBfi2yi1K3i0RNQMktrJBo0c3ypnd5s0k0WeAeF/i+Va+o/h98TtP8AF2qLZXFnaPeH/UXlrBJbq395HR1V7aZf7j8HqGI5rp5uZXONe82pPVHo3j/wy/iTw/exo+yfyzjb97Ffl98UfCN/DqF+Z0NqtsCskuflZC7bTt9dyqrfnX62QW7rCplId/8Anovevifxn8Mb3xN8T9b8NWMby3t5HLhJI96bSf4vb5s7uMbfvVk0rnJXp86908n/AGaJPt3hLXLwnaz3qoVVvk+5u+X/AL6r06aMZapbP4LaV8DdC+waL4iPiG1mv5YbrzbU2721yiDMaqeqfK20/wA+tN/1lK9zwK0JU58k1ZlKSM1Xkj9q0njqs8fzf/E1JiZ7x881XlXnOK0po9tVXXbVXA1Ej7Vbij9qSGP1q1FH92mA2NanSOnxx1YjjoJsMij+asX4x6Wdc+CHjixS3N082lSeXGv3twwyn/gO3d/wGuiij5WtnTYw26N0Dq6FCrfdKlfu1DV0axdnqfI9zJJN4R0bT7O5FvLcW9v5jsNy7di5+XvWjq/wT0i41CfxJ/wkbW7TWMdu+mWcJmZ2BQ5Du37vds528nc43YZq3/BOk27TWtvLAu3YItkg28D5cV6D4ujs9D0R3EcNrbxo2FjAVfu1hGThqfVUqCqQVzi/2JvDd5oPxRW38+SdbaNnCyqq9So27RwPpX6NeMvDkPjTw/faPdojxXCMpdo1cI+MK+D3FfGv7GXh3ztcl8UO6s15cC0hjl+VkUfMz19uXcdzFbziExvIynYzn5M9s1vRXNDU6eVJJHyx4d/Zw1TwnrUEmoWXhTXrOxkzZfbrBWaDPPydhz/6DX0dpENxqUa/aLayfaBh7aPbj/d+WvPPh18VrDxlqF7p0qvZ6jbSGKazndWK44/EV7Hp7QWdsgVozs6cda2ppNabDqx5HruNnXyYk4wQo7dq8Vl02V/2gPFN3psccut2vhZTaRSHajvJJhS+OoXaufZq9g1PUhcK6qGbj7uK5PR9Asl8bal4hEUr6tdab/ZxlUsw8vduVdvTrzUSSZgtEeS/Gi/k8V/Di01uSF7XULbUYY9TtXBXyZgjRtjPOPnSvIbb5kr6F+PtlZ+Hvh1cRO6y32tXaZUBuZt6SSuA3QKIsAdt1eAwQ7UWpSa0Z4mNcXUvHsNeP+Kq0se7tWjt7VXkj+tI8ozpI6ryR1pPHw1U5I/agDWijPtVpI6Yi1ajWrAfHHU6R7qEj+7VpI/u0ANSPbt4rRsf3coP901WSOrVsu1lqAPGvE+njRfiHq0YJRGn+0J/uyBX/wDZmqj8W4X1Twx5ayuiuUUsvp/FXX/GSx+y+IdL1MDbHd2vlFl/vof/AIllrlvF1v8A2l4cikZHlihjLmJT8znb92uSeh9dgavNSOP+FnjTxZpfimCPS08+1j2YSAMuNnDM33h8y9RX2R8IbC38YahdeLD4z8S3FnqAkSfw9JOBaQsPlwvGUH8Py4r5T+E/ijxnJqUUfgzRNM0i4wXEmvTomU/iyqo/5V7/AOA7D4nrPPZnxv4R8P6eJGd4LGzN5sc9cD5Mfia6KSSPVhRlOHNexofFv4VnwD4q03x54NHkxRps1LTlI3eX/wA9V917rXtHhLxA2tada3YdHjkRc8/LXmPi3RPiXYi31TTfFuia/YW/F3pkmjvbPOP4ir+a4/4Dt/irrPhosk3hiKOON7dst+6b70Y3dN1VdKTsc1VyW56Qn75mjz82edtcT8S/Eep+CfCt7q2kiJr2zmt3Kyj5Hi3jeG/3l4/4FXZWEaafas8kgdccyKO1eW/HDVFuPh7f7Ol9f20I2n+EOzt/6BWi0R5NWq0rnkXjDxprHxK1pNT1XyokhTZb2kH+qhB+9t3dS3rWckO0VPZ24VF+XtUzR7ajmPn5zc5c0ii8e3cKikWrrx1XdaDMoPHVWWP71X5lqrIvtQUascdWoY/+A0yNauRLVskei+1WEjoijq1HHSuAiL7VYiXmhIanEdSTYyfHXhuTxZ4Tnt7aPzdRtH+1Wq/xOw+8n/Al/VVrxvS9WPkfY3IZWPybh0b+61fQtoxjdcH7prhfi78NYrzTL3xTpH7m/tE869tFHyXabvmdfR1+8fX61lOFz08JivY+6cB4X8D2mtarPF57RbflRIn2sSa+gvhh+zHpHh2eK+iuy+pRYfa3zI2f+BV8u6P4yg0HUoNQJ2yo+4xsPu8V7Non7VWnabq6Sfaz9ldFYqvzbDtwwVaKcEtz6NY9ch9YNpI8iISYEsQ2yMo9Ky4ZItHeVE2RIHXK/wANeJf8NZaRdW7R2kczsRwypu/4Du65rKi1zxL8Urzyp5zo2kZ3+RA+2V/+BdhXW6cOh5NTFTnM9S1zx8de1RNC0PNxdO376VfuW4/iZmrN+OWjnTfAfh63HzL/AGsuWY9cQS/NXXfDrwPaeH7WKOKJYtw/u7mZv96vLv8AgoVrh8F/Db4c6xFcGCWw8Y20skcZ+aSD7NcC4T3Gxv8Ax6i19EctVvkbkcdbQlUXjtTnX61pfZ02K8TiWBwrxup+VkK5Vv8Avmqske3dWJ5ZnyR1WlX1rRkX1qrMvOaVyjOlWqki1oSL2qq8fzUgNaHrVyNaghjq7HH7VRJLGo7VcjX7tMhhq7DbmgBqR1OkNWIrMt0H6Veh0mWTpGzf7ooAowwncOK4z9ov4wWXwJ+C+ra9cRR3epX+7TNMspc7Z53B3M2P4ETc5+ir/FXea9q2heB7WC88Ta7pfhq1mO2OXV71LdZf93e3P/Aa/Oz/AIKD/GHSfil8RdG0/wAL6vDrfhXQNPaKO8tVbyZLyR83DIx++MCFN33fkOKLXHF+8e/p4Z0zxFZWVxbkS29zGksMq/3SoatPQPgze6leKPPCxL13JXhn7OfxOkfwRpVjdSndbIIkLH+EcLX2H8MvHEGpKttJBtlU/JJkbWWsIay5T2lBThzI0fBfwLsrNle5jWWUDd8wr1zw94TstFRY4Iz5uOFX+H/gXaptFt5Ps2R93uqn5v8Avqp7HWI7e52ZjKpnKs+1Ex94sxrtSshKml7x2+keXptvLc3ksVvZ28fmyXMp2rGAPmPPb3r82/2uPjUP2gvH9umnFl8H6IHt9MjYbTcMT+9nP+/tXb7KP7zV2/7SH7R1x8SjceG/D9y8XhSJ9lxeRHb/AGk47L/0xU/99/Tr4Na6ejFP4cn9K9nCYZ255niY3FqX7uGx9C/s1+Kh4o+Hn9h3MqHWfDp+ylGK73tf+WLqvcL9zd/sr/er0G6t2Vm4/wCA18bWnia8+GfxL07WdOuFtby3tZVhVgrJNkrvR17ptxx/LbXufhj9qjRtUmS08WaVLocpO3+07MGW23f3nT76f8B31xYnCyU24HNTrJrlZ6FMtVZI+1bz2sF5aQXdnPFdWc6CWC5tnDxSIfusrDg1nXNuV3cV5mp1GRIu1vxqnMtaM6lapyRnvSKNiFa0bW3LdKrWkPzdK5v42/GLS/gH4DbWbqOC/wBeuj5Oj6PLIwa6kG3e7Y58tA24n/dG7c1a7mdzuNV1LR/Cdgl/4g1nTtBsieJ9Tukt1P8Au725/wCA15j4w/bK+EfglGjs9VuvGV72g8Pwbov+BTSbUH/Ac1+fPjnxdq/xU8Uaj4o8RTi81a+kLlefKgG7iGJWZtiL0Va57d5Ixjan3Tt7VoqYuY+nviF/wUK8e6sssPhDStL8G2fKpO6C+uz/AHfnddgP+6leOX/7TXxh1a5W4vfib4kWVOiWl81un/fKbR/47XEzW4ksZePmQ/pWW8fz4/8AQaVrEp3NzxL4p1jxpq0+teI9Wvdf1qYYa61O5aaX/ZGT0HsK1vFXgu4XwFbagke5IQd7e3y5P/j1clFNHb3nmyLvggQuU9SO3/fVeh+DPjv5V5baZ4k0+zPhyYmO4e1ibzURhtY8lgR/eGMmtIct7M0d+gfBy4MNkttv2Skbo/8Aab0r7B+C3i54fs8Vy8ac/dnG3kf3Wr5jsfAv9h3el3uj3A1DQ5J9kV5Ed6HLcbse1fSWieB5LGGS9u3WztbcedJPK+xYU/iZm9PeuFxcah6eHm+U+0vD3iSCTSl3kS/Jysf3f++vSvlP40/GqT4iXV54a8NXBTwpG7LqOpRHb/aR/ihRv+eK92/j+nXw34jftfeHby/fwjZXOof8IuHEV3qdjEv+lr/EqqSD5PqOrfT5a7Wxg07U9BsrvQLmG+0m4T9xc2x+Q46j2IPUNyK97AUI1Z80+nQ4cbieVckNu5gTQiaXZGmEToq1qW1vHpsL3c4DLCjPtztzir0eliELn73fdXOeM5Li8Frpdp965YtN7RD+H/gRb/x2voHornhfEeW619v8RXdkb2OWK9u7iSe4uWH7m1tidyRqw4yw212kmkz61o0XllLVF+QzynbkD7rbe9dLpmkxaTA6ffdgqybvu1k6n5rXKf2eLd0zxLK58qH/AGVTv/vVyqFveZTd9jpfhx8RNc+E9p/ZWmXMOraXcEv9h1OMtFG/8TxMGUpu/iHQ/wB2uui/aw0+O8+z6z4b2rna8+kXXm+X/eZldV/753V4teWcen7rjXLuW6Vd2FgB2O3psHP4NXOXOvS3ULeRZvp1uP4Wj+f/AL57Vx1cPSnq1qawlNdT7wg+wa9Z/bNHv7XVbNhuE9jMJVx/tY6Vl3NuY+1fD3h6PUbXWrfVLPUbrS7qH545bN/Kcf8AAh/Jq+jvBH7Q1peW6WHjQNb3QIVNZtoP3Mg/6bIPuH/aUY/2VryKmEnBXjqdcKqbtI9x+1Weg6PqGs6i/ladptrJd3UmduIkDO3/AKDtr8y/iX8TtZ+NXxCuvEeusIZ5kEVjYx/6qztvm2Qp/wB9ct3LMa+mf29/iLfaP4d0L4f6a7QR6rEdT1N1bb5sKPshh/3S6s7f7i18bXTG+gt7iP5J8hA39yTt+DbayijSTLumw/6ctuQdqh2K1Lf2aqyvs7crin+F/wDiaeIVmI2q1o7uvo24Ky/nWrc2v2i88v7yp8x57V0JaHPfU5qztz/p9tyyrCso9qzjCYyz7Pug/dro/D8P2zxZqNtyrS27qFUegzViPw+6+flOkYzUcl0PnsefzZbT5Rgl5SuPpWV5bx7SUKq396u+0fw6l5qF1AE+VId236mmal4V8uTy40+VaydN2NlUSK/g3xhrvg1nfRNVn07zDvMa4eJiO7I6sCf+A19eeJ/jXB8bf2ZtCnu3htPFK6zJpmtW1mm3z0hg8yGQJu+USbwfTfE+K+PE0lPsbCSWO3nSTZ857dfxrofDN1c+G4r82RSV7+BYvPaMqyYOdy57/wANXBe8mx+1cYtLqcb4nsUt9SnQDZsJXap3f5Ndn8H/AIzX3wj1lxsbUPD904+3aYz4z/00T+5IP1HB9p7bwPJ/Z7Xtym7eP3a/+zVz2n/D288Sa0lnZoVdzyzD5UH96toqpTmpw3I54OPLI+5tB1/RvHPhxNa8P3sd/p7/ACs6fK8L7fuOOqP7H/eXctc7q2pWGjzTzvLFvUbPMkkVVTH95jXl/g34Tax8J9dsdZ0bxDcaVKhX7QqYdJ0+9sKHIcf7LLXS3Gg6HHdvfyWUT3ErmVmlTc2S2W2r2r6BVpyh76szzpRipe6ydtcOsMzwB7qLPErBlhH+761VmklW6iLksyEN5bfLurRXWBsxBbP5rfKnmDaq+9ULyaPTw8sp8+6f9WpNiWhFd6hIs/mY33TZUbj8qf7q/wBapx6TJ4iRpLi9uFgR133Odqj2X/4qn6Jpb+ILtnndkshu8xl+9L/srWt4r1a30+H7FbYRYRz5Z+VE/wB6otdXexe2xT1L7JGPLtlS38nCG7c7/NYfwtjb5hq4mho0P7w3PT+IhP8Ax0LxXK+H9ckvpFk0/T5NXvE/1cudlpbD/fP3z/tBTXVWVrrEh8y9vbeJ26xWsbN/48W/9lrWm09TNqx5f+0D8Vo/id8bfEequwl0a2k/srTNp+VbaFmVXX/fbe//AAOvOZbWO1f94PMs5fvsp+Vkb+Jf93/2Wq9trgsSha28+1ccukIZv+A5rW07Wo9Sgls5UgvYMMfMtY/KuI/9oxH7/wDwCvmopWPSd90X/AEAXWPEs0rgpAicr/Fnk/8AoP610NnZmFEaVds95ucr6KFri/hnqH/FWXelblljvSF3KflJTdt/Su61i6Efjb7OfuRWWwL6MWrqp2cLmU73OI8PXH2H4kWcjj5JZthX1B+WvXtb8Oi1tp5VAXd827H8NeLeKIzpuu293ESrRyCXd9CtfSXirY3hVr0fdlt1fdn1FXQWkkZ1HseXfDTSRqFzrl4R8qFIhu9ly3/oVVb66itUvZXCsqOcNXV/CK3Fv4DuruQf666dize1cG+nvql7FZ7C63OopEVU/eTflv03UONooSerLGpeGtLtfs92dQtWnngMu65k+VXGz92iqv323Eru4wh+atPwx4Vk1bXHs3MNyiTuhntixR0B4K55ww5+b+9Wj46uLPSW/wBAt44lEisnHvXbeHI7fw74eutYuNsHmAyj2WqhSXMJydjD8bRx26RWFsg83GxEX+FR/FW34A0e20G2a5IDyk7t38TtXF6zNPNNbyyjbqWrSL5cTfejh/x29a9BRfsdsiZ2Kg+d2/gX/GuqnZyuZPRWLl9qD3Vz5k5DvH0XPyx//XrndW8SfPI4AKRHlm7tTHvDcbY4MorHaiKPu/7VZN4sU2q2umIR5CHzZ2atJVHIlI6i3mNrYfbLly0rjhW7f4Vzt3dG8knnncpBbjdM+f8AvlF9zVnWdSkvryKC2TdLKRFAimuU8Z6tHYy2eh2b+aySHfKv/LWbb87f8B+7WcpJI0SOgtfGT2NmxRAjv8kMEQ3MnoFrNik0ia/U+Jb4Xl3uzHotmDMye7hFzn3bH4VhQpHboLrV9RXStLJKPcq376Y/xRw45z/eI6fdHfHTaLdWFjF9j0C3isLLG5765CooX++2eT/vNx/tVMJue5VrI6+21qJbeIQRf2dZKPvSxqm3/ZVd3J/2av8AnSXS5j83yj0aUfO3+FcbpV7aR3onsLS/8TXWcLfMAIR/uyybUA/3FNb1xZ65eQb73V7XRYMf6uzRriX/AL7k2j/xyu6L0MmtTwXRtNvbh0knnltbX73X53X/AGfSuve8HnB/sUTKOkrRru4/2qZFZmP5z87Z+8wrX01R0cbmx/EK8enTSVjplO5x+oaXa6d8QfCus2MKwR3lxsnjRuBIO/tuDVd8Q/L8R7pPWNcNVjxxZjTbfR71B5UUOrQttI9chsVS8QZ/4TlZx/cVqTXLdFr3+UxPH9rutbqQj7sZ+avaW1BtU+BOl3g5d7NF+Xuw+WvKfFUYvNKvv4t0bYrs/hzqg1T4FWtpktLa3bROuO2f8Gq6T5ZyXdCqL3F6m74ZtZNP+Ek4jT96I5HC/wC1triPA1xHfeItOdzs+xRyXTt/tldi/wDoR/75r1vw7CJPD11ZABto3bcbdwK7a8i8BeVZ3Ximf+Hz/sycfd2cn9WrSorOBjF7jvEinXPEmnadGN32m6RNtej+LJItQ1eDTFO3S9NAluNv8bj7if1ryfRdUePx9YX+zzVtpGcL6t/DXQeNdeksdPnEZ/0ieQ4/vPKf/ifu1nGWjY3F3SNTwez+LPGd/rko3WVn/otuuPl3fxVr+JNY86b7JA+5FPzt/eaq+jxx+C/CNrZIR55j3O2PvOfvH/x6smwzcXCyyfNklq6I3UbdSZG3aSfYbZ7g/K+GrmpdWj02O61Cd3+c/d/9BFWtZvjM62yfdJ5bNc1C39uarEgH+h277U3fdd/WspSs7ISX2jpbLUpdL0SXWrtNmo3QMVlE3/LIfxNXCeFLG68aeM9q3KWVkmLY3kp27Fz85Hux3c1v/ES6P9mTyRv/AKmMW9rFnqS21j+dYlh4dSPSoLO5+1bHwz2tp8rzt/Qf71RK8ml0Nla1za8SaHp1jrjW9r4hs2uxtiEenWrahd7B2VvuR/7q4/GuksPD/hbw/HDf6g3lXboD9p1+fzbkn/cbp+C0zw94L1iO18jT4rXwvZHqsSbrhx/tSmuhsfBeiaGftN5LFdT/AHjPcvvauqnT1vYzc/skSeODqB/4klnLqzD5ftM+6KFP91T1qaHS9b1KZZL2WDaw5SLPFXLnxxpWnhI4I5Lh+0aDatZF3rms61N9meJdIs5TxFF+9u5h/ur9wf7TV1XUd3cx1ucToeoNeWy+em1f7zDrXS6XZi6u0COFx13dloorzodDWRwXx51+JdP0/TbcnKzecD7BcZ/M1Tg1y31p7W7+9Okaq+40UVzVJP2jOuCXJEvzYuI5RkfMNu2rHwKuNsutaMTtUSCUK3/fNFFOn8aE/hZ6TYa8NF8brZyY2zBsr64WvObXXNPTwjdTwo/2i6eeZEiHzF3cn/x1WWiiuiq2c8IqxX8GQpJdpevhkjj83d7mltLgeJvG1uHG2ysG81/4tz/w0UVhHZF9WdFreoHUr3YM+Uv92n/bBZx5QlVA+7RRXT1Muhz2s3zrC0UZ23Fydu70T1pui3EGnwzuhVUhTaGX+9RRWP2ykO8PaHPqxTULu7iiUyeVatdk7c/3lXqT/druIVi8Kun/ABM5Ly4VG/dWcZdyT9elFFa0gqD1vNc1SNUi0jdGesuoTs2f+AitK10PVVMUlxFYoqjjyoFbH57qKK7Y7mJqtmO1Ypc+U2eGSNV+auP8RTap5Tg6jJsdudvBb8qKKur8IU9z/9k="/>
  <p:tag name="MMPROD_45376LOGO" val=""/>
  <p:tag name="MMPROD_UIDATA" val="&lt;database version=&quot;7.0&quot;&gt;&lt;object type=&quot;1&quot; unique_id=&quot;10001&quot;&gt;&lt;property id=&quot;20141&quot; value=&quot;MS PowerPoint 2010&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C:\Users\zparlak\Documents\My Adobe Presentations\tema_presenter&quot;/&gt;&lt;property id=&quot;20225&quot; value=&quot;C:\Users\zparlak\Desktop\adobe_presenter\&quot;/&gt;&lt;property id=&quot;20226&quot; value=&quot;C:\Users\zparlak\Desktop\powerpoint_ders_notu\modüller\modul6.pptx&quot;/&gt;&lt;property id=&quot;20250&quot; value=&quot;7&quot;/&gt;&lt;property id=&quot;20251&quot; value=&quot;0&quot;/&gt;&lt;property id=&quot;20259&quot; value=&quot;0&quot;/&gt;&lt;property id=&quot;20501&quot; value=&quot;C:\Users\Presenter\Documents\My Adobe Presentations\&quot;/&gt;&lt;object type=&quot;2&quot; unique_id=&quot;10559&quot;&gt;&lt;object type=&quot;3&quot; unique_id=&quot;10560&quot;&gt;&lt;property id=&quot;20148&quot; value=&quot;5&quot;/&gt;&lt;property id=&quot;20300&quot; value=&quot;Slide 1 - &amp;quot;PowerPoint&amp;quot;&quot;/&gt;&lt;property id=&quot;20302&quot; value=&quot;1&quot;/&gt;&lt;property id=&quot;20303&quot; value=&quot;Zekeriya PARLAK&quot;/&gt;&lt;property id=&quot;20307&quot; value=&quot;256&quot;/&gt;&lt;property id=&quot;20309&quot; value=&quot;45376&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Zekeriya PARLAK&quot;/&gt;&lt;property id=&quot;20307&quot; value=&quot;258&quot;/&gt;&lt;property id=&quot;20309&quot; value=&quot;45376&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Zekeriya PARLAK&quot;/&gt;&lt;property id=&quot;20307&quot; value=&quot;260&quot;/&gt;&lt;property id=&quot;20309&quot; value=&quot;45376&quot;/&gt;&lt;property id=&quot;20312&quot; value=&quot;0&quot;/&gt;&lt;/object&gt;&lt;object type=&quot;3&quot; unique_id=&quot;42307&quot;&gt;&lt;property id=&quot;20148&quot; value=&quot;5&quot;/&gt;&lt;property id=&quot;20300&quot; value=&quot;Slide 4 - &amp;quot;Grafik kullanma&amp;quot;&quot;/&gt;&lt;property id=&quot;20302&quot; value=&quot;0&quot;/&gt;&lt;property id=&quot;20303&quot; value=&quot;Zekeriya PARLAK&quot;/&gt;&lt;property id=&quot;20307&quot; value=&quot;297&quot;/&gt;&lt;property id=&quot;20309&quot; value=&quot;45376&quot;/&gt;&lt;property id=&quot;20312&quot; value=&quot;0&quot;/&gt;&lt;/object&gt;&lt;object type=&quot;3&quot; unique_id=&quot;44137&quot;&gt;&lt;property id=&quot;20148&quot; value=&quot;5&quot;/&gt;&lt;property id=&quot;20300&quot; value=&quot;Slide 5 - &amp;quot;Farklı türlerde grafik oluşturmak için veri girmek&amp;quot;&quot;/&gt;&lt;property id=&quot;20302&quot; value=&quot;0&quot;/&gt;&lt;property id=&quot;20303&quot; value=&quot;Zekeriya PARLAK&quot;/&gt;&lt;property id=&quot;20307&quot; value=&quot;298&quot;/&gt;&lt;property id=&quot;20309&quot; value=&quot;45376&quot;/&gt;&lt;property id=&quot;20312&quot; value=&quot;0&quot;/&gt;&lt;/object&gt;&lt;object type=&quot;3&quot; unique_id=&quot;44138&quot;&gt;&lt;property id=&quot;20148&quot; value=&quot;5&quot;/&gt;&lt;property id=&quot;20300&quot; value=&quot;Slide 6 - &amp;quot;Grafikleri Biçimlendirmek &amp;quot;&quot;/&gt;&lt;property id=&quot;20302&quot; value=&quot;0&quot;/&gt;&lt;property id=&quot;20303&quot; value=&quot;Zekeriya PARLAK&quot;/&gt;&lt;property id=&quot;20307&quot; value=&quot;299&quot;/&gt;&lt;property id=&quot;20309&quot; value=&quot;45376&quot;/&gt;&lt;property id=&quot;20312&quot; value=&quot;0&quot;/&gt;&lt;/object&gt;&lt;object type=&quot;3&quot; unique_id=&quot;44139&quot;&gt;&lt;property id=&quot;20148&quot; value=&quot;5&quot;/&gt;&lt;property id=&quot;20300&quot; value=&quot;Slide 7 - &amp;quot;Önceden Tanımlanmış Bir Grafik Düzenini Uygulama&amp;quot;&quot;/&gt;&lt;property id=&quot;20302&quot; value=&quot;0&quot;/&gt;&lt;property id=&quot;20303&quot; value=&quot;Zekeriya PARLAK&quot;/&gt;&lt;property id=&quot;20307&quot; value=&quot;300&quot;/&gt;&lt;property id=&quot;20309&quot; value=&quot;45376&quot;/&gt;&lt;property id=&quot;20312&quot; value=&quot;0&quot;/&gt;&lt;/object&gt;&lt;object type=&quot;3&quot; unique_id=&quot;44575&quot;&gt;&lt;property id=&quot;20148&quot; value=&quot;5&quot;/&gt;&lt;property id=&quot;20300&quot; value=&quot;Slide 9 - &amp;quot;Grafiğin öğelerinin biçimlerimi değiştirmek ve düzenlemek&amp;quot;&quot;/&gt;&lt;property id=&quot;20302&quot; value=&quot;0&quot;/&gt;&lt;property id=&quot;20303&quot; value=&quot;Zekeriya PARLAK&quot;/&gt;&lt;property id=&quot;20307&quot; value=&quot;301&quot;/&gt;&lt;property id=&quot;20309&quot; value=&quot;45376&quot;/&gt;&lt;property id=&quot;20312&quot; value=&quot;0&quot;/&gt;&lt;/object&gt;&lt;object type=&quot;3&quot; unique_id=&quot;44649&quot;&gt;&lt;property id=&quot;20148&quot; value=&quot;5&quot;/&gt;&lt;property id=&quot;20300&quot; value=&quot;Slide 8 - &amp;quot;Önceden Tanımlanmış Bir Grafik Stilini Uygulama&amp;quot;&quot;/&gt;&lt;property id=&quot;20302&quot; value=&quot;0&quot;/&gt;&lt;property id=&quot;20303&quot; value=&quot;Zekeriya PARLAK&quot;/&gt;&lt;property id=&quot;20307&quot; value=&quot;309&quot;/&gt;&lt;property id=&quot;20309&quot; value=&quot;45376&quot;/&gt;&lt;property id=&quot;20312&quot; value=&quot;0&quot;/&gt;&lt;/object&gt;&lt;/object&gt;&lt;object type=&quot;8&quot; unique_id=&quot;10563&quot;&gt;&lt;/object&gt;&lt;object type=&quot;4&quot; unique_id=&quot;10695&quot;&gt;&lt;object type=&quot;5&quot; unique_id=&quot;45376&quot;&gt;&lt;property id=&quot;20149&quot; value=&quot;Zekeriya PARLAK&quot;/&gt;&lt;property id=&quot;20150&quot; value=&quot;Öğr.Gör.Dr.&quot;/&gt;&lt;property id=&quot;20151&quot; value=&quot;100_4bdc29d7029a3.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45489&quot;&gt;&lt;/object&gt;&lt;/object&gt;&lt;/object&gt;&lt;/database&gt;"/>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PRESENTER_SHAPEINFO" val="&lt;ThreeDShapeInfo&gt;&lt;uuid val=&quot;{7A93D08A-100F-4D2E-ABA5-B26FB37EBC41}&quot;/&gt;&lt;isInvalidForFieldText val=&quot;0&quot;/&gt;&lt;Image&gt;&lt;filename val=&quot;C:\Users\PRESEN~1\AppData\Local\Temp\PR\data\asimages\{7A93D08A-100F-4D2E-ABA5-B26FB37EBC41}_1.png&quot;/&gt;&lt;left val=&quot;-27&quot;/&gt;&lt;top val=&quot;207&quot;/&gt;&lt;width val=&quot;379&quot;/&gt;&lt;height val=&quot;120&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PSNARRATION" val="1,575556800,C:\Users\Presenter\Desktop\powerpoint_icerikler\moduller\modul7_pptx\Media.ppcx"/>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CCBE1F84-5F99-4D2F-8315-9C3A6F3598CE}&quot;/&gt;&lt;isInvalidForFieldText val=&quot;0&quot;/&gt;&lt;Image&gt;&lt;filename val=&quot;C:\Users\PRESEN~1\AppData\Local\Temp\PR\data\asimages\{CCBE1F84-5F99-4D2F-8315-9C3A6F3598CE}_2.png&quot;/&gt;&lt;left val=&quot;25&quot;/&gt;&lt;top val=&quot;30&quot;/&gt;&lt;width val=&quot;659&quot;/&gt;&lt;height val=&quot;62&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21&quot;/&gt;&lt;lineCharCount val=&quot;50&quot;/&gt;&lt;lineCharCount val=&quot;38&quot;/&gt;&lt;lineCharCount val=&quot;1&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EF99D82D-C119-401B-8B30-59DBE23EF1C5}&quot;/&gt;&lt;isInvalidForFieldText val=&quot;0&quot;/&gt;&lt;Image&gt;&lt;filename val=&quot;C:\Users\PRESEN~1\AppData\Local\Temp\PR\data\asimages\{EF99D82D-C119-401B-8B30-59DBE23EF1C5}_3.png&quot;/&gt;&lt;left val=&quot;25&quot;/&gt;&lt;top val=&quot;30&quot;/&gt;&lt;width val=&quot;659&quot;/&gt;&lt;height val=&quot;62&quot;/&gt;&lt;hasText val=&quot;1&quot;/&gt;&lt;/Image&gt;&lt;/ThreeDShape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1&quot;/&gt;&lt;lineCharCount val=&quot;52&quot;/&gt;&lt;lineCharCount val=&quot;24&quot;/&gt;&lt;lineCharCount val=&quot;58&quot;/&gt;&lt;lineCharCount val=&quot;31&quot;/&gt;&lt;lineCharCount val=&quot;56&quot;/&gt;&lt;lineCharCount val=&quot;55&quot;/&gt;&lt;lineCharCount val=&quot;71&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PSNARRATION" val="2,575556800,C:\Users\Presenter\Desktop\powerpoint_icerikler\moduller\modul7_pptx\Media.ppcx"/>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 name="PRESENTER_SHAPEINFO" val="&lt;ThreeDShapeInfo&gt;&lt;uuid val=&quot;{AF917210-68B1-4BD1-8F15-75113A73FCF6}&quot;/&gt;&lt;isInvalidForFieldText val=&quot;0&quot;/&gt;&lt;Image&gt;&lt;filename val=&quot;C:\Users\PRESEN~1\AppData\Local\Temp\PR\data\asimages\{AF917210-68B1-4BD1-8F15-75113A73FCF6}_4.png&quot;/&gt;&lt;left val=&quot;36&quot;/&gt;&lt;top val=&quot;30&quot;/&gt;&lt;width val=&quot;649&quot;/&gt;&lt;height val=&quot;62&quot;/&gt;&lt;hasText val=&quot;1&quot;/&gt;&lt;/Image&gt;&lt;/ThreeDShape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2&quot;/&gt;&lt;lineCharCount val=&quot;21&quot;/&gt;&lt;lineCharCount val=&quot;57&quot;/&gt;&lt;lineCharCount val=&quot;1&quot;/&gt;&lt;lineCharCount val=&quot;1&quot;/&gt;&lt;lineCharCount val=&quot;1&quot;/&gt;&lt;lineCharCount val=&quot;1&quot;/&gt;&lt;lineCharCount val=&quot;1&quot;/&gt;&lt;lineCharCount val=&quot;91&quot;/&gt;&lt;lineCharCount val=&quot;41&quot;/&gt;&lt;lineCharCount val=&quot;1&quot;/&gt;&lt;lineCharCount val=&quot;1&quot;/&gt;&lt;lineCharCount val=&quot;1&quot;/&gt;&lt;lineCharCount val=&quot;89&quot;/&gt;&lt;lineCharCount val=&quot;1&quot;/&gt;&lt;lineCharCount val=&quot;1&quot;/&gt;&lt;lineCharCount val=&quot;1&quot;/&gt;&lt;lineCharCount val=&quot;1&quot;/&gt;&lt;lineCharCount val=&quot;1&quot;/&gt;&lt;lineCharCount val=&quot;1&quot;/&gt;&lt;lineCharCount val=&quot;1&quot;/&gt;&lt;lineCharCount val=&quot;89&quot;/&gt;&lt;lineCharCount val=&quot;40&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PSNARRATION" val="3,575556800,C:\Users\Presenter\Desktop\powerpoint_icerikler\moduller\modul7_pptx\Media.ppcx"/>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0&quot;/&gt;&lt;/TableIndex&gt;&lt;/ShapeTextInfo&gt;"/>
  <p:tag name="PRESENTER_SHAPEINFO" val="&lt;ThreeDShapeInfo&gt;&lt;uuid val=&quot;{E0CA3751-1ACA-470A-AD31-31146D271BA6}&quot;/&gt;&lt;isInvalidForFieldText val=&quot;0&quot;/&gt;&lt;Image&gt;&lt;filename val=&quot;C:\Users\PRESEN~1\AppData\Local\Temp\PR\data\asimages\{E0CA3751-1ACA-470A-AD31-31146D271BA6}_5.png&quot;/&gt;&lt;left val=&quot;36&quot;/&gt;&lt;top val=&quot;30&quot;/&gt;&lt;width val=&quot;649&quot;/&gt;&lt;height val=&quot;62&quot;/&gt;&lt;hasText val=&quot;1&quot;/&gt;&lt;/Image&gt;&lt;/ThreeDShape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8&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3&quot;/&gt;&lt;lineCharCount val=&quot;30&quot;/&gt;&lt;lineCharCount val=&quot;85&quot;/&gt;&lt;lineCharCount val=&quot;42&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81&quot;/&gt;&lt;lineCharCount val=&quot;14&quot;/&gt;&lt;lineCharCount val=&quot;78&quot;/&gt;&lt;lineCharCount val=&quot;70&quot;/&gt;&lt;lineCharCount val=&quot;82&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PSNARRATION" val="4,575556800,C:\Users\Presenter\Desktop\powerpoint_icerikler\moduller\modul7_pptx\Media.ppcx"/>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 name="PRESENTER_SHAPEINFO" val="&lt;ThreeDShapeInfo&gt;&lt;uuid val=&quot;{F38F01FF-5D6C-4239-AC12-6C71F7C2386B}&quot;/&gt;&lt;isInvalidForFieldText val=&quot;0&quot;/&gt;&lt;Image&gt;&lt;filename val=&quot;C:\Users\PRESEN~1\AppData\Local\Temp\PR\data\asimages\{F38F01FF-5D6C-4239-AC12-6C71F7C2386B}_6.png&quot;/&gt;&lt;left val=&quot;36&quot;/&gt;&lt;top val=&quot;30&quot;/&gt;&lt;width val=&quot;649&quot;/&gt;&lt;height val=&quot;62&quot;/&gt;&lt;hasText val=&quot;1&quot;/&gt;&lt;/Image&gt;&lt;/ThreeDShape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7&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2&quot;/&gt;&lt;lineCharCount val=&quot;8&quot;/&gt;&lt;lineCharCount val=&quot;23&quot;/&gt;&lt;lineCharCount val=&quot;22&quot;/&gt;&lt;lineCharCount val=&quot;37&quot;/&gt;&lt;lineCharCount val=&quot;11&quot;/&gt;&lt;lineCharCount val=&quot;35&quot;/&gt;&lt;lineCharCount val=&quot;15&quot;/&gt;&lt;lineCharCount val=&quot;35&quot;/&gt;&lt;lineCharCount val=&quot;34&quot;/&gt;&lt;lineCharCount val=&quot;21&quot;/&gt;&lt;lineCharCount val=&quot;38&quot;/&gt;&lt;lineCharCount val=&quot;14&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PSNARRATION" val="5,575556800,C:\Users\Presenter\Desktop\powerpoint_icerikler\moduller\modul7_pptx\Media.ppcx"/>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8&quot;/&gt;&lt;/TableIndex&gt;&lt;/ShapeTextInfo&gt;"/>
  <p:tag name="PRESENTER_SHAPEINFO" val="&lt;ThreeDShapeInfo&gt;&lt;uuid val=&quot;{B32D53F1-B65C-4EF3-BAC2-B6685252F1CD}&quot;/&gt;&lt;isInvalidForFieldText val=&quot;0&quot;/&gt;&lt;Image&gt;&lt;filename val=&quot;C:\Users\PRESEN~1\AppData\Local\Temp\PR\data\asimages\{B32D53F1-B65C-4EF3-BAC2-B6685252F1CD}_7.png&quot;/&gt;&lt;left val=&quot;28&quot;/&gt;&lt;top val=&quot;32&quot;/&gt;&lt;width val=&quot;663&quot;/&gt;&lt;height val=&quot;59&quot;/&gt;&lt;hasText val=&quot;1&quot;/&gt;&lt;/Image&gt;&lt;/ThreeDShape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7&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42&quot;/&gt;&lt;lineCharCount val=&quot;83&quot;/&gt;&lt;lineCharCount val=&quot;93&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PSNARRATION" val="6,575556800,C:\Users\Presenter\Desktop\powerpoint_icerikler\moduller\modul7_pptx\Media.ppcx"/>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7&quot;/&gt;&lt;/TableIndex&gt;&lt;/ShapeTextInfo&gt;"/>
  <p:tag name="PRESENTER_SHAPEINFO" val="&lt;ThreeDShapeInfo&gt;&lt;uuid val=&quot;{EA9C3FF6-A6D0-4BB1-99AB-79AE548AE64E}&quot;/&gt;&lt;isInvalidForFieldText val=&quot;0&quot;/&gt;&lt;Image&gt;&lt;filename val=&quot;C:\Users\PRESEN~1\AppData\Local\Temp\PR\data\asimages\{EA9C3FF6-A6D0-4BB1-99AB-79AE548AE64E}_8.png&quot;/&gt;&lt;left val=&quot;36&quot;/&gt;&lt;top val=&quot;32&quot;/&gt;&lt;width val=&quot;649&quot;/&gt;&lt;height val=&quot;59&quot;/&gt;&lt;hasText val=&quot;1&quot;/&gt;&lt;/Image&gt;&lt;/ThreeDShape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7&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42&quot;/&gt;&lt;lineCharCount val=&quot;89&quot;/&gt;&lt;lineCharCount val=&quot;85&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PSNARRATION" val="7,575556800,C:\Users\Presenter\Desktop\powerpoint_icerikler\moduller\modul7_pptx\Media.ppcx"/>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7&quot;/&gt;&lt;/TableIndex&gt;&lt;/ShapeTextInfo&gt;"/>
  <p:tag name="PRESENTER_SHAPEINFO" val="&lt;ThreeDShapeInfo&gt;&lt;uuid val=&quot;{50191DD5-3CFA-49DD-A212-E4B4AA3FFDBD}&quot;/&gt;&lt;isInvalidForFieldText val=&quot;0&quot;/&gt;&lt;Image&gt;&lt;filename val=&quot;C:\Users\PRESEN~1\AppData\Local\Temp\PR\data\asimages\{50191DD5-3CFA-49DD-A212-E4B4AA3FFDBD}_9.png&quot;/&gt;&lt;left val=&quot;36&quot;/&gt;&lt;top val=&quot;36&quot;/&gt;&lt;width val=&quot;649&quot;/&gt;&lt;height val=&quot;46&quot;/&gt;&lt;hasText val=&quot;1&quot;/&gt;&lt;/Image&gt;&lt;/ThreeDShape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7&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5&quot;/&gt;&lt;lineCharCount val=&quot;58&quot;/&gt;&lt;lineCharCount val=&quot;84&quot;/&gt;&lt;lineCharCount val=&quot;84&quot;/&gt;&lt;lineCharCount val=&quot;20&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45&quot;/&gt;&lt;lineCharCount val=&quot;53&quot;/&gt;&lt;lineCharCount val=&quot;50&quot;/&gt;&lt;lineCharCount val=&quot;79&quot;/&gt;&lt;lineCharCount val=&quot;86&quot;/&gt;&lt;lineCharCount val=&quot;61&quot;/&gt;&lt;lineCharCount val=&quot;82&quot;/&gt;&lt;lineCharCount val=&quot;75&quot;/&gt;&lt;lineCharCount val=&quot;85&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1624</TotalTime>
  <Words>680</Words>
  <Application>Microsoft Office PowerPoint</Application>
  <PresentationFormat>Ekran Gösterisi (4:3)</PresentationFormat>
  <Paragraphs>101</Paragraphs>
  <Slides>9</Slides>
  <Notes>6</Notes>
  <HiddenSlides>0</HiddenSlides>
  <MMClips>0</MMClips>
  <ScaleCrop>false</ScaleCrop>
  <HeadingPairs>
    <vt:vector size="4" baseType="variant">
      <vt:variant>
        <vt:lpstr>Tema</vt:lpstr>
      </vt:variant>
      <vt:variant>
        <vt:i4>2</vt:i4>
      </vt:variant>
      <vt:variant>
        <vt:lpstr>Slayt Başlıkları</vt:lpstr>
      </vt:variant>
      <vt:variant>
        <vt:i4>9</vt:i4>
      </vt:variant>
    </vt:vector>
  </HeadingPairs>
  <TitlesOfParts>
    <vt:vector size="11" baseType="lpstr">
      <vt:lpstr>Hava Akımı</vt:lpstr>
      <vt:lpstr>Ofis Teması</vt:lpstr>
      <vt:lpstr>PowerPoint</vt:lpstr>
      <vt:lpstr>Öğrenme Hedefleri</vt:lpstr>
      <vt:lpstr>İçindekiler</vt:lpstr>
      <vt:lpstr>Grafik kullanma</vt:lpstr>
      <vt:lpstr>Farklı türlerde grafik oluşturmak için veri girmek</vt:lpstr>
      <vt:lpstr>Grafikleri Biçimlendirmek </vt:lpstr>
      <vt:lpstr>Önceden Tanımlanmış Bir Grafik Düzenini Uygulama</vt:lpstr>
      <vt:lpstr>Önceden Tanımlanmış Bir Grafik Stilini Uygulama</vt:lpstr>
      <vt:lpstr>Grafiğin öğelerinin biçimlerimi değiştirmek ve düzenlemek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Presenter</cp:lastModifiedBy>
  <cp:revision>455</cp:revision>
  <dcterms:created xsi:type="dcterms:W3CDTF">2011-06-08T08:18:11Z</dcterms:created>
  <dcterms:modified xsi:type="dcterms:W3CDTF">2011-09-17T09:52:49Z</dcterms:modified>
</cp:coreProperties>
</file>