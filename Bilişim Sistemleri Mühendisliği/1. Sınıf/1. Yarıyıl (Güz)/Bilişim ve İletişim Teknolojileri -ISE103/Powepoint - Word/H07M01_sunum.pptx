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2.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3.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4.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5.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6.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7.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notesSlides/notesSlide8.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9.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10.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11.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12.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13.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14.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notesSlides/notesSlide15.xml" ContentType="application/vnd.openxmlformats-officedocument.presentationml.notesSlide+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9"/>
  </p:notesMasterIdLst>
  <p:handoutMasterIdLst>
    <p:handoutMasterId r:id="rId20"/>
  </p:handoutMasterIdLst>
  <p:sldIdLst>
    <p:sldId id="256" r:id="rId3"/>
    <p:sldId id="260" r:id="rId4"/>
    <p:sldId id="258" r:id="rId5"/>
    <p:sldId id="257" r:id="rId6"/>
    <p:sldId id="271" r:id="rId7"/>
    <p:sldId id="261" r:id="rId8"/>
    <p:sldId id="272" r:id="rId9"/>
    <p:sldId id="263" r:id="rId10"/>
    <p:sldId id="273" r:id="rId11"/>
    <p:sldId id="274" r:id="rId12"/>
    <p:sldId id="267" r:id="rId13"/>
    <p:sldId id="264" r:id="rId14"/>
    <p:sldId id="275" r:id="rId15"/>
    <p:sldId id="276" r:id="rId16"/>
    <p:sldId id="277" r:id="rId17"/>
    <p:sldId id="278" r:id="rId18"/>
  </p:sldIdLst>
  <p:sldSz cx="9144000" cy="6858000" type="screen4x3"/>
  <p:notesSz cx="6669088" cy="9928225"/>
  <p:custDataLst>
    <p:tags r:id="rId21"/>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745" autoAdjust="0"/>
    <p:restoredTop sz="85042" autoAdjust="0"/>
  </p:normalViewPr>
  <p:slideViewPr>
    <p:cSldViewPr>
      <p:cViewPr>
        <p:scale>
          <a:sx n="90" d="100"/>
          <a:sy n="90" d="100"/>
        </p:scale>
        <p:origin x="-2022" y="-13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889938" cy="496411"/>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sz="quarter" idx="1"/>
          </p:nvPr>
        </p:nvSpPr>
        <p:spPr>
          <a:xfrm>
            <a:off x="3777607" y="0"/>
            <a:ext cx="2889938" cy="496411"/>
          </a:xfrm>
          <a:prstGeom prst="rect">
            <a:avLst/>
          </a:prstGeom>
        </p:spPr>
        <p:txBody>
          <a:bodyPr vert="horz" lIns="91440" tIns="45720" rIns="91440" bIns="45720" rtlCol="0"/>
          <a:lstStyle>
            <a:lvl1pPr algn="r">
              <a:defRPr sz="1200"/>
            </a:lvl1pPr>
          </a:lstStyle>
          <a:p>
            <a:fld id="{7F634FEE-1CC9-4C8C-B945-6145973C930C}" type="datetimeFigureOut">
              <a:rPr lang="tr-TR" smtClean="0"/>
              <a:t>18.10.2011</a:t>
            </a:fld>
            <a:endParaRPr lang="tr-TR"/>
          </a:p>
        </p:txBody>
      </p:sp>
      <p:sp>
        <p:nvSpPr>
          <p:cNvPr id="4" name="Altbilgi Yer Tutucusu 3"/>
          <p:cNvSpPr>
            <a:spLocks noGrp="1"/>
          </p:cNvSpPr>
          <p:nvPr>
            <p:ph type="ftr" sz="quarter" idx="2"/>
          </p:nvPr>
        </p:nvSpPr>
        <p:spPr>
          <a:xfrm>
            <a:off x="0" y="9430091"/>
            <a:ext cx="2889938" cy="496411"/>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p:cNvSpPr>
            <a:spLocks noGrp="1"/>
          </p:cNvSpPr>
          <p:nvPr>
            <p:ph type="sldNum" sz="quarter" idx="3"/>
          </p:nvPr>
        </p:nvSpPr>
        <p:spPr>
          <a:xfrm>
            <a:off x="3777607" y="9430091"/>
            <a:ext cx="2889938" cy="496411"/>
          </a:xfrm>
          <a:prstGeom prst="rect">
            <a:avLst/>
          </a:prstGeom>
        </p:spPr>
        <p:txBody>
          <a:bodyPr vert="horz" lIns="91440" tIns="45720" rIns="91440" bIns="45720" rtlCol="0" anchor="b"/>
          <a:lstStyle>
            <a:lvl1pPr algn="r">
              <a:defRPr sz="1200"/>
            </a:lvl1pPr>
          </a:lstStyle>
          <a:p>
            <a:fld id="{F5E8B91E-3A23-4E3C-BAE1-F6AD3A4CE816}" type="slidenum">
              <a:rPr lang="tr-TR" smtClean="0"/>
              <a:t>‹#›</a:t>
            </a:fld>
            <a:endParaRPr lang="tr-TR"/>
          </a:p>
        </p:txBody>
      </p:sp>
    </p:spTree>
    <p:extLst>
      <p:ext uri="{BB962C8B-B14F-4D97-AF65-F5344CB8AC3E}">
        <p14:creationId xmlns:p14="http://schemas.microsoft.com/office/powerpoint/2010/main" val="26163935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889938" cy="496411"/>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777607" y="0"/>
            <a:ext cx="2889938" cy="496411"/>
          </a:xfrm>
          <a:prstGeom prst="rect">
            <a:avLst/>
          </a:prstGeom>
        </p:spPr>
        <p:txBody>
          <a:bodyPr vert="horz" lIns="91440" tIns="45720" rIns="91440" bIns="45720" rtlCol="0"/>
          <a:lstStyle>
            <a:lvl1pPr algn="r">
              <a:defRPr sz="1200"/>
            </a:lvl1pPr>
          </a:lstStyle>
          <a:p>
            <a:fld id="{EFF07403-48BF-4B87-9E20-50CC050AC631}" type="datetimeFigureOut">
              <a:rPr lang="tr-TR" smtClean="0"/>
              <a:t>18.10.2011</a:t>
            </a:fld>
            <a:endParaRPr lang="tr-TR"/>
          </a:p>
        </p:txBody>
      </p:sp>
      <p:sp>
        <p:nvSpPr>
          <p:cNvPr id="4" name="Slayt Görüntüsü Yer Tutucusu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66909" y="4715907"/>
            <a:ext cx="5335270" cy="4467701"/>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9430091"/>
            <a:ext cx="2889938" cy="496411"/>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777607" y="9430091"/>
            <a:ext cx="2889938" cy="496411"/>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1</a:t>
            </a:fld>
            <a:endParaRPr lang="tr-TR"/>
          </a:p>
        </p:txBody>
      </p:sp>
    </p:spTree>
    <p:extLst>
      <p:ext uri="{BB962C8B-B14F-4D97-AF65-F5344CB8AC3E}">
        <p14:creationId xmlns:p14="http://schemas.microsoft.com/office/powerpoint/2010/main" val="1751901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Kelime işlemcisi uygulama programının bu ünitesini tamamladığımızda her </a:t>
            </a:r>
            <a:r>
              <a:rPr lang="tr-TR" sz="1200" kern="1200" smtClean="0">
                <a:solidFill>
                  <a:schemeClr val="tx1"/>
                </a:solidFill>
                <a:effectLst/>
                <a:latin typeface="+mn-lt"/>
                <a:ea typeface="+mn-ea"/>
                <a:cs typeface="+mn-cs"/>
              </a:rPr>
              <a:t>bir arkadaş </a:t>
            </a:r>
            <a:endParaRPr lang="tr-TR" sz="1200" kern="1200" dirty="0" smtClean="0">
              <a:solidFill>
                <a:schemeClr val="tx1"/>
              </a:solidFill>
              <a:effectLst/>
              <a:latin typeface="+mn-lt"/>
              <a:ea typeface="+mn-ea"/>
              <a:cs typeface="+mn-cs"/>
            </a:endParaRPr>
          </a:p>
          <a:p>
            <a:pPr lvl="0"/>
            <a:r>
              <a:rPr lang="tr-TR" sz="1200" kern="1200" dirty="0" smtClean="0">
                <a:solidFill>
                  <a:schemeClr val="tx1"/>
                </a:solidFill>
                <a:effectLst/>
                <a:latin typeface="+mn-lt"/>
                <a:ea typeface="+mn-ea"/>
                <a:cs typeface="+mn-cs"/>
              </a:rPr>
              <a:t>Kelime işlemci uygulamasını açabilir</a:t>
            </a:r>
          </a:p>
          <a:p>
            <a:pPr lvl="0"/>
            <a:r>
              <a:rPr lang="tr-TR" sz="1200" kern="1200" dirty="0" smtClean="0">
                <a:solidFill>
                  <a:schemeClr val="tx1"/>
                </a:solidFill>
                <a:effectLst/>
                <a:latin typeface="+mn-lt"/>
                <a:ea typeface="+mn-ea"/>
                <a:cs typeface="+mn-cs"/>
              </a:rPr>
              <a:t> MS Word ara yüzünü ve ögelerini tanır</a:t>
            </a:r>
          </a:p>
          <a:p>
            <a:pPr lvl="0"/>
            <a:r>
              <a:rPr lang="tr-TR" sz="1200" kern="1200" dirty="0" smtClean="0">
                <a:solidFill>
                  <a:schemeClr val="tx1"/>
                </a:solidFill>
                <a:effectLst/>
                <a:latin typeface="+mn-lt"/>
                <a:ea typeface="+mn-ea"/>
                <a:cs typeface="+mn-cs"/>
              </a:rPr>
              <a:t> Bir ya da birden fazla belgeyle çalışabilir</a:t>
            </a:r>
          </a:p>
          <a:p>
            <a:r>
              <a:rPr lang="tr-TR" sz="1200" kern="1200" dirty="0" smtClean="0">
                <a:solidFill>
                  <a:schemeClr val="tx1"/>
                </a:solidFill>
                <a:effectLst/>
                <a:latin typeface="+mn-lt"/>
                <a:ea typeface="+mn-ea"/>
                <a:cs typeface="+mn-cs"/>
              </a:rPr>
              <a:t> Yeni bir belge oluşturur</a:t>
            </a:r>
          </a:p>
          <a:p>
            <a:pPr lvl="0"/>
            <a:r>
              <a:rPr lang="tr-TR" sz="1200" kern="1200" dirty="0" smtClean="0">
                <a:solidFill>
                  <a:schemeClr val="tx1"/>
                </a:solidFill>
                <a:effectLst/>
                <a:latin typeface="+mn-lt"/>
                <a:ea typeface="+mn-ea"/>
                <a:cs typeface="+mn-cs"/>
              </a:rPr>
              <a:t> Belgeye metin, özel karakter ve simge ekleyebilir</a:t>
            </a:r>
          </a:p>
          <a:p>
            <a:pPr lvl="0"/>
            <a:r>
              <a:rPr lang="tr-TR" sz="1200" kern="1200" dirty="0" smtClean="0">
                <a:solidFill>
                  <a:schemeClr val="tx1"/>
                </a:solidFill>
                <a:effectLst/>
                <a:latin typeface="+mn-lt"/>
                <a:ea typeface="+mn-ea"/>
                <a:cs typeface="+mn-cs"/>
              </a:rPr>
              <a:t> Yeni ve var olan belgeyi sürücü üzerinde bir alana kaydedebilir</a:t>
            </a:r>
          </a:p>
          <a:p>
            <a:pPr lvl="0"/>
            <a:r>
              <a:rPr lang="tr-TR" sz="1200" kern="1200" dirty="0" smtClean="0">
                <a:solidFill>
                  <a:schemeClr val="tx1"/>
                </a:solidFill>
                <a:effectLst/>
                <a:latin typeface="+mn-lt"/>
                <a:ea typeface="+mn-ea"/>
                <a:cs typeface="+mn-cs"/>
              </a:rPr>
              <a:t> Açık belgeler arasında geçiş yapabilir</a:t>
            </a:r>
          </a:p>
          <a:p>
            <a:pPr lvl="0"/>
            <a:r>
              <a:rPr lang="tr-TR" sz="1200" kern="1200" dirty="0" smtClean="0">
                <a:solidFill>
                  <a:schemeClr val="tx1"/>
                </a:solidFill>
                <a:effectLst/>
                <a:latin typeface="+mn-lt"/>
                <a:ea typeface="+mn-ea"/>
                <a:cs typeface="+mn-cs"/>
              </a:rPr>
              <a:t> Yardım işlevini kullanabilir</a:t>
            </a:r>
          </a:p>
          <a:p>
            <a:r>
              <a:rPr lang="tr-TR" sz="1200" kern="1200" dirty="0" smtClean="0">
                <a:solidFill>
                  <a:schemeClr val="tx1"/>
                </a:solidFill>
                <a:effectLst/>
                <a:latin typeface="+mn-lt"/>
                <a:ea typeface="+mn-ea"/>
                <a:cs typeface="+mn-cs"/>
              </a:rPr>
              <a:t> Belgeyi kapatabilir</a:t>
            </a:r>
          </a:p>
          <a:p>
            <a:pPr lvl="0"/>
            <a:r>
              <a:rPr lang="tr-TR" sz="1200" kern="1200" dirty="0" smtClean="0">
                <a:solidFill>
                  <a:schemeClr val="tx1"/>
                </a:solidFill>
                <a:effectLst/>
                <a:latin typeface="+mn-lt"/>
                <a:ea typeface="+mn-ea"/>
                <a:cs typeface="+mn-cs"/>
              </a:rPr>
              <a:t> Word belgesindeki değişik görünümlerde çalışabilir</a:t>
            </a:r>
          </a:p>
          <a:p>
            <a:r>
              <a:rPr lang="tr-TR" sz="1200" kern="1200" dirty="0" smtClean="0">
                <a:solidFill>
                  <a:schemeClr val="tx1"/>
                </a:solidFill>
                <a:effectLst/>
                <a:latin typeface="+mn-lt"/>
                <a:ea typeface="+mn-ea"/>
                <a:cs typeface="+mn-cs"/>
              </a:rPr>
              <a:t> Büyütme ve yakınlaştırma araçlarını kullanabilir</a:t>
            </a:r>
          </a:p>
          <a:p>
            <a:pPr lvl="0"/>
            <a:r>
              <a:rPr lang="tr-TR" sz="1200" kern="1200" dirty="0" smtClean="0">
                <a:solidFill>
                  <a:schemeClr val="tx1"/>
                </a:solidFill>
                <a:effectLst/>
                <a:latin typeface="+mn-lt"/>
                <a:ea typeface="+mn-ea"/>
                <a:cs typeface="+mn-cs"/>
              </a:rPr>
              <a:t> Araç çubuklarını gizleyebilir</a:t>
            </a:r>
          </a:p>
          <a:p>
            <a:pPr lvl="0"/>
            <a:r>
              <a:rPr lang="tr-TR" sz="1200" kern="1200" dirty="0" smtClean="0">
                <a:solidFill>
                  <a:schemeClr val="tx1"/>
                </a:solidFill>
                <a:effectLst/>
                <a:latin typeface="+mn-lt"/>
                <a:ea typeface="+mn-ea"/>
                <a:cs typeface="+mn-cs"/>
              </a:rPr>
              <a:t> Yazdırılamayan karakterleri görünür yapabilir olması hedeflenmektedir.</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2</a:t>
            </a:fld>
            <a:endParaRPr lang="tr-TR"/>
          </a:p>
        </p:txBody>
      </p:sp>
    </p:spTree>
    <p:extLst>
      <p:ext uri="{BB962C8B-B14F-4D97-AF65-F5344CB8AC3E}">
        <p14:creationId xmlns:p14="http://schemas.microsoft.com/office/powerpoint/2010/main" val="2699118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3</a:t>
            </a:fld>
            <a:endParaRPr lang="tr-TR"/>
          </a:p>
        </p:txBody>
      </p:sp>
    </p:spTree>
    <p:extLst>
      <p:ext uri="{BB962C8B-B14F-4D97-AF65-F5344CB8AC3E}">
        <p14:creationId xmlns:p14="http://schemas.microsoft.com/office/powerpoint/2010/main" val="2959555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tr-TR" b="1" dirty="0" smtClean="0"/>
              <a:t>Hızlı Erişim Araç Çubuğu</a:t>
            </a:r>
            <a:r>
              <a:rPr lang="tr-TR" sz="1200" b="1" kern="1200" dirty="0" smtClean="0">
                <a:solidFill>
                  <a:schemeClr val="tx1"/>
                </a:solidFill>
                <a:effectLst/>
                <a:latin typeface="+mn-lt"/>
                <a:ea typeface="+mn-ea"/>
                <a:cs typeface="+mn-cs"/>
              </a:rPr>
              <a:t>: </a:t>
            </a:r>
            <a:r>
              <a:rPr lang="tr-TR" sz="1200" kern="1200" dirty="0" smtClean="0">
                <a:solidFill>
                  <a:schemeClr val="tx1"/>
                </a:solidFill>
                <a:effectLst/>
                <a:latin typeface="+mn-lt"/>
                <a:ea typeface="+mn-ea"/>
                <a:cs typeface="+mn-cs"/>
              </a:rPr>
              <a:t>Şeridin sağ üst kısmında Hızlı Erişim Araç Çubuğu bulunur. Bu çubuk çok sık kullandığımız Kaydet, Geri Al ve Yeniden komut düğmelerini içerir. Sık kullandığınız ve hangi sekmede olursanız olun sürekli kullanılabilir durumda kalmasını istediğiniz komutları çubuğa ekleyebilirsiniz. </a:t>
            </a:r>
          </a:p>
          <a:p>
            <a:pPr marL="342900" lvl="0" indent="-342900">
              <a:buFont typeface="+mj-lt"/>
              <a:buAutoNum type="arabicPeriod"/>
            </a:pPr>
            <a:r>
              <a:rPr lang="tr-TR" b="1" dirty="0" smtClean="0"/>
              <a:t>Başlık Çubuğu:</a:t>
            </a:r>
            <a:r>
              <a:rPr lang="tr-TR" b="0" baseline="0" dirty="0" smtClean="0"/>
              <a:t> </a:t>
            </a:r>
            <a:r>
              <a:rPr lang="tr-TR" sz="1200" kern="1200" dirty="0" smtClean="0">
                <a:solidFill>
                  <a:schemeClr val="tx1"/>
                </a:solidFill>
                <a:effectLst/>
                <a:latin typeface="+mn-lt"/>
                <a:ea typeface="+mn-ea"/>
                <a:cs typeface="+mn-cs"/>
              </a:rPr>
              <a:t>Başlık Çubuğunda kullanılan programın adı ve üzerinde çalışılan belgenin adı bulunur. Resimdeki</a:t>
            </a:r>
            <a:r>
              <a:rPr lang="tr-TR" sz="1200" kern="1200" baseline="0" dirty="0" smtClean="0">
                <a:solidFill>
                  <a:schemeClr val="tx1"/>
                </a:solidFill>
                <a:effectLst/>
                <a:latin typeface="+mn-lt"/>
                <a:ea typeface="+mn-ea"/>
                <a:cs typeface="+mn-cs"/>
              </a:rPr>
              <a:t> belge henüz kaydedilmediği için adı Belge1 olarak gözükmektedir.</a:t>
            </a:r>
            <a:endParaRPr lang="tr-TR" b="1" dirty="0" smtClean="0"/>
          </a:p>
          <a:p>
            <a:pPr marL="342900" lvl="0" indent="-342900">
              <a:buFont typeface="+mj-lt"/>
              <a:buAutoNum type="arabicPeriod"/>
            </a:pPr>
            <a:r>
              <a:rPr lang="tr-TR" b="1" dirty="0" smtClean="0"/>
              <a:t>Şerit:</a:t>
            </a:r>
            <a:r>
              <a:rPr lang="tr-TR" b="0" dirty="0" smtClean="0"/>
              <a:t> Şerit belge başlığının altında </a:t>
            </a:r>
            <a:r>
              <a:rPr lang="tr-TR" sz="1200" kern="1200" dirty="0" smtClean="0">
                <a:solidFill>
                  <a:schemeClr val="tx1"/>
                </a:solidFill>
                <a:effectLst/>
                <a:latin typeface="+mn-lt"/>
                <a:ea typeface="+mn-ea"/>
                <a:cs typeface="+mn-cs"/>
              </a:rPr>
              <a:t>yer alan ve komut gruplarının bir dizi sekmenin altında sunulduğu bir aygıttır. </a:t>
            </a:r>
            <a:endParaRPr lang="tr-TR" b="1" dirty="0" smtClean="0"/>
          </a:p>
          <a:p>
            <a:pPr marL="342900" lvl="0" indent="-342900">
              <a:buFont typeface="+mj-lt"/>
              <a:buAutoNum type="arabicPeriod"/>
            </a:pPr>
            <a:r>
              <a:rPr lang="tr-TR" b="1" dirty="0" smtClean="0"/>
              <a:t>Sekmeler:</a:t>
            </a:r>
            <a:r>
              <a:rPr lang="tr-TR" b="0" baseline="0" dirty="0" smtClean="0"/>
              <a:t> </a:t>
            </a:r>
            <a:r>
              <a:rPr lang="tr-TR" sz="1200" b="0" kern="1200" baseline="0" dirty="0" smtClean="0">
                <a:solidFill>
                  <a:schemeClr val="tx1"/>
                </a:solidFill>
                <a:effectLst/>
                <a:latin typeface="+mn-lt"/>
                <a:ea typeface="+mn-ea"/>
                <a:cs typeface="+mn-cs"/>
              </a:rPr>
              <a:t>B</a:t>
            </a:r>
            <a:r>
              <a:rPr lang="tr-TR" sz="1200" kern="1200" dirty="0" smtClean="0">
                <a:solidFill>
                  <a:schemeClr val="tx1"/>
                </a:solidFill>
                <a:effectLst/>
                <a:latin typeface="+mn-lt"/>
                <a:ea typeface="+mn-ea"/>
                <a:cs typeface="+mn-cs"/>
              </a:rPr>
              <a:t>enzer görevleri gerçekleştirmek ve düzenlemeleri basitleştirmek için komutların işlevlerine uyguna olarak gruplanması sonucu oluşturmuşlardır.  Word penceresinde temel olarak sekiz sekmenin olduğunu görüyoruz. Bu sekmeler Dosya, Giriş, Ekle, Sayfa Düzeni, Başvurular, Postalar, Gözden Geçir, Görünümdür.</a:t>
            </a:r>
            <a:r>
              <a:rPr lang="tr-TR" sz="1200" kern="1200" baseline="0" dirty="0" smtClean="0">
                <a:solidFill>
                  <a:schemeClr val="tx1"/>
                </a:solidFill>
                <a:effectLst/>
                <a:latin typeface="+mn-lt"/>
                <a:ea typeface="+mn-ea"/>
                <a:cs typeface="+mn-cs"/>
              </a:rPr>
              <a:t> Bu </a:t>
            </a:r>
            <a:r>
              <a:rPr lang="tr-TR" sz="1200" kern="1200" dirty="0" smtClean="0">
                <a:solidFill>
                  <a:schemeClr val="tx1"/>
                </a:solidFill>
                <a:effectLst/>
                <a:latin typeface="+mn-lt"/>
                <a:ea typeface="+mn-ea"/>
                <a:cs typeface="+mn-cs"/>
              </a:rPr>
              <a:t>sekmelere ilave olarak sadece özel türden nesnelerin düzenlendiği sırada ihtiyaç duyacağımız komutların bulunduğu Bağlamsal sekmeler bulunmaktadır. Örneğin nesneleri düzenlerken görünür olan bu sekmeler metin</a:t>
            </a:r>
            <a:r>
              <a:rPr lang="tr-TR" sz="1200" kern="1200" baseline="0" dirty="0" smtClean="0">
                <a:solidFill>
                  <a:schemeClr val="tx1"/>
                </a:solidFill>
                <a:effectLst/>
                <a:latin typeface="+mn-lt"/>
                <a:ea typeface="+mn-ea"/>
                <a:cs typeface="+mn-cs"/>
              </a:rPr>
              <a:t> düzenlerken kaybolur.</a:t>
            </a:r>
            <a:endParaRPr lang="tr-TR" b="1" dirty="0" smtClean="0"/>
          </a:p>
          <a:p>
            <a:pPr marL="342900" lvl="0" indent="-342900">
              <a:buFont typeface="+mj-lt"/>
              <a:buAutoNum type="arabicPeriod"/>
            </a:pPr>
            <a:r>
              <a:rPr lang="tr-TR" b="1" dirty="0" smtClean="0"/>
              <a:t>Komut Grupları:</a:t>
            </a:r>
            <a:r>
              <a:rPr lang="tr-TR" b="0" baseline="0" dirty="0" smtClean="0"/>
              <a:t> Şeritlerin altında s</a:t>
            </a:r>
            <a:r>
              <a:rPr lang="tr-TR" sz="1200" kern="1200" dirty="0" smtClean="0">
                <a:solidFill>
                  <a:schemeClr val="tx1"/>
                </a:solidFill>
                <a:effectLst/>
                <a:latin typeface="+mn-lt"/>
                <a:ea typeface="+mn-ea"/>
                <a:cs typeface="+mn-cs"/>
              </a:rPr>
              <a:t>eçili sekmeyle alakalı komutların kendi aralarında gruplandığı komut grupları bulunur. Örneğin</a:t>
            </a:r>
            <a:r>
              <a:rPr lang="tr-TR" sz="1200" kern="1200" baseline="0" dirty="0" smtClean="0">
                <a:solidFill>
                  <a:schemeClr val="tx1"/>
                </a:solidFill>
                <a:effectLst/>
                <a:latin typeface="+mn-lt"/>
                <a:ea typeface="+mn-ea"/>
                <a:cs typeface="+mn-cs"/>
              </a:rPr>
              <a:t> metin biçimlendirilmesiyle alakalı komutlar Yazı tipi komut grubunda toplanmıştır. Benzer şekilde her sekmenin altında </a:t>
            </a:r>
            <a:r>
              <a:rPr lang="tr-TR" sz="1200" kern="1200" dirty="0" smtClean="0">
                <a:solidFill>
                  <a:schemeClr val="tx1"/>
                </a:solidFill>
                <a:effectLst/>
                <a:latin typeface="+mn-lt"/>
                <a:ea typeface="+mn-ea"/>
                <a:cs typeface="+mn-cs"/>
              </a:rPr>
              <a:t>birbiriyle ilişkili öğeleri bir arada gösteren birkaç komut grubu vardır.</a:t>
            </a:r>
            <a:endParaRPr lang="tr-TR" b="1" dirty="0" smtClean="0"/>
          </a:p>
          <a:p>
            <a:pPr marL="342900" lvl="0" indent="-342900">
              <a:buFont typeface="+mj-lt"/>
              <a:buAutoNum type="arabicPeriod"/>
            </a:pPr>
            <a:r>
              <a:rPr lang="tr-TR" b="1" dirty="0" smtClean="0"/>
              <a:t>Komutlar:</a:t>
            </a:r>
            <a:r>
              <a:rPr lang="tr-TR" b="0" dirty="0" smtClean="0"/>
              <a:t> </a:t>
            </a:r>
            <a:r>
              <a:rPr lang="tr-TR" sz="1200" kern="1200" dirty="0" smtClean="0">
                <a:solidFill>
                  <a:schemeClr val="tx1"/>
                </a:solidFill>
                <a:effectLst/>
                <a:latin typeface="+mn-lt"/>
                <a:ea typeface="+mn-ea"/>
                <a:cs typeface="+mn-cs"/>
              </a:rPr>
              <a:t>Komutlar, komut grupları içinde bulunan her bir düğme, bilgi girme kutusu veya menülerdir. </a:t>
            </a:r>
            <a:endParaRPr lang="tr-TR" b="1" dirty="0" smtClean="0"/>
          </a:p>
          <a:p>
            <a:pPr marL="342900" lvl="0" indent="-342900">
              <a:buFont typeface="+mj-lt"/>
              <a:buAutoNum type="arabicPeriod"/>
            </a:pPr>
            <a:r>
              <a:rPr lang="tr-TR" b="1" dirty="0" smtClean="0"/>
              <a:t>Galeriler:</a:t>
            </a:r>
            <a:r>
              <a:rPr lang="tr-TR" b="0" dirty="0" smtClean="0"/>
              <a:t> Şeritte</a:t>
            </a:r>
            <a:r>
              <a:rPr lang="tr-TR" b="0" baseline="0" dirty="0" smtClean="0"/>
              <a:t> bulunan bir diğer öge olan galeriler barındırdıkları hazır biçimler yardımıyla kullanıcılara basit bir şekilde güzel görünümlü işler üretmeyi sağlamaktadır. </a:t>
            </a:r>
            <a:r>
              <a:rPr lang="tr-TR" sz="1200" kern="1200" dirty="0" smtClean="0">
                <a:solidFill>
                  <a:schemeClr val="tx1"/>
                </a:solidFill>
                <a:effectLst/>
                <a:latin typeface="+mn-lt"/>
                <a:ea typeface="+mn-ea"/>
                <a:cs typeface="+mn-cs"/>
              </a:rPr>
              <a:t>İçerdikleri hazır biçimlerle galeriler Word belgesini düzenlerken kullanıcıların arasından seçim yapabilecekleri birçok seçenek sunmaktadır. </a:t>
            </a:r>
            <a:endParaRPr lang="tr-TR" b="1" dirty="0" smtClean="0"/>
          </a:p>
          <a:p>
            <a:pPr marL="342900" lvl="0" indent="-342900">
              <a:buFont typeface="+mj-lt"/>
              <a:buAutoNum type="arabicPeriod"/>
            </a:pPr>
            <a:r>
              <a:rPr lang="tr-TR" b="1" dirty="0" smtClean="0"/>
              <a:t>Durum Çubuğu:</a:t>
            </a:r>
            <a:r>
              <a:rPr lang="tr-TR" b="0" dirty="0" smtClean="0"/>
              <a:t> </a:t>
            </a:r>
            <a:r>
              <a:rPr lang="tr-TR" sz="1200" kern="1200" dirty="0" smtClean="0">
                <a:solidFill>
                  <a:schemeClr val="tx1"/>
                </a:solidFill>
                <a:effectLst/>
                <a:latin typeface="+mn-lt"/>
                <a:ea typeface="+mn-ea"/>
                <a:cs typeface="+mn-cs"/>
              </a:rPr>
              <a:t>Durum Çubuğu çalışılan belge hakkında bilgilerin verildiği bölümdür. Durum Çubuğunun sol tarafında belgenin Sayfa sayısı, Sözcük sayısı, Dil ile ilgili bilgiler bulunur. </a:t>
            </a:r>
            <a:endParaRPr lang="tr-TR" b="1" dirty="0" smtClean="0"/>
          </a:p>
          <a:p>
            <a:pPr marL="342900" lvl="0" indent="-342900">
              <a:buFont typeface="+mj-lt"/>
              <a:buAutoNum type="arabicPeriod"/>
            </a:pPr>
            <a:r>
              <a:rPr lang="tr-TR" b="1" dirty="0" smtClean="0"/>
              <a:t>Kaydırma Çubuğu:</a:t>
            </a:r>
            <a:r>
              <a:rPr lang="tr-TR" b="0" dirty="0" smtClean="0"/>
              <a:t> </a:t>
            </a:r>
            <a:r>
              <a:rPr lang="tr-TR" sz="1200" kern="1200" dirty="0" smtClean="0">
                <a:solidFill>
                  <a:schemeClr val="tx1"/>
                </a:solidFill>
                <a:effectLst/>
                <a:latin typeface="+mn-lt"/>
                <a:ea typeface="+mn-ea"/>
                <a:cs typeface="+mn-cs"/>
              </a:rPr>
              <a:t>Word belgesi içinde hızlı bir şekilde hareket etmek için kullanılan basit yollardan biri kaydırma çubuklarıdır. Belgenin sağ tarafında ve alt kısımda bulunan kaydırma çubukları ile dikey hareket etmek için çubuğu aşağı yukarı, sağ-sola hareket etmek için ise yatay kaydırma çubuğunu istenilen yönde sürüklemek yeterli olacaktır.</a:t>
            </a:r>
            <a:endParaRPr lang="tr-TR" b="1" dirty="0" smtClean="0"/>
          </a:p>
          <a:p>
            <a:pPr marL="342900" lvl="0" indent="-342900">
              <a:buFont typeface="+mj-lt"/>
              <a:buAutoNum type="arabicPeriod"/>
            </a:pPr>
            <a:r>
              <a:rPr lang="tr-TR" b="1" dirty="0" smtClean="0"/>
              <a:t>Cetvel:</a:t>
            </a:r>
            <a:r>
              <a:rPr lang="tr-TR" b="0" dirty="0" smtClean="0"/>
              <a:t> </a:t>
            </a:r>
            <a:r>
              <a:rPr lang="tr-TR" sz="1200" kern="1200" dirty="0" smtClean="0">
                <a:solidFill>
                  <a:schemeClr val="tx1"/>
                </a:solidFill>
                <a:effectLst/>
                <a:latin typeface="+mn-lt"/>
                <a:ea typeface="+mn-ea"/>
                <a:cs typeface="+mn-cs"/>
              </a:rPr>
              <a:t>Cetvel sayfadaki satırların ve paragrafların sağdan ve sol girintilerin, kenar boşluklarının ayarlanmasında kullanılır. Bunun dışında hizalama yapmada kullanılan sekmeler cetvel üzerine yerleştirilir.</a:t>
            </a:r>
            <a:endParaRPr lang="tr-TR" b="1" dirty="0" smtClean="0"/>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tr-TR" sz="1200" kern="1200" dirty="0" smtClean="0">
                <a:solidFill>
                  <a:schemeClr val="tx1"/>
                </a:solidFill>
                <a:effectLst/>
                <a:latin typeface="+mn-lt"/>
                <a:ea typeface="+mn-ea"/>
                <a:cs typeface="+mn-cs"/>
              </a:rPr>
              <a:t>Şeridin sol üst köşesinde Dosya sekmesi bulunmaktadır. Bu sekmeye tıkladığımızda diğer sekmelerden farklı olarak </a:t>
            </a:r>
            <a:r>
              <a:rPr lang="tr-TR" sz="1200" kern="1200" dirty="0" err="1" smtClean="0">
                <a:solidFill>
                  <a:schemeClr val="tx1"/>
                </a:solidFill>
                <a:effectLst/>
                <a:latin typeface="+mn-lt"/>
                <a:ea typeface="+mn-ea"/>
                <a:cs typeface="+mn-cs"/>
              </a:rPr>
              <a:t>Backstage</a:t>
            </a:r>
            <a:r>
              <a:rPr lang="tr-TR" sz="1200" kern="1200" dirty="0" smtClean="0">
                <a:solidFill>
                  <a:schemeClr val="tx1"/>
                </a:solidFill>
                <a:effectLst/>
                <a:latin typeface="+mn-lt"/>
                <a:ea typeface="+mn-ea"/>
                <a:cs typeface="+mn-cs"/>
              </a:rPr>
              <a:t> görünümü görünür. Şeritte yer alan diğer sekmeler belgenin içinde çalışırken kullanılan komutları içerirken, Microsoft Office </a:t>
            </a:r>
            <a:r>
              <a:rPr lang="tr-TR" sz="1200" kern="1200" dirty="0" err="1" smtClean="0">
                <a:solidFill>
                  <a:schemeClr val="tx1"/>
                </a:solidFill>
                <a:effectLst/>
                <a:latin typeface="+mn-lt"/>
                <a:ea typeface="+mn-ea"/>
                <a:cs typeface="+mn-cs"/>
              </a:rPr>
              <a:t>Backstage</a:t>
            </a:r>
            <a:r>
              <a:rPr lang="tr-TR" sz="1200" kern="1200" dirty="0" smtClean="0">
                <a:solidFill>
                  <a:schemeClr val="tx1"/>
                </a:solidFill>
                <a:effectLst/>
                <a:latin typeface="+mn-lt"/>
                <a:ea typeface="+mn-ea"/>
                <a:cs typeface="+mn-cs"/>
              </a:rPr>
              <a:t> görünümü ise belgenin kendisi üzerinde işlem gerçekleştirmek için kullanılan komutları içermektedir. Buradan belge oluşturabilir, kaydedebilir ve göndermek gibi belge yönetimiyle ilgili işlemlerin yapıldığı yerdir.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tr-TR" sz="1200" kern="1200" dirty="0" smtClean="0">
                <a:solidFill>
                  <a:schemeClr val="tx1"/>
                </a:solidFill>
                <a:effectLst/>
                <a:latin typeface="+mn-lt"/>
                <a:ea typeface="+mn-ea"/>
                <a:cs typeface="+mn-cs"/>
              </a:rPr>
              <a:t>Microsoft Office </a:t>
            </a:r>
            <a:r>
              <a:rPr lang="tr-TR" sz="1200" kern="1200" dirty="0" err="1" smtClean="0">
                <a:solidFill>
                  <a:schemeClr val="tx1"/>
                </a:solidFill>
                <a:effectLst/>
                <a:latin typeface="+mn-lt"/>
                <a:ea typeface="+mn-ea"/>
                <a:cs typeface="+mn-cs"/>
              </a:rPr>
              <a:t>Backstage</a:t>
            </a:r>
            <a:r>
              <a:rPr lang="tr-TR" sz="1200" kern="1200" dirty="0" smtClean="0">
                <a:solidFill>
                  <a:schemeClr val="tx1"/>
                </a:solidFill>
                <a:effectLst/>
                <a:latin typeface="+mn-lt"/>
                <a:ea typeface="+mn-ea"/>
                <a:cs typeface="+mn-cs"/>
              </a:rPr>
              <a:t> görünümünde sol tarafında komutlar ve sekmeler bulunmaktadır. Burada belgelerinizi açmak, kaydetmek ve yazdırmak için kullandığınız temel komutlar yer alır.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tr-TR" sz="1200" kern="1200" dirty="0" smtClean="0">
                <a:solidFill>
                  <a:schemeClr val="tx1"/>
                </a:solidFill>
                <a:effectLst/>
                <a:latin typeface="+mn-lt"/>
                <a:ea typeface="+mn-ea"/>
                <a:cs typeface="+mn-cs"/>
              </a:rPr>
              <a:t>Komutların dışında </a:t>
            </a:r>
            <a:r>
              <a:rPr lang="tr-TR" sz="1200" kern="1200" dirty="0" err="1" smtClean="0">
                <a:solidFill>
                  <a:schemeClr val="tx1"/>
                </a:solidFill>
                <a:effectLst/>
                <a:latin typeface="+mn-lt"/>
                <a:ea typeface="+mn-ea"/>
                <a:cs typeface="+mn-cs"/>
              </a:rPr>
              <a:t>Backstage</a:t>
            </a:r>
            <a:r>
              <a:rPr lang="tr-TR" sz="1200" kern="1200" dirty="0" smtClean="0">
                <a:solidFill>
                  <a:schemeClr val="tx1"/>
                </a:solidFill>
                <a:effectLst/>
                <a:latin typeface="+mn-lt"/>
                <a:ea typeface="+mn-ea"/>
                <a:cs typeface="+mn-cs"/>
              </a:rPr>
              <a:t> görünümünde sekmeler de bulunmaktadır. Örneğin Bilgi sekmesindeyken belge hakkındaki bilgi ve özellikleri görmek mümkündür.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tr-TR" sz="1200" kern="1200" dirty="0" smtClean="0">
                <a:solidFill>
                  <a:schemeClr val="tx1"/>
                </a:solidFill>
                <a:effectLst/>
                <a:latin typeface="+mn-lt"/>
                <a:ea typeface="+mn-ea"/>
                <a:cs typeface="+mn-cs"/>
              </a:rPr>
              <a:t>Microsoft Office </a:t>
            </a:r>
            <a:r>
              <a:rPr lang="tr-TR" sz="1200" kern="1200" dirty="0" err="1" smtClean="0">
                <a:solidFill>
                  <a:schemeClr val="tx1"/>
                </a:solidFill>
                <a:effectLst/>
                <a:latin typeface="+mn-lt"/>
                <a:ea typeface="+mn-ea"/>
                <a:cs typeface="+mn-cs"/>
              </a:rPr>
              <a:t>Backstage</a:t>
            </a:r>
            <a:r>
              <a:rPr lang="tr-TR" sz="1200" kern="1200" dirty="0" smtClean="0">
                <a:solidFill>
                  <a:schemeClr val="tx1"/>
                </a:solidFill>
                <a:effectLst/>
                <a:latin typeface="+mn-lt"/>
                <a:ea typeface="+mn-ea"/>
                <a:cs typeface="+mn-cs"/>
              </a:rPr>
              <a:t> görünümünde komutların ve sekmelerin bulunduğu yerin en altında ise belgelerin üretilmesiyle ilgili olmayan ve Word'ün çalışma şeklini denetleyen geri plandaki ayarları yaptığımız Word Seçenekleri sekmesi bulunur.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dirty="0" smtClean="0"/>
              <a:t>Word yeni bir belgeyi açmak için yapmamız gereken ilk işlem programı başlatmaktır. Programı başlatınca </a:t>
            </a:r>
            <a:r>
              <a:rPr lang="tr-TR" sz="1200" b="1" dirty="0" smtClean="0"/>
              <a:t>Belge 1</a:t>
            </a:r>
            <a:r>
              <a:rPr lang="tr-TR" sz="1200" dirty="0" smtClean="0"/>
              <a:t> adlı bir Word Belgesi açılmış olur ve bu açılan</a:t>
            </a:r>
            <a:r>
              <a:rPr lang="tr-TR" sz="1200" baseline="0" dirty="0" smtClean="0"/>
              <a:t> belgede ekleme noktası sayfada yanıp söner. Bu bağlamda k</a:t>
            </a:r>
            <a:r>
              <a:rPr lang="tr-TR" sz="1200" kern="1200" dirty="0" smtClean="0">
                <a:solidFill>
                  <a:schemeClr val="tx1"/>
                </a:solidFill>
                <a:effectLst/>
                <a:latin typeface="+mn-lt"/>
                <a:ea typeface="+mn-ea"/>
                <a:cs typeface="+mn-cs"/>
              </a:rPr>
              <a:t>lavyeden yazı yazmaya başladığımızda ekleme noktası sağ doğru kayar ve solunda metin belgede belirmektedir.</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dirty="0" smtClean="0"/>
              <a:t>Word’de çalışırken yeni bir belge açmak için yapmamız gereken işlem Dosya sekmesinden&gt;Boş</a:t>
            </a:r>
            <a:r>
              <a:rPr lang="tr-TR" sz="1200" baseline="0" dirty="0" smtClean="0"/>
              <a:t> belge komutuna tıklamak, Hızlı başlat erişim araç çubuğunda bulunan Yeni komutuna tıklamak veya </a:t>
            </a:r>
            <a:r>
              <a:rPr lang="tr-TR" sz="1200" baseline="0" dirty="0" err="1" smtClean="0"/>
              <a:t>Ctrl+N</a:t>
            </a:r>
            <a:r>
              <a:rPr lang="tr-TR" sz="1200" baseline="0" dirty="0" smtClean="0"/>
              <a:t> tuşlarını kullanmaktır. Bu yollardan herhangi birini takip edince </a:t>
            </a:r>
            <a:r>
              <a:rPr lang="tr-TR" sz="1200" b="1" dirty="0" smtClean="0"/>
              <a:t>Belge 2</a:t>
            </a:r>
            <a:r>
              <a:rPr lang="tr-TR" sz="1200" dirty="0" smtClean="0"/>
              <a:t> adlı bir Word Belgesi açılmış olur. Açılan</a:t>
            </a:r>
            <a:r>
              <a:rPr lang="tr-TR" sz="1200" baseline="0" dirty="0" smtClean="0"/>
              <a:t> yeni belgede de ekleme noktası sayfada yanıp söner. Dolayısıyla veri girmek için kl</a:t>
            </a:r>
            <a:r>
              <a:rPr lang="tr-TR" sz="1200" kern="1200" dirty="0" smtClean="0">
                <a:solidFill>
                  <a:schemeClr val="tx1"/>
                </a:solidFill>
                <a:effectLst/>
                <a:latin typeface="+mn-lt"/>
                <a:ea typeface="+mn-ea"/>
                <a:cs typeface="+mn-cs"/>
              </a:rPr>
              <a:t>avyeden yazı yazmaya başlamamız yeterlidir.</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Word’de belge oluşturup düzenledikten sonra veya var olan bir belgede yapmış olduğumuz değişiklikleri daha sonra kullanmak üzere kaydetmemiz gerekir. Hatta bundan daha önemlisi, veri kayıplarını önlemek için belgede çalışırken arada bir belgeyi kaydetmemiz gerekir. Belgeyi kaydetmek için birden fazla yol vardır.</a:t>
            </a:r>
          </a:p>
          <a:p>
            <a:pPr marL="285750" indent="-285750">
              <a:buFont typeface="Arial" pitchFamily="34" charset="0"/>
              <a:buChar char="•"/>
            </a:pPr>
            <a:r>
              <a:rPr lang="tr-TR" sz="1200" b="1" dirty="0" smtClean="0"/>
              <a:t>Hızlı Başlat Araç Çubuğu&gt;Kaydet </a:t>
            </a:r>
            <a:r>
              <a:rPr lang="tr-TR" sz="1200" dirty="0" smtClean="0"/>
              <a:t>düğmesini tıklayın.</a:t>
            </a:r>
          </a:p>
          <a:p>
            <a:pPr marL="285750" indent="-285750">
              <a:buFont typeface="Arial" pitchFamily="34" charset="0"/>
              <a:buChar char="•"/>
            </a:pPr>
            <a:r>
              <a:rPr lang="tr-TR" sz="1200" b="1" dirty="0" smtClean="0"/>
              <a:t>Dosya sekmesinde&gt;Kaydet </a:t>
            </a:r>
            <a:r>
              <a:rPr lang="tr-TR" sz="1200" dirty="0" smtClean="0"/>
              <a:t>komutunu seçin.</a:t>
            </a:r>
          </a:p>
          <a:p>
            <a:pPr marL="285750" indent="-285750">
              <a:buFont typeface="Arial" pitchFamily="34" charset="0"/>
              <a:buChar char="•"/>
            </a:pPr>
            <a:r>
              <a:rPr lang="tr-TR" sz="1200" b="1" dirty="0" err="1" smtClean="0"/>
              <a:t>Ctrl</a:t>
            </a:r>
            <a:r>
              <a:rPr lang="tr-TR" sz="1200" b="1" dirty="0" smtClean="0"/>
              <a:t> + S </a:t>
            </a:r>
            <a:r>
              <a:rPr lang="tr-TR" sz="1200" dirty="0" smtClean="0"/>
              <a:t>tuşlarına basın.</a:t>
            </a:r>
          </a:p>
          <a:p>
            <a:r>
              <a:rPr lang="tr-TR" dirty="0" smtClean="0"/>
              <a:t>Bu yollardan birini izledikten</a:t>
            </a:r>
            <a:r>
              <a:rPr lang="tr-TR" baseline="0" dirty="0" smtClean="0"/>
              <a:t> sonra Farklı Kaydet iletişim penceresi açılır. Açılan pencerede belgeyi saklamak istediğimiz dizin ve klasörü Gezinti bölmesinden seçmemiz ve belgeyi saklamak istediğimiz Dosya adını girmemiz gerekir. Bu işlemleri yaptıktan sonra Kaydet komutuna bastığımızda oluşturmuş olduğumuz belge bilgisayara kaydedilmiş olur. </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Word’de daha önce oluşturduğumuz ve bilgisayarda sakladığımız belgeler</a:t>
            </a:r>
            <a:r>
              <a:rPr lang="tr-TR" sz="1200" kern="1200" baseline="0" dirty="0" smtClean="0">
                <a:solidFill>
                  <a:schemeClr val="tx1"/>
                </a:solidFill>
                <a:effectLst/>
                <a:latin typeface="+mn-lt"/>
                <a:ea typeface="+mn-ea"/>
                <a:cs typeface="+mn-cs"/>
              </a:rPr>
              <a:t> üzerinde çalışmaya devam etmek istediğimizde </a:t>
            </a:r>
            <a:r>
              <a:rPr lang="tr-TR" sz="1200" kern="1200" dirty="0" smtClean="0">
                <a:solidFill>
                  <a:schemeClr val="tx1"/>
                </a:solidFill>
                <a:effectLst/>
                <a:latin typeface="+mn-lt"/>
                <a:ea typeface="+mn-ea"/>
                <a:cs typeface="+mn-cs"/>
              </a:rPr>
              <a:t> </a:t>
            </a:r>
            <a:r>
              <a:rPr lang="tr-TR" sz="1200" b="1" dirty="0" smtClean="0"/>
              <a:t>Dosya sekmesi&gt;Aç</a:t>
            </a:r>
            <a:r>
              <a:rPr lang="tr-TR" sz="1200" dirty="0" smtClean="0"/>
              <a:t> komutunu kullanırız.</a:t>
            </a:r>
            <a:r>
              <a:rPr lang="tr-TR" sz="1200" baseline="0" dirty="0" smtClean="0"/>
              <a:t> Aç komutuna tıkladığımızda açılan Aç iletişim penceresinden belgeyi sakladığımız klasörden seçip Aç komutuna tıklamamız gerekir. </a:t>
            </a:r>
          </a:p>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Belge üzerinde değişiklik</a:t>
            </a:r>
            <a:r>
              <a:rPr lang="tr-TR" baseline="0" dirty="0" smtClean="0"/>
              <a:t> veya ilaveler yaptıktan sonra </a:t>
            </a:r>
            <a:r>
              <a:rPr lang="tr-TR" sz="1200" baseline="0" dirty="0" smtClean="0"/>
              <a:t>ü</a:t>
            </a:r>
            <a:r>
              <a:rPr lang="tr-TR" sz="1200" dirty="0" smtClean="0"/>
              <a:t>zerinde değişiklik yaptığımız belgeyi aynı klasörde ve aynı adla saklamak için ilk defa kaydederken kullandığımız yolu kullanırız. Ancak belgenin eski</a:t>
            </a:r>
            <a:r>
              <a:rPr lang="tr-TR" sz="1200" baseline="0" dirty="0" smtClean="0"/>
              <a:t> versiyonunu da saklamak istersek belgeyi farklı veya aynı klasör içinde farklı adla kaydetmemi gerekir. Bu işlemi yapmak için </a:t>
            </a:r>
            <a:r>
              <a:rPr lang="tr-TR" sz="1200" b="1" dirty="0" smtClean="0"/>
              <a:t>Dosya sekmesinde&gt;Farklı Kaydet </a:t>
            </a:r>
            <a:r>
              <a:rPr lang="tr-TR" sz="1200" dirty="0" smtClean="0"/>
              <a:t>komutunu kullanırız. </a:t>
            </a:r>
            <a:r>
              <a:rPr lang="tr-TR" sz="1200" kern="1200" dirty="0" smtClean="0">
                <a:solidFill>
                  <a:schemeClr val="tx1"/>
                </a:solidFill>
                <a:effectLst/>
                <a:latin typeface="+mn-lt"/>
                <a:ea typeface="+mn-ea"/>
                <a:cs typeface="+mn-cs"/>
              </a:rPr>
              <a:t>Bunun dışındaki kaydetme seçenekleri var olan belgede değişiklik yaparak kaydeder. Farklı belgeleri veya farklı konumda kaydetmek istediğimizde Fraklı Kaydet komutunu kullanmamız gerekiyor. Bu komuta tıkladığımız zaman Word belgesini ilk defa kayıt ederken karşımıza çıkan pencere açılır. Buradan kayıt yeri, dosya adı değiştirilerek belge kaydedildiler.</a:t>
            </a:r>
            <a:endParaRPr lang="tr-TR" sz="1200" dirty="0" smtClean="0"/>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Word’de çalışırken</a:t>
            </a:r>
            <a:r>
              <a:rPr lang="tr-TR" sz="1200" kern="1200" baseline="0" dirty="0" smtClean="0">
                <a:solidFill>
                  <a:schemeClr val="tx1"/>
                </a:solidFill>
                <a:effectLst/>
                <a:latin typeface="+mn-lt"/>
                <a:ea typeface="+mn-ea"/>
                <a:cs typeface="+mn-cs"/>
              </a:rPr>
              <a:t> birçok durumda aynı anda birkaç belge açıp çalışmak durumunda kalabiliyoruz. Aynı anda açtığımız bu belgeler arasında metin veya nesne kopyalamak daha kolaydır ve bular arasında geçiş yapmak için </a:t>
            </a:r>
            <a:r>
              <a:rPr lang="tr-TR" sz="1200" b="1" kern="1200" baseline="0" dirty="0" smtClean="0">
                <a:solidFill>
                  <a:schemeClr val="tx1"/>
                </a:solidFill>
                <a:effectLst/>
                <a:latin typeface="+mn-lt"/>
                <a:ea typeface="+mn-ea"/>
                <a:cs typeface="+mn-cs"/>
              </a:rPr>
              <a:t>Görev Çubuğunu </a:t>
            </a:r>
            <a:r>
              <a:rPr lang="tr-TR" sz="1200" kern="1200" baseline="0" dirty="0" smtClean="0">
                <a:solidFill>
                  <a:schemeClr val="tx1"/>
                </a:solidFill>
                <a:effectLst/>
                <a:latin typeface="+mn-lt"/>
                <a:ea typeface="+mn-ea"/>
                <a:cs typeface="+mn-cs"/>
              </a:rPr>
              <a:t>veya </a:t>
            </a:r>
            <a:r>
              <a:rPr lang="tr-TR" sz="1200" b="1" kern="1200" baseline="0" dirty="0" smtClean="0">
                <a:solidFill>
                  <a:schemeClr val="tx1"/>
                </a:solidFill>
                <a:effectLst/>
                <a:latin typeface="+mn-lt"/>
                <a:ea typeface="+mn-ea"/>
                <a:cs typeface="+mn-cs"/>
              </a:rPr>
              <a:t>Görünüm sekmesi </a:t>
            </a:r>
            <a:r>
              <a:rPr lang="tr-TR" sz="1200" b="1" dirty="0" smtClean="0"/>
              <a:t>Pencerelerde Geçiş Yap </a:t>
            </a:r>
            <a:r>
              <a:rPr lang="tr-TR" sz="1200" b="0" dirty="0" smtClean="0"/>
              <a:t>kullanırız.</a:t>
            </a:r>
            <a:r>
              <a:rPr lang="tr-TR" sz="1200" b="0" baseline="0" dirty="0" smtClean="0"/>
              <a:t> </a:t>
            </a:r>
          </a:p>
          <a:p>
            <a:r>
              <a:rPr lang="tr-TR" sz="1200" b="0" kern="1200" baseline="0" dirty="0" smtClean="0">
                <a:solidFill>
                  <a:schemeClr val="tx1"/>
                </a:solidFill>
                <a:effectLst/>
                <a:latin typeface="+mn-lt"/>
                <a:ea typeface="+mn-ea"/>
                <a:cs typeface="+mn-cs"/>
              </a:rPr>
              <a:t>Daha önce Windows işletim sistemini anlatırken bilgisayarda açık olan pencerelerin görev çubuğunda göründüğünü belirtmiştik. Aynı uygulama programlarına ait pencereler gruplanmakta ve bu grubun üzerine getirdiğimizde </a:t>
            </a:r>
            <a:r>
              <a:rPr lang="tr-TR" sz="1200" b="0" kern="1200" baseline="0" dirty="0" err="1" smtClean="0">
                <a:solidFill>
                  <a:schemeClr val="tx1"/>
                </a:solidFill>
                <a:effectLst/>
                <a:latin typeface="+mn-lt"/>
                <a:ea typeface="+mn-ea"/>
                <a:cs typeface="+mn-cs"/>
              </a:rPr>
              <a:t>Peek</a:t>
            </a:r>
            <a:r>
              <a:rPr lang="tr-TR" sz="1200" b="0" kern="1200" baseline="0" dirty="0" smtClean="0">
                <a:solidFill>
                  <a:schemeClr val="tx1"/>
                </a:solidFill>
                <a:effectLst/>
                <a:latin typeface="+mn-lt"/>
                <a:ea typeface="+mn-ea"/>
                <a:cs typeface="+mn-cs"/>
              </a:rPr>
              <a:t> özelliği devreye girer ve açık olan belgelerin ön izlemesi görünür. </a:t>
            </a:r>
            <a:r>
              <a:rPr lang="tr-TR" sz="1200" b="0" kern="1200" baseline="0" dirty="0" err="1" smtClean="0">
                <a:solidFill>
                  <a:schemeClr val="tx1"/>
                </a:solidFill>
                <a:effectLst/>
                <a:latin typeface="+mn-lt"/>
                <a:ea typeface="+mn-ea"/>
                <a:cs typeface="+mn-cs"/>
              </a:rPr>
              <a:t>Önizlemesi</a:t>
            </a:r>
            <a:r>
              <a:rPr lang="tr-TR" sz="1200" b="0" kern="1200" baseline="0" dirty="0" smtClean="0">
                <a:solidFill>
                  <a:schemeClr val="tx1"/>
                </a:solidFill>
                <a:effectLst/>
                <a:latin typeface="+mn-lt"/>
                <a:ea typeface="+mn-ea"/>
                <a:cs typeface="+mn-cs"/>
              </a:rPr>
              <a:t> açık olan belgelerden geçiş yapmak istediğimize tıkladığımızda o belgeye geçiş yapmış oluruz. </a:t>
            </a:r>
          </a:p>
          <a:p>
            <a:r>
              <a:rPr lang="tr-TR" sz="1200" b="0" kern="1200" baseline="0" dirty="0" smtClean="0">
                <a:solidFill>
                  <a:schemeClr val="tx1"/>
                </a:solidFill>
                <a:effectLst/>
                <a:latin typeface="+mn-lt"/>
                <a:ea typeface="+mn-ea"/>
                <a:cs typeface="+mn-cs"/>
              </a:rPr>
              <a:t>Belgeler arasında geçiş yapmanın başka bir yolu da Görünüm sekmesinde bulunan  Pencerelerde Geçiş Yap </a:t>
            </a:r>
            <a:r>
              <a:rPr lang="tr-TR" sz="1200" b="0" kern="1200" baseline="0" dirty="0" err="1" smtClean="0">
                <a:solidFill>
                  <a:schemeClr val="tx1"/>
                </a:solidFill>
                <a:effectLst/>
                <a:latin typeface="+mn-lt"/>
                <a:ea typeface="+mn-ea"/>
                <a:cs typeface="+mn-cs"/>
              </a:rPr>
              <a:t>kısayol</a:t>
            </a:r>
            <a:r>
              <a:rPr lang="tr-TR" sz="1200" b="0" kern="1200" baseline="0" dirty="0" smtClean="0">
                <a:solidFill>
                  <a:schemeClr val="tx1"/>
                </a:solidFill>
                <a:effectLst/>
                <a:latin typeface="+mn-lt"/>
                <a:ea typeface="+mn-ea"/>
                <a:cs typeface="+mn-cs"/>
              </a:rPr>
              <a:t> düğmesinden açık olan belgelerden seçim yapmaktır. </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10</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tr-TR" sz="1200" kern="1200" dirty="0" smtClean="0">
                <a:solidFill>
                  <a:schemeClr val="tx1"/>
                </a:solidFill>
                <a:effectLst/>
                <a:latin typeface="+mn-lt"/>
                <a:ea typeface="+mn-ea"/>
                <a:cs typeface="+mn-cs"/>
              </a:rPr>
              <a:t>Microsoft Word 2010 ile çalışırken yardım almanın pek çok yolu vardır. Bu çok yönlü yardım sistemi sayesinde yardıma ihtiyaç duyduğunuzda, size rehberlik edecek ve öneriler sunacak olan Office Yardım etkileşimli özelliği size yol gösterecektir. </a:t>
            </a:r>
            <a:r>
              <a:rPr lang="tr-TR" sz="1200" i="1" dirty="0" smtClean="0"/>
              <a:t>Microsoft Office programlarında Yardım penceresini açmak için klavyeden </a:t>
            </a:r>
            <a:r>
              <a:rPr lang="tr-TR" sz="1200" b="1" i="1" dirty="0" smtClean="0"/>
              <a:t>F1</a:t>
            </a:r>
            <a:r>
              <a:rPr lang="tr-TR" sz="1200" dirty="0" smtClean="0"/>
              <a:t> tuşu veya açık olan uygulama programının yani burada Word penceresinin sağ üst köşesinde bulunan</a:t>
            </a:r>
            <a:r>
              <a:rPr lang="tr-TR" sz="1200" baseline="0" dirty="0" smtClean="0"/>
              <a:t> </a:t>
            </a:r>
            <a:r>
              <a:rPr lang="tr-TR" sz="1200" dirty="0" smtClean="0"/>
              <a:t>yardım</a:t>
            </a:r>
            <a:r>
              <a:rPr lang="tr-TR" sz="1200" baseline="0" dirty="0" smtClean="0"/>
              <a:t> </a:t>
            </a:r>
            <a:r>
              <a:rPr lang="tr-TR" sz="1200" dirty="0" smtClean="0"/>
              <a:t>düğmesi kullanılır.  </a:t>
            </a:r>
            <a:endParaRPr lang="tr-TR" sz="1200" kern="1200" dirty="0" smtClean="0">
              <a:solidFill>
                <a:schemeClr val="tx1"/>
              </a:solidFill>
              <a:effectLst/>
              <a:latin typeface="+mn-lt"/>
              <a:ea typeface="+mn-ea"/>
              <a:cs typeface="+mn-cs"/>
            </a:endParaRPr>
          </a:p>
          <a:p>
            <a:pPr marL="228600" lvl="0" indent="-228600">
              <a:buFont typeface="+mj-lt"/>
              <a:buAutoNum type="arabicPeriod"/>
            </a:pPr>
            <a:r>
              <a:rPr lang="tr-TR" sz="1200" kern="1200" dirty="0" smtClean="0">
                <a:solidFill>
                  <a:schemeClr val="tx1"/>
                </a:solidFill>
                <a:effectLst/>
                <a:latin typeface="+mn-lt"/>
                <a:ea typeface="+mn-ea"/>
                <a:cs typeface="+mn-cs"/>
              </a:rPr>
              <a:t>Yardım penceresinin sol</a:t>
            </a:r>
            <a:r>
              <a:rPr lang="tr-TR" sz="1200" kern="1200" baseline="0" dirty="0" smtClean="0">
                <a:solidFill>
                  <a:schemeClr val="tx1"/>
                </a:solidFill>
                <a:effectLst/>
                <a:latin typeface="+mn-lt"/>
                <a:ea typeface="+mn-ea"/>
                <a:cs typeface="+mn-cs"/>
              </a:rPr>
              <a:t> üst tarafında bulunan Ara kutusuna yardım almak istediğimiz k</a:t>
            </a:r>
            <a:r>
              <a:rPr lang="tr-TR" sz="1200" kern="1200" dirty="0" smtClean="0">
                <a:solidFill>
                  <a:schemeClr val="tx1"/>
                </a:solidFill>
                <a:effectLst/>
                <a:latin typeface="+mn-lt"/>
                <a:ea typeface="+mn-ea"/>
                <a:cs typeface="+mn-cs"/>
              </a:rPr>
              <a:t>onudaki arama ipucu kelimesi buraya yazılır ve </a:t>
            </a:r>
            <a:r>
              <a:rPr lang="tr-TR" sz="1200" i="1" kern="1200" dirty="0" smtClean="0">
                <a:solidFill>
                  <a:schemeClr val="tx1"/>
                </a:solidFill>
                <a:effectLst/>
                <a:latin typeface="+mn-lt"/>
                <a:ea typeface="+mn-ea"/>
                <a:cs typeface="+mn-cs"/>
              </a:rPr>
              <a:t>Ara</a:t>
            </a:r>
            <a:r>
              <a:rPr lang="tr-TR" sz="1200" kern="1200" dirty="0" smtClean="0">
                <a:solidFill>
                  <a:schemeClr val="tx1"/>
                </a:solidFill>
                <a:effectLst/>
                <a:latin typeface="+mn-lt"/>
                <a:ea typeface="+mn-ea"/>
                <a:cs typeface="+mn-cs"/>
              </a:rPr>
              <a:t> düğmesine basıldığında arama sonuçlarını bir liste olarak verir.</a:t>
            </a:r>
          </a:p>
          <a:p>
            <a:pPr marL="228600" lvl="0" indent="-228600">
              <a:buFont typeface="+mj-lt"/>
              <a:buAutoNum type="arabicPeriod"/>
            </a:pPr>
            <a:r>
              <a:rPr lang="tr-TR" sz="1200" kern="1200" dirty="0" smtClean="0">
                <a:solidFill>
                  <a:schemeClr val="tx1"/>
                </a:solidFill>
                <a:effectLst/>
                <a:latin typeface="+mn-lt"/>
                <a:ea typeface="+mn-ea"/>
                <a:cs typeface="+mn-cs"/>
              </a:rPr>
              <a:t>Yardım penceresinden çevrimiçi arama yapmak için </a:t>
            </a:r>
            <a:r>
              <a:rPr lang="tr-TR" sz="1200" kern="1200" dirty="0" err="1" smtClean="0">
                <a:solidFill>
                  <a:schemeClr val="tx1"/>
                </a:solidFill>
                <a:effectLst/>
                <a:latin typeface="+mn-lt"/>
                <a:ea typeface="+mn-ea"/>
                <a:cs typeface="+mn-cs"/>
              </a:rPr>
              <a:t>Bing</a:t>
            </a:r>
            <a:r>
              <a:rPr lang="tr-TR" sz="1200" kern="1200" dirty="0" smtClean="0">
                <a:solidFill>
                  <a:schemeClr val="tx1"/>
                </a:solidFill>
                <a:effectLst/>
                <a:latin typeface="+mn-lt"/>
                <a:ea typeface="+mn-ea"/>
                <a:cs typeface="+mn-cs"/>
              </a:rPr>
              <a:t> arama motorunu</a:t>
            </a:r>
            <a:r>
              <a:rPr lang="tr-TR" sz="1200" kern="1200" baseline="0" dirty="0" smtClean="0">
                <a:solidFill>
                  <a:schemeClr val="tx1"/>
                </a:solidFill>
                <a:effectLst/>
                <a:latin typeface="+mn-lt"/>
                <a:ea typeface="+mn-ea"/>
                <a:cs typeface="+mn-cs"/>
              </a:rPr>
              <a:t> da kullanabilirsiniz. </a:t>
            </a:r>
            <a:endParaRPr lang="tr-TR" sz="1200" kern="1200" dirty="0" smtClean="0">
              <a:solidFill>
                <a:schemeClr val="tx1"/>
              </a:solidFill>
              <a:effectLst/>
              <a:latin typeface="+mn-lt"/>
              <a:ea typeface="+mn-ea"/>
              <a:cs typeface="+mn-cs"/>
            </a:endParaRPr>
          </a:p>
          <a:p>
            <a:pPr marL="228600" lvl="0" indent="-228600">
              <a:buFont typeface="+mj-lt"/>
              <a:buAutoNum type="arabicPeriod"/>
            </a:pPr>
            <a:r>
              <a:rPr lang="tr-TR" sz="1200" kern="1200" dirty="0" smtClean="0">
                <a:solidFill>
                  <a:schemeClr val="tx1"/>
                </a:solidFill>
                <a:effectLst/>
                <a:latin typeface="+mn-lt"/>
                <a:ea typeface="+mn-ea"/>
                <a:cs typeface="+mn-cs"/>
              </a:rPr>
              <a:t>Yardım alınabilecek bir diğer yerde</a:t>
            </a:r>
            <a:r>
              <a:rPr lang="tr-TR" sz="1200" kern="1200" baseline="0" dirty="0" smtClean="0">
                <a:solidFill>
                  <a:schemeClr val="tx1"/>
                </a:solidFill>
                <a:effectLst/>
                <a:latin typeface="+mn-lt"/>
                <a:ea typeface="+mn-ea"/>
                <a:cs typeface="+mn-cs"/>
              </a:rPr>
              <a:t> yeni kullanıcılar için oluşturulan Word 2010 kullanmaya başlarken sekmesidir. Burada Word’u yeni kullanmaya başlamış olanlar için konu alt başlıkları sıralanmıştır. </a:t>
            </a:r>
            <a:endParaRPr lang="tr-TR" sz="1200" kern="1200" dirty="0" smtClean="0">
              <a:solidFill>
                <a:schemeClr val="tx1"/>
              </a:solidFill>
              <a:effectLst/>
              <a:latin typeface="+mn-lt"/>
              <a:ea typeface="+mn-ea"/>
              <a:cs typeface="+mn-cs"/>
            </a:endParaRPr>
          </a:p>
          <a:p>
            <a:pPr marL="228600" lvl="0" indent="-228600">
              <a:buFont typeface="+mj-lt"/>
              <a:buAutoNum type="arabicPeriod"/>
            </a:pPr>
            <a:r>
              <a:rPr lang="tr-TR" sz="1200" kern="1200" dirty="0" smtClean="0">
                <a:solidFill>
                  <a:schemeClr val="tx1"/>
                </a:solidFill>
                <a:effectLst/>
                <a:latin typeface="+mn-lt"/>
                <a:ea typeface="+mn-ea"/>
                <a:cs typeface="+mn-cs"/>
              </a:rPr>
              <a:t>Word’ü kullanan ancak</a:t>
            </a:r>
            <a:r>
              <a:rPr lang="tr-TR" sz="1200" kern="1200" baseline="0" dirty="0" smtClean="0">
                <a:solidFill>
                  <a:schemeClr val="tx1"/>
                </a:solidFill>
                <a:effectLst/>
                <a:latin typeface="+mn-lt"/>
                <a:ea typeface="+mn-ea"/>
                <a:cs typeface="+mn-cs"/>
              </a:rPr>
              <a:t> desteğe ihtiyacı olan kullanıcılar için Word 2010  desteğine göz atma sekmesi bulunmaktadır. Sekmenin altında bulunan destek konuları </a:t>
            </a:r>
            <a:r>
              <a:rPr lang="tr-TR" sz="1200" kern="1200" dirty="0" smtClean="0">
                <a:solidFill>
                  <a:schemeClr val="tx1"/>
                </a:solidFill>
                <a:effectLst/>
                <a:latin typeface="+mn-lt"/>
                <a:ea typeface="+mn-ea"/>
                <a:cs typeface="+mn-cs"/>
              </a:rPr>
              <a:t>“</a:t>
            </a:r>
            <a:r>
              <a:rPr lang="tr-TR" sz="1200" i="1" kern="1200" dirty="0" smtClean="0">
                <a:solidFill>
                  <a:schemeClr val="tx1"/>
                </a:solidFill>
                <a:effectLst/>
                <a:latin typeface="+mn-lt"/>
                <a:ea typeface="+mn-ea"/>
                <a:cs typeface="+mn-cs"/>
              </a:rPr>
              <a:t>tümünü göster”</a:t>
            </a:r>
            <a:r>
              <a:rPr lang="tr-TR" sz="1200" kern="1200" dirty="0" smtClean="0">
                <a:solidFill>
                  <a:schemeClr val="tx1"/>
                </a:solidFill>
                <a:effectLst/>
                <a:latin typeface="+mn-lt"/>
                <a:ea typeface="+mn-ea"/>
                <a:cs typeface="+mn-cs"/>
              </a:rPr>
              <a:t> ile genişletilebilir ve bu liste kullanılarak Word 2010 destek sayfaları aracılığıyla çevrimiçi de arama gerçekleştirilir.</a:t>
            </a:r>
          </a:p>
          <a:p>
            <a:pPr marL="228600" lvl="0" indent="-228600">
              <a:buFont typeface="+mj-lt"/>
              <a:buAutoNum type="arabicPeriod"/>
            </a:pPr>
            <a:r>
              <a:rPr lang="tr-TR" sz="1200" kern="1200" dirty="0" smtClean="0">
                <a:solidFill>
                  <a:schemeClr val="tx1"/>
                </a:solidFill>
                <a:effectLst/>
                <a:latin typeface="+mn-lt"/>
                <a:ea typeface="+mn-ea"/>
                <a:cs typeface="+mn-cs"/>
              </a:rPr>
              <a:t>Yardım alma konusunda bir diğer yolda Ara kutusunun hemen üstünde bulunan İçindekiler Tablosunu Göster  komutuna tıklayarak Word Yardımı iletişim penceresinde yardım alabileceğimiz konuların listesinin görünmesini sağlamaktır.</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11</a:t>
            </a:fld>
            <a:endParaRPr lang="tr-TR"/>
          </a:p>
        </p:txBody>
      </p:sp>
    </p:spTree>
    <p:extLst>
      <p:ext uri="{BB962C8B-B14F-4D97-AF65-F5344CB8AC3E}">
        <p14:creationId xmlns:p14="http://schemas.microsoft.com/office/powerpoint/2010/main" val="810405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dirty="0" smtClean="0"/>
              <a:t>Eğer son yaptığımız değişikliklerden</a:t>
            </a:r>
            <a:r>
              <a:rPr lang="tr-TR" sz="1200" baseline="0" dirty="0" smtClean="0"/>
              <a:t> sonra belgeyi kaydetmediysek Word ekranında son </a:t>
            </a:r>
            <a:r>
              <a:rPr lang="tr-TR" sz="1200" baseline="0" smtClean="0"/>
              <a:t>yapılan değişiklileri </a:t>
            </a:r>
            <a:r>
              <a:rPr lang="tr-TR" sz="1200" baseline="0" dirty="0" smtClean="0"/>
              <a:t>kaydetmek istemediğimizi soran bir pencere açılır. Buradan Kaydet seçeneği seçilirse son yapılan değişiklikler kaydedilir, Kaydetme seçeneği seçilirse son yapılan değişiklikler kaydedilmeden belge kapatılır. İptal seçeneği seçilirse kapatma işleminden vazgeçilmiş olur ve Word belgesine dönülür.</a:t>
            </a:r>
            <a:endParaRPr lang="tr-TR" sz="1200" dirty="0" smtClean="0"/>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12</a:t>
            </a:fld>
            <a:endParaRPr lang="tr-TR"/>
          </a:p>
        </p:txBody>
      </p:sp>
    </p:spTree>
    <p:extLst>
      <p:ext uri="{BB962C8B-B14F-4D97-AF65-F5344CB8AC3E}">
        <p14:creationId xmlns:p14="http://schemas.microsoft.com/office/powerpoint/2010/main" val="59587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dirty="0" smtClean="0"/>
              <a:t>Word belgesinde çalışırken değişik görünümlerde</a:t>
            </a:r>
            <a:r>
              <a:rPr lang="tr-TR" sz="1200" baseline="0" dirty="0" smtClean="0"/>
              <a:t> çalışma ihtiyacı duyulabilir. </a:t>
            </a:r>
            <a:r>
              <a:rPr lang="tr-TR" sz="1200" dirty="0" smtClean="0"/>
              <a:t>Word ekranın farklı görünümlerde çalışmak için</a:t>
            </a:r>
          </a:p>
          <a:p>
            <a:pPr marL="342900" lvl="0" indent="-342900">
              <a:buFont typeface="+mj-lt"/>
              <a:buAutoNum type="arabicPeriod"/>
            </a:pPr>
            <a:r>
              <a:rPr lang="tr-TR" sz="1200" b="1" dirty="0" smtClean="0"/>
              <a:t>Görünüm sekmesi &gt;Belge Görünümleri </a:t>
            </a:r>
            <a:r>
              <a:rPr lang="tr-TR" sz="1200" b="0" dirty="0" smtClean="0"/>
              <a:t>komut grubunda ve </a:t>
            </a:r>
            <a:endParaRPr lang="tr-TR" sz="1200" b="1" dirty="0" smtClean="0"/>
          </a:p>
          <a:p>
            <a:pPr marL="342900" lvl="0" indent="-342900">
              <a:buFont typeface="+mj-lt"/>
              <a:buAutoNum type="arabicPeriod"/>
            </a:pPr>
            <a:r>
              <a:rPr lang="tr-TR" sz="1200" dirty="0" smtClean="0"/>
              <a:t>Belgenin sağ alt köşesindeki bulunan görünüm komutları kullanılır.</a:t>
            </a:r>
          </a:p>
          <a:p>
            <a:r>
              <a:rPr lang="tr-TR" sz="1200" dirty="0" smtClean="0"/>
              <a:t>Burada bulunan komutlar</a:t>
            </a:r>
            <a:r>
              <a:rPr lang="tr-TR" sz="1200" baseline="0" dirty="0" smtClean="0"/>
              <a:t> belgemizin beş farklı görünümde görünmesini sağlar </a:t>
            </a:r>
            <a:r>
              <a:rPr lang="tr-TR" sz="1200" b="1" i="1" kern="1200" dirty="0" smtClean="0">
                <a:solidFill>
                  <a:schemeClr val="tx1"/>
                </a:solidFill>
                <a:effectLst/>
                <a:latin typeface="+mn-lt"/>
                <a:ea typeface="+mn-ea"/>
                <a:cs typeface="+mn-cs"/>
              </a:rPr>
              <a:t>Sayfa Düzeni Görünümü, Taslak Görünüm, Web Yerleşimi Görünümü, </a:t>
            </a:r>
            <a:r>
              <a:rPr lang="tr-TR" sz="1200" b="1" i="1" kern="1200" dirty="0" err="1" smtClean="0">
                <a:solidFill>
                  <a:schemeClr val="tx1"/>
                </a:solidFill>
                <a:effectLst/>
                <a:latin typeface="+mn-lt"/>
                <a:ea typeface="+mn-ea"/>
                <a:cs typeface="+mn-cs"/>
              </a:rPr>
              <a:t>Anahat</a:t>
            </a:r>
            <a:r>
              <a:rPr lang="tr-TR" sz="1200" b="1" i="1" kern="1200" dirty="0" smtClean="0">
                <a:solidFill>
                  <a:schemeClr val="tx1"/>
                </a:solidFill>
                <a:effectLst/>
                <a:latin typeface="+mn-lt"/>
                <a:ea typeface="+mn-ea"/>
                <a:cs typeface="+mn-cs"/>
              </a:rPr>
              <a:t> Görünümü ve Okuma görünümü.</a:t>
            </a:r>
            <a:r>
              <a:rPr lang="tr-TR" sz="1200" b="0" i="0" kern="1200" dirty="0" smtClean="0">
                <a:solidFill>
                  <a:schemeClr val="tx1"/>
                </a:solidFill>
                <a:effectLst/>
                <a:latin typeface="+mn-lt"/>
                <a:ea typeface="+mn-ea"/>
                <a:cs typeface="+mn-cs"/>
              </a:rPr>
              <a:t> Örneğin</a:t>
            </a:r>
            <a:r>
              <a:rPr lang="tr-TR" sz="1200" b="0" i="0" kern="1200" baseline="0" dirty="0" smtClean="0">
                <a:solidFill>
                  <a:schemeClr val="tx1"/>
                </a:solidFill>
                <a:effectLst/>
                <a:latin typeface="+mn-lt"/>
                <a:ea typeface="+mn-ea"/>
                <a:cs typeface="+mn-cs"/>
              </a:rPr>
              <a:t> sayfa düzeni görünümü bize </a:t>
            </a:r>
            <a:r>
              <a:rPr lang="tr-TR" sz="1200" kern="1200" dirty="0" smtClean="0">
                <a:solidFill>
                  <a:schemeClr val="tx1"/>
                </a:solidFill>
                <a:effectLst/>
                <a:latin typeface="+mn-lt"/>
                <a:ea typeface="+mn-ea"/>
                <a:cs typeface="+mn-cs"/>
              </a:rPr>
              <a:t>eksiksiz ve yazıcıdan çıkacak halini görüntülememizi sağlar.</a:t>
            </a:r>
            <a:r>
              <a:rPr lang="tr-TR" sz="1200" kern="1200" baseline="0" dirty="0" smtClean="0">
                <a:solidFill>
                  <a:schemeClr val="tx1"/>
                </a:solidFill>
                <a:effectLst/>
                <a:latin typeface="+mn-lt"/>
                <a:ea typeface="+mn-ea"/>
                <a:cs typeface="+mn-cs"/>
              </a:rPr>
              <a:t> Taslak görünümündeyse </a:t>
            </a:r>
            <a:r>
              <a:rPr lang="tr-TR" sz="1200" kern="1200" dirty="0" smtClean="0">
                <a:solidFill>
                  <a:schemeClr val="tx1"/>
                </a:solidFill>
                <a:effectLst/>
                <a:latin typeface="+mn-lt"/>
                <a:ea typeface="+mn-ea"/>
                <a:cs typeface="+mn-cs"/>
              </a:rPr>
              <a:t>üst ve alt bilgi, dipnot ve son not gibi ek öğeler ve birden fazla sütün görünmez.</a:t>
            </a:r>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dirty="0" smtClean="0"/>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13</a:t>
            </a:fld>
            <a:endParaRPr lang="tr-TR"/>
          </a:p>
        </p:txBody>
      </p:sp>
    </p:spTree>
    <p:extLst>
      <p:ext uri="{BB962C8B-B14F-4D97-AF65-F5344CB8AC3E}">
        <p14:creationId xmlns:p14="http://schemas.microsoft.com/office/powerpoint/2010/main" val="595870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dirty="0" smtClean="0"/>
              <a:t>Bazı durumlarda belgelerimizi daha büyüterek</a:t>
            </a:r>
            <a:r>
              <a:rPr lang="tr-TR" sz="1200" baseline="0" dirty="0" smtClean="0"/>
              <a:t> daha ayrıntılı veya genel görünümlerini kontrol etmek için uzaklaştırmamız gerekiyor. Bu amaçla Word’e bulunan yakınlaştırma araçları kullanılır. </a:t>
            </a:r>
            <a:r>
              <a:rPr lang="tr-TR" sz="1200" dirty="0" smtClean="0"/>
              <a:t>Word belgesini büyütmek veya küçültmek için</a:t>
            </a:r>
          </a:p>
          <a:p>
            <a:pPr marL="342900" lvl="0" indent="-342900">
              <a:buFont typeface="+mj-lt"/>
              <a:buAutoNum type="arabicPeriod"/>
            </a:pPr>
            <a:r>
              <a:rPr lang="tr-TR" sz="1200" b="1" dirty="0" smtClean="0"/>
              <a:t>Görünüm sekmesi&gt;Yakınlaştır </a:t>
            </a:r>
            <a:r>
              <a:rPr lang="tr-TR" sz="1200" dirty="0" smtClean="0"/>
              <a:t>komut grubu.</a:t>
            </a:r>
          </a:p>
          <a:p>
            <a:pPr marL="342900" lvl="0" indent="-342900">
              <a:buFont typeface="+mj-lt"/>
              <a:buAutoNum type="arabicPeriod"/>
            </a:pPr>
            <a:r>
              <a:rPr lang="tr-TR" sz="1200" dirty="0" smtClean="0"/>
              <a:t>Belgenin sağ alt köşesi Durum Çubuğunda bulunan yakınlaştırma aracı kullanılır.</a:t>
            </a:r>
          </a:p>
          <a:p>
            <a:r>
              <a:rPr lang="tr-TR" dirty="0" smtClean="0"/>
              <a:t>Küçültme</a:t>
            </a:r>
            <a:r>
              <a:rPr lang="tr-TR" baseline="0" dirty="0" smtClean="0"/>
              <a:t> ve büyültme işlemi yakınlaştırma aracında bulunan kaydırıcıyı sağ veya sola kaydırarak yapabileceğimiz gibi, sekmedeki Yakınlaştır komutu veya yakınlaştırma aracının yanındaki yüzde komutuna tıklayarak açılan Yakınlaştır iletişim penceresinden yapabiliriz.</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14</a:t>
            </a:fld>
            <a:endParaRPr lang="tr-TR"/>
          </a:p>
        </p:txBody>
      </p:sp>
    </p:spTree>
    <p:extLst>
      <p:ext uri="{BB962C8B-B14F-4D97-AF65-F5344CB8AC3E}">
        <p14:creationId xmlns:p14="http://schemas.microsoft.com/office/powerpoint/2010/main" val="59587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dirty="0" smtClean="0"/>
              <a:t>Word belgesinde çalışırken bazı durumlarda daha geniş çalışma alanına ihtiyaç duyulabilir. Bunun için kullanabileceğimiz</a:t>
            </a:r>
            <a:r>
              <a:rPr lang="tr-TR" sz="1200" baseline="0" dirty="0" smtClean="0"/>
              <a:t> en önemli yollardan bir pencerede önemli bir yer kaplayan şeridi gizlemektir. </a:t>
            </a:r>
            <a:r>
              <a:rPr lang="tr-TR" sz="1200" dirty="0" smtClean="0"/>
              <a:t>Şeridi geçici olarak gizlemek etkin şeridi </a:t>
            </a:r>
            <a:r>
              <a:rPr lang="tr-TR" sz="1200" b="1" dirty="0" smtClean="0"/>
              <a:t>Çift tıklamamız </a:t>
            </a:r>
            <a:r>
              <a:rPr lang="tr-TR" sz="1200" b="0" dirty="0" smtClean="0"/>
              <a:t>gerekir.</a:t>
            </a:r>
            <a:r>
              <a:rPr lang="tr-TR" sz="1200" b="0" baseline="0" dirty="0" smtClean="0"/>
              <a:t> Böylece sekmelerin altındaki komut grupları gizlenir. Bunları geri getirmek için aynı işlemi tekrarlamamız </a:t>
            </a:r>
            <a:r>
              <a:rPr lang="tr-TR" sz="1200" b="0" baseline="0" dirty="0" err="1" smtClean="0"/>
              <a:t>gerkiyor</a:t>
            </a:r>
            <a:r>
              <a:rPr lang="tr-TR" sz="1200" b="0" baseline="0" dirty="0" smtClean="0"/>
              <a:t>. Yani etkin sekmeye çift tıklarsak şerit tekrar görünür.</a:t>
            </a:r>
            <a:endParaRPr lang="tr-TR" sz="1200" b="1" dirty="0" smtClean="0"/>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15</a:t>
            </a:fld>
            <a:endParaRPr lang="tr-TR"/>
          </a:p>
        </p:txBody>
      </p:sp>
    </p:spTree>
    <p:extLst>
      <p:ext uri="{BB962C8B-B14F-4D97-AF65-F5344CB8AC3E}">
        <p14:creationId xmlns:p14="http://schemas.microsoft.com/office/powerpoint/2010/main" val="59587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dirty="0" smtClean="0"/>
              <a:t>Word belgesinde veri</a:t>
            </a:r>
            <a:r>
              <a:rPr lang="tr-TR" sz="1200" baseline="0" dirty="0" smtClean="0"/>
              <a:t> girerken veya bunları düzenlerken yazdırılamayan ve normalde belgede görünmeyen bazı karakterler vardır. </a:t>
            </a:r>
            <a:r>
              <a:rPr lang="tr-TR" sz="1200" dirty="0" smtClean="0"/>
              <a:t>Görünmeyen karakterleri görünür yapmak için Tümünü göster komutuna tıklamamız gerekir. Tümünü göster komutuna</a:t>
            </a:r>
            <a:r>
              <a:rPr lang="tr-TR" sz="1200" baseline="0" dirty="0" smtClean="0"/>
              <a:t> tıkladığımızda k</a:t>
            </a:r>
            <a:r>
              <a:rPr lang="tr-TR" sz="1200" kern="1200" dirty="0" smtClean="0">
                <a:solidFill>
                  <a:schemeClr val="tx1"/>
                </a:solidFill>
                <a:effectLst/>
                <a:latin typeface="+mn-lt"/>
                <a:ea typeface="+mn-ea"/>
                <a:cs typeface="+mn-cs"/>
              </a:rPr>
              <a:t>elimeler arasında kullandığımız boşluk karakteri, paragraf işaretleri ve kesme işaretleri görünmektedir. Bu karakterleri gizlemek için tekrar Tümünü göster komutuna</a:t>
            </a:r>
            <a:r>
              <a:rPr lang="tr-TR" sz="1200" kern="1200" baseline="0" dirty="0" smtClean="0">
                <a:solidFill>
                  <a:schemeClr val="tx1"/>
                </a:solidFill>
                <a:effectLst/>
                <a:latin typeface="+mn-lt"/>
                <a:ea typeface="+mn-ea"/>
                <a:cs typeface="+mn-cs"/>
              </a:rPr>
              <a:t> </a:t>
            </a:r>
            <a:r>
              <a:rPr lang="tr-TR" sz="1200" kern="1200" baseline="0" smtClean="0">
                <a:solidFill>
                  <a:schemeClr val="tx1"/>
                </a:solidFill>
                <a:effectLst/>
                <a:latin typeface="+mn-lt"/>
                <a:ea typeface="+mn-ea"/>
                <a:cs typeface="+mn-cs"/>
              </a:rPr>
              <a:t>tıklamamız gerekiyor.</a:t>
            </a:r>
            <a:r>
              <a:rPr lang="tr-TR" sz="1200" kern="1200" smtClean="0">
                <a:solidFill>
                  <a:schemeClr val="tx1"/>
                </a:solidFill>
                <a:effectLst/>
                <a:latin typeface="+mn-lt"/>
                <a:ea typeface="+mn-ea"/>
                <a:cs typeface="+mn-cs"/>
              </a:rPr>
              <a:t> </a:t>
            </a:r>
            <a:endParaRPr lang="tr-TR"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dirty="0" smtClean="0"/>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16</a:t>
            </a:fld>
            <a:endParaRPr lang="tr-TR"/>
          </a:p>
        </p:txBody>
      </p:sp>
    </p:spTree>
    <p:extLst>
      <p:ext uri="{BB962C8B-B14F-4D97-AF65-F5344CB8AC3E}">
        <p14:creationId xmlns:p14="http://schemas.microsoft.com/office/powerpoint/2010/main" val="5958705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18.10.2011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18.10.2011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18.10.2011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18.10.2011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18.10.2011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18.10.2011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18.10.2011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18.10.2011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18.10.2011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18.10.2011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18.10.2011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image" Target="../media/image2.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image" Target="../media/image1.wmf"/><Relationship Id="rId5" Type="http://schemas.openxmlformats.org/officeDocument/2006/relationships/tags" Target="../tags/tag39.xml"/><Relationship Id="rId10" Type="http://schemas.openxmlformats.org/officeDocument/2006/relationships/notesSlide" Target="../notesSlides/notesSlide1.xml"/><Relationship Id="rId4" Type="http://schemas.openxmlformats.org/officeDocument/2006/relationships/tags" Target="../tags/tag38.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tags" Target="../tags/tag45.xml"/><Relationship Id="rId7" Type="http://schemas.openxmlformats.org/officeDocument/2006/relationships/notesSlide" Target="../notesSlides/notesSlide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Layout" Target="../slideLayouts/slideLayout2.xml"/><Relationship Id="rId5" Type="http://schemas.openxmlformats.org/officeDocument/2006/relationships/tags" Target="../tags/tag47.xml"/><Relationship Id="rId4" Type="http://schemas.openxmlformats.org/officeDocument/2006/relationships/tags" Target="../tags/tag46.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50.xml"/><Relationship Id="rId7"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18" Type="http://schemas.openxmlformats.org/officeDocument/2006/relationships/tags" Target="../tags/tag71.xml"/><Relationship Id="rId3" Type="http://schemas.openxmlformats.org/officeDocument/2006/relationships/tags" Target="../tags/tag56.xml"/><Relationship Id="rId21" Type="http://schemas.openxmlformats.org/officeDocument/2006/relationships/tags" Target="../tags/tag74.xml"/><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tags" Target="../tags/tag70.xml"/><Relationship Id="rId25" Type="http://schemas.openxmlformats.org/officeDocument/2006/relationships/image" Target="../media/image4.png"/><Relationship Id="rId2" Type="http://schemas.openxmlformats.org/officeDocument/2006/relationships/tags" Target="../tags/tag55.xml"/><Relationship Id="rId16" Type="http://schemas.openxmlformats.org/officeDocument/2006/relationships/tags" Target="../tags/tag69.xml"/><Relationship Id="rId20" Type="http://schemas.openxmlformats.org/officeDocument/2006/relationships/tags" Target="../tags/tag73.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24" Type="http://schemas.openxmlformats.org/officeDocument/2006/relationships/image" Target="../media/image5.png"/><Relationship Id="rId5" Type="http://schemas.openxmlformats.org/officeDocument/2006/relationships/tags" Target="../tags/tag58.xml"/><Relationship Id="rId15" Type="http://schemas.openxmlformats.org/officeDocument/2006/relationships/tags" Target="../tags/tag68.xml"/><Relationship Id="rId23" Type="http://schemas.openxmlformats.org/officeDocument/2006/relationships/notesSlide" Target="../notesSlides/notesSlide4.xml"/><Relationship Id="rId10" Type="http://schemas.openxmlformats.org/officeDocument/2006/relationships/tags" Target="../tags/tag63.xml"/><Relationship Id="rId19" Type="http://schemas.openxmlformats.org/officeDocument/2006/relationships/tags" Target="../tags/tag72.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 Id="rId22"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tags" Target="../tags/tag82.xml"/><Relationship Id="rId13" Type="http://schemas.openxmlformats.org/officeDocument/2006/relationships/tags" Target="../tags/tag87.xml"/><Relationship Id="rId3" Type="http://schemas.openxmlformats.org/officeDocument/2006/relationships/tags" Target="../tags/tag77.xml"/><Relationship Id="rId7" Type="http://schemas.openxmlformats.org/officeDocument/2006/relationships/tags" Target="../tags/tag81.xml"/><Relationship Id="rId12" Type="http://schemas.openxmlformats.org/officeDocument/2006/relationships/tags" Target="../tags/tag86.xml"/><Relationship Id="rId2" Type="http://schemas.openxmlformats.org/officeDocument/2006/relationships/tags" Target="../tags/tag76.xml"/><Relationship Id="rId16" Type="http://schemas.openxmlformats.org/officeDocument/2006/relationships/image" Target="../media/image6.png"/><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5" Type="http://schemas.openxmlformats.org/officeDocument/2006/relationships/tags" Target="../tags/tag79.xml"/><Relationship Id="rId15" Type="http://schemas.openxmlformats.org/officeDocument/2006/relationships/notesSlide" Target="../notesSlides/notesSlide5.xml"/><Relationship Id="rId10" Type="http://schemas.openxmlformats.org/officeDocument/2006/relationships/tags" Target="../tags/tag84.xml"/><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tags" Target="../tags/tag95.xml"/><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8.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7.png"/><Relationship Id="rId5" Type="http://schemas.openxmlformats.org/officeDocument/2006/relationships/tags" Target="../tags/tag92.xml"/><Relationship Id="rId10" Type="http://schemas.openxmlformats.org/officeDocument/2006/relationships/notesSlide" Target="../notesSlides/notesSlide6.xml"/><Relationship Id="rId4" Type="http://schemas.openxmlformats.org/officeDocument/2006/relationships/tags" Target="../tags/tag91.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image" Target="../media/image10.png"/><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9.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notesSlide" Target="../notesSlides/notesSlide7.xml"/><Relationship Id="rId5" Type="http://schemas.openxmlformats.org/officeDocument/2006/relationships/tags" Target="../tags/tag100.xml"/><Relationship Id="rId10" Type="http://schemas.openxmlformats.org/officeDocument/2006/relationships/slideLayout" Target="../slideLayouts/slideLayout13.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image" Target="../media/image11.gif"/></Relationships>
</file>

<file path=ppt/slides/_rels/slide8.xml.rels><?xml version="1.0" encoding="UTF-8" standalone="yes"?>
<Relationships xmlns="http://schemas.openxmlformats.org/package/2006/relationships"><Relationship Id="rId8" Type="http://schemas.openxmlformats.org/officeDocument/2006/relationships/tags" Target="../tags/tag112.xml"/><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image" Target="../media/image13.png"/><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image" Target="../media/image12.png"/><Relationship Id="rId5" Type="http://schemas.openxmlformats.org/officeDocument/2006/relationships/tags" Target="../tags/tag109.xml"/><Relationship Id="rId10" Type="http://schemas.openxmlformats.org/officeDocument/2006/relationships/notesSlide" Target="../notesSlides/notesSlide8.xml"/><Relationship Id="rId4" Type="http://schemas.openxmlformats.org/officeDocument/2006/relationships/tags" Target="../tags/tag108.xml"/><Relationship Id="rId9"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image" Target="../media/image14.png"/><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notesSlide" Target="../notesSlides/notesSlide9.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slideLayout" Target="../slideLayouts/slideLayout13.xml"/><Relationship Id="rId5" Type="http://schemas.openxmlformats.org/officeDocument/2006/relationships/tags" Target="../tags/tag117.xml"/><Relationship Id="rId15" Type="http://schemas.openxmlformats.org/officeDocument/2006/relationships/image" Target="../media/image16.png"/><Relationship Id="rId10" Type="http://schemas.openxmlformats.org/officeDocument/2006/relationships/tags" Target="../tags/tag122.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image" Target="../media/image19.png"/><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image" Target="../media/image18.png"/><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image" Target="../media/image17.png"/><Relationship Id="rId5" Type="http://schemas.openxmlformats.org/officeDocument/2006/relationships/tags" Target="../tags/tag127.xml"/><Relationship Id="rId10" Type="http://schemas.openxmlformats.org/officeDocument/2006/relationships/notesSlide" Target="../notesSlides/notesSlide10.xml"/><Relationship Id="rId4" Type="http://schemas.openxmlformats.org/officeDocument/2006/relationships/tags" Target="../tags/tag126.xml"/><Relationship Id="rId9"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tags" Target="../tags/tag138.xml"/><Relationship Id="rId13" Type="http://schemas.openxmlformats.org/officeDocument/2006/relationships/tags" Target="../tags/tag143.xml"/><Relationship Id="rId18" Type="http://schemas.openxmlformats.org/officeDocument/2006/relationships/image" Target="../media/image21.png"/><Relationship Id="rId3" Type="http://schemas.openxmlformats.org/officeDocument/2006/relationships/tags" Target="../tags/tag133.xml"/><Relationship Id="rId7" Type="http://schemas.openxmlformats.org/officeDocument/2006/relationships/tags" Target="../tags/tag137.xml"/><Relationship Id="rId12" Type="http://schemas.openxmlformats.org/officeDocument/2006/relationships/tags" Target="../tags/tag142.xml"/><Relationship Id="rId17" Type="http://schemas.openxmlformats.org/officeDocument/2006/relationships/image" Target="../media/image20.png"/><Relationship Id="rId2" Type="http://schemas.openxmlformats.org/officeDocument/2006/relationships/tags" Target="../tags/tag132.xml"/><Relationship Id="rId16" Type="http://schemas.openxmlformats.org/officeDocument/2006/relationships/notesSlide" Target="../notesSlides/notesSlide11.xml"/><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tags" Target="../tags/tag141.xml"/><Relationship Id="rId5" Type="http://schemas.openxmlformats.org/officeDocument/2006/relationships/tags" Target="../tags/tag135.xml"/><Relationship Id="rId15" Type="http://schemas.openxmlformats.org/officeDocument/2006/relationships/slideLayout" Target="../slideLayouts/slideLayout13.xml"/><Relationship Id="rId10" Type="http://schemas.openxmlformats.org/officeDocument/2006/relationships/tags" Target="../tags/tag140.xml"/><Relationship Id="rId4" Type="http://schemas.openxmlformats.org/officeDocument/2006/relationships/tags" Target="../tags/tag134.xml"/><Relationship Id="rId9" Type="http://schemas.openxmlformats.org/officeDocument/2006/relationships/tags" Target="../tags/tag139.xml"/><Relationship Id="rId14" Type="http://schemas.openxmlformats.org/officeDocument/2006/relationships/tags" Target="../tags/tag144.xml"/></Relationships>
</file>

<file path=ppt/slides/_rels/slide12.xml.rels><?xml version="1.0" encoding="UTF-8" standalone="yes"?>
<Relationships xmlns="http://schemas.openxmlformats.org/package/2006/relationships"><Relationship Id="rId8" Type="http://schemas.openxmlformats.org/officeDocument/2006/relationships/tags" Target="../tags/tag152.xml"/><Relationship Id="rId3" Type="http://schemas.openxmlformats.org/officeDocument/2006/relationships/tags" Target="../tags/tag147.xml"/><Relationship Id="rId7" Type="http://schemas.openxmlformats.org/officeDocument/2006/relationships/tags" Target="../tags/tag151.xml"/><Relationship Id="rId12" Type="http://schemas.openxmlformats.org/officeDocument/2006/relationships/image" Target="../media/image23.png"/><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image" Target="../media/image22.png"/><Relationship Id="rId5" Type="http://schemas.openxmlformats.org/officeDocument/2006/relationships/tags" Target="../tags/tag149.xml"/><Relationship Id="rId10" Type="http://schemas.openxmlformats.org/officeDocument/2006/relationships/notesSlide" Target="../notesSlides/notesSlide12.xml"/><Relationship Id="rId4" Type="http://schemas.openxmlformats.org/officeDocument/2006/relationships/tags" Target="../tags/tag148.xml"/><Relationship Id="rId9"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tags" Target="../tags/tag160.xml"/><Relationship Id="rId3" Type="http://schemas.openxmlformats.org/officeDocument/2006/relationships/tags" Target="../tags/tag155.xml"/><Relationship Id="rId7" Type="http://schemas.openxmlformats.org/officeDocument/2006/relationships/tags" Target="../tags/tag159.xml"/><Relationship Id="rId12" Type="http://schemas.openxmlformats.org/officeDocument/2006/relationships/image" Target="../media/image25.png"/><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image" Target="../media/image24.png"/><Relationship Id="rId5" Type="http://schemas.openxmlformats.org/officeDocument/2006/relationships/tags" Target="../tags/tag157.xml"/><Relationship Id="rId10" Type="http://schemas.openxmlformats.org/officeDocument/2006/relationships/notesSlide" Target="../notesSlides/notesSlide13.xml"/><Relationship Id="rId4" Type="http://schemas.openxmlformats.org/officeDocument/2006/relationships/tags" Target="../tags/tag156.xml"/><Relationship Id="rId9"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tags" Target="../tags/tag168.xml"/><Relationship Id="rId13" Type="http://schemas.openxmlformats.org/officeDocument/2006/relationships/image" Target="../media/image28.png"/><Relationship Id="rId3" Type="http://schemas.openxmlformats.org/officeDocument/2006/relationships/tags" Target="../tags/tag163.xml"/><Relationship Id="rId7" Type="http://schemas.openxmlformats.org/officeDocument/2006/relationships/tags" Target="../tags/tag167.xml"/><Relationship Id="rId12" Type="http://schemas.openxmlformats.org/officeDocument/2006/relationships/image" Target="../media/image27.png"/><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tags" Target="../tags/tag166.xml"/><Relationship Id="rId11" Type="http://schemas.openxmlformats.org/officeDocument/2006/relationships/image" Target="../media/image26.png"/><Relationship Id="rId5" Type="http://schemas.openxmlformats.org/officeDocument/2006/relationships/tags" Target="../tags/tag165.xml"/><Relationship Id="rId10" Type="http://schemas.openxmlformats.org/officeDocument/2006/relationships/notesSlide" Target="../notesSlides/notesSlide14.xml"/><Relationship Id="rId4" Type="http://schemas.openxmlformats.org/officeDocument/2006/relationships/tags" Target="../tags/tag164.xml"/><Relationship Id="rId9"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tags" Target="../tags/tag176.xml"/><Relationship Id="rId3" Type="http://schemas.openxmlformats.org/officeDocument/2006/relationships/tags" Target="../tags/tag171.xml"/><Relationship Id="rId7" Type="http://schemas.openxmlformats.org/officeDocument/2006/relationships/tags" Target="../tags/tag175.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tags" Target="../tags/tag174.xml"/><Relationship Id="rId11" Type="http://schemas.openxmlformats.org/officeDocument/2006/relationships/image" Target="../media/image29.png"/><Relationship Id="rId5" Type="http://schemas.openxmlformats.org/officeDocument/2006/relationships/tags" Target="../tags/tag173.xml"/><Relationship Id="rId10" Type="http://schemas.openxmlformats.org/officeDocument/2006/relationships/notesSlide" Target="../notesSlides/notesSlide15.xml"/><Relationship Id="rId4" Type="http://schemas.openxmlformats.org/officeDocument/2006/relationships/tags" Target="../tags/tag172.xml"/><Relationship Id="rId9"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tags" Target="../tags/tag184.xml"/><Relationship Id="rId13" Type="http://schemas.openxmlformats.org/officeDocument/2006/relationships/image" Target="../media/image32.png"/><Relationship Id="rId3" Type="http://schemas.openxmlformats.org/officeDocument/2006/relationships/tags" Target="../tags/tag179.xml"/><Relationship Id="rId7" Type="http://schemas.openxmlformats.org/officeDocument/2006/relationships/tags" Target="../tags/tag183.xml"/><Relationship Id="rId12" Type="http://schemas.openxmlformats.org/officeDocument/2006/relationships/image" Target="../media/image31.png"/><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tags" Target="../tags/tag182.xml"/><Relationship Id="rId11" Type="http://schemas.openxmlformats.org/officeDocument/2006/relationships/image" Target="../media/image30.png"/><Relationship Id="rId5" Type="http://schemas.openxmlformats.org/officeDocument/2006/relationships/tags" Target="../tags/tag181.xml"/><Relationship Id="rId10" Type="http://schemas.openxmlformats.org/officeDocument/2006/relationships/notesSlide" Target="../notesSlides/notesSlide16.xml"/><Relationship Id="rId4" Type="http://schemas.openxmlformats.org/officeDocument/2006/relationships/tags" Target="../tags/tag180.xml"/><Relationship Id="rId9"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11"/>
          <a:stretch>
            <a:fillRect/>
          </a:stretch>
        </p:blipFill>
        <p:spPr>
          <a:xfrm>
            <a:off x="189107" y="4572000"/>
            <a:ext cx="8765785" cy="2188205"/>
          </a:xfrm>
          <a:prstGeom prst="rect">
            <a:avLst/>
          </a:prstGeom>
          <a:noFill/>
          <a:ln>
            <a:noFill/>
          </a:ln>
        </p:spPr>
      </p:pic>
      <p:sp>
        <p:nvSpPr>
          <p:cNvPr id="7" name="Dikdörtgen 6"/>
          <p:cNvSpPr/>
          <p:nvPr>
            <p:custDataLst>
              <p:tags r:id="rId2"/>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3"/>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4"/>
            </p:custDataLst>
          </p:nvPr>
        </p:nvSpPr>
        <p:spPr>
          <a:xfrm>
            <a:off x="0" y="2827491"/>
            <a:ext cx="7696200"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Kelime İşlemci Word </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5"/>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6"/>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a:t>
            </a:r>
            <a:r>
              <a:rPr lang="tr-TR" sz="1600" i="1" dirty="0" smtClean="0">
                <a:solidFill>
                  <a:schemeClr val="bg1"/>
                </a:solidFill>
              </a:rPr>
              <a:t>. Gör. Mustafa YILMAZ</a:t>
            </a:r>
            <a:endParaRPr lang="tr-TR" sz="1600" i="1" dirty="0">
              <a:solidFill>
                <a:schemeClr val="bg1"/>
              </a:solidFill>
            </a:endParaRPr>
          </a:p>
        </p:txBody>
      </p:sp>
      <p:sp>
        <p:nvSpPr>
          <p:cNvPr id="9" name="Dikdörtgen 8"/>
          <p:cNvSpPr/>
          <p:nvPr>
            <p:custDataLst>
              <p:tags r:id="rId7"/>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Metin kutusu 9"/>
          <p:cNvSpPr txBox="1"/>
          <p:nvPr>
            <p:custDataLst>
              <p:tags r:id="rId8"/>
            </p:custDataLst>
          </p:nvPr>
        </p:nvSpPr>
        <p:spPr>
          <a:xfrm>
            <a:off x="6045933" y="6629400"/>
            <a:ext cx="2678938" cy="261610"/>
          </a:xfrm>
          <a:prstGeom prst="rect">
            <a:avLst/>
          </a:prstGeom>
          <a:noFill/>
        </p:spPr>
        <p:txBody>
          <a:bodyPr wrap="none" rtlCol="0">
            <a:spAutoFit/>
          </a:bodyPr>
          <a:lstStyle/>
          <a:p>
            <a:r>
              <a:rPr lang="tr-TR" sz="1100" i="1" dirty="0" smtClean="0">
                <a:latin typeface="Calibri" pitchFamily="34" charset="0"/>
                <a:cs typeface="Calibri" pitchFamily="34" charset="0"/>
              </a:rPr>
              <a:t>Bilgisayar ve Bilişim Bilimleri Fakültesi</a:t>
            </a:r>
            <a:r>
              <a:rPr lang="tr-TR" sz="1100" i="1" smtClean="0">
                <a:latin typeface="Calibri" pitchFamily="34" charset="0"/>
                <a:cs typeface="Calibri" pitchFamily="34" charset="0"/>
              </a:rPr>
              <a:t>| YBS </a:t>
            </a:r>
            <a:endParaRPr lang="tr-TR" sz="1100" i="1" dirty="0">
              <a:latin typeface="Calibri" pitchFamily="34" charset="0"/>
              <a:cs typeface="Calibri" pitchFamily="34" charset="0"/>
            </a:endParaRPr>
          </a:p>
        </p:txBody>
      </p:sp>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431" y="2872952"/>
            <a:ext cx="1587569" cy="162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1371600"/>
            <a:ext cx="6096000" cy="4876800"/>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1447258"/>
            <a:ext cx="6096000" cy="4893647"/>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Kelime işlemci uygulamasını açabilir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MS Word ara yüzünü ve ögelerini tanır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Bir ya da birden fazla belgeyle çalışabilir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Yeni </a:t>
            </a:r>
            <a:r>
              <a:rPr lang="tr-TR" sz="1600" dirty="0">
                <a:solidFill>
                  <a:schemeClr val="tx1">
                    <a:lumMod val="75000"/>
                    <a:lumOff val="25000"/>
                  </a:schemeClr>
                </a:solidFill>
                <a:latin typeface="Calibri" pitchFamily="34" charset="0"/>
                <a:cs typeface="Calibri" pitchFamily="34" charset="0"/>
              </a:rPr>
              <a:t>bir </a:t>
            </a:r>
            <a:r>
              <a:rPr lang="tr-TR" sz="1600" dirty="0" smtClean="0">
                <a:solidFill>
                  <a:schemeClr val="tx1">
                    <a:lumMod val="75000"/>
                    <a:lumOff val="25000"/>
                  </a:schemeClr>
                </a:solidFill>
                <a:latin typeface="Calibri" pitchFamily="34" charset="0"/>
                <a:cs typeface="Calibri" pitchFamily="34" charset="0"/>
              </a:rPr>
              <a:t>belge oluşturur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Belgeye metin, özel karakter ve simge ekleyebilir</a:t>
            </a:r>
            <a:endParaRPr lang="tr-TR" sz="1600" dirty="0">
              <a:solidFill>
                <a:schemeClr val="tx1">
                  <a:lumMod val="75000"/>
                  <a:lumOff val="25000"/>
                </a:schemeClr>
              </a:solidFill>
              <a:latin typeface="Calibri" pitchFamily="34" charset="0"/>
              <a:cs typeface="Calibri" pitchFamily="34" charset="0"/>
            </a:endParaRP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Yeni ve var olan belgeyi </a:t>
            </a:r>
            <a:r>
              <a:rPr lang="tr-TR" sz="1600" dirty="0">
                <a:solidFill>
                  <a:schemeClr val="tx1">
                    <a:lumMod val="75000"/>
                    <a:lumOff val="25000"/>
                  </a:schemeClr>
                </a:solidFill>
                <a:latin typeface="Calibri" pitchFamily="34" charset="0"/>
                <a:cs typeface="Calibri" pitchFamily="34" charset="0"/>
              </a:rPr>
              <a:t>sürücü üzerinde bir alana </a:t>
            </a:r>
            <a:r>
              <a:rPr lang="tr-TR" sz="1600" dirty="0" smtClean="0">
                <a:solidFill>
                  <a:schemeClr val="tx1">
                    <a:lumMod val="75000"/>
                    <a:lumOff val="25000"/>
                  </a:schemeClr>
                </a:solidFill>
                <a:latin typeface="Calibri" pitchFamily="34" charset="0"/>
                <a:cs typeface="Calibri" pitchFamily="34" charset="0"/>
              </a:rPr>
              <a:t>kaydedebilir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Açık </a:t>
            </a:r>
            <a:r>
              <a:rPr lang="tr-TR" sz="1600" dirty="0">
                <a:solidFill>
                  <a:schemeClr val="tx1">
                    <a:lumMod val="75000"/>
                    <a:lumOff val="25000"/>
                  </a:schemeClr>
                </a:solidFill>
                <a:latin typeface="Calibri" pitchFamily="34" charset="0"/>
                <a:cs typeface="Calibri" pitchFamily="34" charset="0"/>
              </a:rPr>
              <a:t>belgeler arasında geçiş </a:t>
            </a:r>
            <a:r>
              <a:rPr lang="tr-TR" sz="1600" dirty="0" smtClean="0">
                <a:solidFill>
                  <a:schemeClr val="tx1">
                    <a:lumMod val="75000"/>
                    <a:lumOff val="25000"/>
                  </a:schemeClr>
                </a:solidFill>
                <a:latin typeface="Calibri" pitchFamily="34" charset="0"/>
                <a:cs typeface="Calibri" pitchFamily="34" charset="0"/>
              </a:rPr>
              <a:t>yapabilir</a:t>
            </a:r>
            <a:endParaRPr lang="tr-TR" sz="1600" dirty="0">
              <a:solidFill>
                <a:schemeClr val="tx1">
                  <a:lumMod val="75000"/>
                  <a:lumOff val="25000"/>
                </a:schemeClr>
              </a:solidFill>
              <a:latin typeface="Calibri" pitchFamily="34" charset="0"/>
              <a:cs typeface="Calibri" pitchFamily="34" charset="0"/>
            </a:endParaRPr>
          </a:p>
          <a:p>
            <a:pPr marL="217170" indent="-171450">
              <a:lnSpc>
                <a:spcPct val="150000"/>
              </a:lnSpc>
              <a:buClr>
                <a:schemeClr val="accent6">
                  <a:lumMod val="75000"/>
                </a:schemeClr>
              </a:buClr>
              <a:buSzPct val="130000"/>
              <a:buBlip>
                <a:blip r:embed="rId8"/>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Yardım işlevini kullanabilir</a:t>
            </a:r>
            <a:endParaRPr lang="tr-TR" sz="1600" dirty="0">
              <a:solidFill>
                <a:schemeClr val="tx1">
                  <a:lumMod val="75000"/>
                  <a:lumOff val="25000"/>
                </a:schemeClr>
              </a:solidFill>
              <a:latin typeface="Calibri" pitchFamily="34" charset="0"/>
              <a:cs typeface="Calibri" pitchFamily="34" charset="0"/>
            </a:endParaRP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Belgeyi kapatabilir</a:t>
            </a:r>
          </a:p>
          <a:p>
            <a:pPr marL="217170" indent="-171450">
              <a:lnSpc>
                <a:spcPct val="150000"/>
              </a:lnSpc>
              <a:buClr>
                <a:schemeClr val="accent6">
                  <a:lumMod val="75000"/>
                </a:schemeClr>
              </a:buClr>
              <a:buSzPct val="130000"/>
              <a:buBlip>
                <a:blip r:embed="rId8"/>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Word belgesindeki değişik görünümlerde çalışabilir</a:t>
            </a:r>
          </a:p>
          <a:p>
            <a:pPr marL="217170" indent="-171450">
              <a:lnSpc>
                <a:spcPct val="150000"/>
              </a:lnSpc>
              <a:buClr>
                <a:schemeClr val="accent6">
                  <a:lumMod val="75000"/>
                </a:schemeClr>
              </a:buClr>
              <a:buSzPct val="130000"/>
              <a:buBlip>
                <a:blip r:embed="rId8"/>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Büyütme ve yakınlaştırma araçlarını kullanabilir</a:t>
            </a:r>
          </a:p>
          <a:p>
            <a:pPr marL="217170" indent="-171450">
              <a:lnSpc>
                <a:spcPct val="150000"/>
              </a:lnSpc>
              <a:buClr>
                <a:schemeClr val="accent6">
                  <a:lumMod val="75000"/>
                </a:schemeClr>
              </a:buClr>
              <a:buSzPct val="130000"/>
              <a:buBlip>
                <a:blip r:embed="rId8"/>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Araç çubuklarını gizleyebilir</a:t>
            </a:r>
          </a:p>
          <a:p>
            <a:pPr marL="217170" indent="-171450">
              <a:lnSpc>
                <a:spcPct val="150000"/>
              </a:lnSpc>
              <a:buClr>
                <a:schemeClr val="accent6">
                  <a:lumMod val="75000"/>
                </a:schemeClr>
              </a:buClr>
              <a:buSzPct val="130000"/>
              <a:buBlip>
                <a:blip r:embed="rId8"/>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Yazdırılamayan karakterleri görünür yapabilir</a:t>
            </a: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1"/>
            </p:custDataLst>
          </p:nvPr>
        </p:nvSpPr>
        <p:spPr>
          <a:xfrm>
            <a:off x="457200" y="2362200"/>
            <a:ext cx="4114800" cy="3657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5" name="Dikdörtgen 4"/>
          <p:cNvSpPr/>
          <p:nvPr>
            <p:custDataLst>
              <p:tags r:id="rId2"/>
            </p:custDataLst>
          </p:nvPr>
        </p:nvSpPr>
        <p:spPr>
          <a:xfrm>
            <a:off x="457200" y="1826156"/>
            <a:ext cx="41148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4"/>
            </p:custDataLst>
          </p:nvPr>
        </p:nvSpPr>
        <p:spPr>
          <a:xfrm>
            <a:off x="457200" y="2362199"/>
            <a:ext cx="4114800" cy="3810001"/>
          </a:xfrm>
          <a:prstGeom prst="rect">
            <a:avLst/>
          </a:prstGeom>
        </p:spPr>
        <p:txBody>
          <a:bodyPr>
            <a:normAutofit fontScale="85000" lnSpcReduction="20000"/>
          </a:bodyPr>
          <a:lstStyle/>
          <a:p>
            <a:pPr marL="446088" lvl="1" indent="-446088">
              <a:buFont typeface="Arial" pitchFamily="34" charset="0"/>
              <a:buNone/>
            </a:pPr>
            <a:r>
              <a:rPr lang="tr-TR" sz="1200" b="1" dirty="0">
                <a:latin typeface="Calibri" pitchFamily="34" charset="0"/>
                <a:cs typeface="Calibri" pitchFamily="34" charset="0"/>
              </a:rPr>
              <a:t>3.1	Uygulamanın Kullanımı</a:t>
            </a:r>
          </a:p>
          <a:p>
            <a:pPr marL="627063" lvl="1" indent="-446088">
              <a:buFont typeface="Arial" pitchFamily="34" charset="0"/>
              <a:buNone/>
            </a:pPr>
            <a:r>
              <a:rPr lang="tr-TR" sz="1200" b="1" dirty="0">
                <a:latin typeface="Calibri" pitchFamily="34" charset="0"/>
                <a:cs typeface="Calibri" pitchFamily="34" charset="0"/>
              </a:rPr>
              <a:t>3.1.1	Kelime İşlemcisiyle İlk Adımlar</a:t>
            </a:r>
          </a:p>
          <a:p>
            <a:pPr marL="712788" lvl="1" indent="-446088">
              <a:buFont typeface="Arial" pitchFamily="34" charset="0"/>
              <a:buNone/>
            </a:pPr>
            <a:r>
              <a:rPr lang="tr-TR" sz="1200" b="1" dirty="0">
                <a:latin typeface="Calibri" pitchFamily="34" charset="0"/>
                <a:cs typeface="Calibri" pitchFamily="34" charset="0"/>
              </a:rPr>
              <a:t>3.1.1.1	Kelime işlemci uygulamasını açmak.</a:t>
            </a:r>
          </a:p>
          <a:p>
            <a:pPr marL="712788" lvl="1" indent="-446088">
              <a:buFont typeface="Arial" pitchFamily="34" charset="0"/>
              <a:buNone/>
            </a:pPr>
            <a:r>
              <a:rPr lang="tr-TR" sz="1200" b="1" dirty="0">
                <a:latin typeface="Calibri" pitchFamily="34" charset="0"/>
                <a:cs typeface="Calibri" pitchFamily="34" charset="0"/>
              </a:rPr>
              <a:t>3.1.1.2	Word 2010 Ekranı</a:t>
            </a:r>
          </a:p>
          <a:p>
            <a:pPr marL="712788" lvl="1" indent="-446088">
              <a:buFont typeface="Arial" pitchFamily="34" charset="0"/>
              <a:buNone/>
            </a:pPr>
            <a:r>
              <a:rPr lang="tr-TR" sz="1200" b="1" dirty="0">
                <a:latin typeface="Calibri" pitchFamily="34" charset="0"/>
                <a:cs typeface="Calibri" pitchFamily="34" charset="0"/>
              </a:rPr>
              <a:t>3.1.1.3	Bir veya birkaç belgeyi açmak.</a:t>
            </a:r>
          </a:p>
          <a:p>
            <a:pPr marL="712788" lvl="1" indent="-446088">
              <a:buFont typeface="Arial" pitchFamily="34" charset="0"/>
              <a:buNone/>
            </a:pPr>
            <a:r>
              <a:rPr lang="tr-TR" sz="1200" b="1" dirty="0">
                <a:latin typeface="Calibri" pitchFamily="34" charset="0"/>
                <a:cs typeface="Calibri" pitchFamily="34" charset="0"/>
              </a:rPr>
              <a:t>3.1.1.4	Yeni belge oluşturmak.</a:t>
            </a:r>
          </a:p>
          <a:p>
            <a:pPr marL="712788" lvl="1" indent="-446088">
              <a:buFont typeface="Arial" pitchFamily="34" charset="0"/>
              <a:buNone/>
            </a:pPr>
            <a:r>
              <a:rPr lang="tr-TR" sz="1200" b="1" dirty="0">
                <a:latin typeface="Calibri" pitchFamily="34" charset="0"/>
                <a:cs typeface="Calibri" pitchFamily="34" charset="0"/>
              </a:rPr>
              <a:t>3.1.1.5	Belgeyi sürücüde bir alana saklamak</a:t>
            </a:r>
          </a:p>
          <a:p>
            <a:pPr marL="712788" lvl="1" indent="-446088">
              <a:buFont typeface="Arial" pitchFamily="34" charset="0"/>
              <a:buNone/>
            </a:pPr>
            <a:r>
              <a:rPr lang="tr-TR" sz="1200" b="1" dirty="0">
                <a:latin typeface="Calibri" pitchFamily="34" charset="0"/>
                <a:cs typeface="Calibri" pitchFamily="34" charset="0"/>
              </a:rPr>
              <a:t>3.1.1.6	Var Olan Belgeyi Açmak</a:t>
            </a:r>
          </a:p>
          <a:p>
            <a:pPr marL="712788" lvl="1" indent="-446088">
              <a:buFont typeface="Arial" pitchFamily="34" charset="0"/>
              <a:buNone/>
            </a:pPr>
            <a:r>
              <a:rPr lang="tr-TR" sz="1200" b="1" dirty="0">
                <a:latin typeface="Calibri" pitchFamily="34" charset="0"/>
                <a:cs typeface="Calibri" pitchFamily="34" charset="0"/>
              </a:rPr>
              <a:t>3.1.1.7	Belgeyi farklı bir isimle saklamak.</a:t>
            </a:r>
          </a:p>
          <a:p>
            <a:pPr marL="712788" lvl="1" indent="-446088">
              <a:buFont typeface="Arial" pitchFamily="34" charset="0"/>
              <a:buNone/>
            </a:pPr>
            <a:r>
              <a:rPr lang="tr-TR" sz="1200" b="1" dirty="0">
                <a:latin typeface="Calibri" pitchFamily="34" charset="0"/>
                <a:cs typeface="Calibri" pitchFamily="34" charset="0"/>
              </a:rPr>
              <a:t>3.1.1.8	Belgeyi farklı dosya türüyle saklamak; örneğin, metin dosyası, RTF, HTML, şablon, yazılıma yönelik dosya uzantısı vs.</a:t>
            </a:r>
          </a:p>
          <a:p>
            <a:pPr marL="712788" lvl="1" indent="-446088">
              <a:buFont typeface="Arial" pitchFamily="34" charset="0"/>
              <a:buNone/>
            </a:pPr>
            <a:r>
              <a:rPr lang="tr-TR" sz="1200" b="1" dirty="0">
                <a:latin typeface="Calibri" pitchFamily="34" charset="0"/>
                <a:cs typeface="Calibri" pitchFamily="34" charset="0"/>
              </a:rPr>
              <a:t>3.1.1.9	Açık belgeler arasında geçiş.</a:t>
            </a:r>
          </a:p>
          <a:p>
            <a:pPr marL="712788" lvl="1" indent="-446088">
              <a:buFont typeface="Arial" pitchFamily="34" charset="0"/>
              <a:buNone/>
            </a:pPr>
            <a:r>
              <a:rPr lang="tr-TR" sz="1200" b="1" dirty="0">
                <a:latin typeface="Calibri" pitchFamily="34" charset="0"/>
                <a:cs typeface="Calibri" pitchFamily="34" charset="0"/>
              </a:rPr>
              <a:t>3.1.1.10	Yardım fonksiyonlarının kullanımı.</a:t>
            </a:r>
          </a:p>
          <a:p>
            <a:pPr marL="712788" lvl="1" indent="-446088">
              <a:buFont typeface="Arial" pitchFamily="34" charset="0"/>
              <a:buNone/>
            </a:pPr>
            <a:r>
              <a:rPr lang="tr-TR" sz="1200" b="1" dirty="0">
                <a:latin typeface="Calibri" pitchFamily="34" charset="0"/>
                <a:cs typeface="Calibri" pitchFamily="34" charset="0"/>
              </a:rPr>
              <a:t>3.1.1.11	Belgeyi kapamak.</a:t>
            </a:r>
          </a:p>
          <a:p>
            <a:pPr marL="627063" lvl="1" indent="-446088">
              <a:buFont typeface="Arial" pitchFamily="34" charset="0"/>
              <a:buNone/>
            </a:pPr>
            <a:r>
              <a:rPr lang="tr-TR" sz="1200" b="1" dirty="0">
                <a:latin typeface="Calibri" pitchFamily="34" charset="0"/>
                <a:cs typeface="Calibri" pitchFamily="34" charset="0"/>
              </a:rPr>
              <a:t>3.1.2	Ayarların Yerleştirilmesi	</a:t>
            </a:r>
          </a:p>
          <a:p>
            <a:pPr marL="712788" lvl="1" indent="-446088">
              <a:buFont typeface="Arial" pitchFamily="34" charset="0"/>
              <a:buNone/>
            </a:pPr>
            <a:r>
              <a:rPr lang="tr-TR" sz="1200" b="1" dirty="0">
                <a:latin typeface="Calibri" pitchFamily="34" charset="0"/>
                <a:cs typeface="Calibri" pitchFamily="34" charset="0"/>
              </a:rPr>
              <a:t>3.1.2.1	Belge Görünümleri.</a:t>
            </a:r>
          </a:p>
          <a:p>
            <a:pPr marL="712788" lvl="1" indent="-446088">
              <a:buFont typeface="Arial" pitchFamily="34" charset="0"/>
              <a:buNone/>
            </a:pPr>
            <a:r>
              <a:rPr lang="tr-TR" sz="1200" b="1" dirty="0">
                <a:latin typeface="Calibri" pitchFamily="34" charset="0"/>
                <a:cs typeface="Calibri" pitchFamily="34" charset="0"/>
              </a:rPr>
              <a:t>3.1.2.2	Büyültme/Yakınlaştırma araçlarının kullanımı.</a:t>
            </a:r>
          </a:p>
          <a:p>
            <a:pPr marL="712788" lvl="1" indent="-446088">
              <a:buFont typeface="Arial" pitchFamily="34" charset="0"/>
              <a:buNone/>
            </a:pPr>
            <a:r>
              <a:rPr lang="tr-TR" sz="1200" b="1" dirty="0">
                <a:latin typeface="Calibri" pitchFamily="34" charset="0"/>
                <a:cs typeface="Calibri" pitchFamily="34" charset="0"/>
              </a:rPr>
              <a:t>3.1.2.3	Araç çubuklarını göstermek/gizlemek.</a:t>
            </a:r>
          </a:p>
          <a:p>
            <a:pPr marL="712788" lvl="1" indent="-446088">
              <a:buFont typeface="Arial" pitchFamily="34" charset="0"/>
              <a:buNone/>
            </a:pPr>
            <a:r>
              <a:rPr lang="tr-TR" sz="1200" b="1" dirty="0">
                <a:latin typeface="Calibri" pitchFamily="34" charset="0"/>
                <a:cs typeface="Calibri" pitchFamily="34" charset="0"/>
              </a:rPr>
              <a:t>3.1.2.4	Yazdırılamayan karakterlerin gösterilmesi/gizlenmesi.</a:t>
            </a:r>
          </a:p>
          <a:p>
            <a:pPr marL="0" lvl="1" indent="0">
              <a:buFont typeface="Arial" pitchFamily="34" charset="0"/>
              <a:buNone/>
            </a:pPr>
            <a:endParaRPr lang="tr-TR" sz="1200" b="1" dirty="0">
              <a:latin typeface="Calibri" pitchFamily="34" charset="0"/>
              <a:cs typeface="Calibri" pitchFamily="34" charset="0"/>
            </a:endParaRPr>
          </a:p>
        </p:txBody>
      </p:sp>
      <p:sp>
        <p:nvSpPr>
          <p:cNvPr id="7" name="Metin kutusu 6"/>
          <p:cNvSpPr txBox="1"/>
          <p:nvPr>
            <p:custDataLst>
              <p:tags r:id="rId5"/>
            </p:custDataLst>
          </p:nvPr>
        </p:nvSpPr>
        <p:spPr>
          <a:xfrm>
            <a:off x="533400" y="1961881"/>
            <a:ext cx="2667000" cy="242631"/>
          </a:xfrm>
          <a:prstGeom prst="rect">
            <a:avLst/>
          </a:prstGeom>
          <a:noFill/>
        </p:spPr>
        <p:txBody>
          <a:bodyPr wrap="square" rtlCol="0">
            <a:spAutoFit/>
          </a:body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
        <p:nvSpPr>
          <p:cNvPr id="15" name="Slayt Numarası Yer Tutucusu 14"/>
          <p:cNvSpPr>
            <a:spLocks noGrp="1"/>
          </p:cNvSpPr>
          <p:nvPr>
            <p:ph type="sldNum" sz="quarter" idx="12"/>
            <p:custDataLst>
              <p:tags r:id="rId6"/>
            </p:custDataLst>
          </p:nvPr>
        </p:nvSpPr>
        <p:spPr/>
        <p:txBody>
          <a:bodyPr/>
          <a:lstStyle/>
          <a:p>
            <a:fld id="{C1FA2219-9131-49AD-A1B5-1FFD48A79E7F}" type="slidenum">
              <a:rPr lang="tr-TR" smtClean="0"/>
              <a:t>3</a:t>
            </a:fld>
            <a:endParaRPr lang="tr-TR"/>
          </a:p>
        </p:txBody>
      </p:sp>
      <p:pic>
        <p:nvPicPr>
          <p:cNvPr id="9" name="Resim 8" descr="Açıklama: Açıklama: Açıklama: C:\Users\YILMAZ\AppData\Local\Temp\SNAGHTMLcd8a67.PNG"/>
          <p:cNvPicPr/>
          <p:nvPr/>
        </p:nvPicPr>
        <p:blipFill>
          <a:blip r:embed="rId9">
            <a:extLst>
              <a:ext uri="{28A0092B-C50C-407E-A947-70E740481C1C}">
                <a14:useLocalDpi xmlns:a14="http://schemas.microsoft.com/office/drawing/2010/main" val="0"/>
              </a:ext>
            </a:extLst>
          </a:blip>
          <a:srcRect/>
          <a:stretch>
            <a:fillRect/>
          </a:stretch>
        </p:blipFill>
        <p:spPr bwMode="auto">
          <a:xfrm>
            <a:off x="4778492" y="2362200"/>
            <a:ext cx="4329113" cy="3182672"/>
          </a:xfrm>
          <a:prstGeom prst="rect">
            <a:avLst/>
          </a:prstGeom>
          <a:noFill/>
          <a:ln>
            <a:noFill/>
          </a:ln>
        </p:spPr>
      </p:pic>
    </p:spTree>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Kelime İşlemci Uygulamasını </a:t>
            </a:r>
            <a:r>
              <a:rPr lang="tr-TR" sz="28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Açmak ve Word Ekranı</a:t>
            </a:r>
            <a:endPar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19"/>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20"/>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21"/>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a:solidFill>
                  <a:schemeClr val="bg1"/>
                </a:solidFill>
              </a:rPr>
              <a:t>Word </a:t>
            </a:r>
            <a:r>
              <a:rPr lang="tr-TR" sz="1400" b="1" dirty="0" smtClean="0">
                <a:solidFill>
                  <a:schemeClr val="bg1"/>
                </a:solidFill>
              </a:rPr>
              <a:t>kelime </a:t>
            </a:r>
            <a:r>
              <a:rPr lang="tr-TR" sz="1400" b="1" dirty="0">
                <a:solidFill>
                  <a:schemeClr val="bg1"/>
                </a:solidFill>
              </a:rPr>
              <a:t>işlemci uygulamasını </a:t>
            </a:r>
            <a:r>
              <a:rPr lang="tr-TR" sz="1400" b="1" dirty="0" smtClean="0">
                <a:solidFill>
                  <a:schemeClr val="bg1"/>
                </a:solidFill>
              </a:rPr>
              <a:t>açar,</a:t>
            </a:r>
            <a:r>
              <a:rPr lang="de-DE" sz="1400" b="1" dirty="0" smtClean="0">
                <a:solidFill>
                  <a:schemeClr val="bg1"/>
                </a:solidFill>
              </a:rPr>
              <a:t> </a:t>
            </a:r>
            <a:r>
              <a:rPr lang="de-DE" sz="1400" b="1" dirty="0" err="1">
                <a:solidFill>
                  <a:schemeClr val="bg1"/>
                </a:solidFill>
              </a:rPr>
              <a:t>ara</a:t>
            </a:r>
            <a:r>
              <a:rPr lang="de-DE" sz="1400" b="1" dirty="0">
                <a:solidFill>
                  <a:schemeClr val="bg1"/>
                </a:solidFill>
              </a:rPr>
              <a:t> </a:t>
            </a:r>
            <a:r>
              <a:rPr lang="de-DE" sz="1400" b="1" dirty="0" err="1">
                <a:solidFill>
                  <a:schemeClr val="bg1"/>
                </a:solidFill>
              </a:rPr>
              <a:t>yüzünü</a:t>
            </a:r>
            <a:r>
              <a:rPr lang="de-DE" sz="1400" b="1" dirty="0">
                <a:solidFill>
                  <a:schemeClr val="bg1"/>
                </a:solidFill>
              </a:rPr>
              <a:t>  </a:t>
            </a:r>
            <a:r>
              <a:rPr lang="de-DE" sz="1400" b="1" dirty="0" err="1">
                <a:solidFill>
                  <a:schemeClr val="bg1"/>
                </a:solidFill>
              </a:rPr>
              <a:t>ve</a:t>
            </a:r>
            <a:r>
              <a:rPr lang="de-DE" sz="1400" b="1" dirty="0">
                <a:solidFill>
                  <a:schemeClr val="bg1"/>
                </a:solidFill>
              </a:rPr>
              <a:t> </a:t>
            </a:r>
            <a:r>
              <a:rPr lang="de-DE" sz="1400" b="1" dirty="0" err="1">
                <a:solidFill>
                  <a:schemeClr val="bg1"/>
                </a:solidFill>
              </a:rPr>
              <a:t>ögelerini</a:t>
            </a:r>
            <a:r>
              <a:rPr lang="de-DE" sz="1400" b="1" dirty="0">
                <a:solidFill>
                  <a:schemeClr val="bg1"/>
                </a:solidFill>
              </a:rPr>
              <a:t> </a:t>
            </a:r>
            <a:r>
              <a:rPr lang="de-DE" sz="1400" b="1" dirty="0" err="1" smtClean="0">
                <a:solidFill>
                  <a:schemeClr val="bg1"/>
                </a:solidFill>
              </a:rPr>
              <a:t>bilir</a:t>
            </a:r>
            <a:r>
              <a:rPr lang="tr-TR" sz="1400" b="1" dirty="0" smtClean="0">
                <a:solidFill>
                  <a:schemeClr val="bg1"/>
                </a:solidFill>
              </a:rPr>
              <a:t> </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533400" y="1371600"/>
            <a:ext cx="7772400" cy="338554"/>
          </a:xfrm>
          <a:prstGeom prst="rect">
            <a:avLst/>
          </a:prstGeom>
          <a:noFill/>
        </p:spPr>
        <p:txBody>
          <a:bodyPr wrap="square" rtlCol="0">
            <a:spAutoFit/>
          </a:bodyPr>
          <a:lstStyle/>
          <a:p>
            <a:r>
              <a:rPr lang="tr-TR" sz="1600" dirty="0" smtClean="0"/>
              <a:t>Word, </a:t>
            </a:r>
            <a:r>
              <a:rPr lang="tr-TR" sz="1600" b="1" i="1" dirty="0"/>
              <a:t>Başlat &gt; Tüm Programlar &gt; Microsoft Office &gt; </a:t>
            </a:r>
            <a:r>
              <a:rPr lang="tr-TR" sz="1600" b="1" i="1" dirty="0" smtClean="0"/>
              <a:t>Word </a:t>
            </a:r>
            <a:r>
              <a:rPr lang="tr-TR" sz="1600" b="1" i="1" dirty="0"/>
              <a:t>2010</a:t>
            </a:r>
            <a:r>
              <a:rPr lang="tr-TR" sz="1600" b="1" dirty="0"/>
              <a:t> </a:t>
            </a:r>
            <a:r>
              <a:rPr lang="tr-TR" sz="1600" dirty="0"/>
              <a:t>seçeneği tıklanarak açılır</a:t>
            </a:r>
            <a:r>
              <a:rPr lang="tr-TR" sz="1600" dirty="0" smtClean="0"/>
              <a:t>.</a:t>
            </a:r>
            <a:endParaRPr lang="tr-TR" sz="1600" dirty="0"/>
          </a:p>
        </p:txBody>
      </p:sp>
      <p:sp>
        <p:nvSpPr>
          <p:cNvPr id="3" name="Metin kutusu 2"/>
          <p:cNvSpPr txBox="1"/>
          <p:nvPr>
            <p:custDataLst>
              <p:tags r:id="rId6"/>
            </p:custDataLst>
          </p:nvPr>
        </p:nvSpPr>
        <p:spPr>
          <a:xfrm>
            <a:off x="6005616" y="1681877"/>
            <a:ext cx="2806865" cy="2862322"/>
          </a:xfrm>
          <a:prstGeom prst="rect">
            <a:avLst/>
          </a:prstGeom>
          <a:noFill/>
        </p:spPr>
        <p:txBody>
          <a:bodyPr wrap="square" rtlCol="0">
            <a:spAutoFit/>
          </a:bodyPr>
          <a:lstStyle/>
          <a:p>
            <a:pPr marL="342900" lvl="0" indent="-342900">
              <a:buFont typeface="+mj-lt"/>
              <a:buAutoNum type="arabicPeriod"/>
            </a:pPr>
            <a:r>
              <a:rPr lang="tr-TR" dirty="0"/>
              <a:t>Hızlı Erişim Araç Çubuğu</a:t>
            </a:r>
          </a:p>
          <a:p>
            <a:pPr marL="342900" lvl="0" indent="-342900">
              <a:buFont typeface="+mj-lt"/>
              <a:buAutoNum type="arabicPeriod"/>
            </a:pPr>
            <a:r>
              <a:rPr lang="tr-TR" dirty="0"/>
              <a:t>Başlık Çubuğu</a:t>
            </a:r>
          </a:p>
          <a:p>
            <a:pPr marL="342900" lvl="0" indent="-342900">
              <a:buFont typeface="+mj-lt"/>
              <a:buAutoNum type="arabicPeriod"/>
            </a:pPr>
            <a:r>
              <a:rPr lang="tr-TR" dirty="0" smtClean="0"/>
              <a:t>Şerit</a:t>
            </a:r>
          </a:p>
          <a:p>
            <a:pPr marL="342900" lvl="0" indent="-342900">
              <a:buFont typeface="+mj-lt"/>
              <a:buAutoNum type="arabicPeriod"/>
            </a:pPr>
            <a:r>
              <a:rPr lang="tr-TR" dirty="0" smtClean="0"/>
              <a:t>Sekmeler</a:t>
            </a:r>
          </a:p>
          <a:p>
            <a:pPr marL="342900" lvl="0" indent="-342900">
              <a:buFont typeface="+mj-lt"/>
              <a:buAutoNum type="arabicPeriod"/>
            </a:pPr>
            <a:r>
              <a:rPr lang="tr-TR" dirty="0" smtClean="0"/>
              <a:t>Komut Grupları</a:t>
            </a:r>
          </a:p>
          <a:p>
            <a:pPr marL="342900" lvl="0" indent="-342900">
              <a:buFont typeface="+mj-lt"/>
              <a:buAutoNum type="arabicPeriod"/>
            </a:pPr>
            <a:r>
              <a:rPr lang="tr-TR" dirty="0" smtClean="0"/>
              <a:t>Komutlar</a:t>
            </a:r>
          </a:p>
          <a:p>
            <a:pPr marL="342900" lvl="0" indent="-342900">
              <a:buFont typeface="+mj-lt"/>
              <a:buAutoNum type="arabicPeriod"/>
            </a:pPr>
            <a:r>
              <a:rPr lang="tr-TR" dirty="0" smtClean="0"/>
              <a:t>Galeriler</a:t>
            </a:r>
          </a:p>
          <a:p>
            <a:pPr marL="342900" lvl="0" indent="-342900">
              <a:buFont typeface="+mj-lt"/>
              <a:buAutoNum type="arabicPeriod"/>
            </a:pPr>
            <a:r>
              <a:rPr lang="tr-TR" dirty="0" smtClean="0"/>
              <a:t>Durum Çubuğu</a:t>
            </a:r>
          </a:p>
          <a:p>
            <a:pPr marL="342900" lvl="0" indent="-342900">
              <a:buFont typeface="+mj-lt"/>
              <a:buAutoNum type="arabicPeriod"/>
            </a:pPr>
            <a:r>
              <a:rPr lang="tr-TR" dirty="0" smtClean="0"/>
              <a:t>Kaydırma Çubuğu</a:t>
            </a:r>
          </a:p>
          <a:p>
            <a:pPr marL="342900" lvl="0" indent="-342900">
              <a:buFont typeface="+mj-lt"/>
              <a:buAutoNum type="arabicPeriod"/>
            </a:pPr>
            <a:r>
              <a:rPr lang="tr-TR" dirty="0" smtClean="0"/>
              <a:t>Cetvel</a:t>
            </a:r>
            <a:endParaRPr lang="tr-TR" dirty="0"/>
          </a:p>
        </p:txBody>
      </p:sp>
      <p:sp>
        <p:nvSpPr>
          <p:cNvPr id="6" name="Metin kutusu 5"/>
          <p:cNvSpPr txBox="1"/>
          <p:nvPr>
            <p:custDataLst>
              <p:tags r:id="rId7"/>
            </p:custDataLst>
          </p:nvPr>
        </p:nvSpPr>
        <p:spPr>
          <a:xfrm>
            <a:off x="482060" y="1993611"/>
            <a:ext cx="4928140" cy="584775"/>
          </a:xfrm>
          <a:prstGeom prst="rect">
            <a:avLst/>
          </a:prstGeom>
          <a:noFill/>
        </p:spPr>
        <p:txBody>
          <a:bodyPr wrap="square" rtlCol="0">
            <a:spAutoFit/>
          </a:bodyPr>
          <a:lstStyle/>
          <a:p>
            <a:r>
              <a:rPr lang="tr-TR" sz="1600" dirty="0"/>
              <a:t> MS Word 2010 çalıştırdığımızda açılan pencereye Word Penceresi denir.</a:t>
            </a:r>
          </a:p>
        </p:txBody>
      </p:sp>
      <p:sp>
        <p:nvSpPr>
          <p:cNvPr id="13" name="Metin kutusu 12"/>
          <p:cNvSpPr txBox="1"/>
          <p:nvPr>
            <p:custDataLst>
              <p:tags r:id="rId8"/>
            </p:custDataLst>
          </p:nvPr>
        </p:nvSpPr>
        <p:spPr>
          <a:xfrm>
            <a:off x="6023429" y="4584918"/>
            <a:ext cx="2590800" cy="1569660"/>
          </a:xfrm>
          <a:prstGeom prst="rect">
            <a:avLst/>
          </a:prstGeom>
          <a:noFill/>
        </p:spPr>
        <p:txBody>
          <a:bodyPr wrap="square" rtlCol="0">
            <a:spAutoFit/>
          </a:bodyPr>
          <a:lstStyle/>
          <a:p>
            <a:r>
              <a:rPr lang="tr-TR" sz="1600" b="1" i="1" dirty="0"/>
              <a:t>Dosya Sekmesi &gt; Çıkış</a:t>
            </a:r>
            <a:r>
              <a:rPr lang="tr-TR" sz="1600" b="1" dirty="0"/>
              <a:t> </a:t>
            </a:r>
            <a:r>
              <a:rPr lang="tr-TR" sz="1600" dirty="0"/>
              <a:t>düğmesine veya </a:t>
            </a:r>
            <a:r>
              <a:rPr lang="tr-TR" sz="1600" dirty="0" smtClean="0"/>
              <a:t>Word penceresinin </a:t>
            </a:r>
            <a:r>
              <a:rPr lang="tr-TR" sz="1600" dirty="0"/>
              <a:t>sağ üst kısmında yer alan </a:t>
            </a:r>
            <a:r>
              <a:rPr lang="tr-TR" sz="1600" dirty="0" smtClean="0"/>
              <a:t>Kapat (      )  </a:t>
            </a:r>
            <a:r>
              <a:rPr lang="tr-TR" sz="1600" dirty="0"/>
              <a:t>düğmesine basarak </a:t>
            </a:r>
            <a:r>
              <a:rPr lang="tr-TR" sz="1600" dirty="0" smtClean="0"/>
              <a:t>Word </a:t>
            </a:r>
            <a:r>
              <a:rPr lang="tr-TR" sz="1600" dirty="0"/>
              <a:t>programı </a:t>
            </a:r>
            <a:r>
              <a:rPr lang="tr-TR" sz="1600" dirty="0" smtClean="0"/>
              <a:t>kapatılır.</a:t>
            </a:r>
            <a:endParaRPr lang="tr-TR" sz="1600" dirty="0"/>
          </a:p>
        </p:txBody>
      </p:sp>
      <p:pic>
        <p:nvPicPr>
          <p:cNvPr id="27" name="Resim 26"/>
          <p:cNvPicPr/>
          <p:nvPr/>
        </p:nvPicPr>
        <p:blipFill>
          <a:blip r:embed="rId24"/>
          <a:stretch>
            <a:fillRect/>
          </a:stretch>
        </p:blipFill>
        <p:spPr>
          <a:xfrm>
            <a:off x="8155940" y="5475922"/>
            <a:ext cx="299720" cy="131445"/>
          </a:xfrm>
          <a:prstGeom prst="rect">
            <a:avLst/>
          </a:prstGeom>
        </p:spPr>
      </p:pic>
      <p:pic>
        <p:nvPicPr>
          <p:cNvPr id="17" name="Resim 16" descr="Açıklama: Açıklama: Açıklama: C:\Users\YILMAZ\AppData\Local\Temp\SNAGHTMLcd8a67.PNG"/>
          <p:cNvPicPr/>
          <p:nvPr/>
        </p:nvPicPr>
        <p:blipFill>
          <a:blip r:embed="rId25">
            <a:extLst>
              <a:ext uri="{28A0092B-C50C-407E-A947-70E740481C1C}">
                <a14:useLocalDpi xmlns:a14="http://schemas.microsoft.com/office/drawing/2010/main" val="0"/>
              </a:ext>
            </a:extLst>
          </a:blip>
          <a:srcRect/>
          <a:stretch>
            <a:fillRect/>
          </a:stretch>
        </p:blipFill>
        <p:spPr bwMode="auto">
          <a:xfrm>
            <a:off x="600341" y="2556862"/>
            <a:ext cx="5181600" cy="3639872"/>
          </a:xfrm>
          <a:prstGeom prst="rect">
            <a:avLst/>
          </a:prstGeom>
          <a:noFill/>
          <a:ln>
            <a:noFill/>
          </a:ln>
        </p:spPr>
      </p:pic>
      <p:sp>
        <p:nvSpPr>
          <p:cNvPr id="15" name="Dikdörtgen 14"/>
          <p:cNvSpPr/>
          <p:nvPr>
            <p:custDataLst>
              <p:tags r:id="rId9"/>
            </p:custDataLst>
          </p:nvPr>
        </p:nvSpPr>
        <p:spPr>
          <a:xfrm>
            <a:off x="600341" y="2582599"/>
            <a:ext cx="1228459" cy="108000"/>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19" name="Dikdörtgen 18"/>
          <p:cNvSpPr/>
          <p:nvPr>
            <p:custDataLst>
              <p:tags r:id="rId10"/>
            </p:custDataLst>
          </p:nvPr>
        </p:nvSpPr>
        <p:spPr>
          <a:xfrm>
            <a:off x="2743200" y="2578386"/>
            <a:ext cx="838200" cy="108000"/>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20" name="Dikdörtgen 19"/>
          <p:cNvSpPr/>
          <p:nvPr>
            <p:custDataLst>
              <p:tags r:id="rId11"/>
            </p:custDataLst>
          </p:nvPr>
        </p:nvSpPr>
        <p:spPr>
          <a:xfrm>
            <a:off x="625273" y="2690599"/>
            <a:ext cx="3413327" cy="148413"/>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21" name="Dikdörtgen 20"/>
          <p:cNvSpPr/>
          <p:nvPr>
            <p:custDataLst>
              <p:tags r:id="rId12"/>
            </p:custDataLst>
          </p:nvPr>
        </p:nvSpPr>
        <p:spPr>
          <a:xfrm>
            <a:off x="625273" y="2690599"/>
            <a:ext cx="5013527" cy="592601"/>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22" name="Dikdörtgen 21"/>
          <p:cNvSpPr/>
          <p:nvPr>
            <p:custDataLst>
              <p:tags r:id="rId13"/>
            </p:custDataLst>
          </p:nvPr>
        </p:nvSpPr>
        <p:spPr>
          <a:xfrm>
            <a:off x="3619499" y="2872209"/>
            <a:ext cx="1600201" cy="371194"/>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23" name="Dikdörtgen 22"/>
          <p:cNvSpPr/>
          <p:nvPr>
            <p:custDataLst>
              <p:tags r:id="rId14"/>
            </p:custDataLst>
          </p:nvPr>
        </p:nvSpPr>
        <p:spPr>
          <a:xfrm>
            <a:off x="990601" y="2839012"/>
            <a:ext cx="1447800" cy="427782"/>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24" name="Dikdörtgen 23"/>
          <p:cNvSpPr/>
          <p:nvPr>
            <p:custDataLst>
              <p:tags r:id="rId15"/>
            </p:custDataLst>
          </p:nvPr>
        </p:nvSpPr>
        <p:spPr>
          <a:xfrm>
            <a:off x="1045653" y="3048000"/>
            <a:ext cx="108000" cy="108000"/>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26" name="Dikdörtgen 25"/>
          <p:cNvSpPr/>
          <p:nvPr>
            <p:custDataLst>
              <p:tags r:id="rId16"/>
            </p:custDataLst>
          </p:nvPr>
        </p:nvSpPr>
        <p:spPr>
          <a:xfrm>
            <a:off x="625273" y="6064200"/>
            <a:ext cx="5089727" cy="108000"/>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28" name="Dikdörtgen 27"/>
          <p:cNvSpPr/>
          <p:nvPr>
            <p:custDataLst>
              <p:tags r:id="rId17"/>
            </p:custDataLst>
          </p:nvPr>
        </p:nvSpPr>
        <p:spPr>
          <a:xfrm rot="5400000">
            <a:off x="4229621" y="4685778"/>
            <a:ext cx="2926357" cy="108000"/>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29" name="Dikdörtgen 28"/>
          <p:cNvSpPr/>
          <p:nvPr>
            <p:custDataLst>
              <p:tags r:id="rId18"/>
            </p:custDataLst>
          </p:nvPr>
        </p:nvSpPr>
        <p:spPr>
          <a:xfrm>
            <a:off x="1099653" y="3278926"/>
            <a:ext cx="4234347" cy="108000"/>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Tree>
    <p:custDataLst>
      <p:tags r:id="rId1"/>
    </p:custDataLst>
    <p:extLst>
      <p:ext uri="{BB962C8B-B14F-4D97-AF65-F5344CB8AC3E}">
        <p14:creationId xmlns:p14="http://schemas.microsoft.com/office/powerpoint/2010/main" val="696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2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2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2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26"/>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28"/>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6" grpId="0" animBg="1"/>
      <p:bldP spid="26" grpId="1" animBg="1"/>
      <p:bldP spid="28" grpId="0" animBg="1"/>
      <p:bldP spid="28" grpId="1" animBg="1"/>
      <p:bldP spid="29" grpId="0" animBg="1"/>
      <p:bldP spid="29"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Dosya Sekmesi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11"/>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12"/>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3"/>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a:solidFill>
                  <a:schemeClr val="bg1"/>
                </a:solidFill>
              </a:rPr>
              <a:t>Word </a:t>
            </a:r>
            <a:r>
              <a:rPr lang="tr-TR" sz="1400" b="1" dirty="0" smtClean="0">
                <a:solidFill>
                  <a:schemeClr val="bg1"/>
                </a:solidFill>
              </a:rPr>
              <a:t>kelime </a:t>
            </a:r>
            <a:r>
              <a:rPr lang="tr-TR" sz="1400" b="1" dirty="0">
                <a:solidFill>
                  <a:schemeClr val="bg1"/>
                </a:solidFill>
              </a:rPr>
              <a:t>işlemci uygulamasını </a:t>
            </a:r>
            <a:r>
              <a:rPr lang="tr-TR" sz="1400" b="1" dirty="0" smtClean="0">
                <a:solidFill>
                  <a:schemeClr val="bg1"/>
                </a:solidFill>
              </a:rPr>
              <a:t>açar,</a:t>
            </a:r>
            <a:r>
              <a:rPr lang="de-DE" sz="1400" b="1" dirty="0" smtClean="0">
                <a:solidFill>
                  <a:schemeClr val="bg1"/>
                </a:solidFill>
              </a:rPr>
              <a:t> </a:t>
            </a:r>
            <a:r>
              <a:rPr lang="de-DE" sz="1400" b="1" dirty="0" err="1">
                <a:solidFill>
                  <a:schemeClr val="bg1"/>
                </a:solidFill>
              </a:rPr>
              <a:t>ara</a:t>
            </a:r>
            <a:r>
              <a:rPr lang="de-DE" sz="1400" b="1" dirty="0">
                <a:solidFill>
                  <a:schemeClr val="bg1"/>
                </a:solidFill>
              </a:rPr>
              <a:t> </a:t>
            </a:r>
            <a:r>
              <a:rPr lang="de-DE" sz="1400" b="1" dirty="0" err="1">
                <a:solidFill>
                  <a:schemeClr val="bg1"/>
                </a:solidFill>
              </a:rPr>
              <a:t>yüzünü</a:t>
            </a:r>
            <a:r>
              <a:rPr lang="de-DE" sz="1400" b="1" dirty="0">
                <a:solidFill>
                  <a:schemeClr val="bg1"/>
                </a:solidFill>
              </a:rPr>
              <a:t>  </a:t>
            </a:r>
            <a:r>
              <a:rPr lang="de-DE" sz="1400" b="1" dirty="0" err="1">
                <a:solidFill>
                  <a:schemeClr val="bg1"/>
                </a:solidFill>
              </a:rPr>
              <a:t>ve</a:t>
            </a:r>
            <a:r>
              <a:rPr lang="de-DE" sz="1400" b="1" dirty="0">
                <a:solidFill>
                  <a:schemeClr val="bg1"/>
                </a:solidFill>
              </a:rPr>
              <a:t> </a:t>
            </a:r>
            <a:r>
              <a:rPr lang="de-DE" sz="1400" b="1" dirty="0" err="1">
                <a:solidFill>
                  <a:schemeClr val="bg1"/>
                </a:solidFill>
              </a:rPr>
              <a:t>ögelerini</a:t>
            </a:r>
            <a:r>
              <a:rPr lang="de-DE" sz="1400" b="1" dirty="0">
                <a:solidFill>
                  <a:schemeClr val="bg1"/>
                </a:solidFill>
              </a:rPr>
              <a:t> </a:t>
            </a:r>
            <a:r>
              <a:rPr lang="de-DE" sz="1400" b="1" dirty="0" err="1" smtClean="0">
                <a:solidFill>
                  <a:schemeClr val="bg1"/>
                </a:solidFill>
              </a:rPr>
              <a:t>bilir</a:t>
            </a:r>
            <a:r>
              <a:rPr lang="tr-TR" sz="1400" b="1" dirty="0" smtClean="0">
                <a:solidFill>
                  <a:schemeClr val="bg1"/>
                </a:solidFill>
              </a:rPr>
              <a:t> </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33400" y="1371600"/>
            <a:ext cx="7772400" cy="584775"/>
          </a:xfrm>
          <a:prstGeom prst="rect">
            <a:avLst/>
          </a:prstGeom>
          <a:noFill/>
        </p:spPr>
        <p:txBody>
          <a:bodyPr wrap="square" rtlCol="0">
            <a:spAutoFit/>
          </a:bodyPr>
          <a:lstStyle/>
          <a:p>
            <a:r>
              <a:rPr lang="tr-TR" sz="1600" b="1" dirty="0"/>
              <a:t>Dosya Sekmesi</a:t>
            </a:r>
            <a:endParaRPr lang="tr-TR" sz="1600" b="1" dirty="0" smtClean="0"/>
          </a:p>
          <a:p>
            <a:r>
              <a:rPr lang="tr-TR" sz="1600" b="1" dirty="0" smtClean="0"/>
              <a:t>Dosya Sekmesi </a:t>
            </a:r>
            <a:r>
              <a:rPr lang="tr-TR" sz="1600" dirty="0" smtClean="0"/>
              <a:t>açmak için sekmeye tıklanır  </a:t>
            </a:r>
            <a:r>
              <a:rPr lang="tr-TR" sz="1600" b="1" dirty="0" err="1"/>
              <a:t>Backstage</a:t>
            </a:r>
            <a:r>
              <a:rPr lang="tr-TR" sz="1600" b="1" dirty="0"/>
              <a:t> görünümü </a:t>
            </a:r>
            <a:r>
              <a:rPr lang="tr-TR" sz="1600" dirty="0" smtClean="0"/>
              <a:t>açılır.</a:t>
            </a:r>
            <a:endParaRPr lang="tr-TR" sz="1600" dirty="0"/>
          </a:p>
        </p:txBody>
      </p:sp>
      <p:sp>
        <p:nvSpPr>
          <p:cNvPr id="3" name="Metin kutusu 2"/>
          <p:cNvSpPr txBox="1"/>
          <p:nvPr>
            <p:custDataLst>
              <p:tags r:id="rId6"/>
            </p:custDataLst>
          </p:nvPr>
        </p:nvSpPr>
        <p:spPr>
          <a:xfrm>
            <a:off x="6096000" y="3119735"/>
            <a:ext cx="2806865" cy="923330"/>
          </a:xfrm>
          <a:prstGeom prst="rect">
            <a:avLst/>
          </a:prstGeom>
          <a:noFill/>
        </p:spPr>
        <p:txBody>
          <a:bodyPr wrap="square" rtlCol="0">
            <a:spAutoFit/>
          </a:bodyPr>
          <a:lstStyle/>
          <a:p>
            <a:pPr marL="342900" lvl="0" indent="-342900">
              <a:buFont typeface="+mj-lt"/>
              <a:buAutoNum type="arabicPeriod"/>
            </a:pPr>
            <a:r>
              <a:rPr lang="tr-TR" dirty="0" smtClean="0"/>
              <a:t>Komutlar</a:t>
            </a:r>
            <a:endParaRPr lang="tr-TR" dirty="0"/>
          </a:p>
          <a:p>
            <a:pPr marL="342900" lvl="0" indent="-342900">
              <a:buFont typeface="+mj-lt"/>
              <a:buAutoNum type="arabicPeriod"/>
            </a:pPr>
            <a:r>
              <a:rPr lang="tr-TR" dirty="0" smtClean="0"/>
              <a:t>Sekmeler</a:t>
            </a:r>
            <a:endParaRPr lang="tr-TR" dirty="0"/>
          </a:p>
          <a:p>
            <a:pPr marL="342900" lvl="0" indent="-342900">
              <a:buFont typeface="+mj-lt"/>
              <a:buAutoNum type="arabicPeriod"/>
            </a:pPr>
            <a:r>
              <a:rPr lang="tr-TR" dirty="0" smtClean="0"/>
              <a:t>Seçenekler</a:t>
            </a:r>
            <a:endParaRPr lang="tr-TR" dirty="0"/>
          </a:p>
        </p:txBody>
      </p:sp>
      <p:sp>
        <p:nvSpPr>
          <p:cNvPr id="6" name="Metin kutusu 5"/>
          <p:cNvSpPr txBox="1"/>
          <p:nvPr>
            <p:custDataLst>
              <p:tags r:id="rId7"/>
            </p:custDataLst>
          </p:nvPr>
        </p:nvSpPr>
        <p:spPr>
          <a:xfrm>
            <a:off x="482060" y="1993611"/>
            <a:ext cx="4928140" cy="338554"/>
          </a:xfrm>
          <a:prstGeom prst="rect">
            <a:avLst/>
          </a:prstGeom>
          <a:noFill/>
        </p:spPr>
        <p:txBody>
          <a:bodyPr wrap="square" rtlCol="0">
            <a:spAutoFit/>
          </a:bodyPr>
          <a:lstStyle/>
          <a:p>
            <a:endParaRPr lang="tr-TR" sz="1600" dirty="0"/>
          </a:p>
        </p:txBody>
      </p:sp>
      <p:pic>
        <p:nvPicPr>
          <p:cNvPr id="30" name="Resim 29" descr="C:\Users\YILMAZ\AppData\Local\Temp\SNAGHTML160f405.PNG"/>
          <p:cNvPicPr/>
          <p:nvPr/>
        </p:nvPicPr>
        <p:blipFill>
          <a:blip r:embed="rId16">
            <a:extLst>
              <a:ext uri="{28A0092B-C50C-407E-A947-70E740481C1C}">
                <a14:useLocalDpi xmlns:a14="http://schemas.microsoft.com/office/drawing/2010/main" val="0"/>
              </a:ext>
            </a:extLst>
          </a:blip>
          <a:srcRect/>
          <a:stretch>
            <a:fillRect/>
          </a:stretch>
        </p:blipFill>
        <p:spPr bwMode="auto">
          <a:xfrm>
            <a:off x="222361" y="2578386"/>
            <a:ext cx="5760720" cy="4132580"/>
          </a:xfrm>
          <a:prstGeom prst="rect">
            <a:avLst/>
          </a:prstGeom>
          <a:noFill/>
          <a:ln>
            <a:noFill/>
          </a:ln>
        </p:spPr>
      </p:pic>
      <p:sp>
        <p:nvSpPr>
          <p:cNvPr id="31" name="Dikdörtgen 30"/>
          <p:cNvSpPr/>
          <p:nvPr>
            <p:custDataLst>
              <p:tags r:id="rId8"/>
            </p:custDataLst>
          </p:nvPr>
        </p:nvSpPr>
        <p:spPr>
          <a:xfrm>
            <a:off x="273017" y="2895600"/>
            <a:ext cx="685799" cy="685800"/>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32" name="Dikdörtgen 31"/>
          <p:cNvSpPr/>
          <p:nvPr>
            <p:custDataLst>
              <p:tags r:id="rId9"/>
            </p:custDataLst>
          </p:nvPr>
        </p:nvSpPr>
        <p:spPr>
          <a:xfrm>
            <a:off x="273016" y="3581400"/>
            <a:ext cx="685799" cy="1295400"/>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33" name="Dikdörtgen 32"/>
          <p:cNvSpPr/>
          <p:nvPr>
            <p:custDataLst>
              <p:tags r:id="rId10"/>
            </p:custDataLst>
          </p:nvPr>
        </p:nvSpPr>
        <p:spPr>
          <a:xfrm>
            <a:off x="273017" y="4949342"/>
            <a:ext cx="685799" cy="152400"/>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Tree>
    <p:custDataLst>
      <p:tags r:id="rId1"/>
    </p:custDataLst>
    <p:extLst>
      <p:ext uri="{BB962C8B-B14F-4D97-AF65-F5344CB8AC3E}">
        <p14:creationId xmlns:p14="http://schemas.microsoft.com/office/powerpoint/2010/main" val="295448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1" grpId="1" animBg="1"/>
      <p:bldP spid="32" grpId="0" animBg="1"/>
      <p:bldP spid="32" grpId="1" animBg="1"/>
      <p:bldP spid="33" grpId="0" animBg="1"/>
      <p:bldP spid="3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Bir veya Birkaç Belgeyi Açmak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pt-BR" sz="1400" b="1" dirty="0">
                <a:solidFill>
                  <a:schemeClr val="bg1"/>
                </a:solidFill>
              </a:rPr>
              <a:t>Bir ya da birden fazla belgeyi açar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33400" y="1371600"/>
            <a:ext cx="7772400" cy="338554"/>
          </a:xfrm>
          <a:prstGeom prst="rect">
            <a:avLst/>
          </a:prstGeom>
          <a:noFill/>
        </p:spPr>
        <p:txBody>
          <a:bodyPr wrap="square" rtlCol="0">
            <a:spAutoFit/>
          </a:bodyPr>
          <a:lstStyle/>
          <a:p>
            <a:r>
              <a:rPr lang="tr-TR" sz="1600" dirty="0" smtClean="0"/>
              <a:t>Word yeni bir belgeyi açmak.</a:t>
            </a:r>
            <a:endParaRPr lang="tr-TR" sz="1600" dirty="0"/>
          </a:p>
        </p:txBody>
      </p:sp>
      <p:pic>
        <p:nvPicPr>
          <p:cNvPr id="2050" name="Picture 2" descr="C:\Users\YILMAZ\AppData\Local\Temp\SNAGHTML10c3ca7.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1000" y="1788630"/>
            <a:ext cx="5867400" cy="487887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Users\YILMAZ\AppData\Local\Temp\SNAGHTML10fa355.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1964" y="1761869"/>
            <a:ext cx="6191236" cy="509613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9100053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Yeni Belge Oluşturmak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pt-BR" sz="1400" b="1" dirty="0">
                <a:solidFill>
                  <a:schemeClr val="bg1"/>
                </a:solidFill>
              </a:rPr>
              <a:t>Bir ya da birden fazla belgeyi açar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228600" y="1033046"/>
            <a:ext cx="7772400" cy="1077218"/>
          </a:xfrm>
          <a:prstGeom prst="rect">
            <a:avLst/>
          </a:prstGeom>
          <a:noFill/>
        </p:spPr>
        <p:txBody>
          <a:bodyPr wrap="square" rtlCol="0">
            <a:spAutoFit/>
          </a:bodyPr>
          <a:lstStyle/>
          <a:p>
            <a:r>
              <a:rPr lang="tr-TR" sz="1600" dirty="0" smtClean="0"/>
              <a:t>Word’de çalışırken yeni bir belge açmak.</a:t>
            </a:r>
          </a:p>
          <a:p>
            <a:r>
              <a:rPr lang="tr-TR" sz="1600" b="1" dirty="0" smtClean="0"/>
              <a:t>Dosya sekmesi&gt;Yeni sekme&gt;Boş belge; </a:t>
            </a:r>
          </a:p>
          <a:p>
            <a:r>
              <a:rPr lang="tr-TR" sz="1600" b="1" dirty="0" smtClean="0"/>
              <a:t>Hızlı Erişim Araç Çubuğu&gt;Yeni;</a:t>
            </a:r>
          </a:p>
          <a:p>
            <a:r>
              <a:rPr lang="tr-TR" sz="1600" b="1" dirty="0" err="1" smtClean="0"/>
              <a:t>Ctrl+N</a:t>
            </a:r>
            <a:r>
              <a:rPr lang="tr-TR" sz="1600" b="1" dirty="0" smtClean="0"/>
              <a:t> </a:t>
            </a:r>
            <a:endParaRPr lang="tr-TR" sz="1600" b="1" dirty="0"/>
          </a:p>
        </p:txBody>
      </p:sp>
      <p:pic>
        <p:nvPicPr>
          <p:cNvPr id="3076" name="Picture 4" descr="C:\Users\YILMAZ\AppData\Local\Temp\SNAGHTML1109e94.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1800" y="1725681"/>
            <a:ext cx="6172200" cy="5132319"/>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Users\YILMAZ\AppData\Local\Temp\SNAGHTML113a91f.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2362200"/>
            <a:ext cx="2955021" cy="378142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G:\Muhittin Akgül\imajlar\postit.gif"/>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72200" y="4252913"/>
            <a:ext cx="2325935" cy="2160029"/>
          </a:xfrm>
          <a:prstGeom prst="rect">
            <a:avLst/>
          </a:prstGeom>
          <a:noFill/>
          <a:extLst>
            <a:ext uri="{909E8E84-426E-40DD-AFC4-6F175D3DCCD1}">
              <a14:hiddenFill xmlns:a14="http://schemas.microsoft.com/office/drawing/2010/main">
                <a:solidFill>
                  <a:srgbClr val="FFFFFF"/>
                </a:solidFill>
              </a14:hiddenFill>
            </a:ext>
          </a:extLst>
        </p:spPr>
      </p:pic>
      <p:sp>
        <p:nvSpPr>
          <p:cNvPr id="3" name="Dikdörtgen 2"/>
          <p:cNvSpPr/>
          <p:nvPr>
            <p:custDataLst>
              <p:tags r:id="rId6"/>
            </p:custDataLst>
          </p:nvPr>
        </p:nvSpPr>
        <p:spPr>
          <a:xfrm>
            <a:off x="6382667" y="4976336"/>
            <a:ext cx="1923133" cy="738664"/>
          </a:xfrm>
          <a:prstGeom prst="rect">
            <a:avLst/>
          </a:prstGeom>
        </p:spPr>
        <p:txBody>
          <a:bodyPr wrap="square">
            <a:spAutoFit/>
          </a:bodyPr>
          <a:lstStyle/>
          <a:p>
            <a:r>
              <a:rPr lang="tr-TR" sz="1400" b="1" i="1" dirty="0" err="1"/>
              <a:t>Ctrl</a:t>
            </a:r>
            <a:r>
              <a:rPr lang="tr-TR" sz="1400" b="1" i="1" dirty="0"/>
              <a:t> +N </a:t>
            </a:r>
            <a:r>
              <a:rPr lang="tr-TR" sz="1400" dirty="0"/>
              <a:t>tuşlarına basıldığında </a:t>
            </a:r>
            <a:r>
              <a:rPr lang="tr-TR" sz="1400" dirty="0" smtClean="0"/>
              <a:t>boş Word </a:t>
            </a:r>
            <a:r>
              <a:rPr lang="tr-TR" sz="1400" dirty="0"/>
              <a:t>Belgesi oluşur.</a:t>
            </a:r>
          </a:p>
        </p:txBody>
      </p:sp>
    </p:spTree>
    <p:custDataLst>
      <p:tags r:id="rId1"/>
    </p:custDataLst>
    <p:extLst>
      <p:ext uri="{BB962C8B-B14F-4D97-AF65-F5344CB8AC3E}">
        <p14:creationId xmlns:p14="http://schemas.microsoft.com/office/powerpoint/2010/main" val="25152928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Belgeyi Sürücüde Bir Alana Saklamak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Yeni ve var olan belgeyi sürücü üzerinde bir alana kaydeder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371600"/>
            <a:ext cx="7772400" cy="830997"/>
          </a:xfrm>
          <a:prstGeom prst="rect">
            <a:avLst/>
          </a:prstGeom>
          <a:noFill/>
        </p:spPr>
        <p:txBody>
          <a:bodyPr wrap="square" rtlCol="0">
            <a:spAutoFit/>
          </a:bodyPr>
          <a:lstStyle/>
          <a:p>
            <a:pPr marL="285750" indent="-285750">
              <a:buFont typeface="Arial" pitchFamily="34" charset="0"/>
              <a:buChar char="•"/>
            </a:pPr>
            <a:r>
              <a:rPr lang="tr-TR" sz="1600" b="1" dirty="0" smtClean="0"/>
              <a:t>Hızlı </a:t>
            </a:r>
            <a:r>
              <a:rPr lang="tr-TR" sz="1600" b="1" dirty="0"/>
              <a:t>Başlat Araç </a:t>
            </a:r>
            <a:r>
              <a:rPr lang="tr-TR" sz="1600" b="1" dirty="0" smtClean="0"/>
              <a:t>Çubuğu&gt;Kaydet </a:t>
            </a:r>
            <a:r>
              <a:rPr lang="tr-TR" sz="1600" dirty="0"/>
              <a:t>düğmesini tıklayın.</a:t>
            </a:r>
          </a:p>
          <a:p>
            <a:pPr marL="285750" indent="-285750">
              <a:buFont typeface="Arial" pitchFamily="34" charset="0"/>
              <a:buChar char="•"/>
            </a:pPr>
            <a:r>
              <a:rPr lang="tr-TR" sz="1600" b="1" dirty="0" smtClean="0"/>
              <a:t>Dosya sekmesinde&gt;Kaydet </a:t>
            </a:r>
            <a:r>
              <a:rPr lang="tr-TR" sz="1600" dirty="0"/>
              <a:t>komutunu seçin.</a:t>
            </a:r>
          </a:p>
          <a:p>
            <a:pPr marL="285750" indent="-285750">
              <a:buFont typeface="Arial" pitchFamily="34" charset="0"/>
              <a:buChar char="•"/>
            </a:pPr>
            <a:r>
              <a:rPr lang="tr-TR" sz="1600" b="1" dirty="0" err="1" smtClean="0"/>
              <a:t>Ctrl</a:t>
            </a:r>
            <a:r>
              <a:rPr lang="tr-TR" sz="1600" b="1" dirty="0" smtClean="0"/>
              <a:t> </a:t>
            </a:r>
            <a:r>
              <a:rPr lang="tr-TR" sz="1600" b="1" dirty="0"/>
              <a:t>+ S </a:t>
            </a:r>
            <a:r>
              <a:rPr lang="tr-TR" sz="1600" dirty="0"/>
              <a:t>tuşlarına basın</a:t>
            </a:r>
            <a:r>
              <a:rPr lang="tr-TR" sz="1600" dirty="0" smtClean="0"/>
              <a:t>.</a:t>
            </a:r>
            <a:endParaRPr lang="tr-TR" sz="1600" dirty="0"/>
          </a:p>
        </p:txBody>
      </p:sp>
      <p:pic>
        <p:nvPicPr>
          <p:cNvPr id="4098" name="Picture 2" descr="C:\Users\YILMAZ\AppData\Local\Temp\SNAGHTML162ce1e.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1475" y="2732008"/>
            <a:ext cx="1866900" cy="26003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14575" y="2202597"/>
            <a:ext cx="6215706"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6123338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Belgeyi Farklı Bir İsimle Saklamak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8"/>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9"/>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0"/>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Yeni ve var olan belgeyi sürücü üzerinde bir alana kaydeder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a:p>
        </p:txBody>
      </p:sp>
      <p:sp>
        <p:nvSpPr>
          <p:cNvPr id="7" name="Metin kutusu 6"/>
          <p:cNvSpPr txBox="1"/>
          <p:nvPr>
            <p:custDataLst>
              <p:tags r:id="rId5"/>
            </p:custDataLst>
          </p:nvPr>
        </p:nvSpPr>
        <p:spPr>
          <a:xfrm>
            <a:off x="533400" y="1371600"/>
            <a:ext cx="7772400" cy="1323439"/>
          </a:xfrm>
          <a:prstGeom prst="rect">
            <a:avLst/>
          </a:prstGeom>
          <a:noFill/>
        </p:spPr>
        <p:txBody>
          <a:bodyPr wrap="square" rtlCol="0">
            <a:spAutoFit/>
          </a:bodyPr>
          <a:lstStyle/>
          <a:p>
            <a:pPr marL="285750" indent="-285750">
              <a:buFont typeface="Arial" pitchFamily="34" charset="0"/>
              <a:buChar char="•"/>
            </a:pPr>
            <a:r>
              <a:rPr lang="tr-TR" sz="1600" dirty="0" smtClean="0"/>
              <a:t>Daha önce oluşturulan belgeyi açmak için </a:t>
            </a:r>
            <a:r>
              <a:rPr lang="tr-TR" sz="1600" b="1" dirty="0" smtClean="0"/>
              <a:t>Dosya sekmesi&gt;Aç</a:t>
            </a:r>
            <a:r>
              <a:rPr lang="tr-TR" sz="1600" dirty="0" smtClean="0"/>
              <a:t> komutunu kullan</a:t>
            </a:r>
            <a:endParaRPr lang="tr-TR" sz="1600" b="1" dirty="0" smtClean="0"/>
          </a:p>
          <a:p>
            <a:pPr marL="285750" indent="-285750">
              <a:buFont typeface="Arial" pitchFamily="34" charset="0"/>
              <a:buChar char="•"/>
            </a:pPr>
            <a:r>
              <a:rPr lang="tr-TR" sz="1600" dirty="0" smtClean="0"/>
              <a:t>Üzerinde değişiklik yaptığımız belgeyi aynı klasörde ve aynı adla saklamak için ilk defa kaydederken kullandığımız yolu kullan.</a:t>
            </a:r>
          </a:p>
          <a:p>
            <a:pPr marL="285750" indent="-285750">
              <a:buFont typeface="Arial" pitchFamily="34" charset="0"/>
              <a:buChar char="•"/>
            </a:pPr>
            <a:r>
              <a:rPr lang="tr-TR" sz="1600" dirty="0" smtClean="0"/>
              <a:t>Üzerinde değişiklik yaptığımız belgeyi farklı klasör veya farklı adla kaydetmek için </a:t>
            </a:r>
            <a:r>
              <a:rPr lang="tr-TR" sz="1600" b="1" dirty="0" smtClean="0"/>
              <a:t>Dosya sekmesinde&gt;Farklı Kaydet </a:t>
            </a:r>
            <a:r>
              <a:rPr lang="tr-TR" sz="1600" dirty="0" smtClean="0"/>
              <a:t>komutuna basmak gerekmektedir.</a:t>
            </a:r>
          </a:p>
        </p:txBody>
      </p:sp>
      <p:pic>
        <p:nvPicPr>
          <p:cNvPr id="13" name="Resim 12" descr="C:\Users\YILMAZ\AppData\Local\Temp\SNAGHTML23508a2.PNG"/>
          <p:cNvPicPr/>
          <p:nvPr/>
        </p:nvPicPr>
        <p:blipFill>
          <a:blip r:embed="rId13">
            <a:extLst>
              <a:ext uri="{28A0092B-C50C-407E-A947-70E740481C1C}">
                <a14:useLocalDpi xmlns:a14="http://schemas.microsoft.com/office/drawing/2010/main" val="0"/>
              </a:ext>
            </a:extLst>
          </a:blip>
          <a:srcRect/>
          <a:stretch>
            <a:fillRect/>
          </a:stretch>
        </p:blipFill>
        <p:spPr bwMode="auto">
          <a:xfrm>
            <a:off x="2316480" y="2754392"/>
            <a:ext cx="5760720" cy="3881120"/>
          </a:xfrm>
          <a:prstGeom prst="rect">
            <a:avLst/>
          </a:prstGeom>
          <a:noFill/>
          <a:ln>
            <a:noFill/>
          </a:ln>
        </p:spPr>
      </p:pic>
      <p:pic>
        <p:nvPicPr>
          <p:cNvPr id="5122" name="Picture 2" descr="C:\Users\YILMAZ\AppData\Local\Temp\SNAGHTML16ecc79.PN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1014" y="3124200"/>
            <a:ext cx="1866900" cy="26003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Users\YILMAZ\AppData\Local\Temp\SNAGHTML176c893.PN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76489" y="2754392"/>
            <a:ext cx="4998719" cy="3887892"/>
          </a:xfrm>
          <a:prstGeom prst="rect">
            <a:avLst/>
          </a:prstGeom>
          <a:noFill/>
          <a:extLst>
            <a:ext uri="{909E8E84-426E-40DD-AFC4-6F175D3DCCD1}">
              <a14:hiddenFill xmlns:a14="http://schemas.microsoft.com/office/drawing/2010/main">
                <a:solidFill>
                  <a:srgbClr val="FFFFFF"/>
                </a:solidFill>
              </a14:hiddenFill>
            </a:ext>
          </a:extLst>
        </p:spPr>
      </p:pic>
      <p:sp>
        <p:nvSpPr>
          <p:cNvPr id="15" name="Dikdörtgen 14"/>
          <p:cNvSpPr/>
          <p:nvPr>
            <p:custDataLst>
              <p:tags r:id="rId6"/>
            </p:custDataLst>
          </p:nvPr>
        </p:nvSpPr>
        <p:spPr>
          <a:xfrm>
            <a:off x="381000" y="4200525"/>
            <a:ext cx="1447800" cy="233362"/>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16" name="Dikdörtgen 15"/>
          <p:cNvSpPr/>
          <p:nvPr>
            <p:custDataLst>
              <p:tags r:id="rId7"/>
            </p:custDataLst>
          </p:nvPr>
        </p:nvSpPr>
        <p:spPr>
          <a:xfrm>
            <a:off x="381000" y="3957638"/>
            <a:ext cx="1447800" cy="233362"/>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Tree>
    <p:custDataLst>
      <p:tags r:id="rId1"/>
    </p:custDataLst>
    <p:extLst>
      <p:ext uri="{BB962C8B-B14F-4D97-AF65-F5344CB8AC3E}">
        <p14:creationId xmlns:p14="http://schemas.microsoft.com/office/powerpoint/2010/main" val="3134000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512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6" grpId="0" animBg="1"/>
      <p:bldP spid="16"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Açık Belgeler Arasında Geçiş</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Açık belgeler arasında geçiş yapar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10</a:t>
            </a:fld>
            <a:endParaRPr lang="tr-TR"/>
          </a:p>
        </p:txBody>
      </p:sp>
      <p:sp>
        <p:nvSpPr>
          <p:cNvPr id="7" name="Metin kutusu 6"/>
          <p:cNvSpPr txBox="1"/>
          <p:nvPr>
            <p:custDataLst>
              <p:tags r:id="rId5"/>
            </p:custDataLst>
          </p:nvPr>
        </p:nvSpPr>
        <p:spPr>
          <a:xfrm>
            <a:off x="533400" y="1371600"/>
            <a:ext cx="7772400" cy="830997"/>
          </a:xfrm>
          <a:prstGeom prst="rect">
            <a:avLst/>
          </a:prstGeom>
          <a:noFill/>
        </p:spPr>
        <p:txBody>
          <a:bodyPr wrap="square" rtlCol="0">
            <a:spAutoFit/>
          </a:bodyPr>
          <a:lstStyle/>
          <a:p>
            <a:r>
              <a:rPr lang="tr-TR" sz="1600" dirty="0" smtClean="0"/>
              <a:t>Açık Word belgeleri arasından geçiş yapmak için </a:t>
            </a:r>
          </a:p>
          <a:p>
            <a:pPr marL="285750" indent="-285750">
              <a:buFont typeface="Arial" pitchFamily="34" charset="0"/>
              <a:buChar char="•"/>
            </a:pPr>
            <a:r>
              <a:rPr lang="tr-TR" sz="1600" b="1" dirty="0" smtClean="0"/>
              <a:t>Görev Çubuğu </a:t>
            </a:r>
          </a:p>
          <a:p>
            <a:pPr marL="285750" indent="-285750">
              <a:buFont typeface="Arial" pitchFamily="34" charset="0"/>
              <a:buChar char="•"/>
            </a:pPr>
            <a:r>
              <a:rPr lang="tr-TR" sz="1600" b="1" dirty="0" smtClean="0"/>
              <a:t>Görünüm&gt; Pencerelerde Geçiş Yap.</a:t>
            </a:r>
          </a:p>
        </p:txBody>
      </p:sp>
      <p:pic>
        <p:nvPicPr>
          <p:cNvPr id="2050" name="Picture 2" descr="C:\Users\YILMAZ\AppData\Local\Temp\SNAGHTML649cbd.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9858" y="2337391"/>
            <a:ext cx="6715125" cy="2028826"/>
          </a:xfrm>
          <a:prstGeom prst="rect">
            <a:avLst/>
          </a:prstGeom>
          <a:noFill/>
          <a:extLst>
            <a:ext uri="{909E8E84-426E-40DD-AFC4-6F175D3DCCD1}">
              <a14:hiddenFill xmlns:a14="http://schemas.microsoft.com/office/drawing/2010/main">
                <a:solidFill>
                  <a:srgbClr val="FFFFFF"/>
                </a:solidFill>
              </a14:hiddenFill>
            </a:ext>
          </a:extLst>
        </p:spPr>
      </p:pic>
      <p:pic>
        <p:nvPicPr>
          <p:cNvPr id="15" name="Resim 14" descr="C:\Users\YILMAZ\AppData\Local\Temp\SNAGHTML62984a.PNG"/>
          <p:cNvPicPr/>
          <p:nvPr/>
        </p:nvPicPr>
        <p:blipFill>
          <a:blip r:embed="rId12">
            <a:extLst>
              <a:ext uri="{28A0092B-C50C-407E-A947-70E740481C1C}">
                <a14:useLocalDpi xmlns:a14="http://schemas.microsoft.com/office/drawing/2010/main" val="0"/>
              </a:ext>
            </a:extLst>
          </a:blip>
          <a:srcRect/>
          <a:stretch>
            <a:fillRect/>
          </a:stretch>
        </p:blipFill>
        <p:spPr bwMode="auto">
          <a:xfrm>
            <a:off x="495300" y="2362200"/>
            <a:ext cx="3829050" cy="428625"/>
          </a:xfrm>
          <a:prstGeom prst="rect">
            <a:avLst/>
          </a:prstGeom>
          <a:noFill/>
          <a:ln>
            <a:noFill/>
          </a:ln>
        </p:spPr>
      </p:pic>
      <p:pic>
        <p:nvPicPr>
          <p:cNvPr id="2052" name="Picture 4" descr="C:\Users\YILMAZ\AppData\Local\Temp\SNAGHTML686153.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5807" y="2351567"/>
            <a:ext cx="5562600" cy="1905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56166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05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YILMAZ\AppData\Local\Temp\SNAGHTML1b3c559.PNG"/>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12769" y="2074904"/>
            <a:ext cx="4735033" cy="4790184"/>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Yardım Fonksiyonlarının Kullanımı</a:t>
            </a:r>
          </a:p>
        </p:txBody>
      </p:sp>
      <p:grpSp>
        <p:nvGrpSpPr>
          <p:cNvPr id="11" name="Grup 10"/>
          <p:cNvGrpSpPr/>
          <p:nvPr/>
        </p:nvGrpSpPr>
        <p:grpSpPr>
          <a:xfrm>
            <a:off x="0" y="0"/>
            <a:ext cx="9144000" cy="276999"/>
            <a:chOff x="0" y="0"/>
            <a:chExt cx="9144000" cy="381000"/>
          </a:xfrm>
        </p:grpSpPr>
        <p:sp>
          <p:nvSpPr>
            <p:cNvPr id="4" name="Dikdörtgen 3"/>
            <p:cNvSpPr/>
            <p:nvPr>
              <p:custDataLst>
                <p:tags r:id="rId12"/>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13"/>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4"/>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Yardım işlevini kullanır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11</a:t>
            </a:fld>
            <a:endParaRPr lang="tr-TR"/>
          </a:p>
        </p:txBody>
      </p:sp>
      <p:sp>
        <p:nvSpPr>
          <p:cNvPr id="15" name="Metin kutusu 14"/>
          <p:cNvSpPr txBox="1"/>
          <p:nvPr>
            <p:custDataLst>
              <p:tags r:id="rId5"/>
            </p:custDataLst>
          </p:nvPr>
        </p:nvSpPr>
        <p:spPr>
          <a:xfrm>
            <a:off x="522767" y="1219200"/>
            <a:ext cx="7772400" cy="830997"/>
          </a:xfrm>
          <a:prstGeom prst="rect">
            <a:avLst/>
          </a:prstGeom>
          <a:noFill/>
        </p:spPr>
        <p:txBody>
          <a:bodyPr wrap="square" rtlCol="0">
            <a:spAutoFit/>
          </a:bodyPr>
          <a:lstStyle/>
          <a:p>
            <a:r>
              <a:rPr lang="tr-TR" sz="1600" i="1" dirty="0" smtClean="0"/>
              <a:t>Microsoft Office programlarında Yardım penceresi klavyeden </a:t>
            </a:r>
            <a:r>
              <a:rPr lang="tr-TR" sz="1600" b="1" i="1" dirty="0" smtClean="0"/>
              <a:t>F1</a:t>
            </a:r>
            <a:r>
              <a:rPr lang="tr-TR" sz="1600" dirty="0" smtClean="0"/>
              <a:t> tuşu veya açık olan uygulama programının yani burada Word penceresinin sağ </a:t>
            </a:r>
            <a:r>
              <a:rPr lang="tr-TR" sz="1600" dirty="0"/>
              <a:t>üst </a:t>
            </a:r>
            <a:r>
              <a:rPr lang="tr-TR" sz="1600" dirty="0" smtClean="0"/>
              <a:t>köşesinde bulunan      yardım      düğmesi kullanılır.  </a:t>
            </a:r>
            <a:endParaRPr lang="tr-TR" sz="1600" dirty="0"/>
          </a:p>
        </p:txBody>
      </p:sp>
      <p:pic>
        <p:nvPicPr>
          <p:cNvPr id="16" name="Resim 15"/>
          <p:cNvPicPr/>
          <p:nvPr/>
        </p:nvPicPr>
        <p:blipFill>
          <a:blip r:embed="rId18"/>
          <a:stretch>
            <a:fillRect/>
          </a:stretch>
        </p:blipFill>
        <p:spPr>
          <a:xfrm>
            <a:off x="7285547" y="1535003"/>
            <a:ext cx="218440" cy="199390"/>
          </a:xfrm>
          <a:prstGeom prst="rect">
            <a:avLst/>
          </a:prstGeom>
        </p:spPr>
      </p:pic>
      <p:sp>
        <p:nvSpPr>
          <p:cNvPr id="17" name="Dikdörtgen 16"/>
          <p:cNvSpPr/>
          <p:nvPr>
            <p:custDataLst>
              <p:tags r:id="rId6"/>
            </p:custDataLst>
          </p:nvPr>
        </p:nvSpPr>
        <p:spPr>
          <a:xfrm>
            <a:off x="1524000" y="2514600"/>
            <a:ext cx="1676400" cy="216000"/>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18" name="Dikdörtgen 17"/>
          <p:cNvSpPr/>
          <p:nvPr>
            <p:custDataLst>
              <p:tags r:id="rId7"/>
            </p:custDataLst>
          </p:nvPr>
        </p:nvSpPr>
        <p:spPr>
          <a:xfrm>
            <a:off x="3780285" y="2966484"/>
            <a:ext cx="2087115" cy="265442"/>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19" name="Dikdörtgen 18"/>
          <p:cNvSpPr/>
          <p:nvPr>
            <p:custDataLst>
              <p:tags r:id="rId8"/>
            </p:custDataLst>
          </p:nvPr>
        </p:nvSpPr>
        <p:spPr>
          <a:xfrm>
            <a:off x="3006885" y="3581400"/>
            <a:ext cx="2403315" cy="1223962"/>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20" name="Dikdörtgen 19"/>
          <p:cNvSpPr/>
          <p:nvPr>
            <p:custDataLst>
              <p:tags r:id="rId9"/>
            </p:custDataLst>
          </p:nvPr>
        </p:nvSpPr>
        <p:spPr>
          <a:xfrm>
            <a:off x="3006885" y="4805362"/>
            <a:ext cx="2631915" cy="1290638"/>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21" name="Dikdörtgen 20"/>
          <p:cNvSpPr/>
          <p:nvPr>
            <p:custDataLst>
              <p:tags r:id="rId10"/>
            </p:custDataLst>
          </p:nvPr>
        </p:nvSpPr>
        <p:spPr>
          <a:xfrm>
            <a:off x="2779240" y="2272487"/>
            <a:ext cx="288000" cy="223838"/>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
        <p:nvSpPr>
          <p:cNvPr id="22" name="Dikdörtgen 21"/>
          <p:cNvSpPr/>
          <p:nvPr>
            <p:custDataLst>
              <p:tags r:id="rId11"/>
            </p:custDataLst>
          </p:nvPr>
        </p:nvSpPr>
        <p:spPr>
          <a:xfrm>
            <a:off x="1508051" y="2730599"/>
            <a:ext cx="1296000" cy="3908609"/>
          </a:xfrm>
          <a:prstGeom prst="rect">
            <a:avLst/>
          </a:prstGeom>
          <a:noFill/>
        </p:spPr>
        <p:style>
          <a:lnRef idx="2">
            <a:schemeClr val="accent2"/>
          </a:lnRef>
          <a:fillRef idx="1001">
            <a:schemeClr val="lt1"/>
          </a:fillRef>
          <a:effectRef idx="0">
            <a:schemeClr val="accent2"/>
          </a:effectRef>
          <a:fontRef idx="minor">
            <a:schemeClr val="dk1"/>
          </a:fontRef>
        </p:style>
        <p:txBody>
          <a:bodyPr rtlCol="0" anchor="ctr"/>
          <a:lstStyle/>
          <a:p>
            <a:pPr algn="ctr"/>
            <a:endParaRPr lang="tr-TR"/>
          </a:p>
        </p:txBody>
      </p:sp>
    </p:spTree>
    <p:custDataLst>
      <p:tags r:id="rId1"/>
    </p:custDataLst>
    <p:extLst>
      <p:ext uri="{BB962C8B-B14F-4D97-AF65-F5344CB8AC3E}">
        <p14:creationId xmlns:p14="http://schemas.microsoft.com/office/powerpoint/2010/main" val="2175835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2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Belgeyi Kapamak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Belgeyi kapatır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12</a:t>
            </a:fld>
            <a:endParaRPr lang="tr-TR"/>
          </a:p>
        </p:txBody>
      </p:sp>
      <p:sp>
        <p:nvSpPr>
          <p:cNvPr id="7" name="Metin kutusu 6"/>
          <p:cNvSpPr txBox="1"/>
          <p:nvPr>
            <p:custDataLst>
              <p:tags r:id="rId5"/>
            </p:custDataLst>
          </p:nvPr>
        </p:nvSpPr>
        <p:spPr>
          <a:xfrm>
            <a:off x="533400" y="1371600"/>
            <a:ext cx="7772400" cy="1569660"/>
          </a:xfrm>
          <a:prstGeom prst="rect">
            <a:avLst/>
          </a:prstGeom>
          <a:noFill/>
        </p:spPr>
        <p:txBody>
          <a:bodyPr wrap="square" rtlCol="0">
            <a:spAutoFit/>
          </a:bodyPr>
          <a:lstStyle/>
          <a:p>
            <a:r>
              <a:rPr lang="tr-TR" sz="1600" dirty="0" smtClean="0"/>
              <a:t>Word belgesini kaydettikten sonra kapatmak için</a:t>
            </a:r>
          </a:p>
          <a:p>
            <a:endParaRPr lang="tr-TR" sz="1600" dirty="0"/>
          </a:p>
          <a:p>
            <a:pPr marL="342900" lvl="0" indent="-342900">
              <a:buFont typeface="+mj-lt"/>
              <a:buAutoNum type="arabicPeriod"/>
            </a:pPr>
            <a:r>
              <a:rPr lang="tr-TR" sz="1600" dirty="0"/>
              <a:t>Alt +F4</a:t>
            </a:r>
          </a:p>
          <a:p>
            <a:pPr marL="342900" lvl="0" indent="-342900">
              <a:buFont typeface="+mj-lt"/>
              <a:buAutoNum type="arabicPeriod"/>
            </a:pPr>
            <a:r>
              <a:rPr lang="tr-TR" sz="1600" dirty="0" smtClean="0"/>
              <a:t>Kapat </a:t>
            </a:r>
            <a:r>
              <a:rPr lang="tr-TR" sz="1600" dirty="0"/>
              <a:t>düğmesi </a:t>
            </a:r>
            <a:r>
              <a:rPr lang="tr-TR" sz="1600" dirty="0" smtClean="0"/>
              <a:t>(          </a:t>
            </a:r>
            <a:r>
              <a:rPr lang="tr-TR" sz="1600" dirty="0"/>
              <a:t>)</a:t>
            </a:r>
          </a:p>
          <a:p>
            <a:pPr marL="342900" lvl="0" indent="-342900">
              <a:buFont typeface="+mj-lt"/>
              <a:buAutoNum type="arabicPeriod"/>
            </a:pPr>
            <a:r>
              <a:rPr lang="tr-TR" sz="1600" dirty="0"/>
              <a:t>Dosya Sekmesi &gt; Çıkış </a:t>
            </a:r>
            <a:r>
              <a:rPr lang="tr-TR" sz="1600" dirty="0" smtClean="0"/>
              <a:t>(              </a:t>
            </a:r>
            <a:r>
              <a:rPr lang="tr-TR" sz="1600" dirty="0"/>
              <a:t>) </a:t>
            </a:r>
            <a:r>
              <a:rPr lang="tr-TR" sz="1600" dirty="0" smtClean="0"/>
              <a:t>seçenekleri kullanılır.</a:t>
            </a:r>
            <a:endParaRPr lang="tr-TR" sz="1600" dirty="0"/>
          </a:p>
          <a:p>
            <a:endParaRPr lang="tr-TR" sz="1600" dirty="0" smtClean="0"/>
          </a:p>
        </p:txBody>
      </p:sp>
      <p:pic>
        <p:nvPicPr>
          <p:cNvPr id="13" name="Resim 12"/>
          <p:cNvPicPr/>
          <p:nvPr/>
        </p:nvPicPr>
        <p:blipFill>
          <a:blip r:embed="rId11"/>
          <a:stretch>
            <a:fillRect/>
          </a:stretch>
        </p:blipFill>
        <p:spPr>
          <a:xfrm>
            <a:off x="2363336" y="2231995"/>
            <a:ext cx="343535" cy="151130"/>
          </a:xfrm>
          <a:prstGeom prst="rect">
            <a:avLst/>
          </a:prstGeom>
        </p:spPr>
      </p:pic>
      <p:pic>
        <p:nvPicPr>
          <p:cNvPr id="14" name="Resim 13"/>
          <p:cNvPicPr/>
          <p:nvPr/>
        </p:nvPicPr>
        <p:blipFill>
          <a:blip r:embed="rId12"/>
          <a:stretch>
            <a:fillRect/>
          </a:stretch>
        </p:blipFill>
        <p:spPr>
          <a:xfrm>
            <a:off x="2955452" y="2404636"/>
            <a:ext cx="445770" cy="219075"/>
          </a:xfrm>
          <a:prstGeom prst="rect">
            <a:avLst/>
          </a:prstGeom>
        </p:spPr>
      </p:pic>
    </p:spTree>
    <p:custDataLst>
      <p:tags r:id="rId1"/>
    </p:custDataLst>
    <p:extLst>
      <p:ext uri="{BB962C8B-B14F-4D97-AF65-F5344CB8AC3E}">
        <p14:creationId xmlns:p14="http://schemas.microsoft.com/office/powerpoint/2010/main" val="37160426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Belge Görünümleri</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Word belgesindeki değişik görünümlerde çalışabilir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13</a:t>
            </a:fld>
            <a:endParaRPr lang="tr-TR"/>
          </a:p>
        </p:txBody>
      </p:sp>
      <p:sp>
        <p:nvSpPr>
          <p:cNvPr id="7" name="Metin kutusu 6"/>
          <p:cNvSpPr txBox="1"/>
          <p:nvPr>
            <p:custDataLst>
              <p:tags r:id="rId5"/>
            </p:custDataLst>
          </p:nvPr>
        </p:nvSpPr>
        <p:spPr>
          <a:xfrm>
            <a:off x="533400" y="1371600"/>
            <a:ext cx="7772400" cy="1323439"/>
          </a:xfrm>
          <a:prstGeom prst="rect">
            <a:avLst/>
          </a:prstGeom>
          <a:noFill/>
        </p:spPr>
        <p:txBody>
          <a:bodyPr wrap="square" rtlCol="0">
            <a:spAutoFit/>
          </a:bodyPr>
          <a:lstStyle/>
          <a:p>
            <a:r>
              <a:rPr lang="tr-TR" sz="1600" dirty="0" smtClean="0"/>
              <a:t>Word ekranın farklı görünümlerde çalışmak için</a:t>
            </a:r>
          </a:p>
          <a:p>
            <a:endParaRPr lang="tr-TR" sz="1600" dirty="0"/>
          </a:p>
          <a:p>
            <a:pPr marL="342900" lvl="0" indent="-342900">
              <a:buFont typeface="+mj-lt"/>
              <a:buAutoNum type="arabicPeriod"/>
            </a:pPr>
            <a:r>
              <a:rPr lang="tr-TR" sz="1600" b="1" dirty="0"/>
              <a:t>Görünüm sekmesi </a:t>
            </a:r>
            <a:r>
              <a:rPr lang="tr-TR" sz="1600" b="1" dirty="0" smtClean="0"/>
              <a:t>&gt;Belge Görünümleri</a:t>
            </a:r>
            <a:endParaRPr lang="tr-TR" sz="1600" b="1" dirty="0"/>
          </a:p>
          <a:p>
            <a:pPr marL="342900" lvl="0" indent="-342900">
              <a:buFont typeface="+mj-lt"/>
              <a:buAutoNum type="arabicPeriod"/>
            </a:pPr>
            <a:r>
              <a:rPr lang="tr-TR" sz="1600" dirty="0" smtClean="0"/>
              <a:t>Belgenin sağ alt köşesindeki görünüm komutları kullanılır.</a:t>
            </a:r>
            <a:endParaRPr lang="tr-TR" sz="1600" dirty="0"/>
          </a:p>
          <a:p>
            <a:endParaRPr lang="tr-TR" sz="1600" dirty="0" smtClean="0"/>
          </a:p>
        </p:txBody>
      </p:sp>
      <p:pic>
        <p:nvPicPr>
          <p:cNvPr id="1026" name="Picture 2" descr="C:\Users\YILMAZ\AppData\Local\Temp\SNAGHTML106b59d.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3400" y="4191000"/>
            <a:ext cx="3114675" cy="2571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YILMAZ\AppData\Local\Temp\SNAGHTML1191d36.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3400" y="2590800"/>
            <a:ext cx="3571875" cy="13525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76246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Büyültme/Yakınlaştırma Araçlarının Kullanımı</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Büyütme ve yakınlaştırma araçlarını kullanır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14</a:t>
            </a:fld>
            <a:endParaRPr lang="tr-TR"/>
          </a:p>
        </p:txBody>
      </p:sp>
      <p:sp>
        <p:nvSpPr>
          <p:cNvPr id="7" name="Metin kutusu 6"/>
          <p:cNvSpPr txBox="1"/>
          <p:nvPr>
            <p:custDataLst>
              <p:tags r:id="rId5"/>
            </p:custDataLst>
          </p:nvPr>
        </p:nvSpPr>
        <p:spPr>
          <a:xfrm>
            <a:off x="533400" y="1371600"/>
            <a:ext cx="7772400" cy="1077218"/>
          </a:xfrm>
          <a:prstGeom prst="rect">
            <a:avLst/>
          </a:prstGeom>
          <a:noFill/>
        </p:spPr>
        <p:txBody>
          <a:bodyPr wrap="square" rtlCol="0">
            <a:spAutoFit/>
          </a:bodyPr>
          <a:lstStyle/>
          <a:p>
            <a:r>
              <a:rPr lang="tr-TR" sz="1600" dirty="0" smtClean="0"/>
              <a:t>Word belgesini büyütmek veya küçültmek için</a:t>
            </a:r>
          </a:p>
          <a:p>
            <a:endParaRPr lang="tr-TR" sz="1600" dirty="0"/>
          </a:p>
          <a:p>
            <a:pPr marL="342900" lvl="0" indent="-342900">
              <a:buFont typeface="+mj-lt"/>
              <a:buAutoNum type="arabicPeriod"/>
            </a:pPr>
            <a:r>
              <a:rPr lang="tr-TR" sz="1600" b="1" dirty="0" smtClean="0"/>
              <a:t>Görünüm sekmesi&gt;Yakınlaştır </a:t>
            </a:r>
            <a:r>
              <a:rPr lang="tr-TR" sz="1600" dirty="0" smtClean="0"/>
              <a:t>komut grubu.</a:t>
            </a:r>
            <a:endParaRPr lang="tr-TR" sz="1600" dirty="0"/>
          </a:p>
          <a:p>
            <a:pPr marL="342900" lvl="0" indent="-342900">
              <a:buFont typeface="+mj-lt"/>
              <a:buAutoNum type="arabicPeriod"/>
            </a:pPr>
            <a:r>
              <a:rPr lang="tr-TR" sz="1600" dirty="0" smtClean="0"/>
              <a:t>Belgenin sağ alt köşesi Durum Çubuğunda bulunan yakınlaştırma aracı kullanılır.</a:t>
            </a:r>
          </a:p>
        </p:txBody>
      </p:sp>
      <p:pic>
        <p:nvPicPr>
          <p:cNvPr id="2050" name="Picture 2" descr="C:\Users\YILMAZ\AppData\Local\Temp\SNAGHTML1127ec5.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3400" y="2452362"/>
            <a:ext cx="2590800" cy="1352550"/>
          </a:xfrm>
          <a:prstGeom prst="rect">
            <a:avLst/>
          </a:prstGeom>
          <a:noFill/>
          <a:extLst>
            <a:ext uri="{909E8E84-426E-40DD-AFC4-6F175D3DCCD1}">
              <a14:hiddenFill xmlns:a14="http://schemas.microsoft.com/office/drawing/2010/main">
                <a:solidFill>
                  <a:srgbClr val="FFFFFF"/>
                </a:solidFill>
              </a14:hiddenFill>
            </a:ext>
          </a:extLst>
        </p:spPr>
      </p:pic>
      <p:pic>
        <p:nvPicPr>
          <p:cNvPr id="15" name="Resim 14" descr="C:\Users\YILMAZ\AppData\Local\Temp\SNAGHTML1a964e2.PNG"/>
          <p:cNvPicPr/>
          <p:nvPr/>
        </p:nvPicPr>
        <p:blipFill>
          <a:blip r:embed="rId12">
            <a:extLst>
              <a:ext uri="{28A0092B-C50C-407E-A947-70E740481C1C}">
                <a14:useLocalDpi xmlns:a14="http://schemas.microsoft.com/office/drawing/2010/main" val="0"/>
              </a:ext>
            </a:extLst>
          </a:blip>
          <a:srcRect/>
          <a:stretch>
            <a:fillRect/>
          </a:stretch>
        </p:blipFill>
        <p:spPr bwMode="auto">
          <a:xfrm>
            <a:off x="4664041" y="2819400"/>
            <a:ext cx="3705225" cy="3362325"/>
          </a:xfrm>
          <a:prstGeom prst="rect">
            <a:avLst/>
          </a:prstGeom>
          <a:noFill/>
          <a:ln>
            <a:noFill/>
          </a:ln>
        </p:spPr>
      </p:pic>
      <p:pic>
        <p:nvPicPr>
          <p:cNvPr id="2052" name="Picture 4" descr="C:\Users\YILMAZ\AppData\Local\Temp\SNAGHTML11318f1.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3400" y="3843122"/>
            <a:ext cx="3114675" cy="25717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82526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Araç Çubuklarını Göstermek/Gizlemek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Araç çubuklarını gizleyebilir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15</a:t>
            </a:fld>
            <a:endParaRPr lang="tr-TR"/>
          </a:p>
        </p:txBody>
      </p:sp>
      <p:sp>
        <p:nvSpPr>
          <p:cNvPr id="7" name="Metin kutusu 6"/>
          <p:cNvSpPr txBox="1"/>
          <p:nvPr>
            <p:custDataLst>
              <p:tags r:id="rId5"/>
            </p:custDataLst>
          </p:nvPr>
        </p:nvSpPr>
        <p:spPr>
          <a:xfrm>
            <a:off x="533400" y="1371600"/>
            <a:ext cx="7772400" cy="338554"/>
          </a:xfrm>
          <a:prstGeom prst="rect">
            <a:avLst/>
          </a:prstGeom>
          <a:noFill/>
        </p:spPr>
        <p:txBody>
          <a:bodyPr wrap="square" rtlCol="0">
            <a:spAutoFit/>
          </a:bodyPr>
          <a:lstStyle/>
          <a:p>
            <a:r>
              <a:rPr lang="tr-TR" sz="1600" dirty="0" smtClean="0"/>
              <a:t>Şeridi geçici olarak gizlemek etkin şeridi </a:t>
            </a:r>
            <a:r>
              <a:rPr lang="tr-TR" sz="1600" b="1" dirty="0" smtClean="0"/>
              <a:t>Çift tıkla</a:t>
            </a:r>
          </a:p>
        </p:txBody>
      </p:sp>
      <p:pic>
        <p:nvPicPr>
          <p:cNvPr id="15" name="Resim 14" descr="C:\Users\YILMAZ\AppData\Local\Temp\SNAGHTML760511.PNG"/>
          <p:cNvPicPr/>
          <p:nvPr/>
        </p:nvPicPr>
        <p:blipFill>
          <a:blip r:embed="rId11">
            <a:extLst>
              <a:ext uri="{28A0092B-C50C-407E-A947-70E740481C1C}">
                <a14:useLocalDpi xmlns:a14="http://schemas.microsoft.com/office/drawing/2010/main" val="0"/>
              </a:ext>
            </a:extLst>
          </a:blip>
          <a:srcRect/>
          <a:stretch>
            <a:fillRect/>
          </a:stretch>
        </p:blipFill>
        <p:spPr bwMode="auto">
          <a:xfrm>
            <a:off x="685800" y="1828800"/>
            <a:ext cx="5760720" cy="3218815"/>
          </a:xfrm>
          <a:prstGeom prst="rect">
            <a:avLst/>
          </a:prstGeom>
          <a:noFill/>
          <a:ln>
            <a:noFill/>
          </a:ln>
        </p:spPr>
      </p:pic>
    </p:spTree>
    <p:custDataLst>
      <p:tags r:id="rId1"/>
    </p:custDataLst>
    <p:extLst>
      <p:ext uri="{BB962C8B-B14F-4D97-AF65-F5344CB8AC3E}">
        <p14:creationId xmlns:p14="http://schemas.microsoft.com/office/powerpoint/2010/main" val="41301277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Yazdırılamayan Karakterlerin Gösterilmesi/Gizlenmesi</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Yazdırılamayan karakterleri görünür yapar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16</a:t>
            </a:fld>
            <a:endParaRPr lang="tr-TR"/>
          </a:p>
        </p:txBody>
      </p:sp>
      <p:sp>
        <p:nvSpPr>
          <p:cNvPr id="7" name="Metin kutusu 6"/>
          <p:cNvSpPr txBox="1"/>
          <p:nvPr>
            <p:custDataLst>
              <p:tags r:id="rId5"/>
            </p:custDataLst>
          </p:nvPr>
        </p:nvSpPr>
        <p:spPr>
          <a:xfrm>
            <a:off x="533400" y="1371600"/>
            <a:ext cx="7772400" cy="584775"/>
          </a:xfrm>
          <a:prstGeom prst="rect">
            <a:avLst/>
          </a:prstGeom>
          <a:noFill/>
        </p:spPr>
        <p:txBody>
          <a:bodyPr wrap="square" rtlCol="0">
            <a:spAutoFit/>
          </a:bodyPr>
          <a:lstStyle/>
          <a:p>
            <a:r>
              <a:rPr lang="tr-TR" sz="1600" dirty="0" smtClean="0"/>
              <a:t>Görünmeyen karakterleri görünür yapmak için              </a:t>
            </a:r>
            <a:r>
              <a:rPr lang="tr-TR" sz="1600" b="1" dirty="0" smtClean="0"/>
              <a:t>Tümünü göster </a:t>
            </a:r>
            <a:r>
              <a:rPr lang="tr-TR" sz="1600" dirty="0" smtClean="0"/>
              <a:t>komutuna tıklamamız gerekir. </a:t>
            </a:r>
          </a:p>
        </p:txBody>
      </p:sp>
      <p:pic>
        <p:nvPicPr>
          <p:cNvPr id="15" name="Resim 14"/>
          <p:cNvPicPr/>
          <p:nvPr/>
        </p:nvPicPr>
        <p:blipFill>
          <a:blip r:embed="rId11"/>
          <a:stretch>
            <a:fillRect/>
          </a:stretch>
        </p:blipFill>
        <p:spPr>
          <a:xfrm>
            <a:off x="4572000" y="1302672"/>
            <a:ext cx="370840" cy="361315"/>
          </a:xfrm>
          <a:prstGeom prst="rect">
            <a:avLst/>
          </a:prstGeom>
        </p:spPr>
      </p:pic>
      <p:pic>
        <p:nvPicPr>
          <p:cNvPr id="3074" name="Picture 2" descr="C:\Users\YILMAZ\AppData\Local\Temp\SNAGHTML12b2a8e.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0341" y="1956374"/>
            <a:ext cx="6229350" cy="29337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Users\YILMAZ\AppData\Local\Temp\SNAGHTML12bb225.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0341" y="1956374"/>
            <a:ext cx="6429375" cy="330517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25996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MMPROD_THEME_BG_IMAGE" val=""/>
  <p:tag name="MMPROD_37646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NSOtG2h+Wo4Yea0YYdtfKHo7jUj/4DViKGpEh9qsJDQVsMSGrCR09I/8AvmpUWqsZ35iHyaesfpVoW5YrVqGxLc4rTQLFJbc1E1uVNb6afwxxwOrN91apX0kFrcpbySRJcSjdHE0iq7j/AGV3ZNaKMiTN8sN2208Q1fhs5LjgROzd1UbttSmx2r33f7VFgMjyR81RvD7VpyWZzVWWMrxipAoGGoHhrRMf03VAY6AM54/mqvJHWpNHVN46kDMkj71Tlj2tWrJHzVK5joKRfhhq7FH92oo19quQrWKRWyHJHtqxHHQkftViGGqRPxAkO7rVqCz3N0qeC39q1LO1RQxchEQb3kb5VCj7zNV7j2IobOOFGllkjggiBaSWV1VEA+8WZvuivBviX+1xpGg2k8PhGzXVrtJAgvrwbYWz/FEgbL+uWwPl/irzL48fHi/+KmpPonhx3tfCVtNsjZQfN1B/u73X+5n7iN16/Sl4V+H8U2sQXOqRo+EDvuT5t5+bbt6Db92vUpYdQhz1DCMnWnyQM65X4ofHC98zWNZuX0452W0aCKFF/uqibR+LZq5c/sw6nGkVxPd3c86JtH7xmbA/hXNfSvhKaz02FLeCBIlxtCqK9LsrOO+tU3w/NnlVHzGodXXQ9ylgI294+M7H9nvxppNn5+n6pqunpcHZttp3XzlT7u7Dcla35PGHxg+Gs/73V4/GGlxBGK3MCu+30Ztu8fXcfu19veHvCsUltLFLAJYid3lt3qLVfgLpsl6t3BA8DZ3mJ3+V/mzg+1HMp7o0lgIbRPFvh38UtA+Jlp/xLrkJqkMKvdabL8ssLfxfUbu61001vu3HHzVQ+Ln7J4a8t/GHgZB4f8b6e/mwsp/0e/X+KGZR03fd3f7XzVF4P8WR+NvD0Gox27WF0rvb32nyt+9s7lOJY291b9Ntc0oreJ5VWhOi9R7x7TyKjeP5ulXrlTvziq7x96yMCnNGP+BVUmWrsymqr0mBSK1Vmj3VoOtVXj+9SAvRx1bjjpIY6tRR1BXxCxx1ft4aihhrRhjoWppsS20PtXmn7VPiiTwv8Hri3t5ZYrjVp0stsBw7x/ecf8CVcf8AAq9Xs49x714P+2ZDHdaf4LsRI6Tma5lH8S7dqL/OuuhFOokY1HofO3gFpJr61uLa3EXlDyVlkCthj8zfXaPlr3OaxFvbW8ifLsAQ8LXlnhLSxY6lAkW6VvM3bsc//Wr2GaMyWjx4DN/KvQxdRu0DfAUkryLejSXEc8En3kA+9Xvfw3jF9NbiVyqsN2+vJvDOima1i8xBGgx8znbur2LwTara7BGSr5ChlfctcEIyZ9JCcUrHu2m6PZ2Ig2JI7uOdu3/IrpodHtb5TKUVONsa55H1xWDolrczWls4bfgbSzen92tI3kzJ5YjXzUO0bY/l/wDQq7YWS1RyNTk9yl4k0X7NbPkhkP8AKvkDxhYnwf8AtD3CInkaX4s00XUe0fK95B8r/js2n/gVfYOu3E1xbeXISxYcqydK+Z/2kNLgV/BuquNs9hrsKxsp2tiRGRh/wJttcuntOVGWJTlR97oZssYbdkVVlh+9WtNCVdhj5s1A8frXNJWPG+yY00Py/wB7iqDrs4rZnj21Skh71BJnND/wGqskfzcVpOtVZo6AL0S1ft46qwrWlBHtFYmkdiWKP7tXYYxUMS81dt491bL4Si7ZR7dvBr56/a4kS18aeCo5HDq1lMxRQGWP51Pzehb+H2WvpPSoRJcxIf4nVWr4o1m8HjLxR4lvr2Odp7nXJ0XaW3Q4dlX6BQqrWlGXJUTN6WFeIhLW1jO8JRyr4guLjz/P3/c3H7v+7XpF/cT2emtLbwefdY4Xd8u6vL/BUwh8Y6pZ5+S2c7tw9fu/+O19AeANPstYScXKb3cMic9K7KjUp8zOihBqlyrc89t9L0RiNT+Ivi+WysscRLOYkjH91FFRarY+Do2g8QfCn4z6q8nmbBZ6raXCQl/7iXDqqH7rcbv4a9Guf2a4da1u31GeC3v9RhJVFupG8pV/2Owr1v4ffBbRfCHhLUvD9x4O0xNE1aQXF/BFcuPPkH3X2oqnevzbTu+XdXXTqK3Yh0pcxxvwN+P3ixdWg07xFfxXkrExFoBs/wD1n/ar3n4ufFTWPhloEV9BAbq6nTMCsfvtivi7XPDMHw/+KL3OhvPFpzXaKLWebe8X/Au5r6r+MfwlP7Qnw90W0k1W60ieC0laN7V+ZH2qu3du4+rVzqU29D1uS1K557oX7Tnxv8dToLP4VT+RHnzrqJFaFk/vby3X/d5/2ateK/E0Hxc8IeF5Liyl0jUYfElpa6ppk52vDMm9+/OGCq49mryXwz+z18RPhVomPAXi3xB/wk9td7xbam7xW08AHzQvFueNyWLfvFYfdWvadNsbi6urDWb22lsr2+k864ikTbyls6fN/utK3/fNXWcY+p5T5/ZvsWrmPdIxI+8fSqtxH/3zWhOvzZqpOvFeXc8xGPOv0qpNH8taU0e5lqncLtHSkyzLmXjFVX96vT1VmWpuQX7aP561EX7tUbSP5qvovSst2bE9uvNaVvHVK2/hrShWtLgX7L5XQ/xKa+Hf2itJ1Dwn8TPEMVl5q6dLqT3120A+eKGcJKr7R2++N3+zX3FB8tecfG34Q3PjKS18U6HHF/ben2rwXaOdvn2w5+XPBK/N8rdRThozuwlVU5OL6nzWLOzh8UXGp2c5lgnt4kj2/dZNu5W/KvTPAt5Jp8qTEnb3rzN9kl+s6fMroNrKNu75f7vau30O6NvYJH97ncGavRS5kbwqKnOx9H+C/FAuJ4EPzKx3hcV6/qrRQ6Bdaje3nkJHAcN6fLXzP8M5nmnil/5ZgrlmO2u58efECy1LwxcWQkzmMxbZB8rfw/ifmojf4T0KlWkrM+c11qfxVrzauiRvobzZTzc7pAD9/wBq+5vh5fbvB3hy+E0P2Tz/AC02SbiFIb71fnTYfs86xr98Ro11qDw6ZB/ojNcSDyY933eDg46DI/76r6n+AHgkrp2mS614nvp7e6tPPs7aIhIUmO4Avjk7PT1b/ZrZQklsYfWYzfLfQ+qtWsbSeJpJIo9/Z8fN/wDXrxD4hWpuPEmjOJXW3so7h0iU7VdnCp83rt+avUNO1GX+w4rW4kEt1D8jyKRj615f4lmF1qpx91E27fT5jXLV1Ma7VOm7dTDkXdxVW4X5atdmqCX7tcV7ngmXMu2qVytaE681UkXcuaGykZMy1Vf0q7cL/wACqlJ1qQZr233avItU7fpV+KoQyzbrzWlCtULdecDNaFv1qyy5bLtbit7SofMfy3wyOCp4/hK7ayLZa5z4ufELXPhz4Nlv/C2jWviHxKwd7fTrssqyImN/yjaSfm4HeqpU51JWjuZyaitT4+jj8t2Cjd5Llf8AawDXUWFxG1n5W/a4Zfm/2a5jR75NYsIb+IhluU811Ufcc/MyY7bW+Xa1TrIY7vptVf4s16VL3fdkdUpdT6I+Dlnb+ItHurB5/st1GN6OoX5z6NmvLPiTpvjvw743ntRLpV/pchDWS3kjQr/tbnCsD+la3w38WR2c3lEpE5Krvx8y16DeWo8bJLZahEv2V9v73+JT6rWjTjqgpTU37xk/Dm++OWm/vNO8HaFq+kon+kQQX0S5T+Ftz7c/xfMrV3d5rnj3RbBLK8+E0lhpEMTvZf2LeQSzQtjOf9b8+7/a7tXnUPwV8YeHZUk8GeM761ieTlVnKY/754r1zwP4d8X+H7H7Z4z8UXGvSxn5IJX+7j6df4f4a1ckoX6nqOtTcOVxRH8Lvig3jrwo+viO6tUUbJIrtGiljf0ZT3q/FIbiFZz/AMtBv+b0rDmbzr+60+zQImq3Rmk2pswu7Lv+X/oVdLMojXCDagG0L/s159Z6HjVKnMlDsZzqPm+tV5etW3XluarzL8rVxowM2delUZl3ZrRnqm/3aopGVcruZqoSfeNaVyvzcZqhJ8p7VBUtjXt4/wDgNaMaj5RVWBavwxluxqIFFq3X5lrRt4/QVBa2pbbx/wABWqvifxx4Y+HwT/hI9WjsrhxujsYo3uLuT/dhjVn/ABZcf7VdMacpu0dybnS2Nq8zqiJuLdFWvJfH+vQeIPES3ul38d7Z2CJDBPbTBonfDvLtYcH5lYf8Brxb44ftparqVhq/hzwHZW2kabeQvaPr1zJ5t8FK4fYiNshPzMAdzn+L5W6eB/C34+678JVi0TWI/wC2fC+d2z/ltb/IyZRv4h83Svfy3Deyqc9XQ4cS3OFon11r3wv0T4jXDXmkarF4L8Xz4lMkqbrHUWIPyzIPuO3yjzV+b5m3Z6V4v4qXXPhj4sTQPHvh+Xw/qTjfBJ5m+2vYt3+shlHDof73X1Va9a03WNL8XeF4tY0a8S6sN7NHOny7Yyfl3ehR2wV9JWruvBfxC0HxFpf/AAgXxV0mDxN4LupdsbXw3TabM21Fkjk+/HtG7oQy/wAPpXt4vAwqrnpb/mc1DFTh7stUeA3NmWs4rzTJ/NTG8bD/AOO1f0f4iXGnwobl5GiJRd6n0Ofwr0L4mfszXHwKuJ9X8FeI4vFnggwJezWNzMv9oabC5+VnUf6yPay/OuD83K45Pnb+HbLWl81PkZxyyHa1eBZwfJNHp251zwZ7b4b+P2nx+GpbeCeOCdHDxtIdyu275h7Vv6x8atL1TTPtMEiyyv8AI6xndvP+z7/7K185WfgHSPOl827uIFYfeyu4f7tek/DfwPo+m3UR09Jrh0Rpri+vJC32eEDc5XsPl3Vb5bCi5t8p618PfDGq/wDCOT+NdQtSLfUJ3soJV2/ukRudy9tz7v8Avn6VtStywre/Zm14R+EH0vVI3vLO7t08yC6+ZSh+8GPqu4DPdWiNTeN/A9x4Q1x7ZfMn06T57Wc9SODsfb/GuR9flP8AFXBicPOKVSOzJulJw6nJnrVeVR/u1pTW5Xqh/KqE8JVeleaWZtz/AOPVRlrQnjbd0qjMtBSM6461nS/erQvc1nP8zVncqWx0tjC7HAH0qv4r8feG/hzatJruoxQXCorixSRPOcH7vyllCBtrfMzD7teI/Hj9rGx+HGozeFfB3k6v4jgdotQ1DO6308/xRoekk3r/AAp/tNwvznqWvJ8QLhJLy5L3RcyurTmZ5Zj96R2dmLv/ACG0BQvFe1gsv9p79R2X5mUqiWh7P48/bC8R6hc3Fl4bsk07TvmBubOTdMB/v9f94rs/2f71eLajr134iunNzqkyTu5cwS/ulcn7zM2794fd2JrP1HwNDeRboZ3sbpG/d3Vv+6dD/tA9f/Har2160F9HoXiy3SKeT/j01JBiO4/wPtX0lKhGjpFWOdzb3Fm8Ny2rPPYDypU/1lt/D/8AWrJu7WPUkaKePyrjDYVhtzXQ3V5eeC7iJNRLXmku4QXWPng/3var+s6DBdQ/aIijREbhJEf/AEGtnS5tjM4rwB8UvEHwM1+f7KBe6LdN/p2lSn91Mu3DbW7HBK5/nX1L4S8b6J8SfDy6rolybiJG8meCfiaFtuV3j1x/F91ijf3q+ZtQ0WPUFWz1H5P4Y7rHy/7Iaud0l/FPwd8RHVNGdsYHmwON0U8ecgOv8Q757UU6s6Oj2MZ009VufpL4Y8YLa6Ba6yIUvIhAnh/XNPnga4iuU8orbzMnYPCrQn3iznLCsHxX8PbDTbS013Q45rvwjqQf7LOrF2spEOJbWZuodG+6zffQg9d1eb/s8fErTfjR/amhWSXFve6pYSpc6PG+Zo5oP9IhkRurBTGQCPm+Yg/er1j4e+Nbj4QeIptB1xpdV8H65CJZigDSQzIVUXKH5cuueRxvRlzzini6UcRSTh8S2/yOjCVfZT126mN4Y8L6PdXSPcSyXUrjiNX3Z/4DXpXjWzHgf4UatOkQt7rU0TTLWJ/l+adxF83f+KvZrT4f2ek3DuLCCKXu6R7Wb/arwz4nrc+PvizouniaS38M+EbuLUL6VEZlmvCD9nh/D/WN/uj+9Xy8YznNQR7z9nH94etfDDQLWCHWVvbk6NpFtpfnNqaTrbnTVRG2TM78IVUOMtx+5BNfD3xS/aAsvD3it9G+F2saoNBSd76/8UXcztLrN26KnnIHbIhUK2GPLs7n7u2ur/bg+NM2qeEpfhN4fV4Cklve+KLz5ttzIQJY7OM4UtCMrMT0JYBejV83/DqGPxFolxYSgfarZHVdo/g/iH519HToytyvY8Jrnqc7Ou8K/tGfE3QfE72//CWzalv+eO01MLcW8v8AdXnkBv8AZI+9XvHhH9sjw9rFg6eJ9Cv9J1S3P7/+zALiE+rKrsrj6c18cXljc31owtU36zprk26q23zk/ij+v8S+/wDvVdg8RRX01hr9uN9re/urhf8AnlcD72703fe/76rnq4OlP4kUqjR90+Fvj98PfGzP9i19LBlBbbqqfZlbH3vmPH/Ad1dRbX2n6xbtcaZf2mo2+dpns50mRT/dyGavzs03Sxb32rx26L5COsrwM25Dn/8Aax/wKt/4A+PLr4Sa94hu9Mje9062y1xpjuyrNCRvVQ3qv8JrzK2W2j+7Zqqh9zX8dZUi1d0HxFpnjjwrpfiDRp/tWk6lCJoJGG1sfxKy9ipVgf8AdqCeP5q+dceWXKb7o/MPT7NJnijOFQvs3f3Sf/r1pN4Xnk4gutkqfL/d2tWfYNuili/ixuH1FdJ9o+0W6Xce7e6btqn5c/db/wAer7imk4nCRWHiTW9F222qRtdWo+YNjdiuxtr3Q/Gmmf2XqADQzH5N33kPqh7Yqhp9xaatbLh0WXG0xyfK1P8A7L0+N2ScNZuTuKuPkLf3t3au2Ckut0QaWgSzWdzP4O8RkXEnlk6ffSruW6g/u/Ud6y9InuPh54nTQtRcyaHqBIs5ZR8sT/3Gat+Xw6df0kac07JLC3nWF/n57WYdOe6HoR6f8BqR7GH4p+CLywvV+za5CjKYmPzW11G3+R9Grp5X03X9WLsGo6PHIj20uVRjtH95GrL0pvLn/szUccH9zct8zL/s7e4/2a0PBGsHxX4NguLkhb+yf7FfJIdrhx91vrT9W003UKyjCyxnaWX1H3TVOKmudAYNz4JtbHV1v7SWXQ9XhcgXljOYSO24FGyM+v8AtV6ZoHxe1jT9DXw/4tiOvWaSJLBquf8ASIuNjK/ZwyM249fu9a5kQz61pH2mD/kKWafPE3/LaMdvqtU7OSPUtP8AtNlh0z++tnHzI38W30HtTglDYEj9Kvgr8X5fHvwchFmTrXiaxuE0FNjbvtRIb7NMzehQfP3HlNupf2hPip4b/Zk+FOm2K6PYeJPFdyxmtbW+DeXLcOMvczY5f/c44YLlV6fnp4C8eeJvhpr0WteDtcvNB1SMq7rbP8syg9JUO5JE/wB5T96rPxN8d6/8XvHF74m8T3/23VJD5flIuIYE+XakabuBj/LVxLCQVVzXwv8AMqUpzSh0Rzusa5qvii91HXNbuxdavqt21xdS+WFRnPZQPuIo2qB2CqKy/DDf8Ir8QonQ/uJ/ldV9/vda3rqx+y6dasMNiTcVWuf8RL5mppcx5Voj95a7pLks+xOxe8S6f/Z/iGUxfK4kbDKP8/7Nc9qmnR6dqFxqsUW7SNRIi1O1Vf8AUTfwzJ6fNz9frXZ+JGN9NBcAH99AJQyn+Po1Ztyws0ivZ4w9lMPs97E3bP8AFWcqauwaK2gwiHxdLpkkoZ7ixRoJf76n7rfmq1m/CtnkF1PcEPO8EMM+4dw8m6ta/h/sO0TVxln0nKrLn78BKt/47/7M1ZEOoxeFtJ8S3JXzHfUXS1jb70jnGwf+PUkoprm6Bsez/szfF60+HPhDS/CWvY/sOS4uGtdQUfPauZT9/wBUb5ee1fTl/b+SeoZT8wZTuVl9Vr4TTT4LGzsLZ3DywxrEF9/4q+iv2dPiM+sWT+C9UkDXlnGZdNlY/NLCPvw/VPvL7bv7tfL5pgFFe2pfM6YvSx8L2EiQ3aOT8mefpXQWcL2tzLaIe/2iBm/i/vD+v/Aa5BWKtn/x2up0rVEvI7dA6peW53QN7j+H+lerTf2TjNyO1t74sYJDa3gG5GU/e9qvW/iSPT5Psmv2/wC6cbROqbkpxsUvIILu3CQM43BcfMP7y1o2eySJYLmFLhPuncNystdsE0wGTzXHhuD+2tLI1fSYxm6gRsypH6r/ALta76xYWut6d4hsZybO+SFLrb829H+WKRvdW+Q/8Brn08Lra3yT6JdzaXKDwqfNF/u7aTW/Ct3qelS2tlbW+n6wIpvLjtuLe+UjLIF/gfeode25e2c1snOPQvUseB3Hh74x+K/Dr/8AHpqatPGrfdyV37v/AB6uyjt/LuWgk/iGwq3/AI6a8e1TxA0nirwJ4rQ7HuoFtp9o4WRDsbP/AH2Pyr2DVJBJdRSeeG37cKo+b7taUJppxBWKUMZ0PU4LyI7ufnVT97tWB4nU+CfE1vrlohXSL47biBX3KHNdNcrDcI0bnarH7zfw1VvLeDxFoN5pc4DS43JIo6N61rUjeOhVie402Ka3nuLMlonQXEEin5k/vBe4rO+2SLKkskW/zYQHlT5V3jj5l+ny/L/drN+GetS2skuhX5/fwblDMeq+la95G9rM0b/Kufur92oi04poFqi9fsGSzPKqx54+WsG9tXuJ3iOVXBrZnhkm0jB3b0O9dorNTF1tkJG5U2nn5mrWWpZa09v7Q0GAEtE9tIe3Y1M9vAoxvV7eQeU6tVDSW8m5lgP3HHKsanRSqvHJ8mPl20JXQGBdQ3C6VrmhSP5kT2snkMx6Ag7f++W21ytxP/bPjHw3ZO4a3hZLuXd93cI1f/Cuz1Jt2wgnzVDRHj+Eg7a82tbq4k1rVGtklnvTZxWNtDBGzuXMabyFHPy7ea86s7NGLR6XZXwvt+pz5aIB3j/3f71TaD4kufDPiHS/ENu/lXtpOJrSDG5nYfwt7MNyn2atH4S/DfXPjFdWuh+HntYoPMisTeXkm2FJHX5E43ElsMTtXjq1YPifQdX8F/EPV9B1dIYNU0p1t5pIpPNiVAN2+Ju4dWUg+jUOpCa5JG1pxV+h4yJAwwe9WbVirjB7/dqicR7jn5akjYqy49a81M5D0LwlrgaX7Ncksz/NHI394fw/5/u1vXkZZkeORlXP3Vry9LiRdsqEq+R83oa7/R9UGoWsTqfLc587b/A9d9Gd1Zlm3YKLd0dJ3Zgd3y/+zZrp7e6k1aJ7dJYlusfu2b5cH+FlYdDXEySJDuCFtx2/drW0NlUoTLsYHhWG2u2nLWxaZx/xA0e4tfDWqSPFJBKt2uoiLG3yZ92JVH+yQ+8f8C/u13q6k9xpFrLHIVV05VvvVoeKkj8SeG722VgZTA+1OrHhgf0Zq4LwlqH2jwvYZJY+SN/H8X8VJx9nU9UGzO3e4jZl2EP/ABbW3UlvcfZbpX+6jdeKx7O8ChQ8hZj8vzGrLTBovuHYPl+U1spFJmF4rUaH4pstXjO1JH2naK6zXmS8jinD/wCsQOFUVj+KLePVPC08ez96nzozfM1Q6VqBuPCunTkb2T5C2fm21kvdbj3JNnQb4zWcse4eYmUO6qKKY7yXBCqf4c/dqlol4LfWJQnypIOdx71PqDfZ7mU7Aq/zq73iVfQsWsm2Rtj7dy+tWJpnkTO75s1ljYr5TGSONx3UpvivmB8ruHDLTTRZW1y+Szheec7UjG8svtX1B+yd4Isvgp4IuvHmsWxt9Z2SatPdTx/MmVbyoU9vmXI7lv8AZWvBfhb4TT4gePbdLi2lutL0nZd3SKNyySk/uY29shnI/wBn3r63+KWpXGsW2jeCoIvls0Gp38Gf9Y/3reFvbcu/b/sivncdXcp2h0PQwsNeeSI/grpY8AeFde8b6xptrFa3N1da7eojhXjkm3k7l/3WVRtrl/Enw20K/wDgL8TPHHjPRbRte1K1bUF1duLi2m8tmVEPX73kwhPu4Fdn46mGteF/CvhSTS5LOfVZ0u9Ug+632aHB2Nj+9Js+X0Vqy/j14BbxpoegfDLQ9Y/sWLW5Y5dSurlDMtpaxlnXam5c5dPXojVw0pST0O2crrl5dT8zbyPa7MM7CMhqiik/2hux6VagnXU9NWcDbKDiVfR//r9aos3lt3ruTPmWadhIGDJyzdt1bWj3RsZtxfbA42yKv/jrf8B/+KrlLa68mVXH3e9bFtdBnXA3N/tVvTZJ3CzCMtI5G0FcbvSrulx3OqXKAfu4vvHaPmrlNMvtsiWxf7x2xtn/AMc/+Jrq/Dl0be5c7yiqN2/0rtpu8i0dl4fmsNP1OKNztdiyb5T1z94V5fpTP4buLjS5B81pO8O5v4gGwtdoniqC8lWwtokusld8s7bkSneKvB9xrj+bptjPNq0YCIixhlvV+6oG1vv9h6/LXVVXPC8ehb1MxL4bf+BcbTUkGoBdwIHX171pJ+zf8ariJSvw31q1Ujhrwx26/wDj7rRe/s+/FrS7Z57zw5FapECx3X8DMo/3Q7ZrzfrSh8TBRn2M1LwXSz2gy1w6HYifeP8AwGqPg+4uF8NXkVzBLb7JCQroyfKC3PPau/0bV4tP8PWR0KBbho0MtwqRulzcTwvsMzFEZ2hD8YDYH8XNd38AfhP4f8aNdeKdXkuoNL0p4vI0/TNGuGhvpCzbYWmmZYI0ZtyBWxksvfdWyrKbUkzknXcHqj52j1aJtTUJIjqf7pro9Qke4tllUFmHVdtfpH+2D8APB3iH4FL408DaFp2iS2FrFqEC6ZapCk9s6hhtSNcZG9DuHGM5J2jH5pWvih7hFLySQP3ZT8tb0ZqUL33N6croImnkRCI5WbH3fLPy1cm0nVFhglksJooJvmSWRNqP/wAC9f8AZpkmvXkiMDJvi7N5n3vyq7aXl1J4M8QAZZLOaC72R7e+6N/0Zf8Avla3ioPQ10R7j+ynrHhL4a6Xc6r4t8QWmlzz3ct3PHteV9o+SFNqKxPyrn5f71XvAf7RXw41L4w6trHijxBLpralevcRtc2kyqqJ8sKbgvoq18v6Try28NlcJLI9rcjhmHrWpqsNhq1u0V5apL/vfeX/AHa8x4OnOXNc6YV3GFon0j48/aQ8OalqviHU9PsL7VNSmcRaU04a2hSAcYdt2cN8z/KuQWXpXkd3+018XNN8RXevxR6LM88KW7LZ2yyvDGgYKFWTJO3cTnvmvLE+1+FZfkkkv9GJ+7L80sP+76itqO8jmiWeCRGQ9GU1cMJSXqEq85dbHhsF0dE1FpMf6LJjfEp6j29xV+8RXCSxsHicbg6r1H+f4aKK8un8JxMz3zlhmrNvcFW/2f7rUUVrHcg0PtRmCjO3H8Oa1v8AhIjcW/lyylX7sp/1g/xoorpUmaIuXXiCbw3o1ubIf8TK9O1JHwwgj9V9/wCVaOjaVp91fQajPZyR3FsApnluHlaaT+9y1FFdS3Qj0Xw38UPFnhGa9uLTxRqlhHOApjjuGZAoHy7lfcK9u+D/AO15odxB9i8eahJa3UT/AOj6x9n3LKD/AATKi8H/AG1X/e9SUVOIowa1R0qTPRfiN8EdA+IGiRfEz4XzWd14m00G7ju9MuikV+g+aWEtHyCy7vQg1zHib9pDwzp+g2t3rvjfxTreoT24f7LoepR6ZplgSFfy7ddjSTlPlXLqQdp3IvSiiuTD/C0eNjIrnifRPg74i2mofsX3UVnZ3Ws2Fv4fmt7iG1l82WGEq/kuj/xoilA4XoBkcdfyekbzLmcRDYiSMoZv7oNFFdcYpQdv60RpQbdx9vqwh2hEZ37sprqPCVxHdWfiuN5ViVtK3Bc/MzedGaKK2o/19x1s4XR5Hm8C2G/DIrso9q2fD+uvqOjQXD43AmF2X1FFFZwbv8ho1EvCyKD909VqpJC+mu0tqdqZ3PEw+VqKKuRZ/9k="/>
  <p:tag name="MMPROD_37646LOGO" val=""/>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MMPROD_UIDATA" val="&lt;database version=&quot;7.0&quot;&gt;&lt;object type=&quot;1&quot; unique_id=&quot;10001&quot;&gt;&lt;property id=&quot;20141&quot; value=&quot;MS Word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Uzem-Reji\Desktop\&quot;/&gt;&lt;property id=&quot;20224&quot; value=&quot;C:\Users\YILMAZ\Documents\My Adobe Presentations\Kelime İşlemci Modül 1&quot;/&gt;&lt;property id=&quot;20225&quot; value=&quot;D:\Ders Materyali\İçerik\Temel Bilgi Teknolojisi Kullanımı\TBTK\&quot;/&gt;&lt;property id=&quot;20226&quot; value=&quot;D:\Ders Materyali\İçerik\Temel Bilgi Teknolojisi Kullanımı\TBTK\Kelime İşlemci Modül 1.pptx&quot;/&gt;&lt;property id=&quot;20250&quot; value=&quot;7&quot;/&gt;&lt;property id=&quot;20251&quot; value=&quot;1&quot;/&gt;&lt;property id=&quot;20259&quot; value=&quot;0&quot;/&gt;&lt;property id=&quot;20501&quot; value=&quot;D:\Ders Materyali\İçerik\Temel Bilgi Teknolojisi Kullanımı\&quot;/&gt;&lt;object type=&quot;2&quot; unique_id=&quot;10559&quot;&gt;&lt;object type=&quot;3&quot; unique_id=&quot;10560&quot;&gt;&lt;property id=&quot;20148&quot; value=&quot;5&quot;/&gt;&lt;property id=&quot;20300&quot; value=&quot;Slide 1 - &amp;quot;Kelime İşlemci Word &amp;quot;&quot;/&gt;&lt;property id=&quot;20302&quot; value=&quot;0&quot;/&gt;&lt;property id=&quot;20303&quot; value=&quot;Mustafa YILMAZ&quot;/&gt;&lt;property id=&quot;20307&quot; value=&quot;256&quot;/&gt;&lt;property id=&quot;20309&quot; value=&quot;37646&quot;/&gt;&lt;property id=&quot;20312&quot; value=&quot;0&quot;/&gt;&lt;/object&gt;&lt;object type=&quot;3&quot; unique_id=&quot;10588&quot;&gt;&lt;property id=&quot;20148&quot; value=&quot;5&quot;/&gt;&lt;property id=&quot;20300&quot; value=&quot;Slide 4 - &amp;quot;Kelime İşlemci Uygulamasını Açmak ve Word Ekranı&amp;quot;&quot;/&gt;&lt;property id=&quot;20302&quot; value=&quot;0&quot;/&gt;&lt;property id=&quot;20303&quot; value=&quot;Mustafa YILMAZ&quot;/&gt;&lt;property id=&quot;20307&quot; value=&quot;257&quot;/&gt;&lt;property id=&quot;20309&quot; value=&quot;37646&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Mustafa YILMAZ&quot;/&gt;&lt;property id=&quot;20307&quot; value=&quot;258&quot;/&gt;&lt;property id=&quot;20309&quot; value=&quot;37646&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Mustafa YILMAZ&quot;/&gt;&lt;property id=&quot;20307&quot; value=&quot;260&quot;/&gt;&lt;property id=&quot;20309&quot; value=&quot;37646&quot;/&gt;&lt;property id=&quot;20312&quot; value=&quot;0&quot;/&gt;&lt;/object&gt;&lt;object type=&quot;3&quot; unique_id=&quot;36872&quot;&gt;&lt;property id=&quot;20148&quot; value=&quot;5&quot;/&gt;&lt;property id=&quot;20300&quot; value=&quot;Slide 6 - &amp;quot;Bir veya Birkaç Belgeyi Açmak&amp;quot;&quot;/&gt;&lt;property id=&quot;20302&quot; value=&quot;0&quot;/&gt;&lt;property id=&quot;20303&quot; value=&quot;Mustafa YILMAZ&quot;/&gt;&lt;property id=&quot;20307&quot; value=&quot;261&quot;/&gt;&lt;property id=&quot;20309&quot; value=&quot;37646&quot;/&gt;&lt;property id=&quot;20312&quot; value=&quot;0&quot;/&gt;&lt;/object&gt;&lt;object type=&quot;3&quot; unique_id=&quot;36949&quot;&gt;&lt;property id=&quot;20148&quot; value=&quot;5&quot;/&gt;&lt;property id=&quot;20300&quot; value=&quot;Slide 8 - &amp;quot;Belgeyi Sürücüde Bir Alana Saklamak&amp;quot;&quot;/&gt;&lt;property id=&quot;20302&quot; value=&quot;0&quot;/&gt;&lt;property id=&quot;20303&quot; value=&quot;Mustafa YILMAZ&quot;/&gt;&lt;property id=&quot;20307&quot; value=&quot;263&quot;/&gt;&lt;property id=&quot;20309&quot; value=&quot;37646&quot;/&gt;&lt;property id=&quot;20312&quot; value=&quot;0&quot;/&gt;&lt;/object&gt;&lt;object type=&quot;3&quot; unique_id=&quot;36998&quot;&gt;&lt;property id=&quot;20148&quot; value=&quot;5&quot;/&gt;&lt;property id=&quot;20300&quot; value=&quot;Slide 12 - &amp;quot;Belgeyi Kapamak&amp;quot;&quot;/&gt;&lt;property id=&quot;20302&quot; value=&quot;0&quot;/&gt;&lt;property id=&quot;20303&quot; value=&quot;Mustafa YILMAZ&quot;/&gt;&lt;property id=&quot;20307&quot; value=&quot;264&quot;/&gt;&lt;property id=&quot;20309&quot; value=&quot;37646&quot;/&gt;&lt;property id=&quot;20312&quot; value=&quot;0&quot;/&gt;&lt;/object&gt;&lt;object type=&quot;3&quot; unique_id=&quot;37297&quot;&gt;&lt;property id=&quot;20148&quot; value=&quot;5&quot;/&gt;&lt;property id=&quot;20300&quot; value=&quot;Slide 11 - &amp;quot;Yardım Fonksiyonlarının Kullanımı&amp;quot;&quot;/&gt;&lt;property id=&quot;20302&quot; value=&quot;0&quot;/&gt;&lt;property id=&quot;20303&quot; value=&quot;Mustafa YILMAZ&quot;/&gt;&lt;property id=&quot;20307&quot; value=&quot;267&quot;/&gt;&lt;property id=&quot;20309&quot; value=&quot;37646&quot;/&gt;&lt;property id=&quot;20312&quot; value=&quot;0&quot;/&gt;&lt;/object&gt;&lt;object type=&quot;3&quot; unique_id=&quot;37517&quot;&gt;&lt;property id=&quot;20148&quot; value=&quot;5&quot;/&gt;&lt;property id=&quot;20300&quot; value=&quot;Slide 5 - &amp;quot;Dosya Sekmesi&amp;quot;&quot;/&gt;&lt;property id=&quot;20302&quot; value=&quot;0&quot;/&gt;&lt;property id=&quot;20303&quot; value=&quot;Mustafa YILMAZ&quot;/&gt;&lt;property id=&quot;20307&quot; value=&quot;271&quot;/&gt;&lt;property id=&quot;20309&quot; value=&quot;37646&quot;/&gt;&lt;property id=&quot;20312&quot; value=&quot;0&quot;/&gt;&lt;/object&gt;&lt;object type=&quot;3&quot; unique_id=&quot;37518&quot;&gt;&lt;property id=&quot;20148&quot; value=&quot;5&quot;/&gt;&lt;property id=&quot;20300&quot; value=&quot;Slide 7 - &amp;quot;Yeni Belge Oluşturmak&amp;quot;&quot;/&gt;&lt;property id=&quot;20302&quot; value=&quot;0&quot;/&gt;&lt;property id=&quot;20303&quot; value=&quot;Mustafa YILMAZ&quot;/&gt;&lt;property id=&quot;20307&quot; value=&quot;272&quot;/&gt;&lt;property id=&quot;20309&quot; value=&quot;37646&quot;/&gt;&lt;property id=&quot;20312&quot; value=&quot;0&quot;/&gt;&lt;/object&gt;&lt;object type=&quot;3&quot; unique_id=&quot;37519&quot;&gt;&lt;property id=&quot;20148&quot; value=&quot;5&quot;/&gt;&lt;property id=&quot;20300&quot; value=&quot;Slide 9 - &amp;quot;Belgeyi Farklı Bir İsimle Saklamak&amp;quot;&quot;/&gt;&lt;property id=&quot;20302&quot; value=&quot;0&quot;/&gt;&lt;property id=&quot;20303&quot; value=&quot;Mustafa YILMAZ&quot;/&gt;&lt;property id=&quot;20307&quot; value=&quot;273&quot;/&gt;&lt;property id=&quot;20309&quot; value=&quot;37646&quot;/&gt;&lt;property id=&quot;20312&quot; value=&quot;0&quot;/&gt;&lt;/object&gt;&lt;object type=&quot;3&quot; unique_id=&quot;37520&quot;&gt;&lt;property id=&quot;20148&quot; value=&quot;5&quot;/&gt;&lt;property id=&quot;20300&quot; value=&quot;Slide 10 - &amp;quot;Açık Belgeler Arasında Geçiş&amp;quot;&quot;/&gt;&lt;property id=&quot;20302&quot; value=&quot;0&quot;/&gt;&lt;property id=&quot;20303&quot; value=&quot;Mustafa YILMAZ&quot;/&gt;&lt;property id=&quot;20307&quot; value=&quot;274&quot;/&gt;&lt;property id=&quot;20309&quot; value=&quot;37646&quot;/&gt;&lt;property id=&quot;20312&quot; value=&quot;0&quot;/&gt;&lt;/object&gt;&lt;object type=&quot;3&quot; unique_id=&quot;37521&quot;&gt;&lt;property id=&quot;20148&quot; value=&quot;5&quot;/&gt;&lt;property id=&quot;20300&quot; value=&quot;Slide 13 - &amp;quot;Belge Görünümleri&amp;quot;&quot;/&gt;&lt;property id=&quot;20302&quot; value=&quot;0&quot;/&gt;&lt;property id=&quot;20303&quot; value=&quot;Mustafa YILMAZ&quot;/&gt;&lt;property id=&quot;20307&quot; value=&quot;275&quot;/&gt;&lt;property id=&quot;20309&quot; value=&quot;37646&quot;/&gt;&lt;property id=&quot;20312&quot; value=&quot;0&quot;/&gt;&lt;/object&gt;&lt;object type=&quot;3&quot; unique_id=&quot;37522&quot;&gt;&lt;property id=&quot;20148&quot; value=&quot;5&quot;/&gt;&lt;property id=&quot;20300&quot; value=&quot;Slide 14 - &amp;quot;Büyültme/Yakınlaştırma Araçlarının Kullanımı&amp;quot;&quot;/&gt;&lt;property id=&quot;20302&quot; value=&quot;0&quot;/&gt;&lt;property id=&quot;20303&quot; value=&quot;Mustafa YILMAZ&quot;/&gt;&lt;property id=&quot;20307&quot; value=&quot;276&quot;/&gt;&lt;property id=&quot;20309&quot; value=&quot;37646&quot;/&gt;&lt;property id=&quot;20312&quot; value=&quot;0&quot;/&gt;&lt;/object&gt;&lt;object type=&quot;3&quot; unique_id=&quot;37523&quot;&gt;&lt;property id=&quot;20148&quot; value=&quot;5&quot;/&gt;&lt;property id=&quot;20300&quot; value=&quot;Slide 15 - &amp;quot;Araç Çubuklarını Göstermek/Gizlemek&amp;quot;&quot;/&gt;&lt;property id=&quot;20302&quot; value=&quot;0&quot;/&gt;&lt;property id=&quot;20303&quot; value=&quot;Mustafa YILMAZ&quot;/&gt;&lt;property id=&quot;20307&quot; value=&quot;277&quot;/&gt;&lt;property id=&quot;20309&quot; value=&quot;37646&quot;/&gt;&lt;property id=&quot;20312&quot; value=&quot;0&quot;/&gt;&lt;/object&gt;&lt;object type=&quot;3&quot; unique_id=&quot;37524&quot;&gt;&lt;property id=&quot;20148&quot; value=&quot;5&quot;/&gt;&lt;property id=&quot;20300&quot; value=&quot;Slide 16 - &amp;quot;Yazdırılamayan Karakterlerin Gösterilmesi/Gizlenmesi&amp;quot;&quot;/&gt;&lt;property id=&quot;20302&quot; value=&quot;0&quot;/&gt;&lt;property id=&quot;20303&quot; value=&quot;Mustafa YILMAZ&quot;/&gt;&lt;property id=&quot;20307&quot; value=&quot;278&quot;/&gt;&lt;property id=&quot;20309&quot; value=&quot;37646&quot;/&gt;&lt;property id=&quot;20312&quot; value=&quot;0&quot;/&gt;&lt;/object&gt;&lt;/object&gt;&lt;object type=&quot;8&quot; unique_id=&quot;10563&quot;&gt;&lt;/object&gt;&lt;object type=&quot;4&quot; unique_id=&quot;10695&quot;&gt;&lt;object type=&quot;5&quot; unique_id=&quot;37646&quot;&gt;&lt;property id=&quot;20000&quot; value=&quot;0&quot;/&gt;&lt;property id=&quot;20149&quot; value=&quot;Mustafa YILMAZ&quot;/&gt;&lt;property id=&quot;20150&quot; value=&quot;Öğr.Gör.&quot;/&gt;&lt;property id=&quot;20151&quot; value=&quot;mustafa-yilmaz.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37670&quot;&gt;&lt;/objec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PSNARRATION" val="1,379550078,D:\Ders Materyali\İçerik\Temel Bilgi Teknolojisi Kullanımı\TBTK\Kelime İşlemci Modül 1_pptx\Media.ppcx"/>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2051CDEE-7A85-4471-9488-07838C1101FB}&quot;/&gt;&lt;isInvalidForFieldText val=&quot;0&quot;/&gt;&lt;Image&gt;&lt;filename val=&quot;C:\Users\YILMAZ\AppData\Local\Temp\PR\data\asimages\{2051CDEE-7A85-4471-9488-07838C1101FB}_1.png&quot;/&gt;&lt;left val=&quot;-27&quot;/&gt;&lt;top val=&quot;207&quot;/&gt;&lt;width val=&quot;634&quot;/&gt;&lt;height val=&quot;120&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PSNARRATION" val="2,379550078,D:\Ders Materyali\İçerik\Temel Bilgi Teknolojisi Kullanımı\TBTK\Kelime İşlemci Modül 1_pptx\Media.ppcx"/>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A8A45321-6844-4CB9-A96F-A2C100A28597}&quot;/&gt;&lt;isInvalidForFieldText val=&quot;0&quot;/&gt;&lt;Image&gt;&lt;filename val=&quot;C:\Users\YILMAZ\AppData\Local\Temp\PR\data\asimages\{A8A45321-6844-4CB9-A96F-A2C100A28597}_2.png&quot;/&gt;&lt;left val=&quot;25&quot;/&gt;&lt;top val=&quot;30&quot;/&gt;&lt;width val=&quot;659&quot;/&gt;&lt;height val=&quot;62&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3&quot;/&gt;&lt;lineCharCount val=&quot;38&quot;/&gt;&lt;lineCharCount val=&quot;39&quot;/&gt;&lt;lineCharCount val=&quot;45&quot;/&gt;&lt;lineCharCount val=&quot;26&quot;/&gt;&lt;lineCharCount val=&quot;51&quot;/&gt;&lt;lineCharCount val=&quot;65&quot;/&gt;&lt;lineCharCount val=&quot;40&quot;/&gt;&lt;lineCharCount val=&quot;30&quot;/&gt;&lt;lineCharCount val=&quot;21&quot;/&gt;&lt;lineCharCount val=&quot;52&quot;/&gt;&lt;lineCharCount val=&quot;50&quot;/&gt;&lt;lineCharCount val=&quot;31&quot;/&gt;&lt;lineCharCount val=&quot;46&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D03BCD1C-79A9-41BD-9B87-4FBA8EB1E3F3}&quot;/&gt;&lt;isInvalidForFieldText val=&quot;0&quot;/&gt;&lt;Image&gt;&lt;filename val=&quot;C:\Users\YILMAZ\AppData\Local\Temp\PR\data\asimages\{D03BCD1C-79A9-41BD-9B87-4FBA8EB1E3F3}_3.png&quot;/&gt;&lt;left val=&quot;25&quot;/&gt;&lt;top val=&quot;30&quot;/&gt;&lt;width val=&quot;659&quot;/&gt;&lt;height val=&quot;62&quot;/&gt;&lt;hasText val=&quot;1&quot;/&gt;&lt;/Image&gt;&lt;/ThreeDShape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0&quot;/&gt;&lt;lineCharCount val=&quot;26&quot;/&gt;&lt;lineCharCount val=&quot;38&quot;/&gt;&lt;lineCharCount val=&quot;43&quot;/&gt;&lt;lineCharCount val=&quot;25&quot;/&gt;&lt;lineCharCount val=&quot;39&quot;/&gt;&lt;lineCharCount val=&quot;31&quot;/&gt;&lt;lineCharCount val=&quot;44&quot;/&gt;&lt;lineCharCount val=&quot;31&quot;/&gt;&lt;lineCharCount val=&quot;44&quot;/&gt;&lt;lineCharCount val=&quot;62&quot;/&gt;&lt;lineCharCount val=&quot;60&quot;/&gt;&lt;lineCharCount val=&quot;4&quot;/&gt;&lt;lineCharCount val=&quot;38&quot;/&gt;&lt;lineCharCount val=&quot;44&quot;/&gt;&lt;lineCharCount val=&quot;26&quot;/&gt;&lt;lineCharCount val=&quot;33&quot;/&gt;&lt;lineCharCount val=&quot;27&quot;/&gt;&lt;lineCharCount val=&quot;54&quot;/&gt;&lt;lineCharCount val=&quot;45&quot;/&gt;&lt;lineCharCount val=&quot;62&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PSNARRATION" val="3,379550078,D:\Ders Materyali\İçerik\Temel Bilgi Teknolojisi Kullanımı\TBTK\Kelime İşlemci Modül 1_pptx\Media.ppcx"/>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8&quot;/&gt;&lt;/TableIndex&gt;&lt;/ShapeTextInfo&gt;"/>
  <p:tag name="PRESENTER_SHAPEINFO" val="&lt;ThreeDShapeInfo&gt;&lt;uuid val=&quot;{7CEF33E6-7607-439E-96F7-6CEB05886933}&quot;/&gt;&lt;isInvalidForFieldText val=&quot;0&quot;/&gt;&lt;Image&gt;&lt;filename val=&quot;C:\Users\YILMAZ\AppData\Local\Temp\PR\data\asimages\{7CEF33E6-7607-439E-96F7-6CEB05886933}_4.png&quot;/&gt;&lt;left val=&quot;31&quot;/&gt;&lt;top val=&quot;32&quot;/&gt;&lt;width val=&quot;657&quot;/&gt;&lt;height val=&quot;59&quot;/&gt;&lt;hasText val=&quot;1&quot;/&gt;&lt;/Image&gt;&lt;/ThreeDShape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0&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8&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25&quot;/&gt;&lt;lineCharCount val=&quot;14&quot;/&gt;&lt;lineCharCount val=&quot;6&quot;/&gt;&lt;lineCharCount val=&quot;9&quot;/&gt;&lt;lineCharCount val=&quot;15&quot;/&gt;&lt;lineCharCount val=&quot;9&quot;/&gt;&lt;lineCharCount val=&quot;10&quot;/&gt;&lt;lineCharCount val=&quot;13&quot;/&gt;&lt;lineCharCount val=&quot;16&quot;/&gt;&lt;lineCharCount val=&quot;6&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4&quot;/&gt;&lt;lineCharCount val=&quot;16&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2&quot;/&gt;&lt;lineCharCount val=&quot;20&quot;/&gt;&lt;lineCharCount val=&quot;21&quot;/&gt;&lt;lineCharCount val=&quot;34&quot;/&gt;&lt;lineCharCount val=&quot;23&quot;/&gt;&lt;lineCharCount val=&quot;19&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PSNARRATION" val="4,379550078,D:\Ders Materyali\İçerik\Temel Bilgi Teknolojisi Kullanımı\TBTK\Kelime İşlemci Modül 1_pptx\Media.ppcx"/>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PRESENTER_SHAPEINFO" val="&lt;ThreeDShapeInfo&gt;&lt;uuid val=&quot;{47F61577-A01E-4C2B-8454-D71F4AC7BD77}&quot;/&gt;&lt;isInvalidForFieldText val=&quot;0&quot;/&gt;&lt;Image&gt;&lt;filename val=&quot;C:\Users\YILMAZ\AppData\Local\Temp\PR\data\asimages\{47F61577-A01E-4C2B-8454-D71F4AC7BD77}_5.png&quot;/&gt;&lt;left val=&quot;36&quot;/&gt;&lt;top val=&quot;30&quot;/&gt;&lt;width val=&quot;649&quot;/&gt;&lt;height val=&quot;62&quot;/&gt;&lt;hasText val=&quot;1&quot;/&gt;&lt;/Image&gt;&lt;/ThreeDShape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4&quot;/&gt;&lt;lineCharCount val=&quot;69&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9&quot;/&gt;&lt;lineCharCount val=&quot;9&quot;/&gt;&lt;lineCharCount val=&quot;10&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PPSNARRATION" val="5,379550078,D:\Ders Materyali\İçerik\Temel Bilgi Teknolojisi Kullanımı\TBTK\Kelime İşlemci Modül 1_pptx\Media.ppcx"/>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9&quot;/&gt;&lt;/TableIndex&gt;&lt;/ShapeTextInfo&gt;"/>
  <p:tag name="PRESENTER_SHAPEINFO" val="&lt;ThreeDShapeInfo&gt;&lt;uuid val=&quot;{1FBC6336-1028-4617-B068-5D0252A7D60C}&quot;/&gt;&lt;isInvalidForFieldText val=&quot;0&quot;/&gt;&lt;Image&gt;&lt;filename val=&quot;C:\Users\YILMAZ\AppData\Local\Temp\PR\data\asimages\{1FBC6336-1028-4617-B068-5D0252A7D60C}_6.png&quot;/&gt;&lt;left val=&quot;36&quot;/&gt;&lt;top val=&quot;30&quot;/&gt;&lt;width val=&quot;649&quot;/&gt;&lt;height val=&quot;62&quot;/&gt;&lt;hasText val=&quot;1&quot;/&gt;&lt;/Image&gt;&lt;/ThreeDShape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8&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PPSNARRATION" val="6,379550078,D:\Ders Materyali\İçerik\Temel Bilgi Teknolojisi Kullanımı\TBTK\Kelime İşlemci Modül 1_pptx\Media.ppcx"/>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PRESENTER_SHAPEINFO" val="&lt;ThreeDShapeInfo&gt;&lt;uuid val=&quot;{41ADFC3F-3667-4600-A86B-BE7AF7C140A4}&quot;/&gt;&lt;isInvalidForFieldText val=&quot;0&quot;/&gt;&lt;Image&gt;&lt;filename val=&quot;C:\Users\YILMAZ\AppData\Local\Temp\PR\data\asimages\{41ADFC3F-3667-4600-A86B-BE7AF7C140A4}_7.png&quot;/&gt;&lt;left val=&quot;36&quot;/&gt;&lt;top val=&quot;30&quot;/&gt;&lt;width val=&quot;649&quot;/&gt;&lt;height val=&quot;62&quot;/&gt;&lt;hasText val=&quot;1&quot;/&gt;&lt;/Image&gt;&lt;/ThreeDShape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41&quot;/&gt;&lt;lineCharCount val=&quot;37&quot;/&gt;&lt;lineCharCount val=&quot;31&quot;/&gt;&lt;lineCharCount val=&quot;7&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22&quot;/&gt;&lt;lineCharCount val=&quot;15&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PSNARRATION" val="7,379550078,D:\Ders Materyali\İçerik\Temel Bilgi Teknolojisi Kullanımı\TBTK\Kelime İşlemci Modül 1_pptx\Media.ppcx"/>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 name="PRESENTER_SHAPEINFO" val="&lt;ThreeDShapeInfo&gt;&lt;uuid val=&quot;{644430C2-7E81-46E3-8DCF-A23244FF5ECF}&quot;/&gt;&lt;isInvalidForFieldText val=&quot;0&quot;/&gt;&lt;Image&gt;&lt;filename val=&quot;C:\Users\YILMAZ\AppData\Local\Temp\PR\data\asimages\{644430C2-7E81-46E3-8DCF-A23244FF5ECF}_8.png&quot;/&gt;&lt;left val=&quot;36&quot;/&gt;&lt;top val=&quot;30&quot;/&gt;&lt;width val=&quot;649&quot;/&gt;&lt;height val=&quot;62&quot;/&gt;&lt;hasText val=&quot;1&quot;/&gt;&lt;/Image&gt;&lt;/ThreeDShape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9&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52&quot;/&gt;&lt;lineCharCount val=&quot;40&quot;/&gt;&lt;lineCharCount val=&quot;25&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PSNARRATION" val="8,379550078,D:\Ders Materyali\İçerik\Temel Bilgi Teknolojisi Kullanımı\TBTK\Kelime İşlemci Modül 1_pptx\Media.ppcx"/>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4&quot;/&gt;&lt;/TableIndex&gt;&lt;/ShapeTextInfo&gt;"/>
  <p:tag name="PRESENTER_SHAPEINFO" val="&lt;ThreeDShapeInfo&gt;&lt;uuid val=&quot;{BC1394F4-2624-4AEE-B7B6-FBBEC976C7D2}&quot;/&gt;&lt;isInvalidForFieldText val=&quot;0&quot;/&gt;&lt;Image&gt;&lt;filename val=&quot;C:\Users\YILMAZ\AppData\Local\Temp\PR\data\asimages\{BC1394F4-2624-4AEE-B7B6-FBBEC976C7D2}_9.png&quot;/&gt;&lt;left val=&quot;36&quot;/&gt;&lt;top val=&quot;30&quot;/&gt;&lt;width val=&quot;649&quot;/&gt;&lt;height val=&quot;62&quot;/&gt;&lt;hasText val=&quot;1&quot;/&gt;&lt;/Image&gt;&lt;/ThreeDShape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9&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74&quot;/&gt;&lt;lineCharCount val=&quot;89&quot;/&gt;&lt;lineCharCount val=&quot;39&quot;/&gt;&lt;lineCharCount val=&quot;91&quot;/&gt;&lt;lineCharCount val=&quot;55&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PSNARRATION" val="9,379550078,D:\Ders Materyali\İçerik\Temel Bilgi Teknolojisi Kullanımı\TBTK\Kelime İşlemci Modül 1_pptx\Media.ppcx"/>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8&quot;/&gt;&lt;/TableIndex&gt;&lt;/ShapeTextInfo&gt;"/>
  <p:tag name="PRESENTER_SHAPEINFO" val="&lt;ThreeDShapeInfo&gt;&lt;uuid val=&quot;{F32772BD-3A8D-4984-8C4D-DEB4A5D12535}&quot;/&gt;&lt;isInvalidForFieldText val=&quot;0&quot;/&gt;&lt;Image&gt;&lt;filename val=&quot;C:\Users\YILMAZ\AppData\Local\Temp\PR\data\asimages\{F32772BD-3A8D-4984-8C4D-DEB4A5D12535}_10.png&quot;/&gt;&lt;left val=&quot;36&quot;/&gt;&lt;top val=&quot;30&quot;/&gt;&lt;width val=&quot;649&quot;/&gt;&lt;height val=&quot;62&quot;/&gt;&lt;hasText val=&quot;1&quot;/&gt;&lt;/Image&gt;&lt;/ThreeDShape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4&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9&quot;/&gt;&lt;lineCharCount val=&quot;14&quot;/&gt;&lt;lineCharCount val=&quot;32&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PSNARRATION" val="10,379550078,D:\Ders Materyali\İçerik\Temel Bilgi Teknolojisi Kullanımı\TBTK\Kelime İşlemci Modül 1_pptx\Media.ppcx"/>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 name="PRESENTER_SHAPEINFO" val="&lt;ThreeDShapeInfo&gt;&lt;uuid val=&quot;{BEE59315-C756-41DD-BE10-FE46982FE94D}&quot;/&gt;&lt;isInvalidForFieldText val=&quot;0&quot;/&gt;&lt;Image&gt;&lt;filename val=&quot;C:\Users\YILMAZ\AppData\Local\Temp\PR\data\asimages\{BEE59315-C756-41DD-BE10-FE46982FE94D}_11.png&quot;/&gt;&lt;left val=&quot;36&quot;/&gt;&lt;top val=&quot;30&quot;/&gt;&lt;width val=&quot;649&quot;/&gt;&lt;height val=&quot;62&quot;/&gt;&lt;hasText val=&quot;1&quot;/&gt;&lt;/Image&gt;&lt;/ThreeDShapeInfo&gt;"/>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82&quot;/&gt;&lt;lineCharCount val=&quot;94&quot;/&gt;&lt;lineCharCount val=&quot;21&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PSNARRATION" val="11,379550078,D:\Ders Materyali\İçerik\Temel Bilgi Teknolojisi Kullanımı\TBTK\Kelime İşlemci Modül 1_pptx\Media.ppcx"/>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PRESENTER_SHAPEINFO" val="&lt;ThreeDShapeInfo&gt;&lt;uuid val=&quot;{24C5FBCE-8501-4081-B593-26697A12AF9E}&quot;/&gt;&lt;isInvalidForFieldText val=&quot;0&quot;/&gt;&lt;Image&gt;&lt;filename val=&quot;C:\Users\YILMAZ\AppData\Local\Temp\PR\data\asimages\{24C5FBCE-8501-4081-B593-26697A12AF9E}_12.png&quot;/&gt;&lt;left val=&quot;36&quot;/&gt;&lt;top val=&quot;30&quot;/&gt;&lt;width val=&quot;649&quot;/&gt;&lt;height val=&quot;62&quot;/&gt;&lt;hasText val=&quot;1&quot;/&gt;&lt;/Image&gt;&lt;/ThreeDShape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8&quot;/&gt;&lt;lineCharCount val=&quot;1&quot;/&gt;&lt;lineCharCount val=&quot;8&quot;/&gt;&lt;lineCharCount val=&quot;27&quot;/&gt;&lt;lineCharCount val=&quot;63&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PPSNARRATION" val="12,379550078,D:\Ders Materyali\İçerik\Temel Bilgi Teknolojisi Kullanımı\TBTK\Kelime İşlemci Modül 1_pptx\Media.ppcx"/>
</p:tagLst>
</file>

<file path=ppt/tags/tag1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30D93DBF-4804-4466-8448-80656BA8BE4D}&quot;/&gt;&lt;isInvalidForFieldText val=&quot;0&quot;/&gt;&lt;Image&gt;&lt;filename val=&quot;C:\Users\YILMAZ\AppData\Local\Temp\PR\data\asimages\{30D93DBF-4804-4466-8448-80656BA8BE4D}_13.png&quot;/&gt;&lt;left val=&quot;36&quot;/&gt;&lt;top val=&quot;30&quot;/&gt;&lt;width val=&quot;649&quot;/&gt;&lt;height val=&quot;62&quot;/&gt;&lt;hasText val=&quot;1&quot;/&gt;&lt;/Image&gt;&lt;/ThreeDShapeInfo&gt;"/>
</p:tagLst>
</file>

<file path=ppt/tags/tag1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0&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47&quot;/&gt;&lt;lineCharCount val=&quot;1&quot;/&gt;&lt;lineCharCount val=&quot;35&quot;/&gt;&lt;lineCharCount val=&quot;59&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1.xml><?xml version="1.0" encoding="utf-8"?>
<p:tagLst xmlns:a="http://schemas.openxmlformats.org/drawingml/2006/main" xmlns:r="http://schemas.openxmlformats.org/officeDocument/2006/relationships" xmlns:p="http://schemas.openxmlformats.org/presentationml/2006/main">
  <p:tag name="PPSNARRATION" val="13,379550078,D:\Ders Materyali\İçerik\Temel Bilgi Teknolojisi Kullanımı\TBTK\Kelime İşlemci Modül 1_pptx\Media.ppcx"/>
</p:tagLst>
</file>

<file path=ppt/tags/tag1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PRESENTER_SHAPEINFO" val="&lt;ThreeDShapeInfo&gt;&lt;uuid val=&quot;{2EC3E8A5-2F6B-4EE1-843F-EE3E270411B4}&quot;/&gt;&lt;isInvalidForFieldText val=&quot;0&quot;/&gt;&lt;Image&gt;&lt;filename val=&quot;C:\Users\YILMAZ\AppData\Local\Temp\PR\data\asimages\{2EC3E8A5-2F6B-4EE1-843F-EE3E270411B4}_14.png&quot;/&gt;&lt;left val=&quot;36&quot;/&gt;&lt;top val=&quot;30&quot;/&gt;&lt;width val=&quot;649&quot;/&gt;&lt;height val=&quot;62&quot;/&gt;&lt;hasText val=&quot;1&quot;/&gt;&lt;/Image&gt;&lt;/ThreeDShapeInfo&gt;"/>
</p:tagLst>
</file>

<file path=ppt/tags/tag1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Lst>
</file>

<file path=ppt/tags/tag1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44&quot;/&gt;&lt;lineCharCount val=&quot;1&quot;/&gt;&lt;lineCharCount val=&quot;41&quot;/&gt;&lt;lineCharCount val=&quot;79&quot;/&gt;&lt;/TableIndex&gt;&lt;/ShapeTextInfo&gt;"/>
</p:tagLst>
</file>

<file path=ppt/tags/tag1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PPSNARRATION" val="14,379550078,D:\Ders Materyali\İçerik\Temel Bilgi Teknolojisi Kullanımı\TBTK\Kelime İşlemci Modül 1_pptx\Media.ppcx"/>
</p:tagLst>
</file>

<file path=ppt/tags/tag1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 name="PRESENTER_SHAPEINFO" val="&lt;ThreeDShapeInfo&gt;&lt;uuid val=&quot;{0F664E26-5418-4825-9BBD-7B052C64E5E8}&quot;/&gt;&lt;isInvalidForFieldText val=&quot;0&quot;/&gt;&lt;Image&gt;&lt;filename val=&quot;C:\Users\YILMAZ\AppData\Local\Temp\PR\data\asimages\{0F664E26-5418-4825-9BBD-7B052C64E5E8}_15.png&quot;/&gt;&lt;left val=&quot;36&quot;/&gt;&lt;top val=&quot;30&quot;/&gt;&lt;width val=&quot;649&quot;/&gt;&lt;height val=&quot;62&quot;/&gt;&lt;hasText val=&quot;1&quot;/&gt;&lt;/Image&gt;&lt;/ThreeDShapeInfo&gt;"/>
</p:tagLst>
</file>

<file path=ppt/tags/tag1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9&quot;/&gt;&lt;/TableIndex&gt;&lt;/ShapeTextInfo&gt;"/>
</p:tagLst>
</file>

<file path=ppt/tags/tag1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3&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7.xml><?xml version="1.0" encoding="utf-8"?>
<p:tagLst xmlns:a="http://schemas.openxmlformats.org/drawingml/2006/main" xmlns:r="http://schemas.openxmlformats.org/officeDocument/2006/relationships" xmlns:p="http://schemas.openxmlformats.org/presentationml/2006/main">
  <p:tag name="PPSNARRATION" val="15,379550078,D:\Ders Materyali\İçerik\Temel Bilgi Teknolojisi Kullanımı\TBTK\Kelime İşlemci Modül 1_pptx\Media.ppcx"/>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2&quot;/&gt;&lt;/TableIndex&gt;&lt;/ShapeTextInfo&gt;"/>
  <p:tag name="PRESENTER_SHAPEINFO" val="&lt;ThreeDShapeInfo&gt;&lt;uuid val=&quot;{64A6DE4A-4151-4A2B-82F3-FA81655674E8}&quot;/&gt;&lt;isInvalidForFieldText val=&quot;0&quot;/&gt;&lt;Image&gt;&lt;filename val=&quot;C:\Users\YILMAZ\AppData\Local\Temp\PR\data\asimages\{64A6DE4A-4151-4A2B-82F3-FA81655674E8}_16.png&quot;/&gt;&lt;left val=&quot;36&quot;/&gt;&lt;top val=&quot;33&quot;/&gt;&lt;width val=&quot;649&quot;/&gt;&lt;height val=&quot;56&quot;/&gt;&lt;hasText val=&quot;1&quot;/&gt;&lt;/Image&gt;&lt;/ThreeDShape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Lst>
</file>

<file path=ppt/tags/tag1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91&quot;/&gt;&lt;lineCharCount val=&quot;9&quot;/&gt;&lt;/TableIndex&gt;&lt;/ShapeTextInfo&gt;"/>
</p:tagLst>
</file>

<file path=ppt/tags/tag1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2302</TotalTime>
  <Words>2175</Words>
  <Application>Microsoft Office PowerPoint</Application>
  <PresentationFormat>Ekran Gösterisi (4:3)</PresentationFormat>
  <Paragraphs>201</Paragraphs>
  <Slides>16</Slides>
  <Notes>16</Notes>
  <HiddenSlides>0</HiddenSlides>
  <MMClips>0</MMClips>
  <ScaleCrop>false</ScaleCrop>
  <HeadingPairs>
    <vt:vector size="4" baseType="variant">
      <vt:variant>
        <vt:lpstr>Tema</vt:lpstr>
      </vt:variant>
      <vt:variant>
        <vt:i4>2</vt:i4>
      </vt:variant>
      <vt:variant>
        <vt:lpstr>Slayt Başlıkları</vt:lpstr>
      </vt:variant>
      <vt:variant>
        <vt:i4>16</vt:i4>
      </vt:variant>
    </vt:vector>
  </HeadingPairs>
  <TitlesOfParts>
    <vt:vector size="18" baseType="lpstr">
      <vt:lpstr>Hava Akımı</vt:lpstr>
      <vt:lpstr>Ofis Teması</vt:lpstr>
      <vt:lpstr>Kelime İşlemci Word </vt:lpstr>
      <vt:lpstr>Öğrenme Hedefleri</vt:lpstr>
      <vt:lpstr>İçindekiler</vt:lpstr>
      <vt:lpstr>Kelime İşlemci Uygulamasını Açmak ve Word Ekranı</vt:lpstr>
      <vt:lpstr>Dosya Sekmesi</vt:lpstr>
      <vt:lpstr>Bir veya Birkaç Belgeyi Açmak</vt:lpstr>
      <vt:lpstr>Yeni Belge Oluşturmak</vt:lpstr>
      <vt:lpstr>Belgeyi Sürücüde Bir Alana Saklamak</vt:lpstr>
      <vt:lpstr>Belgeyi Farklı Bir İsimle Saklamak</vt:lpstr>
      <vt:lpstr>Açık Belgeler Arasında Geçiş</vt:lpstr>
      <vt:lpstr>Yardım Fonksiyonlarının Kullanımı</vt:lpstr>
      <vt:lpstr>Belgeyi Kapamak</vt:lpstr>
      <vt:lpstr>Belge Görünümleri</vt:lpstr>
      <vt:lpstr>Büyültme/Yakınlaştırma Araçlarının Kullanımı</vt:lpstr>
      <vt:lpstr>Araç Çubuklarını Göstermek/Gizlemek</vt:lpstr>
      <vt:lpstr>Yazdırılamayan Karakterlerin Gösterilmesi/Gizlenmesi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YILMAZ</cp:lastModifiedBy>
  <cp:revision>389</cp:revision>
  <cp:lastPrinted>2011-09-21T12:25:19Z</cp:lastPrinted>
  <dcterms:created xsi:type="dcterms:W3CDTF">2011-06-08T08:18:11Z</dcterms:created>
  <dcterms:modified xsi:type="dcterms:W3CDTF">2011-10-18T13:32:42Z</dcterms:modified>
</cp:coreProperties>
</file>