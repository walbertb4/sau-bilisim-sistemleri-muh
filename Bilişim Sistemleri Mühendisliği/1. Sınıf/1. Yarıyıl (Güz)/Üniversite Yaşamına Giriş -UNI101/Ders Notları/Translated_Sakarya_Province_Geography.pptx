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9"/>
  </p:notesMasterIdLst>
  <p:handoutMasterIdLst>
    <p:handoutMasterId r:id="rId40"/>
  </p:handoutMasterIdLst>
  <p:sldIdLst>
    <p:sldId id="264" r:id="rId5"/>
    <p:sldId id="281" r:id="rId6"/>
    <p:sldId id="282" r:id="rId7"/>
    <p:sldId id="283" r:id="rId8"/>
    <p:sldId id="284" r:id="rId9"/>
    <p:sldId id="285" r:id="rId10"/>
    <p:sldId id="280" r:id="rId11"/>
    <p:sldId id="274" r:id="rId12"/>
    <p:sldId id="287" r:id="rId13"/>
    <p:sldId id="288" r:id="rId14"/>
    <p:sldId id="290" r:id="rId15"/>
    <p:sldId id="289" r:id="rId16"/>
    <p:sldId id="291" r:id="rId17"/>
    <p:sldId id="292" r:id="rId18"/>
    <p:sldId id="293" r:id="rId19"/>
    <p:sldId id="294" r:id="rId20"/>
    <p:sldId id="295" r:id="rId21"/>
    <p:sldId id="296" r:id="rId22"/>
    <p:sldId id="297" r:id="rId23"/>
    <p:sldId id="298" r:id="rId24"/>
    <p:sldId id="299" r:id="rId25"/>
    <p:sldId id="300" r:id="rId26"/>
    <p:sldId id="301" r:id="rId27"/>
    <p:sldId id="303" r:id="rId28"/>
    <p:sldId id="302" r:id="rId29"/>
    <p:sldId id="304" r:id="rId30"/>
    <p:sldId id="310" r:id="rId31"/>
    <p:sldId id="311" r:id="rId32"/>
    <p:sldId id="305" r:id="rId33"/>
    <p:sldId id="306" r:id="rId34"/>
    <p:sldId id="307" r:id="rId35"/>
    <p:sldId id="308" r:id="rId36"/>
    <p:sldId id="309" r:id="rId37"/>
    <p:sldId id="266" r:id="rId38"/>
  </p:sldIdLst>
  <p:sldSz cx="12188825" cy="6858000"/>
  <p:notesSz cx="6858000" cy="9144000"/>
  <p:defaultTextStyle>
    <a:defPPr rtl="0">
      <a:defRPr lang="tr-T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9" pos="3839" userDrawn="1">
          <p15:clr>
            <a:srgbClr val="A4A3A4"/>
          </p15:clr>
        </p15:guide>
        <p15:guide id="10"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49" autoAdjust="0"/>
    <p:restoredTop sz="94660"/>
  </p:normalViewPr>
  <p:slideViewPr>
    <p:cSldViewPr showGuides="1">
      <p:cViewPr varScale="1">
        <p:scale>
          <a:sx n="91" d="100"/>
          <a:sy n="91" d="100"/>
        </p:scale>
        <p:origin x="64" y="460"/>
      </p:cViewPr>
      <p:guideLst>
        <p:guide pos="3839"/>
        <p:guide orient="horz" pos="2160"/>
      </p:guideLst>
    </p:cSldViewPr>
  </p:slideViewPr>
  <p:notesTextViewPr>
    <p:cViewPr>
      <p:scale>
        <a:sx n="1" d="1"/>
        <a:sy n="1" d="1"/>
      </p:scale>
      <p:origin x="0" y="0"/>
    </p:cViewPr>
  </p:notesTextViewPr>
  <p:notesViewPr>
    <p:cSldViewPr>
      <p:cViewPr varScale="1">
        <p:scale>
          <a:sx n="90" d="100"/>
          <a:sy n="90" d="100"/>
        </p:scale>
        <p:origin x="377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tr-TR" dirty="0">
              <a:solidFill>
                <a:schemeClr val="tx2"/>
              </a:solidFill>
            </a:endParaRPr>
          </a:p>
        </p:txBody>
      </p:sp>
      <p:sp>
        <p:nvSpPr>
          <p:cNvPr id="3" name="Tarih Yer Tutucusu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l" rtl="0">
              <a:defRPr sz="1200"/>
            </a:lvl1pPr>
          </a:lstStyle>
          <a:p>
            <a:pPr algn="r" rtl="0"/>
            <a:fld id="{06766E61-8483-4E85-A7AA-B03676934E74}" type="datetime1">
              <a:rPr lang="tr-TR" smtClean="0">
                <a:solidFill>
                  <a:schemeClr val="tx2"/>
                </a:solidFill>
              </a:rPr>
              <a:pPr algn="r" rtl="0"/>
              <a:t>29.10.2024</a:t>
            </a:fld>
            <a:endParaRPr lang="tr-TR" dirty="0">
              <a:solidFill>
                <a:schemeClr val="tx2"/>
              </a:solidFill>
            </a:endParaRPr>
          </a:p>
        </p:txBody>
      </p:sp>
      <p:sp>
        <p:nvSpPr>
          <p:cNvPr id="4" name="Alt Bilgi Yer Tutucusu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tr-TR" dirty="0">
              <a:solidFill>
                <a:schemeClr val="tx2"/>
              </a:solidFill>
            </a:endParaRPr>
          </a:p>
        </p:txBody>
      </p:sp>
      <p:sp>
        <p:nvSpPr>
          <p:cNvPr id="5" name="Slayt Numarası Yer Tutucusu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l" rtl="0">
              <a:defRPr sz="1200"/>
            </a:lvl1pPr>
          </a:lstStyle>
          <a:p>
            <a:pPr algn="r" rtl="0"/>
            <a:fld id="{CFD77566-CD65-4859-9FA1-43956DC85B8C}" type="slidenum">
              <a:rPr lang="tr-TR" smtClean="0">
                <a:solidFill>
                  <a:schemeClr val="tx2"/>
                </a:solidFill>
              </a:rPr>
              <a:pPr algn="r" rtl="0"/>
              <a:t>‹#›</a:t>
            </a:fld>
            <a:endParaRPr lang="tr-TR" dirty="0">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solidFill>
                  <a:schemeClr val="tx2"/>
                </a:solidFill>
              </a:defRPr>
            </a:lvl1pPr>
          </a:lstStyle>
          <a:p>
            <a:pPr rtl="0"/>
            <a:endParaRPr lang="tr-TR" noProof="0" dirty="0"/>
          </a:p>
        </p:txBody>
      </p:sp>
      <p:sp>
        <p:nvSpPr>
          <p:cNvPr id="3" name="Tarih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rtl="0">
              <a:defRPr sz="1200">
                <a:solidFill>
                  <a:schemeClr val="tx2"/>
                </a:solidFill>
              </a:defRPr>
            </a:lvl1pPr>
          </a:lstStyle>
          <a:p>
            <a:fld id="{D4890AD5-4316-40C1-84C6-5DB9875CE083}" type="datetime1">
              <a:rPr lang="tr-TR" smtClean="0"/>
              <a:pPr/>
              <a:t>29.10.2024</a:t>
            </a:fld>
            <a:endParaRPr lang="tr-TR" dirty="0"/>
          </a:p>
        </p:txBody>
      </p:sp>
      <p:sp>
        <p:nvSpPr>
          <p:cNvPr id="4" name="Slayt Görüntüsü Yer Tutucusu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6" name="Alt 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rtl="0">
              <a:defRPr sz="1200">
                <a:solidFill>
                  <a:schemeClr val="tx2"/>
                </a:solidFill>
              </a:defRPr>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rtl="0">
              <a:defRPr sz="1200">
                <a:solidFill>
                  <a:schemeClr val="tx2"/>
                </a:solidFill>
              </a:defRPr>
            </a:lvl1pPr>
          </a:lstStyle>
          <a:p>
            <a:fld id="{B8796F01-7154-41E0-B48B-A6921757531A}" type="slidenum">
              <a:rPr lang="tr-TR" smtClean="0"/>
              <a:pPr/>
              <a:t>‹#›</a:t>
            </a:fld>
            <a:endParaRPr lang="tr-TR" dirty="0"/>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Başlık 1"/>
          <p:cNvSpPr>
            <a:spLocks noGrp="1"/>
          </p:cNvSpPr>
          <p:nvPr>
            <p:ph type="ctrTitle"/>
          </p:nvPr>
        </p:nvSpPr>
        <p:spPr>
          <a:xfrm>
            <a:off x="4672383" y="1498601"/>
            <a:ext cx="7008574" cy="3298825"/>
          </a:xfrm>
        </p:spPr>
        <p:txBody>
          <a:bodyPr rtlCol="0">
            <a:normAutofit/>
          </a:bodyPr>
          <a:lstStyle>
            <a:lvl1pPr algn="l" rtl="0">
              <a:lnSpc>
                <a:spcPct val="90000"/>
              </a:lnSpc>
              <a:defRPr sz="5400" cap="none" baseline="0"/>
            </a:lvl1pPr>
          </a:lstStyle>
          <a:p>
            <a:pPr rtl="0"/>
            <a:r>
              <a:rPr lang="tr-TR" noProof="0"/>
              <a:t>Asıl başlık stilini düzenlemek için tıklayın</a:t>
            </a:r>
            <a:endParaRPr lang="tr-TR" noProof="0" dirty="0"/>
          </a:p>
        </p:txBody>
      </p:sp>
      <p:sp>
        <p:nvSpPr>
          <p:cNvPr id="3" name="Alt Başlık 2"/>
          <p:cNvSpPr>
            <a:spLocks noGrp="1"/>
          </p:cNvSpPr>
          <p:nvPr>
            <p:ph type="subTitle" idx="1"/>
          </p:nvPr>
        </p:nvSpPr>
        <p:spPr>
          <a:xfrm>
            <a:off x="4672383" y="4927600"/>
            <a:ext cx="7008574" cy="1244600"/>
          </a:xfrm>
        </p:spPr>
        <p:txBody>
          <a:bodyPr rtlCol="0">
            <a:normAutofit/>
          </a:bodyPr>
          <a:lstStyle>
            <a:lvl1pPr marL="0" indent="0" algn="l" rtl="0">
              <a:spcBef>
                <a:spcPts val="0"/>
              </a:spcBef>
              <a:buNone/>
              <a:defRPr sz="2800" b="0">
                <a:solidFill>
                  <a:schemeClr val="tx1"/>
                </a:solidFill>
              </a:defRPr>
            </a:lvl1pPr>
            <a:lvl2pPr marL="609493" indent="0" algn="ctr" rtl="0">
              <a:buNone/>
              <a:defRPr>
                <a:solidFill>
                  <a:schemeClr val="tx1">
                    <a:tint val="75000"/>
                  </a:schemeClr>
                </a:solidFill>
              </a:defRPr>
            </a:lvl2pPr>
            <a:lvl3pPr marL="1218987" indent="0" algn="ctr" rtl="0">
              <a:buNone/>
              <a:defRPr>
                <a:solidFill>
                  <a:schemeClr val="tx1">
                    <a:tint val="75000"/>
                  </a:schemeClr>
                </a:solidFill>
              </a:defRPr>
            </a:lvl3pPr>
            <a:lvl4pPr marL="1828480" indent="0" algn="ctr" rtl="0">
              <a:buNone/>
              <a:defRPr>
                <a:solidFill>
                  <a:schemeClr val="tx1">
                    <a:tint val="75000"/>
                  </a:schemeClr>
                </a:solidFill>
              </a:defRPr>
            </a:lvl4pPr>
            <a:lvl5pPr marL="2437973" indent="0" algn="ctr" rtl="0">
              <a:buNone/>
              <a:defRPr>
                <a:solidFill>
                  <a:schemeClr val="tx1">
                    <a:tint val="75000"/>
                  </a:schemeClr>
                </a:solidFill>
              </a:defRPr>
            </a:lvl5pPr>
            <a:lvl6pPr marL="3047467" indent="0" algn="ctr" rtl="0">
              <a:buNone/>
              <a:defRPr>
                <a:solidFill>
                  <a:schemeClr val="tx1">
                    <a:tint val="75000"/>
                  </a:schemeClr>
                </a:solidFill>
              </a:defRPr>
            </a:lvl6pPr>
            <a:lvl7pPr marL="3656960" indent="0" algn="ctr" rtl="0">
              <a:buNone/>
              <a:defRPr>
                <a:solidFill>
                  <a:schemeClr val="tx1">
                    <a:tint val="75000"/>
                  </a:schemeClr>
                </a:solidFill>
              </a:defRPr>
            </a:lvl7pPr>
            <a:lvl8pPr marL="4266453" indent="0" algn="ctr" rtl="0">
              <a:buNone/>
              <a:defRPr>
                <a:solidFill>
                  <a:schemeClr val="tx1">
                    <a:tint val="75000"/>
                  </a:schemeClr>
                </a:solidFill>
              </a:defRPr>
            </a:lvl8pPr>
            <a:lvl9pPr marL="4875947" indent="0" algn="ctr" rtl="0">
              <a:buNone/>
              <a:defRPr>
                <a:solidFill>
                  <a:schemeClr val="tx1">
                    <a:tint val="75000"/>
                  </a:schemeClr>
                </a:solidFill>
              </a:defRPr>
            </a:lvl9pPr>
          </a:lstStyle>
          <a:p>
            <a:pPr rtl="0"/>
            <a:r>
              <a:rPr lang="tr-TR" noProof="0"/>
              <a:t>Asıl alt başlık stilini düzenlemek için tıklayın</a:t>
            </a:r>
            <a:endParaRPr lang="tr-TR" noProof="0" dirty="0"/>
          </a:p>
        </p:txBody>
      </p:sp>
    </p:spTree>
    <p:extLst>
      <p:ext uri="{BB962C8B-B14F-4D97-AF65-F5344CB8AC3E}">
        <p14:creationId xmlns:p14="http://schemas.microsoft.com/office/powerpoint/2010/main" val="3222770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rtl="0">
              <a:defRPr/>
            </a:lvl1pPr>
          </a:lstStyle>
          <a:p>
            <a:pPr rtl="0"/>
            <a:r>
              <a:rPr lang="tr-TR" noProof="0"/>
              <a:t>Asıl başlık stilini düzenlemek için tıklayın</a:t>
            </a:r>
            <a:endParaRPr lang="tr-TR" noProof="0" dirty="0"/>
          </a:p>
        </p:txBody>
      </p:sp>
      <p:sp>
        <p:nvSpPr>
          <p:cNvPr id="3" name="İçerik Yer Tutucusu 2"/>
          <p:cNvSpPr>
            <a:spLocks noGrp="1"/>
          </p:cNvSpPr>
          <p:nvPr>
            <p:ph idx="1"/>
          </p:nvPr>
        </p:nvSpPr>
        <p:spPr/>
        <p:txBody>
          <a:bodyPr rtlCol="0"/>
          <a:lstStyle>
            <a:lvl5pPr algn="l" rtl="0">
              <a:defRPr/>
            </a:lvl5pPr>
            <a:lvl6pPr algn="l" rtl="0">
              <a:defRPr/>
            </a:lvl6pPr>
            <a:lvl7pPr algn="l" rtl="0">
              <a:defRPr baseline="0"/>
            </a:lvl7pPr>
            <a:lvl8pPr algn="l" rtl="0">
              <a:defRPr baseline="0"/>
            </a:lvl8pPr>
            <a:lvl9pPr algn="l" rtl="0">
              <a:defRPr baseline="0"/>
            </a:lvl9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Tarih Yer Tutucusu 3"/>
          <p:cNvSpPr>
            <a:spLocks noGrp="1"/>
          </p:cNvSpPr>
          <p:nvPr>
            <p:ph type="dt" sz="half" idx="10"/>
          </p:nvPr>
        </p:nvSpPr>
        <p:spPr/>
        <p:txBody>
          <a:bodyPr rtlCol="0"/>
          <a:lstStyle>
            <a:lvl1pPr>
              <a:defRPr/>
            </a:lvl1pPr>
          </a:lstStyle>
          <a:p>
            <a:fld id="{D9CD94FF-AF33-4AFA-A6D6-D15D6E4AF075}" type="datetime1">
              <a:rPr lang="tr-TR" smtClean="0"/>
              <a:pPr/>
              <a:t>29.10.2024</a:t>
            </a:fld>
            <a:endParaRPr lang="tr-TR" dirty="0"/>
          </a:p>
        </p:txBody>
      </p:sp>
      <p:sp>
        <p:nvSpPr>
          <p:cNvPr id="5" name="Alt Bilgi Yer Tutucusu 4"/>
          <p:cNvSpPr>
            <a:spLocks noGrp="1"/>
          </p:cNvSpPr>
          <p:nvPr>
            <p:ph type="ftr" sz="quarter" idx="11"/>
          </p:nvPr>
        </p:nvSpPr>
        <p:spPr/>
        <p:txBody>
          <a:bodyPr rtlCol="0"/>
          <a:lstStyle/>
          <a:p>
            <a:pPr rtl="0"/>
            <a:endParaRPr lang="tr-TR" noProof="0" dirty="0"/>
          </a:p>
        </p:txBody>
      </p:sp>
      <p:sp>
        <p:nvSpPr>
          <p:cNvPr id="6" name="Slayt Numarası Yer Tutucusu 5"/>
          <p:cNvSpPr>
            <a:spLocks noGrp="1"/>
          </p:cNvSpPr>
          <p:nvPr>
            <p:ph type="sldNum" sz="quarter" idx="12"/>
          </p:nvPr>
        </p:nvSpPr>
        <p:spPr/>
        <p:txBody>
          <a:bodyPr rtlCol="0"/>
          <a:lstStyle/>
          <a:p>
            <a:pPr rtl="0"/>
            <a:fld id="{DA60BA0E-20D0-4E7C-B286-26C960A6788F}" type="slidenum">
              <a:rPr lang="tr-TR" noProof="0" smtClean="0"/>
              <a:t>‹#›</a:t>
            </a:fld>
            <a:endParaRPr lang="tr-TR" noProof="0" dirty="0"/>
          </a:p>
        </p:txBody>
      </p:sp>
    </p:spTree>
    <p:extLst>
      <p:ext uri="{BB962C8B-B14F-4D97-AF65-F5344CB8AC3E}">
        <p14:creationId xmlns:p14="http://schemas.microsoft.com/office/powerpoint/2010/main" val="1563524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Başlık 1"/>
          <p:cNvSpPr>
            <a:spLocks noGrp="1"/>
          </p:cNvSpPr>
          <p:nvPr>
            <p:ph type="title"/>
          </p:nvPr>
        </p:nvSpPr>
        <p:spPr>
          <a:xfrm>
            <a:off x="812589" y="4445000"/>
            <a:ext cx="7008574" cy="1930400"/>
          </a:xfrm>
        </p:spPr>
        <p:txBody>
          <a:bodyPr rtlCol="0" anchor="t">
            <a:normAutofit/>
          </a:bodyPr>
          <a:lstStyle>
            <a:lvl1pPr algn="l" rtl="0">
              <a:defRPr sz="5400" b="0" cap="none" baseline="0"/>
            </a:lvl1pPr>
          </a:lstStyle>
          <a:p>
            <a:pPr rtl="0"/>
            <a:r>
              <a:rPr lang="tr-TR" noProof="0"/>
              <a:t>Asıl başlık stilini düzenlemek için tıklayın</a:t>
            </a:r>
            <a:endParaRPr lang="tr-TR" noProof="0" dirty="0"/>
          </a:p>
        </p:txBody>
      </p:sp>
      <p:sp>
        <p:nvSpPr>
          <p:cNvPr id="3" name="Metin Yer Tutucusu 2"/>
          <p:cNvSpPr>
            <a:spLocks noGrp="1"/>
          </p:cNvSpPr>
          <p:nvPr>
            <p:ph type="body" idx="1"/>
          </p:nvPr>
        </p:nvSpPr>
        <p:spPr>
          <a:xfrm>
            <a:off x="812589" y="3124200"/>
            <a:ext cx="7008574" cy="1296987"/>
          </a:xfrm>
        </p:spPr>
        <p:txBody>
          <a:bodyPr rtlCol="0" anchor="b">
            <a:normAutofit/>
          </a:bodyPr>
          <a:lstStyle>
            <a:lvl1pPr marL="0" indent="0" algn="l" rtl="0">
              <a:spcBef>
                <a:spcPts val="0"/>
              </a:spcBef>
              <a:buNone/>
              <a:defRPr sz="2800">
                <a:solidFill>
                  <a:schemeClr val="tx1"/>
                </a:solidFill>
              </a:defRPr>
            </a:lvl1pPr>
            <a:lvl2pPr marL="609493" indent="0" algn="l" rtl="0">
              <a:buNone/>
              <a:defRPr sz="2400">
                <a:solidFill>
                  <a:schemeClr val="tx1">
                    <a:tint val="75000"/>
                  </a:schemeClr>
                </a:solidFill>
              </a:defRPr>
            </a:lvl2pPr>
            <a:lvl3pPr marL="1218987" indent="0" algn="l" rtl="0">
              <a:buNone/>
              <a:defRPr sz="2100">
                <a:solidFill>
                  <a:schemeClr val="tx1">
                    <a:tint val="75000"/>
                  </a:schemeClr>
                </a:solidFill>
              </a:defRPr>
            </a:lvl3pPr>
            <a:lvl4pPr marL="1828480" indent="0" algn="l" rtl="0">
              <a:buNone/>
              <a:defRPr sz="1900">
                <a:solidFill>
                  <a:schemeClr val="tx1">
                    <a:tint val="75000"/>
                  </a:schemeClr>
                </a:solidFill>
              </a:defRPr>
            </a:lvl4pPr>
            <a:lvl5pPr marL="2437973" indent="0" algn="l" rtl="0">
              <a:buNone/>
              <a:defRPr sz="1900">
                <a:solidFill>
                  <a:schemeClr val="tx1">
                    <a:tint val="75000"/>
                  </a:schemeClr>
                </a:solidFill>
              </a:defRPr>
            </a:lvl5pPr>
            <a:lvl6pPr marL="3047467" indent="0" algn="l" rtl="0">
              <a:buNone/>
              <a:defRPr sz="1900">
                <a:solidFill>
                  <a:schemeClr val="tx1">
                    <a:tint val="75000"/>
                  </a:schemeClr>
                </a:solidFill>
              </a:defRPr>
            </a:lvl6pPr>
            <a:lvl7pPr marL="3656960" indent="0" algn="l" rtl="0">
              <a:buNone/>
              <a:defRPr sz="1900">
                <a:solidFill>
                  <a:schemeClr val="tx1">
                    <a:tint val="75000"/>
                  </a:schemeClr>
                </a:solidFill>
              </a:defRPr>
            </a:lvl7pPr>
            <a:lvl8pPr marL="4266453" indent="0" algn="l" rtl="0">
              <a:buNone/>
              <a:defRPr sz="1900">
                <a:solidFill>
                  <a:schemeClr val="tx1">
                    <a:tint val="75000"/>
                  </a:schemeClr>
                </a:solidFill>
              </a:defRPr>
            </a:lvl8pPr>
            <a:lvl9pPr marL="4875947" indent="0" algn="l" rtl="0">
              <a:buNone/>
              <a:defRPr sz="1900">
                <a:solidFill>
                  <a:schemeClr val="tx1">
                    <a:tint val="75000"/>
                  </a:schemeClr>
                </a:solidFill>
              </a:defRPr>
            </a:lvl9pPr>
          </a:lstStyle>
          <a:p>
            <a:pPr lvl="0" rtl="0"/>
            <a:r>
              <a:rPr lang="tr-TR" noProof="0"/>
              <a:t>Asıl metin stillerini düzenlemek için tıklayın</a:t>
            </a:r>
          </a:p>
        </p:txBody>
      </p:sp>
    </p:spTree>
    <p:extLst>
      <p:ext uri="{BB962C8B-B14F-4D97-AF65-F5344CB8AC3E}">
        <p14:creationId xmlns:p14="http://schemas.microsoft.com/office/powerpoint/2010/main" val="41963402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rtl="0">
              <a:defRPr/>
            </a:lvl1pPr>
          </a:lstStyle>
          <a:p>
            <a:pPr rtl="0"/>
            <a:r>
              <a:rPr lang="tr-TR" noProof="0"/>
              <a:t>Asıl başlık stilini düzenlemek için tıklayın</a:t>
            </a:r>
            <a:endParaRPr lang="tr-TR" noProof="0" dirty="0"/>
          </a:p>
        </p:txBody>
      </p:sp>
      <p:sp>
        <p:nvSpPr>
          <p:cNvPr id="3" name="İçerik Yer Tutucusu 2"/>
          <p:cNvSpPr>
            <a:spLocks noGrp="1"/>
          </p:cNvSpPr>
          <p:nvPr>
            <p:ph sz="half" idx="1"/>
          </p:nvPr>
        </p:nvSpPr>
        <p:spPr>
          <a:xfrm>
            <a:off x="1117309" y="1701800"/>
            <a:ext cx="4977104" cy="4470400"/>
          </a:xfrm>
        </p:spPr>
        <p:txBody>
          <a:bodyPr rtlCol="0">
            <a:normAutofit/>
          </a:bodyPr>
          <a:lstStyle>
            <a:lvl1pPr algn="l" rtl="0">
              <a:defRPr sz="2400"/>
            </a:lvl1pPr>
            <a:lvl2pPr algn="l" rtl="0">
              <a:defRPr sz="2000"/>
            </a:lvl2pPr>
            <a:lvl3pPr algn="l" rtl="0">
              <a:defRPr sz="1800"/>
            </a:lvl3pPr>
            <a:lvl4pPr algn="l" rtl="0">
              <a:defRPr sz="1800"/>
            </a:lvl4pPr>
            <a:lvl5pPr marL="2011328" algn="l" rtl="0">
              <a:defRPr sz="1800"/>
            </a:lvl5pPr>
            <a:lvl6pPr marL="2011328" algn="l" rtl="0">
              <a:defRPr sz="1800"/>
            </a:lvl6pPr>
            <a:lvl7pPr marL="2011328" algn="l" rtl="0">
              <a:defRPr sz="1800"/>
            </a:lvl7pPr>
            <a:lvl8pPr marL="2011328" algn="l" rtl="0">
              <a:defRPr sz="1800"/>
            </a:lvl8pPr>
            <a:lvl9pPr marL="2011328" algn="l" rtl="0">
              <a:defRPr sz="1800"/>
            </a:lvl9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İçerik Yer Tutucusu 3"/>
          <p:cNvSpPr>
            <a:spLocks noGrp="1"/>
          </p:cNvSpPr>
          <p:nvPr>
            <p:ph sz="half" idx="2"/>
          </p:nvPr>
        </p:nvSpPr>
        <p:spPr>
          <a:xfrm>
            <a:off x="6297559" y="1701800"/>
            <a:ext cx="4977104" cy="4470400"/>
          </a:xfrm>
        </p:spPr>
        <p:txBody>
          <a:bodyPr rtlCol="0">
            <a:normAutofit/>
          </a:bodyPr>
          <a:lstStyle>
            <a:lvl1pPr algn="l" rtl="0">
              <a:defRPr sz="2400"/>
            </a:lvl1pPr>
            <a:lvl2pPr algn="l" rtl="0">
              <a:defRPr sz="2000"/>
            </a:lvl2pPr>
            <a:lvl3pPr algn="l" rtl="0">
              <a:defRPr sz="1800"/>
            </a:lvl3pPr>
            <a:lvl4pPr algn="l" rtl="0">
              <a:defRPr sz="1800"/>
            </a:lvl4pPr>
            <a:lvl5pPr marL="2011328" algn="l" rtl="0">
              <a:defRPr sz="1800"/>
            </a:lvl5pPr>
            <a:lvl6pPr marL="2011328" algn="l" rtl="0">
              <a:defRPr sz="1800"/>
            </a:lvl6pPr>
            <a:lvl7pPr marL="2011328" algn="l" rtl="0">
              <a:defRPr sz="1800"/>
            </a:lvl7pPr>
            <a:lvl8pPr marL="2011328" algn="l" rtl="0">
              <a:defRPr sz="1800"/>
            </a:lvl8pPr>
            <a:lvl9pPr marL="2011328" algn="l" rtl="0">
              <a:defRPr sz="1800"/>
            </a:lvl9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5" name="Tarih Yer Tutucusu 4"/>
          <p:cNvSpPr>
            <a:spLocks noGrp="1"/>
          </p:cNvSpPr>
          <p:nvPr>
            <p:ph type="dt" sz="half" idx="10"/>
          </p:nvPr>
        </p:nvSpPr>
        <p:spPr/>
        <p:txBody>
          <a:bodyPr rtlCol="0"/>
          <a:lstStyle>
            <a:lvl1pPr>
              <a:defRPr/>
            </a:lvl1pPr>
          </a:lstStyle>
          <a:p>
            <a:fld id="{4260B1F9-9B61-4E5E-BE20-BD0526E05453}" type="datetime1">
              <a:rPr lang="tr-TR" smtClean="0"/>
              <a:pPr/>
              <a:t>29.10.2024</a:t>
            </a:fld>
            <a:endParaRPr lang="tr-TR" dirty="0"/>
          </a:p>
        </p:txBody>
      </p:sp>
      <p:sp>
        <p:nvSpPr>
          <p:cNvPr id="6" name="Alt Bilgi Yer Tutucusu 5"/>
          <p:cNvSpPr>
            <a:spLocks noGrp="1"/>
          </p:cNvSpPr>
          <p:nvPr>
            <p:ph type="ftr" sz="quarter" idx="11"/>
          </p:nvPr>
        </p:nvSpPr>
        <p:spPr/>
        <p:txBody>
          <a:bodyPr rtlCol="0"/>
          <a:lstStyle/>
          <a:p>
            <a:pPr rtl="0"/>
            <a:endParaRPr lang="tr-TR" noProof="0" dirty="0"/>
          </a:p>
        </p:txBody>
      </p:sp>
      <p:sp>
        <p:nvSpPr>
          <p:cNvPr id="7" name="Slayt Numarası Yer Tutucusu 6"/>
          <p:cNvSpPr>
            <a:spLocks noGrp="1"/>
          </p:cNvSpPr>
          <p:nvPr>
            <p:ph type="sldNum" sz="quarter" idx="12"/>
          </p:nvPr>
        </p:nvSpPr>
        <p:spPr/>
        <p:txBody>
          <a:bodyPr rtlCol="0"/>
          <a:lstStyle/>
          <a:p>
            <a:pPr rtl="0"/>
            <a:fld id="{EB37DED6-D4C7-42EE-AB49-D2E39E64FDE4}" type="slidenum">
              <a:rPr lang="tr-TR" noProof="0" smtClean="0"/>
              <a:t>‹#›</a:t>
            </a:fld>
            <a:endParaRPr lang="tr-TR" noProof="0" dirty="0"/>
          </a:p>
        </p:txBody>
      </p:sp>
    </p:spTree>
    <p:extLst>
      <p:ext uri="{BB962C8B-B14F-4D97-AF65-F5344CB8AC3E}">
        <p14:creationId xmlns:p14="http://schemas.microsoft.com/office/powerpoint/2010/main" val="3489339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algn="l" rtl="0">
              <a:defRPr/>
            </a:lvl1pPr>
          </a:lstStyle>
          <a:p>
            <a:pPr rtl="0"/>
            <a:r>
              <a:rPr lang="tr-TR" noProof="0"/>
              <a:t>Asıl başlık stilini düzenlemek için tıklayın</a:t>
            </a:r>
            <a:endParaRPr lang="tr-TR" noProof="0" dirty="0"/>
          </a:p>
        </p:txBody>
      </p:sp>
      <p:sp>
        <p:nvSpPr>
          <p:cNvPr id="3" name="Metin Yer Tutucusu 2"/>
          <p:cNvSpPr>
            <a:spLocks noGrp="1"/>
          </p:cNvSpPr>
          <p:nvPr>
            <p:ph type="body" idx="1"/>
          </p:nvPr>
        </p:nvSpPr>
        <p:spPr>
          <a:xfrm>
            <a:off x="1121372" y="1608835"/>
            <a:ext cx="4973041" cy="753363"/>
          </a:xfrm>
        </p:spPr>
        <p:txBody>
          <a:bodyPr rtlCol="0" anchor="b">
            <a:noAutofit/>
          </a:bodyPr>
          <a:lstStyle>
            <a:lvl1pPr marL="0" indent="0" algn="l" rtl="0">
              <a:spcBef>
                <a:spcPts val="0"/>
              </a:spcBef>
              <a:buNone/>
              <a:defRPr sz="2000" b="1"/>
            </a:lvl1pPr>
            <a:lvl2pPr marL="609493" indent="0" algn="l" rtl="0">
              <a:buNone/>
              <a:defRPr sz="2700" b="1"/>
            </a:lvl2pPr>
            <a:lvl3pPr marL="1218987" indent="0" algn="l" rtl="0">
              <a:buNone/>
              <a:defRPr sz="2400" b="1"/>
            </a:lvl3pPr>
            <a:lvl4pPr marL="1828480" indent="0" algn="l" rtl="0">
              <a:buNone/>
              <a:defRPr sz="2100" b="1"/>
            </a:lvl4pPr>
            <a:lvl5pPr marL="2437973" indent="0" algn="l" rtl="0">
              <a:buNone/>
              <a:defRPr sz="2100" b="1"/>
            </a:lvl5pPr>
            <a:lvl6pPr marL="3047467" indent="0" algn="l" rtl="0">
              <a:buNone/>
              <a:defRPr sz="2100" b="1"/>
            </a:lvl6pPr>
            <a:lvl7pPr marL="3656960" indent="0" algn="l" rtl="0">
              <a:buNone/>
              <a:defRPr sz="2100" b="1"/>
            </a:lvl7pPr>
            <a:lvl8pPr marL="4266453" indent="0" algn="l" rtl="0">
              <a:buNone/>
              <a:defRPr sz="2100" b="1"/>
            </a:lvl8pPr>
            <a:lvl9pPr marL="4875947" indent="0" algn="l" rtl="0">
              <a:buNone/>
              <a:defRPr sz="2100" b="1"/>
            </a:lvl9pPr>
          </a:lstStyle>
          <a:p>
            <a:pPr lvl="0" rtl="0"/>
            <a:r>
              <a:rPr lang="tr-TR" noProof="0"/>
              <a:t>Asıl metin stillerini düzenlemek için tıklayın</a:t>
            </a:r>
          </a:p>
        </p:txBody>
      </p:sp>
      <p:sp>
        <p:nvSpPr>
          <p:cNvPr id="4" name="İçerik Yer Tutucusu 3"/>
          <p:cNvSpPr>
            <a:spLocks noGrp="1"/>
          </p:cNvSpPr>
          <p:nvPr>
            <p:ph sz="half" idx="2"/>
          </p:nvPr>
        </p:nvSpPr>
        <p:spPr>
          <a:xfrm>
            <a:off x="1117309" y="2590800"/>
            <a:ext cx="4977104" cy="3581400"/>
          </a:xfrm>
        </p:spPr>
        <p:txBody>
          <a:bodyPr rtlCol="0">
            <a:normAutofit/>
          </a:bodyPr>
          <a:lstStyle>
            <a:lvl1pPr algn="l" rtl="0">
              <a:defRPr sz="2000"/>
            </a:lvl1pPr>
            <a:lvl2pPr algn="l" rtl="0">
              <a:defRPr sz="1800"/>
            </a:lvl2pPr>
            <a:lvl3pPr algn="l" rtl="0">
              <a:defRPr sz="1800"/>
            </a:lvl3pPr>
            <a:lvl4pPr algn="l" rtl="0">
              <a:defRPr sz="1800"/>
            </a:lvl4pPr>
            <a:lvl5pPr marL="2011328" algn="l" rtl="0">
              <a:defRPr sz="1800"/>
            </a:lvl5pPr>
            <a:lvl6pPr marL="2011328" algn="l" rtl="0">
              <a:defRPr sz="1800"/>
            </a:lvl6pPr>
            <a:lvl7pPr marL="2011328" algn="l" rtl="0">
              <a:defRPr sz="1800"/>
            </a:lvl7pPr>
            <a:lvl8pPr marL="2011328" algn="l" rtl="0">
              <a:defRPr sz="1800"/>
            </a:lvl8pPr>
            <a:lvl9pPr marL="2011328" algn="l" rtl="0">
              <a:defRPr sz="1800"/>
            </a:lvl9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5" name="Metin Yer Tutucusu 4"/>
          <p:cNvSpPr>
            <a:spLocks noGrp="1"/>
          </p:cNvSpPr>
          <p:nvPr>
            <p:ph type="body" sz="quarter" idx="3"/>
          </p:nvPr>
        </p:nvSpPr>
        <p:spPr>
          <a:xfrm>
            <a:off x="6301622" y="1608836"/>
            <a:ext cx="4973041" cy="753362"/>
          </a:xfrm>
        </p:spPr>
        <p:txBody>
          <a:bodyPr rtlCol="0" anchor="b">
            <a:noAutofit/>
          </a:bodyPr>
          <a:lstStyle>
            <a:lvl1pPr marL="0" indent="0" algn="l" rtl="0">
              <a:spcBef>
                <a:spcPts val="0"/>
              </a:spcBef>
              <a:buNone/>
              <a:defRPr sz="2000" b="1"/>
            </a:lvl1pPr>
            <a:lvl2pPr marL="609493" indent="0" algn="l" rtl="0">
              <a:buNone/>
              <a:defRPr sz="2700" b="1"/>
            </a:lvl2pPr>
            <a:lvl3pPr marL="1218987" indent="0" algn="l" rtl="0">
              <a:buNone/>
              <a:defRPr sz="2400" b="1"/>
            </a:lvl3pPr>
            <a:lvl4pPr marL="1828480" indent="0" algn="l" rtl="0">
              <a:buNone/>
              <a:defRPr sz="2100" b="1"/>
            </a:lvl4pPr>
            <a:lvl5pPr marL="2437973" indent="0" algn="l" rtl="0">
              <a:buNone/>
              <a:defRPr sz="2100" b="1"/>
            </a:lvl5pPr>
            <a:lvl6pPr marL="3047467" indent="0" algn="l" rtl="0">
              <a:buNone/>
              <a:defRPr sz="2100" b="1"/>
            </a:lvl6pPr>
            <a:lvl7pPr marL="3656960" indent="0" algn="l" rtl="0">
              <a:buNone/>
              <a:defRPr sz="2100" b="1"/>
            </a:lvl7pPr>
            <a:lvl8pPr marL="4266453" indent="0" algn="l" rtl="0">
              <a:buNone/>
              <a:defRPr sz="2100" b="1"/>
            </a:lvl8pPr>
            <a:lvl9pPr marL="4875947" indent="0" algn="l" rtl="0">
              <a:buNone/>
              <a:defRPr sz="2100" b="1"/>
            </a:lvl9pPr>
          </a:lstStyle>
          <a:p>
            <a:pPr lvl="0" rtl="0"/>
            <a:r>
              <a:rPr lang="tr-TR" noProof="0"/>
              <a:t>Asıl metin stillerini düzenlemek için tıklayın</a:t>
            </a:r>
          </a:p>
        </p:txBody>
      </p:sp>
      <p:sp>
        <p:nvSpPr>
          <p:cNvPr id="6" name="İçerik Yer Tutucusu 5"/>
          <p:cNvSpPr>
            <a:spLocks noGrp="1"/>
          </p:cNvSpPr>
          <p:nvPr>
            <p:ph sz="quarter" idx="4"/>
          </p:nvPr>
        </p:nvSpPr>
        <p:spPr>
          <a:xfrm>
            <a:off x="6297559" y="2590800"/>
            <a:ext cx="4977104" cy="3581400"/>
          </a:xfrm>
        </p:spPr>
        <p:txBody>
          <a:bodyPr rtlCol="0">
            <a:normAutofit/>
          </a:bodyPr>
          <a:lstStyle>
            <a:lvl1pPr algn="l" rtl="0">
              <a:defRPr sz="2000"/>
            </a:lvl1pPr>
            <a:lvl2pPr algn="l" rtl="0">
              <a:defRPr sz="1800"/>
            </a:lvl2pPr>
            <a:lvl3pPr algn="l" rtl="0">
              <a:defRPr sz="1800"/>
            </a:lvl3pPr>
            <a:lvl4pPr algn="l" rtl="0">
              <a:defRPr sz="1800"/>
            </a:lvl4pPr>
            <a:lvl5pPr marL="2011328" algn="l" rtl="0">
              <a:defRPr sz="1800"/>
            </a:lvl5pPr>
            <a:lvl6pPr marL="2011328" algn="l" rtl="0">
              <a:defRPr sz="1800"/>
            </a:lvl6pPr>
            <a:lvl7pPr marL="2011328" algn="l" rtl="0">
              <a:defRPr sz="1800"/>
            </a:lvl7pPr>
            <a:lvl8pPr marL="2011328" algn="l" rtl="0">
              <a:defRPr sz="1800"/>
            </a:lvl8pPr>
            <a:lvl9pPr marL="2011328" algn="l" rtl="0">
              <a:defRPr sz="1800"/>
            </a:lvl9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7" name="Tarih Yer Tutucusu 6"/>
          <p:cNvSpPr>
            <a:spLocks noGrp="1"/>
          </p:cNvSpPr>
          <p:nvPr>
            <p:ph type="dt" sz="half" idx="10"/>
          </p:nvPr>
        </p:nvSpPr>
        <p:spPr/>
        <p:txBody>
          <a:bodyPr rtlCol="0"/>
          <a:lstStyle>
            <a:lvl1pPr>
              <a:defRPr/>
            </a:lvl1pPr>
          </a:lstStyle>
          <a:p>
            <a:fld id="{874B9DD9-F15D-4B9F-93EF-364AA77EACFA}" type="datetime1">
              <a:rPr lang="tr-TR" smtClean="0"/>
              <a:pPr/>
              <a:t>29.10.2024</a:t>
            </a:fld>
            <a:endParaRPr lang="tr-TR" dirty="0"/>
          </a:p>
        </p:txBody>
      </p:sp>
      <p:sp>
        <p:nvSpPr>
          <p:cNvPr id="8" name="Alt Bilgi Yer Tutucusu 7"/>
          <p:cNvSpPr>
            <a:spLocks noGrp="1"/>
          </p:cNvSpPr>
          <p:nvPr>
            <p:ph type="ftr" sz="quarter" idx="11"/>
          </p:nvPr>
        </p:nvSpPr>
        <p:spPr/>
        <p:txBody>
          <a:bodyPr rtlCol="0"/>
          <a:lstStyle/>
          <a:p>
            <a:pPr rtl="0"/>
            <a:endParaRPr lang="tr-TR" noProof="0" dirty="0"/>
          </a:p>
        </p:txBody>
      </p:sp>
      <p:sp>
        <p:nvSpPr>
          <p:cNvPr id="9" name="Slayt Numarası Yer Tutucusu 8"/>
          <p:cNvSpPr>
            <a:spLocks noGrp="1"/>
          </p:cNvSpPr>
          <p:nvPr>
            <p:ph type="sldNum" sz="quarter" idx="12"/>
          </p:nvPr>
        </p:nvSpPr>
        <p:spPr/>
        <p:txBody>
          <a:bodyPr rtlCol="0"/>
          <a:lstStyle/>
          <a:p>
            <a:pPr rtl="0"/>
            <a:fld id="{EB37DED6-D4C7-42EE-AB49-D2E39E64FDE4}" type="slidenum">
              <a:rPr lang="tr-TR" noProof="0" smtClean="0"/>
              <a:t>‹#›</a:t>
            </a:fld>
            <a:endParaRPr lang="tr-TR" noProof="0" dirty="0"/>
          </a:p>
        </p:txBody>
      </p:sp>
    </p:spTree>
    <p:extLst>
      <p:ext uri="{BB962C8B-B14F-4D97-AF65-F5344CB8AC3E}">
        <p14:creationId xmlns:p14="http://schemas.microsoft.com/office/powerpoint/2010/main" val="355283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rtl="0">
              <a:defRPr/>
            </a:lvl1pPr>
          </a:lstStyle>
          <a:p>
            <a:pPr rtl="0"/>
            <a:r>
              <a:rPr lang="tr-TR" noProof="0"/>
              <a:t>Asıl başlık stilini düzenlemek için tıklayın</a:t>
            </a:r>
            <a:endParaRPr lang="tr-TR" noProof="0" dirty="0"/>
          </a:p>
        </p:txBody>
      </p:sp>
      <p:sp>
        <p:nvSpPr>
          <p:cNvPr id="3" name="Tarih Yer Tutucusu 2"/>
          <p:cNvSpPr>
            <a:spLocks noGrp="1"/>
          </p:cNvSpPr>
          <p:nvPr>
            <p:ph type="dt" sz="half" idx="10"/>
          </p:nvPr>
        </p:nvSpPr>
        <p:spPr/>
        <p:txBody>
          <a:bodyPr rtlCol="0"/>
          <a:lstStyle>
            <a:lvl1pPr>
              <a:defRPr/>
            </a:lvl1pPr>
          </a:lstStyle>
          <a:p>
            <a:fld id="{79802B63-CB18-4428-940D-76000F7D0D7F}" type="datetime1">
              <a:rPr lang="tr-TR" smtClean="0"/>
              <a:pPr/>
              <a:t>29.10.2024</a:t>
            </a:fld>
            <a:endParaRPr lang="tr-TR" dirty="0"/>
          </a:p>
        </p:txBody>
      </p:sp>
      <p:sp>
        <p:nvSpPr>
          <p:cNvPr id="4" name="Alt Bilgi Yer Tutucusu 3"/>
          <p:cNvSpPr>
            <a:spLocks noGrp="1"/>
          </p:cNvSpPr>
          <p:nvPr>
            <p:ph type="ftr" sz="quarter" idx="11"/>
          </p:nvPr>
        </p:nvSpPr>
        <p:spPr/>
        <p:txBody>
          <a:bodyPr rtlCol="0"/>
          <a:lstStyle/>
          <a:p>
            <a:pPr rtl="0"/>
            <a:endParaRPr lang="tr-TR" noProof="0" dirty="0"/>
          </a:p>
        </p:txBody>
      </p:sp>
      <p:sp>
        <p:nvSpPr>
          <p:cNvPr id="5" name="Slayt Numarası Yer Tutucusu 4"/>
          <p:cNvSpPr>
            <a:spLocks noGrp="1"/>
          </p:cNvSpPr>
          <p:nvPr>
            <p:ph type="sldNum" sz="quarter" idx="12"/>
          </p:nvPr>
        </p:nvSpPr>
        <p:spPr/>
        <p:txBody>
          <a:bodyPr rtlCol="0"/>
          <a:lstStyle/>
          <a:p>
            <a:pPr rtl="0"/>
            <a:fld id="{EB37DED6-D4C7-42EE-AB49-D2E39E64FDE4}" type="slidenum">
              <a:rPr lang="tr-TR" noProof="0" smtClean="0"/>
              <a:t>‹#›</a:t>
            </a:fld>
            <a:endParaRPr lang="tr-TR" noProof="0" dirty="0"/>
          </a:p>
        </p:txBody>
      </p:sp>
    </p:spTree>
    <p:extLst>
      <p:ext uri="{BB962C8B-B14F-4D97-AF65-F5344CB8AC3E}">
        <p14:creationId xmlns:p14="http://schemas.microsoft.com/office/powerpoint/2010/main" val="3516763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2" name="Tarih Yer Tutucusu 1"/>
          <p:cNvSpPr>
            <a:spLocks noGrp="1"/>
          </p:cNvSpPr>
          <p:nvPr>
            <p:ph type="dt" sz="half" idx="10"/>
          </p:nvPr>
        </p:nvSpPr>
        <p:spPr/>
        <p:txBody>
          <a:bodyPr rtlCol="0"/>
          <a:lstStyle>
            <a:lvl1pPr>
              <a:defRPr/>
            </a:lvl1pPr>
          </a:lstStyle>
          <a:p>
            <a:fld id="{4A3D9A3A-F2D1-49D2-9940-81A32FD4BC1B}" type="datetime1">
              <a:rPr lang="tr-TR" smtClean="0"/>
              <a:pPr/>
              <a:t>29.10.2024</a:t>
            </a:fld>
            <a:endParaRPr lang="tr-TR" dirty="0"/>
          </a:p>
        </p:txBody>
      </p:sp>
      <p:sp>
        <p:nvSpPr>
          <p:cNvPr id="3" name="Alt Bilgi Yer Tutucusu 2"/>
          <p:cNvSpPr>
            <a:spLocks noGrp="1"/>
          </p:cNvSpPr>
          <p:nvPr>
            <p:ph type="ftr" sz="quarter" idx="11"/>
          </p:nvPr>
        </p:nvSpPr>
        <p:spPr/>
        <p:txBody>
          <a:bodyPr rtlCol="0"/>
          <a:lstStyle/>
          <a:p>
            <a:pPr rtl="0"/>
            <a:endParaRPr lang="tr-TR" noProof="0" dirty="0"/>
          </a:p>
        </p:txBody>
      </p:sp>
      <p:sp>
        <p:nvSpPr>
          <p:cNvPr id="4" name="Slayt Numarası Yer Tutucusu 3"/>
          <p:cNvSpPr>
            <a:spLocks noGrp="1"/>
          </p:cNvSpPr>
          <p:nvPr>
            <p:ph type="sldNum" sz="quarter" idx="12"/>
          </p:nvPr>
        </p:nvSpPr>
        <p:spPr/>
        <p:txBody>
          <a:bodyPr rtlCol="0"/>
          <a:lstStyle/>
          <a:p>
            <a:pPr rtl="0"/>
            <a:fld id="{EB37DED6-D4C7-42EE-AB49-D2E39E64FDE4}" type="slidenum">
              <a:rPr lang="tr-TR" noProof="0" smtClean="0"/>
              <a:t>‹#›</a:t>
            </a:fld>
            <a:endParaRPr lang="tr-TR" noProof="0" dirty="0"/>
          </a:p>
        </p:txBody>
      </p:sp>
    </p:spTree>
    <p:extLst>
      <p:ext uri="{BB962C8B-B14F-4D97-AF65-F5344CB8AC3E}">
        <p14:creationId xmlns:p14="http://schemas.microsoft.com/office/powerpoint/2010/main" val="2068731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Resim Yazılı İçerik">
    <p:spTree>
      <p:nvGrpSpPr>
        <p:cNvPr id="1" name=""/>
        <p:cNvGrpSpPr/>
        <p:nvPr/>
      </p:nvGrpSpPr>
      <p:grpSpPr>
        <a:xfrm>
          <a:off x="0" y="0"/>
          <a:ext cx="0" cy="0"/>
          <a:chOff x="0" y="0"/>
          <a:chExt cx="0" cy="0"/>
        </a:xfrm>
      </p:grpSpPr>
      <p:sp>
        <p:nvSpPr>
          <p:cNvPr id="8" name="Dikdörtgen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tr-TR" noProof="0" dirty="0"/>
          </a:p>
        </p:txBody>
      </p:sp>
      <p:sp>
        <p:nvSpPr>
          <p:cNvPr id="2" name="Başlık 1"/>
          <p:cNvSpPr>
            <a:spLocks noGrp="1"/>
          </p:cNvSpPr>
          <p:nvPr>
            <p:ph type="title"/>
          </p:nvPr>
        </p:nvSpPr>
        <p:spPr>
          <a:xfrm>
            <a:off x="304721" y="1701800"/>
            <a:ext cx="3351927" cy="2844800"/>
          </a:xfrm>
        </p:spPr>
        <p:txBody>
          <a:bodyPr rtlCol="0" anchor="b">
            <a:normAutofit/>
          </a:bodyPr>
          <a:lstStyle>
            <a:lvl1pPr algn="l" rtl="0">
              <a:defRPr sz="2000" b="1"/>
            </a:lvl1pPr>
          </a:lstStyle>
          <a:p>
            <a:pPr rtl="0"/>
            <a:r>
              <a:rPr lang="tr-TR" noProof="0"/>
              <a:t>Asıl başlık stilini düzenlemek için tıklayın</a:t>
            </a:r>
            <a:endParaRPr lang="tr-TR" noProof="0" dirty="0"/>
          </a:p>
        </p:txBody>
      </p:sp>
      <p:sp>
        <p:nvSpPr>
          <p:cNvPr id="3" name="İçerik Yer Tutucusu 2"/>
          <p:cNvSpPr>
            <a:spLocks noGrp="1"/>
          </p:cNvSpPr>
          <p:nvPr>
            <p:ph idx="1"/>
          </p:nvPr>
        </p:nvSpPr>
        <p:spPr>
          <a:xfrm>
            <a:off x="4469236" y="482600"/>
            <a:ext cx="6805427" cy="5892800"/>
          </a:xfrm>
        </p:spPr>
        <p:txBody>
          <a:bodyPr rtlCol="0">
            <a:normAutofit/>
          </a:bodyPr>
          <a:lstStyle>
            <a:lvl1pPr algn="l" rtl="0">
              <a:defRPr sz="2400"/>
            </a:lvl1pPr>
            <a:lvl2pPr algn="l" rtl="0">
              <a:defRPr sz="2000"/>
            </a:lvl2pPr>
            <a:lvl3pPr algn="l" rtl="0">
              <a:defRPr sz="1800"/>
            </a:lvl3pPr>
            <a:lvl4pPr algn="l" rtl="0">
              <a:defRPr sz="1800"/>
            </a:lvl4pPr>
            <a:lvl5pPr algn="l" rtl="0">
              <a:defRPr sz="1800"/>
            </a:lvl5pPr>
            <a:lvl6pPr algn="l" rtl="0">
              <a:defRPr sz="1800"/>
            </a:lvl6pPr>
            <a:lvl7pPr algn="l" rtl="0">
              <a:defRPr sz="1800"/>
            </a:lvl7pPr>
            <a:lvl8pPr algn="l" rtl="0">
              <a:defRPr sz="1800"/>
            </a:lvl8pPr>
            <a:lvl9pPr algn="l" rtl="0">
              <a:defRPr sz="1800"/>
            </a:lvl9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Metin Yer Tutucusu 3"/>
          <p:cNvSpPr>
            <a:spLocks noGrp="1"/>
          </p:cNvSpPr>
          <p:nvPr>
            <p:ph type="body" sz="half" idx="2"/>
          </p:nvPr>
        </p:nvSpPr>
        <p:spPr>
          <a:xfrm>
            <a:off x="304721" y="4648200"/>
            <a:ext cx="3351927" cy="1727200"/>
          </a:xfrm>
        </p:spPr>
        <p:txBody>
          <a:bodyPr rtlCol="0">
            <a:normAutofit/>
          </a:bodyPr>
          <a:lstStyle>
            <a:lvl1pPr marL="0" indent="0" algn="l" rtl="0">
              <a:spcBef>
                <a:spcPts val="1200"/>
              </a:spcBef>
              <a:buNone/>
              <a:defRPr sz="1600"/>
            </a:lvl1pPr>
            <a:lvl2pPr marL="609493" indent="0" algn="l" rtl="0">
              <a:buNone/>
              <a:defRPr sz="1600"/>
            </a:lvl2pPr>
            <a:lvl3pPr marL="1218987" indent="0" algn="l" rtl="0">
              <a:buNone/>
              <a:defRPr sz="1300"/>
            </a:lvl3pPr>
            <a:lvl4pPr marL="1828480" indent="0" algn="l" rtl="0">
              <a:buNone/>
              <a:defRPr sz="1200"/>
            </a:lvl4pPr>
            <a:lvl5pPr marL="2437973" indent="0" algn="l" rtl="0">
              <a:buNone/>
              <a:defRPr sz="1200"/>
            </a:lvl5pPr>
            <a:lvl6pPr marL="3047467" indent="0" algn="l" rtl="0">
              <a:buNone/>
              <a:defRPr sz="1200"/>
            </a:lvl6pPr>
            <a:lvl7pPr marL="3656960" indent="0" algn="l" rtl="0">
              <a:buNone/>
              <a:defRPr sz="1200"/>
            </a:lvl7pPr>
            <a:lvl8pPr marL="4266453" indent="0" algn="l" rtl="0">
              <a:buNone/>
              <a:defRPr sz="1200"/>
            </a:lvl8pPr>
            <a:lvl9pPr marL="4875947" indent="0" algn="l" rtl="0">
              <a:buNone/>
              <a:defRPr sz="1200"/>
            </a:lvl9pPr>
          </a:lstStyle>
          <a:p>
            <a:pPr lvl="0" rtl="0"/>
            <a:r>
              <a:rPr lang="tr-TR" noProof="0"/>
              <a:t>Asıl metin stillerini düzenlemek için tıklayın</a:t>
            </a:r>
          </a:p>
        </p:txBody>
      </p:sp>
      <p:sp>
        <p:nvSpPr>
          <p:cNvPr id="5" name="Tarih Yer Tutucusu 4"/>
          <p:cNvSpPr>
            <a:spLocks noGrp="1"/>
          </p:cNvSpPr>
          <p:nvPr>
            <p:ph type="dt" sz="half" idx="10"/>
          </p:nvPr>
        </p:nvSpPr>
        <p:spPr/>
        <p:txBody>
          <a:bodyPr rtlCol="0"/>
          <a:lstStyle>
            <a:lvl1pPr>
              <a:defRPr/>
            </a:lvl1pPr>
          </a:lstStyle>
          <a:p>
            <a:fld id="{9A7729AD-F7C7-473C-BE4B-248522DE8F48}" type="datetime1">
              <a:rPr lang="tr-TR" smtClean="0"/>
              <a:pPr/>
              <a:t>29.10.2024</a:t>
            </a:fld>
            <a:endParaRPr lang="tr-TR" dirty="0"/>
          </a:p>
        </p:txBody>
      </p:sp>
      <p:sp>
        <p:nvSpPr>
          <p:cNvPr id="6" name="Alt Bilgi Yer Tutucusu 5"/>
          <p:cNvSpPr>
            <a:spLocks noGrp="1"/>
          </p:cNvSpPr>
          <p:nvPr>
            <p:ph type="ftr" sz="quarter" idx="11"/>
          </p:nvPr>
        </p:nvSpPr>
        <p:spPr/>
        <p:txBody>
          <a:bodyPr rtlCol="0"/>
          <a:lstStyle/>
          <a:p>
            <a:pPr rtl="0"/>
            <a:endParaRPr lang="tr-TR" noProof="0" dirty="0"/>
          </a:p>
        </p:txBody>
      </p:sp>
      <p:sp>
        <p:nvSpPr>
          <p:cNvPr id="7" name="Slayt Numarası Yer Tutucusu 6"/>
          <p:cNvSpPr>
            <a:spLocks noGrp="1"/>
          </p:cNvSpPr>
          <p:nvPr>
            <p:ph type="sldNum" sz="quarter" idx="12"/>
          </p:nvPr>
        </p:nvSpPr>
        <p:spPr/>
        <p:txBody>
          <a:bodyPr rtlCol="0"/>
          <a:lstStyle/>
          <a:p>
            <a:pPr rtl="0"/>
            <a:fld id="{2DFBB78A-01B4-41F2-96B0-677A4A282832}" type="slidenum">
              <a:rPr lang="tr-TR" noProof="0" smtClean="0"/>
              <a:t>‹#›</a:t>
            </a:fld>
            <a:endParaRPr lang="tr-TR" noProof="0" dirty="0"/>
          </a:p>
        </p:txBody>
      </p:sp>
    </p:spTree>
    <p:extLst>
      <p:ext uri="{BB962C8B-B14F-4D97-AF65-F5344CB8AC3E}">
        <p14:creationId xmlns:p14="http://schemas.microsoft.com/office/powerpoint/2010/main" val="196807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Resim Yazılı Resim">
    <p:spTree>
      <p:nvGrpSpPr>
        <p:cNvPr id="1" name=""/>
        <p:cNvGrpSpPr/>
        <p:nvPr/>
      </p:nvGrpSpPr>
      <p:grpSpPr>
        <a:xfrm>
          <a:off x="0" y="0"/>
          <a:ext cx="0" cy="0"/>
          <a:chOff x="0" y="0"/>
          <a:chExt cx="0" cy="0"/>
        </a:xfrm>
      </p:grpSpPr>
      <p:sp>
        <p:nvSpPr>
          <p:cNvPr id="8" name="Dikdörtgen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tr-TR" noProof="0" dirty="0"/>
          </a:p>
        </p:txBody>
      </p:sp>
      <p:sp>
        <p:nvSpPr>
          <p:cNvPr id="2" name="Başlık 1"/>
          <p:cNvSpPr>
            <a:spLocks noGrp="1"/>
          </p:cNvSpPr>
          <p:nvPr>
            <p:ph type="title"/>
          </p:nvPr>
        </p:nvSpPr>
        <p:spPr>
          <a:xfrm>
            <a:off x="2437765" y="4800600"/>
            <a:ext cx="7313295" cy="762000"/>
          </a:xfrm>
        </p:spPr>
        <p:txBody>
          <a:bodyPr rtlCol="0" anchor="b">
            <a:normAutofit/>
          </a:bodyPr>
          <a:lstStyle>
            <a:lvl1pPr algn="l" rtl="0">
              <a:defRPr sz="2000" b="1"/>
            </a:lvl1pPr>
          </a:lstStyle>
          <a:p>
            <a:pPr rtl="0"/>
            <a:r>
              <a:rPr lang="tr-TR" noProof="0"/>
              <a:t>Asıl başlık stilini düzenlemek için tıklayın</a:t>
            </a:r>
            <a:endParaRPr lang="tr-TR" noProof="0" dirty="0"/>
          </a:p>
        </p:txBody>
      </p:sp>
      <p:sp>
        <p:nvSpPr>
          <p:cNvPr id="3" name="Resim Yer Tutucusu 2"/>
          <p:cNvSpPr>
            <a:spLocks noGrp="1"/>
          </p:cNvSpPr>
          <p:nvPr>
            <p:ph type="pic" idx="1"/>
          </p:nvPr>
        </p:nvSpPr>
        <p:spPr>
          <a:xfrm>
            <a:off x="2437765" y="279401"/>
            <a:ext cx="7313295" cy="4448175"/>
          </a:xfrm>
        </p:spPr>
        <p:txBody>
          <a:bodyPr rtlCol="0">
            <a:normAutofit/>
          </a:bodyPr>
          <a:lstStyle>
            <a:lvl1pPr marL="0" indent="0" algn="l" rtl="0">
              <a:buNone/>
              <a:defRPr sz="2800"/>
            </a:lvl1pPr>
            <a:lvl2pPr marL="609493" indent="0" algn="l" rtl="0">
              <a:buNone/>
              <a:defRPr sz="3700"/>
            </a:lvl2pPr>
            <a:lvl3pPr marL="1218987" indent="0" algn="l" rtl="0">
              <a:buNone/>
              <a:defRPr sz="3200"/>
            </a:lvl3pPr>
            <a:lvl4pPr marL="1828480" indent="0" algn="l" rtl="0">
              <a:buNone/>
              <a:defRPr sz="2700"/>
            </a:lvl4pPr>
            <a:lvl5pPr marL="2437973" indent="0" algn="l" rtl="0">
              <a:buNone/>
              <a:defRPr sz="2700"/>
            </a:lvl5pPr>
            <a:lvl6pPr marL="3047467" indent="0" algn="l" rtl="0">
              <a:buNone/>
              <a:defRPr sz="2700"/>
            </a:lvl6pPr>
            <a:lvl7pPr marL="3656960" indent="0" algn="l" rtl="0">
              <a:buNone/>
              <a:defRPr sz="2700"/>
            </a:lvl7pPr>
            <a:lvl8pPr marL="4266453" indent="0" algn="l" rtl="0">
              <a:buNone/>
              <a:defRPr sz="2700"/>
            </a:lvl8pPr>
            <a:lvl9pPr marL="4875947" indent="0" algn="l" rtl="0">
              <a:buNone/>
              <a:defRPr sz="2700"/>
            </a:lvl9pPr>
          </a:lstStyle>
          <a:p>
            <a:pPr rtl="0"/>
            <a:r>
              <a:rPr lang="tr-TR" noProof="0"/>
              <a:t>Resim eklemek için simgeye tıklayın</a:t>
            </a:r>
            <a:endParaRPr lang="tr-TR" noProof="0" dirty="0"/>
          </a:p>
        </p:txBody>
      </p:sp>
      <p:sp>
        <p:nvSpPr>
          <p:cNvPr id="4" name="Metin Yer Tutucusu 3"/>
          <p:cNvSpPr>
            <a:spLocks noGrp="1"/>
          </p:cNvSpPr>
          <p:nvPr>
            <p:ph type="body" sz="half" idx="2"/>
          </p:nvPr>
        </p:nvSpPr>
        <p:spPr>
          <a:xfrm>
            <a:off x="2437765" y="5562600"/>
            <a:ext cx="7313295" cy="812800"/>
          </a:xfrm>
        </p:spPr>
        <p:txBody>
          <a:bodyPr rtlCol="0">
            <a:normAutofit/>
          </a:bodyPr>
          <a:lstStyle>
            <a:lvl1pPr marL="0" indent="0" algn="l" rtl="0">
              <a:spcBef>
                <a:spcPts val="0"/>
              </a:spcBef>
              <a:buNone/>
              <a:defRPr sz="1600"/>
            </a:lvl1pPr>
            <a:lvl2pPr marL="609493" indent="0" algn="l" rtl="0">
              <a:buNone/>
              <a:defRPr sz="1600"/>
            </a:lvl2pPr>
            <a:lvl3pPr marL="1218987" indent="0" algn="l" rtl="0">
              <a:buNone/>
              <a:defRPr sz="1300"/>
            </a:lvl3pPr>
            <a:lvl4pPr marL="1828480" indent="0" algn="l" rtl="0">
              <a:buNone/>
              <a:defRPr sz="1200"/>
            </a:lvl4pPr>
            <a:lvl5pPr marL="2437973" indent="0" algn="l" rtl="0">
              <a:buNone/>
              <a:defRPr sz="1200"/>
            </a:lvl5pPr>
            <a:lvl6pPr marL="3047467" indent="0" algn="l" rtl="0">
              <a:buNone/>
              <a:defRPr sz="1200"/>
            </a:lvl6pPr>
            <a:lvl7pPr marL="3656960" indent="0" algn="l" rtl="0">
              <a:buNone/>
              <a:defRPr sz="1200"/>
            </a:lvl7pPr>
            <a:lvl8pPr marL="4266453" indent="0" algn="l" rtl="0">
              <a:buNone/>
              <a:defRPr sz="1200"/>
            </a:lvl8pPr>
            <a:lvl9pPr marL="4875947" indent="0" algn="l" rtl="0">
              <a:buNone/>
              <a:defRPr sz="1200"/>
            </a:lvl9pPr>
          </a:lstStyle>
          <a:p>
            <a:pPr lvl="0" rtl="0"/>
            <a:r>
              <a:rPr lang="tr-TR" noProof="0"/>
              <a:t>Asıl metin stillerini düzenlemek için tıklayın</a:t>
            </a:r>
          </a:p>
        </p:txBody>
      </p:sp>
      <p:sp>
        <p:nvSpPr>
          <p:cNvPr id="5" name="Tarih Yer Tutucusu 4"/>
          <p:cNvSpPr>
            <a:spLocks noGrp="1"/>
          </p:cNvSpPr>
          <p:nvPr>
            <p:ph type="dt" sz="half" idx="10"/>
          </p:nvPr>
        </p:nvSpPr>
        <p:spPr/>
        <p:txBody>
          <a:bodyPr rtlCol="0"/>
          <a:lstStyle>
            <a:lvl1pPr>
              <a:defRPr/>
            </a:lvl1pPr>
          </a:lstStyle>
          <a:p>
            <a:fld id="{FCFCCC71-70BB-43D3-97CB-6EEE61369627}" type="datetime1">
              <a:rPr lang="tr-TR" smtClean="0"/>
              <a:pPr/>
              <a:t>29.10.2024</a:t>
            </a:fld>
            <a:endParaRPr lang="tr-TR" dirty="0"/>
          </a:p>
        </p:txBody>
      </p:sp>
      <p:sp>
        <p:nvSpPr>
          <p:cNvPr id="6" name="Alt Bilgi Yer Tutucusu 5"/>
          <p:cNvSpPr>
            <a:spLocks noGrp="1"/>
          </p:cNvSpPr>
          <p:nvPr>
            <p:ph type="ftr" sz="quarter" idx="11"/>
          </p:nvPr>
        </p:nvSpPr>
        <p:spPr/>
        <p:txBody>
          <a:bodyPr rtlCol="0"/>
          <a:lstStyle/>
          <a:p>
            <a:pPr rtl="0"/>
            <a:endParaRPr lang="tr-TR" noProof="0" dirty="0"/>
          </a:p>
        </p:txBody>
      </p:sp>
      <p:sp>
        <p:nvSpPr>
          <p:cNvPr id="7" name="Slayt Numarası Yer Tutucusu 6"/>
          <p:cNvSpPr>
            <a:spLocks noGrp="1"/>
          </p:cNvSpPr>
          <p:nvPr>
            <p:ph type="sldNum" sz="quarter" idx="12"/>
          </p:nvPr>
        </p:nvSpPr>
        <p:spPr/>
        <p:txBody>
          <a:bodyPr rtlCol="0"/>
          <a:lstStyle/>
          <a:p>
            <a:pPr rtl="0"/>
            <a:fld id="{2DFBB78A-01B4-41F2-96B0-677A4A282832}" type="slidenum">
              <a:rPr lang="tr-TR" noProof="0" smtClean="0"/>
              <a:t>‹#›</a:t>
            </a:fld>
            <a:endParaRPr lang="tr-TR" noProof="0" dirty="0"/>
          </a:p>
        </p:txBody>
      </p:sp>
    </p:spTree>
    <p:extLst>
      <p:ext uri="{BB962C8B-B14F-4D97-AF65-F5344CB8AC3E}">
        <p14:creationId xmlns:p14="http://schemas.microsoft.com/office/powerpoint/2010/main" val="1221337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rtl="0">
              <a:defRPr/>
            </a:lvl1pPr>
          </a:lstStyle>
          <a:p>
            <a:pPr rtl="0"/>
            <a:r>
              <a:rPr lang="tr-TR" noProof="0"/>
              <a:t>Asıl başlık stilini düzenlemek için tıklayın</a:t>
            </a:r>
            <a:endParaRPr lang="tr-TR" noProof="0" dirty="0"/>
          </a:p>
        </p:txBody>
      </p:sp>
      <p:sp>
        <p:nvSpPr>
          <p:cNvPr id="3" name="Dikey Metin Yer Tutucusu 2"/>
          <p:cNvSpPr>
            <a:spLocks noGrp="1"/>
          </p:cNvSpPr>
          <p:nvPr>
            <p:ph type="body" orient="vert" idx="1"/>
          </p:nvPr>
        </p:nvSpPr>
        <p:spPr/>
        <p:txBody>
          <a:bodyPr vert="eaVert"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Tarih Yer Tutucusu 3"/>
          <p:cNvSpPr>
            <a:spLocks noGrp="1"/>
          </p:cNvSpPr>
          <p:nvPr>
            <p:ph type="dt" sz="half" idx="10"/>
          </p:nvPr>
        </p:nvSpPr>
        <p:spPr/>
        <p:txBody>
          <a:bodyPr rtlCol="0"/>
          <a:lstStyle>
            <a:lvl1pPr>
              <a:defRPr/>
            </a:lvl1pPr>
          </a:lstStyle>
          <a:p>
            <a:fld id="{D2393C2F-276E-45A2-A26D-280D43F4DEC0}" type="datetime1">
              <a:rPr lang="tr-TR" smtClean="0"/>
              <a:pPr/>
              <a:t>29.10.2024</a:t>
            </a:fld>
            <a:endParaRPr lang="tr-TR" dirty="0"/>
          </a:p>
        </p:txBody>
      </p:sp>
      <p:sp>
        <p:nvSpPr>
          <p:cNvPr id="5" name="Alt Bilgi Yer Tutucusu 4"/>
          <p:cNvSpPr>
            <a:spLocks noGrp="1"/>
          </p:cNvSpPr>
          <p:nvPr>
            <p:ph type="ftr" sz="quarter" idx="11"/>
          </p:nvPr>
        </p:nvSpPr>
        <p:spPr/>
        <p:txBody>
          <a:bodyPr rtlCol="0"/>
          <a:lstStyle/>
          <a:p>
            <a:pPr rtl="0"/>
            <a:endParaRPr lang="tr-TR" noProof="0" dirty="0"/>
          </a:p>
        </p:txBody>
      </p:sp>
      <p:sp>
        <p:nvSpPr>
          <p:cNvPr id="6" name="Slayt Numarası Yer Tutucusu 5"/>
          <p:cNvSpPr>
            <a:spLocks noGrp="1"/>
          </p:cNvSpPr>
          <p:nvPr>
            <p:ph type="sldNum" sz="quarter" idx="12"/>
          </p:nvPr>
        </p:nvSpPr>
        <p:spPr/>
        <p:txBody>
          <a:bodyPr rtlCol="0"/>
          <a:lstStyle/>
          <a:p>
            <a:pPr rtl="0"/>
            <a:fld id="{591C5AD9-787D-40FA-8A4D-16A055B9AF81}" type="slidenum">
              <a:rPr lang="tr-TR" noProof="0" smtClean="0"/>
              <a:t>‹#›</a:t>
            </a:fld>
            <a:endParaRPr lang="tr-TR" noProof="0" dirty="0"/>
          </a:p>
        </p:txBody>
      </p:sp>
    </p:spTree>
    <p:extLst>
      <p:ext uri="{BB962C8B-B14F-4D97-AF65-F5344CB8AC3E}">
        <p14:creationId xmlns:p14="http://schemas.microsoft.com/office/powerpoint/2010/main" val="1010434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9852633" y="274638"/>
            <a:ext cx="1422030" cy="5897561"/>
          </a:xfrm>
        </p:spPr>
        <p:txBody>
          <a:bodyPr vert="eaVert" rtlCol="0"/>
          <a:lstStyle>
            <a:lvl1pPr rtl="0">
              <a:defRPr/>
            </a:lvl1pPr>
          </a:lstStyle>
          <a:p>
            <a:pPr rtl="0"/>
            <a:r>
              <a:rPr lang="tr-TR" noProof="0"/>
              <a:t>Asıl başlık stilini düzenlemek için tıklayın</a:t>
            </a:r>
            <a:endParaRPr lang="tr-TR" noProof="0" dirty="0"/>
          </a:p>
        </p:txBody>
      </p:sp>
      <p:sp>
        <p:nvSpPr>
          <p:cNvPr id="3" name="Dikey Metin Yer Tutucusu 2"/>
          <p:cNvSpPr>
            <a:spLocks noGrp="1"/>
          </p:cNvSpPr>
          <p:nvPr>
            <p:ph type="body" orient="vert" idx="1"/>
          </p:nvPr>
        </p:nvSpPr>
        <p:spPr>
          <a:xfrm>
            <a:off x="1117309" y="274638"/>
            <a:ext cx="8532178" cy="5897561"/>
          </a:xfrm>
        </p:spPr>
        <p:txBody>
          <a:bodyPr vert="eaVert"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Tarih Yer Tutucusu 3"/>
          <p:cNvSpPr>
            <a:spLocks noGrp="1"/>
          </p:cNvSpPr>
          <p:nvPr>
            <p:ph type="dt" sz="half" idx="10"/>
          </p:nvPr>
        </p:nvSpPr>
        <p:spPr/>
        <p:txBody>
          <a:bodyPr rtlCol="0"/>
          <a:lstStyle>
            <a:lvl1pPr>
              <a:defRPr/>
            </a:lvl1pPr>
          </a:lstStyle>
          <a:p>
            <a:fld id="{6EE73423-0FCB-43D8-A89E-348919C940EF}" type="datetime1">
              <a:rPr lang="tr-TR" smtClean="0"/>
              <a:pPr/>
              <a:t>29.10.2024</a:t>
            </a:fld>
            <a:endParaRPr lang="tr-TR" dirty="0"/>
          </a:p>
        </p:txBody>
      </p:sp>
      <p:sp>
        <p:nvSpPr>
          <p:cNvPr id="5" name="Alt Bilgi Yer Tutucusu 4"/>
          <p:cNvSpPr>
            <a:spLocks noGrp="1"/>
          </p:cNvSpPr>
          <p:nvPr>
            <p:ph type="ftr" sz="quarter" idx="11"/>
          </p:nvPr>
        </p:nvSpPr>
        <p:spPr/>
        <p:txBody>
          <a:bodyPr rtlCol="0"/>
          <a:lstStyle/>
          <a:p>
            <a:pPr rtl="0"/>
            <a:endParaRPr lang="tr-TR" noProof="0" dirty="0"/>
          </a:p>
        </p:txBody>
      </p:sp>
      <p:sp>
        <p:nvSpPr>
          <p:cNvPr id="6" name="Slayt Numarası Yer Tutucusu 5"/>
          <p:cNvSpPr>
            <a:spLocks noGrp="1"/>
          </p:cNvSpPr>
          <p:nvPr>
            <p:ph type="sldNum" sz="quarter" idx="12"/>
          </p:nvPr>
        </p:nvSpPr>
        <p:spPr/>
        <p:txBody>
          <a:bodyPr rtlCol="0"/>
          <a:lstStyle/>
          <a:p>
            <a:pPr rtl="0"/>
            <a:fld id="{591C5AD9-787D-40FA-8A4D-16A055B9AF81}" type="slidenum">
              <a:rPr lang="tr-TR" noProof="0" smtClean="0"/>
              <a:t>‹#›</a:t>
            </a:fld>
            <a:endParaRPr lang="tr-TR" noProof="0" dirty="0"/>
          </a:p>
        </p:txBody>
      </p:sp>
    </p:spTree>
    <p:extLst>
      <p:ext uri="{BB962C8B-B14F-4D97-AF65-F5344CB8AC3E}">
        <p14:creationId xmlns:p14="http://schemas.microsoft.com/office/powerpoint/2010/main" val="3650715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9" name="Dikdörtgen 8"/>
          <p:cNvSpPr/>
          <p:nvPr/>
        </p:nvSpPr>
        <p:spPr>
          <a:xfrm>
            <a:off x="304721" y="0"/>
            <a:ext cx="11579384"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tr-TR" noProof="0" dirty="0"/>
          </a:p>
        </p:txBody>
      </p:sp>
      <p:sp>
        <p:nvSpPr>
          <p:cNvPr id="2" name="Başlık Yer Tutucusu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pPr rtl="0"/>
            <a:r>
              <a:rPr lang="tr-TR" noProof="0" dirty="0"/>
              <a:t>Asıl başlık stili için tıklatın</a:t>
            </a:r>
          </a:p>
        </p:txBody>
      </p:sp>
      <p:sp>
        <p:nvSpPr>
          <p:cNvPr id="3" name="Metin Yer Tutucusu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4" name="Tarih Yer Tutucusu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rtl="0">
              <a:defRPr sz="1200">
                <a:solidFill>
                  <a:schemeClr val="tx2">
                    <a:lumMod val="50000"/>
                    <a:lumOff val="50000"/>
                  </a:schemeClr>
                </a:solidFill>
              </a:defRPr>
            </a:lvl1pPr>
          </a:lstStyle>
          <a:p>
            <a:fld id="{4E217E46-B403-4530-8B5B-57B5C1217BD3}" type="datetime1">
              <a:rPr lang="tr-TR" smtClean="0"/>
              <a:pPr/>
              <a:t>29.10.2024</a:t>
            </a:fld>
            <a:endParaRPr lang="tr-TR" dirty="0"/>
          </a:p>
        </p:txBody>
      </p:sp>
      <p:sp>
        <p:nvSpPr>
          <p:cNvPr id="5" name="Alt Bilgi Yer Tutucusu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rtl="0">
              <a:defRPr sz="1200">
                <a:solidFill>
                  <a:schemeClr val="tx2">
                    <a:lumMod val="50000"/>
                    <a:lumOff val="50000"/>
                  </a:schemeClr>
                </a:solidFill>
              </a:defRPr>
            </a:lvl1pPr>
          </a:lstStyle>
          <a:p>
            <a:pPr rtl="0"/>
            <a:endParaRPr lang="tr-TR" noProof="0" dirty="0"/>
          </a:p>
        </p:txBody>
      </p:sp>
      <p:sp>
        <p:nvSpPr>
          <p:cNvPr id="6" name="Slayt Numarası Yer Tutucusu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rtl="0">
              <a:defRPr sz="1200">
                <a:solidFill>
                  <a:schemeClr val="tx2">
                    <a:lumMod val="50000"/>
                    <a:lumOff val="50000"/>
                  </a:schemeClr>
                </a:solidFill>
              </a:defRPr>
            </a:lvl1pPr>
          </a:lstStyle>
          <a:p>
            <a:fld id="{EB37DED6-D4C7-42EE-AB49-D2E39E64FDE4}" type="slidenum">
              <a:rPr lang="tr-TR" smtClean="0"/>
              <a:pPr/>
              <a:t>‹#›</a:t>
            </a:fld>
            <a:endParaRPr lang="tr-TR" dirty="0"/>
          </a:p>
        </p:txBody>
      </p:sp>
    </p:spTree>
    <p:extLst>
      <p:ext uri="{BB962C8B-B14F-4D97-AF65-F5344CB8AC3E}">
        <p14:creationId xmlns:p14="http://schemas.microsoft.com/office/powerpoint/2010/main" val="1544047913"/>
      </p:ext>
    </p:extLst>
  </p:cSld>
  <p:clrMap bg1="lt1" tx1="dk1" bg2="lt2" tx2="dk2" accent1="accent1" accent2="accent2" accent3="accent3" accent4="accent4" accent5="accent5" accent6="accent6" hlink="hlink" folHlink="folHlink"/>
  <p:sldLayoutIdLst>
    <p:sldLayoutId id="2147483661" r:id="rId1"/>
    <p:sldLayoutId id="2147483679" r:id="rId2"/>
    <p:sldLayoutId id="2147483663" r:id="rId3"/>
    <p:sldLayoutId id="2147483664" r:id="rId4"/>
    <p:sldLayoutId id="2147483665" r:id="rId5"/>
    <p:sldLayoutId id="2147483666" r:id="rId6"/>
    <p:sldLayoutId id="2147483667" r:id="rId7"/>
    <p:sldLayoutId id="2147483675" r:id="rId8"/>
    <p:sldLayoutId id="2147483676" r:id="rId9"/>
    <p:sldLayoutId id="2147483677" r:id="rId10"/>
    <p:sldLayoutId id="2147483678"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85000"/>
        </a:lnSpc>
        <a:spcBef>
          <a:spcPct val="0"/>
        </a:spcBef>
        <a:buNone/>
        <a:tabLst/>
        <a:defRPr sz="4400" kern="1200" cap="none" baseline="0">
          <a:solidFill>
            <a:schemeClr val="tx1"/>
          </a:solidFill>
          <a:latin typeface="+mj-lt"/>
          <a:ea typeface="+mj-ea"/>
          <a:cs typeface="+mj-cs"/>
        </a:defRPr>
      </a:lvl1pPr>
    </p:titleStyle>
    <p:bodyStyle>
      <a:lvl1pPr marL="304747" indent="-304747" algn="l" defTabSz="1218987" rtl="0" eaLnBrk="1" latinLnBrk="0" hangingPunct="1">
        <a:lnSpc>
          <a:spcPct val="95000"/>
        </a:lnSpc>
        <a:spcBef>
          <a:spcPts val="1866"/>
        </a:spcBef>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5pPr>
      <a:lvl6pPr marL="2437973"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6pPr>
      <a:lvl7pPr marL="2864619"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7pPr>
      <a:lvl8pPr marL="3291264"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8pPr>
      <a:lvl9pPr marL="3778859"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4.xml"/><Relationship Id="rId4" Type="http://schemas.openxmlformats.org/officeDocument/2006/relationships/image" Target="../media/image20.JPG"/></Relationships>
</file>

<file path=ppt/slides/_rels/slide1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29.JPG"/><Relationship Id="rId3" Type="http://schemas.openxmlformats.org/officeDocument/2006/relationships/image" Target="../media/image24.JPG"/><Relationship Id="rId7" Type="http://schemas.openxmlformats.org/officeDocument/2006/relationships/image" Target="../media/image28.JPG"/><Relationship Id="rId2" Type="http://schemas.openxmlformats.org/officeDocument/2006/relationships/image" Target="../media/image23.JPG"/><Relationship Id="rId1" Type="http://schemas.openxmlformats.org/officeDocument/2006/relationships/slideLayout" Target="../slideLayouts/slideLayout4.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25.JPG"/><Relationship Id="rId9" Type="http://schemas.openxmlformats.org/officeDocument/2006/relationships/image" Target="../media/image30.JPG"/></Relationships>
</file>

<file path=ppt/slides/_rels/slide1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4.xml"/><Relationship Id="rId5" Type="http://schemas.openxmlformats.org/officeDocument/2006/relationships/image" Target="../media/image38.jpe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2.jpg"/><Relationship Id="rId1" Type="http://schemas.openxmlformats.org/officeDocument/2006/relationships/slideLayout" Target="../slideLayouts/slideLayout4.xml"/><Relationship Id="rId4" Type="http://schemas.openxmlformats.org/officeDocument/2006/relationships/image" Target="../media/image43.jpg"/></Relationships>
</file>

<file path=ppt/slides/_rels/slide22.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5.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jpeg"/><Relationship Id="rId1" Type="http://schemas.openxmlformats.org/officeDocument/2006/relationships/slideLayout" Target="../slideLayouts/slideLayout4.xml"/><Relationship Id="rId4" Type="http://schemas.openxmlformats.org/officeDocument/2006/relationships/image" Target="../media/image49.JPG"/></Relationships>
</file>

<file path=ppt/slides/_rels/slide25.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image" Target="../media/image50.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image" Target="../media/image59.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4672383" y="1498601"/>
            <a:ext cx="7008574" cy="2074415"/>
          </a:xfrm>
        </p:spPr>
        <p:txBody>
          <a:bodyPr rtlCol="0"/>
          <a:lstStyle/>
          <a:p>
            <a:pPr algn="ctr" rtl="0"/>
            <a:r>
              <a:rPr lang="tr-TR" dirty="0" err="1"/>
              <a:t>Introduction</a:t>
            </a:r>
            <a:r>
              <a:rPr lang="tr-TR" dirty="0"/>
              <a:t> </a:t>
            </a:r>
            <a:r>
              <a:rPr lang="tr-TR" dirty="0" err="1"/>
              <a:t>to</a:t>
            </a:r>
            <a:r>
              <a:rPr lang="tr-TR" dirty="0"/>
              <a:t> </a:t>
            </a:r>
            <a:r>
              <a:rPr lang="tr-TR" dirty="0" err="1"/>
              <a:t>University</a:t>
            </a:r>
            <a:r>
              <a:rPr lang="tr-TR" dirty="0"/>
              <a:t> Life</a:t>
            </a:r>
            <a:endParaRPr lang="en-US" dirty="0"/>
          </a:p>
        </p:txBody>
      </p:sp>
      <p:sp>
        <p:nvSpPr>
          <p:cNvPr id="3" name="Alt Başlık 2"/>
          <p:cNvSpPr>
            <a:spLocks noGrp="1"/>
          </p:cNvSpPr>
          <p:nvPr>
            <p:ph type="subTitle" idx="1"/>
          </p:nvPr>
        </p:nvSpPr>
        <p:spPr>
          <a:xfrm>
            <a:off x="4672383" y="4005064"/>
            <a:ext cx="7008574" cy="1244600"/>
          </a:xfrm>
        </p:spPr>
        <p:txBody>
          <a:bodyPr rtlCol="0"/>
          <a:lstStyle/>
          <a:p>
            <a:pPr algn="ctr" rtl="0"/>
            <a:r>
              <a:rPr lang="tr-TR" dirty="0" err="1"/>
              <a:t>Geography</a:t>
            </a:r>
            <a:r>
              <a:rPr lang="tr-TR" dirty="0"/>
              <a:t> of Sakarya </a:t>
            </a:r>
            <a:r>
              <a:rPr lang="tr-TR" dirty="0" err="1"/>
              <a:t>Province</a:t>
            </a:r>
            <a:endParaRPr lang="en-US" dirty="0"/>
          </a:p>
        </p:txBody>
      </p:sp>
    </p:spTree>
    <p:extLst>
      <p:ext uri="{BB962C8B-B14F-4D97-AF65-F5344CB8AC3E}">
        <p14:creationId xmlns:p14="http://schemas.microsoft.com/office/powerpoint/2010/main" val="3650340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557E44F-699B-6EA9-6DC4-2B63DF570742}"/>
              </a:ext>
            </a:extLst>
          </p:cNvPr>
          <p:cNvSpPr>
            <a:spLocks noGrp="1"/>
          </p:cNvSpPr>
          <p:nvPr>
            <p:ph type="title"/>
          </p:nvPr>
        </p:nvSpPr>
        <p:spPr/>
        <p:txBody>
          <a:bodyPr/>
          <a:lstStyle/>
          <a:p>
            <a:r>
              <a:rPr lang="tr-TR" dirty="0" err="1"/>
              <a:t>Geography</a:t>
            </a:r>
            <a:r>
              <a:rPr lang="tr-TR" dirty="0"/>
              <a:t> of Sakarya </a:t>
            </a:r>
            <a:r>
              <a:rPr lang="tr-TR" dirty="0" err="1"/>
              <a:t>Province</a:t>
            </a:r>
            <a:endParaRPr lang="tr-TR" dirty="0"/>
          </a:p>
        </p:txBody>
      </p:sp>
      <p:sp>
        <p:nvSpPr>
          <p:cNvPr id="3" name="İçerik Yer Tutucusu 2">
            <a:extLst>
              <a:ext uri="{FF2B5EF4-FFF2-40B4-BE49-F238E27FC236}">
                <a16:creationId xmlns:a16="http://schemas.microsoft.com/office/drawing/2014/main" id="{796DAE92-4830-C7DC-BA6A-E86B056CD8D6}"/>
              </a:ext>
            </a:extLst>
          </p:cNvPr>
          <p:cNvSpPr>
            <a:spLocks noGrp="1"/>
          </p:cNvSpPr>
          <p:nvPr>
            <p:ph idx="1"/>
          </p:nvPr>
        </p:nvSpPr>
        <p:spPr>
          <a:xfrm>
            <a:off x="549796" y="1790230"/>
            <a:ext cx="4752528" cy="4608512"/>
          </a:xfrm>
        </p:spPr>
        <p:txBody>
          <a:bodyPr>
            <a:normAutofit/>
          </a:bodyPr>
          <a:lstStyle/>
          <a:p>
            <a:r>
              <a:rPr lang="en-US" sz="1400" dirty="0"/>
              <a:t>Located in the region referred to as 'Bithynia' by Greek and Latin writers, </a:t>
            </a:r>
            <a:r>
              <a:rPr lang="en-US" sz="1400" dirty="0" err="1"/>
              <a:t>Sakarya</a:t>
            </a:r>
            <a:r>
              <a:rPr lang="en-US" sz="1400" dirty="0"/>
              <a:t> has historically been an important route connecting Asia to Europe.</a:t>
            </a:r>
          </a:p>
          <a:p>
            <a:r>
              <a:rPr lang="en-US" sz="1400" dirty="0"/>
              <a:t>The administrative unit of </a:t>
            </a:r>
            <a:r>
              <a:rPr lang="en-US" sz="1400" dirty="0" err="1"/>
              <a:t>Sakarya</a:t>
            </a:r>
            <a:r>
              <a:rPr lang="en-US" sz="1400" dirty="0"/>
              <a:t> Province was established on December 1, 1954.</a:t>
            </a:r>
          </a:p>
          <a:p>
            <a:r>
              <a:rPr lang="en-US" sz="1400" dirty="0" err="1"/>
              <a:t>Sakarya</a:t>
            </a:r>
            <a:r>
              <a:rPr lang="en-US" sz="1400" dirty="0"/>
              <a:t> Metropolitan Municipality was founded by a decree accepted on January 14, 2000, and published in the Official Gazette on March 6, 2000.</a:t>
            </a:r>
          </a:p>
          <a:p>
            <a:r>
              <a:rPr lang="en-US" sz="1400" dirty="0" err="1"/>
              <a:t>Sakarya</a:t>
            </a:r>
            <a:r>
              <a:rPr lang="en-US" sz="1400" dirty="0"/>
              <a:t> has a total of 16 districts, four of which are central (Adapazarı, </a:t>
            </a:r>
            <a:r>
              <a:rPr lang="en-US" sz="1400" dirty="0" err="1"/>
              <a:t>Serdivan</a:t>
            </a:r>
            <a:r>
              <a:rPr lang="en-US" sz="1400" dirty="0"/>
              <a:t>, </a:t>
            </a:r>
            <a:r>
              <a:rPr lang="en-US" sz="1400" dirty="0" err="1"/>
              <a:t>Erenler</a:t>
            </a:r>
            <a:r>
              <a:rPr lang="en-US" sz="1400" dirty="0"/>
              <a:t>, and </a:t>
            </a:r>
            <a:r>
              <a:rPr lang="en-US" sz="1400" dirty="0" err="1"/>
              <a:t>Arifiye</a:t>
            </a:r>
            <a:r>
              <a:rPr lang="en-US" sz="1400" dirty="0"/>
              <a:t>). The other districts are </a:t>
            </a:r>
            <a:r>
              <a:rPr lang="en-US" sz="1400" dirty="0" err="1"/>
              <a:t>Kaynarca</a:t>
            </a:r>
            <a:r>
              <a:rPr lang="en-US" sz="1400" dirty="0"/>
              <a:t>, </a:t>
            </a:r>
            <a:r>
              <a:rPr lang="en-US" sz="1400" dirty="0" err="1"/>
              <a:t>Ferizli</a:t>
            </a:r>
            <a:r>
              <a:rPr lang="en-US" sz="1400" dirty="0"/>
              <a:t>, </a:t>
            </a:r>
            <a:r>
              <a:rPr lang="en-US" sz="1400" dirty="0" err="1"/>
              <a:t>Söğütlü</a:t>
            </a:r>
            <a:r>
              <a:rPr lang="en-US" sz="1400" dirty="0"/>
              <a:t>, Karasu, </a:t>
            </a:r>
            <a:r>
              <a:rPr lang="en-US" sz="1400" dirty="0" err="1"/>
              <a:t>Kocaali</a:t>
            </a:r>
            <a:r>
              <a:rPr lang="en-US" sz="1400" dirty="0"/>
              <a:t>, </a:t>
            </a:r>
            <a:r>
              <a:rPr lang="en-US" sz="1400" dirty="0" err="1"/>
              <a:t>Hendek</a:t>
            </a:r>
            <a:r>
              <a:rPr lang="en-US" sz="1400" dirty="0"/>
              <a:t>, </a:t>
            </a:r>
            <a:r>
              <a:rPr lang="en-US" sz="1400" dirty="0" err="1"/>
              <a:t>Akyazı</a:t>
            </a:r>
            <a:r>
              <a:rPr lang="en-US" sz="1400" dirty="0"/>
              <a:t>, </a:t>
            </a:r>
            <a:r>
              <a:rPr lang="en-US" sz="1400" dirty="0" err="1"/>
              <a:t>Karapürçek</a:t>
            </a:r>
            <a:r>
              <a:rPr lang="en-US" sz="1400" dirty="0"/>
              <a:t>, </a:t>
            </a:r>
            <a:r>
              <a:rPr lang="en-US" sz="1400" dirty="0" err="1"/>
              <a:t>Sapanca</a:t>
            </a:r>
            <a:r>
              <a:rPr lang="en-US" sz="1400" dirty="0"/>
              <a:t>, </a:t>
            </a:r>
            <a:r>
              <a:rPr lang="en-US" sz="1400" dirty="0" err="1"/>
              <a:t>Pamukova</a:t>
            </a:r>
            <a:r>
              <a:rPr lang="en-US" sz="1400" dirty="0"/>
              <a:t>, </a:t>
            </a:r>
            <a:r>
              <a:rPr lang="en-US" sz="1400" dirty="0" err="1"/>
              <a:t>Geyve</a:t>
            </a:r>
            <a:r>
              <a:rPr lang="en-US" sz="1400" dirty="0"/>
              <a:t>, and </a:t>
            </a:r>
            <a:r>
              <a:rPr lang="en-US" sz="1400" dirty="0" err="1"/>
              <a:t>Taraklı</a:t>
            </a:r>
            <a:endParaRPr lang="en-US" sz="1400" dirty="0"/>
          </a:p>
          <a:p>
            <a:endParaRPr lang="tr-TR" dirty="0"/>
          </a:p>
        </p:txBody>
      </p:sp>
      <p:pic>
        <p:nvPicPr>
          <p:cNvPr id="5" name="Resim 4">
            <a:extLst>
              <a:ext uri="{FF2B5EF4-FFF2-40B4-BE49-F238E27FC236}">
                <a16:creationId xmlns:a16="http://schemas.microsoft.com/office/drawing/2014/main" id="{05203335-A1D8-4D38-B8F9-7BB698E1B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0396" y="1476588"/>
            <a:ext cx="4364353" cy="5235796"/>
          </a:xfrm>
          <a:prstGeom prst="rect">
            <a:avLst/>
          </a:prstGeom>
        </p:spPr>
      </p:pic>
    </p:spTree>
    <p:extLst>
      <p:ext uri="{BB962C8B-B14F-4D97-AF65-F5344CB8AC3E}">
        <p14:creationId xmlns:p14="http://schemas.microsoft.com/office/powerpoint/2010/main" val="1099505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B89897E-56EC-6CB8-150C-54F13A89C7B4}"/>
              </a:ext>
            </a:extLst>
          </p:cNvPr>
          <p:cNvSpPr>
            <a:spLocks noGrp="1"/>
          </p:cNvSpPr>
          <p:nvPr>
            <p:ph idx="1"/>
          </p:nvPr>
        </p:nvSpPr>
        <p:spPr>
          <a:xfrm>
            <a:off x="405780" y="260648"/>
            <a:ext cx="6048671" cy="2860750"/>
          </a:xfrm>
        </p:spPr>
        <p:txBody>
          <a:bodyPr>
            <a:normAutofit fontScale="62500" lnSpcReduction="20000"/>
          </a:bodyPr>
          <a:lstStyle/>
          <a:p>
            <a:r>
              <a:rPr lang="en-US" sz="2400" dirty="0"/>
              <a:t>When examining the geographical distribution of </a:t>
            </a:r>
            <a:r>
              <a:rPr lang="en-US" sz="2400" dirty="0" err="1"/>
              <a:t>Sakarya</a:t>
            </a:r>
            <a:r>
              <a:rPr lang="en-US" sz="2400" dirty="0"/>
              <a:t> Province, it is observed that its territory spans three geographical sections. In the </a:t>
            </a:r>
            <a:r>
              <a:rPr lang="en-US" sz="2400" dirty="0" err="1"/>
              <a:t>Çatalca-Kocaeli</a:t>
            </a:r>
            <a:r>
              <a:rPr lang="en-US" sz="2400" dirty="0"/>
              <a:t> section: the districts of </a:t>
            </a:r>
            <a:r>
              <a:rPr lang="en-US" sz="2400" dirty="0" err="1"/>
              <a:t>Kaynarca</a:t>
            </a:r>
            <a:r>
              <a:rPr lang="en-US" sz="2400" dirty="0"/>
              <a:t>, </a:t>
            </a:r>
            <a:r>
              <a:rPr lang="en-US" sz="2400" dirty="0" err="1"/>
              <a:t>Söğütlü</a:t>
            </a:r>
            <a:r>
              <a:rPr lang="en-US" sz="2400" dirty="0"/>
              <a:t>, </a:t>
            </a:r>
            <a:r>
              <a:rPr lang="en-US" sz="2400" dirty="0" err="1"/>
              <a:t>Ferizli</a:t>
            </a:r>
            <a:r>
              <a:rPr lang="en-US" sz="2400" dirty="0"/>
              <a:t>, </a:t>
            </a:r>
            <a:r>
              <a:rPr lang="en-US" sz="2400" dirty="0" err="1"/>
              <a:t>Sapanca</a:t>
            </a:r>
            <a:r>
              <a:rPr lang="en-US" sz="2400" dirty="0"/>
              <a:t>, </a:t>
            </a:r>
            <a:r>
              <a:rPr lang="en-US" sz="2400" dirty="0" err="1"/>
              <a:t>Karapürçek</a:t>
            </a:r>
            <a:r>
              <a:rPr lang="en-US" sz="2400" dirty="0"/>
              <a:t>, and Karasu. In the Western Black Sea section: the district centers and some villages of </a:t>
            </a:r>
            <a:r>
              <a:rPr lang="en-US" sz="2400" dirty="0" err="1"/>
              <a:t>Kocaali</a:t>
            </a:r>
            <a:r>
              <a:rPr lang="en-US" sz="2400" dirty="0"/>
              <a:t> and </a:t>
            </a:r>
            <a:r>
              <a:rPr lang="en-US" sz="2400" dirty="0" err="1"/>
              <a:t>Taraklı</a:t>
            </a:r>
            <a:r>
              <a:rPr lang="en-US" sz="2400" dirty="0"/>
              <a:t>, as well as some villages and towns of </a:t>
            </a:r>
            <a:r>
              <a:rPr lang="en-US" sz="2400" dirty="0" err="1"/>
              <a:t>Akyazı</a:t>
            </a:r>
            <a:r>
              <a:rPr lang="en-US" sz="2400" dirty="0"/>
              <a:t> and </a:t>
            </a:r>
            <a:r>
              <a:rPr lang="en-US" sz="2400" dirty="0" err="1"/>
              <a:t>Hendek</a:t>
            </a:r>
            <a:r>
              <a:rPr lang="en-US" sz="2400" dirty="0"/>
              <a:t>. The remaining areas of the province are located in the Southern Marmara section.</a:t>
            </a:r>
          </a:p>
          <a:p>
            <a:r>
              <a:rPr lang="en-US" sz="2400" dirty="0"/>
              <a:t>Due to its varied geographical features, </a:t>
            </a:r>
            <a:r>
              <a:rPr lang="en-US" sz="2400" dirty="0" err="1"/>
              <a:t>Sakarya</a:t>
            </a:r>
            <a:r>
              <a:rPr lang="en-US" sz="2400" dirty="0"/>
              <a:t> Province exhibits significant diversity and differences in social, economic, and cultural structures</a:t>
            </a:r>
            <a:r>
              <a:rPr lang="tr-TR" sz="2400" dirty="0"/>
              <a:t>.</a:t>
            </a:r>
            <a:endParaRPr lang="en-US" sz="2400" dirty="0"/>
          </a:p>
        </p:txBody>
      </p:sp>
      <p:pic>
        <p:nvPicPr>
          <p:cNvPr id="7" name="Resim 6">
            <a:extLst>
              <a:ext uri="{FF2B5EF4-FFF2-40B4-BE49-F238E27FC236}">
                <a16:creationId xmlns:a16="http://schemas.microsoft.com/office/drawing/2014/main" id="{F4A05479-CD57-4A4A-B42A-0C2DDE6997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2483" y="181818"/>
            <a:ext cx="4619473" cy="6515477"/>
          </a:xfrm>
          <a:prstGeom prst="rect">
            <a:avLst/>
          </a:prstGeom>
        </p:spPr>
      </p:pic>
      <p:pic>
        <p:nvPicPr>
          <p:cNvPr id="9" name="Resim 8">
            <a:extLst>
              <a:ext uri="{FF2B5EF4-FFF2-40B4-BE49-F238E27FC236}">
                <a16:creationId xmlns:a16="http://schemas.microsoft.com/office/drawing/2014/main" id="{D02B63A9-7FFC-40EF-89A5-99AF865B6B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413" y="3220790"/>
            <a:ext cx="5241470" cy="3501008"/>
          </a:xfrm>
          <a:prstGeom prst="rect">
            <a:avLst/>
          </a:prstGeom>
        </p:spPr>
      </p:pic>
    </p:spTree>
    <p:extLst>
      <p:ext uri="{BB962C8B-B14F-4D97-AF65-F5344CB8AC3E}">
        <p14:creationId xmlns:p14="http://schemas.microsoft.com/office/powerpoint/2010/main" val="2947613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ACC6C62-5EC7-6C7C-718C-06F7179AC3AB}"/>
              </a:ext>
            </a:extLst>
          </p:cNvPr>
          <p:cNvSpPr>
            <a:spLocks noGrp="1"/>
          </p:cNvSpPr>
          <p:nvPr>
            <p:ph type="title"/>
          </p:nvPr>
        </p:nvSpPr>
        <p:spPr>
          <a:xfrm>
            <a:off x="1015735" y="107922"/>
            <a:ext cx="10157354" cy="432048"/>
          </a:xfrm>
        </p:spPr>
        <p:txBody>
          <a:bodyPr>
            <a:normAutofit fontScale="90000"/>
          </a:bodyPr>
          <a:lstStyle/>
          <a:p>
            <a:pPr algn="ctr"/>
            <a:br>
              <a:rPr lang="tr-TR" sz="1800" dirty="0">
                <a:effectLst/>
                <a:latin typeface="Calibri" panose="020F0502020204030204" pitchFamily="34"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r>
              <a:rPr lang="tr-TR" sz="1800" dirty="0">
                <a:effectLst/>
                <a:latin typeface="Calibri" panose="020F0502020204030204" pitchFamily="34" charset="0"/>
                <a:ea typeface="Calibri" panose="020F0502020204030204" pitchFamily="34" charset="0"/>
                <a:cs typeface="Times New Roman" panose="02020603050405020304" pitchFamily="18" charset="0"/>
              </a:rPr>
              <a:t>Sakarya İlinin Tektonik Yapısı</a:t>
            </a:r>
            <a:endParaRPr lang="tr-TR" dirty="0"/>
          </a:p>
        </p:txBody>
      </p:sp>
      <p:sp>
        <p:nvSpPr>
          <p:cNvPr id="3" name="İçerik Yer Tutucusu 2">
            <a:extLst>
              <a:ext uri="{FF2B5EF4-FFF2-40B4-BE49-F238E27FC236}">
                <a16:creationId xmlns:a16="http://schemas.microsoft.com/office/drawing/2014/main" id="{1C4BF730-2B20-67CA-11B3-D29B28E9B330}"/>
              </a:ext>
            </a:extLst>
          </p:cNvPr>
          <p:cNvSpPr>
            <a:spLocks noGrp="1"/>
          </p:cNvSpPr>
          <p:nvPr>
            <p:ph idx="1"/>
          </p:nvPr>
        </p:nvSpPr>
        <p:spPr>
          <a:xfrm>
            <a:off x="357427" y="407459"/>
            <a:ext cx="3207450" cy="3442084"/>
          </a:xfrm>
        </p:spPr>
        <p:txBody>
          <a:bodyPr>
            <a:normAutofit fontScale="92500" lnSpcReduction="10000"/>
          </a:bodyPr>
          <a:lstStyle/>
          <a:p>
            <a:pPr marL="0" indent="0" algn="just">
              <a:lnSpc>
                <a:spcPct val="107000"/>
              </a:lnSpc>
              <a:spcAft>
                <a:spcPts val="800"/>
              </a:spcAft>
              <a:buNone/>
            </a:pPr>
            <a:r>
              <a:rPr lang="en-US" sz="1600" dirty="0" err="1">
                <a:effectLst/>
                <a:latin typeface="Calibri" panose="020F0502020204030204" pitchFamily="34" charset="0"/>
                <a:ea typeface="Calibri" panose="020F0502020204030204" pitchFamily="34" charset="0"/>
                <a:cs typeface="Times New Roman" panose="02020603050405020304" pitchFamily="18" charset="0"/>
              </a:rPr>
              <a:t>Sakarya</a:t>
            </a:r>
            <a:r>
              <a:rPr lang="en-US" sz="1600" dirty="0">
                <a:effectLst/>
                <a:latin typeface="Calibri" panose="020F0502020204030204" pitchFamily="34" charset="0"/>
                <a:ea typeface="Calibri" panose="020F0502020204030204" pitchFamily="34" charset="0"/>
                <a:cs typeface="Times New Roman" panose="02020603050405020304" pitchFamily="18" charset="0"/>
              </a:rPr>
              <a:t> Province is controlled by active fault lines developed within the North Anatolian Fault Zone (NAFZ). The northern part of the province lies within the Eurasian Plate, the central part within the NAFZ, and the southern part within the Anatolian Plate. The morphological distinctiveness of the active faults is quite prominent. This effect can be observed in formations such as the Gulf of Izmit,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Sapanca</a:t>
            </a:r>
            <a:r>
              <a:rPr lang="en-US" sz="1600" dirty="0">
                <a:effectLst/>
                <a:latin typeface="Calibri" panose="020F0502020204030204" pitchFamily="34" charset="0"/>
                <a:ea typeface="Calibri" panose="020F0502020204030204" pitchFamily="34" charset="0"/>
                <a:cs typeface="Times New Roman" panose="02020603050405020304" pitchFamily="18" charset="0"/>
              </a:rPr>
              <a:t> Lake, Adapazarı Plain (tectonic corridor),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Mudurnu</a:t>
            </a:r>
            <a:r>
              <a:rPr lang="en-US" sz="1600" dirty="0">
                <a:effectLst/>
                <a:latin typeface="Calibri" panose="020F0502020204030204" pitchFamily="34" charset="0"/>
                <a:ea typeface="Calibri" panose="020F0502020204030204" pitchFamily="34" charset="0"/>
                <a:cs typeface="Times New Roman" panose="02020603050405020304" pitchFamily="18" charset="0"/>
              </a:rPr>
              <a:t> River Valley, and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Pamukova</a:t>
            </a:r>
            <a:r>
              <a:rPr lang="en-US" sz="1600" dirty="0">
                <a:effectLst/>
                <a:latin typeface="Calibri" panose="020F0502020204030204" pitchFamily="34" charset="0"/>
                <a:ea typeface="Calibri" panose="020F0502020204030204" pitchFamily="34" charset="0"/>
                <a:cs typeface="Times New Roman" panose="02020603050405020304" pitchFamily="18" charset="0"/>
              </a:rPr>
              <a:t>.</a:t>
            </a:r>
            <a:endParaRPr lang="tr-TR" dirty="0"/>
          </a:p>
        </p:txBody>
      </p:sp>
      <p:pic>
        <p:nvPicPr>
          <p:cNvPr id="9" name="Resim 8">
            <a:extLst>
              <a:ext uri="{FF2B5EF4-FFF2-40B4-BE49-F238E27FC236}">
                <a16:creationId xmlns:a16="http://schemas.microsoft.com/office/drawing/2014/main" id="{049A8172-D1ED-4E71-9A00-10BF4F325A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6762" y="633416"/>
            <a:ext cx="3994425" cy="2785302"/>
          </a:xfrm>
          <a:prstGeom prst="rect">
            <a:avLst/>
          </a:prstGeom>
        </p:spPr>
      </p:pic>
      <p:pic>
        <p:nvPicPr>
          <p:cNvPr id="11" name="Resim 10">
            <a:extLst>
              <a:ext uri="{FF2B5EF4-FFF2-40B4-BE49-F238E27FC236}">
                <a16:creationId xmlns:a16="http://schemas.microsoft.com/office/drawing/2014/main" id="{EBC18224-6014-4ACC-855E-14F1BA9195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4671" y="47071"/>
            <a:ext cx="3476103" cy="3957993"/>
          </a:xfrm>
          <a:prstGeom prst="rect">
            <a:avLst/>
          </a:prstGeom>
        </p:spPr>
      </p:pic>
      <p:sp>
        <p:nvSpPr>
          <p:cNvPr id="12" name="Metin kutusu 11">
            <a:extLst>
              <a:ext uri="{FF2B5EF4-FFF2-40B4-BE49-F238E27FC236}">
                <a16:creationId xmlns:a16="http://schemas.microsoft.com/office/drawing/2014/main" id="{50DD4A31-8F83-4EA2-BB3D-4948725F9D3F}"/>
              </a:ext>
            </a:extLst>
          </p:cNvPr>
          <p:cNvSpPr txBox="1"/>
          <p:nvPr/>
        </p:nvSpPr>
        <p:spPr>
          <a:xfrm>
            <a:off x="508051" y="3717032"/>
            <a:ext cx="2922065" cy="2800767"/>
          </a:xfrm>
          <a:prstGeom prst="rect">
            <a:avLst/>
          </a:prstGeom>
          <a:noFill/>
        </p:spPr>
        <p:txBody>
          <a:bodyPr wrap="square" rtlCol="0">
            <a:spAutoFit/>
          </a:bodyPr>
          <a:lstStyle/>
          <a:p>
            <a:pPr algn="just"/>
            <a:r>
              <a:rPr lang="en-US" sz="1600" dirty="0">
                <a:effectLst/>
                <a:latin typeface="Calibri" panose="020F0502020204030204" pitchFamily="34" charset="0"/>
                <a:ea typeface="Calibri" panose="020F0502020204030204" pitchFamily="34" charset="0"/>
                <a:cs typeface="Times New Roman" panose="02020603050405020304" pitchFamily="18" charset="0"/>
              </a:rPr>
              <a:t>Most of the active fault lines within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Sakarya</a:t>
            </a:r>
            <a:r>
              <a:rPr lang="en-US" sz="1600" dirty="0">
                <a:effectLst/>
                <a:latin typeface="Calibri" panose="020F0502020204030204" pitchFamily="34" charset="0"/>
                <a:ea typeface="Calibri" panose="020F0502020204030204" pitchFamily="34" charset="0"/>
                <a:cs typeface="Times New Roman" panose="02020603050405020304" pitchFamily="18" charset="0"/>
              </a:rPr>
              <a:t> Province were fractured by two major earthquakes that occurred in the last century (July 22, 1967, and August 17, 1999).The August 17, 1999 earthquake is one of the most devastating earthquakes in Turkey's history and caused extensive destruction and loss of life in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Sakarya</a:t>
            </a:r>
            <a:r>
              <a:rPr lang="en-US" sz="1600" dirty="0">
                <a:effectLst/>
                <a:latin typeface="Calibri" panose="020F0502020204030204" pitchFamily="34" charset="0"/>
                <a:ea typeface="Calibri" panose="020F0502020204030204" pitchFamily="34" charset="0"/>
                <a:cs typeface="Times New Roman" panose="02020603050405020304" pitchFamily="18" charset="0"/>
              </a:rPr>
              <a:t>.</a:t>
            </a:r>
            <a:endParaRPr lang="tr-TR" dirty="0"/>
          </a:p>
        </p:txBody>
      </p:sp>
      <p:pic>
        <p:nvPicPr>
          <p:cNvPr id="5" name="Resim 4">
            <a:extLst>
              <a:ext uri="{FF2B5EF4-FFF2-40B4-BE49-F238E27FC236}">
                <a16:creationId xmlns:a16="http://schemas.microsoft.com/office/drawing/2014/main" id="{379AF02C-FD88-4B89-B028-079C25F12B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06937" y="3752570"/>
            <a:ext cx="4014249" cy="2729689"/>
          </a:xfrm>
          <a:prstGeom prst="rect">
            <a:avLst/>
          </a:prstGeom>
        </p:spPr>
      </p:pic>
      <p:pic>
        <p:nvPicPr>
          <p:cNvPr id="7" name="Resim 6">
            <a:extLst>
              <a:ext uri="{FF2B5EF4-FFF2-40B4-BE49-F238E27FC236}">
                <a16:creationId xmlns:a16="http://schemas.microsoft.com/office/drawing/2014/main" id="{ADA9E641-C607-4D35-A481-596DD966C3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33276" y="4352378"/>
            <a:ext cx="3476103" cy="1957313"/>
          </a:xfrm>
          <a:prstGeom prst="rect">
            <a:avLst/>
          </a:prstGeom>
        </p:spPr>
      </p:pic>
    </p:spTree>
    <p:extLst>
      <p:ext uri="{BB962C8B-B14F-4D97-AF65-F5344CB8AC3E}">
        <p14:creationId xmlns:p14="http://schemas.microsoft.com/office/powerpoint/2010/main" val="96785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BE1AAD30-5753-4896-9A79-1CE33845E6C8}"/>
              </a:ext>
            </a:extLst>
          </p:cNvPr>
          <p:cNvSpPr>
            <a:spLocks noGrp="1"/>
          </p:cNvSpPr>
          <p:nvPr>
            <p:ph type="title"/>
          </p:nvPr>
        </p:nvSpPr>
        <p:spPr>
          <a:xfrm>
            <a:off x="477789" y="394320"/>
            <a:ext cx="5328594" cy="658416"/>
          </a:xfrm>
        </p:spPr>
        <p:txBody>
          <a:bodyPr>
            <a:normAutofit/>
          </a:bodyPr>
          <a:lstStyle/>
          <a:p>
            <a:pPr algn="ctr"/>
            <a:r>
              <a:rPr lang="tr-TR" sz="2800" dirty="0" err="1"/>
              <a:t>Morphology</a:t>
            </a:r>
            <a:endParaRPr lang="tr-TR" sz="2800" dirty="0"/>
          </a:p>
        </p:txBody>
      </p:sp>
      <p:sp>
        <p:nvSpPr>
          <p:cNvPr id="5" name="İçerik Yer Tutucusu 4">
            <a:extLst>
              <a:ext uri="{FF2B5EF4-FFF2-40B4-BE49-F238E27FC236}">
                <a16:creationId xmlns:a16="http://schemas.microsoft.com/office/drawing/2014/main" id="{595C84CA-C500-4A61-A240-0A5E286F6A95}"/>
              </a:ext>
            </a:extLst>
          </p:cNvPr>
          <p:cNvSpPr>
            <a:spLocks noGrp="1"/>
          </p:cNvSpPr>
          <p:nvPr>
            <p:ph sz="half" idx="1"/>
          </p:nvPr>
        </p:nvSpPr>
        <p:spPr>
          <a:xfrm>
            <a:off x="261764" y="1196752"/>
            <a:ext cx="5832649" cy="4975448"/>
          </a:xfrm>
        </p:spPr>
        <p:txBody>
          <a:bodyPr>
            <a:normAutofit/>
          </a:bodyPr>
          <a:lstStyle/>
          <a:p>
            <a:r>
              <a:rPr lang="tr-TR" sz="1600" dirty="0"/>
              <a:t>T</a:t>
            </a:r>
            <a:r>
              <a:rPr lang="en-US" sz="1600" dirty="0"/>
              <a:t>he main morphological units of </a:t>
            </a:r>
            <a:r>
              <a:rPr lang="en-US" sz="1600" dirty="0" err="1"/>
              <a:t>Sakarya</a:t>
            </a:r>
            <a:r>
              <a:rPr lang="en-US" sz="1600" dirty="0"/>
              <a:t> consist of the extensions of the </a:t>
            </a:r>
            <a:r>
              <a:rPr lang="en-US" sz="1600" dirty="0" err="1"/>
              <a:t>Kocaeli</a:t>
            </a:r>
            <a:r>
              <a:rPr lang="en-US" sz="1600" dirty="0"/>
              <a:t> Plateau and </a:t>
            </a:r>
            <a:r>
              <a:rPr lang="en-US" sz="1600" dirty="0" err="1"/>
              <a:t>Çamdağ</a:t>
            </a:r>
            <a:r>
              <a:rPr lang="en-US" sz="1600" dirty="0"/>
              <a:t> in the north, the </a:t>
            </a:r>
            <a:r>
              <a:rPr lang="en-US" sz="1600" dirty="0" err="1"/>
              <a:t>Samanlı</a:t>
            </a:r>
            <a:r>
              <a:rPr lang="en-US" sz="1600" dirty="0"/>
              <a:t> Mountains and </a:t>
            </a:r>
            <a:r>
              <a:rPr lang="en-US" sz="1600" dirty="0" err="1"/>
              <a:t>Pamukova</a:t>
            </a:r>
            <a:r>
              <a:rPr lang="en-US" sz="1600" dirty="0"/>
              <a:t> depression in the south, and the Adapazarı Plain, </a:t>
            </a:r>
            <a:r>
              <a:rPr lang="en-US" sz="1600" dirty="0" err="1"/>
              <a:t>Akova</a:t>
            </a:r>
            <a:r>
              <a:rPr lang="en-US" sz="1600" dirty="0"/>
              <a:t>, and </a:t>
            </a:r>
            <a:r>
              <a:rPr lang="en-US" sz="1600" dirty="0" err="1"/>
              <a:t>Sapanca</a:t>
            </a:r>
            <a:r>
              <a:rPr lang="en-US" sz="1600" dirty="0"/>
              <a:t> Lake located between these units.</a:t>
            </a:r>
          </a:p>
          <a:p>
            <a:r>
              <a:rPr lang="en-US" sz="1600" dirty="0"/>
              <a:t>The </a:t>
            </a:r>
            <a:r>
              <a:rPr lang="en-US" sz="1600" dirty="0" err="1"/>
              <a:t>Sakarya</a:t>
            </a:r>
            <a:r>
              <a:rPr lang="en-US" sz="1600" dirty="0"/>
              <a:t> River, which flows in a southwest-northeast direction, intersects these morphological units. </a:t>
            </a:r>
            <a:r>
              <a:rPr lang="en-US" sz="1600" dirty="0" err="1"/>
              <a:t>Sapanca</a:t>
            </a:r>
            <a:r>
              <a:rPr lang="en-US" sz="1600" dirty="0"/>
              <a:t> Lake is 31 meters above sea level and has an area of 47 km².</a:t>
            </a:r>
          </a:p>
          <a:p>
            <a:r>
              <a:rPr lang="en-US" sz="1600" dirty="0"/>
              <a:t>The highest point in </a:t>
            </a:r>
            <a:r>
              <a:rPr lang="en-US" sz="1600" dirty="0" err="1"/>
              <a:t>Sakarya</a:t>
            </a:r>
            <a:r>
              <a:rPr lang="en-US" sz="1600" dirty="0"/>
              <a:t> is </a:t>
            </a:r>
            <a:r>
              <a:rPr lang="en-US" sz="1600" dirty="0" err="1"/>
              <a:t>Elmacık</a:t>
            </a:r>
            <a:r>
              <a:rPr lang="en-US" sz="1600" dirty="0"/>
              <a:t> Mountain at 1,730 meters, and the lowest point is the Black Sea coast at 0 meters. </a:t>
            </a:r>
            <a:endParaRPr lang="tr-TR" sz="1600" dirty="0"/>
          </a:p>
          <a:p>
            <a:r>
              <a:rPr lang="en-US" sz="1600" dirty="0"/>
              <a:t>Plains cover 21% of the province.</a:t>
            </a:r>
          </a:p>
          <a:p>
            <a:pPr marL="0" indent="0" algn="just">
              <a:buNone/>
            </a:pPr>
            <a:endParaRPr lang="tr-TR"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tr-TR" dirty="0"/>
          </a:p>
        </p:txBody>
      </p:sp>
      <p:pic>
        <p:nvPicPr>
          <p:cNvPr id="8" name="İçerik Yer Tutucusu 7">
            <a:extLst>
              <a:ext uri="{FF2B5EF4-FFF2-40B4-BE49-F238E27FC236}">
                <a16:creationId xmlns:a16="http://schemas.microsoft.com/office/drawing/2014/main" id="{69FD747C-3C5C-4DA0-BF55-9344E2FF3D1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82443" y="380280"/>
            <a:ext cx="4682645" cy="6217071"/>
          </a:xfrm>
        </p:spPr>
      </p:pic>
    </p:spTree>
    <p:extLst>
      <p:ext uri="{BB962C8B-B14F-4D97-AF65-F5344CB8AC3E}">
        <p14:creationId xmlns:p14="http://schemas.microsoft.com/office/powerpoint/2010/main" val="818772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6C456D96-46D2-4CD3-897C-16A3FF49990C}"/>
              </a:ext>
            </a:extLst>
          </p:cNvPr>
          <p:cNvSpPr>
            <a:spLocks noGrp="1"/>
          </p:cNvSpPr>
          <p:nvPr>
            <p:ph type="title"/>
          </p:nvPr>
        </p:nvSpPr>
        <p:spPr>
          <a:xfrm>
            <a:off x="1413892" y="404664"/>
            <a:ext cx="3248911" cy="432048"/>
          </a:xfrm>
        </p:spPr>
        <p:txBody>
          <a:bodyPr>
            <a:normAutofit fontScale="90000"/>
          </a:bodyPr>
          <a:lstStyle/>
          <a:p>
            <a:pPr algn="ctr"/>
            <a:br>
              <a:rPr lang="tr-TR" sz="1800" dirty="0">
                <a:effectLst/>
                <a:latin typeface="Calibri" panose="020F0502020204030204" pitchFamily="34"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br>
              <a:rPr lang="tr-TR" sz="1800" dirty="0">
                <a:effectLst/>
                <a:latin typeface="Calibri" panose="020F0502020204030204" pitchFamily="34" charset="0"/>
                <a:ea typeface="Calibri" panose="020F0502020204030204" pitchFamily="34" charset="0"/>
                <a:cs typeface="Times New Roman" panose="02020603050405020304" pitchFamily="18" charset="0"/>
              </a:rPr>
            </a:br>
            <a:r>
              <a:rPr lang="tr-TR" sz="2200" dirty="0">
                <a:effectLst/>
                <a:latin typeface="Calibri" panose="020F0502020204030204" pitchFamily="34" charset="0"/>
                <a:ea typeface="Calibri" panose="020F0502020204030204" pitchFamily="34" charset="0"/>
                <a:cs typeface="Times New Roman" panose="02020603050405020304" pitchFamily="18" charset="0"/>
              </a:rPr>
              <a:t>CLIMATE</a:t>
            </a:r>
            <a:endParaRPr lang="tr-TR" sz="2200" dirty="0"/>
          </a:p>
        </p:txBody>
      </p:sp>
      <p:sp>
        <p:nvSpPr>
          <p:cNvPr id="5" name="İçerik Yer Tutucusu 4">
            <a:extLst>
              <a:ext uri="{FF2B5EF4-FFF2-40B4-BE49-F238E27FC236}">
                <a16:creationId xmlns:a16="http://schemas.microsoft.com/office/drawing/2014/main" id="{FAF9201E-8330-4C23-A4D5-7D004A4B0F36}"/>
              </a:ext>
            </a:extLst>
          </p:cNvPr>
          <p:cNvSpPr>
            <a:spLocks noGrp="1"/>
          </p:cNvSpPr>
          <p:nvPr>
            <p:ph sz="half" idx="1"/>
          </p:nvPr>
        </p:nvSpPr>
        <p:spPr>
          <a:xfrm>
            <a:off x="621805" y="836712"/>
            <a:ext cx="5472608" cy="5616624"/>
          </a:xfrm>
        </p:spPr>
        <p:txBody>
          <a:bodyPr>
            <a:normAutofit lnSpcReduction="10000"/>
          </a:bodyPr>
          <a:lstStyle/>
          <a:p>
            <a:r>
              <a:rPr lang="en-US" sz="1400" dirty="0"/>
              <a:t>According to data from meteorological stations in and around </a:t>
            </a:r>
            <a:r>
              <a:rPr lang="en-US" sz="1400" dirty="0" err="1"/>
              <a:t>Sakarya</a:t>
            </a:r>
            <a:r>
              <a:rPr lang="en-US" sz="1400" dirty="0"/>
              <a:t> Province, the annual average temperatures are 14.6°C in Adapazarı, 13.7°C in </a:t>
            </a:r>
            <a:r>
              <a:rPr lang="en-US" sz="1400" dirty="0" err="1"/>
              <a:t>Geyve</a:t>
            </a:r>
            <a:r>
              <a:rPr lang="en-US" sz="1400" dirty="0"/>
              <a:t>, and 14.1°C in </a:t>
            </a:r>
            <a:r>
              <a:rPr lang="en-US" sz="1400" dirty="0" err="1"/>
              <a:t>Sapanca</a:t>
            </a:r>
            <a:r>
              <a:rPr lang="en-US" sz="1400" dirty="0"/>
              <a:t>. Due to its higher altitude (100 m) and relatively less exposure to marine influence, </a:t>
            </a:r>
            <a:r>
              <a:rPr lang="en-US" sz="1400" dirty="0" err="1"/>
              <a:t>Geyve</a:t>
            </a:r>
            <a:r>
              <a:rPr lang="en-US" sz="1400" dirty="0"/>
              <a:t> has lower temperatures compared to Adapazarı (30 m) and </a:t>
            </a:r>
            <a:r>
              <a:rPr lang="en-US" sz="1400" dirty="0" err="1"/>
              <a:t>Sapanca</a:t>
            </a:r>
            <a:r>
              <a:rPr lang="en-US" sz="1400" dirty="0"/>
              <a:t> (30 m).</a:t>
            </a:r>
          </a:p>
          <a:p>
            <a:r>
              <a:rPr lang="en-US" sz="1400" dirty="0"/>
              <a:t>Monthly average temperatures reach their lowest values in January (Adapazarı 6.1°C, </a:t>
            </a:r>
            <a:r>
              <a:rPr lang="en-US" sz="1400" dirty="0" err="1"/>
              <a:t>Geyve</a:t>
            </a:r>
            <a:r>
              <a:rPr lang="en-US" sz="1400" dirty="0"/>
              <a:t> 4.0°C, </a:t>
            </a:r>
            <a:r>
              <a:rPr lang="en-US" sz="1400" dirty="0" err="1"/>
              <a:t>Sapanca</a:t>
            </a:r>
            <a:r>
              <a:rPr lang="en-US" sz="1400" dirty="0"/>
              <a:t> 5.4°C), rise above the annual average in May, and reach their highest values in July (Adapazarı 23.6°C, </a:t>
            </a:r>
            <a:r>
              <a:rPr lang="en-US" sz="1400" dirty="0" err="1"/>
              <a:t>Geyve</a:t>
            </a:r>
            <a:r>
              <a:rPr lang="en-US" sz="1400" dirty="0"/>
              <a:t> 23.4°C, </a:t>
            </a:r>
            <a:r>
              <a:rPr lang="en-US" sz="1400" dirty="0" err="1"/>
              <a:t>Sapanca</a:t>
            </a:r>
            <a:r>
              <a:rPr lang="en-US" sz="1400" dirty="0"/>
              <a:t> 23.4°C).</a:t>
            </a:r>
          </a:p>
          <a:p>
            <a:r>
              <a:rPr lang="en-US" sz="1400" dirty="0"/>
              <a:t>In </a:t>
            </a:r>
            <a:r>
              <a:rPr lang="en-US" sz="1400" dirty="0" err="1"/>
              <a:t>Sakarya</a:t>
            </a:r>
            <a:r>
              <a:rPr lang="en-US" sz="1400" dirty="0"/>
              <a:t>, significant temperature differences occur between the plain areas and the surrounding plateaus and mountainous regions due to differences in elevation, aspect, slope gradient, and orographic alignment. It is observed that there is a temperature difference of approximately 2°C between the coastal and inland areas in the distribution of annual average temperatures. Due to the maritime effect, coastal areas experience higher temperatures (Karasu, 14.8°C), while inland areas are relatively cooler due to continental influence (</a:t>
            </a:r>
            <a:r>
              <a:rPr lang="en-US" sz="1400" dirty="0" err="1"/>
              <a:t>Taraklı</a:t>
            </a:r>
            <a:r>
              <a:rPr lang="en-US" sz="1400" dirty="0"/>
              <a:t>, 12.1°C). There is a temperature difference of 6-7°C between the plain areas and the surrounding plateau surfaces and mountainous regions.</a:t>
            </a:r>
          </a:p>
          <a:p>
            <a:pPr marL="0" indent="0" algn="just">
              <a:buNone/>
            </a:pP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İçerik Yer Tutucusu 11">
            <a:extLst>
              <a:ext uri="{FF2B5EF4-FFF2-40B4-BE49-F238E27FC236}">
                <a16:creationId xmlns:a16="http://schemas.microsoft.com/office/drawing/2014/main" id="{3069EFBE-9FDB-4A8B-A89D-95E26434AC3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70476" y="331387"/>
            <a:ext cx="4464496" cy="6087338"/>
          </a:xfrm>
        </p:spPr>
      </p:pic>
    </p:spTree>
    <p:extLst>
      <p:ext uri="{BB962C8B-B14F-4D97-AF65-F5344CB8AC3E}">
        <p14:creationId xmlns:p14="http://schemas.microsoft.com/office/powerpoint/2010/main" val="2294319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A56FFD95-3D0A-48EC-8B88-DC72255507BE}"/>
              </a:ext>
            </a:extLst>
          </p:cNvPr>
          <p:cNvSpPr>
            <a:spLocks noGrp="1"/>
          </p:cNvSpPr>
          <p:nvPr>
            <p:ph type="title"/>
          </p:nvPr>
        </p:nvSpPr>
        <p:spPr>
          <a:xfrm>
            <a:off x="2349996" y="548680"/>
            <a:ext cx="2088232" cy="432048"/>
          </a:xfrm>
        </p:spPr>
        <p:txBody>
          <a:bodyPr>
            <a:normAutofit/>
          </a:bodyPr>
          <a:lstStyle/>
          <a:p>
            <a:r>
              <a:rPr lang="tr-TR" sz="2000" dirty="0"/>
              <a:t>PRECIPITATION</a:t>
            </a:r>
          </a:p>
        </p:txBody>
      </p:sp>
      <p:sp>
        <p:nvSpPr>
          <p:cNvPr id="6" name="İçerik Yer Tutucusu 5">
            <a:extLst>
              <a:ext uri="{FF2B5EF4-FFF2-40B4-BE49-F238E27FC236}">
                <a16:creationId xmlns:a16="http://schemas.microsoft.com/office/drawing/2014/main" id="{F561CAEC-6D02-43FB-9023-7D4B14ABD26A}"/>
              </a:ext>
            </a:extLst>
          </p:cNvPr>
          <p:cNvSpPr>
            <a:spLocks noGrp="1"/>
          </p:cNvSpPr>
          <p:nvPr>
            <p:ph sz="half" idx="1"/>
          </p:nvPr>
        </p:nvSpPr>
        <p:spPr>
          <a:xfrm>
            <a:off x="477789" y="1124744"/>
            <a:ext cx="5328592" cy="4608512"/>
          </a:xfrm>
        </p:spPr>
        <p:txBody>
          <a:bodyPr>
            <a:normAutofit fontScale="92500"/>
          </a:bodyPr>
          <a:lstStyle/>
          <a:p>
            <a:pPr marL="0" indent="0" algn="jus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annual average precipitation amounts recorded by meteorological stations in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Sakarya</a:t>
            </a:r>
            <a:r>
              <a:rPr lang="en-US" sz="1800" dirty="0">
                <a:effectLst/>
                <a:latin typeface="Calibri" panose="020F0502020204030204" pitchFamily="34" charset="0"/>
                <a:ea typeface="Calibri" panose="020F0502020204030204" pitchFamily="34" charset="0"/>
                <a:cs typeface="Times New Roman" panose="02020603050405020304" pitchFamily="18" charset="0"/>
              </a:rPr>
              <a:t> are 852.7 mm in Adapazarı, 890.2 mm in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Sapanca</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632.5 mm in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Geyve</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Winter is the season with the most precipitation, while summer has the least. There is a significant difference in annual average precipitation among the stations, which is mainly due to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Sakarya's</a:t>
            </a:r>
            <a:r>
              <a:rPr lang="en-US" sz="1800" dirty="0">
                <a:effectLst/>
                <a:latin typeface="Calibri" panose="020F0502020204030204" pitchFamily="34" charset="0"/>
                <a:ea typeface="Calibri" panose="020F0502020204030204" pitchFamily="34" charset="0"/>
                <a:cs typeface="Times New Roman" panose="02020603050405020304" pitchFamily="18" charset="0"/>
              </a:rPr>
              <a:t> geographical position relative to the sea and its geomorphological features.</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Precipitation amounts increase from south to north and from plain areas towards mountainous regions with higher elevations. </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areas with the least precipitation are in the south, around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Pamukova</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its surroundings. The annual average number of rainy days is 133 days in Adapazarı, 103 days in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Sapanca</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106 days in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Geyve</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endParaRPr lang="tr-TR" dirty="0"/>
          </a:p>
        </p:txBody>
      </p:sp>
      <p:pic>
        <p:nvPicPr>
          <p:cNvPr id="9" name="İçerik Yer Tutucusu 8">
            <a:extLst>
              <a:ext uri="{FF2B5EF4-FFF2-40B4-BE49-F238E27FC236}">
                <a16:creationId xmlns:a16="http://schemas.microsoft.com/office/drawing/2014/main" id="{04E882E6-199C-44F5-82AC-D0BEEBA259F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17413" y="809429"/>
            <a:ext cx="5909647" cy="2331539"/>
          </a:xfrm>
        </p:spPr>
      </p:pic>
      <p:pic>
        <p:nvPicPr>
          <p:cNvPr id="11" name="Resim 10">
            <a:extLst>
              <a:ext uri="{FF2B5EF4-FFF2-40B4-BE49-F238E27FC236}">
                <a16:creationId xmlns:a16="http://schemas.microsoft.com/office/drawing/2014/main" id="{F4C3A642-AE55-4E7D-B68C-3F86159A97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8291" y="3356992"/>
            <a:ext cx="5947402" cy="3223686"/>
          </a:xfrm>
          <a:prstGeom prst="rect">
            <a:avLst/>
          </a:prstGeom>
        </p:spPr>
      </p:pic>
    </p:spTree>
    <p:extLst>
      <p:ext uri="{BB962C8B-B14F-4D97-AF65-F5344CB8AC3E}">
        <p14:creationId xmlns:p14="http://schemas.microsoft.com/office/powerpoint/2010/main" val="1750688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4821035D-C1D4-43A0-AC3B-F787630240CC}"/>
              </a:ext>
            </a:extLst>
          </p:cNvPr>
          <p:cNvSpPr>
            <a:spLocks noGrp="1"/>
          </p:cNvSpPr>
          <p:nvPr>
            <p:ph type="title"/>
          </p:nvPr>
        </p:nvSpPr>
        <p:spPr/>
        <p:txBody>
          <a:bodyPr/>
          <a:lstStyle/>
          <a:p>
            <a:r>
              <a:rPr lang="tr-TR" dirty="0"/>
              <a:t>HYDROGRAPHY </a:t>
            </a:r>
          </a:p>
        </p:txBody>
      </p:sp>
      <p:sp>
        <p:nvSpPr>
          <p:cNvPr id="6" name="İçerik Yer Tutucusu 5">
            <a:extLst>
              <a:ext uri="{FF2B5EF4-FFF2-40B4-BE49-F238E27FC236}">
                <a16:creationId xmlns:a16="http://schemas.microsoft.com/office/drawing/2014/main" id="{137A9578-CCC6-4A68-9E7A-1C6519271189}"/>
              </a:ext>
            </a:extLst>
          </p:cNvPr>
          <p:cNvSpPr>
            <a:spLocks noGrp="1"/>
          </p:cNvSpPr>
          <p:nvPr>
            <p:ph sz="half" idx="1"/>
          </p:nvPr>
        </p:nvSpPr>
        <p:spPr>
          <a:xfrm>
            <a:off x="333772" y="1628800"/>
            <a:ext cx="5760641" cy="4543400"/>
          </a:xfrm>
        </p:spPr>
        <p:txBody>
          <a:bodyPr>
            <a:normAutofit lnSpcReduction="10000"/>
          </a:bodyPr>
          <a:lstStyle/>
          <a:p>
            <a:r>
              <a:rPr lang="en-US" sz="1400" dirty="0"/>
              <a:t>The hydrographic characteristics of a region (rivers, lakes, groundwater, etc.) are shaped by numerous factors, primarily climate, especially precipitation. Many streams that mostly flow into the </a:t>
            </a:r>
            <a:r>
              <a:rPr lang="en-US" sz="1400" dirty="0" err="1"/>
              <a:t>Sakarya</a:t>
            </a:r>
            <a:r>
              <a:rPr lang="en-US" sz="1400" dirty="0"/>
              <a:t> River, along with lakes and a high groundwater level, constitute the water resources of </a:t>
            </a:r>
            <a:r>
              <a:rPr lang="en-US" sz="1400" dirty="0" err="1"/>
              <a:t>Sakarya</a:t>
            </a:r>
            <a:r>
              <a:rPr lang="en-US" sz="1400" dirty="0"/>
              <a:t>.</a:t>
            </a:r>
          </a:p>
          <a:p>
            <a:r>
              <a:rPr lang="en-US" sz="1400" dirty="0"/>
              <a:t>The primary river in </a:t>
            </a:r>
            <a:r>
              <a:rPr lang="en-US" sz="1400" dirty="0" err="1"/>
              <a:t>Sakarya</a:t>
            </a:r>
            <a:r>
              <a:rPr lang="en-US" sz="1400" dirty="0"/>
              <a:t> Province is, without a doubt, the </a:t>
            </a:r>
            <a:r>
              <a:rPr lang="en-US" sz="1400" dirty="0" err="1"/>
              <a:t>Sakarya</a:t>
            </a:r>
            <a:r>
              <a:rPr lang="en-US" sz="1400" dirty="0"/>
              <a:t> River, which also gives its name to the province. Known as </a:t>
            </a:r>
            <a:r>
              <a:rPr lang="en-US" sz="1400" dirty="0" err="1"/>
              <a:t>Sangarios</a:t>
            </a:r>
            <a:r>
              <a:rPr lang="en-US" sz="1400" dirty="0"/>
              <a:t> in ancient times, this river, along with its tributaries, drains a significant portion of the province. It is the third longest river in Turkey after the </a:t>
            </a:r>
            <a:r>
              <a:rPr lang="en-US" sz="1400" dirty="0" err="1"/>
              <a:t>Kızılırmak</a:t>
            </a:r>
            <a:r>
              <a:rPr lang="en-US" sz="1400" dirty="0"/>
              <a:t> and </a:t>
            </a:r>
            <a:r>
              <a:rPr lang="en-US" sz="1400" dirty="0" err="1"/>
              <a:t>Yeşilırmak</a:t>
            </a:r>
            <a:r>
              <a:rPr lang="en-US" sz="1400" dirty="0"/>
              <a:t> rivers and the longest river in northwestern Anatolia.</a:t>
            </a:r>
          </a:p>
          <a:p>
            <a:r>
              <a:rPr lang="en-US" sz="1400" dirty="0"/>
              <a:t>The </a:t>
            </a:r>
            <a:r>
              <a:rPr lang="en-US" sz="1400" dirty="0" err="1"/>
              <a:t>Sakarya</a:t>
            </a:r>
            <a:r>
              <a:rPr lang="en-US" sz="1400" dirty="0"/>
              <a:t> River is 810 km long, with a basin area of 58,160 km². Its major tributaries, from upstream to downstream, include </a:t>
            </a:r>
            <a:r>
              <a:rPr lang="en-US" sz="1400" dirty="0" err="1"/>
              <a:t>Seydi</a:t>
            </a:r>
            <a:r>
              <a:rPr lang="en-US" sz="1400" dirty="0"/>
              <a:t> Stream, </a:t>
            </a:r>
            <a:r>
              <a:rPr lang="en-US" sz="1400" dirty="0" err="1"/>
              <a:t>Porsuk</a:t>
            </a:r>
            <a:r>
              <a:rPr lang="en-US" sz="1400" dirty="0"/>
              <a:t> Stream, Ankara Stream, </a:t>
            </a:r>
            <a:r>
              <a:rPr lang="en-US" sz="1400" dirty="0" err="1"/>
              <a:t>Kirmir</a:t>
            </a:r>
            <a:r>
              <a:rPr lang="en-US" sz="1400" dirty="0"/>
              <a:t> Stream, Karasu Stream, </a:t>
            </a:r>
            <a:r>
              <a:rPr lang="en-US" sz="1400" dirty="0" err="1"/>
              <a:t>Göksu</a:t>
            </a:r>
            <a:r>
              <a:rPr lang="en-US" sz="1400" dirty="0"/>
              <a:t> Stream, </a:t>
            </a:r>
            <a:r>
              <a:rPr lang="en-US" sz="1400" dirty="0" err="1"/>
              <a:t>Göynük</a:t>
            </a:r>
            <a:r>
              <a:rPr lang="en-US" sz="1400" dirty="0"/>
              <a:t> Stream, </a:t>
            </a:r>
            <a:r>
              <a:rPr lang="en-US" sz="1400" dirty="0" err="1"/>
              <a:t>Mudurnu</a:t>
            </a:r>
            <a:r>
              <a:rPr lang="en-US" sz="1400" dirty="0"/>
              <a:t> Stream, and </a:t>
            </a:r>
            <a:r>
              <a:rPr lang="en-US" sz="1400" dirty="0" err="1"/>
              <a:t>Çarksuyu</a:t>
            </a:r>
            <a:r>
              <a:rPr lang="en-US" sz="1400" dirty="0"/>
              <a:t> Creek. </a:t>
            </a:r>
            <a:r>
              <a:rPr lang="en-US" sz="1400" dirty="0" err="1"/>
              <a:t>Çark</a:t>
            </a:r>
            <a:r>
              <a:rPr lang="en-US" sz="1400" dirty="0"/>
              <a:t> Stream, which passes through the city center, carries the excess waters of </a:t>
            </a:r>
            <a:r>
              <a:rPr lang="en-US" sz="1400" dirty="0" err="1"/>
              <a:t>Sapanca</a:t>
            </a:r>
            <a:r>
              <a:rPr lang="en-US" sz="1400" dirty="0"/>
              <a:t> Lake into the </a:t>
            </a:r>
            <a:r>
              <a:rPr lang="en-US" sz="1400" dirty="0" err="1"/>
              <a:t>Sakarya</a:t>
            </a:r>
            <a:r>
              <a:rPr lang="en-US" sz="1400" dirty="0"/>
              <a:t> River.</a:t>
            </a:r>
          </a:p>
          <a:p>
            <a:pPr marL="0" indent="0" algn="just">
              <a:buNone/>
            </a:pP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tr-TR" dirty="0"/>
          </a:p>
        </p:txBody>
      </p:sp>
      <p:pic>
        <p:nvPicPr>
          <p:cNvPr id="9" name="İçerik Yer Tutucusu 8">
            <a:extLst>
              <a:ext uri="{FF2B5EF4-FFF2-40B4-BE49-F238E27FC236}">
                <a16:creationId xmlns:a16="http://schemas.microsoft.com/office/drawing/2014/main" id="{A37C2250-4B68-44E8-90AC-6F1A409809D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82444" y="548680"/>
            <a:ext cx="5167836" cy="5960399"/>
          </a:xfrm>
        </p:spPr>
      </p:pic>
    </p:spTree>
    <p:extLst>
      <p:ext uri="{BB962C8B-B14F-4D97-AF65-F5344CB8AC3E}">
        <p14:creationId xmlns:p14="http://schemas.microsoft.com/office/powerpoint/2010/main" val="3761302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5E07D09-8B0F-4E34-AD70-535A2B2EB17C}"/>
              </a:ext>
            </a:extLst>
          </p:cNvPr>
          <p:cNvSpPr>
            <a:spLocks noGrp="1"/>
          </p:cNvSpPr>
          <p:nvPr>
            <p:ph type="title"/>
          </p:nvPr>
        </p:nvSpPr>
        <p:spPr>
          <a:xfrm>
            <a:off x="1110715" y="188640"/>
            <a:ext cx="3608951" cy="576064"/>
          </a:xfrm>
        </p:spPr>
        <p:txBody>
          <a:bodyPr>
            <a:normAutofit/>
          </a:bodyPr>
          <a:lstStyle/>
          <a:p>
            <a:pPr algn="ctr"/>
            <a:r>
              <a:rPr lang="tr-TR" sz="2400" dirty="0"/>
              <a:t>LAKES </a:t>
            </a:r>
          </a:p>
        </p:txBody>
      </p:sp>
      <p:sp>
        <p:nvSpPr>
          <p:cNvPr id="3" name="İçerik Yer Tutucusu 2">
            <a:extLst>
              <a:ext uri="{FF2B5EF4-FFF2-40B4-BE49-F238E27FC236}">
                <a16:creationId xmlns:a16="http://schemas.microsoft.com/office/drawing/2014/main" id="{0D0C9E4A-97B6-4BD7-8104-5F56D76866A5}"/>
              </a:ext>
            </a:extLst>
          </p:cNvPr>
          <p:cNvSpPr>
            <a:spLocks noGrp="1"/>
          </p:cNvSpPr>
          <p:nvPr>
            <p:ph sz="half" idx="1"/>
          </p:nvPr>
        </p:nvSpPr>
        <p:spPr>
          <a:xfrm>
            <a:off x="981844" y="836712"/>
            <a:ext cx="5184576" cy="5688632"/>
          </a:xfrm>
        </p:spPr>
        <p:txBody>
          <a:bodyPr>
            <a:normAutofit fontScale="85000" lnSpcReduction="10000"/>
          </a:bodyPr>
          <a:lstStyle/>
          <a:p>
            <a:r>
              <a:rPr lang="en-US" sz="1400" dirty="0"/>
              <a:t>The lakes in </a:t>
            </a:r>
            <a:r>
              <a:rPr lang="en-US" sz="1400" dirty="0" err="1"/>
              <a:t>Sakarya</a:t>
            </a:r>
            <a:r>
              <a:rPr lang="en-US" sz="1400" dirty="0"/>
              <a:t> include </a:t>
            </a:r>
            <a:r>
              <a:rPr lang="en-US" sz="1400" dirty="0" err="1"/>
              <a:t>Sapanca</a:t>
            </a:r>
            <a:r>
              <a:rPr lang="en-US" sz="1400" dirty="0"/>
              <a:t> Lake, </a:t>
            </a:r>
            <a:r>
              <a:rPr lang="en-US" sz="1400" dirty="0" err="1"/>
              <a:t>Poyrazlar</a:t>
            </a:r>
            <a:r>
              <a:rPr lang="en-US" sz="1400" dirty="0"/>
              <a:t> Lake, </a:t>
            </a:r>
            <a:r>
              <a:rPr lang="en-US" sz="1400" dirty="0" err="1"/>
              <a:t>Taşkısığı</a:t>
            </a:r>
            <a:r>
              <a:rPr lang="en-US" sz="1400" dirty="0"/>
              <a:t> Lake, </a:t>
            </a:r>
            <a:r>
              <a:rPr lang="en-US" sz="1400" dirty="0" err="1"/>
              <a:t>Küçük</a:t>
            </a:r>
            <a:r>
              <a:rPr lang="en-US" sz="1400" dirty="0"/>
              <a:t> </a:t>
            </a:r>
            <a:r>
              <a:rPr lang="en-US" sz="1400" dirty="0" err="1"/>
              <a:t>Akgöl</a:t>
            </a:r>
            <a:r>
              <a:rPr lang="en-US" sz="1400" dirty="0"/>
              <a:t>, </a:t>
            </a:r>
            <a:r>
              <a:rPr lang="en-US" sz="1400" dirty="0" err="1"/>
              <a:t>Büyük</a:t>
            </a:r>
            <a:r>
              <a:rPr lang="en-US" sz="1400" dirty="0"/>
              <a:t> </a:t>
            </a:r>
            <a:r>
              <a:rPr lang="en-US" sz="1400" dirty="0" err="1"/>
              <a:t>Akgöl</a:t>
            </a:r>
            <a:r>
              <a:rPr lang="en-US" sz="1400" dirty="0"/>
              <a:t>, and </a:t>
            </a:r>
            <a:r>
              <a:rPr lang="en-US" sz="1400" dirty="0" err="1"/>
              <a:t>Acarlar</a:t>
            </a:r>
            <a:r>
              <a:rPr lang="en-US" sz="1400" dirty="0"/>
              <a:t> Floodplain Forest.</a:t>
            </a:r>
          </a:p>
          <a:p>
            <a:r>
              <a:rPr lang="en-US" sz="1400" dirty="0" err="1"/>
              <a:t>Sapanca</a:t>
            </a:r>
            <a:r>
              <a:rPr lang="en-US" sz="1400" dirty="0"/>
              <a:t> Lake, a tectonic lake located east of the Gulf of Izmit, has a length of 16 km in the east-west direction, a maximum width of 5 km in the north-south direction, and a surface area of approximately 47 km². The total shoreline length of the lake is 39 km, of which 13 km lies within the </a:t>
            </a:r>
            <a:r>
              <a:rPr lang="en-US" sz="1400" dirty="0" err="1"/>
              <a:t>Kocaeli</a:t>
            </a:r>
            <a:r>
              <a:rPr lang="en-US" sz="1400" dirty="0"/>
              <a:t> province and 26 km within </a:t>
            </a:r>
            <a:r>
              <a:rPr lang="en-US" sz="1400" dirty="0" err="1"/>
              <a:t>Sakarya</a:t>
            </a:r>
            <a:r>
              <a:rPr lang="en-US" sz="1400" dirty="0"/>
              <a:t> Province.</a:t>
            </a:r>
          </a:p>
          <a:p>
            <a:r>
              <a:rPr lang="en-US" sz="1400" dirty="0"/>
              <a:t>The lake basin covers an area of 251 km². </a:t>
            </a:r>
            <a:r>
              <a:rPr lang="en-US" sz="1400" dirty="0" err="1"/>
              <a:t>Sapanca</a:t>
            </a:r>
            <a:r>
              <a:rPr lang="en-US" sz="1400" dirty="0"/>
              <a:t> Lake has an average depth of 36 meters and a maximum depth of 52 meters. The freshwater in </a:t>
            </a:r>
            <a:r>
              <a:rPr lang="en-US" sz="1400" dirty="0" err="1"/>
              <a:t>Sapanca</a:t>
            </a:r>
            <a:r>
              <a:rPr lang="en-US" sz="1400" dirty="0"/>
              <a:t> Lake is used as the main drinking water source for Adapazarı and surrounding districts. The lake's waters are also used for industrial and irrigation purposes.</a:t>
            </a:r>
          </a:p>
          <a:p>
            <a:r>
              <a:rPr lang="en-US" sz="1400" dirty="0"/>
              <a:t>The streams feeding the lake include </a:t>
            </a:r>
            <a:r>
              <a:rPr lang="en-US" sz="1400" dirty="0" err="1"/>
              <a:t>Keçi</a:t>
            </a:r>
            <a:r>
              <a:rPr lang="en-US" sz="1400" dirty="0"/>
              <a:t> Stream, Istanbul Stream, </a:t>
            </a:r>
            <a:r>
              <a:rPr lang="en-US" sz="1400" dirty="0" err="1"/>
              <a:t>Kurtköy</a:t>
            </a:r>
            <a:r>
              <a:rPr lang="en-US" sz="1400" dirty="0"/>
              <a:t> Stream, </a:t>
            </a:r>
            <a:r>
              <a:rPr lang="en-US" sz="1400" dirty="0" err="1"/>
              <a:t>Mahmudiye</a:t>
            </a:r>
            <a:r>
              <a:rPr lang="en-US" sz="1400" dirty="0"/>
              <a:t> Stream, </a:t>
            </a:r>
            <a:r>
              <a:rPr lang="en-US" sz="1400" dirty="0" err="1"/>
              <a:t>Yanık</a:t>
            </a:r>
            <a:r>
              <a:rPr lang="en-US" sz="1400" dirty="0"/>
              <a:t> Stream, </a:t>
            </a:r>
            <a:r>
              <a:rPr lang="en-US" sz="1400" dirty="0" err="1"/>
              <a:t>Karaçay</a:t>
            </a:r>
            <a:r>
              <a:rPr lang="en-US" sz="1400" dirty="0"/>
              <a:t> Stream, </a:t>
            </a:r>
            <a:r>
              <a:rPr lang="en-US" sz="1400" dirty="0" err="1"/>
              <a:t>Balıkhane</a:t>
            </a:r>
            <a:r>
              <a:rPr lang="en-US" sz="1400" dirty="0"/>
              <a:t> Stream, </a:t>
            </a:r>
            <a:r>
              <a:rPr lang="en-US" sz="1400" dirty="0" err="1"/>
              <a:t>Çifteçınar</a:t>
            </a:r>
            <a:r>
              <a:rPr lang="en-US" sz="1400" dirty="0"/>
              <a:t> Stream, Tuzla Stream, </a:t>
            </a:r>
            <a:r>
              <a:rPr lang="en-US" sz="1400" dirty="0" err="1"/>
              <a:t>Kanlıtarla</a:t>
            </a:r>
            <a:r>
              <a:rPr lang="en-US" sz="1400" dirty="0"/>
              <a:t> Stream, </a:t>
            </a:r>
            <a:r>
              <a:rPr lang="en-US" sz="1400" dirty="0" err="1"/>
              <a:t>Eşme</a:t>
            </a:r>
            <a:r>
              <a:rPr lang="en-US" sz="1400" dirty="0"/>
              <a:t> Stream, Kuru Stream, </a:t>
            </a:r>
            <a:r>
              <a:rPr lang="en-US" sz="1400" dirty="0" err="1"/>
              <a:t>Maden</a:t>
            </a:r>
            <a:r>
              <a:rPr lang="en-US" sz="1400" dirty="0"/>
              <a:t> Stream, </a:t>
            </a:r>
            <a:r>
              <a:rPr lang="en-US" sz="1400" dirty="0" err="1"/>
              <a:t>Çatalölü</a:t>
            </a:r>
            <a:r>
              <a:rPr lang="en-US" sz="1400" dirty="0"/>
              <a:t> Stream, </a:t>
            </a:r>
            <a:r>
              <a:rPr lang="en-US" sz="1400" dirty="0" err="1"/>
              <a:t>Altıkuruş</a:t>
            </a:r>
            <a:r>
              <a:rPr lang="en-US" sz="1400" dirty="0"/>
              <a:t> Stream, </a:t>
            </a:r>
            <a:r>
              <a:rPr lang="en-US" sz="1400" dirty="0" err="1"/>
              <a:t>Harmanlar</a:t>
            </a:r>
            <a:r>
              <a:rPr lang="en-US" sz="1400" dirty="0"/>
              <a:t> Stream, </a:t>
            </a:r>
            <a:r>
              <a:rPr lang="en-US" sz="1400" dirty="0" err="1"/>
              <a:t>Aygır</a:t>
            </a:r>
            <a:r>
              <a:rPr lang="en-US" sz="1400" dirty="0"/>
              <a:t> Stream, </a:t>
            </a:r>
            <a:r>
              <a:rPr lang="en-US" sz="1400" dirty="0" err="1"/>
              <a:t>Cehennem</a:t>
            </a:r>
            <a:r>
              <a:rPr lang="en-US" sz="1400" dirty="0"/>
              <a:t> Stream, and </a:t>
            </a:r>
            <a:r>
              <a:rPr lang="en-US" sz="1400" dirty="0" err="1"/>
              <a:t>Arifiye</a:t>
            </a:r>
            <a:r>
              <a:rPr lang="en-US" sz="1400" dirty="0"/>
              <a:t> Stream. </a:t>
            </a:r>
            <a:r>
              <a:rPr lang="en-US" sz="1400" dirty="0">
                <a:solidFill>
                  <a:srgbClr val="FF0000"/>
                </a:solidFill>
              </a:rPr>
              <a:t>The lake discharges into the </a:t>
            </a:r>
            <a:r>
              <a:rPr lang="en-US" sz="1400" dirty="0" err="1">
                <a:solidFill>
                  <a:srgbClr val="FF0000"/>
                </a:solidFill>
              </a:rPr>
              <a:t>Sakarya</a:t>
            </a:r>
            <a:r>
              <a:rPr lang="en-US" sz="1400" dirty="0">
                <a:solidFill>
                  <a:srgbClr val="FF0000"/>
                </a:solidFill>
              </a:rPr>
              <a:t> River through </a:t>
            </a:r>
            <a:r>
              <a:rPr lang="en-US" sz="1400" dirty="0" err="1">
                <a:solidFill>
                  <a:srgbClr val="FF0000"/>
                </a:solidFill>
              </a:rPr>
              <a:t>Çarksuyu</a:t>
            </a:r>
            <a:r>
              <a:rPr lang="en-US" sz="1400" dirty="0">
                <a:solidFill>
                  <a:srgbClr val="FF0000"/>
                </a:solidFill>
              </a:rPr>
              <a:t> Stream on its eastern side, which is the lake's only outlet.</a:t>
            </a:r>
          </a:p>
          <a:p>
            <a:r>
              <a:rPr lang="en-US" sz="1400" dirty="0"/>
              <a:t>Located approximately 10 km from the city center, </a:t>
            </a:r>
            <a:r>
              <a:rPr lang="en-US" sz="1400" dirty="0" err="1"/>
              <a:t>Poyrazlar</a:t>
            </a:r>
            <a:r>
              <a:rPr lang="en-US" sz="1400" dirty="0"/>
              <a:t> Lake (Adapazarı) is one of the province's most important picnic areas. </a:t>
            </a:r>
            <a:r>
              <a:rPr lang="en-US" sz="1400" dirty="0" err="1"/>
              <a:t>Acarlar</a:t>
            </a:r>
            <a:r>
              <a:rPr lang="en-US" sz="1400" dirty="0"/>
              <a:t> Floodplain Forest (</a:t>
            </a:r>
            <a:r>
              <a:rPr lang="en-US" sz="1400" dirty="0" err="1"/>
              <a:t>Kaynarca</a:t>
            </a:r>
            <a:r>
              <a:rPr lang="en-US" sz="1400" dirty="0"/>
              <a:t>-Karasu), located 2 km from the Black Sea, is one of the city's most popular tourist attractions due to its unique flooded forest feature.</a:t>
            </a:r>
          </a:p>
          <a:p>
            <a:pPr marL="0" indent="0" algn="just">
              <a:lnSpc>
                <a:spcPct val="107000"/>
              </a:lnSpc>
              <a:spcAft>
                <a:spcPts val="800"/>
              </a:spcAft>
              <a:buNone/>
            </a:pP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endParaRPr lang="tr-TR"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tr-TR"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tr-TR" dirty="0"/>
          </a:p>
        </p:txBody>
      </p:sp>
      <p:pic>
        <p:nvPicPr>
          <p:cNvPr id="6" name="İçerik Yer Tutucusu 5">
            <a:extLst>
              <a:ext uri="{FF2B5EF4-FFF2-40B4-BE49-F238E27FC236}">
                <a16:creationId xmlns:a16="http://schemas.microsoft.com/office/drawing/2014/main" id="{E72B6BD5-4B41-4816-BFE1-AADF76C4EC5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42484" y="404664"/>
            <a:ext cx="4624970" cy="5846661"/>
          </a:xfrm>
        </p:spPr>
      </p:pic>
    </p:spTree>
    <p:extLst>
      <p:ext uri="{BB962C8B-B14F-4D97-AF65-F5344CB8AC3E}">
        <p14:creationId xmlns:p14="http://schemas.microsoft.com/office/powerpoint/2010/main" val="2935878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E2AA008-04D9-4405-914E-62F16B5FF220}"/>
              </a:ext>
            </a:extLst>
          </p:cNvPr>
          <p:cNvSpPr>
            <a:spLocks noGrp="1"/>
          </p:cNvSpPr>
          <p:nvPr>
            <p:ph type="title"/>
          </p:nvPr>
        </p:nvSpPr>
        <p:spPr>
          <a:xfrm>
            <a:off x="1557908" y="476672"/>
            <a:ext cx="3392927" cy="720080"/>
          </a:xfrm>
        </p:spPr>
        <p:txBody>
          <a:bodyPr>
            <a:noAutofit/>
          </a:bodyPr>
          <a:lstStyle/>
          <a:p>
            <a:pPr algn="ctr"/>
            <a:br>
              <a:rPr lang="tr-TR" sz="2400" dirty="0">
                <a:effectLst/>
                <a:latin typeface="Calibri" panose="020F0502020204030204" pitchFamily="34" charset="0"/>
                <a:ea typeface="Calibri" panose="020F0502020204030204" pitchFamily="34" charset="0"/>
                <a:cs typeface="Times New Roman" panose="02020603050405020304" pitchFamily="18" charset="0"/>
              </a:rPr>
            </a:br>
            <a:br>
              <a:rPr lang="tr-TR" sz="2400" dirty="0">
                <a:effectLst/>
                <a:latin typeface="Calibri" panose="020F0502020204030204" pitchFamily="34" charset="0"/>
                <a:ea typeface="Calibri" panose="020F0502020204030204" pitchFamily="34" charset="0"/>
                <a:cs typeface="Times New Roman" panose="02020603050405020304" pitchFamily="18" charset="0"/>
              </a:rPr>
            </a:br>
            <a:br>
              <a:rPr lang="tr-TR" sz="2400" dirty="0">
                <a:effectLst/>
                <a:latin typeface="Calibri" panose="020F0502020204030204" pitchFamily="34" charset="0"/>
                <a:ea typeface="Calibri" panose="020F0502020204030204" pitchFamily="34" charset="0"/>
                <a:cs typeface="Times New Roman" panose="02020603050405020304" pitchFamily="18" charset="0"/>
              </a:rPr>
            </a:br>
            <a:br>
              <a:rPr lang="tr-TR" sz="2400" dirty="0">
                <a:effectLst/>
                <a:latin typeface="Calibri" panose="020F0502020204030204" pitchFamily="34" charset="0"/>
                <a:ea typeface="Calibri" panose="020F0502020204030204" pitchFamily="34" charset="0"/>
                <a:cs typeface="Times New Roman" panose="02020603050405020304" pitchFamily="18" charset="0"/>
              </a:rPr>
            </a:br>
            <a:br>
              <a:rPr lang="tr-TR" sz="2400" dirty="0">
                <a:effectLst/>
                <a:latin typeface="Calibri" panose="020F0502020204030204" pitchFamily="34" charset="0"/>
                <a:ea typeface="Calibri" panose="020F0502020204030204" pitchFamily="34" charset="0"/>
                <a:cs typeface="Times New Roman" panose="02020603050405020304" pitchFamily="18" charset="0"/>
              </a:rPr>
            </a:br>
            <a:br>
              <a:rPr lang="tr-TR" sz="2400" dirty="0">
                <a:effectLst/>
                <a:latin typeface="Calibri" panose="020F0502020204030204" pitchFamily="34" charset="0"/>
                <a:ea typeface="Calibri" panose="020F0502020204030204" pitchFamily="34" charset="0"/>
                <a:cs typeface="Times New Roman" panose="02020603050405020304" pitchFamily="18" charset="0"/>
              </a:rPr>
            </a:br>
            <a:br>
              <a:rPr lang="tr-TR" sz="2400" dirty="0">
                <a:effectLst/>
                <a:latin typeface="Calibri" panose="020F0502020204030204" pitchFamily="34" charset="0"/>
                <a:ea typeface="Calibri" panose="020F0502020204030204" pitchFamily="34" charset="0"/>
                <a:cs typeface="Times New Roman" panose="02020603050405020304" pitchFamily="18" charset="0"/>
              </a:rPr>
            </a:br>
            <a:br>
              <a:rPr lang="tr-TR" sz="2400" dirty="0">
                <a:effectLst/>
                <a:latin typeface="Calibri" panose="020F0502020204030204" pitchFamily="34" charset="0"/>
                <a:ea typeface="Calibri" panose="020F0502020204030204" pitchFamily="34" charset="0"/>
                <a:cs typeface="Times New Roman" panose="02020603050405020304" pitchFamily="18" charset="0"/>
              </a:rPr>
            </a:br>
            <a:br>
              <a:rPr lang="tr-TR" sz="2400" dirty="0">
                <a:effectLst/>
                <a:latin typeface="Calibri" panose="020F0502020204030204" pitchFamily="34" charset="0"/>
                <a:ea typeface="Calibri" panose="020F0502020204030204" pitchFamily="34" charset="0"/>
                <a:cs typeface="Times New Roman" panose="02020603050405020304" pitchFamily="18" charset="0"/>
              </a:rPr>
            </a:br>
            <a:br>
              <a:rPr lang="tr-TR" sz="2400" dirty="0">
                <a:effectLst/>
                <a:latin typeface="Calibri" panose="020F0502020204030204" pitchFamily="34" charset="0"/>
                <a:ea typeface="Calibri" panose="020F0502020204030204" pitchFamily="34" charset="0"/>
                <a:cs typeface="Times New Roman" panose="02020603050405020304" pitchFamily="18" charset="0"/>
              </a:rPr>
            </a:br>
            <a:br>
              <a:rPr lang="tr-TR" sz="2400" dirty="0">
                <a:effectLst/>
                <a:latin typeface="Calibri" panose="020F0502020204030204" pitchFamily="34" charset="0"/>
                <a:ea typeface="Calibri" panose="020F0502020204030204" pitchFamily="34" charset="0"/>
                <a:cs typeface="Times New Roman" panose="02020603050405020304" pitchFamily="18" charset="0"/>
              </a:rPr>
            </a:br>
            <a:br>
              <a:rPr lang="tr-TR" sz="2400" dirty="0">
                <a:effectLst/>
                <a:latin typeface="Calibri" panose="020F0502020204030204" pitchFamily="34" charset="0"/>
                <a:ea typeface="Calibri" panose="020F0502020204030204" pitchFamily="34" charset="0"/>
                <a:cs typeface="Times New Roman" panose="02020603050405020304" pitchFamily="18" charset="0"/>
              </a:rPr>
            </a:br>
            <a:br>
              <a:rPr lang="tr-TR" sz="2400" dirty="0">
                <a:effectLst/>
                <a:latin typeface="Calibri" panose="020F0502020204030204" pitchFamily="34" charset="0"/>
                <a:ea typeface="Calibri" panose="020F0502020204030204" pitchFamily="34" charset="0"/>
                <a:cs typeface="Times New Roman" panose="02020603050405020304" pitchFamily="18" charset="0"/>
              </a:rPr>
            </a:br>
            <a:br>
              <a:rPr lang="tr-TR" sz="2400" dirty="0">
                <a:effectLst/>
                <a:latin typeface="Calibri" panose="020F0502020204030204" pitchFamily="34" charset="0"/>
                <a:ea typeface="Calibri" panose="020F0502020204030204" pitchFamily="34" charset="0"/>
                <a:cs typeface="Times New Roman" panose="02020603050405020304" pitchFamily="18" charset="0"/>
              </a:rPr>
            </a:br>
            <a:r>
              <a:rPr lang="tr-TR" sz="2400" dirty="0">
                <a:latin typeface="Calibri" panose="020F0502020204030204" pitchFamily="34" charset="0"/>
                <a:ea typeface="Calibri" panose="020F0502020204030204" pitchFamily="34" charset="0"/>
                <a:cs typeface="Times New Roman" panose="02020603050405020304" pitchFamily="18" charset="0"/>
              </a:rPr>
              <a:t>VEGETATION</a:t>
            </a:r>
            <a:endParaRPr lang="tr-TR" sz="2400" dirty="0"/>
          </a:p>
        </p:txBody>
      </p:sp>
      <p:sp>
        <p:nvSpPr>
          <p:cNvPr id="3" name="İçerik Yer Tutucusu 2">
            <a:extLst>
              <a:ext uri="{FF2B5EF4-FFF2-40B4-BE49-F238E27FC236}">
                <a16:creationId xmlns:a16="http://schemas.microsoft.com/office/drawing/2014/main" id="{78ABEB35-8E1A-465A-B107-69165B2060BF}"/>
              </a:ext>
            </a:extLst>
          </p:cNvPr>
          <p:cNvSpPr>
            <a:spLocks noGrp="1"/>
          </p:cNvSpPr>
          <p:nvPr>
            <p:ph sz="half" idx="1"/>
          </p:nvPr>
        </p:nvSpPr>
        <p:spPr>
          <a:xfrm>
            <a:off x="693812" y="1412776"/>
            <a:ext cx="5400601" cy="4759424"/>
          </a:xfrm>
        </p:spPr>
        <p:txBody>
          <a:bodyPr>
            <a:normAutofit/>
          </a:bodyPr>
          <a:lstStyle/>
          <a:p>
            <a:r>
              <a:rPr lang="tr-TR" sz="1400" dirty="0"/>
              <a:t>S</a:t>
            </a:r>
            <a:r>
              <a:rPr lang="en-US" sz="1400" dirty="0" err="1"/>
              <a:t>akarya</a:t>
            </a:r>
            <a:r>
              <a:rPr lang="en-US" sz="1400" dirty="0"/>
              <a:t> is located within the Euxine province of the Euro-Siberian phytogeographic region. The forest formation is the most widespread type of vegetation. In the lower and coastal zones of </a:t>
            </a:r>
            <a:r>
              <a:rPr lang="en-US" sz="1400" dirty="0" err="1"/>
              <a:t>Sakarya</a:t>
            </a:r>
            <a:r>
              <a:rPr lang="en-US" sz="1400" dirty="0"/>
              <a:t>, deciduous trees and shrubs are common, while coniferous forests grow in higher, colder, and more humid areas.</a:t>
            </a:r>
          </a:p>
          <a:p>
            <a:r>
              <a:rPr lang="en-US" sz="1400" dirty="0"/>
              <a:t>The forests in </a:t>
            </a:r>
            <a:r>
              <a:rPr lang="en-US" sz="1400" dirty="0" err="1"/>
              <a:t>Sakarya</a:t>
            </a:r>
            <a:r>
              <a:rPr lang="en-US" sz="1400" dirty="0"/>
              <a:t> consist mainly of broad-leaved moist forests. In areas where forest vegetation has been degraded, hazelnut cultivation is commonly observed. In the Adapazarı Plain, forests have been cleared and converted into agricultural land. Due to its ecological conditions, </a:t>
            </a:r>
            <a:r>
              <a:rPr lang="en-US" sz="1400" dirty="0" err="1"/>
              <a:t>Sakarya</a:t>
            </a:r>
            <a:r>
              <a:rPr lang="en-US" sz="1400" dirty="0"/>
              <a:t> has favorable conditions for the development, preservation, and, if not disturbed, regeneration of its natural vegetation.</a:t>
            </a:r>
          </a:p>
          <a:p>
            <a:r>
              <a:rPr lang="en-US" sz="1400" dirty="0"/>
              <a:t>The tree species commonly found across </a:t>
            </a:r>
            <a:r>
              <a:rPr lang="en-US" sz="1400" dirty="0" err="1"/>
              <a:t>Sakarya</a:t>
            </a:r>
            <a:r>
              <a:rPr lang="en-US" sz="1400" dirty="0"/>
              <a:t> Province include beech, fir, pine, oak, ash, elm, chestnut, and linden.</a:t>
            </a:r>
          </a:p>
          <a:p>
            <a:pPr marL="0" indent="0">
              <a:buNone/>
            </a:pP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tr-TR" sz="1800" dirty="0">
              <a:latin typeface="Calibri" panose="020F0502020204030204" pitchFamily="34" charset="0"/>
              <a:cs typeface="Times New Roman" panose="02020603050405020304" pitchFamily="18" charset="0"/>
            </a:endParaRPr>
          </a:p>
        </p:txBody>
      </p:sp>
      <p:pic>
        <p:nvPicPr>
          <p:cNvPr id="6" name="İçerik Yer Tutucusu 5">
            <a:extLst>
              <a:ext uri="{FF2B5EF4-FFF2-40B4-BE49-F238E27FC236}">
                <a16:creationId xmlns:a16="http://schemas.microsoft.com/office/drawing/2014/main" id="{B4E3D822-CDA3-4505-92B2-BD13F1BDC81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86500" y="180720"/>
            <a:ext cx="4464496" cy="6496560"/>
          </a:xfrm>
        </p:spPr>
      </p:pic>
    </p:spTree>
    <p:extLst>
      <p:ext uri="{BB962C8B-B14F-4D97-AF65-F5344CB8AC3E}">
        <p14:creationId xmlns:p14="http://schemas.microsoft.com/office/powerpoint/2010/main" val="3194505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454F104-0847-4F42-BF94-C6CAEF72E572}"/>
              </a:ext>
            </a:extLst>
          </p:cNvPr>
          <p:cNvSpPr>
            <a:spLocks noGrp="1"/>
          </p:cNvSpPr>
          <p:nvPr>
            <p:ph type="title"/>
          </p:nvPr>
        </p:nvSpPr>
        <p:spPr>
          <a:xfrm>
            <a:off x="1917948" y="116632"/>
            <a:ext cx="2168791" cy="360040"/>
          </a:xfrm>
        </p:spPr>
        <p:txBody>
          <a:bodyPr/>
          <a:lstStyle/>
          <a:p>
            <a:pPr algn="ctr"/>
            <a:r>
              <a:rPr lang="tr-TR" sz="1800" dirty="0">
                <a:effectLst/>
                <a:latin typeface="Calibri" panose="020F0502020204030204" pitchFamily="34" charset="0"/>
                <a:ea typeface="Calibri" panose="020F0502020204030204" pitchFamily="34" charset="0"/>
                <a:cs typeface="Times New Roman" panose="02020603050405020304" pitchFamily="18" charset="0"/>
              </a:rPr>
              <a:t>POPULATION</a:t>
            </a:r>
            <a:endParaRPr lang="tr-TR" dirty="0"/>
          </a:p>
        </p:txBody>
      </p:sp>
      <p:sp>
        <p:nvSpPr>
          <p:cNvPr id="3" name="İçerik Yer Tutucusu 2">
            <a:extLst>
              <a:ext uri="{FF2B5EF4-FFF2-40B4-BE49-F238E27FC236}">
                <a16:creationId xmlns:a16="http://schemas.microsoft.com/office/drawing/2014/main" id="{0C499374-6D28-4E26-8AF5-B8AA98FCF767}"/>
              </a:ext>
            </a:extLst>
          </p:cNvPr>
          <p:cNvSpPr>
            <a:spLocks noGrp="1"/>
          </p:cNvSpPr>
          <p:nvPr>
            <p:ph sz="half" idx="1"/>
          </p:nvPr>
        </p:nvSpPr>
        <p:spPr>
          <a:xfrm>
            <a:off x="477788" y="489860"/>
            <a:ext cx="5832648" cy="3371188"/>
          </a:xfrm>
        </p:spPr>
        <p:txBody>
          <a:bodyPr>
            <a:normAutofit fontScale="92500" lnSpcReduction="10000"/>
          </a:bodyPr>
          <a:lstStyle/>
          <a:p>
            <a:pPr marL="0" indent="0" algn="just">
              <a:buNone/>
            </a:pPr>
            <a:r>
              <a:rPr lang="en-US" sz="1600" dirty="0" err="1">
                <a:effectLst/>
                <a:latin typeface="Calibri" panose="020F0502020204030204" pitchFamily="34" charset="0"/>
                <a:ea typeface="Calibri" panose="020F0502020204030204" pitchFamily="34" charset="0"/>
                <a:cs typeface="Times New Roman" panose="02020603050405020304" pitchFamily="18" charset="0"/>
              </a:rPr>
              <a:t>Sakarya</a:t>
            </a:r>
            <a:r>
              <a:rPr lang="en-US" sz="1600" dirty="0">
                <a:effectLst/>
                <a:latin typeface="Calibri" panose="020F0502020204030204" pitchFamily="34" charset="0"/>
                <a:ea typeface="Calibri" panose="020F0502020204030204" pitchFamily="34" charset="0"/>
                <a:cs typeface="Times New Roman" panose="02020603050405020304" pitchFamily="18" charset="0"/>
              </a:rPr>
              <a:t>, one of Turkey's significant cities in terms of urbanization and industrialization, became a province in 1954. The establishment of major industrial facilities such as the Agricultural Equipment, Wagon, and Sugar Factories, along with migration from east to west and from rural areas to urban centers, has contributed to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Sakarya’s</a:t>
            </a:r>
            <a:r>
              <a:rPr lang="en-US" sz="1600" dirty="0">
                <a:effectLst/>
                <a:latin typeface="Calibri" panose="020F0502020204030204" pitchFamily="34" charset="0"/>
                <a:ea typeface="Calibri" panose="020F0502020204030204" pitchFamily="34" charset="0"/>
                <a:cs typeface="Times New Roman" panose="02020603050405020304" pitchFamily="18" charset="0"/>
              </a:rPr>
              <a:t> continuous population growth. However, the August 17, 1999 earthquake, which caused significant loss of life, the destruction of numerous buildings, damage to city infrastructure, and other factors, slowed down urban development. </a:t>
            </a:r>
            <a:endParaRPr lang="tr-TR" sz="1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r>
              <a:rPr lang="en-US" sz="1600" dirty="0">
                <a:effectLst/>
                <a:latin typeface="Calibri" panose="020F0502020204030204" pitchFamily="34" charset="0"/>
                <a:ea typeface="Calibri" panose="020F0502020204030204" pitchFamily="34" charset="0"/>
                <a:cs typeface="Times New Roman" panose="02020603050405020304" pitchFamily="18" charset="0"/>
              </a:rPr>
              <a:t>Although there was an increase in migration out of the city immediately following the earthquake, the city's reconstruction process, major government investments, and its designation as a metropolitan municipality have led to significant population growth. The increase in the student population at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Sakarya</a:t>
            </a:r>
            <a:r>
              <a:rPr lang="en-US" sz="1600" dirty="0">
                <a:effectLst/>
                <a:latin typeface="Calibri" panose="020F0502020204030204" pitchFamily="34" charset="0"/>
                <a:ea typeface="Calibri" panose="020F0502020204030204" pitchFamily="34" charset="0"/>
                <a:cs typeface="Times New Roman" panose="02020603050405020304" pitchFamily="18" charset="0"/>
              </a:rPr>
              <a:t> University has also been a major factor contributing to population growth since the 2000s.</a:t>
            </a: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tr-TR" dirty="0"/>
          </a:p>
        </p:txBody>
      </p:sp>
      <p:pic>
        <p:nvPicPr>
          <p:cNvPr id="6" name="İçerik Yer Tutucusu 5">
            <a:extLst>
              <a:ext uri="{FF2B5EF4-FFF2-40B4-BE49-F238E27FC236}">
                <a16:creationId xmlns:a16="http://schemas.microsoft.com/office/drawing/2014/main" id="{9C9B649F-508F-4235-BEE7-C9872CEC4C3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48374" y="0"/>
            <a:ext cx="4782889" cy="3645024"/>
          </a:xfrm>
        </p:spPr>
      </p:pic>
      <p:pic>
        <p:nvPicPr>
          <p:cNvPr id="8" name="Resim 7">
            <a:extLst>
              <a:ext uri="{FF2B5EF4-FFF2-40B4-BE49-F238E27FC236}">
                <a16:creationId xmlns:a16="http://schemas.microsoft.com/office/drawing/2014/main" id="{08FE08C1-8836-4735-B1D9-5BA57EE25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7611" y="3555321"/>
            <a:ext cx="4810345" cy="3267026"/>
          </a:xfrm>
          <a:prstGeom prst="rect">
            <a:avLst/>
          </a:prstGeom>
        </p:spPr>
      </p:pic>
      <p:pic>
        <p:nvPicPr>
          <p:cNvPr id="12" name="Resim 11">
            <a:extLst>
              <a:ext uri="{FF2B5EF4-FFF2-40B4-BE49-F238E27FC236}">
                <a16:creationId xmlns:a16="http://schemas.microsoft.com/office/drawing/2014/main" id="{1FCD990C-D18C-4A36-9A42-3E37A632B6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9836" y="3766014"/>
            <a:ext cx="5270774" cy="3022004"/>
          </a:xfrm>
          <a:prstGeom prst="rect">
            <a:avLst/>
          </a:prstGeom>
        </p:spPr>
      </p:pic>
    </p:spTree>
    <p:extLst>
      <p:ext uri="{BB962C8B-B14F-4D97-AF65-F5344CB8AC3E}">
        <p14:creationId xmlns:p14="http://schemas.microsoft.com/office/powerpoint/2010/main" val="4269281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AAD0608-E88F-4752-905D-6B24163F15C0}"/>
              </a:ext>
            </a:extLst>
          </p:cNvPr>
          <p:cNvSpPr>
            <a:spLocks noGrp="1"/>
          </p:cNvSpPr>
          <p:nvPr>
            <p:ph sz="half" idx="1"/>
          </p:nvPr>
        </p:nvSpPr>
        <p:spPr>
          <a:xfrm>
            <a:off x="261764" y="332656"/>
            <a:ext cx="6480720" cy="2232248"/>
          </a:xfrm>
        </p:spPr>
        <p:txBody>
          <a:bodyPr>
            <a:normAutofit fontScale="92500" lnSpcReduction="10000"/>
          </a:bodyPr>
          <a:lstStyle/>
          <a:p>
            <a:r>
              <a:rPr lang="en-US" sz="1400" dirty="0"/>
              <a:t>Since the adoption of the address-based registration system in 2007, it has become possible to analyze issues related to </a:t>
            </a:r>
            <a:r>
              <a:rPr lang="en-US" sz="1400" dirty="0" err="1"/>
              <a:t>Sakarya’s</a:t>
            </a:r>
            <a:r>
              <a:rPr lang="en-US" sz="1400" dirty="0"/>
              <a:t> population and population growth more accurately. Since 2007, </a:t>
            </a:r>
            <a:r>
              <a:rPr lang="en-US" sz="1400" dirty="0" err="1"/>
              <a:t>Sakarya</a:t>
            </a:r>
            <a:r>
              <a:rPr lang="en-US" sz="1400" dirty="0"/>
              <a:t> has consistently stood out as a city with a population growth rate above the national average.</a:t>
            </a:r>
          </a:p>
          <a:p>
            <a:r>
              <a:rPr lang="en-US" sz="1400" dirty="0"/>
              <a:t>Looking at the urbanization rates of </a:t>
            </a:r>
            <a:r>
              <a:rPr lang="en-US" sz="1400" dirty="0" err="1"/>
              <a:t>Sakarya’s</a:t>
            </a:r>
            <a:r>
              <a:rPr lang="en-US" sz="1400" dirty="0"/>
              <a:t> population from past to present, in 1935, a large portion of the population (83.62%) lived in rural areas. With the acceleration of urbanization after 1980, the urban population increased rapidly, and today, 67.38% of the population resides in cities.</a:t>
            </a:r>
          </a:p>
          <a:p>
            <a:pPr marL="0" indent="0" algn="just">
              <a:buNone/>
            </a:pP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tr-TR" dirty="0"/>
          </a:p>
        </p:txBody>
      </p:sp>
      <p:pic>
        <p:nvPicPr>
          <p:cNvPr id="6" name="İçerik Yer Tutucusu 5">
            <a:extLst>
              <a:ext uri="{FF2B5EF4-FFF2-40B4-BE49-F238E27FC236}">
                <a16:creationId xmlns:a16="http://schemas.microsoft.com/office/drawing/2014/main" id="{8BA1A6D9-2ABF-414F-B3B8-6E759DF7938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86500" y="188640"/>
            <a:ext cx="4799948" cy="3717032"/>
          </a:xfrm>
        </p:spPr>
      </p:pic>
      <p:pic>
        <p:nvPicPr>
          <p:cNvPr id="8" name="Resim 7">
            <a:extLst>
              <a:ext uri="{FF2B5EF4-FFF2-40B4-BE49-F238E27FC236}">
                <a16:creationId xmlns:a16="http://schemas.microsoft.com/office/drawing/2014/main" id="{4CFD77E6-40E0-49C6-98AD-5B3D0CEB09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1884" y="2371480"/>
            <a:ext cx="4896544" cy="4404252"/>
          </a:xfrm>
          <a:prstGeom prst="rect">
            <a:avLst/>
          </a:prstGeom>
        </p:spPr>
      </p:pic>
      <p:sp>
        <p:nvSpPr>
          <p:cNvPr id="9" name="Metin kutusu 8">
            <a:extLst>
              <a:ext uri="{FF2B5EF4-FFF2-40B4-BE49-F238E27FC236}">
                <a16:creationId xmlns:a16="http://schemas.microsoft.com/office/drawing/2014/main" id="{B94B4B7B-33A3-4345-81CF-744560BBFC54}"/>
              </a:ext>
            </a:extLst>
          </p:cNvPr>
          <p:cNvSpPr txBox="1"/>
          <p:nvPr/>
        </p:nvSpPr>
        <p:spPr>
          <a:xfrm>
            <a:off x="6382444" y="4005065"/>
            <a:ext cx="5400600" cy="2031325"/>
          </a:xfrm>
          <a:prstGeom prst="rect">
            <a:avLst/>
          </a:prstGeom>
          <a:noFill/>
        </p:spPr>
        <p:txBody>
          <a:bodyPr wrap="square" rtlCol="0">
            <a:spAutoFit/>
          </a:bodyPr>
          <a:lstStyle/>
          <a:p>
            <a:pPr algn="just"/>
            <a:r>
              <a:rPr lang="en-US" sz="1400" dirty="0">
                <a:effectLst/>
                <a:latin typeface="Calibri" panose="020F0502020204030204" pitchFamily="34" charset="0"/>
                <a:ea typeface="Calibri" panose="020F0502020204030204" pitchFamily="34" charset="0"/>
                <a:cs typeface="Times New Roman" panose="02020603050405020304" pitchFamily="18" charset="0"/>
              </a:rPr>
              <a:t>Another issue that needs to be examined, in addition to population growth, is population density and distribution. When examining the population density of 1935, the districts with the highest population density were Adapazarı (93),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Erenler</a:t>
            </a:r>
            <a:r>
              <a:rPr lang="en-US" sz="1400" dirty="0">
                <a:effectLst/>
                <a:latin typeface="Calibri" panose="020F0502020204030204" pitchFamily="34" charset="0"/>
                <a:ea typeface="Calibri" panose="020F0502020204030204" pitchFamily="34" charset="0"/>
                <a:cs typeface="Times New Roman" panose="02020603050405020304" pitchFamily="18" charset="0"/>
              </a:rPr>
              <a:t> (81),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Serdivan</a:t>
            </a:r>
            <a:r>
              <a:rPr lang="en-US" sz="1400" dirty="0">
                <a:effectLst/>
                <a:latin typeface="Calibri" panose="020F0502020204030204" pitchFamily="34" charset="0"/>
                <a:ea typeface="Calibri" panose="020F0502020204030204" pitchFamily="34" charset="0"/>
                <a:cs typeface="Times New Roman" panose="02020603050405020304" pitchFamily="18" charset="0"/>
              </a:rPr>
              <a:t> (67),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Arifiye</a:t>
            </a:r>
            <a:r>
              <a:rPr lang="en-US" sz="1400" dirty="0">
                <a:effectLst/>
                <a:latin typeface="Calibri" panose="020F0502020204030204" pitchFamily="34" charset="0"/>
                <a:ea typeface="Calibri" panose="020F0502020204030204" pitchFamily="34" charset="0"/>
                <a:cs typeface="Times New Roman" panose="02020603050405020304" pitchFamily="18" charset="0"/>
              </a:rPr>
              <a:t> (56),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Söğütlü</a:t>
            </a:r>
            <a:r>
              <a:rPr lang="en-US" sz="1400" dirty="0">
                <a:effectLst/>
                <a:latin typeface="Calibri" panose="020F0502020204030204" pitchFamily="34" charset="0"/>
                <a:ea typeface="Calibri" panose="020F0502020204030204" pitchFamily="34" charset="0"/>
                <a:cs typeface="Times New Roman" panose="02020603050405020304" pitchFamily="18" charset="0"/>
              </a:rPr>
              <a:t> (47),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Sapanca</a:t>
            </a:r>
            <a:r>
              <a:rPr lang="en-US" sz="1400" dirty="0">
                <a:effectLst/>
                <a:latin typeface="Calibri" panose="020F0502020204030204" pitchFamily="34" charset="0"/>
                <a:ea typeface="Calibri" panose="020F0502020204030204" pitchFamily="34" charset="0"/>
                <a:cs typeface="Times New Roman" panose="02020603050405020304" pitchFamily="18" charset="0"/>
              </a:rPr>
              <a:t> (43), and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Hendek</a:t>
            </a:r>
            <a:r>
              <a:rPr lang="en-US" sz="1400" dirty="0">
                <a:effectLst/>
                <a:latin typeface="Calibri" panose="020F0502020204030204" pitchFamily="34" charset="0"/>
                <a:ea typeface="Calibri" panose="020F0502020204030204" pitchFamily="34" charset="0"/>
                <a:cs typeface="Times New Roman" panose="02020603050405020304" pitchFamily="18" charset="0"/>
              </a:rPr>
              <a:t> (40), while the districts with the lowest density were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Taraklı</a:t>
            </a:r>
            <a:r>
              <a:rPr lang="en-US" sz="1400" dirty="0">
                <a:effectLst/>
                <a:latin typeface="Calibri" panose="020F0502020204030204" pitchFamily="34" charset="0"/>
                <a:ea typeface="Calibri" panose="020F0502020204030204" pitchFamily="34" charset="0"/>
                <a:cs typeface="Times New Roman" panose="02020603050405020304" pitchFamily="18" charset="0"/>
              </a:rPr>
              <a:t> (15), Karasu (15),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Karapürçek</a:t>
            </a:r>
            <a:r>
              <a:rPr lang="en-US" sz="1400" dirty="0">
                <a:effectLst/>
                <a:latin typeface="Calibri" panose="020F0502020204030204" pitchFamily="34" charset="0"/>
                <a:ea typeface="Calibri" panose="020F0502020204030204" pitchFamily="34" charset="0"/>
                <a:cs typeface="Times New Roman" panose="02020603050405020304" pitchFamily="18" charset="0"/>
              </a:rPr>
              <a:t> (22), and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Kaynarca</a:t>
            </a:r>
            <a:r>
              <a:rPr lang="en-US" sz="1400" dirty="0">
                <a:effectLst/>
                <a:latin typeface="Calibri" panose="020F0502020204030204" pitchFamily="34" charset="0"/>
                <a:ea typeface="Calibri" panose="020F0502020204030204" pitchFamily="34" charset="0"/>
                <a:cs typeface="Times New Roman" panose="02020603050405020304" pitchFamily="18" charset="0"/>
              </a:rPr>
              <a:t> (22) (Table 5).By the year 2000,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Serdivan</a:t>
            </a:r>
            <a:r>
              <a:rPr lang="en-US" sz="1400" dirty="0">
                <a:effectLst/>
                <a:latin typeface="Calibri" panose="020F0502020204030204" pitchFamily="34" charset="0"/>
                <a:ea typeface="Calibri" panose="020F0502020204030204" pitchFamily="34" charset="0"/>
                <a:cs typeface="Times New Roman" panose="02020603050405020304" pitchFamily="18" charset="0"/>
              </a:rPr>
              <a:t> became the district with the highest population density (564), followed by Adapazarı (534),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Erenler</a:t>
            </a:r>
            <a:r>
              <a:rPr lang="en-US" sz="1400" dirty="0">
                <a:effectLst/>
                <a:latin typeface="Calibri" panose="020F0502020204030204" pitchFamily="34" charset="0"/>
                <a:ea typeface="Calibri" panose="020F0502020204030204" pitchFamily="34" charset="0"/>
                <a:cs typeface="Times New Roman" panose="02020603050405020304" pitchFamily="18" charset="0"/>
              </a:rPr>
              <a:t> (465), and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Arifiye</a:t>
            </a:r>
            <a:r>
              <a:rPr lang="en-US" sz="1400" dirty="0">
                <a:effectLst/>
                <a:latin typeface="Calibri" panose="020F0502020204030204" pitchFamily="34" charset="0"/>
                <a:ea typeface="Calibri" panose="020F0502020204030204" pitchFamily="34" charset="0"/>
                <a:cs typeface="Times New Roman" panose="02020603050405020304" pitchFamily="18" charset="0"/>
              </a:rPr>
              <a:t> (426).</a:t>
            </a:r>
            <a:endParaRPr lang="tr-TR" dirty="0"/>
          </a:p>
        </p:txBody>
      </p:sp>
    </p:spTree>
    <p:extLst>
      <p:ext uri="{BB962C8B-B14F-4D97-AF65-F5344CB8AC3E}">
        <p14:creationId xmlns:p14="http://schemas.microsoft.com/office/powerpoint/2010/main" val="3656318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çerik Yer Tutucusu 8">
            <a:extLst>
              <a:ext uri="{FF2B5EF4-FFF2-40B4-BE49-F238E27FC236}">
                <a16:creationId xmlns:a16="http://schemas.microsoft.com/office/drawing/2014/main" id="{90D0B3C0-98E2-4AAE-B291-548CE556302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64022" y="-29773"/>
            <a:ext cx="2421418" cy="3314757"/>
          </a:xfrm>
        </p:spPr>
      </p:pic>
      <p:pic>
        <p:nvPicPr>
          <p:cNvPr id="11" name="İçerik Yer Tutucusu 10">
            <a:extLst>
              <a:ext uri="{FF2B5EF4-FFF2-40B4-BE49-F238E27FC236}">
                <a16:creationId xmlns:a16="http://schemas.microsoft.com/office/drawing/2014/main" id="{2BE60B95-E8DE-4942-B923-676D26B0970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3051163" y="-18254"/>
            <a:ext cx="2322897" cy="3283326"/>
          </a:xfrm>
        </p:spPr>
      </p:pic>
      <p:pic>
        <p:nvPicPr>
          <p:cNvPr id="13" name="Resim 12">
            <a:extLst>
              <a:ext uri="{FF2B5EF4-FFF2-40B4-BE49-F238E27FC236}">
                <a16:creationId xmlns:a16="http://schemas.microsoft.com/office/drawing/2014/main" id="{38A50933-0651-4596-97C4-E4D36207D2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2335" y="8353"/>
            <a:ext cx="2323170" cy="3219123"/>
          </a:xfrm>
          <a:prstGeom prst="rect">
            <a:avLst/>
          </a:prstGeom>
        </p:spPr>
      </p:pic>
      <p:pic>
        <p:nvPicPr>
          <p:cNvPr id="15" name="Resim 14">
            <a:extLst>
              <a:ext uri="{FF2B5EF4-FFF2-40B4-BE49-F238E27FC236}">
                <a16:creationId xmlns:a16="http://schemas.microsoft.com/office/drawing/2014/main" id="{107C9CF5-6CF1-488B-A621-A6F531838D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10775" y="1"/>
            <a:ext cx="2322897" cy="3265457"/>
          </a:xfrm>
          <a:prstGeom prst="rect">
            <a:avLst/>
          </a:prstGeom>
        </p:spPr>
      </p:pic>
      <p:pic>
        <p:nvPicPr>
          <p:cNvPr id="17" name="Resim 16">
            <a:extLst>
              <a:ext uri="{FF2B5EF4-FFF2-40B4-BE49-F238E27FC236}">
                <a16:creationId xmlns:a16="http://schemas.microsoft.com/office/drawing/2014/main" id="{3A88379E-E4F6-411F-850F-8C4C9BE745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1046" y="3324276"/>
            <a:ext cx="2494394" cy="3533724"/>
          </a:xfrm>
          <a:prstGeom prst="rect">
            <a:avLst/>
          </a:prstGeom>
        </p:spPr>
      </p:pic>
      <p:pic>
        <p:nvPicPr>
          <p:cNvPr id="19" name="Resim 18">
            <a:extLst>
              <a:ext uri="{FF2B5EF4-FFF2-40B4-BE49-F238E27FC236}">
                <a16:creationId xmlns:a16="http://schemas.microsoft.com/office/drawing/2014/main" id="{6BEA1448-BDF1-4FC7-85BD-5D60F9AC63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51163" y="3349465"/>
            <a:ext cx="2470861" cy="3463911"/>
          </a:xfrm>
          <a:prstGeom prst="rect">
            <a:avLst/>
          </a:prstGeom>
        </p:spPr>
      </p:pic>
      <p:pic>
        <p:nvPicPr>
          <p:cNvPr id="21" name="Resim 20">
            <a:extLst>
              <a:ext uri="{FF2B5EF4-FFF2-40B4-BE49-F238E27FC236}">
                <a16:creationId xmlns:a16="http://schemas.microsoft.com/office/drawing/2014/main" id="{4D95C105-44DE-467B-AB48-667E917BFC3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510775" y="3324350"/>
            <a:ext cx="2458370" cy="3469243"/>
          </a:xfrm>
          <a:prstGeom prst="rect">
            <a:avLst/>
          </a:prstGeom>
        </p:spPr>
      </p:pic>
      <p:pic>
        <p:nvPicPr>
          <p:cNvPr id="23" name="Resim 22">
            <a:extLst>
              <a:ext uri="{FF2B5EF4-FFF2-40B4-BE49-F238E27FC236}">
                <a16:creationId xmlns:a16="http://schemas.microsoft.com/office/drawing/2014/main" id="{0A7F4812-A6D6-48D7-ACAB-F0ABB7E909E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34372" y="3323328"/>
            <a:ext cx="2558567" cy="3502505"/>
          </a:xfrm>
          <a:prstGeom prst="rect">
            <a:avLst/>
          </a:prstGeom>
        </p:spPr>
      </p:pic>
    </p:spTree>
    <p:extLst>
      <p:ext uri="{BB962C8B-B14F-4D97-AF65-F5344CB8AC3E}">
        <p14:creationId xmlns:p14="http://schemas.microsoft.com/office/powerpoint/2010/main" val="2119314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213929A-9518-4539-8F4A-AAF90A11B2E6}"/>
              </a:ext>
            </a:extLst>
          </p:cNvPr>
          <p:cNvSpPr>
            <a:spLocks noGrp="1"/>
          </p:cNvSpPr>
          <p:nvPr>
            <p:ph sz="half" idx="1"/>
          </p:nvPr>
        </p:nvSpPr>
        <p:spPr>
          <a:xfrm>
            <a:off x="621804" y="548680"/>
            <a:ext cx="11161240" cy="1512168"/>
          </a:xfrm>
        </p:spPr>
        <p:txBody>
          <a:bodyPr>
            <a:normAutofit/>
          </a:bodyPr>
          <a:lstStyle/>
          <a:p>
            <a:r>
              <a:rPr lang="en-US" sz="1600" dirty="0"/>
              <a:t>In 2018, </a:t>
            </a:r>
            <a:r>
              <a:rPr lang="en-US" sz="1600" dirty="0" err="1"/>
              <a:t>Sakarya</a:t>
            </a:r>
            <a:r>
              <a:rPr lang="en-US" sz="1600" dirty="0"/>
              <a:t> became a city with a population of one million, reaching 1,010,700 people. By 2022, the population had increased to 1,080,080, with 50.13% (541,449) male and 49.87% (538,631) female.</a:t>
            </a:r>
          </a:p>
          <a:p>
            <a:r>
              <a:rPr lang="en-US" sz="1600" dirty="0"/>
              <a:t>In 2007, </a:t>
            </a:r>
            <a:r>
              <a:rPr lang="en-US" sz="1600" dirty="0" err="1"/>
              <a:t>Sakarya</a:t>
            </a:r>
            <a:r>
              <a:rPr lang="en-US" sz="1600" dirty="0"/>
              <a:t> had a population density of 171 people per square kilometer, which increased to 221 people per square kilometer by 2022.</a:t>
            </a:r>
          </a:p>
          <a:p>
            <a:pPr marL="0" indent="0">
              <a:buNone/>
            </a:pPr>
            <a:endParaRPr lang="tr-TR" dirty="0"/>
          </a:p>
        </p:txBody>
      </p:sp>
      <p:pic>
        <p:nvPicPr>
          <p:cNvPr id="6" name="İçerik Yer Tutucusu 5">
            <a:extLst>
              <a:ext uri="{FF2B5EF4-FFF2-40B4-BE49-F238E27FC236}">
                <a16:creationId xmlns:a16="http://schemas.microsoft.com/office/drawing/2014/main" id="{73B226BC-23EF-4643-81E7-6D3F41FD74F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81844" y="2060848"/>
            <a:ext cx="9875982" cy="3553781"/>
          </a:xfrm>
        </p:spPr>
      </p:pic>
    </p:spTree>
    <p:extLst>
      <p:ext uri="{BB962C8B-B14F-4D97-AF65-F5344CB8AC3E}">
        <p14:creationId xmlns:p14="http://schemas.microsoft.com/office/powerpoint/2010/main" val="404096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16A6A7D-297C-460E-A5B3-7C6AAE0EB17F}"/>
              </a:ext>
            </a:extLst>
          </p:cNvPr>
          <p:cNvSpPr>
            <a:spLocks noGrp="1"/>
          </p:cNvSpPr>
          <p:nvPr>
            <p:ph type="title"/>
          </p:nvPr>
        </p:nvSpPr>
        <p:spPr>
          <a:xfrm>
            <a:off x="1773932" y="836712"/>
            <a:ext cx="3032887" cy="582960"/>
          </a:xfrm>
        </p:spPr>
        <p:txBody>
          <a:bodyPr>
            <a:normAutofit fontScale="90000"/>
          </a:bodyPr>
          <a:lstStyle/>
          <a:p>
            <a:br>
              <a:rPr lang="tr-TR" sz="1800" dirty="0">
                <a:effectLst/>
                <a:latin typeface="Calibri" panose="020F0502020204030204" pitchFamily="34" charset="0"/>
                <a:ea typeface="Calibri" panose="020F0502020204030204" pitchFamily="34" charset="0"/>
                <a:cs typeface="Times New Roman" panose="02020603050405020304" pitchFamily="18" charset="0"/>
              </a:rPr>
            </a:br>
            <a:r>
              <a:rPr lang="tr-TR" sz="2000" dirty="0">
                <a:latin typeface="Calibri" panose="020F0502020204030204" pitchFamily="34" charset="0"/>
                <a:ea typeface="Calibri" panose="020F0502020204030204" pitchFamily="34" charset="0"/>
                <a:cs typeface="Times New Roman" panose="02020603050405020304" pitchFamily="18" charset="0"/>
              </a:rPr>
              <a:t>SETTLEMENT GEOGRAPHY</a:t>
            </a:r>
            <a:endParaRPr lang="tr-TR" sz="2000" dirty="0"/>
          </a:p>
        </p:txBody>
      </p:sp>
      <p:sp>
        <p:nvSpPr>
          <p:cNvPr id="3" name="İçerik Yer Tutucusu 2">
            <a:extLst>
              <a:ext uri="{FF2B5EF4-FFF2-40B4-BE49-F238E27FC236}">
                <a16:creationId xmlns:a16="http://schemas.microsoft.com/office/drawing/2014/main" id="{97806784-FB37-45E2-A4FC-0BD168D5F8B5}"/>
              </a:ext>
            </a:extLst>
          </p:cNvPr>
          <p:cNvSpPr>
            <a:spLocks noGrp="1"/>
          </p:cNvSpPr>
          <p:nvPr>
            <p:ph sz="half" idx="1"/>
          </p:nvPr>
        </p:nvSpPr>
        <p:spPr>
          <a:xfrm>
            <a:off x="189757" y="1419672"/>
            <a:ext cx="5904656" cy="5249688"/>
          </a:xfrm>
        </p:spPr>
        <p:txBody>
          <a:bodyPr>
            <a:normAutofit fontScale="92500" lnSpcReduction="20000"/>
          </a:bodyPr>
          <a:lstStyle/>
          <a:p>
            <a:r>
              <a:rPr lang="en-US" sz="1600" dirty="0" err="1"/>
              <a:t>Sakarya</a:t>
            </a:r>
            <a:r>
              <a:rPr lang="en-US" sz="1600" dirty="0"/>
              <a:t> Province, located in the eastern part of the </a:t>
            </a:r>
            <a:r>
              <a:rPr lang="en-US" sz="1600" dirty="0" err="1"/>
              <a:t>Çatalca-Kocaeli</a:t>
            </a:r>
            <a:r>
              <a:rPr lang="en-US" sz="1600" dirty="0"/>
              <a:t> section of the Marmara Region, is bordered by the Black Sea to the north, Izmit to the west, </a:t>
            </a:r>
            <a:r>
              <a:rPr lang="en-US" sz="1600" dirty="0" err="1"/>
              <a:t>Düzce</a:t>
            </a:r>
            <a:r>
              <a:rPr lang="en-US" sz="1600" dirty="0"/>
              <a:t> to the east, </a:t>
            </a:r>
            <a:r>
              <a:rPr lang="en-US" sz="1600" dirty="0" err="1"/>
              <a:t>Bilecik</a:t>
            </a:r>
            <a:r>
              <a:rPr lang="en-US" sz="1600" dirty="0"/>
              <a:t> to the south, Bursa to the southwest, and </a:t>
            </a:r>
            <a:r>
              <a:rPr lang="en-US" sz="1600" dirty="0" err="1"/>
              <a:t>Bolu</a:t>
            </a:r>
            <a:r>
              <a:rPr lang="en-US" sz="1600" dirty="0"/>
              <a:t> to the southeast. This region, which has been home to various civilizations since ancient times, came under Turkish rule at the beginning of the 1300s.</a:t>
            </a:r>
          </a:p>
          <a:p>
            <a:r>
              <a:rPr lang="en-US" sz="1600" dirty="0"/>
              <a:t>The history of settlement in the city of Adapazarı and its immediate surroundings does not date back very far. Although it is located on the main transportation route extending from Istanbul to Anatolia, the first settlements in the area began during the Ottoman period due to unfavorable geographical conditions for settlement.</a:t>
            </a:r>
          </a:p>
          <a:p>
            <a:r>
              <a:rPr lang="en-US" sz="1600" dirty="0" err="1"/>
              <a:t>Adaköy</a:t>
            </a:r>
            <a:r>
              <a:rPr lang="en-US" sz="1600" dirty="0"/>
              <a:t>, which formed the nucleus of the city of Adapazarı, was established in the 16th century. In the following years, the settlement, which developed as a marketplace, began to be called "Ada </a:t>
            </a:r>
            <a:r>
              <a:rPr lang="en-US" sz="1600" dirty="0" err="1"/>
              <a:t>Pazarı</a:t>
            </a:r>
            <a:r>
              <a:rPr lang="en-US" sz="1600" dirty="0"/>
              <a:t>" (Island Market). Since those coming to the market from the east had to cross the </a:t>
            </a:r>
            <a:r>
              <a:rPr lang="en-US" sz="1600" dirty="0" err="1"/>
              <a:t>Sakarya</a:t>
            </a:r>
            <a:r>
              <a:rPr lang="en-US" sz="1600" dirty="0"/>
              <a:t> River and those coming from the west had to cross </a:t>
            </a:r>
            <a:r>
              <a:rPr lang="en-US" sz="1600" dirty="0" err="1"/>
              <a:t>Çark</a:t>
            </a:r>
            <a:r>
              <a:rPr lang="en-US" sz="1600" dirty="0"/>
              <a:t> Stream, the impression of a place surrounded by water led to the area being called an "island." The marketplace function contributed to this settlement becoming a commercial center in the 19th century.</a:t>
            </a:r>
          </a:p>
        </p:txBody>
      </p:sp>
      <p:pic>
        <p:nvPicPr>
          <p:cNvPr id="10" name="İçerik Yer Tutucusu 9">
            <a:extLst>
              <a:ext uri="{FF2B5EF4-FFF2-40B4-BE49-F238E27FC236}">
                <a16:creationId xmlns:a16="http://schemas.microsoft.com/office/drawing/2014/main" id="{071954AA-D426-4F36-BF76-7C594C31072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80031" y="869268"/>
            <a:ext cx="4976812" cy="3404922"/>
          </a:xfrm>
        </p:spPr>
      </p:pic>
      <p:sp>
        <p:nvSpPr>
          <p:cNvPr id="11" name="Metin kutusu 10">
            <a:extLst>
              <a:ext uri="{FF2B5EF4-FFF2-40B4-BE49-F238E27FC236}">
                <a16:creationId xmlns:a16="http://schemas.microsoft.com/office/drawing/2014/main" id="{11AD85C6-D904-4FE5-B036-E68B619AFDB5}"/>
              </a:ext>
            </a:extLst>
          </p:cNvPr>
          <p:cNvSpPr txBox="1"/>
          <p:nvPr/>
        </p:nvSpPr>
        <p:spPr>
          <a:xfrm>
            <a:off x="6308087" y="4484146"/>
            <a:ext cx="4968552" cy="2062103"/>
          </a:xfrm>
          <a:prstGeom prst="rect">
            <a:avLst/>
          </a:prstGeom>
          <a:noFill/>
        </p:spPr>
        <p:txBody>
          <a:bodyPr wrap="square" rtlCol="0">
            <a:spAutoFit/>
          </a:bodyPr>
          <a:lstStyle/>
          <a:p>
            <a:pPr algn="just"/>
            <a:r>
              <a:rPr lang="en-US" sz="1600" dirty="0">
                <a:effectLst/>
                <a:latin typeface="Calibri" panose="020F0502020204030204" pitchFamily="34" charset="0"/>
                <a:ea typeface="Calibri" panose="020F0502020204030204" pitchFamily="34" charset="0"/>
                <a:cs typeface="Times New Roman" panose="02020603050405020304" pitchFamily="18" charset="0"/>
              </a:rPr>
              <a:t>In 1868, a municipal organization was established under the name of "Adapazarı Municipality". After the 1877-78 Ottoman-Russian War, its population increased and the area it covered expanded with the migration from the Caucasus and the Balkans. With the law accepted in the Turkish Grand National Assembly on June 17, 1954,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Sakarya</a:t>
            </a:r>
            <a:r>
              <a:rPr lang="en-US" sz="1600" dirty="0">
                <a:effectLst/>
                <a:latin typeface="Calibri" panose="020F0502020204030204" pitchFamily="34" charset="0"/>
                <a:ea typeface="Calibri" panose="020F0502020204030204" pitchFamily="34" charset="0"/>
                <a:cs typeface="Times New Roman" panose="02020603050405020304" pitchFamily="18" charset="0"/>
              </a:rPr>
              <a:t> Province was established with Adapazarı as its center, after being separated from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Kocaeli</a:t>
            </a:r>
            <a:r>
              <a:rPr lang="en-US" sz="1600" dirty="0">
                <a:effectLst/>
                <a:latin typeface="Calibri" panose="020F0502020204030204" pitchFamily="34" charset="0"/>
                <a:ea typeface="Calibri" panose="020F0502020204030204" pitchFamily="34" charset="0"/>
                <a:cs typeface="Times New Roman" panose="02020603050405020304" pitchFamily="18" charset="0"/>
              </a:rPr>
              <a:t> Province.</a:t>
            </a:r>
            <a:endParaRPr lang="tr-TR" dirty="0"/>
          </a:p>
        </p:txBody>
      </p:sp>
    </p:spTree>
    <p:extLst>
      <p:ext uri="{BB962C8B-B14F-4D97-AF65-F5344CB8AC3E}">
        <p14:creationId xmlns:p14="http://schemas.microsoft.com/office/powerpoint/2010/main" val="2866624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57F94C1-DE03-4A5A-A19F-C4E6BA937C73}"/>
              </a:ext>
            </a:extLst>
          </p:cNvPr>
          <p:cNvSpPr>
            <a:spLocks noGrp="1"/>
          </p:cNvSpPr>
          <p:nvPr>
            <p:ph sz="half" idx="1"/>
          </p:nvPr>
        </p:nvSpPr>
        <p:spPr>
          <a:xfrm>
            <a:off x="549796" y="476672"/>
            <a:ext cx="5544617" cy="5695528"/>
          </a:xfrm>
        </p:spPr>
        <p:txBody>
          <a:bodyPr>
            <a:normAutofit lnSpcReduction="10000"/>
          </a:bodyPr>
          <a:lstStyle/>
          <a:p>
            <a:r>
              <a:rPr lang="en-US" sz="1400" dirty="0"/>
              <a:t>The urbanization process of Adapazarı, which was established and developed based on its commercial function, accelerated in the 1900s with the opening of industrial facilities. This movement began with the Silk Cocoon Factory and flour mills and continued with the establishment of the DE-TA (Iron and Wood) Factory in 1914 to meet the army's need for cannon carriages and wheels. This factory was renamed the Turkish Agricultural Equipment Institution (TZDK) in 1943 under National Protection Law No. 3780.</a:t>
            </a:r>
          </a:p>
          <a:p>
            <a:r>
              <a:rPr lang="en-US" sz="1400" dirty="0"/>
              <a:t>The Adapazarı Army Equipment Heavy Maintenance and Repair Factory, opened in 1943, the leather factory in 1945, the sugar factory in 1950, and the wagon workshop in 1951 marked the beginning of Adapazarı’s transformation into an industrial city.</a:t>
            </a:r>
          </a:p>
          <a:p>
            <a:r>
              <a:rPr lang="en-US" sz="1400" dirty="0"/>
              <a:t>With the establishment of the automotive industry in the early 1970s, motor vehicles began to be used in urban transportation. These investments accelerated industrial development in Adapazarı. Some of the factories located within the city began relocating along the Istanbul-Ankara road after it was rerouted outside the city, leading to the city's expansion southward. Modern industrial zones were established along this new development axis. The Organized Industrial Zone, which began its establishment in 1976, became fully operational in 1993, transforming Adapazarı into a full-fledged industrial city</a:t>
            </a:r>
          </a:p>
          <a:p>
            <a:pPr marL="0" indent="0">
              <a:buNone/>
            </a:pPr>
            <a:endParaRPr lang="tr-TR" dirty="0"/>
          </a:p>
        </p:txBody>
      </p:sp>
      <p:pic>
        <p:nvPicPr>
          <p:cNvPr id="8" name="İçerik Yer Tutucusu 7">
            <a:extLst>
              <a:ext uri="{FF2B5EF4-FFF2-40B4-BE49-F238E27FC236}">
                <a16:creationId xmlns:a16="http://schemas.microsoft.com/office/drawing/2014/main" id="{01ACC37A-2188-4318-9694-F417EF175AB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14492" y="392500"/>
            <a:ext cx="4104456" cy="5931440"/>
          </a:xfrm>
        </p:spPr>
      </p:pic>
    </p:spTree>
    <p:extLst>
      <p:ext uri="{BB962C8B-B14F-4D97-AF65-F5344CB8AC3E}">
        <p14:creationId xmlns:p14="http://schemas.microsoft.com/office/powerpoint/2010/main" val="3088622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EE13C68-39D1-4326-896F-BDCC0AB8EFB7}"/>
              </a:ext>
            </a:extLst>
          </p:cNvPr>
          <p:cNvSpPr>
            <a:spLocks noGrp="1"/>
          </p:cNvSpPr>
          <p:nvPr>
            <p:ph sz="half" idx="1"/>
          </p:nvPr>
        </p:nvSpPr>
        <p:spPr>
          <a:xfrm>
            <a:off x="693812" y="476672"/>
            <a:ext cx="5544616" cy="5976664"/>
          </a:xfrm>
        </p:spPr>
        <p:txBody>
          <a:bodyPr>
            <a:normAutofit fontScale="85000" lnSpcReduction="20000"/>
          </a:bodyPr>
          <a:lstStyle/>
          <a:p>
            <a:r>
              <a:rPr lang="en-US" sz="1400" dirty="0"/>
              <a:t>Between 1982 and 1992, the </a:t>
            </a:r>
            <a:r>
              <a:rPr lang="en-US" sz="1400" dirty="0" err="1"/>
              <a:t>Sakarya</a:t>
            </a:r>
            <a:r>
              <a:rPr lang="en-US" sz="1400" dirty="0"/>
              <a:t> Faculty of Engineering and the Vocational School, both affiliated with Istanbul Technical University, formed the foundation of </a:t>
            </a:r>
            <a:r>
              <a:rPr lang="en-US" sz="1400" dirty="0" err="1"/>
              <a:t>Sakarya</a:t>
            </a:r>
            <a:r>
              <a:rPr lang="en-US" sz="1400" dirty="0"/>
              <a:t> University, which was established on July 3, 1992. The rapidly developing university after 1990 added a new function to the city. During these years, the city expanded westward, merging with settlements in the area where the university was established.</a:t>
            </a:r>
          </a:p>
          <a:p>
            <a:r>
              <a:rPr lang="en-US" sz="1400" dirty="0"/>
              <a:t>By the late 1990s, the city's population exceeded 200,000, including surrounding areas such as </a:t>
            </a:r>
            <a:r>
              <a:rPr lang="en-US" sz="1400" dirty="0" err="1"/>
              <a:t>Serdivan</a:t>
            </a:r>
            <a:r>
              <a:rPr lang="en-US" sz="1400" dirty="0"/>
              <a:t>, </a:t>
            </a:r>
            <a:r>
              <a:rPr lang="en-US" sz="1400" dirty="0" err="1"/>
              <a:t>Erenler</a:t>
            </a:r>
            <a:r>
              <a:rPr lang="en-US" sz="1400" dirty="0"/>
              <a:t>, </a:t>
            </a:r>
            <a:r>
              <a:rPr lang="en-US" sz="1400" dirty="0" err="1"/>
              <a:t>Arifiye</a:t>
            </a:r>
            <a:r>
              <a:rPr lang="en-US" sz="1400" dirty="0"/>
              <a:t>, </a:t>
            </a:r>
            <a:r>
              <a:rPr lang="en-US" sz="1400" dirty="0" err="1"/>
              <a:t>Güneşler</a:t>
            </a:r>
            <a:r>
              <a:rPr lang="en-US" sz="1400" dirty="0"/>
              <a:t>, </a:t>
            </a:r>
            <a:r>
              <a:rPr lang="en-US" sz="1400" dirty="0" err="1"/>
              <a:t>Nehirkent</a:t>
            </a:r>
            <a:r>
              <a:rPr lang="en-US" sz="1400" dirty="0"/>
              <a:t>, </a:t>
            </a:r>
            <a:r>
              <a:rPr lang="en-US" sz="1400" dirty="0" err="1"/>
              <a:t>Yazlık</a:t>
            </a:r>
            <a:r>
              <a:rPr lang="en-US" sz="1400" dirty="0"/>
              <a:t>, and </a:t>
            </a:r>
            <a:r>
              <a:rPr lang="en-US" sz="1400" dirty="0" err="1"/>
              <a:t>Hanlı</a:t>
            </a:r>
            <a:r>
              <a:rPr lang="en-US" sz="1400" dirty="0"/>
              <a:t>. During the Marmara earthquake of August 17, 1999, with a magnitude of 7.4, 27.04% of the residences in Adapazarı were heavily damaged, and 3,694 people lost their lives.</a:t>
            </a:r>
          </a:p>
          <a:p>
            <a:r>
              <a:rPr lang="en-US" sz="1400" dirty="0"/>
              <a:t>In an effort to accelerate the city's recovery after the earthquake, it gained metropolitan status by the Council of Ministers’ decree No. 593 on March 6, 2000. Since most of the damaged buildings were on the unstable plain, the city's administrative center and new development area were relocated to the </a:t>
            </a:r>
            <a:r>
              <a:rPr lang="en-US" sz="1400" dirty="0" err="1"/>
              <a:t>Yenikent</a:t>
            </a:r>
            <a:r>
              <a:rPr lang="en-US" sz="1400" dirty="0"/>
              <a:t> area, approximately 10 km northwest of the city, where the ground is more stable.</a:t>
            </a:r>
          </a:p>
          <a:p>
            <a:r>
              <a:rPr lang="en-US" sz="1400" dirty="0"/>
              <a:t>Villages in this area, such as </a:t>
            </a:r>
            <a:r>
              <a:rPr lang="en-US" sz="1400" dirty="0" err="1"/>
              <a:t>Karaman</a:t>
            </a:r>
            <a:r>
              <a:rPr lang="en-US" sz="1400" dirty="0"/>
              <a:t>, </a:t>
            </a:r>
            <a:r>
              <a:rPr lang="en-US" sz="1400" dirty="0" err="1"/>
              <a:t>Korucuk</a:t>
            </a:r>
            <a:r>
              <a:rPr lang="en-US" sz="1400" dirty="0"/>
              <a:t>, and </a:t>
            </a:r>
            <a:r>
              <a:rPr lang="en-US" sz="1400" dirty="0" err="1"/>
              <a:t>Camili</a:t>
            </a:r>
            <a:r>
              <a:rPr lang="en-US" sz="1400" dirty="0"/>
              <a:t>, developed rapidly and became part of the city. In terms of the spatial distribution of urban functions, commercial areas are concentrated in the city center around Atatürk Boulevard, </a:t>
            </a:r>
            <a:r>
              <a:rPr lang="en-US" sz="1400" dirty="0" err="1"/>
              <a:t>Sakarya</a:t>
            </a:r>
            <a:r>
              <a:rPr lang="en-US" sz="1400" dirty="0"/>
              <a:t> Street, Yeni Cami Boulevard, Ankara Street, and </a:t>
            </a:r>
            <a:r>
              <a:rPr lang="en-US" sz="1400" dirty="0" err="1"/>
              <a:t>Çark</a:t>
            </a:r>
            <a:r>
              <a:rPr lang="en-US" sz="1400" dirty="0"/>
              <a:t> Street. This area has remained important as a commercial hub since the city's founding. </a:t>
            </a:r>
            <a:r>
              <a:rPr lang="en-US" sz="1400" dirty="0" err="1"/>
              <a:t>Uzun</a:t>
            </a:r>
            <a:r>
              <a:rPr lang="en-US" sz="1400" dirty="0"/>
              <a:t> </a:t>
            </a:r>
            <a:r>
              <a:rPr lang="en-US" sz="1400" dirty="0" err="1"/>
              <a:t>Çarşı</a:t>
            </a:r>
            <a:r>
              <a:rPr lang="en-US" sz="1400" dirty="0"/>
              <a:t>, located here, is one of the city's symbols, standing strong despite having experienced several earthquakes.</a:t>
            </a:r>
          </a:p>
          <a:p>
            <a:r>
              <a:rPr lang="en-US" sz="1400" dirty="0"/>
              <a:t>With the city's growth, new commercial axes have emerged. New commercial areas have appeared in </a:t>
            </a:r>
            <a:r>
              <a:rPr lang="en-US" sz="1400" dirty="0" err="1"/>
              <a:t>Serdivan</a:t>
            </a:r>
            <a:r>
              <a:rPr lang="en-US" sz="1400" dirty="0"/>
              <a:t> and its surroundings, where educational functions have developed following the establishment of the university. Muhsin </a:t>
            </a:r>
            <a:r>
              <a:rPr lang="en-US" sz="1400" dirty="0" err="1"/>
              <a:t>Yazıcıoğlu</a:t>
            </a:r>
            <a:r>
              <a:rPr lang="en-US" sz="1400" dirty="0"/>
              <a:t> Boulevard, </a:t>
            </a:r>
            <a:r>
              <a:rPr lang="en-US" sz="1400" dirty="0" err="1"/>
              <a:t>Bağlar</a:t>
            </a:r>
            <a:r>
              <a:rPr lang="en-US" sz="1400" dirty="0"/>
              <a:t> Street, and </a:t>
            </a:r>
            <a:r>
              <a:rPr lang="en-US" sz="1400" dirty="0" err="1"/>
              <a:t>Medeniyet</a:t>
            </a:r>
            <a:r>
              <a:rPr lang="en-US" sz="1400" dirty="0"/>
              <a:t> Boulevard are prominent as areas where commercial activities are concentrated.</a:t>
            </a:r>
          </a:p>
          <a:p>
            <a:pPr marL="0" indent="0">
              <a:buNone/>
            </a:pPr>
            <a:endParaRPr lang="tr-TR" dirty="0"/>
          </a:p>
        </p:txBody>
      </p:sp>
      <p:pic>
        <p:nvPicPr>
          <p:cNvPr id="6" name="İçerik Yer Tutucusu 5">
            <a:extLst>
              <a:ext uri="{FF2B5EF4-FFF2-40B4-BE49-F238E27FC236}">
                <a16:creationId xmlns:a16="http://schemas.microsoft.com/office/drawing/2014/main" id="{BA1D79BB-DFEF-4D67-BA2A-05EDED2E5AA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598468" y="219979"/>
            <a:ext cx="4824536" cy="6418041"/>
          </a:xfrm>
        </p:spPr>
      </p:pic>
    </p:spTree>
    <p:extLst>
      <p:ext uri="{BB962C8B-B14F-4D97-AF65-F5344CB8AC3E}">
        <p14:creationId xmlns:p14="http://schemas.microsoft.com/office/powerpoint/2010/main" val="549422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çerik Yer Tutucusu 5">
            <a:extLst>
              <a:ext uri="{FF2B5EF4-FFF2-40B4-BE49-F238E27FC236}">
                <a16:creationId xmlns:a16="http://schemas.microsoft.com/office/drawing/2014/main" id="{64320994-3140-45B2-BCB2-792A73A84FD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65820" y="0"/>
            <a:ext cx="4608512" cy="3073357"/>
          </a:xfrm>
        </p:spPr>
      </p:pic>
      <p:pic>
        <p:nvPicPr>
          <p:cNvPr id="8" name="İçerik Yer Tutucusu 7">
            <a:extLst>
              <a:ext uri="{FF2B5EF4-FFF2-40B4-BE49-F238E27FC236}">
                <a16:creationId xmlns:a16="http://schemas.microsoft.com/office/drawing/2014/main" id="{6EBA57FE-6942-4981-ABF5-02250C2A419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644046" y="-1"/>
            <a:ext cx="5778959" cy="3073357"/>
          </a:xfrm>
        </p:spPr>
      </p:pic>
      <p:pic>
        <p:nvPicPr>
          <p:cNvPr id="10" name="Resim 9">
            <a:extLst>
              <a:ext uri="{FF2B5EF4-FFF2-40B4-BE49-F238E27FC236}">
                <a16:creationId xmlns:a16="http://schemas.microsoft.com/office/drawing/2014/main" id="{0D8F32A2-AAD4-4597-89A9-3106016333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610" y="3266982"/>
            <a:ext cx="4608512" cy="3456384"/>
          </a:xfrm>
          <a:prstGeom prst="rect">
            <a:avLst/>
          </a:prstGeom>
        </p:spPr>
      </p:pic>
      <p:pic>
        <p:nvPicPr>
          <p:cNvPr id="12" name="Resim 11">
            <a:extLst>
              <a:ext uri="{FF2B5EF4-FFF2-40B4-BE49-F238E27FC236}">
                <a16:creationId xmlns:a16="http://schemas.microsoft.com/office/drawing/2014/main" id="{930F518D-021C-4114-BAD8-FC6430EFC0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41100" y="3253063"/>
            <a:ext cx="5184849" cy="3453191"/>
          </a:xfrm>
          <a:prstGeom prst="rect">
            <a:avLst/>
          </a:prstGeom>
        </p:spPr>
      </p:pic>
    </p:spTree>
    <p:extLst>
      <p:ext uri="{BB962C8B-B14F-4D97-AF65-F5344CB8AC3E}">
        <p14:creationId xmlns:p14="http://schemas.microsoft.com/office/powerpoint/2010/main" val="1820041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58D4807-EAEE-49CF-A03D-321DE88476EE}"/>
              </a:ext>
            </a:extLst>
          </p:cNvPr>
          <p:cNvSpPr>
            <a:spLocks noGrp="1"/>
          </p:cNvSpPr>
          <p:nvPr>
            <p:ph type="title"/>
          </p:nvPr>
        </p:nvSpPr>
        <p:spPr>
          <a:xfrm>
            <a:off x="2349996" y="236845"/>
            <a:ext cx="2016223" cy="466322"/>
          </a:xfrm>
        </p:spPr>
        <p:txBody>
          <a:bodyPr>
            <a:normAutofit fontScale="90000"/>
          </a:bodyPr>
          <a:lstStyle/>
          <a:p>
            <a:br>
              <a:rPr lang="tr-TR" sz="1800" dirty="0">
                <a:effectLst/>
                <a:latin typeface="Calibri" panose="020F0502020204030204" pitchFamily="34" charset="0"/>
                <a:ea typeface="Calibri" panose="020F0502020204030204" pitchFamily="34" charset="0"/>
                <a:cs typeface="Times New Roman" panose="02020603050405020304" pitchFamily="18" charset="0"/>
              </a:rPr>
            </a:br>
            <a:r>
              <a:rPr lang="tr-TR" sz="2400" dirty="0">
                <a:effectLst/>
                <a:latin typeface="Calibri" panose="020F0502020204030204" pitchFamily="34" charset="0"/>
                <a:ea typeface="Calibri" panose="020F0502020204030204" pitchFamily="34" charset="0"/>
                <a:cs typeface="Times New Roman" panose="02020603050405020304" pitchFamily="18" charset="0"/>
              </a:rPr>
              <a:t>AGRICULTURE</a:t>
            </a:r>
            <a:endParaRPr lang="tr-TR" sz="2400" dirty="0"/>
          </a:p>
        </p:txBody>
      </p:sp>
      <p:sp>
        <p:nvSpPr>
          <p:cNvPr id="3" name="İçerik Yer Tutucusu 2">
            <a:extLst>
              <a:ext uri="{FF2B5EF4-FFF2-40B4-BE49-F238E27FC236}">
                <a16:creationId xmlns:a16="http://schemas.microsoft.com/office/drawing/2014/main" id="{50751782-836A-4AC2-A79F-CAC77158377F}"/>
              </a:ext>
            </a:extLst>
          </p:cNvPr>
          <p:cNvSpPr>
            <a:spLocks noGrp="1"/>
          </p:cNvSpPr>
          <p:nvPr>
            <p:ph sz="half" idx="1"/>
          </p:nvPr>
        </p:nvSpPr>
        <p:spPr>
          <a:xfrm>
            <a:off x="261764" y="703167"/>
            <a:ext cx="6552727" cy="6027730"/>
          </a:xfrm>
        </p:spPr>
        <p:txBody>
          <a:bodyPr>
            <a:noAutofit/>
          </a:bodyPr>
          <a:lstStyle/>
          <a:p>
            <a:r>
              <a:rPr lang="en-US" sz="1200" dirty="0"/>
              <a:t>In the historical development process, agriculture and agriculture-based trade have played a very important role in the establishment and growth of almost all settlements in </a:t>
            </a:r>
            <a:r>
              <a:rPr lang="en-US" sz="1200" dirty="0" err="1"/>
              <a:t>Sakarya</a:t>
            </a:r>
            <a:r>
              <a:rPr lang="en-US" sz="1200" dirty="0"/>
              <a:t> Province. The agricultural potential of the province and its surroundings, as indicated by place names in Adapazarı derived from agricultural markets (such as onion market, potato market), highlights the importance of agriculture in opening the area to settlement.</a:t>
            </a:r>
          </a:p>
          <a:p>
            <a:r>
              <a:rPr lang="en-US" sz="1200" dirty="0"/>
              <a:t>In his research on </a:t>
            </a:r>
            <a:r>
              <a:rPr lang="en-US" sz="1200" dirty="0" err="1"/>
              <a:t>Sakarya</a:t>
            </a:r>
            <a:r>
              <a:rPr lang="en-US" sz="1200" dirty="0"/>
              <a:t> and its surroundings' contributions to meeting Istanbul's needs from the 16th century to the early 20th century, </a:t>
            </a:r>
            <a:r>
              <a:rPr lang="en-US" sz="1200" dirty="0" err="1"/>
              <a:t>Bilgin</a:t>
            </a:r>
            <a:r>
              <a:rPr lang="en-US" sz="1200" dirty="0"/>
              <a:t> states that onions, quinces, and chickens were sent to the palace kitchen from </a:t>
            </a:r>
            <a:r>
              <a:rPr lang="en-US" sz="1200" dirty="0" err="1"/>
              <a:t>Sakarya</a:t>
            </a:r>
            <a:r>
              <a:rPr lang="en-US" sz="1200" dirty="0"/>
              <a:t>. In addition to these products, some of the essential needs of the state, especially during military campaigns, such as wheat, flour, and barley, were also supplied from </a:t>
            </a:r>
            <a:r>
              <a:rPr lang="en-US" sz="1200" dirty="0" err="1"/>
              <a:t>Sakarya</a:t>
            </a:r>
            <a:r>
              <a:rPr lang="en-US" sz="1200" dirty="0"/>
              <a:t> and its surroundings. Thus, agriculture has been one of the most important economic activities for </a:t>
            </a:r>
            <a:r>
              <a:rPr lang="en-US" sz="1200" dirty="0" err="1"/>
              <a:t>Sakarya</a:t>
            </a:r>
            <a:r>
              <a:rPr lang="en-US" sz="1200" dirty="0"/>
              <a:t> Province throughout history.</a:t>
            </a:r>
          </a:p>
          <a:p>
            <a:r>
              <a:rPr lang="en-US" sz="1200" dirty="0"/>
              <a:t>The share of the agricultural sector in the economy is 14.5% in Turkey overall, 5.2% in the Marmara Region, and 20.5% in </a:t>
            </a:r>
            <a:r>
              <a:rPr lang="en-US" sz="1200" dirty="0" err="1"/>
              <a:t>Sakarya</a:t>
            </a:r>
            <a:r>
              <a:rPr lang="en-US" sz="1200" dirty="0"/>
              <a:t>. While the agricultural sector accounts for approximately 8.6% of GDP in Turkey, in </a:t>
            </a:r>
            <a:r>
              <a:rPr lang="en-US" sz="1200" dirty="0" err="1"/>
              <a:t>Sakarya</a:t>
            </a:r>
            <a:r>
              <a:rPr lang="en-US" sz="1200" dirty="0"/>
              <a:t>, it has a 24% share, acting as a resource provider for the industry (</a:t>
            </a:r>
            <a:r>
              <a:rPr lang="en-US" sz="1200" dirty="0" err="1"/>
              <a:t>Sakarya</a:t>
            </a:r>
            <a:r>
              <a:rPr lang="en-US" sz="1200" dirty="0"/>
              <a:t> Provincial Environmental Status Report, 2011: 12-13). The proportion of those employed in agriculture to total employment in </a:t>
            </a:r>
            <a:r>
              <a:rPr lang="en-US" sz="1200" dirty="0" err="1"/>
              <a:t>Sakarya</a:t>
            </a:r>
            <a:r>
              <a:rPr lang="en-US" sz="1200" dirty="0"/>
              <a:t> is 51.9%. In terms of sectoral production value in the province, animal production ranks first with a share of 50.9%, followed by fruit production with 35.6%, field crop production with 8.3%, and vegetable production with 5.1% (</a:t>
            </a:r>
            <a:r>
              <a:rPr lang="en-US" sz="1200" dirty="0" err="1"/>
              <a:t>Sakarya</a:t>
            </a:r>
            <a:r>
              <a:rPr lang="en-US" sz="1200" dirty="0"/>
              <a:t> Provincial Directorate of Agriculture Annual Activity Summary, 2017).</a:t>
            </a:r>
          </a:p>
          <a:p>
            <a:r>
              <a:rPr lang="en-US" sz="1200" dirty="0"/>
              <a:t>In addition to maize as the main crop, field crops such as wheat, sugar beet, vetch, alfalfa, and sunflower, as well as garden crops like cabbage, lettuce, tomatoes, peppers, squash, watermelon, and fresh beans, hold significant places in agricultural production. Alongside field crops and vegetables, fruit growing is also an intensive activity in the province. The most important activities in fruit production include hazelnut cultivation and viticulture, followed by apple, pear, quince, and cherry production</a:t>
            </a:r>
            <a:r>
              <a:rPr lang="tr-TR" sz="1200" dirty="0"/>
              <a:t>.</a:t>
            </a:r>
            <a:endParaRPr lang="en-US" sz="1200" dirty="0"/>
          </a:p>
        </p:txBody>
      </p:sp>
      <p:pic>
        <p:nvPicPr>
          <p:cNvPr id="6" name="İçerik Yer Tutucusu 5">
            <a:extLst>
              <a:ext uri="{FF2B5EF4-FFF2-40B4-BE49-F238E27FC236}">
                <a16:creationId xmlns:a16="http://schemas.microsoft.com/office/drawing/2014/main" id="{394E7ED9-7A87-4976-9158-3BB13E05704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030516" y="236845"/>
            <a:ext cx="4241509" cy="6384310"/>
          </a:xfrm>
        </p:spPr>
      </p:pic>
    </p:spTree>
    <p:extLst>
      <p:ext uri="{BB962C8B-B14F-4D97-AF65-F5344CB8AC3E}">
        <p14:creationId xmlns:p14="http://schemas.microsoft.com/office/powerpoint/2010/main" val="436240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175BD47-A774-49E5-B973-97E36E7F1556}"/>
              </a:ext>
            </a:extLst>
          </p:cNvPr>
          <p:cNvSpPr>
            <a:spLocks noGrp="1"/>
          </p:cNvSpPr>
          <p:nvPr>
            <p:ph type="title"/>
          </p:nvPr>
        </p:nvSpPr>
        <p:spPr>
          <a:xfrm>
            <a:off x="2133972" y="433772"/>
            <a:ext cx="2160240" cy="504056"/>
          </a:xfrm>
        </p:spPr>
        <p:txBody>
          <a:bodyPr>
            <a:normAutofit fontScale="90000"/>
          </a:bodyPr>
          <a:lstStyle/>
          <a:p>
            <a:br>
              <a:rPr lang="tr-TR" sz="1800" dirty="0">
                <a:effectLst/>
                <a:latin typeface="Calibri" panose="020F0502020204030204" pitchFamily="34" charset="0"/>
                <a:ea typeface="Calibri" panose="020F0502020204030204" pitchFamily="34" charset="0"/>
                <a:cs typeface="Times New Roman" panose="02020603050405020304" pitchFamily="18" charset="0"/>
              </a:rPr>
            </a:br>
            <a:r>
              <a:rPr lang="tr-TR" sz="2400" dirty="0">
                <a:effectLst/>
                <a:latin typeface="Calibri" panose="020F0502020204030204" pitchFamily="34" charset="0"/>
                <a:ea typeface="Calibri" panose="020F0502020204030204" pitchFamily="34" charset="0"/>
                <a:cs typeface="Times New Roman" panose="02020603050405020304" pitchFamily="18" charset="0"/>
              </a:rPr>
              <a:t>INDUSTRY</a:t>
            </a:r>
            <a:endParaRPr lang="tr-TR" sz="2400" dirty="0"/>
          </a:p>
        </p:txBody>
      </p:sp>
      <p:sp>
        <p:nvSpPr>
          <p:cNvPr id="3" name="İçerik Yer Tutucusu 2">
            <a:extLst>
              <a:ext uri="{FF2B5EF4-FFF2-40B4-BE49-F238E27FC236}">
                <a16:creationId xmlns:a16="http://schemas.microsoft.com/office/drawing/2014/main" id="{E59A562E-710F-4A98-BAFF-F98EE7FDF6DF}"/>
              </a:ext>
            </a:extLst>
          </p:cNvPr>
          <p:cNvSpPr>
            <a:spLocks noGrp="1"/>
          </p:cNvSpPr>
          <p:nvPr>
            <p:ph sz="half" idx="1"/>
          </p:nvPr>
        </p:nvSpPr>
        <p:spPr>
          <a:xfrm>
            <a:off x="333772" y="1175787"/>
            <a:ext cx="5760641" cy="5349557"/>
          </a:xfrm>
        </p:spPr>
        <p:txBody>
          <a:bodyPr>
            <a:normAutofit/>
          </a:bodyPr>
          <a:lstStyle/>
          <a:p>
            <a:r>
              <a:rPr lang="en-US" sz="1400" dirty="0"/>
              <a:t>During the Ottoman period, the agricultural characteristics of the Adapazarı plain and its surroundings, its forest wealth, and its proximity to Istanbul, as well as its function as a market for the nearby areas, facilitated the presence of traditional manufacturing activities. However, the traditional production sites located in the neighborhoods of the city during this period gradually disappeared in the Republican Era. Industrial facilities such as TZDK, the Military Heavy Maintenance Factory, and the Tank Pallet Factory, initially located in or near the city center and close to the railway line, were moved outside residential areas.</a:t>
            </a:r>
          </a:p>
          <a:p>
            <a:r>
              <a:rPr lang="en-US" sz="1400" dirty="0"/>
              <a:t>The Wagon Factory, established in 1951, and the Sugar Factory, established in 1953, were built outside the city. Over time, with the construction of worker housing and social facilities in the empty areas surrounding these factories, new residential areas, such as </a:t>
            </a:r>
            <a:r>
              <a:rPr lang="en-US" sz="1400" dirty="0" err="1"/>
              <a:t>Şeker</a:t>
            </a:r>
            <a:r>
              <a:rPr lang="en-US" sz="1400" dirty="0"/>
              <a:t> Neighborhood and Mithat </a:t>
            </a:r>
            <a:r>
              <a:rPr lang="en-US" sz="1400" dirty="0" err="1"/>
              <a:t>Paşa</a:t>
            </a:r>
            <a:r>
              <a:rPr lang="en-US" sz="1400" dirty="0"/>
              <a:t> Neighborhood, were established.</a:t>
            </a:r>
          </a:p>
          <a:p>
            <a:r>
              <a:rPr lang="en-US" sz="1400" dirty="0"/>
              <a:t>During this period, industry in </a:t>
            </a:r>
            <a:r>
              <a:rPr lang="en-US" sz="1400" dirty="0" err="1"/>
              <a:t>Sakarya</a:t>
            </a:r>
            <a:r>
              <a:rPr lang="en-US" sz="1400" dirty="0"/>
              <a:t> mainly consisted of small-scale manufacturing activities suited to traditional production methods. This is reflected in the neighborhood names, such as </a:t>
            </a:r>
            <a:r>
              <a:rPr lang="en-US" sz="1400" dirty="0" err="1"/>
              <a:t>Tığcılar</a:t>
            </a:r>
            <a:r>
              <a:rPr lang="en-US" sz="1400" dirty="0"/>
              <a:t>, </a:t>
            </a:r>
            <a:r>
              <a:rPr lang="en-US" sz="1400" dirty="0" err="1"/>
              <a:t>Semerciler</a:t>
            </a:r>
            <a:r>
              <a:rPr lang="en-US" sz="1400" dirty="0"/>
              <a:t>, </a:t>
            </a:r>
            <a:r>
              <a:rPr lang="en-US" sz="1400" dirty="0" err="1"/>
              <a:t>Hasırcılar</a:t>
            </a:r>
            <a:r>
              <a:rPr lang="en-US" sz="1400" dirty="0"/>
              <a:t>, </a:t>
            </a:r>
            <a:r>
              <a:rPr lang="en-US" sz="1400" dirty="0" err="1"/>
              <a:t>Yağcılar</a:t>
            </a:r>
            <a:r>
              <a:rPr lang="en-US" sz="1400" dirty="0"/>
              <a:t>, </a:t>
            </a:r>
            <a:r>
              <a:rPr lang="en-US" sz="1400" dirty="0" err="1"/>
              <a:t>Çıracılar</a:t>
            </a:r>
            <a:r>
              <a:rPr lang="en-US" sz="1400" dirty="0"/>
              <a:t>, and </a:t>
            </a:r>
            <a:r>
              <a:rPr lang="en-US" sz="1400" dirty="0" err="1"/>
              <a:t>Pabuççular</a:t>
            </a:r>
            <a:r>
              <a:rPr lang="en-US" sz="1400" dirty="0"/>
              <a:t> in Adapazarı, which were the first settlements for people engaged in these trades.</a:t>
            </a:r>
          </a:p>
          <a:p>
            <a:pPr marL="0" indent="0">
              <a:buNone/>
            </a:pPr>
            <a:endParaRPr lang="tr-TR" dirty="0"/>
          </a:p>
        </p:txBody>
      </p:sp>
      <p:pic>
        <p:nvPicPr>
          <p:cNvPr id="6" name="İçerik Yer Tutucusu 5">
            <a:extLst>
              <a:ext uri="{FF2B5EF4-FFF2-40B4-BE49-F238E27FC236}">
                <a16:creationId xmlns:a16="http://schemas.microsoft.com/office/drawing/2014/main" id="{5DB9E8A9-0272-421F-A5A1-547DBCAD986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33761" y="260648"/>
            <a:ext cx="4976812" cy="2796704"/>
          </a:xfrm>
        </p:spPr>
      </p:pic>
      <p:pic>
        <p:nvPicPr>
          <p:cNvPr id="8" name="Resim 7">
            <a:extLst>
              <a:ext uri="{FF2B5EF4-FFF2-40B4-BE49-F238E27FC236}">
                <a16:creationId xmlns:a16="http://schemas.microsoft.com/office/drawing/2014/main" id="{66019A0B-0DA0-40DE-9095-6B643A2B22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0454" y="3277526"/>
            <a:ext cx="4976811" cy="3319826"/>
          </a:xfrm>
          <a:prstGeom prst="rect">
            <a:avLst/>
          </a:prstGeom>
        </p:spPr>
      </p:pic>
    </p:spTree>
    <p:extLst>
      <p:ext uri="{BB962C8B-B14F-4D97-AF65-F5344CB8AC3E}">
        <p14:creationId xmlns:p14="http://schemas.microsoft.com/office/powerpoint/2010/main" val="1256263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6AF2AF6-B22E-4522-8312-466AFB906A1A}"/>
              </a:ext>
            </a:extLst>
          </p:cNvPr>
          <p:cNvSpPr>
            <a:spLocks noGrp="1"/>
          </p:cNvSpPr>
          <p:nvPr>
            <p:ph sz="half" idx="1"/>
          </p:nvPr>
        </p:nvSpPr>
        <p:spPr>
          <a:xfrm>
            <a:off x="333772" y="620688"/>
            <a:ext cx="6624736" cy="6052120"/>
          </a:xfrm>
        </p:spPr>
        <p:txBody>
          <a:bodyPr>
            <a:normAutofit/>
          </a:bodyPr>
          <a:lstStyle/>
          <a:p>
            <a:r>
              <a:rPr lang="en-US" sz="1400" dirty="0"/>
              <a:t>The DE-TA factory, which has been in operation since 1917, was renamed the Turkish Agricultural Equipment Institution (TZDK) in 1943 following legal changes made to support agriculture. Initially producing horse-drawn carriages, the factory manufactured Turkey's first assembled tractor in 1968. It was later renamed </a:t>
            </a:r>
            <a:r>
              <a:rPr lang="en-US" sz="1400" dirty="0" err="1"/>
              <a:t>Başak</a:t>
            </a:r>
            <a:r>
              <a:rPr lang="en-US" sz="1400" dirty="0"/>
              <a:t> Tractor Factory and relocated along the E-5 highway.</a:t>
            </a:r>
          </a:p>
          <a:p>
            <a:r>
              <a:rPr lang="en-US" sz="1400" dirty="0"/>
              <a:t>The second major factory in the region is the Military Heavy Maintenance and Repair Factory, initially established in </a:t>
            </a:r>
            <a:r>
              <a:rPr lang="en-US" sz="1400" dirty="0" err="1"/>
              <a:t>Çorlu</a:t>
            </a:r>
            <a:r>
              <a:rPr lang="en-US" sz="1400" dirty="0"/>
              <a:t> in 1934 but relocated near the railway in Adapazarı in 1943 for security reasons. Initially responsible for repairing all weapons and equipment for the Land Forces, it eventually became an important facility producing a wide range of defense equipment.</a:t>
            </a:r>
          </a:p>
          <a:p>
            <a:r>
              <a:rPr lang="en-US" sz="1400" dirty="0"/>
              <a:t>By the 1950s, as a result of policies aimed at spreading industry throughout the country, large public industrial establishments were also located in Adapazarı. These included the TCDD Wagon Factory, established in 1951, and the Sugar Factory, established in 1953. Strengthened by private sector investments, the industry in </a:t>
            </a:r>
            <a:r>
              <a:rPr lang="en-US" sz="1400" dirty="0" err="1"/>
              <a:t>Sakarya</a:t>
            </a:r>
            <a:r>
              <a:rPr lang="en-US" sz="1400" dirty="0"/>
              <a:t> initially developed in line with its agricultural resource potential.</a:t>
            </a:r>
          </a:p>
          <a:p>
            <a:r>
              <a:rPr lang="en-US" sz="1400" dirty="0"/>
              <a:t>Significant developments in the industrial sector occurred in </a:t>
            </a:r>
            <a:r>
              <a:rPr lang="en-US" sz="1400" dirty="0" err="1"/>
              <a:t>Sakarya</a:t>
            </a:r>
            <a:r>
              <a:rPr lang="en-US" sz="1400" dirty="0"/>
              <a:t>, especially after the 1990s. Investments by companies operating in the automotive and related sectors, such as </a:t>
            </a:r>
            <a:r>
              <a:rPr lang="en-US" sz="1400" dirty="0" err="1"/>
              <a:t>Otokar</a:t>
            </a:r>
            <a:r>
              <a:rPr lang="en-US" sz="1400" dirty="0"/>
              <a:t>, </a:t>
            </a:r>
            <a:r>
              <a:rPr lang="en-US" sz="1400" dirty="0" err="1"/>
              <a:t>Tırsan</a:t>
            </a:r>
            <a:r>
              <a:rPr lang="en-US" sz="1400" dirty="0"/>
              <a:t>, </a:t>
            </a:r>
            <a:r>
              <a:rPr lang="en-US" sz="1400" dirty="0" err="1"/>
              <a:t>Asaş</a:t>
            </a:r>
            <a:r>
              <a:rPr lang="en-US" sz="1400" dirty="0"/>
              <a:t>, Toyota, </a:t>
            </a:r>
            <a:r>
              <a:rPr lang="en-US" sz="1400" dirty="0" err="1"/>
              <a:t>Türk</a:t>
            </a:r>
            <a:r>
              <a:rPr lang="en-US" sz="1400" dirty="0"/>
              <a:t> </a:t>
            </a:r>
            <a:r>
              <a:rPr lang="en-US" sz="1400" dirty="0" err="1"/>
              <a:t>Traktör</a:t>
            </a:r>
            <a:r>
              <a:rPr lang="en-US" sz="1400" dirty="0"/>
              <a:t>, </a:t>
            </a:r>
            <a:r>
              <a:rPr lang="en-US" sz="1400" dirty="0" err="1"/>
              <a:t>Başak</a:t>
            </a:r>
            <a:r>
              <a:rPr lang="en-US" sz="1400" dirty="0"/>
              <a:t> </a:t>
            </a:r>
            <a:r>
              <a:rPr lang="en-US" sz="1400" dirty="0" err="1"/>
              <a:t>Traktör</a:t>
            </a:r>
            <a:r>
              <a:rPr lang="en-US" sz="1400" dirty="0"/>
              <a:t>, and Goodyear, have contributed to the industrial growth of the province.</a:t>
            </a:r>
          </a:p>
        </p:txBody>
      </p:sp>
      <p:pic>
        <p:nvPicPr>
          <p:cNvPr id="6" name="İçerik Yer Tutucusu 5">
            <a:extLst>
              <a:ext uri="{FF2B5EF4-FFF2-40B4-BE49-F238E27FC236}">
                <a16:creationId xmlns:a16="http://schemas.microsoft.com/office/drawing/2014/main" id="{E6340704-F696-48FA-9266-64B640102AF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174532" y="-67"/>
            <a:ext cx="4135351" cy="2112953"/>
          </a:xfrm>
        </p:spPr>
      </p:pic>
      <p:pic>
        <p:nvPicPr>
          <p:cNvPr id="8" name="Resim 7">
            <a:extLst>
              <a:ext uri="{FF2B5EF4-FFF2-40B4-BE49-F238E27FC236}">
                <a16:creationId xmlns:a16="http://schemas.microsoft.com/office/drawing/2014/main" id="{907B9CB7-F994-4367-BC79-D00CBEA487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6750" y="2126508"/>
            <a:ext cx="4135351" cy="2323848"/>
          </a:xfrm>
          <a:prstGeom prst="rect">
            <a:avLst/>
          </a:prstGeom>
        </p:spPr>
      </p:pic>
      <p:pic>
        <p:nvPicPr>
          <p:cNvPr id="10" name="Resim 9">
            <a:extLst>
              <a:ext uri="{FF2B5EF4-FFF2-40B4-BE49-F238E27FC236}">
                <a16:creationId xmlns:a16="http://schemas.microsoft.com/office/drawing/2014/main" id="{5DECD325-66EB-4BBA-B77F-0EAECD823D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34685" y="4599572"/>
            <a:ext cx="4175198" cy="1932660"/>
          </a:xfrm>
          <a:prstGeom prst="rect">
            <a:avLst/>
          </a:prstGeom>
        </p:spPr>
      </p:pic>
    </p:spTree>
    <p:extLst>
      <p:ext uri="{BB962C8B-B14F-4D97-AF65-F5344CB8AC3E}">
        <p14:creationId xmlns:p14="http://schemas.microsoft.com/office/powerpoint/2010/main" val="2027724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92497AB-7F1A-4FBE-B170-B7E8DBC579EB}"/>
              </a:ext>
            </a:extLst>
          </p:cNvPr>
          <p:cNvSpPr>
            <a:spLocks noGrp="1"/>
          </p:cNvSpPr>
          <p:nvPr>
            <p:ph sz="half" idx="1"/>
          </p:nvPr>
        </p:nvSpPr>
        <p:spPr>
          <a:xfrm>
            <a:off x="261764" y="512676"/>
            <a:ext cx="6192688" cy="6012668"/>
          </a:xfrm>
        </p:spPr>
        <p:txBody>
          <a:bodyPr>
            <a:normAutofit/>
          </a:bodyPr>
          <a:lstStyle/>
          <a:p>
            <a:r>
              <a:rPr lang="en-US" sz="1400" dirty="0"/>
              <a:t>In recent years, </a:t>
            </a:r>
            <a:r>
              <a:rPr lang="en-US" sz="1400" dirty="0" err="1"/>
              <a:t>Sakarya</a:t>
            </a:r>
            <a:r>
              <a:rPr lang="en-US" sz="1400" dirty="0"/>
              <a:t> has been involved in the production of defense industry projects such as the national tank, armored combat vehicles, and the </a:t>
            </a:r>
            <a:r>
              <a:rPr lang="en-US" sz="1400" dirty="0" err="1"/>
              <a:t>Fırtına</a:t>
            </a:r>
            <a:r>
              <a:rPr lang="en-US" sz="1400" dirty="0"/>
              <a:t> howitzer, as well as rail system vehicles through TÜRASAŞ (formerly TÜVASAŞ). </a:t>
            </a:r>
            <a:r>
              <a:rPr lang="en-US" sz="1400" dirty="0" err="1"/>
              <a:t>Sakarya's</a:t>
            </a:r>
            <a:r>
              <a:rPr lang="en-US" sz="1400" dirty="0"/>
              <a:t> latest ambition is to become the production center for the national tank and domestic automobile.</a:t>
            </a:r>
          </a:p>
          <a:p>
            <a:r>
              <a:rPr lang="en-US" sz="1400" dirty="0"/>
              <a:t>In addition to the automotive sector and its sub-industries, </a:t>
            </a:r>
            <a:r>
              <a:rPr lang="en-US" sz="1400" dirty="0" err="1"/>
              <a:t>Sakarya</a:t>
            </a:r>
            <a:r>
              <a:rPr lang="en-US" sz="1400" dirty="0"/>
              <a:t> stands out in the production of armored security vehicles, steel, metal, chemical industry products, machinery and machine parts, electrical materials, furniture and forest products, textiles, food, ornamental plants, agricultural products, and poultry.</a:t>
            </a:r>
          </a:p>
          <a:p>
            <a:r>
              <a:rPr lang="en-US" sz="1400" dirty="0"/>
              <a:t>In the "Top 500 Industrial Enterprises in Turkey" list by the Istanbul Chamber of Industry, 17 companies from </a:t>
            </a:r>
            <a:r>
              <a:rPr lang="en-US" sz="1400" dirty="0" err="1"/>
              <a:t>Sakarya</a:t>
            </a:r>
            <a:r>
              <a:rPr lang="en-US" sz="1400" dirty="0"/>
              <a:t> were included in 2012, while in 2017, 9 companies headquartered in </a:t>
            </a:r>
            <a:r>
              <a:rPr lang="en-US" sz="1400" dirty="0" err="1"/>
              <a:t>Sakarya</a:t>
            </a:r>
            <a:r>
              <a:rPr lang="en-US" sz="1400" dirty="0"/>
              <a:t> (1 public) and 20 companies with branches in </a:t>
            </a:r>
            <a:r>
              <a:rPr lang="en-US" sz="1400" dirty="0" err="1"/>
              <a:t>Sakarya</a:t>
            </a:r>
            <a:r>
              <a:rPr lang="en-US" sz="1400" dirty="0"/>
              <a:t> were listed.</a:t>
            </a:r>
          </a:p>
          <a:p>
            <a:r>
              <a:rPr lang="en-US" sz="1400" dirty="0"/>
              <a:t>Excluding agricultural-based specialized organized industrial zones, there are 7 organized industrial zones in the province.</a:t>
            </a:r>
          </a:p>
        </p:txBody>
      </p:sp>
      <p:pic>
        <p:nvPicPr>
          <p:cNvPr id="6" name="İçerik Yer Tutucusu 5">
            <a:extLst>
              <a:ext uri="{FF2B5EF4-FFF2-40B4-BE49-F238E27FC236}">
                <a16:creationId xmlns:a16="http://schemas.microsoft.com/office/drawing/2014/main" id="{04EC1E71-8418-41AB-85E3-EDB5BDE4850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32108" y="476672"/>
            <a:ext cx="5006919" cy="6175754"/>
          </a:xfrm>
        </p:spPr>
      </p:pic>
    </p:spTree>
    <p:extLst>
      <p:ext uri="{BB962C8B-B14F-4D97-AF65-F5344CB8AC3E}">
        <p14:creationId xmlns:p14="http://schemas.microsoft.com/office/powerpoint/2010/main" val="206302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çerik Yer Tutucusu 5">
            <a:extLst>
              <a:ext uri="{FF2B5EF4-FFF2-40B4-BE49-F238E27FC236}">
                <a16:creationId xmlns:a16="http://schemas.microsoft.com/office/drawing/2014/main" id="{688293C6-3927-4BE7-A031-055EC44EE91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93812" y="539468"/>
            <a:ext cx="4608512" cy="6063389"/>
          </a:xfrm>
        </p:spPr>
      </p:pic>
      <p:pic>
        <p:nvPicPr>
          <p:cNvPr id="8" name="İçerik Yer Tutucusu 7">
            <a:extLst>
              <a:ext uri="{FF2B5EF4-FFF2-40B4-BE49-F238E27FC236}">
                <a16:creationId xmlns:a16="http://schemas.microsoft.com/office/drawing/2014/main" id="{FE7A766C-43DF-446D-A7DE-A3FE3F766BE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878388" y="539468"/>
            <a:ext cx="5275276" cy="5862962"/>
          </a:xfrm>
        </p:spPr>
      </p:pic>
    </p:spTree>
    <p:extLst>
      <p:ext uri="{BB962C8B-B14F-4D97-AF65-F5344CB8AC3E}">
        <p14:creationId xmlns:p14="http://schemas.microsoft.com/office/powerpoint/2010/main" val="584063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çerik Yer Tutucusu 5">
            <a:extLst>
              <a:ext uri="{FF2B5EF4-FFF2-40B4-BE49-F238E27FC236}">
                <a16:creationId xmlns:a16="http://schemas.microsoft.com/office/drawing/2014/main" id="{5800BD22-5CE7-47A3-A03B-505B4C05A391}"/>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629916" y="2780928"/>
            <a:ext cx="3816424" cy="3816424"/>
          </a:xfrm>
        </p:spPr>
      </p:pic>
      <p:pic>
        <p:nvPicPr>
          <p:cNvPr id="8" name="İçerik Yer Tutucusu 7">
            <a:extLst>
              <a:ext uri="{FF2B5EF4-FFF2-40B4-BE49-F238E27FC236}">
                <a16:creationId xmlns:a16="http://schemas.microsoft.com/office/drawing/2014/main" id="{868C21B6-3D4E-4D70-8822-3856FEDF3C5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318548" y="116632"/>
            <a:ext cx="3729188" cy="3666465"/>
          </a:xfrm>
        </p:spPr>
      </p:pic>
      <p:pic>
        <p:nvPicPr>
          <p:cNvPr id="10" name="Resim 9">
            <a:extLst>
              <a:ext uri="{FF2B5EF4-FFF2-40B4-BE49-F238E27FC236}">
                <a16:creationId xmlns:a16="http://schemas.microsoft.com/office/drawing/2014/main" id="{3E03F9FE-FD00-462C-AB4C-188CDEB2CD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0436" y="3905412"/>
            <a:ext cx="5159973" cy="2855593"/>
          </a:xfrm>
          <a:prstGeom prst="rect">
            <a:avLst/>
          </a:prstGeom>
        </p:spPr>
      </p:pic>
      <p:sp>
        <p:nvSpPr>
          <p:cNvPr id="11" name="Metin kutusu 10">
            <a:extLst>
              <a:ext uri="{FF2B5EF4-FFF2-40B4-BE49-F238E27FC236}">
                <a16:creationId xmlns:a16="http://schemas.microsoft.com/office/drawing/2014/main" id="{C038FE9F-B2B8-49EA-A5E5-BE11D5FB4F4B}"/>
              </a:ext>
            </a:extLst>
          </p:cNvPr>
          <p:cNvSpPr txBox="1"/>
          <p:nvPr/>
        </p:nvSpPr>
        <p:spPr>
          <a:xfrm>
            <a:off x="153752" y="980728"/>
            <a:ext cx="6768752" cy="1569660"/>
          </a:xfrm>
          <a:prstGeom prst="rect">
            <a:avLst/>
          </a:prstGeom>
          <a:noFill/>
        </p:spPr>
        <p:txBody>
          <a:bodyPr wrap="square" rtlCol="0">
            <a:spAutoFit/>
          </a:bodyPr>
          <a:lstStyle/>
          <a:p>
            <a:r>
              <a:rPr lang="en-US" sz="1600" b="0" i="0" u="none" strike="noStrike" baseline="0" dirty="0">
                <a:latin typeface="Garamond" panose="02020404030301010803" pitchFamily="18" charset="0"/>
              </a:rPr>
              <a:t>Turkey's highest traffic density occurs between the Marmara Region and other regions of Anatolia. The TEM motorway and the D-100 (E-5) highway, which serve as main arteries of this density, as well as the high-speed train line connecting Istanbul and Ankara, pass through </a:t>
            </a:r>
            <a:r>
              <a:rPr lang="en-US" sz="1600" b="0" i="0" u="none" strike="noStrike" baseline="0" dirty="0" err="1">
                <a:latin typeface="Garamond" panose="02020404030301010803" pitchFamily="18" charset="0"/>
              </a:rPr>
              <a:t>Sakarya</a:t>
            </a:r>
            <a:r>
              <a:rPr lang="en-US" sz="1600" b="0" i="0" u="none" strike="noStrike" baseline="0" dirty="0">
                <a:latin typeface="Garamond" panose="02020404030301010803" pitchFamily="18" charset="0"/>
              </a:rPr>
              <a:t>. The activation of Karasu Port has also highlighted </a:t>
            </a:r>
            <a:r>
              <a:rPr lang="en-US" sz="1600" b="0" i="0" u="none" strike="noStrike" baseline="0" dirty="0" err="1">
                <a:latin typeface="Garamond" panose="02020404030301010803" pitchFamily="18" charset="0"/>
              </a:rPr>
              <a:t>Sakarya</a:t>
            </a:r>
            <a:r>
              <a:rPr lang="en-US" sz="1600" b="0" i="0" u="none" strike="noStrike" baseline="0" dirty="0">
                <a:latin typeface="Garamond" panose="02020404030301010803" pitchFamily="18" charset="0"/>
              </a:rPr>
              <a:t> in terms of transportation, logistics, and attracting investment via sea routes.</a:t>
            </a:r>
            <a:endParaRPr lang="tr-TR" dirty="0"/>
          </a:p>
        </p:txBody>
      </p:sp>
      <p:sp>
        <p:nvSpPr>
          <p:cNvPr id="12" name="Metin kutusu 11">
            <a:extLst>
              <a:ext uri="{FF2B5EF4-FFF2-40B4-BE49-F238E27FC236}">
                <a16:creationId xmlns:a16="http://schemas.microsoft.com/office/drawing/2014/main" id="{AF62B20E-9B62-40B0-9A26-1997943211A6}"/>
              </a:ext>
            </a:extLst>
          </p:cNvPr>
          <p:cNvSpPr txBox="1"/>
          <p:nvPr/>
        </p:nvSpPr>
        <p:spPr>
          <a:xfrm>
            <a:off x="1485900" y="332656"/>
            <a:ext cx="3600400" cy="461665"/>
          </a:xfrm>
          <a:prstGeom prst="rect">
            <a:avLst/>
          </a:prstGeom>
          <a:noFill/>
        </p:spPr>
        <p:txBody>
          <a:bodyPr wrap="square" rtlCol="0">
            <a:spAutoFit/>
          </a:bodyPr>
          <a:lstStyle/>
          <a:p>
            <a:pPr algn="ctr"/>
            <a:r>
              <a:rPr lang="tr-TR" dirty="0"/>
              <a:t>TRANSPORT </a:t>
            </a:r>
          </a:p>
        </p:txBody>
      </p:sp>
    </p:spTree>
    <p:extLst>
      <p:ext uri="{BB962C8B-B14F-4D97-AF65-F5344CB8AC3E}">
        <p14:creationId xmlns:p14="http://schemas.microsoft.com/office/powerpoint/2010/main" val="3008298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D1CBC3A-F666-42BD-A13D-5F390886CE4F}"/>
              </a:ext>
            </a:extLst>
          </p:cNvPr>
          <p:cNvSpPr>
            <a:spLocks noGrp="1"/>
          </p:cNvSpPr>
          <p:nvPr>
            <p:ph type="title"/>
          </p:nvPr>
        </p:nvSpPr>
        <p:spPr>
          <a:xfrm>
            <a:off x="5086299" y="76200"/>
            <a:ext cx="6188363" cy="760512"/>
          </a:xfrm>
        </p:spPr>
        <p:txBody>
          <a:bodyPr>
            <a:normAutofit/>
          </a:bodyPr>
          <a:lstStyle/>
          <a:p>
            <a:r>
              <a:rPr lang="tr-TR" sz="2400" dirty="0"/>
              <a:t>TRANSPORT</a:t>
            </a:r>
          </a:p>
        </p:txBody>
      </p:sp>
      <p:pic>
        <p:nvPicPr>
          <p:cNvPr id="6" name="İçerik Yer Tutucusu 5">
            <a:extLst>
              <a:ext uri="{FF2B5EF4-FFF2-40B4-BE49-F238E27FC236}">
                <a16:creationId xmlns:a16="http://schemas.microsoft.com/office/drawing/2014/main" id="{BA0E358D-0DEA-4624-9905-69A65A51B86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92881" y="861051"/>
            <a:ext cx="4505464" cy="5796750"/>
          </a:xfrm>
        </p:spPr>
      </p:pic>
      <p:pic>
        <p:nvPicPr>
          <p:cNvPr id="8" name="İçerik Yer Tutucusu 7">
            <a:extLst>
              <a:ext uri="{FF2B5EF4-FFF2-40B4-BE49-F238E27FC236}">
                <a16:creationId xmlns:a16="http://schemas.microsoft.com/office/drawing/2014/main" id="{F42B45DE-F574-4315-B964-E07FABACA8F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10436" y="861051"/>
            <a:ext cx="4680520" cy="5815616"/>
          </a:xfrm>
        </p:spPr>
      </p:pic>
    </p:spTree>
    <p:extLst>
      <p:ext uri="{BB962C8B-B14F-4D97-AF65-F5344CB8AC3E}">
        <p14:creationId xmlns:p14="http://schemas.microsoft.com/office/powerpoint/2010/main" val="674500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B53D2D9-B00A-4A6E-8940-6B5C7F2D59DA}"/>
              </a:ext>
            </a:extLst>
          </p:cNvPr>
          <p:cNvSpPr>
            <a:spLocks noGrp="1"/>
          </p:cNvSpPr>
          <p:nvPr>
            <p:ph type="title"/>
          </p:nvPr>
        </p:nvSpPr>
        <p:spPr>
          <a:xfrm>
            <a:off x="2349996" y="332656"/>
            <a:ext cx="1952767" cy="504056"/>
          </a:xfrm>
        </p:spPr>
        <p:txBody>
          <a:bodyPr>
            <a:normAutofit/>
          </a:bodyPr>
          <a:lstStyle/>
          <a:p>
            <a:r>
              <a:rPr lang="tr-TR" sz="2400" dirty="0"/>
              <a:t>TOURISM</a:t>
            </a:r>
          </a:p>
        </p:txBody>
      </p:sp>
      <p:sp>
        <p:nvSpPr>
          <p:cNvPr id="3" name="İçerik Yer Tutucusu 2">
            <a:extLst>
              <a:ext uri="{FF2B5EF4-FFF2-40B4-BE49-F238E27FC236}">
                <a16:creationId xmlns:a16="http://schemas.microsoft.com/office/drawing/2014/main" id="{1A9B9F08-75AB-423A-B775-2A9959D39495}"/>
              </a:ext>
            </a:extLst>
          </p:cNvPr>
          <p:cNvSpPr>
            <a:spLocks noGrp="1"/>
          </p:cNvSpPr>
          <p:nvPr>
            <p:ph sz="half" idx="1"/>
          </p:nvPr>
        </p:nvSpPr>
        <p:spPr>
          <a:xfrm>
            <a:off x="261764" y="836712"/>
            <a:ext cx="6192688" cy="5472608"/>
          </a:xfrm>
        </p:spPr>
        <p:txBody>
          <a:bodyPr>
            <a:normAutofit lnSpcReduction="10000"/>
          </a:bodyPr>
          <a:lstStyle/>
          <a:p>
            <a:r>
              <a:rPr lang="en-US" sz="1400" dirty="0"/>
              <a:t>With its geographical location, </a:t>
            </a:r>
            <a:r>
              <a:rPr lang="en-US" sz="1400" dirty="0" err="1"/>
              <a:t>Sakarya</a:t>
            </a:r>
            <a:r>
              <a:rPr lang="en-US" sz="1400" dirty="0"/>
              <a:t> offers highly favorable opportunities for tourism activities. Due to humid climate conditions and abundant rainfall, the natural environment (forest, lake, river, waterfall, plateau, etc.) displays a rich diversity, while the city's coastline along the Black Sea enhances its significance for coastal and marine tourism.</a:t>
            </a:r>
          </a:p>
          <a:p>
            <a:r>
              <a:rPr lang="en-US" sz="1400" dirty="0" err="1"/>
              <a:t>Sakarya</a:t>
            </a:r>
            <a:r>
              <a:rPr lang="en-US" sz="1400" dirty="0"/>
              <a:t> and its surroundings have hosted significant civilizations throughout history. The districts located along historical transportation routes and the cultural diversity brought by immigrants from the Balkan Peninsula, the Caucasus, and the Black Sea Region, along with the indigenous Manav culture, have also contributed to the development of cultural tourism.</a:t>
            </a:r>
          </a:p>
          <a:p>
            <a:r>
              <a:rPr lang="en-US" sz="1400" dirty="0"/>
              <a:t>Thanks to its geological features, </a:t>
            </a:r>
            <a:r>
              <a:rPr lang="en-US" sz="1400" dirty="0" err="1"/>
              <a:t>Sakarya</a:t>
            </a:r>
            <a:r>
              <a:rPr lang="en-US" sz="1400" dirty="0"/>
              <a:t> also benefits from health tourism (thermal springs), which adds value to the city’s tourism sector.</a:t>
            </a:r>
          </a:p>
          <a:p>
            <a:r>
              <a:rPr lang="en-US" sz="1400" dirty="0"/>
              <a:t>In addition to its diverse tourism offerings, the proximity to Istanbul, a densely populated city with significant industry and service sectors, and its neighboring </a:t>
            </a:r>
            <a:r>
              <a:rPr lang="en-US" sz="1400" dirty="0" err="1"/>
              <a:t>Kocaeli</a:t>
            </a:r>
            <a:r>
              <a:rPr lang="en-US" sz="1400" dirty="0"/>
              <a:t> are important factors in the development of tourism. </a:t>
            </a:r>
            <a:r>
              <a:rPr lang="en-US" sz="1400" dirty="0" err="1"/>
              <a:t>Sakarya’s</a:t>
            </a:r>
            <a:r>
              <a:rPr lang="en-US" sz="1400" dirty="0"/>
              <a:t> close proximity to other major cities in Turkey, such as Ankara, Bursa, and </a:t>
            </a:r>
            <a:r>
              <a:rPr lang="en-US" sz="1400" dirty="0" err="1"/>
              <a:t>Eskişehir</a:t>
            </a:r>
            <a:r>
              <a:rPr lang="en-US" sz="1400" dirty="0"/>
              <a:t>, further enhances its tourism potential. Additionally, </a:t>
            </a:r>
            <a:r>
              <a:rPr lang="en-US" sz="1400" dirty="0" err="1"/>
              <a:t>Sakarya's</a:t>
            </a:r>
            <a:r>
              <a:rPr lang="en-US" sz="1400" dirty="0"/>
              <a:t> position as a crossroads for east-west and north-south transit routes in Turkey contributes positively to its tourism.</a:t>
            </a:r>
          </a:p>
          <a:p>
            <a:pPr marL="0" indent="0">
              <a:buNone/>
            </a:pPr>
            <a:endParaRPr lang="tr-TR" dirty="0"/>
          </a:p>
        </p:txBody>
      </p:sp>
      <p:pic>
        <p:nvPicPr>
          <p:cNvPr id="6" name="İçerik Yer Tutucusu 5">
            <a:extLst>
              <a:ext uri="{FF2B5EF4-FFF2-40B4-BE49-F238E27FC236}">
                <a16:creationId xmlns:a16="http://schemas.microsoft.com/office/drawing/2014/main" id="{D2DE3486-B594-478D-91F4-EDD55B12B4B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23330" y="188640"/>
            <a:ext cx="4571515" cy="6518095"/>
          </a:xfrm>
        </p:spPr>
      </p:pic>
    </p:spTree>
    <p:extLst>
      <p:ext uri="{BB962C8B-B14F-4D97-AF65-F5344CB8AC3E}">
        <p14:creationId xmlns:p14="http://schemas.microsoft.com/office/powerpoint/2010/main" val="288892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8862658-CFCD-4747-AA60-69737584DC2B}"/>
              </a:ext>
            </a:extLst>
          </p:cNvPr>
          <p:cNvSpPr>
            <a:spLocks noGrp="1"/>
          </p:cNvSpPr>
          <p:nvPr>
            <p:ph type="title"/>
          </p:nvPr>
        </p:nvSpPr>
        <p:spPr>
          <a:xfrm>
            <a:off x="1117309" y="469776"/>
            <a:ext cx="3320919" cy="432048"/>
          </a:xfrm>
        </p:spPr>
        <p:txBody>
          <a:bodyPr>
            <a:normAutofit fontScale="90000"/>
          </a:bodyPr>
          <a:lstStyle/>
          <a:p>
            <a:br>
              <a:rPr lang="tr-TR" dirty="0">
                <a:latin typeface="Calibri" panose="020F0502020204030204" pitchFamily="34" charset="0"/>
                <a:ea typeface="Calibri" panose="020F0502020204030204" pitchFamily="34" charset="0"/>
                <a:cs typeface="Times New Roman" panose="02020603050405020304" pitchFamily="18" charset="0"/>
              </a:rPr>
            </a:br>
            <a:endParaRPr lang="tr-TR" sz="2400" dirty="0"/>
          </a:p>
        </p:txBody>
      </p:sp>
      <p:sp>
        <p:nvSpPr>
          <p:cNvPr id="3" name="İçerik Yer Tutucusu 2">
            <a:extLst>
              <a:ext uri="{FF2B5EF4-FFF2-40B4-BE49-F238E27FC236}">
                <a16:creationId xmlns:a16="http://schemas.microsoft.com/office/drawing/2014/main" id="{5F166988-5B90-4B5E-9EE0-8402215B1F36}"/>
              </a:ext>
            </a:extLst>
          </p:cNvPr>
          <p:cNvSpPr>
            <a:spLocks noGrp="1"/>
          </p:cNvSpPr>
          <p:nvPr>
            <p:ph sz="half" idx="1"/>
          </p:nvPr>
        </p:nvSpPr>
        <p:spPr>
          <a:xfrm>
            <a:off x="549796" y="260648"/>
            <a:ext cx="11089232" cy="6408712"/>
          </a:xfrm>
        </p:spPr>
        <p:txBody>
          <a:bodyPr>
            <a:normAutofit/>
          </a:bodyPr>
          <a:lstStyle/>
          <a:p>
            <a:endParaRPr lang="tr-TR" sz="1400" b="1" dirty="0"/>
          </a:p>
          <a:p>
            <a:r>
              <a:rPr lang="tr-TR" sz="1400" b="1" dirty="0" err="1"/>
              <a:t>Parks</a:t>
            </a:r>
            <a:r>
              <a:rPr lang="tr-TR" sz="1400" b="1" dirty="0"/>
              <a:t> </a:t>
            </a:r>
            <a:r>
              <a:rPr lang="tr-TR" sz="1400" b="1" dirty="0" err="1"/>
              <a:t>and</a:t>
            </a:r>
            <a:r>
              <a:rPr lang="tr-TR" sz="1400" b="1" dirty="0"/>
              <a:t> </a:t>
            </a:r>
            <a:r>
              <a:rPr lang="tr-TR" sz="1400" b="1" dirty="0" err="1"/>
              <a:t>Recreation</a:t>
            </a:r>
            <a:r>
              <a:rPr lang="tr-TR" sz="1400" b="1" dirty="0"/>
              <a:t> </a:t>
            </a:r>
            <a:r>
              <a:rPr lang="tr-TR" sz="1400" b="1" dirty="0" err="1"/>
              <a:t>Areas</a:t>
            </a:r>
            <a:r>
              <a:rPr lang="tr-TR" sz="1400" b="1" dirty="0"/>
              <a:t>:</a:t>
            </a:r>
            <a:r>
              <a:rPr lang="tr-TR" sz="1400" dirty="0"/>
              <a:t> Kent Park (Adapazarı), Yenikent Park (Adapazarı), </a:t>
            </a:r>
            <a:r>
              <a:rPr lang="tr-TR" sz="1400" dirty="0" err="1"/>
              <a:t>Ormanpark</a:t>
            </a:r>
            <a:r>
              <a:rPr lang="tr-TR" sz="1400" dirty="0"/>
              <a:t> (Adapazarı), </a:t>
            </a:r>
            <a:r>
              <a:rPr lang="tr-TR" sz="1400" dirty="0" err="1"/>
              <a:t>Macerapark</a:t>
            </a:r>
            <a:r>
              <a:rPr lang="tr-TR" sz="1400" dirty="0"/>
              <a:t> (Adapazarı), Korucuk Park (Adapazarı), Serdivan </a:t>
            </a:r>
            <a:r>
              <a:rPr lang="tr-TR" sz="1400" dirty="0" err="1"/>
              <a:t>Gölpark</a:t>
            </a:r>
            <a:r>
              <a:rPr lang="tr-TR" sz="1400" dirty="0"/>
              <a:t> (Serdivan), Kuzuluk Nature Park (Akyazı), Arifiye Göl Park (Arifiye), Poyrazlar Nature Park (Adapazarı), Sakarya Park (Erenler)</a:t>
            </a:r>
          </a:p>
          <a:p>
            <a:r>
              <a:rPr lang="tr-TR" sz="1400" b="1" dirty="0" err="1"/>
              <a:t>Plateaus</a:t>
            </a:r>
            <a:r>
              <a:rPr lang="tr-TR" sz="1400" b="1" dirty="0"/>
              <a:t>:</a:t>
            </a:r>
            <a:r>
              <a:rPr lang="tr-TR" sz="1400" dirty="0"/>
              <a:t> </a:t>
            </a:r>
            <a:r>
              <a:rPr lang="tr-TR" sz="1400" dirty="0" err="1"/>
              <a:t>Acelle</a:t>
            </a:r>
            <a:r>
              <a:rPr lang="tr-TR" sz="1400" dirty="0"/>
              <a:t> </a:t>
            </a:r>
            <a:r>
              <a:rPr lang="tr-TR" sz="1400" dirty="0" err="1"/>
              <a:t>Plateau</a:t>
            </a:r>
            <a:r>
              <a:rPr lang="tr-TR" sz="1400" dirty="0"/>
              <a:t> (Akyazı), Davlumbaz </a:t>
            </a:r>
            <a:r>
              <a:rPr lang="tr-TR" sz="1400" dirty="0" err="1"/>
              <a:t>Plateau</a:t>
            </a:r>
            <a:r>
              <a:rPr lang="tr-TR" sz="1400" dirty="0"/>
              <a:t> (Akyazı), Güzlek </a:t>
            </a:r>
            <a:r>
              <a:rPr lang="tr-TR" sz="1400" dirty="0" err="1"/>
              <a:t>Plateau</a:t>
            </a:r>
            <a:r>
              <a:rPr lang="tr-TR" sz="1400" dirty="0"/>
              <a:t> (Akyazı), </a:t>
            </a:r>
            <a:r>
              <a:rPr lang="tr-TR" sz="1400" dirty="0" err="1"/>
              <a:t>Sultanpınar</a:t>
            </a:r>
            <a:r>
              <a:rPr lang="tr-TR" sz="1400" dirty="0"/>
              <a:t> </a:t>
            </a:r>
            <a:r>
              <a:rPr lang="tr-TR" sz="1400" dirty="0" err="1"/>
              <a:t>Plateau</a:t>
            </a:r>
            <a:r>
              <a:rPr lang="tr-TR" sz="1400" dirty="0"/>
              <a:t> (Akyazı), Çiğdem </a:t>
            </a:r>
            <a:r>
              <a:rPr lang="tr-TR" sz="1400" dirty="0" err="1"/>
              <a:t>Plateau</a:t>
            </a:r>
            <a:r>
              <a:rPr lang="tr-TR" sz="1400" dirty="0"/>
              <a:t> (Hendek), Soğucak </a:t>
            </a:r>
            <a:r>
              <a:rPr lang="tr-TR" sz="1400" dirty="0" err="1"/>
              <a:t>Plateau</a:t>
            </a:r>
            <a:r>
              <a:rPr lang="tr-TR" sz="1400" dirty="0"/>
              <a:t> (Sapanca), Dikmen </a:t>
            </a:r>
            <a:r>
              <a:rPr lang="tr-TR" sz="1400" dirty="0" err="1"/>
              <a:t>Plateau</a:t>
            </a:r>
            <a:r>
              <a:rPr lang="tr-TR" sz="1400" dirty="0"/>
              <a:t> (Hendek), Karagöl </a:t>
            </a:r>
            <a:r>
              <a:rPr lang="tr-TR" sz="1400" dirty="0" err="1"/>
              <a:t>Plateau</a:t>
            </a:r>
            <a:r>
              <a:rPr lang="tr-TR" sz="1400" dirty="0"/>
              <a:t> (Taraklı), Yanık </a:t>
            </a:r>
            <a:r>
              <a:rPr lang="tr-TR" sz="1400" dirty="0" err="1"/>
              <a:t>Plateau</a:t>
            </a:r>
            <a:r>
              <a:rPr lang="tr-TR" sz="1400" dirty="0"/>
              <a:t> (Taraklı), Kırca </a:t>
            </a:r>
            <a:r>
              <a:rPr lang="tr-TR" sz="1400" dirty="0" err="1"/>
              <a:t>Plateau</a:t>
            </a:r>
            <a:r>
              <a:rPr lang="tr-TR" sz="1400" dirty="0"/>
              <a:t> (Geyve)</a:t>
            </a:r>
          </a:p>
          <a:p>
            <a:r>
              <a:rPr lang="tr-TR" sz="1400" b="1" dirty="0" err="1"/>
              <a:t>Lakes</a:t>
            </a:r>
            <a:r>
              <a:rPr lang="tr-TR" sz="1400" b="1" dirty="0"/>
              <a:t>:</a:t>
            </a:r>
            <a:r>
              <a:rPr lang="tr-TR" sz="1400" dirty="0"/>
              <a:t> Sapanca Lake, Acarlar Lake (</a:t>
            </a:r>
            <a:r>
              <a:rPr lang="tr-TR" sz="1400" dirty="0" err="1"/>
              <a:t>Floodplain</a:t>
            </a:r>
            <a:r>
              <a:rPr lang="tr-TR" sz="1400" dirty="0"/>
              <a:t>), Poyrazlar Lake (Adapazarı), Küçük Akgöl (Söğütlü), Büyük Akgöl (Ferizli)</a:t>
            </a:r>
          </a:p>
          <a:p>
            <a:r>
              <a:rPr lang="tr-TR" sz="1400" b="1" dirty="0" err="1"/>
              <a:t>Rivers</a:t>
            </a:r>
            <a:r>
              <a:rPr lang="tr-TR" sz="1400" b="1" dirty="0"/>
              <a:t>, </a:t>
            </a:r>
            <a:r>
              <a:rPr lang="tr-TR" sz="1400" b="1" dirty="0" err="1"/>
              <a:t>Streams</a:t>
            </a:r>
            <a:r>
              <a:rPr lang="tr-TR" sz="1400" b="1" dirty="0"/>
              <a:t>, </a:t>
            </a:r>
            <a:r>
              <a:rPr lang="tr-TR" sz="1400" b="1" dirty="0" err="1"/>
              <a:t>and</a:t>
            </a:r>
            <a:r>
              <a:rPr lang="tr-TR" sz="1400" b="1" dirty="0"/>
              <a:t> </a:t>
            </a:r>
            <a:r>
              <a:rPr lang="tr-TR" sz="1400" b="1" dirty="0" err="1"/>
              <a:t>Waterfalls</a:t>
            </a:r>
            <a:r>
              <a:rPr lang="tr-TR" sz="1400" b="1" dirty="0"/>
              <a:t>:</a:t>
            </a:r>
            <a:r>
              <a:rPr lang="tr-TR" sz="1400" dirty="0"/>
              <a:t> Sakarya </a:t>
            </a:r>
            <a:r>
              <a:rPr lang="tr-TR" sz="1400" dirty="0" err="1"/>
              <a:t>River</a:t>
            </a:r>
            <a:r>
              <a:rPr lang="tr-TR" sz="1400" dirty="0"/>
              <a:t>, Maden </a:t>
            </a:r>
            <a:r>
              <a:rPr lang="tr-TR" sz="1400" dirty="0" err="1"/>
              <a:t>Stream</a:t>
            </a:r>
            <a:r>
              <a:rPr lang="tr-TR" sz="1400" dirty="0"/>
              <a:t> </a:t>
            </a:r>
            <a:r>
              <a:rPr lang="tr-TR" sz="1400" dirty="0" err="1"/>
              <a:t>and</a:t>
            </a:r>
            <a:r>
              <a:rPr lang="tr-TR" sz="1400" dirty="0"/>
              <a:t> </a:t>
            </a:r>
            <a:r>
              <a:rPr lang="tr-TR" sz="1400" dirty="0" err="1"/>
              <a:t>Waterfall</a:t>
            </a:r>
            <a:r>
              <a:rPr lang="tr-TR" sz="1400" dirty="0"/>
              <a:t>, Doğançay </a:t>
            </a:r>
            <a:r>
              <a:rPr lang="tr-TR" sz="1400" dirty="0" err="1"/>
              <a:t>Waterfall</a:t>
            </a:r>
            <a:r>
              <a:rPr lang="tr-TR" sz="1400" dirty="0"/>
              <a:t>, Soğucak </a:t>
            </a:r>
            <a:r>
              <a:rPr lang="tr-TR" sz="1400" dirty="0" err="1"/>
              <a:t>Waterfall</a:t>
            </a:r>
            <a:r>
              <a:rPr lang="tr-TR" sz="1400" dirty="0"/>
              <a:t>, </a:t>
            </a:r>
            <a:r>
              <a:rPr lang="tr-TR" sz="1400" dirty="0" err="1"/>
              <a:t>Harkköy</a:t>
            </a:r>
            <a:r>
              <a:rPr lang="tr-TR" sz="1400" dirty="0"/>
              <a:t> </a:t>
            </a:r>
            <a:r>
              <a:rPr lang="tr-TR" sz="1400" dirty="0" err="1"/>
              <a:t>Waterfall</a:t>
            </a:r>
            <a:r>
              <a:rPr lang="tr-TR" sz="1400" dirty="0"/>
              <a:t> </a:t>
            </a:r>
            <a:r>
              <a:rPr lang="tr-TR" sz="1400" dirty="0" err="1"/>
              <a:t>and</a:t>
            </a:r>
            <a:r>
              <a:rPr lang="tr-TR" sz="1400" dirty="0"/>
              <a:t> </a:t>
            </a:r>
            <a:r>
              <a:rPr lang="tr-TR" sz="1400" dirty="0" err="1"/>
              <a:t>Canyon</a:t>
            </a:r>
            <a:r>
              <a:rPr lang="tr-TR" sz="1400" dirty="0"/>
              <a:t>, </a:t>
            </a:r>
            <a:r>
              <a:rPr lang="tr-TR" sz="1400" dirty="0" err="1"/>
              <a:t>Istanbul</a:t>
            </a:r>
            <a:r>
              <a:rPr lang="tr-TR" sz="1400" dirty="0"/>
              <a:t> </a:t>
            </a:r>
            <a:r>
              <a:rPr lang="tr-TR" sz="1400" dirty="0" err="1"/>
              <a:t>Stream</a:t>
            </a:r>
            <a:r>
              <a:rPr lang="tr-TR" sz="1400" dirty="0"/>
              <a:t>, Mahmudiye </a:t>
            </a:r>
            <a:r>
              <a:rPr lang="tr-TR" sz="1400" dirty="0" err="1"/>
              <a:t>Stream</a:t>
            </a:r>
            <a:r>
              <a:rPr lang="tr-TR" sz="1400" dirty="0"/>
              <a:t>, </a:t>
            </a:r>
            <a:r>
              <a:rPr lang="tr-TR" sz="1400" dirty="0" err="1"/>
              <a:t>etc</a:t>
            </a:r>
            <a:r>
              <a:rPr lang="tr-TR" sz="1400" dirty="0"/>
              <a:t>.</a:t>
            </a:r>
          </a:p>
          <a:p>
            <a:r>
              <a:rPr lang="tr-TR" sz="1400" b="1" dirty="0" err="1"/>
              <a:t>Coastal</a:t>
            </a:r>
            <a:r>
              <a:rPr lang="tr-TR" sz="1400" b="1" dirty="0"/>
              <a:t> </a:t>
            </a:r>
            <a:r>
              <a:rPr lang="tr-TR" sz="1400" b="1" dirty="0" err="1"/>
              <a:t>Tourism</a:t>
            </a:r>
            <a:r>
              <a:rPr lang="tr-TR" sz="1400" b="1" dirty="0"/>
              <a:t>:</a:t>
            </a:r>
            <a:r>
              <a:rPr lang="tr-TR" sz="1400" dirty="0"/>
              <a:t> Karasu, Kocaali, Kaynarca</a:t>
            </a:r>
          </a:p>
          <a:p>
            <a:r>
              <a:rPr lang="tr-TR" sz="1400" b="1" dirty="0" err="1"/>
              <a:t>Historical</a:t>
            </a:r>
            <a:r>
              <a:rPr lang="tr-TR" sz="1400" b="1" dirty="0"/>
              <a:t> </a:t>
            </a:r>
            <a:r>
              <a:rPr lang="tr-TR" sz="1400" b="1" dirty="0" err="1"/>
              <a:t>and</a:t>
            </a:r>
            <a:r>
              <a:rPr lang="tr-TR" sz="1400" b="1" dirty="0"/>
              <a:t> </a:t>
            </a:r>
            <a:r>
              <a:rPr lang="tr-TR" sz="1400" b="1" dirty="0" err="1"/>
              <a:t>Cultural</a:t>
            </a:r>
            <a:r>
              <a:rPr lang="tr-TR" sz="1400" b="1" dirty="0"/>
              <a:t> </a:t>
            </a:r>
            <a:r>
              <a:rPr lang="tr-TR" sz="1400" b="1" dirty="0" err="1"/>
              <a:t>Tourism</a:t>
            </a:r>
            <a:r>
              <a:rPr lang="tr-TR" sz="1400" b="1" dirty="0"/>
              <a:t>:</a:t>
            </a:r>
            <a:r>
              <a:rPr lang="tr-TR" sz="1400" dirty="0"/>
              <a:t> Taraklı, </a:t>
            </a:r>
            <a:r>
              <a:rPr lang="tr-TR" sz="1400" dirty="0" err="1"/>
              <a:t>Justinianus</a:t>
            </a:r>
            <a:r>
              <a:rPr lang="tr-TR" sz="1400" dirty="0"/>
              <a:t> Bridge/</a:t>
            </a:r>
            <a:r>
              <a:rPr lang="tr-TR" sz="1400" dirty="0" err="1"/>
              <a:t>Beşköprü</a:t>
            </a:r>
            <a:r>
              <a:rPr lang="tr-TR" sz="1400" dirty="0"/>
              <a:t> (Serdivan), Sakarya Bridge (Adapazarı), Sinan Bey </a:t>
            </a:r>
            <a:r>
              <a:rPr lang="tr-TR" sz="1400" dirty="0" err="1"/>
              <a:t>Monastery</a:t>
            </a:r>
            <a:r>
              <a:rPr lang="tr-TR" sz="1400" dirty="0"/>
              <a:t>/</a:t>
            </a:r>
            <a:r>
              <a:rPr lang="tr-TR" sz="1400" dirty="0" err="1"/>
              <a:t>Elvanbey</a:t>
            </a:r>
            <a:r>
              <a:rPr lang="tr-TR" sz="1400" dirty="0"/>
              <a:t> </a:t>
            </a:r>
            <a:r>
              <a:rPr lang="tr-TR" sz="1400" dirty="0" err="1"/>
              <a:t>Almshouse</a:t>
            </a:r>
            <a:r>
              <a:rPr lang="tr-TR" sz="1400" dirty="0"/>
              <a:t> (Geyve), </a:t>
            </a:r>
            <a:r>
              <a:rPr lang="tr-TR" sz="1400" dirty="0" err="1"/>
              <a:t>Harmantepe</a:t>
            </a:r>
            <a:r>
              <a:rPr lang="tr-TR" sz="1400" dirty="0"/>
              <a:t> </a:t>
            </a:r>
            <a:r>
              <a:rPr lang="tr-TR" sz="1400" dirty="0" err="1"/>
              <a:t>Castle</a:t>
            </a:r>
            <a:r>
              <a:rPr lang="tr-TR" sz="1400" dirty="0"/>
              <a:t> (Söğütlü), </a:t>
            </a:r>
            <a:r>
              <a:rPr lang="tr-TR" sz="1400" dirty="0" err="1"/>
              <a:t>Seyifler</a:t>
            </a:r>
            <a:r>
              <a:rPr lang="tr-TR" sz="1400" dirty="0"/>
              <a:t> </a:t>
            </a:r>
            <a:r>
              <a:rPr lang="tr-TR" sz="1400" dirty="0" err="1"/>
              <a:t>Castle</a:t>
            </a:r>
            <a:r>
              <a:rPr lang="tr-TR" sz="1400" dirty="0"/>
              <a:t> (Ferizli), Sakarya </a:t>
            </a:r>
            <a:r>
              <a:rPr lang="tr-TR" sz="1400" dirty="0" err="1"/>
              <a:t>Museum</a:t>
            </a:r>
            <a:r>
              <a:rPr lang="tr-TR" sz="1400" dirty="0"/>
              <a:t> (Adapazarı), </a:t>
            </a:r>
            <a:r>
              <a:rPr lang="tr-TR" sz="1400" dirty="0" err="1"/>
              <a:t>Earthquake</a:t>
            </a:r>
            <a:r>
              <a:rPr lang="tr-TR" sz="1400" dirty="0"/>
              <a:t> </a:t>
            </a:r>
            <a:r>
              <a:rPr lang="tr-TR" sz="1400" dirty="0" err="1"/>
              <a:t>and</a:t>
            </a:r>
            <a:r>
              <a:rPr lang="tr-TR" sz="1400" dirty="0"/>
              <a:t> </a:t>
            </a:r>
            <a:r>
              <a:rPr lang="tr-TR" sz="1400" dirty="0" err="1"/>
              <a:t>Culture</a:t>
            </a:r>
            <a:r>
              <a:rPr lang="tr-TR" sz="1400" dirty="0"/>
              <a:t> </a:t>
            </a:r>
            <a:r>
              <a:rPr lang="tr-TR" sz="1400" dirty="0" err="1"/>
              <a:t>Museum</a:t>
            </a:r>
            <a:r>
              <a:rPr lang="tr-TR" sz="1400" dirty="0"/>
              <a:t> (Adapazarı), </a:t>
            </a:r>
            <a:r>
              <a:rPr lang="tr-TR" sz="1400" dirty="0" err="1"/>
              <a:t>Kuva</a:t>
            </a:r>
            <a:r>
              <a:rPr lang="tr-TR" sz="1400" dirty="0"/>
              <a:t>-i Milliye </a:t>
            </a:r>
            <a:r>
              <a:rPr lang="tr-TR" sz="1400" dirty="0" err="1"/>
              <a:t>Museum</a:t>
            </a:r>
            <a:r>
              <a:rPr lang="tr-TR" sz="1400" dirty="0"/>
              <a:t> (Geyve-</a:t>
            </a:r>
            <a:r>
              <a:rPr lang="tr-TR" sz="1400" dirty="0" err="1"/>
              <a:t>Alifuatpaşa</a:t>
            </a:r>
            <a:r>
              <a:rPr lang="tr-TR" sz="1400" dirty="0"/>
              <a:t>), Yunus </a:t>
            </a:r>
            <a:r>
              <a:rPr lang="tr-TR" sz="1400" dirty="0" err="1"/>
              <a:t>Pasha</a:t>
            </a:r>
            <a:r>
              <a:rPr lang="tr-TR" sz="1400" dirty="0"/>
              <a:t> </a:t>
            </a:r>
            <a:r>
              <a:rPr lang="tr-TR" sz="1400" dirty="0" err="1"/>
              <a:t>Mosque</a:t>
            </a:r>
            <a:r>
              <a:rPr lang="tr-TR" sz="1400" dirty="0"/>
              <a:t> (Taraklı), Orhan </a:t>
            </a:r>
            <a:r>
              <a:rPr lang="tr-TR" sz="1400" dirty="0" err="1"/>
              <a:t>Mosque</a:t>
            </a:r>
            <a:r>
              <a:rPr lang="tr-TR" sz="1400" dirty="0"/>
              <a:t> (Adapazarı), Ağa </a:t>
            </a:r>
            <a:r>
              <a:rPr lang="tr-TR" sz="1400" dirty="0" err="1"/>
              <a:t>Mosque</a:t>
            </a:r>
            <a:r>
              <a:rPr lang="tr-TR" sz="1400" dirty="0"/>
              <a:t> (Adapazarı), </a:t>
            </a:r>
            <a:r>
              <a:rPr lang="tr-TR" sz="1400" dirty="0" err="1"/>
              <a:t>Rüstempaşa</a:t>
            </a:r>
            <a:r>
              <a:rPr lang="tr-TR" sz="1400" dirty="0"/>
              <a:t> </a:t>
            </a:r>
            <a:r>
              <a:rPr lang="tr-TR" sz="1400" dirty="0" err="1"/>
              <a:t>Mosque</a:t>
            </a:r>
            <a:r>
              <a:rPr lang="tr-TR" sz="1400" dirty="0"/>
              <a:t> (Sapanca), Rahime Sultan </a:t>
            </a:r>
            <a:r>
              <a:rPr lang="tr-TR" sz="1400" dirty="0" err="1"/>
              <a:t>Mosque</a:t>
            </a:r>
            <a:r>
              <a:rPr lang="tr-TR" sz="1400" dirty="0"/>
              <a:t> (Sapanca), </a:t>
            </a:r>
            <a:r>
              <a:rPr lang="tr-TR" sz="1400" dirty="0" err="1"/>
              <a:t>Sheikh</a:t>
            </a:r>
            <a:r>
              <a:rPr lang="tr-TR" sz="1400" dirty="0"/>
              <a:t> </a:t>
            </a:r>
            <a:r>
              <a:rPr lang="tr-TR" sz="1400" dirty="0" err="1"/>
              <a:t>Müslihiddin</a:t>
            </a:r>
            <a:r>
              <a:rPr lang="tr-TR" sz="1400" dirty="0"/>
              <a:t> </a:t>
            </a:r>
            <a:r>
              <a:rPr lang="tr-TR" sz="1400" dirty="0" err="1"/>
              <a:t>Mosque</a:t>
            </a:r>
            <a:r>
              <a:rPr lang="tr-TR" sz="1400" dirty="0"/>
              <a:t> (Kaynarca, Şeyhler </a:t>
            </a:r>
            <a:r>
              <a:rPr lang="tr-TR" sz="1400" dirty="0" err="1"/>
              <a:t>Village</a:t>
            </a:r>
            <a:r>
              <a:rPr lang="tr-TR" sz="1400" dirty="0"/>
              <a:t>), Büyük Esence Orhan </a:t>
            </a:r>
            <a:r>
              <a:rPr lang="tr-TR" sz="1400" dirty="0" err="1"/>
              <a:t>Mosque</a:t>
            </a:r>
            <a:r>
              <a:rPr lang="tr-TR" sz="1400" dirty="0"/>
              <a:t>, Hasan Fehmi </a:t>
            </a:r>
            <a:r>
              <a:rPr lang="tr-TR" sz="1400" dirty="0" err="1"/>
              <a:t>Pasha</a:t>
            </a:r>
            <a:r>
              <a:rPr lang="tr-TR" sz="1400" dirty="0"/>
              <a:t> </a:t>
            </a:r>
            <a:r>
              <a:rPr lang="tr-TR" sz="1400" dirty="0" err="1"/>
              <a:t>Mosque</a:t>
            </a:r>
            <a:r>
              <a:rPr lang="tr-TR" sz="1400" dirty="0"/>
              <a:t> (Sapanca), Bayezid II Bridge (Geyve-</a:t>
            </a:r>
            <a:r>
              <a:rPr lang="tr-TR" sz="1400" dirty="0" err="1"/>
              <a:t>Alifuatpaşa</a:t>
            </a:r>
            <a:r>
              <a:rPr lang="tr-TR" sz="1400" dirty="0"/>
              <a:t>), Vecihi </a:t>
            </a:r>
            <a:r>
              <a:rPr lang="tr-TR" sz="1400" dirty="0" err="1"/>
              <a:t>Gate</a:t>
            </a:r>
            <a:r>
              <a:rPr lang="tr-TR" sz="1400" dirty="0"/>
              <a:t> (Sapanca)</a:t>
            </a:r>
          </a:p>
          <a:p>
            <a:pPr marL="0" indent="0" algn="just">
              <a:lnSpc>
                <a:spcPct val="107000"/>
              </a:lnSpc>
              <a:spcAft>
                <a:spcPts val="800"/>
              </a:spcAft>
              <a:buNone/>
            </a:pPr>
            <a:endParaRPr lang="tr-TR" sz="1800" b="1" dirty="0">
              <a:solidFill>
                <a:srgbClr val="FF0000"/>
              </a:solidFill>
              <a:latin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tr-TR" sz="1800" dirty="0">
              <a:latin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tr-TR"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tr-TR"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tr-TR" dirty="0"/>
          </a:p>
        </p:txBody>
      </p:sp>
    </p:spTree>
    <p:extLst>
      <p:ext uri="{BB962C8B-B14F-4D97-AF65-F5344CB8AC3E}">
        <p14:creationId xmlns:p14="http://schemas.microsoft.com/office/powerpoint/2010/main" val="2720691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tin Yer Tutucusu 7">
            <a:extLst>
              <a:ext uri="{FF2B5EF4-FFF2-40B4-BE49-F238E27FC236}">
                <a16:creationId xmlns:a16="http://schemas.microsoft.com/office/drawing/2014/main" id="{C5B01E27-76AF-4EB7-A512-CE1AAE093351}"/>
              </a:ext>
            </a:extLst>
          </p:cNvPr>
          <p:cNvSpPr>
            <a:spLocks noGrp="1"/>
          </p:cNvSpPr>
          <p:nvPr>
            <p:ph type="body" idx="1"/>
          </p:nvPr>
        </p:nvSpPr>
        <p:spPr>
          <a:xfrm>
            <a:off x="621804" y="27983"/>
            <a:ext cx="3312368" cy="753362"/>
          </a:xfrm>
        </p:spPr>
        <p:txBody>
          <a:bodyPr/>
          <a:lstStyle/>
          <a:p>
            <a:pPr algn="ctr"/>
            <a:r>
              <a:rPr lang="tr-TR" sz="1800" b="1" dirty="0" err="1">
                <a:effectLst/>
                <a:latin typeface="Garamond-Bold"/>
                <a:ea typeface="Calibri" panose="020F0502020204030204" pitchFamily="34" charset="0"/>
                <a:cs typeface="Garamond-Bold"/>
              </a:rPr>
              <a:t>Archaeological</a:t>
            </a:r>
            <a:r>
              <a:rPr lang="tr-TR" sz="1800" b="1" dirty="0">
                <a:effectLst/>
                <a:latin typeface="Garamond-Bold"/>
                <a:ea typeface="Calibri" panose="020F0502020204030204" pitchFamily="34" charset="0"/>
                <a:cs typeface="Garamond-Bold"/>
              </a:rPr>
              <a:t> </a:t>
            </a:r>
            <a:r>
              <a:rPr lang="tr-TR" sz="1800" b="1" dirty="0" err="1">
                <a:effectLst/>
                <a:latin typeface="Garamond-Bold"/>
                <a:ea typeface="Calibri" panose="020F0502020204030204" pitchFamily="34" charset="0"/>
                <a:cs typeface="Garamond-Bold"/>
              </a:rPr>
              <a:t>Sites</a:t>
            </a:r>
            <a:endParaRPr lang="tr-TR" dirty="0"/>
          </a:p>
        </p:txBody>
      </p:sp>
      <p:sp>
        <p:nvSpPr>
          <p:cNvPr id="10" name="Metin Yer Tutucusu 9">
            <a:extLst>
              <a:ext uri="{FF2B5EF4-FFF2-40B4-BE49-F238E27FC236}">
                <a16:creationId xmlns:a16="http://schemas.microsoft.com/office/drawing/2014/main" id="{D98CAA3B-0122-4E26-8B59-24B3267327DE}"/>
              </a:ext>
            </a:extLst>
          </p:cNvPr>
          <p:cNvSpPr>
            <a:spLocks noGrp="1"/>
          </p:cNvSpPr>
          <p:nvPr>
            <p:ph type="body" sz="quarter" idx="3"/>
          </p:nvPr>
        </p:nvSpPr>
        <p:spPr>
          <a:xfrm>
            <a:off x="4798267" y="64509"/>
            <a:ext cx="2592289" cy="753361"/>
          </a:xfrm>
        </p:spPr>
        <p:txBody>
          <a:bodyPr/>
          <a:lstStyle/>
          <a:p>
            <a:r>
              <a:rPr lang="tr-TR" sz="1800" b="1" dirty="0">
                <a:effectLst/>
                <a:latin typeface="Garamond-Bold"/>
                <a:ea typeface="Calibri" panose="020F0502020204030204" pitchFamily="34" charset="0"/>
                <a:cs typeface="Garamond-Bold"/>
              </a:rPr>
              <a:t>Natural </a:t>
            </a:r>
            <a:r>
              <a:rPr lang="tr-TR" sz="1800" b="1" dirty="0" err="1">
                <a:effectLst/>
                <a:latin typeface="Garamond-Bold"/>
                <a:ea typeface="Calibri" panose="020F0502020204030204" pitchFamily="34" charset="0"/>
                <a:cs typeface="Garamond-Bold"/>
              </a:rPr>
              <a:t>Protected</a:t>
            </a:r>
            <a:r>
              <a:rPr lang="tr-TR" sz="1800" b="1" dirty="0">
                <a:effectLst/>
                <a:latin typeface="Garamond-Bold"/>
                <a:ea typeface="Calibri" panose="020F0502020204030204" pitchFamily="34" charset="0"/>
                <a:cs typeface="Garamond-Bold"/>
              </a:rPr>
              <a:t> </a:t>
            </a:r>
            <a:r>
              <a:rPr lang="tr-TR" sz="1800" b="1" dirty="0" err="1">
                <a:effectLst/>
                <a:latin typeface="Garamond-Bold"/>
                <a:ea typeface="Calibri" panose="020F0502020204030204" pitchFamily="34" charset="0"/>
                <a:cs typeface="Garamond-Bold"/>
              </a:rPr>
              <a:t>Areas</a:t>
            </a:r>
            <a:endParaRPr lang="tr-TR" dirty="0"/>
          </a:p>
        </p:txBody>
      </p:sp>
      <p:sp>
        <p:nvSpPr>
          <p:cNvPr id="11" name="İçerik Yer Tutucusu 10">
            <a:extLst>
              <a:ext uri="{FF2B5EF4-FFF2-40B4-BE49-F238E27FC236}">
                <a16:creationId xmlns:a16="http://schemas.microsoft.com/office/drawing/2014/main" id="{514797F9-8FDF-4B9A-B9CC-78B20574DEEC}"/>
              </a:ext>
            </a:extLst>
          </p:cNvPr>
          <p:cNvSpPr>
            <a:spLocks noGrp="1"/>
          </p:cNvSpPr>
          <p:nvPr>
            <p:ph sz="quarter" idx="4"/>
          </p:nvPr>
        </p:nvSpPr>
        <p:spPr>
          <a:xfrm>
            <a:off x="4582244" y="1062480"/>
            <a:ext cx="3240360" cy="5486400"/>
          </a:xfrm>
        </p:spPr>
        <p:txBody>
          <a:bodyPr>
            <a:normAutofit fontScale="85000" lnSpcReduction="20000"/>
          </a:bodyPr>
          <a:lstStyle/>
          <a:p>
            <a:pPr marL="342900" indent="-342900">
              <a:buFont typeface="+mj-lt"/>
              <a:buAutoNum type="arabicPeriod"/>
            </a:pPr>
            <a:r>
              <a:rPr lang="tr-TR" sz="1300" b="1" dirty="0">
                <a:solidFill>
                  <a:srgbClr val="FF0000"/>
                </a:solidFill>
              </a:rPr>
              <a:t>Taraklı-Center</a:t>
            </a:r>
          </a:p>
          <a:p>
            <a:pPr marL="342900" indent="-342900">
              <a:buFont typeface="+mj-lt"/>
              <a:buAutoNum type="arabicPeriod"/>
            </a:pPr>
            <a:r>
              <a:rPr lang="tr-TR" sz="1300" dirty="0"/>
              <a:t>Sapanca-Vakıf Hotel Road</a:t>
            </a:r>
          </a:p>
          <a:p>
            <a:pPr marL="342900" indent="-342900">
              <a:buFont typeface="+mj-lt"/>
              <a:buAutoNum type="arabicPeriod"/>
            </a:pPr>
            <a:r>
              <a:rPr lang="tr-TR" sz="1300" dirty="0"/>
              <a:t>Sapanca-Kırkpınar </a:t>
            </a:r>
            <a:r>
              <a:rPr lang="tr-TR" sz="1300" dirty="0" err="1"/>
              <a:t>Surroundings</a:t>
            </a:r>
            <a:endParaRPr lang="tr-TR" sz="1300" dirty="0"/>
          </a:p>
          <a:p>
            <a:pPr marL="342900" indent="-342900">
              <a:buFont typeface="+mj-lt"/>
              <a:buAutoNum type="arabicPeriod"/>
            </a:pPr>
            <a:r>
              <a:rPr lang="tr-TR" sz="1300" dirty="0"/>
              <a:t>Arifiye-Sapanca</a:t>
            </a:r>
          </a:p>
          <a:p>
            <a:pPr marL="342900" indent="-342900">
              <a:buFont typeface="+mj-lt"/>
              <a:buAutoNum type="arabicPeriod"/>
            </a:pPr>
            <a:r>
              <a:rPr lang="tr-TR" sz="1300" dirty="0"/>
              <a:t>Sapanca-Akçay-Fevziye </a:t>
            </a:r>
            <a:r>
              <a:rPr lang="tr-TR" sz="1300" dirty="0" err="1"/>
              <a:t>Village</a:t>
            </a:r>
            <a:endParaRPr lang="tr-TR" sz="1300" dirty="0"/>
          </a:p>
          <a:p>
            <a:pPr marL="342900" indent="-342900">
              <a:buFont typeface="+mj-lt"/>
              <a:buAutoNum type="arabicPeriod"/>
            </a:pPr>
            <a:r>
              <a:rPr lang="tr-TR" sz="1300" dirty="0"/>
              <a:t>Center-Poyrazlar Lake </a:t>
            </a:r>
            <a:r>
              <a:rPr lang="tr-TR" sz="1300" dirty="0" err="1"/>
              <a:t>and</a:t>
            </a:r>
            <a:r>
              <a:rPr lang="tr-TR" sz="1300" dirty="0"/>
              <a:t> </a:t>
            </a:r>
            <a:r>
              <a:rPr lang="tr-TR" sz="1300" dirty="0" err="1"/>
              <a:t>Surroundings</a:t>
            </a:r>
            <a:endParaRPr lang="tr-TR" sz="1300" dirty="0"/>
          </a:p>
          <a:p>
            <a:pPr marL="342900" indent="-342900">
              <a:buFont typeface="+mj-lt"/>
              <a:buAutoNum type="arabicPeriod"/>
            </a:pPr>
            <a:r>
              <a:rPr lang="tr-TR" sz="1300" dirty="0"/>
              <a:t>Center-Hanlı </a:t>
            </a:r>
            <a:r>
              <a:rPr lang="tr-TR" sz="1300" dirty="0" err="1"/>
              <a:t>Town</a:t>
            </a:r>
            <a:endParaRPr lang="tr-TR" sz="1300" dirty="0"/>
          </a:p>
          <a:p>
            <a:pPr marL="342900" indent="-342900">
              <a:buFont typeface="+mj-lt"/>
              <a:buAutoNum type="arabicPeriod"/>
            </a:pPr>
            <a:r>
              <a:rPr lang="tr-TR" sz="1300" dirty="0"/>
              <a:t>Sapanca-Kurtköy </a:t>
            </a:r>
            <a:r>
              <a:rPr lang="tr-TR" sz="1300" dirty="0" err="1"/>
              <a:t>Picnic</a:t>
            </a:r>
            <a:r>
              <a:rPr lang="tr-TR" sz="1300" dirty="0"/>
              <a:t> </a:t>
            </a:r>
            <a:r>
              <a:rPr lang="tr-TR" sz="1300" dirty="0" err="1"/>
              <a:t>Area</a:t>
            </a:r>
            <a:endParaRPr lang="tr-TR" sz="1300" dirty="0"/>
          </a:p>
          <a:p>
            <a:pPr marL="342900" indent="-342900">
              <a:buFont typeface="+mj-lt"/>
              <a:buAutoNum type="arabicPeriod"/>
            </a:pPr>
            <a:r>
              <a:rPr lang="tr-TR" sz="1300" dirty="0"/>
              <a:t>Karasu-Acarlar Lake </a:t>
            </a:r>
            <a:r>
              <a:rPr lang="tr-TR" sz="1300" dirty="0" err="1"/>
              <a:t>and</a:t>
            </a:r>
            <a:r>
              <a:rPr lang="tr-TR" sz="1300" dirty="0"/>
              <a:t> Longoz </a:t>
            </a:r>
            <a:r>
              <a:rPr lang="tr-TR" sz="1300" dirty="0" err="1"/>
              <a:t>Forest</a:t>
            </a:r>
            <a:endParaRPr lang="tr-TR" sz="1300" dirty="0"/>
          </a:p>
          <a:p>
            <a:pPr marL="342900" indent="-342900">
              <a:buFont typeface="+mj-lt"/>
              <a:buAutoNum type="arabicPeriod"/>
            </a:pPr>
            <a:r>
              <a:rPr lang="tr-TR" sz="1300" dirty="0"/>
              <a:t>Söğütlü-Akgöl </a:t>
            </a:r>
            <a:r>
              <a:rPr lang="tr-TR" sz="1300" dirty="0" err="1"/>
              <a:t>Village</a:t>
            </a:r>
            <a:r>
              <a:rPr lang="tr-TR" sz="1300" dirty="0"/>
              <a:t>-Akgöl </a:t>
            </a:r>
            <a:r>
              <a:rPr lang="tr-TR" sz="1300" dirty="0" err="1"/>
              <a:t>Location</a:t>
            </a:r>
            <a:endParaRPr lang="tr-TR" sz="1300" dirty="0"/>
          </a:p>
          <a:p>
            <a:pPr marL="342900" indent="-342900">
              <a:buFont typeface="+mj-lt"/>
              <a:buAutoNum type="arabicPeriod"/>
            </a:pPr>
            <a:r>
              <a:rPr lang="tr-TR" sz="1300" dirty="0"/>
              <a:t>Karasu-Kocaali </a:t>
            </a:r>
            <a:r>
              <a:rPr lang="tr-TR" sz="1300" dirty="0" err="1"/>
              <a:t>districts</a:t>
            </a:r>
            <a:r>
              <a:rPr lang="tr-TR" sz="1300" dirty="0"/>
              <a:t> Maden </a:t>
            </a:r>
            <a:r>
              <a:rPr lang="tr-TR" sz="1300" dirty="0" err="1"/>
              <a:t>Creek</a:t>
            </a:r>
            <a:r>
              <a:rPr lang="tr-TR" sz="1300" dirty="0"/>
              <a:t> </a:t>
            </a:r>
            <a:r>
              <a:rPr lang="tr-TR" sz="1300" dirty="0" err="1"/>
              <a:t>Location</a:t>
            </a:r>
            <a:endParaRPr lang="tr-TR" dirty="0"/>
          </a:p>
          <a:p>
            <a:pPr marL="0" indent="0">
              <a:buNone/>
            </a:pPr>
            <a:endParaRPr lang="tr-TR" dirty="0"/>
          </a:p>
        </p:txBody>
      </p:sp>
      <p:sp>
        <p:nvSpPr>
          <p:cNvPr id="14" name="İçerik Yer Tutucusu 13">
            <a:extLst>
              <a:ext uri="{FF2B5EF4-FFF2-40B4-BE49-F238E27FC236}">
                <a16:creationId xmlns:a16="http://schemas.microsoft.com/office/drawing/2014/main" id="{42E3C3EE-2616-44B4-966E-E49E9FC910A8}"/>
              </a:ext>
            </a:extLst>
          </p:cNvPr>
          <p:cNvSpPr>
            <a:spLocks noGrp="1"/>
          </p:cNvSpPr>
          <p:nvPr>
            <p:ph sz="half" idx="2"/>
          </p:nvPr>
        </p:nvSpPr>
        <p:spPr>
          <a:xfrm>
            <a:off x="693812" y="908720"/>
            <a:ext cx="3312368" cy="5760640"/>
          </a:xfrm>
        </p:spPr>
        <p:txBody>
          <a:bodyPr>
            <a:normAutofit fontScale="85000" lnSpcReduction="20000"/>
          </a:bodyPr>
          <a:lstStyle/>
          <a:p>
            <a:pPr marL="342900" indent="-342900">
              <a:lnSpc>
                <a:spcPct val="107000"/>
              </a:lnSpc>
              <a:spcAft>
                <a:spcPts val="800"/>
              </a:spcAft>
              <a:buFont typeface="+mj-lt"/>
              <a:buAutoNum type="arabicPeriod"/>
            </a:pPr>
            <a:r>
              <a:rPr lang="tr-TR" sz="1300" dirty="0">
                <a:effectLst/>
                <a:latin typeface="Garamond" panose="02020404030301010803" pitchFamily="18" charset="0"/>
                <a:ea typeface="Calibri" panose="020F0502020204030204" pitchFamily="34" charset="0"/>
                <a:cs typeface="Garamond" panose="02020404030301010803" pitchFamily="18" charset="0"/>
              </a:rPr>
              <a:t>Serdivan: </a:t>
            </a:r>
            <a:r>
              <a:rPr lang="tr-TR" sz="1300" dirty="0" err="1">
                <a:effectLst/>
                <a:latin typeface="Garamond" panose="02020404030301010803" pitchFamily="18" charset="0"/>
                <a:ea typeface="Calibri" panose="020F0502020204030204" pitchFamily="34" charset="0"/>
                <a:cs typeface="Garamond" panose="02020404030301010803" pitchFamily="18" charset="0"/>
              </a:rPr>
              <a:t>Beşköprü</a:t>
            </a:r>
            <a:r>
              <a:rPr lang="tr-TR" sz="1300" dirty="0">
                <a:effectLst/>
                <a:latin typeface="Garamond" panose="02020404030301010803" pitchFamily="18" charset="0"/>
                <a:ea typeface="Calibri" panose="020F0502020204030204" pitchFamily="34" charset="0"/>
                <a:cs typeface="Garamond" panose="02020404030301010803" pitchFamily="18" charset="0"/>
              </a:rPr>
              <a:t> - </a:t>
            </a:r>
            <a:r>
              <a:rPr lang="tr-TR" sz="1300" dirty="0" err="1">
                <a:effectLst/>
                <a:latin typeface="Garamond" panose="02020404030301010803" pitchFamily="18" charset="0"/>
                <a:ea typeface="Calibri" panose="020F0502020204030204" pitchFamily="34" charset="0"/>
                <a:cs typeface="Garamond" panose="02020404030301010803" pitchFamily="18" charset="0"/>
              </a:rPr>
              <a:t>Justinianus</a:t>
            </a:r>
            <a:r>
              <a:rPr lang="tr-TR" sz="1300" dirty="0">
                <a:effectLst/>
                <a:latin typeface="Garamond" panose="02020404030301010803" pitchFamily="18" charset="0"/>
                <a:ea typeface="Calibri" panose="020F0502020204030204" pitchFamily="34" charset="0"/>
                <a:cs typeface="Garamond" panose="02020404030301010803" pitchFamily="18" charset="0"/>
              </a:rPr>
              <a:t> Bridge</a:t>
            </a:r>
          </a:p>
          <a:p>
            <a:pPr marL="342900" indent="-342900">
              <a:lnSpc>
                <a:spcPct val="107000"/>
              </a:lnSpc>
              <a:spcAft>
                <a:spcPts val="800"/>
              </a:spcAft>
              <a:buFont typeface="+mj-lt"/>
              <a:buAutoNum type="arabicPeriod"/>
            </a:pPr>
            <a:r>
              <a:rPr lang="tr-TR" sz="1300" dirty="0">
                <a:effectLst/>
                <a:latin typeface="Garamond" panose="02020404030301010803" pitchFamily="18" charset="0"/>
                <a:ea typeface="Calibri" panose="020F0502020204030204" pitchFamily="34" charset="0"/>
                <a:cs typeface="Garamond" panose="02020404030301010803" pitchFamily="18" charset="0"/>
              </a:rPr>
              <a:t>Söğütlü: Akarca </a:t>
            </a:r>
            <a:r>
              <a:rPr lang="tr-TR" sz="1300" dirty="0" err="1">
                <a:effectLst/>
                <a:latin typeface="Garamond" panose="02020404030301010803" pitchFamily="18" charset="0"/>
                <a:ea typeface="Calibri" panose="020F0502020204030204" pitchFamily="34" charset="0"/>
                <a:cs typeface="Garamond" panose="02020404030301010803" pitchFamily="18" charset="0"/>
              </a:rPr>
              <a:t>Village</a:t>
            </a:r>
            <a:r>
              <a:rPr lang="tr-TR" sz="1300" dirty="0">
                <a:effectLst/>
                <a:latin typeface="Garamond" panose="02020404030301010803" pitchFamily="18" charset="0"/>
                <a:ea typeface="Calibri" panose="020F0502020204030204" pitchFamily="34" charset="0"/>
                <a:cs typeface="Garamond" panose="02020404030301010803" pitchFamily="18" charset="0"/>
              </a:rPr>
              <a:t> (Roman </a:t>
            </a:r>
            <a:r>
              <a:rPr lang="tr-TR" sz="1300" dirty="0" err="1">
                <a:effectLst/>
                <a:latin typeface="Garamond" panose="02020404030301010803" pitchFamily="18" charset="0"/>
                <a:ea typeface="Calibri" panose="020F0502020204030204" pitchFamily="34" charset="0"/>
                <a:cs typeface="Garamond" panose="02020404030301010803" pitchFamily="18" charset="0"/>
              </a:rPr>
              <a:t>Necropolis</a:t>
            </a:r>
            <a:r>
              <a:rPr lang="tr-TR" sz="1300" dirty="0">
                <a:effectLst/>
                <a:latin typeface="Garamond" panose="02020404030301010803" pitchFamily="18" charset="0"/>
                <a:ea typeface="Calibri" panose="020F0502020204030204" pitchFamily="34" charset="0"/>
                <a:cs typeface="Garamond" panose="02020404030301010803" pitchFamily="18" charset="0"/>
              </a:rPr>
              <a:t>)</a:t>
            </a:r>
          </a:p>
          <a:p>
            <a:pPr marL="342900" indent="-342900">
              <a:lnSpc>
                <a:spcPct val="107000"/>
              </a:lnSpc>
              <a:spcAft>
                <a:spcPts val="800"/>
              </a:spcAft>
              <a:buFont typeface="+mj-lt"/>
              <a:buAutoNum type="arabicPeriod"/>
            </a:pPr>
            <a:r>
              <a:rPr lang="tr-TR" sz="1300" dirty="0">
                <a:effectLst/>
                <a:latin typeface="Garamond" panose="02020404030301010803" pitchFamily="18" charset="0"/>
                <a:ea typeface="Calibri" panose="020F0502020204030204" pitchFamily="34" charset="0"/>
                <a:cs typeface="Garamond" panose="02020404030301010803" pitchFamily="18" charset="0"/>
              </a:rPr>
              <a:t>Hendek: </a:t>
            </a:r>
            <a:r>
              <a:rPr lang="tr-TR" sz="1300" dirty="0" err="1">
                <a:effectLst/>
                <a:latin typeface="Garamond" panose="02020404030301010803" pitchFamily="18" charset="0"/>
                <a:ea typeface="Calibri" panose="020F0502020204030204" pitchFamily="34" charset="0"/>
                <a:cs typeface="Garamond" panose="02020404030301010803" pitchFamily="18" charset="0"/>
              </a:rPr>
              <a:t>Yağbasan</a:t>
            </a:r>
            <a:r>
              <a:rPr lang="tr-TR" sz="1300" dirty="0">
                <a:effectLst/>
                <a:latin typeface="Garamond" panose="02020404030301010803" pitchFamily="18" charset="0"/>
                <a:ea typeface="Calibri" panose="020F0502020204030204" pitchFamily="34" charset="0"/>
                <a:cs typeface="Garamond" panose="02020404030301010803" pitchFamily="18" charset="0"/>
              </a:rPr>
              <a:t> </a:t>
            </a:r>
            <a:r>
              <a:rPr lang="tr-TR" sz="1300" dirty="0" err="1">
                <a:effectLst/>
                <a:latin typeface="Garamond" panose="02020404030301010803" pitchFamily="18" charset="0"/>
                <a:ea typeface="Calibri" panose="020F0502020204030204" pitchFamily="34" charset="0"/>
                <a:cs typeface="Garamond" panose="02020404030301010803" pitchFamily="18" charset="0"/>
              </a:rPr>
              <a:t>Tumulus</a:t>
            </a:r>
            <a:r>
              <a:rPr lang="tr-TR" sz="1300" dirty="0">
                <a:effectLst/>
                <a:latin typeface="Garamond" panose="02020404030301010803" pitchFamily="18" charset="0"/>
                <a:ea typeface="Calibri" panose="020F0502020204030204" pitchFamily="34" charset="0"/>
                <a:cs typeface="Garamond" panose="02020404030301010803" pitchFamily="18" charset="0"/>
              </a:rPr>
              <a:t>, </a:t>
            </a:r>
            <a:r>
              <a:rPr lang="tr-TR" sz="1300" dirty="0" err="1">
                <a:effectLst/>
                <a:latin typeface="Garamond" panose="02020404030301010803" pitchFamily="18" charset="0"/>
                <a:ea typeface="Calibri" panose="020F0502020204030204" pitchFamily="34" charset="0"/>
                <a:cs typeface="Garamond" panose="02020404030301010803" pitchFamily="18" charset="0"/>
              </a:rPr>
              <a:t>Üçtepeler</a:t>
            </a:r>
            <a:r>
              <a:rPr lang="tr-TR" sz="1300" dirty="0">
                <a:effectLst/>
                <a:latin typeface="Garamond" panose="02020404030301010803" pitchFamily="18" charset="0"/>
                <a:ea typeface="Calibri" panose="020F0502020204030204" pitchFamily="34" charset="0"/>
                <a:cs typeface="Garamond" panose="02020404030301010803" pitchFamily="18" charset="0"/>
              </a:rPr>
              <a:t> </a:t>
            </a:r>
            <a:r>
              <a:rPr lang="tr-TR" sz="1300" dirty="0" err="1">
                <a:effectLst/>
                <a:latin typeface="Garamond" panose="02020404030301010803" pitchFamily="18" charset="0"/>
                <a:ea typeface="Calibri" panose="020F0502020204030204" pitchFamily="34" charset="0"/>
                <a:cs typeface="Garamond" panose="02020404030301010803" pitchFamily="18" charset="0"/>
              </a:rPr>
              <a:t>Area</a:t>
            </a:r>
            <a:endParaRPr lang="tr-TR" sz="1300" dirty="0">
              <a:effectLst/>
              <a:latin typeface="Garamond" panose="02020404030301010803" pitchFamily="18" charset="0"/>
              <a:ea typeface="Calibri" panose="020F0502020204030204" pitchFamily="34" charset="0"/>
              <a:cs typeface="Garamond" panose="02020404030301010803" pitchFamily="18" charset="0"/>
            </a:endParaRPr>
          </a:p>
          <a:p>
            <a:pPr marL="342900" indent="-342900">
              <a:lnSpc>
                <a:spcPct val="107000"/>
              </a:lnSpc>
              <a:spcAft>
                <a:spcPts val="800"/>
              </a:spcAft>
              <a:buFont typeface="+mj-lt"/>
              <a:buAutoNum type="arabicPeriod"/>
            </a:pPr>
            <a:r>
              <a:rPr lang="tr-TR" sz="1300" dirty="0">
                <a:effectLst/>
                <a:latin typeface="Garamond" panose="02020404030301010803" pitchFamily="18" charset="0"/>
                <a:ea typeface="Calibri" panose="020F0502020204030204" pitchFamily="34" charset="0"/>
                <a:cs typeface="Garamond" panose="02020404030301010803" pitchFamily="18" charset="0"/>
              </a:rPr>
              <a:t>Adapazarı: İkizce </a:t>
            </a:r>
            <a:r>
              <a:rPr lang="tr-TR" sz="1300" dirty="0" err="1">
                <a:effectLst/>
                <a:latin typeface="Garamond" panose="02020404030301010803" pitchFamily="18" charset="0"/>
                <a:ea typeface="Calibri" panose="020F0502020204030204" pitchFamily="34" charset="0"/>
                <a:cs typeface="Garamond" panose="02020404030301010803" pitchFamily="18" charset="0"/>
              </a:rPr>
              <a:t>Village</a:t>
            </a:r>
            <a:r>
              <a:rPr lang="tr-TR" sz="1300" dirty="0">
                <a:effectLst/>
                <a:latin typeface="Garamond" panose="02020404030301010803" pitchFamily="18" charset="0"/>
                <a:ea typeface="Calibri" panose="020F0502020204030204" pitchFamily="34" charset="0"/>
                <a:cs typeface="Garamond" panose="02020404030301010803" pitchFamily="18" charset="0"/>
              </a:rPr>
              <a:t> (Roman </a:t>
            </a:r>
            <a:r>
              <a:rPr lang="tr-TR" sz="1300" dirty="0" err="1">
                <a:effectLst/>
                <a:latin typeface="Garamond" panose="02020404030301010803" pitchFamily="18" charset="0"/>
                <a:ea typeface="Calibri" panose="020F0502020204030204" pitchFamily="34" charset="0"/>
                <a:cs typeface="Garamond" panose="02020404030301010803" pitchFamily="18" charset="0"/>
              </a:rPr>
              <a:t>Necropolis</a:t>
            </a:r>
            <a:r>
              <a:rPr lang="tr-TR" sz="1300" dirty="0">
                <a:effectLst/>
                <a:latin typeface="Garamond" panose="02020404030301010803" pitchFamily="18" charset="0"/>
                <a:ea typeface="Calibri" panose="020F0502020204030204" pitchFamily="34" charset="0"/>
                <a:cs typeface="Garamond" panose="02020404030301010803" pitchFamily="18" charset="0"/>
              </a:rPr>
              <a:t>)</a:t>
            </a:r>
          </a:p>
          <a:p>
            <a:pPr marL="342900" indent="-342900">
              <a:lnSpc>
                <a:spcPct val="107000"/>
              </a:lnSpc>
              <a:spcAft>
                <a:spcPts val="800"/>
              </a:spcAft>
              <a:buFont typeface="+mj-lt"/>
              <a:buAutoNum type="arabicPeriod"/>
            </a:pPr>
            <a:r>
              <a:rPr lang="tr-TR" sz="1300" dirty="0">
                <a:effectLst/>
                <a:latin typeface="Garamond" panose="02020404030301010803" pitchFamily="18" charset="0"/>
                <a:ea typeface="Calibri" panose="020F0502020204030204" pitchFamily="34" charset="0"/>
                <a:cs typeface="Garamond" panose="02020404030301010803" pitchFamily="18" charset="0"/>
              </a:rPr>
              <a:t>Geyve: </a:t>
            </a:r>
            <a:r>
              <a:rPr lang="tr-TR" sz="1300" dirty="0" err="1">
                <a:effectLst/>
                <a:latin typeface="Garamond" panose="02020404030301010803" pitchFamily="18" charset="0"/>
                <a:ea typeface="Calibri" panose="020F0502020204030204" pitchFamily="34" charset="0"/>
                <a:cs typeface="Garamond" panose="02020404030301010803" pitchFamily="18" charset="0"/>
              </a:rPr>
              <a:t>Kulfalar</a:t>
            </a:r>
            <a:r>
              <a:rPr lang="tr-TR" sz="1300" dirty="0">
                <a:effectLst/>
                <a:latin typeface="Garamond" panose="02020404030301010803" pitchFamily="18" charset="0"/>
                <a:ea typeface="Calibri" panose="020F0502020204030204" pitchFamily="34" charset="0"/>
                <a:cs typeface="Garamond" panose="02020404030301010803" pitchFamily="18" charset="0"/>
              </a:rPr>
              <a:t> </a:t>
            </a:r>
            <a:r>
              <a:rPr lang="tr-TR" sz="1300" dirty="0" err="1">
                <a:effectLst/>
                <a:latin typeface="Garamond" panose="02020404030301010803" pitchFamily="18" charset="0"/>
                <a:ea typeface="Calibri" panose="020F0502020204030204" pitchFamily="34" charset="0"/>
                <a:cs typeface="Garamond" panose="02020404030301010803" pitchFamily="18" charset="0"/>
              </a:rPr>
              <a:t>Village</a:t>
            </a:r>
            <a:r>
              <a:rPr lang="tr-TR" sz="1300" dirty="0">
                <a:effectLst/>
                <a:latin typeface="Garamond" panose="02020404030301010803" pitchFamily="18" charset="0"/>
                <a:ea typeface="Calibri" panose="020F0502020204030204" pitchFamily="34" charset="0"/>
                <a:cs typeface="Garamond" panose="02020404030301010803" pitchFamily="18" charset="0"/>
              </a:rPr>
              <a:t> (Ortaköy </a:t>
            </a:r>
            <a:r>
              <a:rPr lang="tr-TR" sz="1300" dirty="0" err="1">
                <a:effectLst/>
                <a:latin typeface="Garamond" panose="02020404030301010803" pitchFamily="18" charset="0"/>
                <a:ea typeface="Calibri" panose="020F0502020204030204" pitchFamily="34" charset="0"/>
                <a:cs typeface="Garamond" panose="02020404030301010803" pitchFamily="18" charset="0"/>
              </a:rPr>
              <a:t>Area</a:t>
            </a:r>
            <a:r>
              <a:rPr lang="tr-TR" sz="1300" dirty="0">
                <a:effectLst/>
                <a:latin typeface="Garamond" panose="02020404030301010803" pitchFamily="18" charset="0"/>
                <a:ea typeface="Calibri" panose="020F0502020204030204" pitchFamily="34" charset="0"/>
                <a:cs typeface="Garamond" panose="02020404030301010803" pitchFamily="18" charset="0"/>
              </a:rPr>
              <a:t>)</a:t>
            </a:r>
          </a:p>
          <a:p>
            <a:pPr marL="342900" indent="-342900">
              <a:lnSpc>
                <a:spcPct val="107000"/>
              </a:lnSpc>
              <a:spcAft>
                <a:spcPts val="800"/>
              </a:spcAft>
              <a:buFont typeface="+mj-lt"/>
              <a:buAutoNum type="arabicPeriod"/>
            </a:pPr>
            <a:r>
              <a:rPr lang="tr-TR" sz="1300" dirty="0">
                <a:effectLst/>
                <a:latin typeface="Garamond" panose="02020404030301010803" pitchFamily="18" charset="0"/>
                <a:ea typeface="Calibri" panose="020F0502020204030204" pitchFamily="34" charset="0"/>
                <a:cs typeface="Garamond" panose="02020404030301010803" pitchFamily="18" charset="0"/>
              </a:rPr>
              <a:t>Pamukova: Akçakaya </a:t>
            </a:r>
            <a:r>
              <a:rPr lang="tr-TR" sz="1300" dirty="0" err="1">
                <a:effectLst/>
                <a:latin typeface="Garamond" panose="02020404030301010803" pitchFamily="18" charset="0"/>
                <a:ea typeface="Calibri" panose="020F0502020204030204" pitchFamily="34" charset="0"/>
                <a:cs typeface="Garamond" panose="02020404030301010803" pitchFamily="18" charset="0"/>
              </a:rPr>
              <a:t>Village</a:t>
            </a:r>
            <a:endParaRPr lang="tr-TR" sz="1300" dirty="0">
              <a:effectLst/>
              <a:latin typeface="Garamond" panose="02020404030301010803" pitchFamily="18" charset="0"/>
              <a:ea typeface="Calibri" panose="020F0502020204030204" pitchFamily="34" charset="0"/>
              <a:cs typeface="Garamond" panose="02020404030301010803" pitchFamily="18" charset="0"/>
            </a:endParaRPr>
          </a:p>
          <a:p>
            <a:pPr marL="342900" indent="-342900">
              <a:lnSpc>
                <a:spcPct val="107000"/>
              </a:lnSpc>
              <a:spcAft>
                <a:spcPts val="800"/>
              </a:spcAft>
              <a:buFont typeface="+mj-lt"/>
              <a:buAutoNum type="arabicPeriod"/>
            </a:pPr>
            <a:r>
              <a:rPr lang="tr-TR" sz="1300" dirty="0">
                <a:effectLst/>
                <a:latin typeface="Garamond" panose="02020404030301010803" pitchFamily="18" charset="0"/>
                <a:ea typeface="Calibri" panose="020F0502020204030204" pitchFamily="34" charset="0"/>
                <a:cs typeface="Garamond" panose="02020404030301010803" pitchFamily="18" charset="0"/>
              </a:rPr>
              <a:t>Taraklı: Center</a:t>
            </a:r>
          </a:p>
          <a:p>
            <a:pPr marL="342900" indent="-342900">
              <a:lnSpc>
                <a:spcPct val="107000"/>
              </a:lnSpc>
              <a:spcAft>
                <a:spcPts val="800"/>
              </a:spcAft>
              <a:buFont typeface="+mj-lt"/>
              <a:buAutoNum type="arabicPeriod"/>
            </a:pPr>
            <a:r>
              <a:rPr lang="tr-TR" sz="1300" dirty="0">
                <a:effectLst/>
                <a:latin typeface="Garamond" panose="02020404030301010803" pitchFamily="18" charset="0"/>
                <a:ea typeface="Calibri" panose="020F0502020204030204" pitchFamily="34" charset="0"/>
                <a:cs typeface="Garamond" panose="02020404030301010803" pitchFamily="18" charset="0"/>
              </a:rPr>
              <a:t>Pamukova: Hayrettin </a:t>
            </a:r>
            <a:r>
              <a:rPr lang="tr-TR" sz="1300" dirty="0" err="1">
                <a:effectLst/>
                <a:latin typeface="Garamond" panose="02020404030301010803" pitchFamily="18" charset="0"/>
                <a:ea typeface="Calibri" panose="020F0502020204030204" pitchFamily="34" charset="0"/>
                <a:cs typeface="Garamond" panose="02020404030301010803" pitchFamily="18" charset="0"/>
              </a:rPr>
              <a:t>Village</a:t>
            </a:r>
            <a:r>
              <a:rPr lang="tr-TR" sz="1300" dirty="0">
                <a:effectLst/>
                <a:latin typeface="Garamond" panose="02020404030301010803" pitchFamily="18" charset="0"/>
                <a:ea typeface="Calibri" panose="020F0502020204030204" pitchFamily="34" charset="0"/>
                <a:cs typeface="Garamond" panose="02020404030301010803" pitchFamily="18" charset="0"/>
              </a:rPr>
              <a:t> (</a:t>
            </a:r>
            <a:r>
              <a:rPr lang="tr-TR" sz="1300" dirty="0" err="1">
                <a:effectLst/>
                <a:latin typeface="Garamond" panose="02020404030301010803" pitchFamily="18" charset="0"/>
                <a:ea typeface="Calibri" panose="020F0502020204030204" pitchFamily="34" charset="0"/>
                <a:cs typeface="Garamond" panose="02020404030301010803" pitchFamily="18" charset="0"/>
              </a:rPr>
              <a:t>Menete</a:t>
            </a:r>
            <a:r>
              <a:rPr lang="tr-TR" sz="1300" dirty="0">
                <a:effectLst/>
                <a:latin typeface="Garamond" panose="02020404030301010803" pitchFamily="18" charset="0"/>
                <a:ea typeface="Calibri" panose="020F0502020204030204" pitchFamily="34" charset="0"/>
                <a:cs typeface="Garamond" panose="02020404030301010803" pitchFamily="18" charset="0"/>
              </a:rPr>
              <a:t> </a:t>
            </a:r>
            <a:r>
              <a:rPr lang="tr-TR" sz="1300" dirty="0" err="1">
                <a:effectLst/>
                <a:latin typeface="Garamond" panose="02020404030301010803" pitchFamily="18" charset="0"/>
                <a:ea typeface="Calibri" panose="020F0502020204030204" pitchFamily="34" charset="0"/>
                <a:cs typeface="Garamond" panose="02020404030301010803" pitchFamily="18" charset="0"/>
              </a:rPr>
              <a:t>Area</a:t>
            </a:r>
            <a:r>
              <a:rPr lang="tr-TR" sz="1300" dirty="0">
                <a:effectLst/>
                <a:latin typeface="Garamond" panose="02020404030301010803" pitchFamily="18" charset="0"/>
                <a:ea typeface="Calibri" panose="020F0502020204030204" pitchFamily="34" charset="0"/>
                <a:cs typeface="Garamond" panose="02020404030301010803" pitchFamily="18" charset="0"/>
              </a:rPr>
              <a:t>)</a:t>
            </a:r>
          </a:p>
          <a:p>
            <a:pPr marL="342900" indent="-342900">
              <a:lnSpc>
                <a:spcPct val="107000"/>
              </a:lnSpc>
              <a:spcAft>
                <a:spcPts val="800"/>
              </a:spcAft>
              <a:buFont typeface="+mj-lt"/>
              <a:buAutoNum type="arabicPeriod"/>
            </a:pPr>
            <a:r>
              <a:rPr lang="tr-TR" sz="1300" dirty="0">
                <a:effectLst/>
                <a:latin typeface="Garamond" panose="02020404030301010803" pitchFamily="18" charset="0"/>
                <a:ea typeface="Calibri" panose="020F0502020204030204" pitchFamily="34" charset="0"/>
                <a:cs typeface="Garamond" panose="02020404030301010803" pitchFamily="18" charset="0"/>
              </a:rPr>
              <a:t>Serdivan: </a:t>
            </a:r>
            <a:r>
              <a:rPr lang="tr-TR" sz="1300" dirty="0" err="1">
                <a:effectLst/>
                <a:latin typeface="Garamond" panose="02020404030301010803" pitchFamily="18" charset="0"/>
                <a:ea typeface="Calibri" panose="020F0502020204030204" pitchFamily="34" charset="0"/>
                <a:cs typeface="Garamond" panose="02020404030301010803" pitchFamily="18" charset="0"/>
              </a:rPr>
              <a:t>Beşköprü</a:t>
            </a:r>
            <a:r>
              <a:rPr lang="tr-TR" sz="1300" dirty="0">
                <a:effectLst/>
                <a:latin typeface="Garamond" panose="02020404030301010803" pitchFamily="18" charset="0"/>
                <a:ea typeface="Calibri" panose="020F0502020204030204" pitchFamily="34" charset="0"/>
                <a:cs typeface="Garamond" panose="02020404030301010803" pitchFamily="18" charset="0"/>
              </a:rPr>
              <a:t> Hakikat Foundation </a:t>
            </a:r>
            <a:r>
              <a:rPr lang="tr-TR" sz="1300" dirty="0" err="1">
                <a:effectLst/>
                <a:latin typeface="Garamond" panose="02020404030301010803" pitchFamily="18" charset="0"/>
                <a:ea typeface="Calibri" panose="020F0502020204030204" pitchFamily="34" charset="0"/>
                <a:cs typeface="Garamond" panose="02020404030301010803" pitchFamily="18" charset="0"/>
              </a:rPr>
              <a:t>Cooperative</a:t>
            </a:r>
            <a:endParaRPr lang="tr-TR" sz="1300" dirty="0">
              <a:effectLst/>
              <a:latin typeface="Garamond" panose="02020404030301010803" pitchFamily="18" charset="0"/>
              <a:ea typeface="Calibri" panose="020F0502020204030204" pitchFamily="34" charset="0"/>
              <a:cs typeface="Garamond" panose="02020404030301010803" pitchFamily="18" charset="0"/>
            </a:endParaRPr>
          </a:p>
          <a:p>
            <a:pPr marL="342900" indent="-342900">
              <a:lnSpc>
                <a:spcPct val="107000"/>
              </a:lnSpc>
              <a:spcAft>
                <a:spcPts val="800"/>
              </a:spcAft>
              <a:buFont typeface="+mj-lt"/>
              <a:buAutoNum type="arabicPeriod"/>
            </a:pPr>
            <a:r>
              <a:rPr lang="tr-TR" sz="1300" dirty="0">
                <a:effectLst/>
                <a:latin typeface="Garamond" panose="02020404030301010803" pitchFamily="18" charset="0"/>
                <a:ea typeface="Calibri" panose="020F0502020204030204" pitchFamily="34" charset="0"/>
                <a:cs typeface="Garamond" panose="02020404030301010803" pitchFamily="18" charset="0"/>
              </a:rPr>
              <a:t>Serdivan: İstiklal </a:t>
            </a:r>
            <a:r>
              <a:rPr lang="tr-TR" sz="1300" dirty="0" err="1">
                <a:effectLst/>
                <a:latin typeface="Garamond" panose="02020404030301010803" pitchFamily="18" charset="0"/>
                <a:ea typeface="Calibri" panose="020F0502020204030204" pitchFamily="34" charset="0"/>
                <a:cs typeface="Garamond" panose="02020404030301010803" pitchFamily="18" charset="0"/>
              </a:rPr>
              <a:t>Neighborhood</a:t>
            </a:r>
            <a:r>
              <a:rPr lang="tr-TR" sz="1300" dirty="0">
                <a:effectLst/>
                <a:latin typeface="Garamond" panose="02020404030301010803" pitchFamily="18" charset="0"/>
                <a:ea typeface="Calibri" panose="020F0502020204030204" pitchFamily="34" charset="0"/>
                <a:cs typeface="Garamond" panose="02020404030301010803" pitchFamily="18" charset="0"/>
              </a:rPr>
              <a:t>, Altınışık Street, </a:t>
            </a:r>
            <a:r>
              <a:rPr lang="tr-TR" sz="1300" dirty="0" err="1">
                <a:effectLst/>
                <a:latin typeface="Garamond" panose="02020404030301010803" pitchFamily="18" charset="0"/>
                <a:ea typeface="Calibri" panose="020F0502020204030204" pitchFamily="34" charset="0"/>
                <a:cs typeface="Garamond" panose="02020404030301010803" pitchFamily="18" charset="0"/>
              </a:rPr>
              <a:t>Plot</a:t>
            </a:r>
            <a:r>
              <a:rPr lang="tr-TR" sz="1300" dirty="0">
                <a:effectLst/>
                <a:latin typeface="Garamond" panose="02020404030301010803" pitchFamily="18" charset="0"/>
                <a:ea typeface="Calibri" panose="020F0502020204030204" pitchFamily="34" charset="0"/>
                <a:cs typeface="Garamond" panose="02020404030301010803" pitchFamily="18" charset="0"/>
              </a:rPr>
              <a:t> 468, </a:t>
            </a:r>
            <a:r>
              <a:rPr lang="tr-TR" sz="1300" dirty="0" err="1">
                <a:effectLst/>
                <a:latin typeface="Garamond" panose="02020404030301010803" pitchFamily="18" charset="0"/>
                <a:ea typeface="Calibri" panose="020F0502020204030204" pitchFamily="34" charset="0"/>
                <a:cs typeface="Garamond" panose="02020404030301010803" pitchFamily="18" charset="0"/>
              </a:rPr>
              <a:t>Parcels</a:t>
            </a:r>
            <a:r>
              <a:rPr lang="tr-TR" sz="1300" dirty="0">
                <a:effectLst/>
                <a:latin typeface="Garamond" panose="02020404030301010803" pitchFamily="18" charset="0"/>
                <a:ea typeface="Calibri" panose="020F0502020204030204" pitchFamily="34" charset="0"/>
                <a:cs typeface="Garamond" panose="02020404030301010803" pitchFamily="18" charset="0"/>
              </a:rPr>
              <a:t> 1-2-3</a:t>
            </a:r>
          </a:p>
          <a:p>
            <a:pPr marL="342900" indent="-342900">
              <a:lnSpc>
                <a:spcPct val="107000"/>
              </a:lnSpc>
              <a:spcAft>
                <a:spcPts val="800"/>
              </a:spcAft>
              <a:buFont typeface="+mj-lt"/>
              <a:buAutoNum type="arabicPeriod"/>
            </a:pPr>
            <a:r>
              <a:rPr lang="tr-TR" sz="1300" dirty="0">
                <a:effectLst/>
                <a:latin typeface="Garamond" panose="02020404030301010803" pitchFamily="18" charset="0"/>
                <a:ea typeface="Calibri" panose="020F0502020204030204" pitchFamily="34" charset="0"/>
                <a:cs typeface="Garamond" panose="02020404030301010803" pitchFamily="18" charset="0"/>
              </a:rPr>
              <a:t>Sakarya Center: </a:t>
            </a:r>
            <a:r>
              <a:rPr lang="tr-TR" sz="1300" dirty="0" err="1">
                <a:effectLst/>
                <a:latin typeface="Garamond" panose="02020404030301010803" pitchFamily="18" charset="0"/>
                <a:ea typeface="Calibri" panose="020F0502020204030204" pitchFamily="34" charset="0"/>
                <a:cs typeface="Garamond" panose="02020404030301010803" pitchFamily="18" charset="0"/>
              </a:rPr>
              <a:t>Alandüzü</a:t>
            </a:r>
            <a:r>
              <a:rPr lang="tr-TR" sz="1300" dirty="0">
                <a:effectLst/>
                <a:latin typeface="Garamond" panose="02020404030301010803" pitchFamily="18" charset="0"/>
                <a:ea typeface="Calibri" panose="020F0502020204030204" pitchFamily="34" charset="0"/>
                <a:cs typeface="Garamond" panose="02020404030301010803" pitchFamily="18" charset="0"/>
              </a:rPr>
              <a:t> </a:t>
            </a:r>
            <a:r>
              <a:rPr lang="tr-TR" sz="1300" dirty="0" err="1">
                <a:effectLst/>
                <a:latin typeface="Garamond" panose="02020404030301010803" pitchFamily="18" charset="0"/>
                <a:ea typeface="Calibri" panose="020F0502020204030204" pitchFamily="34" charset="0"/>
                <a:cs typeface="Garamond" panose="02020404030301010803" pitchFamily="18" charset="0"/>
              </a:rPr>
              <a:t>Village</a:t>
            </a:r>
            <a:r>
              <a:rPr lang="tr-TR" sz="1300" dirty="0">
                <a:effectLst/>
                <a:latin typeface="Garamond" panose="02020404030301010803" pitchFamily="18" charset="0"/>
                <a:ea typeface="Calibri" panose="020F0502020204030204" pitchFamily="34" charset="0"/>
                <a:cs typeface="Garamond" panose="02020404030301010803" pitchFamily="18" charset="0"/>
              </a:rPr>
              <a:t>, </a:t>
            </a:r>
            <a:r>
              <a:rPr lang="tr-TR" sz="1300" dirty="0" err="1">
                <a:effectLst/>
                <a:latin typeface="Garamond" panose="02020404030301010803" pitchFamily="18" charset="0"/>
                <a:ea typeface="Calibri" panose="020F0502020204030204" pitchFamily="34" charset="0"/>
                <a:cs typeface="Garamond" panose="02020404030301010803" pitchFamily="18" charset="0"/>
              </a:rPr>
              <a:t>Bağdere</a:t>
            </a:r>
            <a:r>
              <a:rPr lang="tr-TR" sz="1300" dirty="0">
                <a:effectLst/>
                <a:latin typeface="Garamond" panose="02020404030301010803" pitchFamily="18" charset="0"/>
                <a:ea typeface="Calibri" panose="020F0502020204030204" pitchFamily="34" charset="0"/>
                <a:cs typeface="Garamond" panose="02020404030301010803" pitchFamily="18" charset="0"/>
              </a:rPr>
              <a:t> </a:t>
            </a:r>
            <a:r>
              <a:rPr lang="tr-TR" sz="1300" dirty="0" err="1">
                <a:effectLst/>
                <a:latin typeface="Garamond" panose="02020404030301010803" pitchFamily="18" charset="0"/>
                <a:ea typeface="Calibri" panose="020F0502020204030204" pitchFamily="34" charset="0"/>
                <a:cs typeface="Garamond" panose="02020404030301010803" pitchFamily="18" charset="0"/>
              </a:rPr>
              <a:t>Area</a:t>
            </a:r>
            <a:endParaRPr lang="tr-TR" sz="1300" dirty="0">
              <a:effectLst/>
              <a:latin typeface="Garamond" panose="02020404030301010803" pitchFamily="18" charset="0"/>
              <a:ea typeface="Calibri" panose="020F0502020204030204" pitchFamily="34" charset="0"/>
              <a:cs typeface="Garamond" panose="02020404030301010803" pitchFamily="18" charset="0"/>
            </a:endParaRPr>
          </a:p>
          <a:p>
            <a:pPr marL="0" indent="0">
              <a:lnSpc>
                <a:spcPct val="107000"/>
              </a:lnSpc>
              <a:spcAft>
                <a:spcPts val="800"/>
              </a:spcAft>
              <a:buNone/>
            </a:pP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tr-TR" sz="1200" dirty="0">
              <a:effectLst/>
              <a:latin typeface="Garamond" panose="02020404030301010803" pitchFamily="18" charset="0"/>
              <a:ea typeface="Calibri" panose="020F0502020204030204" pitchFamily="34" charset="0"/>
              <a:cs typeface="Garamond" panose="02020404030301010803" pitchFamily="18" charset="0"/>
            </a:endParaRPr>
          </a:p>
          <a:p>
            <a:pPr marL="0" indent="0">
              <a:lnSpc>
                <a:spcPct val="107000"/>
              </a:lnSpc>
              <a:spcAft>
                <a:spcPts val="800"/>
              </a:spcAft>
              <a:buNone/>
            </a:pP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tr-TR" sz="1800" dirty="0">
              <a:effectLst/>
              <a:latin typeface="Garamond" panose="02020404030301010803" pitchFamily="18" charset="0"/>
              <a:ea typeface="Calibri" panose="020F0502020204030204" pitchFamily="34" charset="0"/>
              <a:cs typeface="Garamond" panose="02020404030301010803" pitchFamily="18" charset="0"/>
            </a:endParaRPr>
          </a:p>
          <a:p>
            <a:pPr marL="0" indent="0">
              <a:lnSpc>
                <a:spcPct val="107000"/>
              </a:lnSpc>
              <a:spcAft>
                <a:spcPts val="800"/>
              </a:spcAft>
              <a:buNone/>
            </a:pPr>
            <a:endParaRPr lang="tr-TR"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tr-TR" dirty="0"/>
          </a:p>
        </p:txBody>
      </p:sp>
      <p:sp>
        <p:nvSpPr>
          <p:cNvPr id="15" name="Metin kutusu 14">
            <a:extLst>
              <a:ext uri="{FF2B5EF4-FFF2-40B4-BE49-F238E27FC236}">
                <a16:creationId xmlns:a16="http://schemas.microsoft.com/office/drawing/2014/main" id="{1C9DD96B-4D67-4A07-B06F-02A49475C87D}"/>
              </a:ext>
            </a:extLst>
          </p:cNvPr>
          <p:cNvSpPr txBox="1"/>
          <p:nvPr/>
        </p:nvSpPr>
        <p:spPr>
          <a:xfrm>
            <a:off x="8691189" y="404664"/>
            <a:ext cx="2592288" cy="369332"/>
          </a:xfrm>
          <a:prstGeom prst="rect">
            <a:avLst/>
          </a:prstGeom>
          <a:noFill/>
        </p:spPr>
        <p:txBody>
          <a:bodyPr wrap="square" rtlCol="0">
            <a:spAutoFit/>
          </a:bodyPr>
          <a:lstStyle/>
          <a:p>
            <a:r>
              <a:rPr lang="tr-TR" sz="1800" b="1" dirty="0">
                <a:latin typeface="Garamond-Bold"/>
              </a:rPr>
              <a:t>Urban </a:t>
            </a:r>
            <a:r>
              <a:rPr lang="tr-TR" sz="1800" b="1" dirty="0" err="1">
                <a:latin typeface="Garamond-Bold"/>
              </a:rPr>
              <a:t>Protected</a:t>
            </a:r>
            <a:r>
              <a:rPr lang="tr-TR" sz="1800" b="1" dirty="0">
                <a:latin typeface="Garamond-Bold"/>
              </a:rPr>
              <a:t> </a:t>
            </a:r>
            <a:r>
              <a:rPr lang="tr-TR" sz="1800" b="1" dirty="0" err="1">
                <a:latin typeface="Garamond-Bold"/>
              </a:rPr>
              <a:t>Areas</a:t>
            </a:r>
            <a:endParaRPr lang="tr-TR" sz="1800" b="1" dirty="0">
              <a:latin typeface="Garamond-Bold"/>
            </a:endParaRPr>
          </a:p>
        </p:txBody>
      </p:sp>
      <p:sp>
        <p:nvSpPr>
          <p:cNvPr id="16" name="Metin kutusu 15">
            <a:extLst>
              <a:ext uri="{FF2B5EF4-FFF2-40B4-BE49-F238E27FC236}">
                <a16:creationId xmlns:a16="http://schemas.microsoft.com/office/drawing/2014/main" id="{976AC046-A91D-4FAF-B89A-7886A709FA77}"/>
              </a:ext>
            </a:extLst>
          </p:cNvPr>
          <p:cNvSpPr txBox="1"/>
          <p:nvPr/>
        </p:nvSpPr>
        <p:spPr>
          <a:xfrm>
            <a:off x="8398668" y="980728"/>
            <a:ext cx="2592288" cy="646331"/>
          </a:xfrm>
          <a:prstGeom prst="rect">
            <a:avLst/>
          </a:prstGeom>
          <a:noFill/>
        </p:spPr>
        <p:txBody>
          <a:bodyPr wrap="square" rtlCol="0">
            <a:spAutoFit/>
          </a:bodyPr>
          <a:lstStyle/>
          <a:p>
            <a:pPr marL="228600" indent="-228600">
              <a:buFont typeface="+mj-lt"/>
              <a:buAutoNum type="arabicPeriod"/>
            </a:pPr>
            <a:r>
              <a:rPr lang="tr-TR" sz="1200" b="1" dirty="0">
                <a:solidFill>
                  <a:srgbClr val="FF0000"/>
                </a:solidFill>
              </a:rPr>
              <a:t>Taraklı-Center</a:t>
            </a:r>
          </a:p>
          <a:p>
            <a:pPr marL="228600" indent="-228600">
              <a:buFont typeface="+mj-lt"/>
              <a:buAutoNum type="arabicPeriod"/>
            </a:pPr>
            <a:endParaRPr lang="tr-TR" sz="1200" b="1" dirty="0">
              <a:solidFill>
                <a:srgbClr val="FF0000"/>
              </a:solidFill>
            </a:endParaRPr>
          </a:p>
          <a:p>
            <a:pPr marL="228600" indent="-228600">
              <a:buFont typeface="+mj-lt"/>
              <a:buAutoNum type="arabicPeriod"/>
            </a:pPr>
            <a:r>
              <a:rPr lang="tr-TR" sz="1200" dirty="0"/>
              <a:t>Center-Uzun </a:t>
            </a:r>
            <a:r>
              <a:rPr lang="tr-TR" sz="1200" dirty="0" err="1"/>
              <a:t>Bazaar</a:t>
            </a:r>
            <a:endParaRPr lang="tr-TR" sz="1200" dirty="0"/>
          </a:p>
        </p:txBody>
      </p:sp>
      <p:sp>
        <p:nvSpPr>
          <p:cNvPr id="17" name="Metin kutusu 16">
            <a:extLst>
              <a:ext uri="{FF2B5EF4-FFF2-40B4-BE49-F238E27FC236}">
                <a16:creationId xmlns:a16="http://schemas.microsoft.com/office/drawing/2014/main" id="{973663EB-F25C-4893-918E-6C22C4AF72D8}"/>
              </a:ext>
            </a:extLst>
          </p:cNvPr>
          <p:cNvSpPr txBox="1"/>
          <p:nvPr/>
        </p:nvSpPr>
        <p:spPr>
          <a:xfrm>
            <a:off x="8691189" y="1906894"/>
            <a:ext cx="2376264" cy="369332"/>
          </a:xfrm>
          <a:prstGeom prst="rect">
            <a:avLst/>
          </a:prstGeom>
          <a:noFill/>
        </p:spPr>
        <p:txBody>
          <a:bodyPr wrap="square" rtlCol="0">
            <a:spAutoFit/>
          </a:bodyPr>
          <a:lstStyle/>
          <a:p>
            <a:r>
              <a:rPr lang="tr-TR" sz="1800" b="1" dirty="0" err="1">
                <a:latin typeface="Garamond-Bold"/>
              </a:rPr>
              <a:t>Health</a:t>
            </a:r>
            <a:r>
              <a:rPr lang="tr-TR" sz="1800" b="1" dirty="0">
                <a:latin typeface="Garamond-Bold"/>
              </a:rPr>
              <a:t> </a:t>
            </a:r>
            <a:r>
              <a:rPr lang="tr-TR" sz="1800" b="1" dirty="0" err="1">
                <a:latin typeface="Garamond-Bold"/>
              </a:rPr>
              <a:t>Tourism</a:t>
            </a:r>
            <a:endParaRPr lang="tr-TR" sz="1800" b="1" dirty="0">
              <a:latin typeface="Garamond-Bold"/>
            </a:endParaRPr>
          </a:p>
        </p:txBody>
      </p:sp>
      <p:sp>
        <p:nvSpPr>
          <p:cNvPr id="18" name="Metin kutusu 17">
            <a:extLst>
              <a:ext uri="{FF2B5EF4-FFF2-40B4-BE49-F238E27FC236}">
                <a16:creationId xmlns:a16="http://schemas.microsoft.com/office/drawing/2014/main" id="{D744253F-A00B-42B8-9965-751B0C0C9495}"/>
              </a:ext>
            </a:extLst>
          </p:cNvPr>
          <p:cNvSpPr txBox="1"/>
          <p:nvPr/>
        </p:nvSpPr>
        <p:spPr>
          <a:xfrm>
            <a:off x="8326660" y="2492896"/>
            <a:ext cx="2884809" cy="646331"/>
          </a:xfrm>
          <a:prstGeom prst="rect">
            <a:avLst/>
          </a:prstGeom>
          <a:noFill/>
        </p:spPr>
        <p:txBody>
          <a:bodyPr wrap="square" rtlCol="0">
            <a:spAutoFit/>
          </a:bodyPr>
          <a:lstStyle/>
          <a:p>
            <a:pPr marL="228600" indent="-228600">
              <a:buFont typeface="+mj-lt"/>
              <a:buAutoNum type="arabicPeriod"/>
            </a:pPr>
            <a:r>
              <a:rPr lang="tr-TR" sz="1200" dirty="0"/>
              <a:t>Kuzuluk </a:t>
            </a:r>
            <a:r>
              <a:rPr lang="tr-TR" sz="1200" dirty="0" err="1"/>
              <a:t>Thermal</a:t>
            </a:r>
            <a:r>
              <a:rPr lang="tr-TR" sz="1200" dirty="0"/>
              <a:t> Springs (Akyazı)</a:t>
            </a:r>
          </a:p>
          <a:p>
            <a:pPr marL="228600" indent="-228600">
              <a:buFont typeface="+mj-lt"/>
              <a:buAutoNum type="arabicPeriod"/>
            </a:pPr>
            <a:endParaRPr lang="tr-TR" sz="1200" dirty="0"/>
          </a:p>
          <a:p>
            <a:pPr marL="228600" indent="-228600">
              <a:buFont typeface="+mj-lt"/>
              <a:buAutoNum type="arabicPeriod"/>
            </a:pPr>
            <a:r>
              <a:rPr lang="tr-TR" sz="1200" b="1" dirty="0">
                <a:solidFill>
                  <a:srgbClr val="FF0000"/>
                </a:solidFill>
              </a:rPr>
              <a:t>Taraklı </a:t>
            </a:r>
            <a:r>
              <a:rPr lang="tr-TR" sz="1200" b="1" dirty="0" err="1">
                <a:solidFill>
                  <a:srgbClr val="FF0000"/>
                </a:solidFill>
              </a:rPr>
              <a:t>Thermal</a:t>
            </a:r>
            <a:r>
              <a:rPr lang="tr-TR" sz="1200" b="1" dirty="0">
                <a:solidFill>
                  <a:srgbClr val="FF0000"/>
                </a:solidFill>
              </a:rPr>
              <a:t> Springs (Taraklı)</a:t>
            </a:r>
          </a:p>
        </p:txBody>
      </p:sp>
      <p:pic>
        <p:nvPicPr>
          <p:cNvPr id="20" name="Resim 19">
            <a:extLst>
              <a:ext uri="{FF2B5EF4-FFF2-40B4-BE49-F238E27FC236}">
                <a16:creationId xmlns:a16="http://schemas.microsoft.com/office/drawing/2014/main" id="{BB2C15C6-E06A-49B5-A720-B053FABF09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10636" y="3836615"/>
            <a:ext cx="3921760" cy="2712265"/>
          </a:xfrm>
          <a:prstGeom prst="rect">
            <a:avLst/>
          </a:prstGeom>
        </p:spPr>
      </p:pic>
    </p:spTree>
    <p:extLst>
      <p:ext uri="{BB962C8B-B14F-4D97-AF65-F5344CB8AC3E}">
        <p14:creationId xmlns:p14="http://schemas.microsoft.com/office/powerpoint/2010/main" val="1130766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CC21CBA-C00B-44A6-A196-8E69B27D61C3}"/>
              </a:ext>
            </a:extLst>
          </p:cNvPr>
          <p:cNvSpPr>
            <a:spLocks noGrp="1"/>
          </p:cNvSpPr>
          <p:nvPr>
            <p:ph type="title"/>
          </p:nvPr>
        </p:nvSpPr>
        <p:spPr>
          <a:xfrm>
            <a:off x="4510237" y="44624"/>
            <a:ext cx="2592288" cy="529801"/>
          </a:xfrm>
        </p:spPr>
        <p:txBody>
          <a:bodyPr>
            <a:normAutofit fontScale="90000"/>
          </a:bodyPr>
          <a:lstStyle/>
          <a:p>
            <a:br>
              <a:rPr lang="tr-TR" dirty="0">
                <a:latin typeface="Calibri" panose="020F0502020204030204" pitchFamily="34" charset="0"/>
                <a:ea typeface="Calibri" panose="020F0502020204030204" pitchFamily="34" charset="0"/>
                <a:cs typeface="Times New Roman" panose="02020603050405020304" pitchFamily="18" charset="0"/>
              </a:rPr>
            </a:br>
            <a:br>
              <a:rPr lang="tr-TR" dirty="0">
                <a:latin typeface="Calibri" panose="020F0502020204030204" pitchFamily="34" charset="0"/>
                <a:ea typeface="Calibri" panose="020F0502020204030204" pitchFamily="34" charset="0"/>
                <a:cs typeface="Times New Roman" panose="02020603050405020304" pitchFamily="18" charset="0"/>
              </a:rPr>
            </a:br>
            <a:r>
              <a:rPr lang="tr-TR" sz="2700" dirty="0">
                <a:latin typeface="Calibri" panose="020F0502020204030204" pitchFamily="34" charset="0"/>
                <a:ea typeface="Calibri" panose="020F0502020204030204" pitchFamily="34" charset="0"/>
                <a:cs typeface="Times New Roman" panose="02020603050405020304" pitchFamily="18" charset="0"/>
              </a:rPr>
              <a:t>TURİSTİK YERLER</a:t>
            </a:r>
            <a:endParaRPr lang="tr-TR" sz="2700" dirty="0"/>
          </a:p>
        </p:txBody>
      </p:sp>
      <p:sp>
        <p:nvSpPr>
          <p:cNvPr id="5" name="Metin kutusu 4">
            <a:extLst>
              <a:ext uri="{FF2B5EF4-FFF2-40B4-BE49-F238E27FC236}">
                <a16:creationId xmlns:a16="http://schemas.microsoft.com/office/drawing/2014/main" id="{FEC3E6ED-B5E4-4FB0-87C1-A8916796CD8B}"/>
              </a:ext>
            </a:extLst>
          </p:cNvPr>
          <p:cNvSpPr txBox="1"/>
          <p:nvPr/>
        </p:nvSpPr>
        <p:spPr>
          <a:xfrm>
            <a:off x="3070076" y="6505599"/>
            <a:ext cx="10657184" cy="307777"/>
          </a:xfrm>
          <a:prstGeom prst="rect">
            <a:avLst/>
          </a:prstGeom>
          <a:noFill/>
        </p:spPr>
        <p:txBody>
          <a:bodyPr wrap="square" rtlCol="0">
            <a:spAutoFit/>
          </a:bodyPr>
          <a:lstStyle/>
          <a:p>
            <a:r>
              <a:rPr lang="tr-TR" sz="1400" dirty="0"/>
              <a:t>https://www.kulturportali.gov.tr/turkiye/sakarya/gezilecekyer</a:t>
            </a:r>
          </a:p>
        </p:txBody>
      </p:sp>
      <p:pic>
        <p:nvPicPr>
          <p:cNvPr id="9" name="İçerik Yer Tutucusu 8">
            <a:extLst>
              <a:ext uri="{FF2B5EF4-FFF2-40B4-BE49-F238E27FC236}">
                <a16:creationId xmlns:a16="http://schemas.microsoft.com/office/drawing/2014/main" id="{20EFA3CE-AB10-4895-B313-B0CF77C7BBE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899792" y="574425"/>
            <a:ext cx="8034600" cy="5936194"/>
          </a:xfrm>
        </p:spPr>
      </p:pic>
    </p:spTree>
    <p:extLst>
      <p:ext uri="{BB962C8B-B14F-4D97-AF65-F5344CB8AC3E}">
        <p14:creationId xmlns:p14="http://schemas.microsoft.com/office/powerpoint/2010/main" val="28502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Resim 5">
            <a:extLst>
              <a:ext uri="{FF2B5EF4-FFF2-40B4-BE49-F238E27FC236}">
                <a16:creationId xmlns:a16="http://schemas.microsoft.com/office/drawing/2014/main" id="{DC7AB06E-F8E2-4A56-A7AA-B783544C3D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096" y="0"/>
            <a:ext cx="9446632" cy="6858000"/>
          </a:xfrm>
          <a:prstGeom prst="rect">
            <a:avLst/>
          </a:prstGeom>
        </p:spPr>
      </p:pic>
    </p:spTree>
    <p:extLst>
      <p:ext uri="{BB962C8B-B14F-4D97-AF65-F5344CB8AC3E}">
        <p14:creationId xmlns:p14="http://schemas.microsoft.com/office/powerpoint/2010/main" val="1889676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C3BBFA57-6991-45E6-A181-53F64262C4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01" y="0"/>
            <a:ext cx="9161623" cy="6858000"/>
          </a:xfrm>
          <a:prstGeom prst="rect">
            <a:avLst/>
          </a:prstGeom>
        </p:spPr>
      </p:pic>
    </p:spTree>
    <p:extLst>
      <p:ext uri="{BB962C8B-B14F-4D97-AF65-F5344CB8AC3E}">
        <p14:creationId xmlns:p14="http://schemas.microsoft.com/office/powerpoint/2010/main" val="2241504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1385426B-8704-4A80-9D6C-2AD27AE534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3709" y="0"/>
            <a:ext cx="9321406" cy="6858000"/>
          </a:xfrm>
          <a:prstGeom prst="rect">
            <a:avLst/>
          </a:prstGeom>
        </p:spPr>
      </p:pic>
    </p:spTree>
    <p:extLst>
      <p:ext uri="{BB962C8B-B14F-4D97-AF65-F5344CB8AC3E}">
        <p14:creationId xmlns:p14="http://schemas.microsoft.com/office/powerpoint/2010/main" val="8143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D7A47A7B-E274-4EE5-B6C4-869E410F36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5124" y="0"/>
            <a:ext cx="9538577" cy="6858000"/>
          </a:xfrm>
          <a:prstGeom prst="rect">
            <a:avLst/>
          </a:prstGeom>
        </p:spPr>
      </p:pic>
    </p:spTree>
    <p:extLst>
      <p:ext uri="{BB962C8B-B14F-4D97-AF65-F5344CB8AC3E}">
        <p14:creationId xmlns:p14="http://schemas.microsoft.com/office/powerpoint/2010/main" val="385382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Yer Tutucusu 2"/>
          <p:cNvSpPr>
            <a:spLocks noGrp="1"/>
          </p:cNvSpPr>
          <p:nvPr>
            <p:ph type="body" idx="1"/>
          </p:nvPr>
        </p:nvSpPr>
        <p:spPr>
          <a:xfrm>
            <a:off x="909836" y="226933"/>
            <a:ext cx="7008574" cy="682235"/>
          </a:xfrm>
        </p:spPr>
        <p:txBody>
          <a:bodyPr rtlCol="0" anchor="t"/>
          <a:lstStyle/>
          <a:p>
            <a:pPr algn="ctr" rtl="0"/>
            <a:r>
              <a:rPr lang="tr-TR" dirty="0"/>
              <a:t>REFERENCE</a:t>
            </a:r>
          </a:p>
          <a:p>
            <a:pPr marL="457200" indent="-457200" rtl="0">
              <a:buFont typeface="Wingdings" panose="05000000000000000000" pitchFamily="2" charset="2"/>
              <a:buChar char="§"/>
            </a:pPr>
            <a:endParaRPr lang="tr-TR" dirty="0"/>
          </a:p>
          <a:p>
            <a:pPr rtl="0"/>
            <a:endParaRPr lang="tr-TR" dirty="0"/>
          </a:p>
          <a:p>
            <a:pPr rtl="0"/>
            <a:endParaRPr lang="tr-TR" dirty="0"/>
          </a:p>
          <a:p>
            <a:pPr rtl="0"/>
            <a:endParaRPr lang="en-US" dirty="0"/>
          </a:p>
        </p:txBody>
      </p:sp>
      <p:pic>
        <p:nvPicPr>
          <p:cNvPr id="4" name="İçerik Yer Tutucusu 8">
            <a:extLst>
              <a:ext uri="{FF2B5EF4-FFF2-40B4-BE49-F238E27FC236}">
                <a16:creationId xmlns:a16="http://schemas.microsoft.com/office/drawing/2014/main" id="{BDA04340-073C-4C7C-AD0A-271DDC72A6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4148" y="2051347"/>
            <a:ext cx="4447502" cy="3259361"/>
          </a:xfrm>
          <a:prstGeom prst="rect">
            <a:avLst/>
          </a:prstGeom>
        </p:spPr>
      </p:pic>
      <p:pic>
        <p:nvPicPr>
          <p:cNvPr id="5" name="İçerik Yer Tutucusu 10">
            <a:extLst>
              <a:ext uri="{FF2B5EF4-FFF2-40B4-BE49-F238E27FC236}">
                <a16:creationId xmlns:a16="http://schemas.microsoft.com/office/drawing/2014/main" id="{959DE8B7-E62E-4295-BDF0-F0E1098466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98268" y="2051347"/>
            <a:ext cx="3823070" cy="3312368"/>
          </a:xfrm>
          <a:prstGeom prst="rect">
            <a:avLst/>
          </a:prstGeom>
        </p:spPr>
      </p:pic>
      <p:sp>
        <p:nvSpPr>
          <p:cNvPr id="6" name="Metin Yer Tutucusu 3">
            <a:extLst>
              <a:ext uri="{FF2B5EF4-FFF2-40B4-BE49-F238E27FC236}">
                <a16:creationId xmlns:a16="http://schemas.microsoft.com/office/drawing/2014/main" id="{6154F6BE-BAB8-4E7A-8572-3254B8252452}"/>
              </a:ext>
            </a:extLst>
          </p:cNvPr>
          <p:cNvSpPr txBox="1">
            <a:spLocks/>
          </p:cNvSpPr>
          <p:nvPr/>
        </p:nvSpPr>
        <p:spPr>
          <a:xfrm>
            <a:off x="2397899" y="1321285"/>
            <a:ext cx="3888432" cy="452013"/>
          </a:xfrm>
          <a:prstGeom prst="rect">
            <a:avLst/>
          </a:prstGeom>
        </p:spPr>
        <p:txBody>
          <a:bodyPr vert="horz" lIns="121899" tIns="60949" rIns="121899" bIns="60949" rtlCol="0" anchor="b">
            <a:normAutofit fontScale="92500" lnSpcReduction="20000"/>
          </a:bodyPr>
          <a:lstStyle>
            <a:lvl1pPr marL="0" indent="0" algn="l" defTabSz="1218987" rtl="0" eaLnBrk="1" latinLnBrk="0" hangingPunct="1">
              <a:lnSpc>
                <a:spcPct val="95000"/>
              </a:lnSpc>
              <a:spcBef>
                <a:spcPts val="0"/>
              </a:spcBef>
              <a:buSzPct val="100000"/>
              <a:buFont typeface="Arial" pitchFamily="34" charset="0"/>
              <a:buNone/>
              <a:defRPr sz="2800" kern="1200">
                <a:solidFill>
                  <a:schemeClr val="tx1"/>
                </a:solidFill>
                <a:latin typeface="+mn-lt"/>
                <a:ea typeface="+mn-ea"/>
                <a:cs typeface="+mn-cs"/>
              </a:defRPr>
            </a:lvl1pPr>
            <a:lvl2pPr marL="609493" indent="0" algn="l" defTabSz="1218987" rtl="0" eaLnBrk="1" latinLnBrk="0" hangingPunct="1">
              <a:lnSpc>
                <a:spcPct val="95000"/>
              </a:lnSpc>
              <a:spcBef>
                <a:spcPts val="1066"/>
              </a:spcBef>
              <a:buSzPct val="100000"/>
              <a:buFont typeface="Century Gothic" pitchFamily="34" charset="0"/>
              <a:buNone/>
              <a:defRPr sz="2400" kern="1200">
                <a:solidFill>
                  <a:schemeClr val="tx1">
                    <a:tint val="75000"/>
                  </a:schemeClr>
                </a:solidFill>
                <a:latin typeface="+mn-lt"/>
                <a:ea typeface="+mn-ea"/>
                <a:cs typeface="+mn-cs"/>
              </a:defRPr>
            </a:lvl2pPr>
            <a:lvl3pPr marL="1218987" indent="0" algn="l" defTabSz="1218987" rtl="0" eaLnBrk="1" latinLnBrk="0" hangingPunct="1">
              <a:lnSpc>
                <a:spcPct val="95000"/>
              </a:lnSpc>
              <a:spcBef>
                <a:spcPts val="1066"/>
              </a:spcBef>
              <a:buSzPct val="100000"/>
              <a:buFont typeface="Century Gothic" pitchFamily="34" charset="0"/>
              <a:buNone/>
              <a:defRPr sz="2100" kern="1200">
                <a:solidFill>
                  <a:schemeClr val="tx1">
                    <a:tint val="75000"/>
                  </a:schemeClr>
                </a:solidFill>
                <a:latin typeface="+mn-lt"/>
                <a:ea typeface="+mn-ea"/>
                <a:cs typeface="+mn-cs"/>
              </a:defRPr>
            </a:lvl3pPr>
            <a:lvl4pPr marL="1828480" indent="0" algn="l" defTabSz="1218987" rtl="0" eaLnBrk="1" latinLnBrk="0" hangingPunct="1">
              <a:lnSpc>
                <a:spcPct val="95000"/>
              </a:lnSpc>
              <a:spcBef>
                <a:spcPts val="1066"/>
              </a:spcBef>
              <a:buSzPct val="100000"/>
              <a:buFont typeface="Century Gothic" pitchFamily="34" charset="0"/>
              <a:buNone/>
              <a:defRPr sz="1900" kern="1200">
                <a:solidFill>
                  <a:schemeClr val="tx1">
                    <a:tint val="75000"/>
                  </a:schemeClr>
                </a:solidFill>
                <a:latin typeface="+mn-lt"/>
                <a:ea typeface="+mn-ea"/>
                <a:cs typeface="+mn-cs"/>
              </a:defRPr>
            </a:lvl4pPr>
            <a:lvl5pPr marL="2437973" indent="0" algn="l" defTabSz="1218987" rtl="0" eaLnBrk="1" latinLnBrk="0" hangingPunct="1">
              <a:lnSpc>
                <a:spcPct val="95000"/>
              </a:lnSpc>
              <a:spcBef>
                <a:spcPts val="1066"/>
              </a:spcBef>
              <a:buSzPct val="100000"/>
              <a:buFont typeface="Century Gothic" pitchFamily="34" charset="0"/>
              <a:buNone/>
              <a:defRPr sz="1900" kern="1200">
                <a:solidFill>
                  <a:schemeClr val="tx1">
                    <a:tint val="75000"/>
                  </a:schemeClr>
                </a:solidFill>
                <a:latin typeface="+mn-lt"/>
                <a:ea typeface="+mn-ea"/>
                <a:cs typeface="+mn-cs"/>
              </a:defRPr>
            </a:lvl5pPr>
            <a:lvl6pPr marL="3047467" indent="0" algn="l" defTabSz="1218987" rtl="0" eaLnBrk="1" latinLnBrk="0" hangingPunct="1">
              <a:lnSpc>
                <a:spcPct val="95000"/>
              </a:lnSpc>
              <a:spcBef>
                <a:spcPts val="1066"/>
              </a:spcBef>
              <a:buSzPct val="90000"/>
              <a:buFont typeface="Century Gothic" pitchFamily="34" charset="0"/>
              <a:buNone/>
              <a:defRPr sz="1900" kern="1200">
                <a:solidFill>
                  <a:schemeClr val="tx1">
                    <a:tint val="75000"/>
                  </a:schemeClr>
                </a:solidFill>
                <a:latin typeface="+mn-lt"/>
                <a:ea typeface="+mn-ea"/>
                <a:cs typeface="+mn-cs"/>
              </a:defRPr>
            </a:lvl6pPr>
            <a:lvl7pPr marL="3656960" indent="0" algn="l" defTabSz="1218987" rtl="0" eaLnBrk="1" latinLnBrk="0" hangingPunct="1">
              <a:lnSpc>
                <a:spcPct val="95000"/>
              </a:lnSpc>
              <a:spcBef>
                <a:spcPts val="1066"/>
              </a:spcBef>
              <a:buSzPct val="90000"/>
              <a:buFont typeface="Century Gothic" pitchFamily="34" charset="0"/>
              <a:buNone/>
              <a:defRPr sz="1900" kern="1200">
                <a:solidFill>
                  <a:schemeClr val="tx1">
                    <a:tint val="75000"/>
                  </a:schemeClr>
                </a:solidFill>
                <a:latin typeface="+mn-lt"/>
                <a:ea typeface="+mn-ea"/>
                <a:cs typeface="+mn-cs"/>
              </a:defRPr>
            </a:lvl7pPr>
            <a:lvl8pPr marL="4266453" indent="0" algn="l" defTabSz="1218987" rtl="0" eaLnBrk="1" latinLnBrk="0" hangingPunct="1">
              <a:lnSpc>
                <a:spcPct val="95000"/>
              </a:lnSpc>
              <a:spcBef>
                <a:spcPts val="1066"/>
              </a:spcBef>
              <a:buSzPct val="90000"/>
              <a:buFont typeface="Century Gothic" pitchFamily="34" charset="0"/>
              <a:buNone/>
              <a:defRPr sz="1900" kern="1200">
                <a:solidFill>
                  <a:schemeClr val="tx1">
                    <a:tint val="75000"/>
                  </a:schemeClr>
                </a:solidFill>
                <a:latin typeface="+mn-lt"/>
                <a:ea typeface="+mn-ea"/>
                <a:cs typeface="+mn-cs"/>
              </a:defRPr>
            </a:lvl8pPr>
            <a:lvl9pPr marL="4875947" indent="0" algn="l" defTabSz="1218987" rtl="0" eaLnBrk="1" latinLnBrk="0" hangingPunct="1">
              <a:lnSpc>
                <a:spcPct val="95000"/>
              </a:lnSpc>
              <a:spcBef>
                <a:spcPts val="1066"/>
              </a:spcBef>
              <a:buSzPct val="90000"/>
              <a:buFont typeface="Century Gothic" pitchFamily="34" charset="0"/>
              <a:buNone/>
              <a:defRPr sz="1900" kern="1200">
                <a:solidFill>
                  <a:schemeClr val="tx1">
                    <a:tint val="75000"/>
                  </a:schemeClr>
                </a:solidFill>
                <a:latin typeface="+mn-lt"/>
                <a:ea typeface="+mn-ea"/>
                <a:cs typeface="+mn-cs"/>
              </a:defRPr>
            </a:lvl9pPr>
          </a:lstStyle>
          <a:p>
            <a:r>
              <a:rPr lang="tr-TR" dirty="0"/>
              <a:t>        </a:t>
            </a:r>
            <a:r>
              <a:rPr lang="tr-TR" b="1" dirty="0"/>
              <a:t>SAKARYA BOOK</a:t>
            </a:r>
          </a:p>
        </p:txBody>
      </p:sp>
      <p:sp>
        <p:nvSpPr>
          <p:cNvPr id="7" name="Metin Yer Tutucusu 5">
            <a:extLst>
              <a:ext uri="{FF2B5EF4-FFF2-40B4-BE49-F238E27FC236}">
                <a16:creationId xmlns:a16="http://schemas.microsoft.com/office/drawing/2014/main" id="{E870AECB-15B5-4185-9365-82516B333E42}"/>
              </a:ext>
            </a:extLst>
          </p:cNvPr>
          <p:cNvSpPr txBox="1">
            <a:spLocks/>
          </p:cNvSpPr>
          <p:nvPr/>
        </p:nvSpPr>
        <p:spPr>
          <a:xfrm>
            <a:off x="1735276" y="5810555"/>
            <a:ext cx="5544616" cy="479394"/>
          </a:xfrm>
          <a:prstGeom prst="rect">
            <a:avLst/>
          </a:prstGeom>
        </p:spPr>
        <p:txBody>
          <a:bodyPr/>
          <a:lstStyle>
            <a:lvl1pPr marL="304747" indent="-304747" algn="l" defTabSz="1218987" rtl="0" eaLnBrk="1" latinLnBrk="0" hangingPunct="1">
              <a:lnSpc>
                <a:spcPct val="95000"/>
              </a:lnSpc>
              <a:spcBef>
                <a:spcPts val="1866"/>
              </a:spcBef>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5pPr>
            <a:lvl6pPr marL="2437973"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6pPr>
            <a:lvl7pPr marL="2864619"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7pPr>
            <a:lvl8pPr marL="3291264"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8pPr>
            <a:lvl9pPr marL="3778859"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9pPr>
          </a:lstStyle>
          <a:p>
            <a:pPr marL="0" indent="0">
              <a:buNone/>
            </a:pPr>
            <a:r>
              <a:rPr lang="tr-TR" sz="1400" dirty="0"/>
              <a:t>https://acikerisim.sakarya.edu.tr/handle/20.500.12619/96335</a:t>
            </a:r>
          </a:p>
        </p:txBody>
      </p:sp>
    </p:spTree>
    <p:extLst>
      <p:ext uri="{BB962C8B-B14F-4D97-AF65-F5344CB8AC3E}">
        <p14:creationId xmlns:p14="http://schemas.microsoft.com/office/powerpoint/2010/main" val="1997697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itaplar 16 x 9">
  <a:themeElements>
    <a:clrScheme name="Books_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extLst>
    <a:ext uri="{05A4C25C-085E-4340-85A3-A5531E510DB2}">
      <thm15:themeFamily xmlns:thm15="http://schemas.microsoft.com/office/thememl/2012/main" name="Office_9412019_TF02787940_TF02787940.potx" id="{28172E8D-EAD7-4AC2-8B44-6816FF20E00E}" vid="{89738596-E4E7-4B62-90A4-7590996B647A}"/>
    </a:ext>
  </a:extLst>
</a:theme>
</file>

<file path=ppt/theme/theme2.xml><?xml version="1.0" encoding="utf-8"?>
<a:theme xmlns:a="http://schemas.openxmlformats.org/drawingml/2006/main" name="Office Teması">
  <a:themeElements>
    <a:clrScheme name="Books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theme>
</file>

<file path=ppt/theme/theme3.xml><?xml version="1.0" encoding="utf-8"?>
<a:theme xmlns:a="http://schemas.openxmlformats.org/drawingml/2006/main" name="Office Teması">
  <a:themeElements>
    <a:clrScheme name="Books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1345039</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The bookstacks present on most slides  make this a good choice for students, teachers, reading enthusiasts, and others in education. This presentation template contains multiple slide layouts in widescreen format (16x9) and includes a sample table and chart that you can easily  modify.</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2011-11-26T00:00:00+00:00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AssetExpire xmlns="4873beb7-5857-4685-be1f-d57550cc96cc">2029-05-12T07:00:00+00:00</AssetExpire>
    <DSATActionTaken xmlns="4873beb7-5857-4685-be1f-d57550cc96cc" xsi:nil="true"/>
    <CSXSubmissionMarket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TP102787939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694216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LocMarketGroupTiers2 xmlns="4873beb7-5857-4685-be1f-d57550cc96cc" xsi:nil="true"/>
  </documentManagement>
</p:properties>
</file>

<file path=customXml/itemProps1.xml><?xml version="1.0" encoding="utf-8"?>
<ds:datastoreItem xmlns:ds="http://schemas.openxmlformats.org/officeDocument/2006/customXml" ds:itemID="{BBB5C329-08A6-4E5E-AEF1-A97828C874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1B558C7-619B-49BE-9097-7FCBDADD4ECE}">
  <ds:schemaRefs>
    <ds:schemaRef ds:uri="http://schemas.microsoft.com/sharepoint/v3/contenttype/forms"/>
  </ds:schemaRefs>
</ds:datastoreItem>
</file>

<file path=customXml/itemProps3.xml><?xml version="1.0" encoding="utf-8"?>
<ds:datastoreItem xmlns:ds="http://schemas.openxmlformats.org/officeDocument/2006/customXml" ds:itemID="{F301D382-32B0-43EE-932C-28906AF37617}">
  <ds:schemaRefs>
    <ds:schemaRef ds:uri="http://schemas.microsoft.com/office/2006/metadata/properties"/>
    <ds:schemaRef ds:uri="http://schemas.microsoft.com/office/infopath/2007/PartnerControls"/>
    <ds:schemaRef ds:uri="4873beb7-5857-4685-be1f-d57550cc96cc"/>
  </ds:schemaRefs>
</ds:datastoreItem>
</file>

<file path=docProps/app.xml><?xml version="1.0" encoding="utf-8"?>
<Properties xmlns="http://schemas.openxmlformats.org/officeDocument/2006/extended-properties" xmlns:vt="http://schemas.openxmlformats.org/officeDocument/2006/docPropsVTypes">
  <Template>Mavi kitap yığını sunusu (geniş ekran)</Template>
  <TotalTime>1247</TotalTime>
  <Words>4740</Words>
  <Application>Microsoft Office PowerPoint</Application>
  <PresentationFormat>Özel</PresentationFormat>
  <Paragraphs>145</Paragraphs>
  <Slides>34</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34</vt:i4>
      </vt:variant>
    </vt:vector>
  </HeadingPairs>
  <TitlesOfParts>
    <vt:vector size="41" baseType="lpstr">
      <vt:lpstr>Arial</vt:lpstr>
      <vt:lpstr>Calibri</vt:lpstr>
      <vt:lpstr>Century Gothic</vt:lpstr>
      <vt:lpstr>Garamond</vt:lpstr>
      <vt:lpstr>Garamond-Bold</vt:lpstr>
      <vt:lpstr>Wingdings</vt:lpstr>
      <vt:lpstr>Kitaplar 16 x 9</vt:lpstr>
      <vt:lpstr>Introduction to University Life</vt:lpstr>
      <vt:lpstr>Geography of Sakarya Province</vt:lpstr>
      <vt:lpstr>PowerPoint Sunusu</vt:lpstr>
      <vt:lpstr>            Sakarya İlinin Tektonik Yapısı</vt:lpstr>
      <vt:lpstr>Morphology</vt:lpstr>
      <vt:lpstr>    CLIMATE</vt:lpstr>
      <vt:lpstr>PRECIPITATION</vt:lpstr>
      <vt:lpstr>HYDROGRAPHY </vt:lpstr>
      <vt:lpstr>LAKES </vt:lpstr>
      <vt:lpstr>              VEGETATION</vt:lpstr>
      <vt:lpstr>POPULATION</vt:lpstr>
      <vt:lpstr>PowerPoint Sunusu</vt:lpstr>
      <vt:lpstr>PowerPoint Sunusu</vt:lpstr>
      <vt:lpstr>PowerPoint Sunusu</vt:lpstr>
      <vt:lpstr> SETTLEMENT GEOGRAPHY</vt:lpstr>
      <vt:lpstr>PowerPoint Sunusu</vt:lpstr>
      <vt:lpstr>PowerPoint Sunusu</vt:lpstr>
      <vt:lpstr>PowerPoint Sunusu</vt:lpstr>
      <vt:lpstr> AGRICULTURE</vt:lpstr>
      <vt:lpstr> INDUSTRY</vt:lpstr>
      <vt:lpstr>PowerPoint Sunusu</vt:lpstr>
      <vt:lpstr>PowerPoint Sunusu</vt:lpstr>
      <vt:lpstr>PowerPoint Sunusu</vt:lpstr>
      <vt:lpstr>PowerPoint Sunusu</vt:lpstr>
      <vt:lpstr>TRANSPORT</vt:lpstr>
      <vt:lpstr>TOURISM</vt:lpstr>
      <vt:lpstr> </vt:lpstr>
      <vt:lpstr>PowerPoint Sunusu</vt:lpstr>
      <vt:lpstr>  TURİSTİK YERLER</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Üniversite Yaşamına Giriş</dc:title>
  <dc:creator>Betül Düşünceli</dc:creator>
  <cp:lastModifiedBy>Merve Gülbahar</cp:lastModifiedBy>
  <cp:revision>70</cp:revision>
  <dcterms:created xsi:type="dcterms:W3CDTF">2023-07-24T07:52:00Z</dcterms:created>
  <dcterms:modified xsi:type="dcterms:W3CDTF">2024-10-30T08:11:17Z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