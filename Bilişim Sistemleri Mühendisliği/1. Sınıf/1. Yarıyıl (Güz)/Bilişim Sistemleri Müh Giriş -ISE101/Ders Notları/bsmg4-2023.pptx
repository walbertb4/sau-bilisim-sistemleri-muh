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9144000" cy="6858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2241"/>
  </p:normalViewPr>
  <p:slideViewPr>
    <p:cSldViewPr>
      <p:cViewPr varScale="1">
        <p:scale>
          <a:sx n="52" d="100"/>
          <a:sy n="52" d="100"/>
        </p:scale>
        <p:origin x="80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761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447" y="5715000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39">
                <a:moveTo>
                  <a:pt x="274320" y="0"/>
                </a:moveTo>
                <a:lnTo>
                  <a:pt x="225008" y="4419"/>
                </a:lnTo>
                <a:lnTo>
                  <a:pt x="178597" y="17162"/>
                </a:lnTo>
                <a:lnTo>
                  <a:pt x="135861" y="37453"/>
                </a:lnTo>
                <a:lnTo>
                  <a:pt x="97575" y="64518"/>
                </a:lnTo>
                <a:lnTo>
                  <a:pt x="64513" y="97580"/>
                </a:lnTo>
                <a:lnTo>
                  <a:pt x="37450" y="135867"/>
                </a:lnTo>
                <a:lnTo>
                  <a:pt x="17161" y="178602"/>
                </a:lnTo>
                <a:lnTo>
                  <a:pt x="4419" y="225011"/>
                </a:lnTo>
                <a:lnTo>
                  <a:pt x="0" y="274319"/>
                </a:lnTo>
                <a:lnTo>
                  <a:pt x="4419" y="323628"/>
                </a:lnTo>
                <a:lnTo>
                  <a:pt x="17161" y="370037"/>
                </a:lnTo>
                <a:lnTo>
                  <a:pt x="37450" y="412772"/>
                </a:lnTo>
                <a:lnTo>
                  <a:pt x="64513" y="451059"/>
                </a:lnTo>
                <a:lnTo>
                  <a:pt x="97575" y="484121"/>
                </a:lnTo>
                <a:lnTo>
                  <a:pt x="135861" y="511186"/>
                </a:lnTo>
                <a:lnTo>
                  <a:pt x="178597" y="531477"/>
                </a:lnTo>
                <a:lnTo>
                  <a:pt x="225008" y="544220"/>
                </a:lnTo>
                <a:lnTo>
                  <a:pt x="274320" y="548640"/>
                </a:lnTo>
                <a:lnTo>
                  <a:pt x="323631" y="544220"/>
                </a:lnTo>
                <a:lnTo>
                  <a:pt x="370042" y="531477"/>
                </a:lnTo>
                <a:lnTo>
                  <a:pt x="412778" y="511186"/>
                </a:lnTo>
                <a:lnTo>
                  <a:pt x="451064" y="484121"/>
                </a:lnTo>
                <a:lnTo>
                  <a:pt x="484126" y="451059"/>
                </a:lnTo>
                <a:lnTo>
                  <a:pt x="511189" y="412772"/>
                </a:lnTo>
                <a:lnTo>
                  <a:pt x="531478" y="370037"/>
                </a:lnTo>
                <a:lnTo>
                  <a:pt x="544220" y="323628"/>
                </a:lnTo>
                <a:lnTo>
                  <a:pt x="548640" y="274319"/>
                </a:lnTo>
                <a:lnTo>
                  <a:pt x="544220" y="225011"/>
                </a:lnTo>
                <a:lnTo>
                  <a:pt x="531478" y="178602"/>
                </a:lnTo>
                <a:lnTo>
                  <a:pt x="511189" y="135867"/>
                </a:lnTo>
                <a:lnTo>
                  <a:pt x="484126" y="97580"/>
                </a:lnTo>
                <a:lnTo>
                  <a:pt x="451064" y="64518"/>
                </a:lnTo>
                <a:lnTo>
                  <a:pt x="412778" y="37453"/>
                </a:lnTo>
                <a:lnTo>
                  <a:pt x="370042" y="17162"/>
                </a:lnTo>
                <a:lnTo>
                  <a:pt x="323631" y="4419"/>
                </a:lnTo>
                <a:lnTo>
                  <a:pt x="27432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795654"/>
            <a:ext cx="807211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1692" y="1800483"/>
            <a:ext cx="7802245" cy="393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97291" y="5887440"/>
            <a:ext cx="274320" cy="224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14.pn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66.png"/><Relationship Id="rId7" Type="http://schemas.openxmlformats.org/officeDocument/2006/relationships/image" Target="../media/image6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1.jpg"/><Relationship Id="rId5" Type="http://schemas.openxmlformats.org/officeDocument/2006/relationships/image" Target="../media/image67.png"/><Relationship Id="rId10" Type="http://schemas.openxmlformats.org/officeDocument/2006/relationships/image" Target="../media/image70.png"/><Relationship Id="rId4" Type="http://schemas.openxmlformats.org/officeDocument/2006/relationships/image" Target="../media/image59.png"/><Relationship Id="rId9" Type="http://schemas.openxmlformats.org/officeDocument/2006/relationships/image" Target="../media/image69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12" Type="http://schemas.openxmlformats.org/officeDocument/2006/relationships/image" Target="../media/image80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4" Type="http://schemas.openxmlformats.org/officeDocument/2006/relationships/image" Target="../media/image59.png"/><Relationship Id="rId9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81.png"/><Relationship Id="rId7" Type="http://schemas.openxmlformats.org/officeDocument/2006/relationships/image" Target="../media/image6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81.png"/><Relationship Id="rId7" Type="http://schemas.openxmlformats.org/officeDocument/2006/relationships/image" Target="../media/image6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6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87.png"/><Relationship Id="rId7" Type="http://schemas.openxmlformats.org/officeDocument/2006/relationships/image" Target="../media/image6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14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3865" cy="6858000"/>
          </a:xfrm>
          <a:custGeom>
            <a:avLst/>
            <a:gdLst/>
            <a:ahLst/>
            <a:cxnLst/>
            <a:rect l="l" t="t" r="r" b="b"/>
            <a:pathLst>
              <a:path w="443865" h="6858000">
                <a:moveTo>
                  <a:pt x="0" y="6858000"/>
                </a:moveTo>
                <a:lnTo>
                  <a:pt x="443865" y="6858000"/>
                </a:lnTo>
                <a:lnTo>
                  <a:pt x="44386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014" y="0"/>
            <a:ext cx="3810" cy="6858000"/>
          </a:xfrm>
          <a:custGeom>
            <a:avLst/>
            <a:gdLst/>
            <a:ahLst/>
            <a:cxnLst/>
            <a:rect l="l" t="t" r="r" b="b"/>
            <a:pathLst>
              <a:path w="3809" h="6858000">
                <a:moveTo>
                  <a:pt x="0" y="6858000"/>
                </a:moveTo>
                <a:lnTo>
                  <a:pt x="3809" y="6858000"/>
                </a:lnTo>
                <a:lnTo>
                  <a:pt x="380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843" y="0"/>
            <a:ext cx="105410" cy="6858000"/>
          </a:xfrm>
          <a:custGeom>
            <a:avLst/>
            <a:gdLst/>
            <a:ahLst/>
            <a:cxnLst/>
            <a:rect l="l" t="t" r="r" b="b"/>
            <a:pathLst>
              <a:path w="105410" h="6858000">
                <a:moveTo>
                  <a:pt x="105156" y="0"/>
                </a:moveTo>
                <a:lnTo>
                  <a:pt x="0" y="0"/>
                </a:lnTo>
                <a:lnTo>
                  <a:pt x="0" y="6858000"/>
                </a:lnTo>
                <a:lnTo>
                  <a:pt x="105156" y="6858000"/>
                </a:lnTo>
                <a:lnTo>
                  <a:pt x="105156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1610" cy="6858000"/>
            </a:xfrm>
            <a:custGeom>
              <a:avLst/>
              <a:gdLst/>
              <a:ahLst/>
              <a:cxnLst/>
              <a:rect l="l" t="t" r="r" b="b"/>
              <a:pathLst>
                <a:path w="181609" h="6858000">
                  <a:moveTo>
                    <a:pt x="18135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1356" y="6858000"/>
                  </a:lnTo>
                  <a:lnTo>
                    <a:pt x="181356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476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12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124" y="6858000"/>
                  </a:lnTo>
                  <a:lnTo>
                    <a:pt x="230124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67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4864" y="0"/>
            <a:ext cx="118110" cy="6858000"/>
            <a:chOff x="824864" y="0"/>
            <a:chExt cx="118110" cy="6858000"/>
          </a:xfrm>
        </p:grpSpPr>
        <p:sp>
          <p:nvSpPr>
            <p:cNvPr id="11" name="object 11"/>
            <p:cNvSpPr/>
            <p:nvPr/>
          </p:nvSpPr>
          <p:spPr>
            <a:xfrm>
              <a:off x="91439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3439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7454" y="761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494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1160" cy="6858000"/>
            <a:chOff x="609600" y="0"/>
            <a:chExt cx="1661160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9000"/>
              <a:ext cx="1341120" cy="2078989"/>
            </a:xfrm>
            <a:custGeom>
              <a:avLst/>
              <a:gdLst/>
              <a:ahLst/>
              <a:cxnLst/>
              <a:rect l="l" t="t" r="r" b="b"/>
              <a:pathLst>
                <a:path w="1341120" h="2078989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120" h="2078989">
                  <a:moveTo>
                    <a:pt x="1341120" y="1757934"/>
                  </a:moveTo>
                  <a:lnTo>
                    <a:pt x="1337640" y="1710537"/>
                  </a:lnTo>
                  <a:lnTo>
                    <a:pt x="1327531" y="1665287"/>
                  </a:lnTo>
                  <a:lnTo>
                    <a:pt x="1311300" y="1622704"/>
                  </a:lnTo>
                  <a:lnTo>
                    <a:pt x="1289431" y="1583258"/>
                  </a:lnTo>
                  <a:lnTo>
                    <a:pt x="1262418" y="1547469"/>
                  </a:lnTo>
                  <a:lnTo>
                    <a:pt x="1230782" y="1515833"/>
                  </a:lnTo>
                  <a:lnTo>
                    <a:pt x="1194993" y="1488821"/>
                  </a:lnTo>
                  <a:lnTo>
                    <a:pt x="1155547" y="1466951"/>
                  </a:lnTo>
                  <a:lnTo>
                    <a:pt x="1112964" y="1450721"/>
                  </a:lnTo>
                  <a:lnTo>
                    <a:pt x="1067714" y="1440611"/>
                  </a:lnTo>
                  <a:lnTo>
                    <a:pt x="1020318" y="1437132"/>
                  </a:lnTo>
                  <a:lnTo>
                    <a:pt x="972908" y="1440611"/>
                  </a:lnTo>
                  <a:lnTo>
                    <a:pt x="927658" y="1450721"/>
                  </a:lnTo>
                  <a:lnTo>
                    <a:pt x="885075" y="1466951"/>
                  </a:lnTo>
                  <a:lnTo>
                    <a:pt x="845629" y="1488821"/>
                  </a:lnTo>
                  <a:lnTo>
                    <a:pt x="809840" y="1515833"/>
                  </a:lnTo>
                  <a:lnTo>
                    <a:pt x="778205" y="1547469"/>
                  </a:lnTo>
                  <a:lnTo>
                    <a:pt x="751192" y="1583258"/>
                  </a:lnTo>
                  <a:lnTo>
                    <a:pt x="729322" y="1622704"/>
                  </a:lnTo>
                  <a:lnTo>
                    <a:pt x="713092" y="1665287"/>
                  </a:lnTo>
                  <a:lnTo>
                    <a:pt x="702983" y="1710537"/>
                  </a:lnTo>
                  <a:lnTo>
                    <a:pt x="699516" y="1757934"/>
                  </a:lnTo>
                  <a:lnTo>
                    <a:pt x="702983" y="1805343"/>
                  </a:lnTo>
                  <a:lnTo>
                    <a:pt x="713092" y="1850593"/>
                  </a:lnTo>
                  <a:lnTo>
                    <a:pt x="729322" y="1893176"/>
                  </a:lnTo>
                  <a:lnTo>
                    <a:pt x="751192" y="1932622"/>
                  </a:lnTo>
                  <a:lnTo>
                    <a:pt x="778205" y="1968411"/>
                  </a:lnTo>
                  <a:lnTo>
                    <a:pt x="809840" y="2000046"/>
                  </a:lnTo>
                  <a:lnTo>
                    <a:pt x="845629" y="2027059"/>
                  </a:lnTo>
                  <a:lnTo>
                    <a:pt x="885075" y="2048929"/>
                  </a:lnTo>
                  <a:lnTo>
                    <a:pt x="927658" y="2065159"/>
                  </a:lnTo>
                  <a:lnTo>
                    <a:pt x="972908" y="2075268"/>
                  </a:lnTo>
                  <a:lnTo>
                    <a:pt x="1020318" y="2078736"/>
                  </a:lnTo>
                  <a:lnTo>
                    <a:pt x="1067714" y="2075268"/>
                  </a:lnTo>
                  <a:lnTo>
                    <a:pt x="1112964" y="2065159"/>
                  </a:lnTo>
                  <a:lnTo>
                    <a:pt x="1155547" y="2048929"/>
                  </a:lnTo>
                  <a:lnTo>
                    <a:pt x="1194993" y="2027059"/>
                  </a:lnTo>
                  <a:lnTo>
                    <a:pt x="1230782" y="2000046"/>
                  </a:lnTo>
                  <a:lnTo>
                    <a:pt x="1262418" y="1968411"/>
                  </a:lnTo>
                  <a:lnTo>
                    <a:pt x="1289431" y="1932622"/>
                  </a:lnTo>
                  <a:lnTo>
                    <a:pt x="1311300" y="1893176"/>
                  </a:lnTo>
                  <a:lnTo>
                    <a:pt x="1327531" y="1850593"/>
                  </a:lnTo>
                  <a:lnTo>
                    <a:pt x="1337640" y="1805343"/>
                  </a:lnTo>
                  <a:lnTo>
                    <a:pt x="1341120" y="1757934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1183" y="5500115"/>
              <a:ext cx="137159" cy="13715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4195" y="4495800"/>
              <a:ext cx="607060" cy="1567180"/>
            </a:xfrm>
            <a:custGeom>
              <a:avLst/>
              <a:gdLst/>
              <a:ahLst/>
              <a:cxnLst/>
              <a:rect l="l" t="t" r="r" b="b"/>
              <a:pathLst>
                <a:path w="607060" h="1567179">
                  <a:moveTo>
                    <a:pt x="274332" y="1429512"/>
                  </a:moveTo>
                  <a:lnTo>
                    <a:pt x="267322" y="1386166"/>
                  </a:lnTo>
                  <a:lnTo>
                    <a:pt x="247840" y="1348511"/>
                  </a:lnTo>
                  <a:lnTo>
                    <a:pt x="218147" y="1318818"/>
                  </a:lnTo>
                  <a:lnTo>
                    <a:pt x="180492" y="1299349"/>
                  </a:lnTo>
                  <a:lnTo>
                    <a:pt x="137172" y="1292352"/>
                  </a:lnTo>
                  <a:lnTo>
                    <a:pt x="93840" y="1299349"/>
                  </a:lnTo>
                  <a:lnTo>
                    <a:pt x="56184" y="1318818"/>
                  </a:lnTo>
                  <a:lnTo>
                    <a:pt x="26492" y="1348511"/>
                  </a:lnTo>
                  <a:lnTo>
                    <a:pt x="7010" y="1386166"/>
                  </a:lnTo>
                  <a:lnTo>
                    <a:pt x="0" y="1429512"/>
                  </a:lnTo>
                  <a:lnTo>
                    <a:pt x="7010" y="1472869"/>
                  </a:lnTo>
                  <a:lnTo>
                    <a:pt x="26492" y="1510525"/>
                  </a:lnTo>
                  <a:lnTo>
                    <a:pt x="56184" y="1540217"/>
                  </a:lnTo>
                  <a:lnTo>
                    <a:pt x="93840" y="1559687"/>
                  </a:lnTo>
                  <a:lnTo>
                    <a:pt x="137172" y="1566672"/>
                  </a:lnTo>
                  <a:lnTo>
                    <a:pt x="180492" y="1559687"/>
                  </a:lnTo>
                  <a:lnTo>
                    <a:pt x="218147" y="1540217"/>
                  </a:lnTo>
                  <a:lnTo>
                    <a:pt x="247840" y="1510525"/>
                  </a:lnTo>
                  <a:lnTo>
                    <a:pt x="267322" y="1472869"/>
                  </a:lnTo>
                  <a:lnTo>
                    <a:pt x="274332" y="1429512"/>
                  </a:lnTo>
                  <a:close/>
                </a:path>
                <a:path w="607060" h="1567179">
                  <a:moveTo>
                    <a:pt x="606564" y="182880"/>
                  </a:moveTo>
                  <a:lnTo>
                    <a:pt x="600024" y="134277"/>
                  </a:lnTo>
                  <a:lnTo>
                    <a:pt x="581583" y="90601"/>
                  </a:lnTo>
                  <a:lnTo>
                    <a:pt x="552983" y="53581"/>
                  </a:lnTo>
                  <a:lnTo>
                    <a:pt x="515962" y="24980"/>
                  </a:lnTo>
                  <a:lnTo>
                    <a:pt x="472287" y="6540"/>
                  </a:lnTo>
                  <a:lnTo>
                    <a:pt x="423684" y="0"/>
                  </a:lnTo>
                  <a:lnTo>
                    <a:pt x="375069" y="6540"/>
                  </a:lnTo>
                  <a:lnTo>
                    <a:pt x="331393" y="24980"/>
                  </a:lnTo>
                  <a:lnTo>
                    <a:pt x="294373" y="53581"/>
                  </a:lnTo>
                  <a:lnTo>
                    <a:pt x="265772" y="90601"/>
                  </a:lnTo>
                  <a:lnTo>
                    <a:pt x="247332" y="134277"/>
                  </a:lnTo>
                  <a:lnTo>
                    <a:pt x="240804" y="182880"/>
                  </a:lnTo>
                  <a:lnTo>
                    <a:pt x="247332" y="231495"/>
                  </a:lnTo>
                  <a:lnTo>
                    <a:pt x="265772" y="275170"/>
                  </a:lnTo>
                  <a:lnTo>
                    <a:pt x="294373" y="312191"/>
                  </a:lnTo>
                  <a:lnTo>
                    <a:pt x="331393" y="340791"/>
                  </a:lnTo>
                  <a:lnTo>
                    <a:pt x="375069" y="359232"/>
                  </a:lnTo>
                  <a:lnTo>
                    <a:pt x="423684" y="365760"/>
                  </a:lnTo>
                  <a:lnTo>
                    <a:pt x="472287" y="359232"/>
                  </a:lnTo>
                  <a:lnTo>
                    <a:pt x="515962" y="340791"/>
                  </a:lnTo>
                  <a:lnTo>
                    <a:pt x="552983" y="312191"/>
                  </a:lnTo>
                  <a:lnTo>
                    <a:pt x="581583" y="275170"/>
                  </a:lnTo>
                  <a:lnTo>
                    <a:pt x="600024" y="231495"/>
                  </a:lnTo>
                  <a:lnTo>
                    <a:pt x="606564" y="18288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3033141" y="2108707"/>
            <a:ext cx="307340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10" dirty="0">
                <a:solidFill>
                  <a:srgbClr val="565F6C"/>
                </a:solidFill>
                <a:latin typeface="Times New Roman"/>
                <a:cs typeface="Times New Roman"/>
              </a:rPr>
              <a:t>SİSTEM</a:t>
            </a:r>
            <a:r>
              <a:rPr sz="3100" b="1" spc="-50" dirty="0">
                <a:solidFill>
                  <a:srgbClr val="565F6C"/>
                </a:solidFill>
                <a:latin typeface="Times New Roman"/>
                <a:cs typeface="Times New Roman"/>
              </a:rPr>
              <a:t> </a:t>
            </a:r>
            <a:r>
              <a:rPr sz="3100" b="1" spc="-10" dirty="0">
                <a:solidFill>
                  <a:srgbClr val="565F6C"/>
                </a:solidFill>
                <a:latin typeface="Times New Roman"/>
                <a:cs typeface="Times New Roman"/>
              </a:rPr>
              <a:t>NEDİR?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14777" y="4606289"/>
            <a:ext cx="5912485" cy="685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9515" marR="5080" indent="-1187450">
              <a:lnSpc>
                <a:spcPct val="127800"/>
              </a:lnSpc>
              <a:spcBef>
                <a:spcPts val="100"/>
              </a:spcBef>
            </a:pPr>
            <a:r>
              <a:rPr sz="1800" b="1" spc="220" dirty="0">
                <a:solidFill>
                  <a:srgbClr val="565F6C"/>
                </a:solidFill>
                <a:latin typeface="Cambria"/>
                <a:cs typeface="Cambria"/>
              </a:rPr>
              <a:t>BİLİŞİM</a:t>
            </a:r>
            <a:r>
              <a:rPr sz="1800" b="1" spc="9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250" dirty="0">
                <a:solidFill>
                  <a:srgbClr val="565F6C"/>
                </a:solidFill>
                <a:latin typeface="Cambria"/>
                <a:cs typeface="Cambria"/>
              </a:rPr>
              <a:t>SİSTEMLERİ</a:t>
            </a:r>
            <a:r>
              <a:rPr sz="1800" b="1" spc="8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260" dirty="0">
                <a:solidFill>
                  <a:srgbClr val="565F6C"/>
                </a:solidFill>
                <a:latin typeface="Cambria"/>
                <a:cs typeface="Cambria"/>
              </a:rPr>
              <a:t>MÜHENDİSLİĞİNE</a:t>
            </a:r>
            <a:r>
              <a:rPr sz="1800" b="1" spc="7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245" dirty="0">
                <a:solidFill>
                  <a:srgbClr val="565F6C"/>
                </a:solidFill>
                <a:latin typeface="Cambria"/>
                <a:cs typeface="Cambria"/>
              </a:rPr>
              <a:t>GİRİŞ </a:t>
            </a:r>
            <a:r>
              <a:rPr sz="1800" b="1" spc="-38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95" dirty="0">
                <a:solidFill>
                  <a:srgbClr val="565F6C"/>
                </a:solidFill>
                <a:latin typeface="Cambria"/>
                <a:cs typeface="Cambria"/>
              </a:rPr>
              <a:t>DR.</a:t>
            </a:r>
            <a:r>
              <a:rPr sz="1800" b="1" spc="1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210" dirty="0">
                <a:solidFill>
                  <a:srgbClr val="565F6C"/>
                </a:solidFill>
                <a:latin typeface="Cambria"/>
                <a:cs typeface="Cambria"/>
              </a:rPr>
              <a:t>FATİH</a:t>
            </a:r>
            <a:r>
              <a:rPr sz="1800" b="1" spc="114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265" dirty="0">
                <a:solidFill>
                  <a:srgbClr val="565F6C"/>
                </a:solidFill>
                <a:latin typeface="Cambria"/>
                <a:cs typeface="Cambria"/>
              </a:rPr>
              <a:t>ÇALLI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4283" y="600455"/>
            <a:ext cx="3851275" cy="1119505"/>
            <a:chOff x="514283" y="600455"/>
            <a:chExt cx="3851275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283" y="906571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111" y="729995"/>
              <a:ext cx="1759458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9844" y="600455"/>
              <a:ext cx="1027938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6563" y="729995"/>
              <a:ext cx="2138934" cy="9060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4065" y="733171"/>
            <a:ext cx="36182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</a:t>
            </a:r>
            <a:r>
              <a:rPr sz="3200" spc="110" dirty="0"/>
              <a:t> </a:t>
            </a:r>
            <a:r>
              <a:rPr sz="4000" spc="-60" dirty="0"/>
              <a:t>K</a:t>
            </a:r>
            <a:r>
              <a:rPr sz="3200" spc="-60" dirty="0"/>
              <a:t>AVRAMI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065" y="1437259"/>
            <a:ext cx="7803515" cy="330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21.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yüzyılda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piyasalardaki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rekabetin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artmasından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sonra,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firmalar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rekabet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edebilmenin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ancak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doğru</a:t>
            </a:r>
            <a:r>
              <a:rPr sz="2200" dirty="0">
                <a:latin typeface="Times New Roman"/>
                <a:cs typeface="Times New Roman"/>
              </a:rPr>
              <a:t> bilgiye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sahip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oldukları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takdirde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olabileceğini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idrak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etmişlerdir.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Karar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vericiler,</a:t>
            </a:r>
            <a:r>
              <a:rPr sz="2200" spc="-5" dirty="0">
                <a:latin typeface="Times New Roman"/>
                <a:cs typeface="Times New Roman"/>
              </a:rPr>
              <a:t> bilginin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organizasyonun yönetiminde, sadece işi idare edecek yardımcı </a:t>
            </a:r>
            <a:r>
              <a:rPr sz="2200" dirty="0">
                <a:latin typeface="Times New Roman"/>
                <a:cs typeface="Times New Roman"/>
              </a:rPr>
              <a:t>araç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değil,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işi tetikleyen </a:t>
            </a:r>
            <a:r>
              <a:rPr sz="2200" dirty="0">
                <a:latin typeface="Times New Roman"/>
                <a:cs typeface="Times New Roman"/>
              </a:rPr>
              <a:t>ve </a:t>
            </a:r>
            <a:r>
              <a:rPr sz="2200" spc="-10" dirty="0">
                <a:latin typeface="Times New Roman"/>
                <a:cs typeface="Times New Roman"/>
              </a:rPr>
              <a:t>işin </a:t>
            </a:r>
            <a:r>
              <a:rPr sz="2200" spc="-5" dirty="0">
                <a:latin typeface="Times New Roman"/>
                <a:cs typeface="Times New Roman"/>
              </a:rPr>
              <a:t>başarısında </a:t>
            </a:r>
            <a:r>
              <a:rPr sz="2200" spc="5" dirty="0">
                <a:latin typeface="Times New Roman"/>
                <a:cs typeface="Times New Roman"/>
              </a:rPr>
              <a:t>ya </a:t>
            </a:r>
            <a:r>
              <a:rPr sz="2200" dirty="0">
                <a:latin typeface="Times New Roman"/>
                <a:cs typeface="Times New Roman"/>
              </a:rPr>
              <a:t>da </a:t>
            </a:r>
            <a:r>
              <a:rPr sz="2200" spc="-5" dirty="0">
                <a:latin typeface="Times New Roman"/>
                <a:cs typeface="Times New Roman"/>
              </a:rPr>
              <a:t>başarısızlığında önemli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bir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rol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oynayan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kritik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faktörlerden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biri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olduğunu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anlamışlardır.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039"/>
              </a:spcBef>
            </a:pPr>
            <a:r>
              <a:rPr sz="2200" spc="-5" dirty="0">
                <a:latin typeface="Times New Roman"/>
                <a:cs typeface="Times New Roman"/>
              </a:rPr>
              <a:t>Bu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sebeple</a:t>
            </a:r>
            <a:r>
              <a:rPr sz="2200" spc="5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artık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sadece</a:t>
            </a:r>
            <a:r>
              <a:rPr sz="2200" spc="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sermaye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yatırımlarında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hammadde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spc="5" dirty="0">
                <a:latin typeface="Times New Roman"/>
                <a:cs typeface="Times New Roman"/>
              </a:rPr>
              <a:t>ya</a:t>
            </a:r>
            <a:r>
              <a:rPr sz="2200" spc="5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 </a:t>
            </a:r>
            <a:r>
              <a:rPr sz="2200" spc="-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gayrı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menkul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yatırımları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değil,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aynı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zamanda</a:t>
            </a:r>
            <a:r>
              <a:rPr sz="2200" dirty="0">
                <a:latin typeface="Times New Roman"/>
                <a:cs typeface="Times New Roman"/>
              </a:rPr>
              <a:t> bilgiye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yatırım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gündeme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gelmiştir.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0455"/>
            <a:ext cx="3851275" cy="1119505"/>
            <a:chOff x="576767" y="600455"/>
            <a:chExt cx="3851275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6571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29995"/>
              <a:ext cx="1759458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2328" y="600455"/>
              <a:ext cx="1027938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047" y="729995"/>
              <a:ext cx="2138933" cy="9060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733171"/>
            <a:ext cx="3619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</a:t>
            </a:r>
            <a:r>
              <a:rPr sz="3200" spc="114" dirty="0"/>
              <a:t> </a:t>
            </a:r>
            <a:r>
              <a:rPr sz="4000" spc="-60" dirty="0"/>
              <a:t>K</a:t>
            </a:r>
            <a:r>
              <a:rPr sz="3200" spc="-60" dirty="0"/>
              <a:t>AVRAMI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692" y="1622501"/>
            <a:ext cx="780351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Kuşkusuz ki </a:t>
            </a:r>
            <a:r>
              <a:rPr sz="2400" dirty="0">
                <a:latin typeface="Times New Roman"/>
                <a:cs typeface="Times New Roman"/>
              </a:rPr>
              <a:t>burada </a:t>
            </a:r>
            <a:r>
              <a:rPr sz="2400" spc="-5" dirty="0">
                <a:latin typeface="Times New Roman"/>
                <a:cs typeface="Times New Roman"/>
              </a:rPr>
              <a:t>bahsetmekte olduğumuz </a:t>
            </a:r>
            <a:r>
              <a:rPr sz="2400" dirty="0">
                <a:latin typeface="Times New Roman"/>
                <a:cs typeface="Times New Roman"/>
              </a:rPr>
              <a:t>bilgi </a:t>
            </a:r>
            <a:r>
              <a:rPr sz="2400" spc="-5" dirty="0">
                <a:latin typeface="Times New Roman"/>
                <a:cs typeface="Times New Roman"/>
              </a:rPr>
              <a:t>herhangi </a:t>
            </a:r>
            <a:r>
              <a:rPr sz="2400" dirty="0">
                <a:latin typeface="Times New Roman"/>
                <a:cs typeface="Times New Roman"/>
              </a:rPr>
              <a:t>bir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bilgi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değil,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organizasyonun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elinde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bulundurduğu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verilerin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doğru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işlenmesinin</a:t>
            </a:r>
            <a:r>
              <a:rPr sz="2400" dirty="0">
                <a:latin typeface="Times New Roman"/>
                <a:cs typeface="Times New Roman"/>
              </a:rPr>
              <a:t> sonucunda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elde</a:t>
            </a:r>
            <a:r>
              <a:rPr sz="2400" dirty="0">
                <a:latin typeface="Times New Roman"/>
                <a:cs typeface="Times New Roman"/>
              </a:rPr>
              <a:t> edilen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bilgidir.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Verilerin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doğru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işlenmesi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sonucunda</a:t>
            </a:r>
            <a:r>
              <a:rPr sz="2400" dirty="0">
                <a:latin typeface="Times New Roman"/>
                <a:cs typeface="Times New Roman"/>
              </a:rPr>
              <a:t> doğru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bilgi</a:t>
            </a:r>
            <a:r>
              <a:rPr sz="2400" dirty="0">
                <a:latin typeface="Times New Roman"/>
                <a:cs typeface="Times New Roman"/>
              </a:rPr>
              <a:t> elde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edecek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olan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 </a:t>
            </a:r>
            <a:r>
              <a:rPr sz="2400" dirty="0">
                <a:latin typeface="Times New Roman"/>
                <a:cs typeface="Times New Roman"/>
              </a:rPr>
              <a:t>ise </a:t>
            </a:r>
            <a:r>
              <a:rPr sz="2400" spc="-5" dirty="0">
                <a:latin typeface="Times New Roman"/>
                <a:cs typeface="Times New Roman"/>
              </a:rPr>
              <a:t>bilişim </a:t>
            </a:r>
            <a:r>
              <a:rPr sz="2400" spc="-10" dirty="0">
                <a:latin typeface="Times New Roman"/>
                <a:cs typeface="Times New Roman"/>
              </a:rPr>
              <a:t>sistemleridir. </a:t>
            </a:r>
            <a:r>
              <a:rPr sz="2400" spc="-5" dirty="0">
                <a:latin typeface="Times New Roman"/>
                <a:cs typeface="Times New Roman"/>
              </a:rPr>
              <a:t>Bu sistemlerin tasarımının </a:t>
            </a:r>
            <a:r>
              <a:rPr sz="2400" dirty="0">
                <a:latin typeface="Times New Roman"/>
                <a:cs typeface="Times New Roman"/>
              </a:rPr>
              <a:t> nasıl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olduğuna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bakmadan</a:t>
            </a:r>
            <a:r>
              <a:rPr sz="2400" dirty="0">
                <a:latin typeface="Times New Roman"/>
                <a:cs typeface="Times New Roman"/>
              </a:rPr>
              <a:t> önce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sistem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kavramı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üzerinde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durmamız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gerekir.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0455"/>
            <a:ext cx="3851275" cy="1119505"/>
            <a:chOff x="576767" y="600455"/>
            <a:chExt cx="3851275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6571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29995"/>
              <a:ext cx="1759458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2328" y="600455"/>
              <a:ext cx="1027938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047" y="729995"/>
              <a:ext cx="2138933" cy="9060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733171"/>
            <a:ext cx="3619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</a:t>
            </a:r>
            <a:r>
              <a:rPr sz="3200" spc="114" dirty="0"/>
              <a:t> </a:t>
            </a:r>
            <a:r>
              <a:rPr sz="4000" spc="-60" dirty="0"/>
              <a:t>K</a:t>
            </a:r>
            <a:r>
              <a:rPr sz="3200" spc="-60" dirty="0"/>
              <a:t>AVRAMI</a:t>
            </a:r>
            <a:endParaRPr sz="3200"/>
          </a:p>
        </p:txBody>
      </p:sp>
      <p:sp>
        <p:nvSpPr>
          <p:cNvPr id="9" name="object 9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1545904"/>
            <a:ext cx="7311390" cy="414210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spc="-5" dirty="0">
                <a:latin typeface="Times New Roman"/>
                <a:cs typeface="Times New Roman"/>
              </a:rPr>
              <a:t>Çeşitli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sistem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tanımları: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Aralarında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karşılıklı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ilişkiler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olan</a:t>
            </a:r>
            <a:r>
              <a:rPr sz="2400" spc="-5" dirty="0">
                <a:latin typeface="Times New Roman"/>
                <a:cs typeface="Times New Roman"/>
              </a:rPr>
              <a:t> elemanlar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kümesidir.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Arial MT"/>
              <a:buChar char="•"/>
              <a:tabLst>
                <a:tab pos="286385" algn="l"/>
                <a:tab pos="287020" algn="l"/>
                <a:tab pos="1768475" algn="l"/>
                <a:tab pos="2422525" algn="l"/>
                <a:tab pos="4056379" algn="l"/>
                <a:tab pos="5841365" algn="l"/>
              </a:tabLst>
            </a:pP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-1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irleri	ile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tki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eşi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li	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le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nların	ol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spc="-5" dirty="0">
                <a:latin typeface="Times New Roman"/>
                <a:cs typeface="Times New Roman"/>
              </a:rPr>
              <a:t>ştu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duğu  </a:t>
            </a:r>
            <a:r>
              <a:rPr sz="2400" spc="-15" dirty="0">
                <a:latin typeface="Times New Roman"/>
                <a:cs typeface="Times New Roman"/>
              </a:rPr>
              <a:t>topluluktur.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Arial MT"/>
              <a:buChar char="•"/>
              <a:tabLst>
                <a:tab pos="286385" algn="l"/>
                <a:tab pos="287020" algn="l"/>
                <a:tab pos="1518285" algn="l"/>
                <a:tab pos="1952625" algn="l"/>
                <a:tab pos="3352165" algn="l"/>
                <a:tab pos="4733290" algn="l"/>
                <a:tab pos="6132195" algn="l"/>
              </a:tabLst>
            </a:pPr>
            <a:r>
              <a:rPr sz="2400" dirty="0">
                <a:latin typeface="Times New Roman"/>
                <a:cs typeface="Times New Roman"/>
              </a:rPr>
              <a:t>Nesneler	</a:t>
            </a:r>
            <a:r>
              <a:rPr sz="2400" spc="-5" dirty="0">
                <a:latin typeface="Times New Roman"/>
                <a:cs typeface="Times New Roman"/>
              </a:rPr>
              <a:t>ve	nesnelerin	özellikleri	arasındaki	</a:t>
            </a:r>
            <a:r>
              <a:rPr sz="2400" spc="-10" dirty="0">
                <a:latin typeface="Times New Roman"/>
                <a:cs typeface="Times New Roman"/>
              </a:rPr>
              <a:t>ilişkilerin</a:t>
            </a:r>
            <a:endParaRPr sz="2400">
              <a:latin typeface="Times New Roman"/>
              <a:cs typeface="Times New Roman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meydana </a:t>
            </a:r>
            <a:r>
              <a:rPr sz="2400" dirty="0">
                <a:latin typeface="Times New Roman"/>
                <a:cs typeface="Times New Roman"/>
              </a:rPr>
              <a:t>getirdiği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topluluktur.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Arial MT"/>
              <a:buChar char="•"/>
              <a:tabLst>
                <a:tab pos="286385" algn="l"/>
                <a:tab pos="287020" algn="l"/>
                <a:tab pos="1984375" algn="l"/>
                <a:tab pos="3309620" algn="l"/>
                <a:tab pos="4230370" algn="l"/>
                <a:tab pos="5841365" algn="l"/>
              </a:tabLst>
            </a:pPr>
            <a:r>
              <a:rPr sz="2400" spc="-5" dirty="0">
                <a:latin typeface="Times New Roman"/>
                <a:cs typeface="Times New Roman"/>
              </a:rPr>
              <a:t>Ara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5" dirty="0">
                <a:latin typeface="Times New Roman"/>
                <a:cs typeface="Times New Roman"/>
              </a:rPr>
              <a:t>ı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a	i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5" dirty="0">
                <a:latin typeface="Times New Roman"/>
                <a:cs typeface="Times New Roman"/>
              </a:rPr>
              <a:t>ş</a:t>
            </a:r>
            <a:r>
              <a:rPr sz="2400" dirty="0">
                <a:latin typeface="Times New Roman"/>
                <a:cs typeface="Times New Roman"/>
              </a:rPr>
              <a:t>ki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er	o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an	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arç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ların	oluş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spc="-15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rduğu  </a:t>
            </a:r>
            <a:r>
              <a:rPr sz="2400" spc="-15" dirty="0">
                <a:latin typeface="Times New Roman"/>
                <a:cs typeface="Times New Roman"/>
              </a:rPr>
              <a:t>topluluktur.</a:t>
            </a:r>
            <a:endParaRPr sz="2400">
              <a:latin typeface="Times New Roman"/>
              <a:cs typeface="Times New Roman"/>
            </a:endParaRPr>
          </a:p>
          <a:p>
            <a:pPr marL="286385" marR="635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Font typeface="Arial MT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Times New Roman"/>
                <a:cs typeface="Times New Roman"/>
              </a:rPr>
              <a:t>Plana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uygun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amacı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gerçekleştirmek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üzere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tasarlanmış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çeşitli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bileşenlerin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oluşturduğu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bütündür.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1980"/>
            <a:ext cx="3851275" cy="1119505"/>
            <a:chOff x="576767" y="601980"/>
            <a:chExt cx="3851275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8095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31520"/>
              <a:ext cx="1759458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2328" y="601980"/>
              <a:ext cx="1027938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9047" y="731520"/>
              <a:ext cx="2138933" cy="9060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734694"/>
            <a:ext cx="3619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</a:t>
            </a:r>
            <a:r>
              <a:rPr sz="3200" spc="114" dirty="0"/>
              <a:t> </a:t>
            </a:r>
            <a:r>
              <a:rPr sz="4000" spc="-60" dirty="0"/>
              <a:t>K</a:t>
            </a:r>
            <a:r>
              <a:rPr sz="3200" spc="-60" dirty="0"/>
              <a:t>AVRAMI</a:t>
            </a:r>
            <a:endParaRPr sz="32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1972" y="3162300"/>
            <a:ext cx="1166622" cy="6774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91692" y="1622501"/>
            <a:ext cx="7802880" cy="200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Sistem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ilgili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genel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tanım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yaparsak;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400" i="1" spc="-5" dirty="0">
                <a:latin typeface="Times New Roman"/>
                <a:cs typeface="Times New Roman"/>
              </a:rPr>
              <a:t>“Belirli bir </a:t>
            </a:r>
            <a:r>
              <a:rPr sz="2400" i="1" dirty="0">
                <a:latin typeface="Times New Roman"/>
                <a:cs typeface="Times New Roman"/>
              </a:rPr>
              <a:t>amaç doğrultusunda </a:t>
            </a:r>
            <a:r>
              <a:rPr sz="2400" i="1" spc="-25" dirty="0">
                <a:latin typeface="Times New Roman"/>
                <a:cs typeface="Times New Roman"/>
              </a:rPr>
              <a:t>girdilere </a:t>
            </a:r>
            <a:r>
              <a:rPr sz="2400" i="1" spc="-5" dirty="0">
                <a:latin typeface="Times New Roman"/>
                <a:cs typeface="Times New Roman"/>
              </a:rPr>
              <a:t>cevap </a:t>
            </a:r>
            <a:r>
              <a:rPr sz="2400" i="1" dirty="0">
                <a:latin typeface="Times New Roman"/>
                <a:cs typeface="Times New Roman"/>
              </a:rPr>
              <a:t>olarak </a:t>
            </a:r>
            <a:r>
              <a:rPr sz="2400" i="1" spc="-5" dirty="0">
                <a:latin typeface="Times New Roman"/>
                <a:cs typeface="Times New Roman"/>
              </a:rPr>
              <a:t>çıktı 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üreten,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aralarında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karşılıklı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etkileşim</a:t>
            </a:r>
            <a:r>
              <a:rPr sz="2400" i="1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olan</a:t>
            </a:r>
            <a:r>
              <a:rPr sz="2400" i="1" spc="-5" dirty="0">
                <a:latin typeface="Times New Roman"/>
                <a:cs typeface="Times New Roman"/>
              </a:rPr>
              <a:t> elemanlar </a:t>
            </a:r>
            <a:r>
              <a:rPr sz="2400" i="1" dirty="0">
                <a:latin typeface="Times New Roman"/>
                <a:cs typeface="Times New Roman"/>
              </a:rPr>
              <a:t> topluluğuna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r>
              <a:rPr sz="24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40" dirty="0">
                <a:latin typeface="Times New Roman"/>
                <a:cs typeface="Times New Roman"/>
              </a:rPr>
              <a:t>denir.”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81731" y="4230964"/>
            <a:ext cx="4295140" cy="880110"/>
            <a:chOff x="2781731" y="4230964"/>
            <a:chExt cx="4295140" cy="88011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81731" y="4230964"/>
              <a:ext cx="4294759" cy="87998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345068" y="4376804"/>
              <a:ext cx="535940" cy="293370"/>
            </a:xfrm>
            <a:custGeom>
              <a:avLst/>
              <a:gdLst/>
              <a:ahLst/>
              <a:cxnLst/>
              <a:rect l="l" t="t" r="r" b="b"/>
              <a:pathLst>
                <a:path w="535940" h="293370">
                  <a:moveTo>
                    <a:pt x="59145" y="285166"/>
                  </a:moveTo>
                  <a:lnTo>
                    <a:pt x="59145" y="292130"/>
                  </a:lnTo>
                  <a:lnTo>
                    <a:pt x="64007" y="292878"/>
                  </a:lnTo>
                  <a:lnTo>
                    <a:pt x="68260" y="293278"/>
                  </a:lnTo>
                  <a:lnTo>
                    <a:pt x="79806" y="293278"/>
                  </a:lnTo>
                  <a:lnTo>
                    <a:pt x="86490" y="290333"/>
                  </a:lnTo>
                  <a:lnTo>
                    <a:pt x="90538" y="285815"/>
                  </a:lnTo>
                  <a:lnTo>
                    <a:pt x="63602" y="285815"/>
                  </a:lnTo>
                  <a:lnTo>
                    <a:pt x="61576" y="285616"/>
                  </a:lnTo>
                  <a:lnTo>
                    <a:pt x="59145" y="285166"/>
                  </a:lnTo>
                  <a:close/>
                </a:path>
                <a:path w="535940" h="293370">
                  <a:moveTo>
                    <a:pt x="99058" y="256041"/>
                  </a:moveTo>
                  <a:lnTo>
                    <a:pt x="73729" y="256041"/>
                  </a:lnTo>
                  <a:lnTo>
                    <a:pt x="76160" y="257239"/>
                  </a:lnTo>
                  <a:lnTo>
                    <a:pt x="80211" y="261981"/>
                  </a:lnTo>
                  <a:lnTo>
                    <a:pt x="81224" y="264776"/>
                  </a:lnTo>
                  <a:lnTo>
                    <a:pt x="81224" y="272663"/>
                  </a:lnTo>
                  <a:lnTo>
                    <a:pt x="79806" y="276781"/>
                  </a:lnTo>
                  <a:lnTo>
                    <a:pt x="76768" y="280400"/>
                  </a:lnTo>
                  <a:lnTo>
                    <a:pt x="73527" y="284018"/>
                  </a:lnTo>
                  <a:lnTo>
                    <a:pt x="69881" y="285815"/>
                  </a:lnTo>
                  <a:lnTo>
                    <a:pt x="90538" y="285815"/>
                  </a:lnTo>
                  <a:lnTo>
                    <a:pt x="97023" y="278578"/>
                  </a:lnTo>
                  <a:lnTo>
                    <a:pt x="99656" y="271739"/>
                  </a:lnTo>
                  <a:lnTo>
                    <a:pt x="99656" y="258137"/>
                  </a:lnTo>
                  <a:lnTo>
                    <a:pt x="99058" y="256041"/>
                  </a:lnTo>
                  <a:close/>
                </a:path>
                <a:path w="535940" h="293370">
                  <a:moveTo>
                    <a:pt x="78491" y="234161"/>
                  </a:moveTo>
                  <a:lnTo>
                    <a:pt x="67248" y="256365"/>
                  </a:lnTo>
                  <a:lnTo>
                    <a:pt x="68665" y="256141"/>
                  </a:lnTo>
                  <a:lnTo>
                    <a:pt x="69881" y="256041"/>
                  </a:lnTo>
                  <a:lnTo>
                    <a:pt x="99058" y="256041"/>
                  </a:lnTo>
                  <a:lnTo>
                    <a:pt x="98238" y="253171"/>
                  </a:lnTo>
                  <a:lnTo>
                    <a:pt x="95605" y="249078"/>
                  </a:lnTo>
                  <a:lnTo>
                    <a:pt x="92769" y="244985"/>
                  </a:lnTo>
                  <a:lnTo>
                    <a:pt x="88718" y="242064"/>
                  </a:lnTo>
                  <a:lnTo>
                    <a:pt x="83249" y="240342"/>
                  </a:lnTo>
                  <a:lnTo>
                    <a:pt x="85929" y="235059"/>
                  </a:lnTo>
                  <a:lnTo>
                    <a:pt x="78491" y="234161"/>
                  </a:lnTo>
                  <a:close/>
                </a:path>
                <a:path w="535940" h="293370">
                  <a:moveTo>
                    <a:pt x="119566" y="227564"/>
                  </a:moveTo>
                  <a:lnTo>
                    <a:pt x="89731" y="227564"/>
                  </a:lnTo>
                  <a:lnTo>
                    <a:pt x="85929" y="235059"/>
                  </a:lnTo>
                  <a:lnTo>
                    <a:pt x="86693" y="235151"/>
                  </a:lnTo>
                  <a:lnTo>
                    <a:pt x="98549" y="234304"/>
                  </a:lnTo>
                  <a:lnTo>
                    <a:pt x="109531" y="231760"/>
                  </a:lnTo>
                  <a:lnTo>
                    <a:pt x="119566" y="227564"/>
                  </a:lnTo>
                  <a:close/>
                </a:path>
                <a:path w="535940" h="293370">
                  <a:moveTo>
                    <a:pt x="90541" y="5665"/>
                  </a:moveTo>
                  <a:lnTo>
                    <a:pt x="44764" y="20789"/>
                  </a:lnTo>
                  <a:lnTo>
                    <a:pt x="18445" y="50457"/>
                  </a:lnTo>
                  <a:lnTo>
                    <a:pt x="2937" y="92290"/>
                  </a:lnTo>
                  <a:lnTo>
                    <a:pt x="0" y="123815"/>
                  </a:lnTo>
                  <a:lnTo>
                    <a:pt x="1136" y="143534"/>
                  </a:lnTo>
                  <a:lnTo>
                    <a:pt x="18027" y="194695"/>
                  </a:lnTo>
                  <a:lnTo>
                    <a:pt x="47347" y="225040"/>
                  </a:lnTo>
                  <a:lnTo>
                    <a:pt x="78491" y="234161"/>
                  </a:lnTo>
                  <a:lnTo>
                    <a:pt x="81831" y="227564"/>
                  </a:lnTo>
                  <a:lnTo>
                    <a:pt x="119566" y="227564"/>
                  </a:lnTo>
                  <a:lnTo>
                    <a:pt x="129027" y="221574"/>
                  </a:lnTo>
                  <a:lnTo>
                    <a:pt x="129752" y="220925"/>
                  </a:lnTo>
                  <a:lnTo>
                    <a:pt x="96415" y="220925"/>
                  </a:lnTo>
                  <a:lnTo>
                    <a:pt x="86775" y="220196"/>
                  </a:lnTo>
                  <a:lnTo>
                    <a:pt x="47347" y="195066"/>
                  </a:lnTo>
                  <a:lnTo>
                    <a:pt x="31851" y="151930"/>
                  </a:lnTo>
                  <a:lnTo>
                    <a:pt x="29978" y="124139"/>
                  </a:lnTo>
                  <a:lnTo>
                    <a:pt x="30474" y="106830"/>
                  </a:lnTo>
                  <a:lnTo>
                    <a:pt x="38080" y="63766"/>
                  </a:lnTo>
                  <a:lnTo>
                    <a:pt x="60563" y="28401"/>
                  </a:lnTo>
                  <a:lnTo>
                    <a:pt x="92769" y="17295"/>
                  </a:lnTo>
                  <a:lnTo>
                    <a:pt x="128622" y="17295"/>
                  </a:lnTo>
                  <a:lnTo>
                    <a:pt x="119196" y="12203"/>
                  </a:lnTo>
                  <a:lnTo>
                    <a:pt x="109733" y="8569"/>
                  </a:lnTo>
                  <a:lnTo>
                    <a:pt x="100194" y="6391"/>
                  </a:lnTo>
                  <a:lnTo>
                    <a:pt x="90541" y="5665"/>
                  </a:lnTo>
                  <a:close/>
                </a:path>
                <a:path w="535940" h="293370">
                  <a:moveTo>
                    <a:pt x="156371" y="175427"/>
                  </a:moveTo>
                  <a:lnTo>
                    <a:pt x="127204" y="211766"/>
                  </a:lnTo>
                  <a:lnTo>
                    <a:pt x="96415" y="220925"/>
                  </a:lnTo>
                  <a:lnTo>
                    <a:pt x="129752" y="220925"/>
                  </a:lnTo>
                  <a:lnTo>
                    <a:pt x="137721" y="213797"/>
                  </a:lnTo>
                  <a:lnTo>
                    <a:pt x="145864" y="204054"/>
                  </a:lnTo>
                  <a:lnTo>
                    <a:pt x="153438" y="192346"/>
                  </a:lnTo>
                  <a:lnTo>
                    <a:pt x="160423" y="178672"/>
                  </a:lnTo>
                  <a:lnTo>
                    <a:pt x="156371" y="175427"/>
                  </a:lnTo>
                  <a:close/>
                </a:path>
                <a:path w="535940" h="293370">
                  <a:moveTo>
                    <a:pt x="128622" y="17295"/>
                  </a:moveTo>
                  <a:lnTo>
                    <a:pt x="92769" y="17295"/>
                  </a:lnTo>
                  <a:lnTo>
                    <a:pt x="102907" y="18217"/>
                  </a:lnTo>
                  <a:lnTo>
                    <a:pt x="112341" y="20983"/>
                  </a:lnTo>
                  <a:lnTo>
                    <a:pt x="142319" y="51456"/>
                  </a:lnTo>
                  <a:lnTo>
                    <a:pt x="152118" y="80264"/>
                  </a:lnTo>
                  <a:lnTo>
                    <a:pt x="156371" y="80264"/>
                  </a:lnTo>
                  <a:lnTo>
                    <a:pt x="152984" y="20864"/>
                  </a:lnTo>
                  <a:lnTo>
                    <a:pt x="134901" y="20864"/>
                  </a:lnTo>
                  <a:lnTo>
                    <a:pt x="132267" y="19691"/>
                  </a:lnTo>
                  <a:lnTo>
                    <a:pt x="128622" y="17295"/>
                  </a:lnTo>
                  <a:close/>
                </a:path>
                <a:path w="535940" h="293370">
                  <a:moveTo>
                    <a:pt x="152118" y="5665"/>
                  </a:moveTo>
                  <a:lnTo>
                    <a:pt x="147662" y="5665"/>
                  </a:lnTo>
                  <a:lnTo>
                    <a:pt x="146649" y="10831"/>
                  </a:lnTo>
                  <a:lnTo>
                    <a:pt x="145028" y="14874"/>
                  </a:lnTo>
                  <a:lnTo>
                    <a:pt x="142800" y="17794"/>
                  </a:lnTo>
                  <a:lnTo>
                    <a:pt x="140977" y="19841"/>
                  </a:lnTo>
                  <a:lnTo>
                    <a:pt x="138952" y="20864"/>
                  </a:lnTo>
                  <a:lnTo>
                    <a:pt x="152984" y="20864"/>
                  </a:lnTo>
                  <a:lnTo>
                    <a:pt x="152118" y="5665"/>
                  </a:lnTo>
                  <a:close/>
                </a:path>
                <a:path w="535940" h="293370">
                  <a:moveTo>
                    <a:pt x="243267" y="224320"/>
                  </a:moveTo>
                  <a:lnTo>
                    <a:pt x="184729" y="224320"/>
                  </a:lnTo>
                  <a:lnTo>
                    <a:pt x="184729" y="230135"/>
                  </a:lnTo>
                  <a:lnTo>
                    <a:pt x="243267" y="230135"/>
                  </a:lnTo>
                  <a:lnTo>
                    <a:pt x="243267" y="224320"/>
                  </a:lnTo>
                  <a:close/>
                </a:path>
                <a:path w="535940" h="293370">
                  <a:moveTo>
                    <a:pt x="224835" y="99032"/>
                  </a:moveTo>
                  <a:lnTo>
                    <a:pt x="196072" y="99032"/>
                  </a:lnTo>
                  <a:lnTo>
                    <a:pt x="197693" y="99706"/>
                  </a:lnTo>
                  <a:lnTo>
                    <a:pt x="199110" y="101078"/>
                  </a:lnTo>
                  <a:lnTo>
                    <a:pt x="203149" y="205926"/>
                  </a:lnTo>
                  <a:lnTo>
                    <a:pt x="202554" y="212015"/>
                  </a:lnTo>
                  <a:lnTo>
                    <a:pt x="200123" y="218479"/>
                  </a:lnTo>
                  <a:lnTo>
                    <a:pt x="198705" y="220800"/>
                  </a:lnTo>
                  <a:lnTo>
                    <a:pt x="194654" y="223621"/>
                  </a:lnTo>
                  <a:lnTo>
                    <a:pt x="190603" y="224320"/>
                  </a:lnTo>
                  <a:lnTo>
                    <a:pt x="237596" y="224320"/>
                  </a:lnTo>
                  <a:lnTo>
                    <a:pt x="233545" y="223571"/>
                  </a:lnTo>
                  <a:lnTo>
                    <a:pt x="231519" y="222048"/>
                  </a:lnTo>
                  <a:lnTo>
                    <a:pt x="229291" y="220551"/>
                  </a:lnTo>
                  <a:lnTo>
                    <a:pt x="227671" y="218255"/>
                  </a:lnTo>
                  <a:lnTo>
                    <a:pt x="226455" y="215185"/>
                  </a:lnTo>
                  <a:lnTo>
                    <a:pt x="225442" y="212090"/>
                  </a:lnTo>
                  <a:lnTo>
                    <a:pt x="224835" y="205926"/>
                  </a:lnTo>
                  <a:lnTo>
                    <a:pt x="224835" y="99032"/>
                  </a:lnTo>
                  <a:close/>
                </a:path>
                <a:path w="535940" h="293370">
                  <a:moveTo>
                    <a:pt x="224835" y="77518"/>
                  </a:moveTo>
                  <a:lnTo>
                    <a:pt x="219163" y="77518"/>
                  </a:lnTo>
                  <a:lnTo>
                    <a:pt x="182906" y="95637"/>
                  </a:lnTo>
                  <a:lnTo>
                    <a:pt x="184729" y="101478"/>
                  </a:lnTo>
                  <a:lnTo>
                    <a:pt x="188375" y="99855"/>
                  </a:lnTo>
                  <a:lnTo>
                    <a:pt x="191211" y="99032"/>
                  </a:lnTo>
                  <a:lnTo>
                    <a:pt x="224835" y="99032"/>
                  </a:lnTo>
                  <a:lnTo>
                    <a:pt x="224835" y="77518"/>
                  </a:lnTo>
                  <a:close/>
                </a:path>
                <a:path w="535940" h="293370">
                  <a:moveTo>
                    <a:pt x="296134" y="21039"/>
                  </a:moveTo>
                  <a:lnTo>
                    <a:pt x="266966" y="21039"/>
                  </a:lnTo>
                  <a:lnTo>
                    <a:pt x="268789" y="21763"/>
                  </a:lnTo>
                  <a:lnTo>
                    <a:pt x="271625" y="24683"/>
                  </a:lnTo>
                  <a:lnTo>
                    <a:pt x="274253" y="206400"/>
                  </a:lnTo>
                  <a:lnTo>
                    <a:pt x="273650" y="212515"/>
                  </a:lnTo>
                  <a:lnTo>
                    <a:pt x="260484" y="224320"/>
                  </a:lnTo>
                  <a:lnTo>
                    <a:pt x="254205" y="224320"/>
                  </a:lnTo>
                  <a:lnTo>
                    <a:pt x="254205" y="230135"/>
                  </a:lnTo>
                  <a:lnTo>
                    <a:pt x="315579" y="230135"/>
                  </a:lnTo>
                  <a:lnTo>
                    <a:pt x="315579" y="224320"/>
                  </a:lnTo>
                  <a:lnTo>
                    <a:pt x="308692" y="224220"/>
                  </a:lnTo>
                  <a:lnTo>
                    <a:pt x="304439" y="223521"/>
                  </a:lnTo>
                  <a:lnTo>
                    <a:pt x="300388" y="220925"/>
                  </a:lnTo>
                  <a:lnTo>
                    <a:pt x="298767" y="218754"/>
                  </a:lnTo>
                  <a:lnTo>
                    <a:pt x="297754" y="215734"/>
                  </a:lnTo>
                  <a:lnTo>
                    <a:pt x="296579" y="212814"/>
                  </a:lnTo>
                  <a:lnTo>
                    <a:pt x="296526" y="212515"/>
                  </a:lnTo>
                  <a:lnTo>
                    <a:pt x="296134" y="206400"/>
                  </a:lnTo>
                  <a:lnTo>
                    <a:pt x="296134" y="147599"/>
                  </a:lnTo>
                  <a:lnTo>
                    <a:pt x="322616" y="147599"/>
                  </a:lnTo>
                  <a:lnTo>
                    <a:pt x="322519" y="147450"/>
                  </a:lnTo>
                  <a:lnTo>
                    <a:pt x="296134" y="147450"/>
                  </a:lnTo>
                  <a:lnTo>
                    <a:pt x="296134" y="21039"/>
                  </a:lnTo>
                  <a:close/>
                </a:path>
                <a:path w="535940" h="293370">
                  <a:moveTo>
                    <a:pt x="322616" y="147599"/>
                  </a:moveTo>
                  <a:lnTo>
                    <a:pt x="296134" y="147599"/>
                  </a:lnTo>
                  <a:lnTo>
                    <a:pt x="333435" y="206400"/>
                  </a:lnTo>
                  <a:lnTo>
                    <a:pt x="336442" y="211217"/>
                  </a:lnTo>
                  <a:lnTo>
                    <a:pt x="338265" y="215210"/>
                  </a:lnTo>
                  <a:lnTo>
                    <a:pt x="338265" y="219727"/>
                  </a:lnTo>
                  <a:lnTo>
                    <a:pt x="337658" y="221325"/>
                  </a:lnTo>
                  <a:lnTo>
                    <a:pt x="335227" y="223596"/>
                  </a:lnTo>
                  <a:lnTo>
                    <a:pt x="332999" y="224220"/>
                  </a:lnTo>
                  <a:lnTo>
                    <a:pt x="329758" y="224320"/>
                  </a:lnTo>
                  <a:lnTo>
                    <a:pt x="329758" y="230135"/>
                  </a:lnTo>
                  <a:lnTo>
                    <a:pt x="388094" y="230135"/>
                  </a:lnTo>
                  <a:lnTo>
                    <a:pt x="388094" y="224320"/>
                  </a:lnTo>
                  <a:lnTo>
                    <a:pt x="382625" y="224320"/>
                  </a:lnTo>
                  <a:lnTo>
                    <a:pt x="378979" y="223770"/>
                  </a:lnTo>
                  <a:lnTo>
                    <a:pt x="376751" y="222697"/>
                  </a:lnTo>
                  <a:lnTo>
                    <a:pt x="373510" y="221200"/>
                  </a:lnTo>
                  <a:lnTo>
                    <a:pt x="369864" y="217905"/>
                  </a:lnTo>
                  <a:lnTo>
                    <a:pt x="348393" y="187582"/>
                  </a:lnTo>
                  <a:lnTo>
                    <a:pt x="322616" y="147599"/>
                  </a:lnTo>
                  <a:close/>
                </a:path>
                <a:path w="535940" h="293370">
                  <a:moveTo>
                    <a:pt x="382017" y="81886"/>
                  </a:moveTo>
                  <a:lnTo>
                    <a:pt x="329758" y="81886"/>
                  </a:lnTo>
                  <a:lnTo>
                    <a:pt x="329758" y="87077"/>
                  </a:lnTo>
                  <a:lnTo>
                    <a:pt x="332999" y="87277"/>
                  </a:lnTo>
                  <a:lnTo>
                    <a:pt x="335430" y="88175"/>
                  </a:lnTo>
                  <a:lnTo>
                    <a:pt x="338265" y="91295"/>
                  </a:lnTo>
                  <a:lnTo>
                    <a:pt x="339075" y="93167"/>
                  </a:lnTo>
                  <a:lnTo>
                    <a:pt x="339075" y="96611"/>
                  </a:lnTo>
                  <a:lnTo>
                    <a:pt x="338670" y="97909"/>
                  </a:lnTo>
                  <a:lnTo>
                    <a:pt x="337860" y="99206"/>
                  </a:lnTo>
                  <a:lnTo>
                    <a:pt x="336847" y="101153"/>
                  </a:lnTo>
                  <a:lnTo>
                    <a:pt x="333201" y="105795"/>
                  </a:lnTo>
                  <a:lnTo>
                    <a:pt x="326720" y="113133"/>
                  </a:lnTo>
                  <a:lnTo>
                    <a:pt x="296134" y="147450"/>
                  </a:lnTo>
                  <a:lnTo>
                    <a:pt x="322519" y="147450"/>
                  </a:lnTo>
                  <a:lnTo>
                    <a:pt x="348393" y="104373"/>
                  </a:lnTo>
                  <a:lnTo>
                    <a:pt x="382017" y="87077"/>
                  </a:lnTo>
                  <a:lnTo>
                    <a:pt x="382017" y="81886"/>
                  </a:lnTo>
                  <a:close/>
                </a:path>
                <a:path w="535940" h="293370">
                  <a:moveTo>
                    <a:pt x="296134" y="0"/>
                  </a:moveTo>
                  <a:lnTo>
                    <a:pt x="290057" y="0"/>
                  </a:lnTo>
                  <a:lnTo>
                    <a:pt x="254205" y="18119"/>
                  </a:lnTo>
                  <a:lnTo>
                    <a:pt x="256433" y="23784"/>
                  </a:lnTo>
                  <a:lnTo>
                    <a:pt x="260079" y="21937"/>
                  </a:lnTo>
                  <a:lnTo>
                    <a:pt x="262915" y="21039"/>
                  </a:lnTo>
                  <a:lnTo>
                    <a:pt x="296134" y="21039"/>
                  </a:lnTo>
                  <a:lnTo>
                    <a:pt x="296134" y="0"/>
                  </a:lnTo>
                  <a:close/>
                </a:path>
                <a:path w="535940" h="293370">
                  <a:moveTo>
                    <a:pt x="433871" y="93217"/>
                  </a:moveTo>
                  <a:lnTo>
                    <a:pt x="412198" y="93217"/>
                  </a:lnTo>
                  <a:lnTo>
                    <a:pt x="412198" y="203605"/>
                  </a:lnTo>
                  <a:lnTo>
                    <a:pt x="431440" y="232581"/>
                  </a:lnTo>
                  <a:lnTo>
                    <a:pt x="441365" y="232581"/>
                  </a:lnTo>
                  <a:lnTo>
                    <a:pt x="460549" y="213787"/>
                  </a:lnTo>
                  <a:lnTo>
                    <a:pt x="442378" y="213787"/>
                  </a:lnTo>
                  <a:lnTo>
                    <a:pt x="439542" y="212115"/>
                  </a:lnTo>
                  <a:lnTo>
                    <a:pt x="435086" y="205427"/>
                  </a:lnTo>
                  <a:lnTo>
                    <a:pt x="433871" y="198962"/>
                  </a:lnTo>
                  <a:lnTo>
                    <a:pt x="433871" y="93217"/>
                  </a:lnTo>
                  <a:close/>
                </a:path>
                <a:path w="535940" h="293370">
                  <a:moveTo>
                    <a:pt x="465672" y="200685"/>
                  </a:moveTo>
                  <a:lnTo>
                    <a:pt x="460608" y="200685"/>
                  </a:lnTo>
                  <a:lnTo>
                    <a:pt x="459190" y="205002"/>
                  </a:lnTo>
                  <a:lnTo>
                    <a:pt x="456962" y="208272"/>
                  </a:lnTo>
                  <a:lnTo>
                    <a:pt x="451696" y="212689"/>
                  </a:lnTo>
                  <a:lnTo>
                    <a:pt x="448860" y="213787"/>
                  </a:lnTo>
                  <a:lnTo>
                    <a:pt x="460549" y="213787"/>
                  </a:lnTo>
                  <a:lnTo>
                    <a:pt x="463162" y="208130"/>
                  </a:lnTo>
                  <a:lnTo>
                    <a:pt x="465672" y="200685"/>
                  </a:lnTo>
                  <a:close/>
                </a:path>
                <a:path w="535940" h="293370">
                  <a:moveTo>
                    <a:pt x="433871" y="33168"/>
                  </a:moveTo>
                  <a:lnTo>
                    <a:pt x="429820" y="33168"/>
                  </a:lnTo>
                  <a:lnTo>
                    <a:pt x="426376" y="44075"/>
                  </a:lnTo>
                  <a:lnTo>
                    <a:pt x="423541" y="51562"/>
                  </a:lnTo>
                  <a:lnTo>
                    <a:pt x="421515" y="55655"/>
                  </a:lnTo>
                  <a:lnTo>
                    <a:pt x="417464" y="63442"/>
                  </a:lnTo>
                  <a:lnTo>
                    <a:pt x="413008" y="70156"/>
                  </a:lnTo>
                  <a:lnTo>
                    <a:pt x="407944" y="75821"/>
                  </a:lnTo>
                  <a:lnTo>
                    <a:pt x="403083" y="81486"/>
                  </a:lnTo>
                  <a:lnTo>
                    <a:pt x="398019" y="85505"/>
                  </a:lnTo>
                  <a:lnTo>
                    <a:pt x="393158" y="87876"/>
                  </a:lnTo>
                  <a:lnTo>
                    <a:pt x="393158" y="93217"/>
                  </a:lnTo>
                  <a:lnTo>
                    <a:pt x="462026" y="93217"/>
                  </a:lnTo>
                  <a:lnTo>
                    <a:pt x="462026" y="81886"/>
                  </a:lnTo>
                  <a:lnTo>
                    <a:pt x="433871" y="81886"/>
                  </a:lnTo>
                  <a:lnTo>
                    <a:pt x="433871" y="33168"/>
                  </a:lnTo>
                  <a:close/>
                </a:path>
                <a:path w="535940" h="293370">
                  <a:moveTo>
                    <a:pt x="535756" y="224320"/>
                  </a:moveTo>
                  <a:lnTo>
                    <a:pt x="477218" y="224320"/>
                  </a:lnTo>
                  <a:lnTo>
                    <a:pt x="477218" y="230135"/>
                  </a:lnTo>
                  <a:lnTo>
                    <a:pt x="535756" y="230135"/>
                  </a:lnTo>
                  <a:lnTo>
                    <a:pt x="535756" y="224320"/>
                  </a:lnTo>
                  <a:close/>
                </a:path>
                <a:path w="535940" h="293370">
                  <a:moveTo>
                    <a:pt x="517323" y="99032"/>
                  </a:moveTo>
                  <a:lnTo>
                    <a:pt x="488561" y="99032"/>
                  </a:lnTo>
                  <a:lnTo>
                    <a:pt x="490384" y="99706"/>
                  </a:lnTo>
                  <a:lnTo>
                    <a:pt x="491599" y="101078"/>
                  </a:lnTo>
                  <a:lnTo>
                    <a:pt x="495638" y="205926"/>
                  </a:lnTo>
                  <a:lnTo>
                    <a:pt x="495042" y="212015"/>
                  </a:lnTo>
                  <a:lnTo>
                    <a:pt x="483092" y="224320"/>
                  </a:lnTo>
                  <a:lnTo>
                    <a:pt x="530084" y="224320"/>
                  </a:lnTo>
                  <a:lnTo>
                    <a:pt x="526236" y="223571"/>
                  </a:lnTo>
                  <a:lnTo>
                    <a:pt x="521780" y="220551"/>
                  </a:lnTo>
                  <a:lnTo>
                    <a:pt x="520159" y="218255"/>
                  </a:lnTo>
                  <a:lnTo>
                    <a:pt x="519146" y="215185"/>
                  </a:lnTo>
                  <a:lnTo>
                    <a:pt x="517931" y="212090"/>
                  </a:lnTo>
                  <a:lnTo>
                    <a:pt x="517323" y="205926"/>
                  </a:lnTo>
                  <a:lnTo>
                    <a:pt x="517323" y="99032"/>
                  </a:lnTo>
                  <a:close/>
                </a:path>
                <a:path w="535940" h="293370">
                  <a:moveTo>
                    <a:pt x="517323" y="77518"/>
                  </a:moveTo>
                  <a:lnTo>
                    <a:pt x="511652" y="77518"/>
                  </a:lnTo>
                  <a:lnTo>
                    <a:pt x="475395" y="95637"/>
                  </a:lnTo>
                  <a:lnTo>
                    <a:pt x="477218" y="101478"/>
                  </a:lnTo>
                  <a:lnTo>
                    <a:pt x="480864" y="99855"/>
                  </a:lnTo>
                  <a:lnTo>
                    <a:pt x="483699" y="99032"/>
                  </a:lnTo>
                  <a:lnTo>
                    <a:pt x="517323" y="99032"/>
                  </a:lnTo>
                  <a:lnTo>
                    <a:pt x="517323" y="775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2032855" y="4385789"/>
            <a:ext cx="567055" cy="235585"/>
          </a:xfrm>
          <a:custGeom>
            <a:avLst/>
            <a:gdLst/>
            <a:ahLst/>
            <a:cxnLst/>
            <a:rect l="l" t="t" r="r" b="b"/>
            <a:pathLst>
              <a:path w="567055" h="235585">
                <a:moveTo>
                  <a:pt x="100722" y="5665"/>
                </a:moveTo>
                <a:lnTo>
                  <a:pt x="94240" y="5665"/>
                </a:lnTo>
                <a:lnTo>
                  <a:pt x="81349" y="6545"/>
                </a:lnTo>
                <a:lnTo>
                  <a:pt x="36934" y="29147"/>
                </a:lnTo>
                <a:lnTo>
                  <a:pt x="11223" y="68284"/>
                </a:lnTo>
                <a:lnTo>
                  <a:pt x="633" y="109477"/>
                </a:lnTo>
                <a:lnTo>
                  <a:pt x="0" y="124938"/>
                </a:lnTo>
                <a:lnTo>
                  <a:pt x="1183" y="143217"/>
                </a:lnTo>
                <a:lnTo>
                  <a:pt x="20024" y="194370"/>
                </a:lnTo>
                <a:lnTo>
                  <a:pt x="53033" y="224962"/>
                </a:lnTo>
                <a:lnTo>
                  <a:pt x="98453" y="235151"/>
                </a:lnTo>
                <a:lnTo>
                  <a:pt x="107242" y="234860"/>
                </a:lnTo>
                <a:lnTo>
                  <a:pt x="145965" y="224435"/>
                </a:lnTo>
                <a:lnTo>
                  <a:pt x="146505" y="224145"/>
                </a:lnTo>
                <a:lnTo>
                  <a:pt x="98575" y="224145"/>
                </a:lnTo>
                <a:lnTo>
                  <a:pt x="90224" y="223391"/>
                </a:lnTo>
                <a:lnTo>
                  <a:pt x="51372" y="196576"/>
                </a:lnTo>
                <a:lnTo>
                  <a:pt x="35683" y="160859"/>
                </a:lnTo>
                <a:lnTo>
                  <a:pt x="30237" y="119322"/>
                </a:lnTo>
                <a:lnTo>
                  <a:pt x="30154" y="116527"/>
                </a:lnTo>
                <a:lnTo>
                  <a:pt x="31067" y="98180"/>
                </a:lnTo>
                <a:lnTo>
                  <a:pt x="44979" y="50165"/>
                </a:lnTo>
                <a:lnTo>
                  <a:pt x="80747" y="19048"/>
                </a:lnTo>
                <a:lnTo>
                  <a:pt x="96732" y="16971"/>
                </a:lnTo>
                <a:lnTo>
                  <a:pt x="136171" y="16971"/>
                </a:lnTo>
                <a:lnTo>
                  <a:pt x="124725" y="11755"/>
                </a:lnTo>
                <a:lnTo>
                  <a:pt x="117210" y="8884"/>
                </a:lnTo>
                <a:lnTo>
                  <a:pt x="106616" y="6289"/>
                </a:lnTo>
                <a:lnTo>
                  <a:pt x="100722" y="5665"/>
                </a:lnTo>
                <a:close/>
              </a:path>
              <a:path w="567055" h="235585">
                <a:moveTo>
                  <a:pt x="170826" y="116527"/>
                </a:moveTo>
                <a:lnTo>
                  <a:pt x="119154" y="116527"/>
                </a:lnTo>
                <a:lnTo>
                  <a:pt x="124178" y="117426"/>
                </a:lnTo>
                <a:lnTo>
                  <a:pt x="129869" y="120970"/>
                </a:lnTo>
                <a:lnTo>
                  <a:pt x="131956" y="123565"/>
                </a:lnTo>
                <a:lnTo>
                  <a:pt x="134670" y="130354"/>
                </a:lnTo>
                <a:lnTo>
                  <a:pt x="135287" y="136818"/>
                </a:lnTo>
                <a:lnTo>
                  <a:pt x="135252" y="212090"/>
                </a:lnTo>
                <a:lnTo>
                  <a:pt x="129667" y="216009"/>
                </a:lnTo>
                <a:lnTo>
                  <a:pt x="123752" y="219028"/>
                </a:lnTo>
                <a:lnTo>
                  <a:pt x="111498" y="223122"/>
                </a:lnTo>
                <a:lnTo>
                  <a:pt x="105138" y="224145"/>
                </a:lnTo>
                <a:lnTo>
                  <a:pt x="146505" y="224145"/>
                </a:lnTo>
                <a:lnTo>
                  <a:pt x="153446" y="220418"/>
                </a:lnTo>
                <a:lnTo>
                  <a:pt x="160982" y="215734"/>
                </a:lnTo>
                <a:lnTo>
                  <a:pt x="160982" y="136818"/>
                </a:lnTo>
                <a:lnTo>
                  <a:pt x="161853" y="128931"/>
                </a:lnTo>
                <a:lnTo>
                  <a:pt x="163595" y="124938"/>
                </a:lnTo>
                <a:lnTo>
                  <a:pt x="166147" y="119322"/>
                </a:lnTo>
                <a:lnTo>
                  <a:pt x="170826" y="116527"/>
                </a:lnTo>
                <a:close/>
              </a:path>
              <a:path w="567055" h="235585">
                <a:moveTo>
                  <a:pt x="180933" y="110363"/>
                </a:moveTo>
                <a:lnTo>
                  <a:pt x="111984" y="110363"/>
                </a:lnTo>
                <a:lnTo>
                  <a:pt x="111984" y="116527"/>
                </a:lnTo>
                <a:lnTo>
                  <a:pt x="180933" y="116527"/>
                </a:lnTo>
                <a:lnTo>
                  <a:pt x="180933" y="110363"/>
                </a:lnTo>
                <a:close/>
              </a:path>
              <a:path w="567055" h="235585">
                <a:moveTo>
                  <a:pt x="136171" y="16971"/>
                </a:moveTo>
                <a:lnTo>
                  <a:pt x="96732" y="16971"/>
                </a:lnTo>
                <a:lnTo>
                  <a:pt x="108650" y="18155"/>
                </a:lnTo>
                <a:lnTo>
                  <a:pt x="119430" y="21706"/>
                </a:lnTo>
                <a:lnTo>
                  <a:pt x="147608" y="52217"/>
                </a:lnTo>
                <a:lnTo>
                  <a:pt x="155594" y="74923"/>
                </a:lnTo>
                <a:lnTo>
                  <a:pt x="160192" y="74923"/>
                </a:lnTo>
                <a:lnTo>
                  <a:pt x="156517" y="19566"/>
                </a:lnTo>
                <a:lnTo>
                  <a:pt x="142630" y="19566"/>
                </a:lnTo>
                <a:lnTo>
                  <a:pt x="139349" y="18443"/>
                </a:lnTo>
                <a:lnTo>
                  <a:pt x="136171" y="16971"/>
                </a:lnTo>
                <a:close/>
              </a:path>
              <a:path w="567055" h="235585">
                <a:moveTo>
                  <a:pt x="155594" y="5665"/>
                </a:moveTo>
                <a:lnTo>
                  <a:pt x="150733" y="5665"/>
                </a:lnTo>
                <a:lnTo>
                  <a:pt x="150469" y="11156"/>
                </a:lnTo>
                <a:lnTo>
                  <a:pt x="149740" y="14849"/>
                </a:lnTo>
                <a:lnTo>
                  <a:pt x="148565" y="16746"/>
                </a:lnTo>
                <a:lnTo>
                  <a:pt x="147370" y="18618"/>
                </a:lnTo>
                <a:lnTo>
                  <a:pt x="145952" y="19566"/>
                </a:lnTo>
                <a:lnTo>
                  <a:pt x="156517" y="19566"/>
                </a:lnTo>
                <a:lnTo>
                  <a:pt x="155594" y="5665"/>
                </a:lnTo>
                <a:close/>
              </a:path>
              <a:path w="567055" h="235585">
                <a:moveTo>
                  <a:pt x="233213" y="0"/>
                </a:moveTo>
                <a:lnTo>
                  <a:pt x="225779" y="0"/>
                </a:lnTo>
                <a:lnTo>
                  <a:pt x="222599" y="1572"/>
                </a:lnTo>
                <a:lnTo>
                  <a:pt x="220026" y="4766"/>
                </a:lnTo>
                <a:lnTo>
                  <a:pt x="217434" y="7936"/>
                </a:lnTo>
                <a:lnTo>
                  <a:pt x="216137" y="11805"/>
                </a:lnTo>
                <a:lnTo>
                  <a:pt x="216137" y="20864"/>
                </a:lnTo>
                <a:lnTo>
                  <a:pt x="217454" y="24758"/>
                </a:lnTo>
                <a:lnTo>
                  <a:pt x="222720" y="31222"/>
                </a:lnTo>
                <a:lnTo>
                  <a:pt x="225860" y="32844"/>
                </a:lnTo>
                <a:lnTo>
                  <a:pt x="233213" y="32844"/>
                </a:lnTo>
                <a:lnTo>
                  <a:pt x="236352" y="31222"/>
                </a:lnTo>
                <a:lnTo>
                  <a:pt x="238925" y="27977"/>
                </a:lnTo>
                <a:lnTo>
                  <a:pt x="241517" y="24758"/>
                </a:lnTo>
                <a:lnTo>
                  <a:pt x="242814" y="20864"/>
                </a:lnTo>
                <a:lnTo>
                  <a:pt x="242814" y="11805"/>
                </a:lnTo>
                <a:lnTo>
                  <a:pt x="241517" y="7936"/>
                </a:lnTo>
                <a:lnTo>
                  <a:pt x="238925" y="4766"/>
                </a:lnTo>
                <a:lnTo>
                  <a:pt x="236352" y="1572"/>
                </a:lnTo>
                <a:lnTo>
                  <a:pt x="233213" y="0"/>
                </a:lnTo>
                <a:close/>
              </a:path>
              <a:path w="567055" h="235585">
                <a:moveTo>
                  <a:pt x="258694" y="224320"/>
                </a:moveTo>
                <a:lnTo>
                  <a:pt x="200257" y="224320"/>
                </a:lnTo>
                <a:lnTo>
                  <a:pt x="200257" y="230135"/>
                </a:lnTo>
                <a:lnTo>
                  <a:pt x="258694" y="230135"/>
                </a:lnTo>
                <a:lnTo>
                  <a:pt x="258694" y="224320"/>
                </a:lnTo>
                <a:close/>
              </a:path>
              <a:path w="567055" h="235585">
                <a:moveTo>
                  <a:pt x="240444" y="99032"/>
                </a:moveTo>
                <a:lnTo>
                  <a:pt x="211458" y="99032"/>
                </a:lnTo>
                <a:lnTo>
                  <a:pt x="213261" y="99706"/>
                </a:lnTo>
                <a:lnTo>
                  <a:pt x="214557" y="101078"/>
                </a:lnTo>
                <a:lnTo>
                  <a:pt x="218637" y="205926"/>
                </a:lnTo>
                <a:lnTo>
                  <a:pt x="218041" y="212015"/>
                </a:lnTo>
                <a:lnTo>
                  <a:pt x="215692" y="218479"/>
                </a:lnTo>
                <a:lnTo>
                  <a:pt x="214092" y="220800"/>
                </a:lnTo>
                <a:lnTo>
                  <a:pt x="210061" y="223621"/>
                </a:lnTo>
                <a:lnTo>
                  <a:pt x="206111" y="224320"/>
                </a:lnTo>
                <a:lnTo>
                  <a:pt x="253002" y="224320"/>
                </a:lnTo>
                <a:lnTo>
                  <a:pt x="240444" y="205926"/>
                </a:lnTo>
                <a:lnTo>
                  <a:pt x="240444" y="99032"/>
                </a:lnTo>
                <a:close/>
              </a:path>
              <a:path w="567055" h="235585">
                <a:moveTo>
                  <a:pt x="240444" y="77518"/>
                </a:moveTo>
                <a:lnTo>
                  <a:pt x="234671" y="77518"/>
                </a:lnTo>
                <a:lnTo>
                  <a:pt x="198414" y="95637"/>
                </a:lnTo>
                <a:lnTo>
                  <a:pt x="200257" y="101478"/>
                </a:lnTo>
                <a:lnTo>
                  <a:pt x="203761" y="99855"/>
                </a:lnTo>
                <a:lnTo>
                  <a:pt x="206739" y="99032"/>
                </a:lnTo>
                <a:lnTo>
                  <a:pt x="240444" y="99032"/>
                </a:lnTo>
                <a:lnTo>
                  <a:pt x="240444" y="77518"/>
                </a:lnTo>
                <a:close/>
              </a:path>
              <a:path w="567055" h="235585">
                <a:moveTo>
                  <a:pt x="332140" y="224320"/>
                </a:moveTo>
                <a:lnTo>
                  <a:pt x="270523" y="224320"/>
                </a:lnTo>
                <a:lnTo>
                  <a:pt x="270523" y="230135"/>
                </a:lnTo>
                <a:lnTo>
                  <a:pt x="332140" y="230135"/>
                </a:lnTo>
                <a:lnTo>
                  <a:pt x="332140" y="224320"/>
                </a:lnTo>
                <a:close/>
              </a:path>
              <a:path w="567055" h="235585">
                <a:moveTo>
                  <a:pt x="311115" y="99032"/>
                </a:moveTo>
                <a:lnTo>
                  <a:pt x="282008" y="99032"/>
                </a:lnTo>
                <a:lnTo>
                  <a:pt x="283912" y="99805"/>
                </a:lnTo>
                <a:lnTo>
                  <a:pt x="286971" y="102825"/>
                </a:lnTo>
                <a:lnTo>
                  <a:pt x="289442" y="205427"/>
                </a:lnTo>
                <a:lnTo>
                  <a:pt x="289219" y="210668"/>
                </a:lnTo>
                <a:lnTo>
                  <a:pt x="287902" y="216283"/>
                </a:lnTo>
                <a:lnTo>
                  <a:pt x="286383" y="219028"/>
                </a:lnTo>
                <a:lnTo>
                  <a:pt x="281218" y="223122"/>
                </a:lnTo>
                <a:lnTo>
                  <a:pt x="276661" y="224320"/>
                </a:lnTo>
                <a:lnTo>
                  <a:pt x="326712" y="224320"/>
                </a:lnTo>
                <a:lnTo>
                  <a:pt x="311115" y="203704"/>
                </a:lnTo>
                <a:lnTo>
                  <a:pt x="311115" y="124464"/>
                </a:lnTo>
                <a:lnTo>
                  <a:pt x="315328" y="114306"/>
                </a:lnTo>
                <a:lnTo>
                  <a:pt x="317252" y="110862"/>
                </a:lnTo>
                <a:lnTo>
                  <a:pt x="311115" y="110862"/>
                </a:lnTo>
                <a:lnTo>
                  <a:pt x="311115" y="99032"/>
                </a:lnTo>
                <a:close/>
              </a:path>
              <a:path w="567055" h="235585">
                <a:moveTo>
                  <a:pt x="346927" y="77518"/>
                </a:moveTo>
                <a:lnTo>
                  <a:pt x="342126" y="77518"/>
                </a:lnTo>
                <a:lnTo>
                  <a:pt x="334219" y="79601"/>
                </a:lnTo>
                <a:lnTo>
                  <a:pt x="326416" y="85851"/>
                </a:lnTo>
                <a:lnTo>
                  <a:pt x="318715" y="96270"/>
                </a:lnTo>
                <a:lnTo>
                  <a:pt x="311115" y="110862"/>
                </a:lnTo>
                <a:lnTo>
                  <a:pt x="317252" y="110862"/>
                </a:lnTo>
                <a:lnTo>
                  <a:pt x="319400" y="107018"/>
                </a:lnTo>
                <a:lnTo>
                  <a:pt x="323329" y="102601"/>
                </a:lnTo>
                <a:lnTo>
                  <a:pt x="325172" y="100454"/>
                </a:lnTo>
                <a:lnTo>
                  <a:pt x="326874" y="99356"/>
                </a:lnTo>
                <a:lnTo>
                  <a:pt x="358796" y="99356"/>
                </a:lnTo>
                <a:lnTo>
                  <a:pt x="358796" y="90746"/>
                </a:lnTo>
                <a:lnTo>
                  <a:pt x="357216" y="86553"/>
                </a:lnTo>
                <a:lnTo>
                  <a:pt x="350917" y="79315"/>
                </a:lnTo>
                <a:lnTo>
                  <a:pt x="346927" y="77518"/>
                </a:lnTo>
                <a:close/>
              </a:path>
              <a:path w="567055" h="235585">
                <a:moveTo>
                  <a:pt x="358796" y="99356"/>
                </a:moveTo>
                <a:lnTo>
                  <a:pt x="330297" y="99356"/>
                </a:lnTo>
                <a:lnTo>
                  <a:pt x="333113" y="101228"/>
                </a:lnTo>
                <a:lnTo>
                  <a:pt x="340729" y="108665"/>
                </a:lnTo>
                <a:lnTo>
                  <a:pt x="344172" y="110537"/>
                </a:lnTo>
                <a:lnTo>
                  <a:pt x="350390" y="110537"/>
                </a:lnTo>
                <a:lnTo>
                  <a:pt x="353105" y="109090"/>
                </a:lnTo>
                <a:lnTo>
                  <a:pt x="357662" y="103250"/>
                </a:lnTo>
                <a:lnTo>
                  <a:pt x="358741" y="99855"/>
                </a:lnTo>
                <a:lnTo>
                  <a:pt x="358796" y="99356"/>
                </a:lnTo>
                <a:close/>
              </a:path>
              <a:path w="567055" h="235585">
                <a:moveTo>
                  <a:pt x="311115" y="77518"/>
                </a:moveTo>
                <a:lnTo>
                  <a:pt x="305606" y="77518"/>
                </a:lnTo>
                <a:lnTo>
                  <a:pt x="269207" y="95637"/>
                </a:lnTo>
                <a:lnTo>
                  <a:pt x="270523" y="101478"/>
                </a:lnTo>
                <a:lnTo>
                  <a:pt x="273946" y="99855"/>
                </a:lnTo>
                <a:lnTo>
                  <a:pt x="277005" y="99032"/>
                </a:lnTo>
                <a:lnTo>
                  <a:pt x="311115" y="99032"/>
                </a:lnTo>
                <a:lnTo>
                  <a:pt x="311115" y="77518"/>
                </a:lnTo>
                <a:close/>
              </a:path>
              <a:path w="567055" h="235585">
                <a:moveTo>
                  <a:pt x="426834" y="77343"/>
                </a:moveTo>
                <a:lnTo>
                  <a:pt x="384946" y="103824"/>
                </a:lnTo>
                <a:lnTo>
                  <a:pt x="369679" y="146568"/>
                </a:lnTo>
                <a:lnTo>
                  <a:pt x="368661" y="162175"/>
                </a:lnTo>
                <a:lnTo>
                  <a:pt x="369580" y="177387"/>
                </a:lnTo>
                <a:lnTo>
                  <a:pt x="383366" y="214361"/>
                </a:lnTo>
                <a:lnTo>
                  <a:pt x="417780" y="234677"/>
                </a:lnTo>
                <a:lnTo>
                  <a:pt x="424262" y="234677"/>
                </a:lnTo>
                <a:lnTo>
                  <a:pt x="430298" y="233030"/>
                </a:lnTo>
                <a:lnTo>
                  <a:pt x="441520" y="226441"/>
                </a:lnTo>
                <a:lnTo>
                  <a:pt x="447252" y="221025"/>
                </a:lnTo>
                <a:lnTo>
                  <a:pt x="450459" y="216882"/>
                </a:lnTo>
                <a:lnTo>
                  <a:pt x="429994" y="216882"/>
                </a:lnTo>
                <a:lnTo>
                  <a:pt x="423063" y="215792"/>
                </a:lnTo>
                <a:lnTo>
                  <a:pt x="395580" y="178254"/>
                </a:lnTo>
                <a:lnTo>
                  <a:pt x="392684" y="149371"/>
                </a:lnTo>
                <a:lnTo>
                  <a:pt x="393432" y="134164"/>
                </a:lnTo>
                <a:lnTo>
                  <a:pt x="410691" y="91644"/>
                </a:lnTo>
                <a:lnTo>
                  <a:pt x="417557" y="87401"/>
                </a:lnTo>
                <a:lnTo>
                  <a:pt x="450654" y="87401"/>
                </a:lnTo>
                <a:lnTo>
                  <a:pt x="447579" y="84366"/>
                </a:lnTo>
                <a:lnTo>
                  <a:pt x="441360" y="80466"/>
                </a:lnTo>
                <a:lnTo>
                  <a:pt x="434446" y="78125"/>
                </a:lnTo>
                <a:lnTo>
                  <a:pt x="426834" y="77343"/>
                </a:lnTo>
                <a:close/>
              </a:path>
              <a:path w="567055" h="235585">
                <a:moveTo>
                  <a:pt x="493434" y="210718"/>
                </a:moveTo>
                <a:lnTo>
                  <a:pt x="489505" y="212564"/>
                </a:lnTo>
                <a:lnTo>
                  <a:pt x="486345" y="213463"/>
                </a:lnTo>
                <a:lnTo>
                  <a:pt x="453106" y="213463"/>
                </a:lnTo>
                <a:lnTo>
                  <a:pt x="453106" y="234677"/>
                </a:lnTo>
                <a:lnTo>
                  <a:pt x="459162" y="234677"/>
                </a:lnTo>
                <a:lnTo>
                  <a:pt x="494893" y="216383"/>
                </a:lnTo>
                <a:lnTo>
                  <a:pt x="493434" y="210718"/>
                </a:lnTo>
                <a:close/>
              </a:path>
              <a:path w="567055" h="235585">
                <a:moveTo>
                  <a:pt x="450654" y="87401"/>
                </a:moveTo>
                <a:lnTo>
                  <a:pt x="429387" y="87401"/>
                </a:lnTo>
                <a:lnTo>
                  <a:pt x="433600" y="88924"/>
                </a:lnTo>
                <a:lnTo>
                  <a:pt x="442269" y="95088"/>
                </a:lnTo>
                <a:lnTo>
                  <a:pt x="445753" y="99631"/>
                </a:lnTo>
                <a:lnTo>
                  <a:pt x="451019" y="111710"/>
                </a:lnTo>
                <a:lnTo>
                  <a:pt x="452599" y="118424"/>
                </a:lnTo>
                <a:lnTo>
                  <a:pt x="453106" y="125737"/>
                </a:lnTo>
                <a:lnTo>
                  <a:pt x="453106" y="202132"/>
                </a:lnTo>
                <a:lnTo>
                  <a:pt x="447481" y="208585"/>
                </a:lnTo>
                <a:lnTo>
                  <a:pt x="441755" y="213195"/>
                </a:lnTo>
                <a:lnTo>
                  <a:pt x="435927" y="215960"/>
                </a:lnTo>
                <a:lnTo>
                  <a:pt x="429994" y="216882"/>
                </a:lnTo>
                <a:lnTo>
                  <a:pt x="450459" y="216882"/>
                </a:lnTo>
                <a:lnTo>
                  <a:pt x="453106" y="213463"/>
                </a:lnTo>
                <a:lnTo>
                  <a:pt x="482051" y="213463"/>
                </a:lnTo>
                <a:lnTo>
                  <a:pt x="480370" y="212714"/>
                </a:lnTo>
                <a:lnTo>
                  <a:pt x="474799" y="89822"/>
                </a:lnTo>
                <a:lnTo>
                  <a:pt x="453106" y="89822"/>
                </a:lnTo>
                <a:lnTo>
                  <a:pt x="450654" y="87401"/>
                </a:lnTo>
                <a:close/>
              </a:path>
              <a:path w="567055" h="235585">
                <a:moveTo>
                  <a:pt x="474799" y="21189"/>
                </a:moveTo>
                <a:lnTo>
                  <a:pt x="445895" y="21189"/>
                </a:lnTo>
                <a:lnTo>
                  <a:pt x="447637" y="21887"/>
                </a:lnTo>
                <a:lnTo>
                  <a:pt x="450452" y="24708"/>
                </a:lnTo>
                <a:lnTo>
                  <a:pt x="453106" y="89822"/>
                </a:lnTo>
                <a:lnTo>
                  <a:pt x="474799" y="89822"/>
                </a:lnTo>
                <a:lnTo>
                  <a:pt x="474799" y="21189"/>
                </a:lnTo>
                <a:close/>
              </a:path>
              <a:path w="567055" h="235585">
                <a:moveTo>
                  <a:pt x="474799" y="0"/>
                </a:moveTo>
                <a:lnTo>
                  <a:pt x="468885" y="0"/>
                </a:lnTo>
                <a:lnTo>
                  <a:pt x="433012" y="18119"/>
                </a:lnTo>
                <a:lnTo>
                  <a:pt x="434734" y="23784"/>
                </a:lnTo>
                <a:lnTo>
                  <a:pt x="438481" y="22062"/>
                </a:lnTo>
                <a:lnTo>
                  <a:pt x="441520" y="21189"/>
                </a:lnTo>
                <a:lnTo>
                  <a:pt x="474799" y="21189"/>
                </a:lnTo>
                <a:lnTo>
                  <a:pt x="474799" y="0"/>
                </a:lnTo>
                <a:close/>
              </a:path>
              <a:path w="567055" h="235585">
                <a:moveTo>
                  <a:pt x="540994" y="0"/>
                </a:moveTo>
                <a:lnTo>
                  <a:pt x="533560" y="0"/>
                </a:lnTo>
                <a:lnTo>
                  <a:pt x="530380" y="1572"/>
                </a:lnTo>
                <a:lnTo>
                  <a:pt x="525215" y="7936"/>
                </a:lnTo>
                <a:lnTo>
                  <a:pt x="523919" y="11805"/>
                </a:lnTo>
                <a:lnTo>
                  <a:pt x="523919" y="20864"/>
                </a:lnTo>
                <a:lnTo>
                  <a:pt x="525235" y="24758"/>
                </a:lnTo>
                <a:lnTo>
                  <a:pt x="527869" y="27977"/>
                </a:lnTo>
                <a:lnTo>
                  <a:pt x="530481" y="31222"/>
                </a:lnTo>
                <a:lnTo>
                  <a:pt x="533641" y="32844"/>
                </a:lnTo>
                <a:lnTo>
                  <a:pt x="540994" y="32844"/>
                </a:lnTo>
                <a:lnTo>
                  <a:pt x="544134" y="31222"/>
                </a:lnTo>
                <a:lnTo>
                  <a:pt x="546706" y="27977"/>
                </a:lnTo>
                <a:lnTo>
                  <a:pt x="549299" y="24758"/>
                </a:lnTo>
                <a:lnTo>
                  <a:pt x="550575" y="20864"/>
                </a:lnTo>
                <a:lnTo>
                  <a:pt x="550575" y="11805"/>
                </a:lnTo>
                <a:lnTo>
                  <a:pt x="549299" y="7936"/>
                </a:lnTo>
                <a:lnTo>
                  <a:pt x="546706" y="4766"/>
                </a:lnTo>
                <a:lnTo>
                  <a:pt x="544134" y="1572"/>
                </a:lnTo>
                <a:lnTo>
                  <a:pt x="540994" y="0"/>
                </a:lnTo>
                <a:close/>
              </a:path>
              <a:path w="567055" h="235585">
                <a:moveTo>
                  <a:pt x="566475" y="224320"/>
                </a:moveTo>
                <a:lnTo>
                  <a:pt x="508018" y="224320"/>
                </a:lnTo>
                <a:lnTo>
                  <a:pt x="508018" y="230135"/>
                </a:lnTo>
                <a:lnTo>
                  <a:pt x="566475" y="230135"/>
                </a:lnTo>
                <a:lnTo>
                  <a:pt x="566475" y="224320"/>
                </a:lnTo>
                <a:close/>
              </a:path>
              <a:path w="567055" h="235585">
                <a:moveTo>
                  <a:pt x="548225" y="99032"/>
                </a:moveTo>
                <a:lnTo>
                  <a:pt x="519240" y="99032"/>
                </a:lnTo>
                <a:lnTo>
                  <a:pt x="521022" y="99706"/>
                </a:lnTo>
                <a:lnTo>
                  <a:pt x="523655" y="102426"/>
                </a:lnTo>
                <a:lnTo>
                  <a:pt x="526398" y="205926"/>
                </a:lnTo>
                <a:lnTo>
                  <a:pt x="525823" y="212015"/>
                </a:lnTo>
                <a:lnTo>
                  <a:pt x="513892" y="224320"/>
                </a:lnTo>
                <a:lnTo>
                  <a:pt x="560784" y="224320"/>
                </a:lnTo>
                <a:lnTo>
                  <a:pt x="548225" y="205926"/>
                </a:lnTo>
                <a:lnTo>
                  <a:pt x="548225" y="99032"/>
                </a:lnTo>
                <a:close/>
              </a:path>
              <a:path w="567055" h="235585">
                <a:moveTo>
                  <a:pt x="548225" y="77518"/>
                </a:moveTo>
                <a:lnTo>
                  <a:pt x="542432" y="77518"/>
                </a:lnTo>
                <a:lnTo>
                  <a:pt x="506175" y="95637"/>
                </a:lnTo>
                <a:lnTo>
                  <a:pt x="508018" y="101478"/>
                </a:lnTo>
                <a:lnTo>
                  <a:pt x="511522" y="99855"/>
                </a:lnTo>
                <a:lnTo>
                  <a:pt x="514500" y="99032"/>
                </a:lnTo>
                <a:lnTo>
                  <a:pt x="548225" y="99032"/>
                </a:lnTo>
                <a:lnTo>
                  <a:pt x="548225" y="775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41994" y="4763149"/>
            <a:ext cx="744855" cy="301625"/>
          </a:xfrm>
          <a:custGeom>
            <a:avLst/>
            <a:gdLst/>
            <a:ahLst/>
            <a:cxnLst/>
            <a:rect l="l" t="t" r="r" b="b"/>
            <a:pathLst>
              <a:path w="744855" h="301625">
                <a:moveTo>
                  <a:pt x="72510" y="0"/>
                </a:moveTo>
                <a:lnTo>
                  <a:pt x="30910" y="39940"/>
                </a:lnTo>
                <a:lnTo>
                  <a:pt x="11304" y="80381"/>
                </a:lnTo>
                <a:lnTo>
                  <a:pt x="1255" y="126139"/>
                </a:lnTo>
                <a:lnTo>
                  <a:pt x="0" y="150669"/>
                </a:lnTo>
                <a:lnTo>
                  <a:pt x="640" y="167680"/>
                </a:lnTo>
                <a:lnTo>
                  <a:pt x="10245" y="216872"/>
                </a:lnTo>
                <a:lnTo>
                  <a:pt x="30491" y="259965"/>
                </a:lnTo>
                <a:lnTo>
                  <a:pt x="63002" y="294623"/>
                </a:lnTo>
                <a:lnTo>
                  <a:pt x="72510" y="301037"/>
                </a:lnTo>
                <a:lnTo>
                  <a:pt x="72510" y="295047"/>
                </a:lnTo>
                <a:lnTo>
                  <a:pt x="66192" y="289312"/>
                </a:lnTo>
                <a:lnTo>
                  <a:pt x="60507" y="283435"/>
                </a:lnTo>
                <a:lnTo>
                  <a:pt x="37962" y="245279"/>
                </a:lnTo>
                <a:lnTo>
                  <a:pt x="27790" y="194875"/>
                </a:lnTo>
                <a:lnTo>
                  <a:pt x="25351" y="146476"/>
                </a:lnTo>
                <a:lnTo>
                  <a:pt x="25671" y="130692"/>
                </a:lnTo>
                <a:lnTo>
                  <a:pt x="30474" y="85280"/>
                </a:lnTo>
                <a:lnTo>
                  <a:pt x="41115" y="47074"/>
                </a:lnTo>
                <a:lnTo>
                  <a:pt x="64792" y="12797"/>
                </a:lnTo>
                <a:lnTo>
                  <a:pt x="72510" y="6788"/>
                </a:lnTo>
                <a:lnTo>
                  <a:pt x="72510" y="0"/>
                </a:lnTo>
                <a:close/>
              </a:path>
              <a:path w="744855" h="301625">
                <a:moveTo>
                  <a:pt x="164198" y="224157"/>
                </a:moveTo>
                <a:lnTo>
                  <a:pt x="87878" y="224157"/>
                </a:lnTo>
                <a:lnTo>
                  <a:pt x="87878" y="230145"/>
                </a:lnTo>
                <a:lnTo>
                  <a:pt x="164198" y="230145"/>
                </a:lnTo>
                <a:lnTo>
                  <a:pt x="164198" y="224157"/>
                </a:lnTo>
                <a:close/>
              </a:path>
              <a:path w="744855" h="301625">
                <a:moveTo>
                  <a:pt x="150485" y="16671"/>
                </a:moveTo>
                <a:lnTo>
                  <a:pt x="98388" y="16671"/>
                </a:lnTo>
                <a:lnTo>
                  <a:pt x="102415" y="17944"/>
                </a:lnTo>
                <a:lnTo>
                  <a:pt x="106270" y="20540"/>
                </a:lnTo>
                <a:lnTo>
                  <a:pt x="108984" y="22486"/>
                </a:lnTo>
                <a:lnTo>
                  <a:pt x="110779" y="24807"/>
                </a:lnTo>
                <a:lnTo>
                  <a:pt x="112794" y="31072"/>
                </a:lnTo>
                <a:lnTo>
                  <a:pt x="113363" y="38409"/>
                </a:lnTo>
                <a:lnTo>
                  <a:pt x="113363" y="204453"/>
                </a:lnTo>
                <a:lnTo>
                  <a:pt x="112312" y="212772"/>
                </a:lnTo>
                <a:lnTo>
                  <a:pt x="110209" y="216226"/>
                </a:lnTo>
                <a:lnTo>
                  <a:pt x="106881" y="221512"/>
                </a:lnTo>
                <a:lnTo>
                  <a:pt x="101540" y="224157"/>
                </a:lnTo>
                <a:lnTo>
                  <a:pt x="153564" y="224157"/>
                </a:lnTo>
                <a:lnTo>
                  <a:pt x="138575" y="202407"/>
                </a:lnTo>
                <a:lnTo>
                  <a:pt x="138575" y="36363"/>
                </a:lnTo>
                <a:lnTo>
                  <a:pt x="139669" y="28052"/>
                </a:lnTo>
                <a:lnTo>
                  <a:pt x="141877" y="24583"/>
                </a:lnTo>
                <a:lnTo>
                  <a:pt x="145199" y="19292"/>
                </a:lnTo>
                <a:lnTo>
                  <a:pt x="150485" y="16671"/>
                </a:lnTo>
                <a:close/>
              </a:path>
              <a:path w="744855" h="301625">
                <a:moveTo>
                  <a:pt x="164198" y="10681"/>
                </a:moveTo>
                <a:lnTo>
                  <a:pt x="87878" y="10681"/>
                </a:lnTo>
                <a:lnTo>
                  <a:pt x="87878" y="16671"/>
                </a:lnTo>
                <a:lnTo>
                  <a:pt x="164198" y="16671"/>
                </a:lnTo>
                <a:lnTo>
                  <a:pt x="164198" y="10681"/>
                </a:lnTo>
                <a:close/>
              </a:path>
              <a:path w="744855" h="301625">
                <a:moveTo>
                  <a:pt x="236449" y="224317"/>
                </a:moveTo>
                <a:lnTo>
                  <a:pt x="176939" y="224317"/>
                </a:lnTo>
                <a:lnTo>
                  <a:pt x="176939" y="230145"/>
                </a:lnTo>
                <a:lnTo>
                  <a:pt x="236449" y="230145"/>
                </a:lnTo>
                <a:lnTo>
                  <a:pt x="236449" y="224317"/>
                </a:lnTo>
                <a:close/>
              </a:path>
              <a:path w="744855" h="301625">
                <a:moveTo>
                  <a:pt x="306715" y="224317"/>
                </a:moveTo>
                <a:lnTo>
                  <a:pt x="247225" y="224317"/>
                </a:lnTo>
                <a:lnTo>
                  <a:pt x="247225" y="230145"/>
                </a:lnTo>
                <a:lnTo>
                  <a:pt x="306715" y="230145"/>
                </a:lnTo>
                <a:lnTo>
                  <a:pt x="306715" y="224317"/>
                </a:lnTo>
                <a:close/>
              </a:path>
              <a:path w="744855" h="301625">
                <a:moveTo>
                  <a:pt x="216883" y="99032"/>
                </a:moveTo>
                <a:lnTo>
                  <a:pt x="188019" y="99032"/>
                </a:lnTo>
                <a:lnTo>
                  <a:pt x="189842" y="99756"/>
                </a:lnTo>
                <a:lnTo>
                  <a:pt x="192556" y="102551"/>
                </a:lnTo>
                <a:lnTo>
                  <a:pt x="195189" y="207423"/>
                </a:lnTo>
                <a:lnTo>
                  <a:pt x="194136" y="214741"/>
                </a:lnTo>
                <a:lnTo>
                  <a:pt x="189842" y="222403"/>
                </a:lnTo>
                <a:lnTo>
                  <a:pt x="185689" y="224317"/>
                </a:lnTo>
                <a:lnTo>
                  <a:pt x="229887" y="224317"/>
                </a:lnTo>
                <a:lnTo>
                  <a:pt x="225511" y="223591"/>
                </a:lnTo>
                <a:lnTo>
                  <a:pt x="221237" y="220676"/>
                </a:lnTo>
                <a:lnTo>
                  <a:pt x="219536" y="218385"/>
                </a:lnTo>
                <a:lnTo>
                  <a:pt x="218321" y="215255"/>
                </a:lnTo>
                <a:lnTo>
                  <a:pt x="217348" y="212881"/>
                </a:lnTo>
                <a:lnTo>
                  <a:pt x="216939" y="207423"/>
                </a:lnTo>
                <a:lnTo>
                  <a:pt x="216883" y="118474"/>
                </a:lnTo>
                <a:lnTo>
                  <a:pt x="224638" y="109269"/>
                </a:lnTo>
                <a:lnTo>
                  <a:pt x="225057" y="108915"/>
                </a:lnTo>
                <a:lnTo>
                  <a:pt x="216883" y="108915"/>
                </a:lnTo>
                <a:lnTo>
                  <a:pt x="216883" y="99032"/>
                </a:lnTo>
                <a:close/>
              </a:path>
              <a:path w="744855" h="301625">
                <a:moveTo>
                  <a:pt x="283585" y="97434"/>
                </a:moveTo>
                <a:lnTo>
                  <a:pt x="254740" y="97434"/>
                </a:lnTo>
                <a:lnTo>
                  <a:pt x="259540" y="100479"/>
                </a:lnTo>
                <a:lnTo>
                  <a:pt x="262397" y="106569"/>
                </a:lnTo>
                <a:lnTo>
                  <a:pt x="266602" y="206674"/>
                </a:lnTo>
                <a:lnTo>
                  <a:pt x="266488" y="210236"/>
                </a:lnTo>
                <a:lnTo>
                  <a:pt x="265253" y="215956"/>
                </a:lnTo>
                <a:lnTo>
                  <a:pt x="263693" y="219058"/>
                </a:lnTo>
                <a:lnTo>
                  <a:pt x="259237" y="223266"/>
                </a:lnTo>
                <a:lnTo>
                  <a:pt x="255327" y="224317"/>
                </a:lnTo>
                <a:lnTo>
                  <a:pt x="300943" y="224317"/>
                </a:lnTo>
                <a:lnTo>
                  <a:pt x="288323" y="133349"/>
                </a:lnTo>
                <a:lnTo>
                  <a:pt x="288145" y="123962"/>
                </a:lnTo>
                <a:lnTo>
                  <a:pt x="287607" y="115869"/>
                </a:lnTo>
                <a:lnTo>
                  <a:pt x="286734" y="109269"/>
                </a:lnTo>
                <a:lnTo>
                  <a:pt x="286672" y="108915"/>
                </a:lnTo>
                <a:lnTo>
                  <a:pt x="285447" y="103574"/>
                </a:lnTo>
                <a:lnTo>
                  <a:pt x="283585" y="97434"/>
                </a:lnTo>
                <a:close/>
              </a:path>
              <a:path w="744855" h="301625">
                <a:moveTo>
                  <a:pt x="263774" y="77518"/>
                </a:moveTo>
                <a:lnTo>
                  <a:pt x="257191" y="77518"/>
                </a:lnTo>
                <a:lnTo>
                  <a:pt x="247483" y="79479"/>
                </a:lnTo>
                <a:lnTo>
                  <a:pt x="237530" y="85364"/>
                </a:lnTo>
                <a:lnTo>
                  <a:pt x="227331" y="95175"/>
                </a:lnTo>
                <a:lnTo>
                  <a:pt x="216883" y="108915"/>
                </a:lnTo>
                <a:lnTo>
                  <a:pt x="225057" y="108915"/>
                </a:lnTo>
                <a:lnTo>
                  <a:pt x="232411" y="102694"/>
                </a:lnTo>
                <a:lnTo>
                  <a:pt x="240203" y="98749"/>
                </a:lnTo>
                <a:lnTo>
                  <a:pt x="248015" y="97434"/>
                </a:lnTo>
                <a:lnTo>
                  <a:pt x="283585" y="97434"/>
                </a:lnTo>
                <a:lnTo>
                  <a:pt x="282632" y="94290"/>
                </a:lnTo>
                <a:lnTo>
                  <a:pt x="278884" y="87626"/>
                </a:lnTo>
                <a:lnTo>
                  <a:pt x="269425" y="79540"/>
                </a:lnTo>
                <a:lnTo>
                  <a:pt x="263774" y="77518"/>
                </a:lnTo>
                <a:close/>
              </a:path>
              <a:path w="744855" h="301625">
                <a:moveTo>
                  <a:pt x="216883" y="77518"/>
                </a:moveTo>
                <a:lnTo>
                  <a:pt x="211231" y="77518"/>
                </a:lnTo>
                <a:lnTo>
                  <a:pt x="174974" y="95637"/>
                </a:lnTo>
                <a:lnTo>
                  <a:pt x="176939" y="101478"/>
                </a:lnTo>
                <a:lnTo>
                  <a:pt x="180362" y="99855"/>
                </a:lnTo>
                <a:lnTo>
                  <a:pt x="183299" y="99032"/>
                </a:lnTo>
                <a:lnTo>
                  <a:pt x="216883" y="99032"/>
                </a:lnTo>
                <a:lnTo>
                  <a:pt x="216883" y="77518"/>
                </a:lnTo>
                <a:close/>
              </a:path>
              <a:path w="744855" h="301625">
                <a:moveTo>
                  <a:pt x="314352" y="295047"/>
                </a:moveTo>
                <a:lnTo>
                  <a:pt x="311050" y="295047"/>
                </a:lnTo>
                <a:lnTo>
                  <a:pt x="311050" y="301037"/>
                </a:lnTo>
                <a:lnTo>
                  <a:pt x="374105" y="301037"/>
                </a:lnTo>
                <a:lnTo>
                  <a:pt x="374105" y="295157"/>
                </a:lnTo>
                <a:lnTo>
                  <a:pt x="319152" y="295157"/>
                </a:lnTo>
                <a:lnTo>
                  <a:pt x="314352" y="295047"/>
                </a:lnTo>
                <a:close/>
              </a:path>
              <a:path w="744855" h="301625">
                <a:moveTo>
                  <a:pt x="353749" y="99531"/>
                </a:moveTo>
                <a:lnTo>
                  <a:pt x="323933" y="99531"/>
                </a:lnTo>
                <a:lnTo>
                  <a:pt x="326019" y="100180"/>
                </a:lnTo>
                <a:lnTo>
                  <a:pt x="329077" y="102775"/>
                </a:lnTo>
                <a:lnTo>
                  <a:pt x="330191" y="104697"/>
                </a:lnTo>
                <a:lnTo>
                  <a:pt x="331589" y="109888"/>
                </a:lnTo>
                <a:lnTo>
                  <a:pt x="331812" y="113607"/>
                </a:lnTo>
                <a:lnTo>
                  <a:pt x="331931" y="276866"/>
                </a:lnTo>
                <a:lnTo>
                  <a:pt x="331488" y="283260"/>
                </a:lnTo>
                <a:lnTo>
                  <a:pt x="319152" y="295157"/>
                </a:lnTo>
                <a:lnTo>
                  <a:pt x="374105" y="295157"/>
                </a:lnTo>
                <a:lnTo>
                  <a:pt x="367542" y="295047"/>
                </a:lnTo>
                <a:lnTo>
                  <a:pt x="363005" y="294239"/>
                </a:lnTo>
                <a:lnTo>
                  <a:pt x="358022" y="291002"/>
                </a:lnTo>
                <a:lnTo>
                  <a:pt x="356260" y="288818"/>
                </a:lnTo>
                <a:lnTo>
                  <a:pt x="354255" y="283315"/>
                </a:lnTo>
                <a:lnTo>
                  <a:pt x="353749" y="276866"/>
                </a:lnTo>
                <a:lnTo>
                  <a:pt x="353749" y="221567"/>
                </a:lnTo>
                <a:lnTo>
                  <a:pt x="367667" y="221567"/>
                </a:lnTo>
                <a:lnTo>
                  <a:pt x="359157" y="213096"/>
                </a:lnTo>
                <a:lnTo>
                  <a:pt x="356159" y="207598"/>
                </a:lnTo>
                <a:lnTo>
                  <a:pt x="354803" y="200746"/>
                </a:lnTo>
                <a:lnTo>
                  <a:pt x="354154" y="197565"/>
                </a:lnTo>
                <a:lnTo>
                  <a:pt x="353749" y="189678"/>
                </a:lnTo>
                <a:lnTo>
                  <a:pt x="353749" y="122342"/>
                </a:lnTo>
                <a:lnTo>
                  <a:pt x="360889" y="112808"/>
                </a:lnTo>
                <a:lnTo>
                  <a:pt x="353749" y="112808"/>
                </a:lnTo>
                <a:lnTo>
                  <a:pt x="353749" y="99531"/>
                </a:lnTo>
                <a:close/>
              </a:path>
              <a:path w="744855" h="301625">
                <a:moveTo>
                  <a:pt x="367667" y="221567"/>
                </a:moveTo>
                <a:lnTo>
                  <a:pt x="353749" y="221567"/>
                </a:lnTo>
                <a:lnTo>
                  <a:pt x="358124" y="226423"/>
                </a:lnTo>
                <a:lnTo>
                  <a:pt x="362074" y="229660"/>
                </a:lnTo>
                <a:lnTo>
                  <a:pt x="365578" y="231278"/>
                </a:lnTo>
                <a:lnTo>
                  <a:pt x="370297" y="233544"/>
                </a:lnTo>
                <a:lnTo>
                  <a:pt x="375908" y="234677"/>
                </a:lnTo>
                <a:lnTo>
                  <a:pt x="382390" y="234677"/>
                </a:lnTo>
                <a:lnTo>
                  <a:pt x="393078" y="233392"/>
                </a:lnTo>
                <a:lnTo>
                  <a:pt x="402812" y="229538"/>
                </a:lnTo>
                <a:lnTo>
                  <a:pt x="409066" y="224966"/>
                </a:lnTo>
                <a:lnTo>
                  <a:pt x="374733" y="224966"/>
                </a:lnTo>
                <a:lnTo>
                  <a:pt x="368697" y="222592"/>
                </a:lnTo>
                <a:lnTo>
                  <a:pt x="367667" y="221567"/>
                </a:lnTo>
                <a:close/>
              </a:path>
              <a:path w="744855" h="301625">
                <a:moveTo>
                  <a:pt x="425836" y="100978"/>
                </a:moveTo>
                <a:lnTo>
                  <a:pt x="389560" y="100978"/>
                </a:lnTo>
                <a:lnTo>
                  <a:pt x="396224" y="105196"/>
                </a:lnTo>
                <a:lnTo>
                  <a:pt x="401835" y="113607"/>
                </a:lnTo>
                <a:lnTo>
                  <a:pt x="407114" y="123739"/>
                </a:lnTo>
                <a:lnTo>
                  <a:pt x="410887" y="135829"/>
                </a:lnTo>
                <a:lnTo>
                  <a:pt x="413152" y="149880"/>
                </a:lnTo>
                <a:lnTo>
                  <a:pt x="413907" y="165893"/>
                </a:lnTo>
                <a:lnTo>
                  <a:pt x="413243" y="180026"/>
                </a:lnTo>
                <a:lnTo>
                  <a:pt x="397845" y="220758"/>
                </a:lnTo>
                <a:lnTo>
                  <a:pt x="390755" y="224966"/>
                </a:lnTo>
                <a:lnTo>
                  <a:pt x="409066" y="224966"/>
                </a:lnTo>
                <a:lnTo>
                  <a:pt x="432836" y="185714"/>
                </a:lnTo>
                <a:lnTo>
                  <a:pt x="437302" y="150669"/>
                </a:lnTo>
                <a:lnTo>
                  <a:pt x="436372" y="134329"/>
                </a:lnTo>
                <a:lnTo>
                  <a:pt x="433585" y="119600"/>
                </a:lnTo>
                <a:lnTo>
                  <a:pt x="428945" y="106486"/>
                </a:lnTo>
                <a:lnTo>
                  <a:pt x="425836" y="100978"/>
                </a:lnTo>
                <a:close/>
              </a:path>
              <a:path w="744855" h="301625">
                <a:moveTo>
                  <a:pt x="392234" y="77518"/>
                </a:moveTo>
                <a:lnTo>
                  <a:pt x="385327" y="77518"/>
                </a:lnTo>
                <a:lnTo>
                  <a:pt x="378723" y="80139"/>
                </a:lnTo>
                <a:lnTo>
                  <a:pt x="353749" y="112808"/>
                </a:lnTo>
                <a:lnTo>
                  <a:pt x="360889" y="112808"/>
                </a:lnTo>
                <a:lnTo>
                  <a:pt x="361020" y="112634"/>
                </a:lnTo>
                <a:lnTo>
                  <a:pt x="366226" y="106819"/>
                </a:lnTo>
                <a:lnTo>
                  <a:pt x="369386" y="104872"/>
                </a:lnTo>
                <a:lnTo>
                  <a:pt x="373498" y="102276"/>
                </a:lnTo>
                <a:lnTo>
                  <a:pt x="377650" y="100978"/>
                </a:lnTo>
                <a:lnTo>
                  <a:pt x="425836" y="100978"/>
                </a:lnTo>
                <a:lnTo>
                  <a:pt x="422455" y="94989"/>
                </a:lnTo>
                <a:lnTo>
                  <a:pt x="416032" y="87342"/>
                </a:lnTo>
                <a:lnTo>
                  <a:pt x="408856" y="81883"/>
                </a:lnTo>
                <a:lnTo>
                  <a:pt x="400924" y="78609"/>
                </a:lnTo>
                <a:lnTo>
                  <a:pt x="392234" y="77518"/>
                </a:lnTo>
                <a:close/>
              </a:path>
              <a:path w="744855" h="301625">
                <a:moveTo>
                  <a:pt x="353749" y="78167"/>
                </a:moveTo>
                <a:lnTo>
                  <a:pt x="348766" y="78167"/>
                </a:lnTo>
                <a:lnTo>
                  <a:pt x="311719" y="96611"/>
                </a:lnTo>
                <a:lnTo>
                  <a:pt x="313298" y="101802"/>
                </a:lnTo>
                <a:lnTo>
                  <a:pt x="316539" y="100280"/>
                </a:lnTo>
                <a:lnTo>
                  <a:pt x="319193" y="99531"/>
                </a:lnTo>
                <a:lnTo>
                  <a:pt x="353749" y="99531"/>
                </a:lnTo>
                <a:lnTo>
                  <a:pt x="353749" y="78167"/>
                </a:lnTo>
                <a:close/>
              </a:path>
              <a:path w="744855" h="301625">
                <a:moveTo>
                  <a:pt x="492984" y="87776"/>
                </a:moveTo>
                <a:lnTo>
                  <a:pt x="457132" y="87776"/>
                </a:lnTo>
                <a:lnTo>
                  <a:pt x="461487" y="88450"/>
                </a:lnTo>
                <a:lnTo>
                  <a:pt x="466308" y="91345"/>
                </a:lnTo>
                <a:lnTo>
                  <a:pt x="468111" y="93441"/>
                </a:lnTo>
                <a:lnTo>
                  <a:pt x="470562" y="98832"/>
                </a:lnTo>
                <a:lnTo>
                  <a:pt x="471190" y="103674"/>
                </a:lnTo>
                <a:lnTo>
                  <a:pt x="471266" y="181093"/>
                </a:lnTo>
                <a:lnTo>
                  <a:pt x="471368" y="186666"/>
                </a:lnTo>
                <a:lnTo>
                  <a:pt x="489338" y="232276"/>
                </a:lnTo>
                <a:lnTo>
                  <a:pt x="495172" y="234677"/>
                </a:lnTo>
                <a:lnTo>
                  <a:pt x="507973" y="234677"/>
                </a:lnTo>
                <a:lnTo>
                  <a:pt x="533702" y="214768"/>
                </a:lnTo>
                <a:lnTo>
                  <a:pt x="507447" y="214768"/>
                </a:lnTo>
                <a:lnTo>
                  <a:pt x="502727" y="212612"/>
                </a:lnTo>
                <a:lnTo>
                  <a:pt x="493071" y="183333"/>
                </a:lnTo>
                <a:lnTo>
                  <a:pt x="492984" y="87776"/>
                </a:lnTo>
                <a:close/>
              </a:path>
              <a:path w="744855" h="301625">
                <a:moveTo>
                  <a:pt x="565451" y="203280"/>
                </a:moveTo>
                <a:lnTo>
                  <a:pt x="542772" y="203280"/>
                </a:lnTo>
                <a:lnTo>
                  <a:pt x="542772" y="234677"/>
                </a:lnTo>
                <a:lnTo>
                  <a:pt x="548687" y="234677"/>
                </a:lnTo>
                <a:lnTo>
                  <a:pt x="584681" y="216388"/>
                </a:lnTo>
                <a:lnTo>
                  <a:pt x="583732" y="213473"/>
                </a:lnTo>
                <a:lnTo>
                  <a:pt x="571717" y="213473"/>
                </a:lnTo>
                <a:lnTo>
                  <a:pt x="570036" y="212719"/>
                </a:lnTo>
                <a:lnTo>
                  <a:pt x="567140" y="209697"/>
                </a:lnTo>
                <a:lnTo>
                  <a:pt x="566086" y="207024"/>
                </a:lnTo>
                <a:lnTo>
                  <a:pt x="565451" y="203280"/>
                </a:lnTo>
                <a:close/>
              </a:path>
              <a:path w="744855" h="301625">
                <a:moveTo>
                  <a:pt x="564446" y="81886"/>
                </a:moveTo>
                <a:lnTo>
                  <a:pt x="523469" y="81886"/>
                </a:lnTo>
                <a:lnTo>
                  <a:pt x="523469" y="87876"/>
                </a:lnTo>
                <a:lnTo>
                  <a:pt x="531348" y="88100"/>
                </a:lnTo>
                <a:lnTo>
                  <a:pt x="536534" y="89673"/>
                </a:lnTo>
                <a:lnTo>
                  <a:pt x="541537" y="95613"/>
                </a:lnTo>
                <a:lnTo>
                  <a:pt x="542772" y="101303"/>
                </a:lnTo>
                <a:lnTo>
                  <a:pt x="542772" y="193721"/>
                </a:lnTo>
                <a:lnTo>
                  <a:pt x="536209" y="201932"/>
                </a:lnTo>
                <a:lnTo>
                  <a:pt x="530538" y="207473"/>
                </a:lnTo>
                <a:lnTo>
                  <a:pt x="520998" y="213313"/>
                </a:lnTo>
                <a:lnTo>
                  <a:pt x="516724" y="214768"/>
                </a:lnTo>
                <a:lnTo>
                  <a:pt x="533702" y="214768"/>
                </a:lnTo>
                <a:lnTo>
                  <a:pt x="535577" y="212557"/>
                </a:lnTo>
                <a:lnTo>
                  <a:pt x="542772" y="203280"/>
                </a:lnTo>
                <a:lnTo>
                  <a:pt x="565451" y="203280"/>
                </a:lnTo>
                <a:lnTo>
                  <a:pt x="564473" y="176900"/>
                </a:lnTo>
                <a:lnTo>
                  <a:pt x="564446" y="81886"/>
                </a:lnTo>
                <a:close/>
              </a:path>
              <a:path w="744855" h="301625">
                <a:moveTo>
                  <a:pt x="582838" y="210723"/>
                </a:moveTo>
                <a:lnTo>
                  <a:pt x="579435" y="212557"/>
                </a:lnTo>
                <a:lnTo>
                  <a:pt x="576356" y="213473"/>
                </a:lnTo>
                <a:lnTo>
                  <a:pt x="583732" y="213473"/>
                </a:lnTo>
                <a:lnTo>
                  <a:pt x="582838" y="210723"/>
                </a:lnTo>
                <a:close/>
              </a:path>
              <a:path w="744855" h="301625">
                <a:moveTo>
                  <a:pt x="492984" y="81886"/>
                </a:moveTo>
                <a:lnTo>
                  <a:pt x="450833" y="81886"/>
                </a:lnTo>
                <a:lnTo>
                  <a:pt x="450833" y="87876"/>
                </a:lnTo>
                <a:lnTo>
                  <a:pt x="457132" y="87776"/>
                </a:lnTo>
                <a:lnTo>
                  <a:pt x="492984" y="87776"/>
                </a:lnTo>
                <a:lnTo>
                  <a:pt x="492984" y="81886"/>
                </a:lnTo>
                <a:close/>
              </a:path>
              <a:path w="744855" h="301625">
                <a:moveTo>
                  <a:pt x="632504" y="93217"/>
                </a:moveTo>
                <a:lnTo>
                  <a:pt x="610810" y="93217"/>
                </a:lnTo>
                <a:lnTo>
                  <a:pt x="610810" y="203605"/>
                </a:lnTo>
                <a:lnTo>
                  <a:pt x="629911" y="232573"/>
                </a:lnTo>
                <a:lnTo>
                  <a:pt x="639897" y="232573"/>
                </a:lnTo>
                <a:lnTo>
                  <a:pt x="659108" y="213797"/>
                </a:lnTo>
                <a:lnTo>
                  <a:pt x="640950" y="213797"/>
                </a:lnTo>
                <a:lnTo>
                  <a:pt x="638074" y="212125"/>
                </a:lnTo>
                <a:lnTo>
                  <a:pt x="633618" y="205427"/>
                </a:lnTo>
                <a:lnTo>
                  <a:pt x="632504" y="198962"/>
                </a:lnTo>
                <a:lnTo>
                  <a:pt x="632504" y="93217"/>
                </a:lnTo>
                <a:close/>
              </a:path>
              <a:path w="744855" h="301625">
                <a:moveTo>
                  <a:pt x="664285" y="200685"/>
                </a:moveTo>
                <a:lnTo>
                  <a:pt x="659160" y="200685"/>
                </a:lnTo>
                <a:lnTo>
                  <a:pt x="657661" y="205002"/>
                </a:lnTo>
                <a:lnTo>
                  <a:pt x="655575" y="208272"/>
                </a:lnTo>
                <a:lnTo>
                  <a:pt x="650146" y="212692"/>
                </a:lnTo>
                <a:lnTo>
                  <a:pt x="647331" y="213797"/>
                </a:lnTo>
                <a:lnTo>
                  <a:pt x="659108" y="213797"/>
                </a:lnTo>
                <a:lnTo>
                  <a:pt x="661751" y="208126"/>
                </a:lnTo>
                <a:lnTo>
                  <a:pt x="664285" y="200685"/>
                </a:lnTo>
                <a:close/>
              </a:path>
              <a:path w="744855" h="301625">
                <a:moveTo>
                  <a:pt x="632504" y="33168"/>
                </a:moveTo>
                <a:lnTo>
                  <a:pt x="628412" y="33168"/>
                </a:lnTo>
                <a:lnTo>
                  <a:pt x="624827" y="44075"/>
                </a:lnTo>
                <a:lnTo>
                  <a:pt x="622032" y="51562"/>
                </a:lnTo>
                <a:lnTo>
                  <a:pt x="596591" y="85505"/>
                </a:lnTo>
                <a:lnTo>
                  <a:pt x="591770" y="87876"/>
                </a:lnTo>
                <a:lnTo>
                  <a:pt x="591770" y="93217"/>
                </a:lnTo>
                <a:lnTo>
                  <a:pt x="660598" y="93217"/>
                </a:lnTo>
                <a:lnTo>
                  <a:pt x="660598" y="81886"/>
                </a:lnTo>
                <a:lnTo>
                  <a:pt x="632504" y="81886"/>
                </a:lnTo>
                <a:lnTo>
                  <a:pt x="632504" y="33168"/>
                </a:lnTo>
                <a:close/>
              </a:path>
              <a:path w="744855" h="301625">
                <a:moveTo>
                  <a:pt x="672164" y="0"/>
                </a:moveTo>
                <a:lnTo>
                  <a:pt x="672164" y="6788"/>
                </a:lnTo>
                <a:lnTo>
                  <a:pt x="678537" y="12526"/>
                </a:lnTo>
                <a:lnTo>
                  <a:pt x="684254" y="18400"/>
                </a:lnTo>
                <a:lnTo>
                  <a:pt x="706781" y="56479"/>
                </a:lnTo>
                <a:lnTo>
                  <a:pt x="716883" y="106862"/>
                </a:lnTo>
                <a:lnTo>
                  <a:pt x="719319" y="155212"/>
                </a:lnTo>
                <a:lnTo>
                  <a:pt x="719003" y="171001"/>
                </a:lnTo>
                <a:lnTo>
                  <a:pt x="714275" y="216468"/>
                </a:lnTo>
                <a:lnTo>
                  <a:pt x="703648" y="254707"/>
                </a:lnTo>
                <a:lnTo>
                  <a:pt x="679889" y="288973"/>
                </a:lnTo>
                <a:lnTo>
                  <a:pt x="672164" y="295047"/>
                </a:lnTo>
                <a:lnTo>
                  <a:pt x="672164" y="301037"/>
                </a:lnTo>
                <a:lnTo>
                  <a:pt x="713856" y="261084"/>
                </a:lnTo>
                <a:lnTo>
                  <a:pt x="733407" y="220652"/>
                </a:lnTo>
                <a:lnTo>
                  <a:pt x="743425" y="174889"/>
                </a:lnTo>
                <a:lnTo>
                  <a:pt x="744678" y="150345"/>
                </a:lnTo>
                <a:lnTo>
                  <a:pt x="744037" y="133274"/>
                </a:lnTo>
                <a:lnTo>
                  <a:pt x="734429" y="84082"/>
                </a:lnTo>
                <a:lnTo>
                  <a:pt x="714260" y="40962"/>
                </a:lnTo>
                <a:lnTo>
                  <a:pt x="681727" y="6336"/>
                </a:lnTo>
                <a:lnTo>
                  <a:pt x="6721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6655"/>
            <a:ext cx="6924675" cy="1009650"/>
            <a:chOff x="574548" y="676655"/>
            <a:chExt cx="692467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0769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2479"/>
              <a:ext cx="1585721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1264" y="676655"/>
              <a:ext cx="928877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6836" y="792479"/>
              <a:ext cx="2571750" cy="817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1104" y="676655"/>
              <a:ext cx="928877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6676" y="792479"/>
              <a:ext cx="1602486" cy="8176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8632" y="676655"/>
              <a:ext cx="902969" cy="1009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295" y="792479"/>
              <a:ext cx="1320546" cy="81762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795654"/>
            <a:ext cx="6718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/>
              <a:t>S</a:t>
            </a:r>
            <a:r>
              <a:rPr spc="15" dirty="0"/>
              <a:t>İSTEM</a:t>
            </a:r>
            <a:r>
              <a:rPr spc="155" dirty="0"/>
              <a:t> </a:t>
            </a:r>
            <a:r>
              <a:rPr sz="3600" spc="-25" dirty="0"/>
              <a:t>K</a:t>
            </a:r>
            <a:r>
              <a:rPr spc="-25" dirty="0"/>
              <a:t>AVRAMININ</a:t>
            </a:r>
            <a:r>
              <a:rPr spc="180" dirty="0"/>
              <a:t> </a:t>
            </a:r>
            <a:r>
              <a:rPr sz="3600" spc="-150" dirty="0"/>
              <a:t>O</a:t>
            </a:r>
            <a:r>
              <a:rPr spc="-150" dirty="0"/>
              <a:t>RTAYA</a:t>
            </a:r>
            <a:r>
              <a:rPr spc="5" dirty="0"/>
              <a:t> </a:t>
            </a:r>
            <a:r>
              <a:rPr sz="3600" spc="10" dirty="0"/>
              <a:t>Ç</a:t>
            </a:r>
            <a:r>
              <a:rPr spc="10" dirty="0"/>
              <a:t>IKIŞI</a:t>
            </a:r>
            <a:endParaRPr sz="3600"/>
          </a:p>
        </p:txBody>
      </p:sp>
      <p:sp>
        <p:nvSpPr>
          <p:cNvPr id="20" name="object 20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6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692" y="1622501"/>
            <a:ext cx="7805420" cy="212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Sistem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düşüncesindeki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temel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gelişmeler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olayların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ortaya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çıkışı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1940’lı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yıllara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rastlamaktadır.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Bilim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tarihine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bakıldığı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zaman</a:t>
            </a:r>
            <a:r>
              <a:rPr sz="2400" dirty="0">
                <a:latin typeface="Times New Roman"/>
                <a:cs typeface="Times New Roman"/>
              </a:rPr>
              <a:t> en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başta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tüm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bilimlerin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felsefe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içinde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açıklandığı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görülmektedir.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165"/>
              </a:spcBef>
            </a:pPr>
            <a:r>
              <a:rPr sz="2400" spc="-5" dirty="0">
                <a:latin typeface="Times New Roman"/>
                <a:cs typeface="Times New Roman"/>
              </a:rPr>
              <a:t>Zaman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içinde,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araştırmacılar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belli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inceleme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alanlarına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yönelip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4694" y="3726560"/>
            <a:ext cx="1392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g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liş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ire</a:t>
            </a:r>
            <a:r>
              <a:rPr sz="2400" spc="-10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ek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10576" y="3726560"/>
            <a:ext cx="582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1692" y="4092320"/>
            <a:ext cx="3837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2520" algn="l"/>
                <a:tab pos="2266950" algn="l"/>
                <a:tab pos="3030220" algn="l"/>
              </a:tabLst>
            </a:pPr>
            <a:r>
              <a:rPr sz="2400" dirty="0">
                <a:latin typeface="Times New Roman"/>
                <a:cs typeface="Times New Roman"/>
              </a:rPr>
              <a:t>üret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	gü</a:t>
            </a:r>
            <a:r>
              <a:rPr sz="2400" spc="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ünü	elde	et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esi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1692" y="3726560"/>
            <a:ext cx="54190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532765" algn="l"/>
                <a:tab pos="1723389" algn="l"/>
                <a:tab pos="2713990" algn="l"/>
                <a:tab pos="4075429" algn="l"/>
              </a:tabLst>
            </a:pPr>
            <a:r>
              <a:rPr sz="2400" dirty="0">
                <a:latin typeface="Times New Roman"/>
                <a:cs typeface="Times New Roman"/>
              </a:rPr>
              <a:t>bu	</a:t>
            </a:r>
            <a:r>
              <a:rPr sz="2400" spc="-5" dirty="0">
                <a:latin typeface="Times New Roman"/>
                <a:cs typeface="Times New Roman"/>
              </a:rPr>
              <a:t>alanlara	</a:t>
            </a:r>
            <a:r>
              <a:rPr sz="2400" dirty="0">
                <a:latin typeface="Times New Roman"/>
                <a:cs typeface="Times New Roman"/>
              </a:rPr>
              <a:t>uygun	</a:t>
            </a:r>
            <a:r>
              <a:rPr sz="2400" spc="-5" dirty="0">
                <a:latin typeface="Times New Roman"/>
                <a:cs typeface="Times New Roman"/>
              </a:rPr>
              <a:t>araştırma	yöntemleri</a:t>
            </a:r>
            <a:endParaRPr sz="2400">
              <a:latin typeface="Times New Roman"/>
              <a:cs typeface="Times New Roman"/>
            </a:endParaRPr>
          </a:p>
          <a:p>
            <a:pPr marR="26034" algn="r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sonucunda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1692" y="4092320"/>
            <a:ext cx="64998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28640">
              <a:lnSpc>
                <a:spcPct val="100000"/>
              </a:lnSpc>
              <a:spcBef>
                <a:spcPts val="100"/>
              </a:spcBef>
              <a:tabLst>
                <a:tab pos="2472690" algn="l"/>
                <a:tab pos="3874770" algn="l"/>
                <a:tab pos="4763135" algn="l"/>
                <a:tab pos="5643245" algn="l"/>
              </a:tabLst>
            </a:pPr>
            <a:r>
              <a:rPr sz="2400" spc="-5" dirty="0">
                <a:latin typeface="Times New Roman"/>
                <a:cs typeface="Times New Roman"/>
              </a:rPr>
              <a:t>bilim </a:t>
            </a:r>
            <a:r>
              <a:rPr sz="2400" dirty="0">
                <a:latin typeface="Times New Roman"/>
                <a:cs typeface="Times New Roman"/>
              </a:rPr>
              <a:t> bağı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spc="-5" dirty="0">
                <a:latin typeface="Times New Roman"/>
                <a:cs typeface="Times New Roman"/>
              </a:rPr>
              <a:t>sızlaş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ış</a:t>
            </a:r>
            <a:r>
              <a:rPr sz="2400" spc="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ı</a:t>
            </a:r>
            <a:r>
              <a:rPr sz="2400" spc="-114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.	</a:t>
            </a:r>
            <a:r>
              <a:rPr sz="2400" spc="-5" dirty="0">
                <a:latin typeface="Times New Roman"/>
                <a:cs typeface="Times New Roman"/>
              </a:rPr>
              <a:t>Ar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ından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im	ya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ar	üret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6902" y="4092320"/>
            <a:ext cx="12795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felsefed</a:t>
            </a:r>
            <a:r>
              <a:rPr sz="2400" spc="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  yönünde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1692" y="4823536"/>
            <a:ext cx="65373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ilerleyerek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teknoloji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denen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kavramı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meydana </a:t>
            </a:r>
            <a:r>
              <a:rPr sz="2400" dirty="0">
                <a:latin typeface="Times New Roman"/>
                <a:cs typeface="Times New Roman"/>
              </a:rPr>
              <a:t>çıkardı.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6655"/>
            <a:ext cx="6924675" cy="1009650"/>
            <a:chOff x="574548" y="676655"/>
            <a:chExt cx="692467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0769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2479"/>
              <a:ext cx="1585721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1264" y="676655"/>
              <a:ext cx="928877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6836" y="792479"/>
              <a:ext cx="2571750" cy="817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1104" y="676655"/>
              <a:ext cx="928877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6676" y="792479"/>
              <a:ext cx="1602486" cy="8176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8632" y="676655"/>
              <a:ext cx="902969" cy="1009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295" y="792479"/>
              <a:ext cx="1320546" cy="81762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795654"/>
            <a:ext cx="6718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/>
              <a:t>S</a:t>
            </a:r>
            <a:r>
              <a:rPr spc="15" dirty="0"/>
              <a:t>İSTEM</a:t>
            </a:r>
            <a:r>
              <a:rPr spc="155" dirty="0"/>
              <a:t> </a:t>
            </a:r>
            <a:r>
              <a:rPr sz="3600" spc="-25" dirty="0"/>
              <a:t>K</a:t>
            </a:r>
            <a:r>
              <a:rPr spc="-25" dirty="0"/>
              <a:t>AVRAMININ</a:t>
            </a:r>
            <a:r>
              <a:rPr spc="180" dirty="0"/>
              <a:t> </a:t>
            </a:r>
            <a:r>
              <a:rPr sz="3600" spc="-150" dirty="0"/>
              <a:t>O</a:t>
            </a:r>
            <a:r>
              <a:rPr spc="-150" dirty="0"/>
              <a:t>RTAYA</a:t>
            </a:r>
            <a:r>
              <a:rPr spc="5" dirty="0"/>
              <a:t> </a:t>
            </a:r>
            <a:r>
              <a:rPr sz="3600" spc="10" dirty="0"/>
              <a:t>Ç</a:t>
            </a:r>
            <a:r>
              <a:rPr spc="10" dirty="0"/>
              <a:t>IKIŞI</a:t>
            </a:r>
            <a:endParaRPr sz="3600"/>
          </a:p>
        </p:txBody>
      </p:sp>
      <p:sp>
        <p:nvSpPr>
          <p:cNvPr id="13" name="object 13"/>
          <p:cNvSpPr txBox="1"/>
          <p:nvPr/>
        </p:nvSpPr>
        <p:spPr>
          <a:xfrm>
            <a:off x="8347582" y="5887440"/>
            <a:ext cx="1758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1692" y="1622501"/>
            <a:ext cx="7804784" cy="322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Teknolojideki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hızlı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gelişmeler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uzmanlaşma</a:t>
            </a:r>
            <a:r>
              <a:rPr sz="2400" dirty="0">
                <a:latin typeface="Times New Roman"/>
                <a:cs typeface="Times New Roman"/>
              </a:rPr>
              <a:t> otomasyon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kavramını</a:t>
            </a:r>
            <a:r>
              <a:rPr sz="2400" dirty="0">
                <a:latin typeface="Times New Roman"/>
                <a:cs typeface="Times New Roman"/>
              </a:rPr>
              <a:t> ortaya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çıkardı.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Uzmanlaşma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otomasyon,</a:t>
            </a:r>
            <a:r>
              <a:rPr sz="2400" dirty="0">
                <a:latin typeface="Times New Roman"/>
                <a:cs typeface="Times New Roman"/>
              </a:rPr>
              <a:t> bir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yandan </a:t>
            </a:r>
            <a:r>
              <a:rPr sz="2400" spc="-5" dirty="0">
                <a:latin typeface="Times New Roman"/>
                <a:cs typeface="Times New Roman"/>
              </a:rPr>
              <a:t>verimlilik açısından iyileşme taleplerini karşılarken bir </a:t>
            </a:r>
            <a:r>
              <a:rPr sz="2400" dirty="0">
                <a:latin typeface="Times New Roman"/>
                <a:cs typeface="Times New Roman"/>
              </a:rPr>
              <a:t> yandan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sorunların,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işlevlerin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giderek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daha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küçük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parçalara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ayrılmasına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sebep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oldu.</a:t>
            </a:r>
            <a:endParaRPr sz="2400">
              <a:latin typeface="Times New Roman"/>
              <a:cs typeface="Times New Roman"/>
            </a:endParaRPr>
          </a:p>
          <a:p>
            <a:pPr marL="12700" marR="8255" algn="just">
              <a:lnSpc>
                <a:spcPct val="100000"/>
              </a:lnSpc>
              <a:spcBef>
                <a:spcPts val="2165"/>
              </a:spcBef>
            </a:pPr>
            <a:r>
              <a:rPr sz="2400" spc="-5" dirty="0">
                <a:latin typeface="Times New Roman"/>
                <a:cs typeface="Times New Roman"/>
              </a:rPr>
              <a:t>Makine sistemlerindeki büyüme </a:t>
            </a:r>
            <a:r>
              <a:rPr sz="2400" dirty="0">
                <a:latin typeface="Times New Roman"/>
                <a:cs typeface="Times New Roman"/>
              </a:rPr>
              <a:t>ve </a:t>
            </a:r>
            <a:r>
              <a:rPr sz="2400" spc="-5" dirty="0">
                <a:latin typeface="Times New Roman"/>
                <a:cs typeface="Times New Roman"/>
              </a:rPr>
              <a:t>karmaşıklaşmanın getirdiği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sorunları </a:t>
            </a:r>
            <a:r>
              <a:rPr sz="2400" spc="-10" dirty="0">
                <a:latin typeface="Times New Roman"/>
                <a:cs typeface="Times New Roman"/>
              </a:rPr>
              <a:t>aşmak </a:t>
            </a:r>
            <a:r>
              <a:rPr sz="2400" spc="-5" dirty="0">
                <a:latin typeface="Times New Roman"/>
                <a:cs typeface="Times New Roman"/>
              </a:rPr>
              <a:t>amacıyla yeni bir </a:t>
            </a:r>
            <a:r>
              <a:rPr sz="2400" dirty="0">
                <a:latin typeface="Times New Roman"/>
                <a:cs typeface="Times New Roman"/>
              </a:rPr>
              <a:t>yaklaşım </a:t>
            </a:r>
            <a:r>
              <a:rPr sz="2400" spc="-5" dirty="0">
                <a:latin typeface="Times New Roman"/>
                <a:cs typeface="Times New Roman"/>
              </a:rPr>
              <a:t>ortaya çıktı. Bu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yaklaşım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yaklaşımıdır.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6655"/>
            <a:ext cx="6924675" cy="1009650"/>
            <a:chOff x="574548" y="676655"/>
            <a:chExt cx="692467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0769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2479"/>
              <a:ext cx="1585721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1264" y="676655"/>
              <a:ext cx="928877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6836" y="792479"/>
              <a:ext cx="2571750" cy="817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1104" y="676655"/>
              <a:ext cx="928877" cy="10096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6676" y="792479"/>
              <a:ext cx="1602486" cy="81762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18632" y="676655"/>
              <a:ext cx="902969" cy="1009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78295" y="792479"/>
              <a:ext cx="1320546" cy="81762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795654"/>
            <a:ext cx="6718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5" dirty="0"/>
              <a:t>S</a:t>
            </a:r>
            <a:r>
              <a:rPr spc="15" dirty="0"/>
              <a:t>İSTEM</a:t>
            </a:r>
            <a:r>
              <a:rPr spc="155" dirty="0"/>
              <a:t> </a:t>
            </a:r>
            <a:r>
              <a:rPr sz="3600" spc="-25" dirty="0"/>
              <a:t>K</a:t>
            </a:r>
            <a:r>
              <a:rPr spc="-25" dirty="0"/>
              <a:t>AVRAMININ</a:t>
            </a:r>
            <a:r>
              <a:rPr spc="180" dirty="0"/>
              <a:t> </a:t>
            </a:r>
            <a:r>
              <a:rPr sz="3600" spc="-150" dirty="0"/>
              <a:t>O</a:t>
            </a:r>
            <a:r>
              <a:rPr spc="-150" dirty="0"/>
              <a:t>RTAYA</a:t>
            </a:r>
            <a:r>
              <a:rPr spc="5" dirty="0"/>
              <a:t> </a:t>
            </a:r>
            <a:r>
              <a:rPr sz="3600" spc="10" dirty="0"/>
              <a:t>Ç</a:t>
            </a:r>
            <a:r>
              <a:rPr spc="10" dirty="0"/>
              <a:t>IKIŞI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691692" y="1622501"/>
            <a:ext cx="7801609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13460" algn="l"/>
                <a:tab pos="2821305" algn="l"/>
                <a:tab pos="3759200" algn="l"/>
                <a:tab pos="5150485" algn="l"/>
                <a:tab pos="6055995" algn="l"/>
                <a:tab pos="6766559" algn="l"/>
              </a:tabLst>
            </a:pPr>
            <a:r>
              <a:rPr sz="2300" dirty="0">
                <a:latin typeface="Times New Roman"/>
                <a:cs typeface="Times New Roman"/>
              </a:rPr>
              <a:t>Sistem	düşüncesinin,	</a:t>
            </a:r>
            <a:r>
              <a:rPr sz="2300" spc="-5" dirty="0">
                <a:latin typeface="Times New Roman"/>
                <a:cs typeface="Times New Roman"/>
              </a:rPr>
              <a:t>ortaya	</a:t>
            </a:r>
            <a:r>
              <a:rPr sz="2300" dirty="0">
                <a:latin typeface="Times New Roman"/>
                <a:cs typeface="Times New Roman"/>
              </a:rPr>
              <a:t>çıkmasına	neden	</a:t>
            </a:r>
            <a:r>
              <a:rPr sz="2300" spc="-5" dirty="0">
                <a:latin typeface="Times New Roman"/>
                <a:cs typeface="Times New Roman"/>
              </a:rPr>
              <a:t>olan	etmenler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300" dirty="0"/>
              <a:t>aşağıdaki</a:t>
            </a:r>
            <a:r>
              <a:rPr sz="2300" spc="-5" dirty="0"/>
              <a:t> </a:t>
            </a:r>
            <a:r>
              <a:rPr sz="2300" dirty="0"/>
              <a:t>gibi</a:t>
            </a:r>
            <a:r>
              <a:rPr sz="2300" spc="-20" dirty="0"/>
              <a:t> </a:t>
            </a:r>
            <a:r>
              <a:rPr sz="2300" spc="-5" dirty="0"/>
              <a:t>toparlanabilir:</a:t>
            </a:r>
            <a:endParaRPr sz="2300"/>
          </a:p>
          <a:p>
            <a:pPr marL="538480" indent="-347980">
              <a:lnSpc>
                <a:spcPct val="100000"/>
              </a:lnSpc>
              <a:spcBef>
                <a:spcPts val="1245"/>
              </a:spcBef>
              <a:buClr>
                <a:srgbClr val="E75C00"/>
              </a:buClr>
              <a:buAutoNum type="arabicPeriod"/>
              <a:tabLst>
                <a:tab pos="537845" algn="l"/>
                <a:tab pos="538480" algn="l"/>
              </a:tabLst>
            </a:pPr>
            <a:r>
              <a:rPr sz="2100" spc="-5" dirty="0"/>
              <a:t>Bilimin</a:t>
            </a:r>
            <a:r>
              <a:rPr sz="2100" spc="5" dirty="0"/>
              <a:t> </a:t>
            </a:r>
            <a:r>
              <a:rPr sz="2100" dirty="0"/>
              <a:t>bir</a:t>
            </a:r>
            <a:r>
              <a:rPr sz="2100" spc="-10" dirty="0"/>
              <a:t> </a:t>
            </a:r>
            <a:r>
              <a:rPr sz="2100" dirty="0"/>
              <a:t>bütün</a:t>
            </a:r>
            <a:r>
              <a:rPr sz="2100" spc="-40" dirty="0"/>
              <a:t> </a:t>
            </a:r>
            <a:r>
              <a:rPr sz="2100" dirty="0"/>
              <a:t>oluşu,</a:t>
            </a:r>
            <a:endParaRPr sz="2100"/>
          </a:p>
          <a:p>
            <a:pPr marL="538480" indent="-347980">
              <a:lnSpc>
                <a:spcPct val="100000"/>
              </a:lnSpc>
              <a:spcBef>
                <a:spcPts val="505"/>
              </a:spcBef>
              <a:buClr>
                <a:srgbClr val="E75C00"/>
              </a:buClr>
              <a:buAutoNum type="arabicPeriod"/>
              <a:tabLst>
                <a:tab pos="537845" algn="l"/>
                <a:tab pos="538480" algn="l"/>
              </a:tabLst>
            </a:pPr>
            <a:r>
              <a:rPr sz="2100" spc="-5" dirty="0"/>
              <a:t>Bilimde</a:t>
            </a:r>
            <a:r>
              <a:rPr sz="2100" dirty="0"/>
              <a:t> </a:t>
            </a:r>
            <a:r>
              <a:rPr sz="2100" spc="-5" dirty="0"/>
              <a:t>savurganlık,</a:t>
            </a:r>
            <a:endParaRPr sz="2100"/>
          </a:p>
          <a:p>
            <a:pPr marL="538480" indent="-347980">
              <a:lnSpc>
                <a:spcPct val="100000"/>
              </a:lnSpc>
              <a:spcBef>
                <a:spcPts val="505"/>
              </a:spcBef>
              <a:buClr>
                <a:srgbClr val="E75C00"/>
              </a:buClr>
              <a:buAutoNum type="arabicPeriod"/>
              <a:tabLst>
                <a:tab pos="537845" algn="l"/>
                <a:tab pos="538480" algn="l"/>
              </a:tabLst>
            </a:pPr>
            <a:r>
              <a:rPr sz="2100" spc="-5" dirty="0"/>
              <a:t>Bilimsel</a:t>
            </a:r>
            <a:r>
              <a:rPr sz="2100" spc="5" dirty="0"/>
              <a:t> </a:t>
            </a:r>
            <a:r>
              <a:rPr sz="2100" spc="-5" dirty="0"/>
              <a:t>yöntemin</a:t>
            </a:r>
            <a:r>
              <a:rPr sz="2100" dirty="0"/>
              <a:t> yetersizliği,</a:t>
            </a:r>
            <a:endParaRPr sz="2100"/>
          </a:p>
          <a:p>
            <a:pPr marL="538480" indent="-347980">
              <a:lnSpc>
                <a:spcPct val="100000"/>
              </a:lnSpc>
              <a:spcBef>
                <a:spcPts val="490"/>
              </a:spcBef>
              <a:buClr>
                <a:srgbClr val="E75C00"/>
              </a:buClr>
              <a:buAutoNum type="arabicPeriod"/>
              <a:tabLst>
                <a:tab pos="537845" algn="l"/>
                <a:tab pos="538480" algn="l"/>
              </a:tabLst>
            </a:pPr>
            <a:r>
              <a:rPr sz="2100" spc="-5" dirty="0"/>
              <a:t>Tükenmeyen</a:t>
            </a:r>
            <a:r>
              <a:rPr sz="2100" spc="-10" dirty="0"/>
              <a:t> </a:t>
            </a:r>
            <a:r>
              <a:rPr sz="2100" spc="-15" dirty="0"/>
              <a:t>sorunlar.</a:t>
            </a:r>
            <a:endParaRPr sz="2100"/>
          </a:p>
          <a:p>
            <a:pPr marL="12700" marR="5080">
              <a:lnSpc>
                <a:spcPct val="100000"/>
              </a:lnSpc>
              <a:spcBef>
                <a:spcPts val="1480"/>
              </a:spcBef>
            </a:pPr>
            <a:r>
              <a:rPr sz="2300" spc="-30" dirty="0"/>
              <a:t>Yukarıda</a:t>
            </a:r>
            <a:r>
              <a:rPr sz="2300" spc="180" dirty="0"/>
              <a:t> </a:t>
            </a:r>
            <a:r>
              <a:rPr sz="2300" spc="-5" dirty="0"/>
              <a:t>sayılan</a:t>
            </a:r>
            <a:r>
              <a:rPr sz="2300" spc="180" dirty="0"/>
              <a:t> </a:t>
            </a:r>
            <a:r>
              <a:rPr sz="2300" dirty="0"/>
              <a:t>sebepler</a:t>
            </a:r>
            <a:r>
              <a:rPr sz="2300" spc="210" dirty="0"/>
              <a:t> </a:t>
            </a:r>
            <a:r>
              <a:rPr sz="2300" dirty="0"/>
              <a:t>sonucu</a:t>
            </a:r>
            <a:r>
              <a:rPr sz="2300" spc="190" dirty="0"/>
              <a:t> </a:t>
            </a:r>
            <a:r>
              <a:rPr sz="2300" spc="-5" dirty="0"/>
              <a:t>geliştirilen</a:t>
            </a:r>
            <a:r>
              <a:rPr sz="2300" spc="200" dirty="0"/>
              <a:t> </a:t>
            </a:r>
            <a:r>
              <a:rPr sz="2300" dirty="0"/>
              <a:t>sistem</a:t>
            </a:r>
            <a:r>
              <a:rPr sz="2300" spc="180" dirty="0"/>
              <a:t> </a:t>
            </a:r>
            <a:r>
              <a:rPr sz="2300" spc="-5" dirty="0"/>
              <a:t>yaklaşımının </a:t>
            </a:r>
            <a:r>
              <a:rPr sz="2300" spc="-560" dirty="0"/>
              <a:t> </a:t>
            </a:r>
            <a:r>
              <a:rPr sz="2300" dirty="0"/>
              <a:t>üç</a:t>
            </a:r>
            <a:r>
              <a:rPr sz="2300" spc="-10" dirty="0"/>
              <a:t> </a:t>
            </a:r>
            <a:r>
              <a:rPr sz="2300" spc="-5" dirty="0"/>
              <a:t>temel</a:t>
            </a:r>
            <a:r>
              <a:rPr sz="2300" spc="15" dirty="0"/>
              <a:t> </a:t>
            </a:r>
            <a:r>
              <a:rPr sz="2300" spc="-5" dirty="0"/>
              <a:t>ilkesi</a:t>
            </a:r>
            <a:r>
              <a:rPr sz="2300" spc="5" dirty="0"/>
              <a:t> </a:t>
            </a:r>
            <a:r>
              <a:rPr sz="2300" dirty="0"/>
              <a:t>vardır:</a:t>
            </a:r>
            <a:endParaRPr sz="2300"/>
          </a:p>
          <a:p>
            <a:pPr marL="544195" indent="-354330">
              <a:lnSpc>
                <a:spcPct val="100000"/>
              </a:lnSpc>
              <a:spcBef>
                <a:spcPts val="1250"/>
              </a:spcBef>
              <a:buClr>
                <a:srgbClr val="E75C00"/>
              </a:buClr>
              <a:buAutoNum type="arabicPeriod"/>
              <a:tabLst>
                <a:tab pos="544195" algn="l"/>
                <a:tab pos="544830" algn="l"/>
              </a:tabLst>
            </a:pPr>
            <a:r>
              <a:rPr sz="2100" dirty="0"/>
              <a:t>Bütünsel</a:t>
            </a:r>
            <a:r>
              <a:rPr sz="2100" spc="-125" dirty="0"/>
              <a:t> </a:t>
            </a:r>
            <a:r>
              <a:rPr sz="2100" spc="-30" dirty="0"/>
              <a:t>Yaklaşım,</a:t>
            </a:r>
            <a:endParaRPr sz="2100"/>
          </a:p>
          <a:p>
            <a:pPr marL="544195" indent="-354330">
              <a:lnSpc>
                <a:spcPct val="100000"/>
              </a:lnSpc>
              <a:spcBef>
                <a:spcPts val="505"/>
              </a:spcBef>
              <a:buClr>
                <a:srgbClr val="E75C00"/>
              </a:buClr>
              <a:buAutoNum type="arabicPeriod"/>
              <a:tabLst>
                <a:tab pos="544195" algn="l"/>
                <a:tab pos="544830" algn="l"/>
              </a:tabLst>
            </a:pPr>
            <a:r>
              <a:rPr sz="2100" spc="-5" dirty="0"/>
              <a:t>Disi</a:t>
            </a:r>
            <a:r>
              <a:rPr sz="2100" spc="5" dirty="0"/>
              <a:t>p</a:t>
            </a:r>
            <a:r>
              <a:rPr sz="2100" dirty="0"/>
              <a:t>l</a:t>
            </a:r>
            <a:r>
              <a:rPr sz="2100" spc="5" dirty="0"/>
              <a:t>i</a:t>
            </a:r>
            <a:r>
              <a:rPr sz="2100" dirty="0"/>
              <a:t>n</a:t>
            </a:r>
            <a:r>
              <a:rPr sz="2100" spc="5" dirty="0"/>
              <a:t>l</a:t>
            </a:r>
            <a:r>
              <a:rPr sz="2100" dirty="0"/>
              <a:t>er</a:t>
            </a:r>
            <a:r>
              <a:rPr sz="2100" spc="-130" dirty="0"/>
              <a:t> </a:t>
            </a:r>
            <a:r>
              <a:rPr sz="2100" spc="-5" dirty="0"/>
              <a:t>A</a:t>
            </a:r>
            <a:r>
              <a:rPr sz="2100" spc="-10" dirty="0"/>
              <a:t>r</a:t>
            </a:r>
            <a:r>
              <a:rPr sz="2100" dirty="0"/>
              <a:t>ası</a:t>
            </a:r>
            <a:r>
              <a:rPr sz="2100" spc="-65" dirty="0"/>
              <a:t> </a:t>
            </a:r>
            <a:r>
              <a:rPr sz="2100" spc="-210" dirty="0"/>
              <a:t>Y</a:t>
            </a:r>
            <a:r>
              <a:rPr sz="2100" dirty="0"/>
              <a:t>a</a:t>
            </a:r>
            <a:r>
              <a:rPr sz="2100" spc="5" dirty="0"/>
              <a:t>k</a:t>
            </a:r>
            <a:r>
              <a:rPr sz="2100" dirty="0"/>
              <a:t>l</a:t>
            </a:r>
            <a:r>
              <a:rPr sz="2100" spc="5" dirty="0"/>
              <a:t>a</a:t>
            </a:r>
            <a:r>
              <a:rPr sz="2100" spc="-5" dirty="0"/>
              <a:t>şı</a:t>
            </a:r>
            <a:r>
              <a:rPr sz="2100" spc="-25" dirty="0"/>
              <a:t>m</a:t>
            </a:r>
            <a:r>
              <a:rPr sz="2100" dirty="0"/>
              <a:t>,</a:t>
            </a:r>
            <a:endParaRPr sz="2100"/>
          </a:p>
        </p:txBody>
      </p:sp>
      <p:sp>
        <p:nvSpPr>
          <p:cNvPr id="14" name="object 14"/>
          <p:cNvSpPr txBox="1"/>
          <p:nvPr/>
        </p:nvSpPr>
        <p:spPr>
          <a:xfrm>
            <a:off x="870000" y="5767527"/>
            <a:ext cx="24028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5760" algn="l"/>
              </a:tabLst>
            </a:pPr>
            <a:r>
              <a:rPr sz="2100" dirty="0">
                <a:solidFill>
                  <a:srgbClr val="E75C00"/>
                </a:solidFill>
                <a:latin typeface="Times New Roman"/>
                <a:cs typeface="Times New Roman"/>
              </a:rPr>
              <a:t>3.	</a:t>
            </a:r>
            <a:r>
              <a:rPr sz="2100" spc="-5" dirty="0">
                <a:latin typeface="Times New Roman"/>
                <a:cs typeface="Times New Roman"/>
              </a:rPr>
              <a:t>Bilimsel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Yaklaşım.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72982" y="5870549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532003"/>
            <a:ext cx="56114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spc="315" dirty="0">
                <a:solidFill>
                  <a:srgbClr val="565F6C"/>
                </a:solidFill>
                <a:latin typeface="Cambria"/>
                <a:cs typeface="Cambria"/>
              </a:rPr>
              <a:t>SİSTEM</a:t>
            </a:r>
            <a:r>
              <a:rPr sz="2700" spc="13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305" dirty="0">
                <a:solidFill>
                  <a:srgbClr val="565F6C"/>
                </a:solidFill>
                <a:latin typeface="Cambria"/>
                <a:cs typeface="Cambria"/>
              </a:rPr>
              <a:t>YAKLAŞIMININ</a:t>
            </a:r>
            <a:r>
              <a:rPr sz="2700" spc="15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330" dirty="0">
                <a:solidFill>
                  <a:srgbClr val="565F6C"/>
                </a:solidFill>
                <a:latin typeface="Cambria"/>
                <a:cs typeface="Cambria"/>
              </a:rPr>
              <a:t>TEMEL </a:t>
            </a:r>
            <a:r>
              <a:rPr sz="2700" spc="-58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320" dirty="0">
                <a:solidFill>
                  <a:srgbClr val="565F6C"/>
                </a:solidFill>
                <a:latin typeface="Cambria"/>
                <a:cs typeface="Cambria"/>
              </a:rPr>
              <a:t>İLKELERİ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8540" y="1503044"/>
            <a:ext cx="7076440" cy="449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"/>
                <a:cs typeface="Cambria"/>
              </a:rPr>
              <a:t>1-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b="1" spc="150" dirty="0">
                <a:latin typeface="Cambria"/>
                <a:cs typeface="Cambria"/>
              </a:rPr>
              <a:t>Bütünsel</a:t>
            </a:r>
            <a:r>
              <a:rPr sz="2200" b="1" spc="180" dirty="0">
                <a:latin typeface="Cambria"/>
                <a:cs typeface="Cambria"/>
              </a:rPr>
              <a:t> </a:t>
            </a:r>
            <a:r>
              <a:rPr sz="2200" b="1" spc="145" dirty="0">
                <a:latin typeface="Cambria"/>
                <a:cs typeface="Cambria"/>
              </a:rPr>
              <a:t>Yaklaşım</a:t>
            </a:r>
            <a:r>
              <a:rPr sz="2200" b="1" spc="15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:</a:t>
            </a:r>
            <a:endParaRPr sz="2200">
              <a:latin typeface="Cambria"/>
              <a:cs typeface="Cambria"/>
            </a:endParaRPr>
          </a:p>
          <a:p>
            <a:pPr marL="287020" marR="262890" indent="-274320">
              <a:lnSpc>
                <a:spcPts val="2110"/>
              </a:lnSpc>
              <a:spcBef>
                <a:spcPts val="585"/>
              </a:spcBef>
              <a:buClr>
                <a:srgbClr val="FD8537"/>
              </a:buClr>
              <a:buSzPct val="68181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75" dirty="0">
                <a:latin typeface="Cambria"/>
                <a:cs typeface="Cambria"/>
              </a:rPr>
              <a:t>İncelenen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sistem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bütün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olarak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görülmelidir. 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Sistem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birbirleriyle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etkileşimli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öğelerden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oluşmuş,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çevresiyle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etkileşimli</a:t>
            </a:r>
            <a:r>
              <a:rPr sz="2200" spc="7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bütünlüktür.</a:t>
            </a:r>
            <a:endParaRPr sz="2200">
              <a:latin typeface="Cambria"/>
              <a:cs typeface="Cambria"/>
            </a:endParaRPr>
          </a:p>
          <a:p>
            <a:pPr marL="24574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mbria"/>
                <a:cs typeface="Cambria"/>
              </a:rPr>
              <a:t>2-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Disiplinler</a:t>
            </a:r>
            <a:r>
              <a:rPr sz="2200" b="1" spc="160" dirty="0">
                <a:latin typeface="Cambria"/>
                <a:cs typeface="Cambria"/>
              </a:rPr>
              <a:t> </a:t>
            </a:r>
            <a:r>
              <a:rPr sz="2200" b="1" spc="145" dirty="0">
                <a:latin typeface="Cambria"/>
                <a:cs typeface="Cambria"/>
              </a:rPr>
              <a:t>Arası Yaklaşım</a:t>
            </a:r>
            <a:r>
              <a:rPr sz="2200" b="1" spc="16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:</a:t>
            </a:r>
            <a:endParaRPr sz="2200">
              <a:latin typeface="Cambria"/>
              <a:cs typeface="Cambria"/>
            </a:endParaRPr>
          </a:p>
          <a:p>
            <a:pPr marL="287020" marR="5080" indent="-274320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110" dirty="0">
                <a:latin typeface="Cambria"/>
                <a:cs typeface="Cambria"/>
              </a:rPr>
              <a:t>Bütünsel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yaklaşımın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tamamlayıcısıdır. </a:t>
            </a:r>
            <a:r>
              <a:rPr sz="2200" spc="75" dirty="0">
                <a:latin typeface="Cambria"/>
                <a:cs typeface="Cambria"/>
              </a:rPr>
              <a:t>İncelenen 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sistemi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bütün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olarak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görmenin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20" dirty="0">
                <a:latin typeface="Cambria"/>
                <a:cs typeface="Cambria"/>
              </a:rPr>
              <a:t>ön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koşulu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aynı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zamanda </a:t>
            </a:r>
            <a:r>
              <a:rPr sz="2200" spc="70" dirty="0">
                <a:latin typeface="Cambria"/>
                <a:cs typeface="Cambria"/>
              </a:rPr>
              <a:t>gerekli </a:t>
            </a:r>
            <a:r>
              <a:rPr sz="2200" spc="75" dirty="0">
                <a:latin typeface="Cambria"/>
                <a:cs typeface="Cambria"/>
              </a:rPr>
              <a:t>sonucu, </a:t>
            </a:r>
            <a:r>
              <a:rPr sz="2200" spc="-70" dirty="0">
                <a:latin typeface="Cambria"/>
                <a:cs typeface="Cambria"/>
              </a:rPr>
              <a:t>o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sisteme </a:t>
            </a:r>
            <a:r>
              <a:rPr sz="2200" spc="100" dirty="0">
                <a:latin typeface="Cambria"/>
                <a:cs typeface="Cambria"/>
              </a:rPr>
              <a:t>farklı </a:t>
            </a:r>
            <a:r>
              <a:rPr sz="2200" spc="55" dirty="0">
                <a:latin typeface="Cambria"/>
                <a:cs typeface="Cambria"/>
              </a:rPr>
              <a:t>görüş </a:t>
            </a:r>
            <a:r>
              <a:rPr sz="2200" spc="6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açılarıyla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yaklaşabilmektir.</a:t>
            </a:r>
            <a:endParaRPr sz="2200">
              <a:latin typeface="Cambria"/>
              <a:cs typeface="Cambria"/>
            </a:endParaRPr>
          </a:p>
          <a:p>
            <a:pPr marL="323215">
              <a:lnSpc>
                <a:spcPct val="100000"/>
              </a:lnSpc>
              <a:spcBef>
                <a:spcPts val="70"/>
              </a:spcBef>
            </a:pPr>
            <a:r>
              <a:rPr sz="2200" dirty="0">
                <a:latin typeface="Cambria"/>
                <a:cs typeface="Cambria"/>
              </a:rPr>
              <a:t>3-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Bilimsel</a:t>
            </a:r>
            <a:r>
              <a:rPr sz="2200" b="1" spc="140" dirty="0">
                <a:latin typeface="Cambria"/>
                <a:cs typeface="Cambria"/>
              </a:rPr>
              <a:t> </a:t>
            </a:r>
            <a:r>
              <a:rPr sz="2200" b="1" spc="145" dirty="0">
                <a:latin typeface="Cambria"/>
                <a:cs typeface="Cambria"/>
              </a:rPr>
              <a:t>Yaklaşım</a:t>
            </a:r>
            <a:r>
              <a:rPr sz="2200" b="1" spc="140" dirty="0">
                <a:latin typeface="Cambria"/>
                <a:cs typeface="Cambria"/>
              </a:rPr>
              <a:t> </a:t>
            </a:r>
            <a:r>
              <a:rPr sz="2200" b="1" spc="-10" dirty="0">
                <a:latin typeface="Cambria"/>
                <a:cs typeface="Cambria"/>
              </a:rPr>
              <a:t>:</a:t>
            </a:r>
            <a:endParaRPr sz="2200">
              <a:latin typeface="Cambria"/>
              <a:cs typeface="Cambria"/>
            </a:endParaRPr>
          </a:p>
          <a:p>
            <a:pPr marL="287020" marR="142240" indent="-274320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spc="114" dirty="0">
                <a:latin typeface="Cambria"/>
                <a:cs typeface="Cambria"/>
              </a:rPr>
              <a:t>Sistem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yaklaşımında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sorunları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bir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bütün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olarak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görmenin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sorunlara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değişik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görüş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açılarıyla 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yaklaşmanın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somut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yöntemidir.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Sistemler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üzerinde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çalışırken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sorunların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çözümü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için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bilimsel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yöntem </a:t>
            </a:r>
            <a:r>
              <a:rPr sz="2200" spc="60" dirty="0">
                <a:latin typeface="Cambria"/>
                <a:cs typeface="Cambria"/>
              </a:rPr>
              <a:t> tercih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edilir.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9039"/>
            <a:ext cx="35896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İSTEM BİLEŞENLERİ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18540" y="1522933"/>
            <a:ext cx="7465059" cy="369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90" dirty="0">
                <a:latin typeface="Cambria"/>
                <a:cs typeface="Cambria"/>
              </a:rPr>
              <a:t>Çevremizde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olup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biten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her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türlü </a:t>
            </a:r>
            <a:r>
              <a:rPr sz="2400" spc="100" dirty="0">
                <a:latin typeface="Cambria"/>
                <a:cs typeface="Cambria"/>
              </a:rPr>
              <a:t>faaliyet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</a:t>
            </a:r>
            <a:endParaRPr sz="2400">
              <a:latin typeface="Cambria"/>
              <a:cs typeface="Cambria"/>
            </a:endParaRPr>
          </a:p>
          <a:p>
            <a:pPr marL="287020">
              <a:lnSpc>
                <a:spcPct val="100000"/>
              </a:lnSpc>
              <a:spcBef>
                <a:spcPts val="5"/>
              </a:spcBef>
            </a:pPr>
            <a:r>
              <a:rPr sz="2400" spc="95" dirty="0">
                <a:latin typeface="Cambria"/>
                <a:cs typeface="Cambria"/>
              </a:rPr>
              <a:t>olarak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düşünülebilir.</a:t>
            </a:r>
            <a:endParaRPr sz="2400">
              <a:latin typeface="Cambria"/>
              <a:cs typeface="Cambria"/>
            </a:endParaRPr>
          </a:p>
          <a:p>
            <a:pPr marL="287020" marR="864235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spc="130" dirty="0">
                <a:latin typeface="Cambria"/>
                <a:cs typeface="Cambria"/>
              </a:rPr>
              <a:t>Sistem </a:t>
            </a:r>
            <a:r>
              <a:rPr sz="2400" spc="95" dirty="0">
                <a:latin typeface="Cambria"/>
                <a:cs typeface="Cambria"/>
              </a:rPr>
              <a:t>olarak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adlandırılan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tüm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kavramların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içerdiği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ortak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noktalar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vardır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;</a:t>
            </a:r>
            <a:endParaRPr sz="2400">
              <a:latin typeface="Cambria"/>
              <a:cs typeface="Cambria"/>
            </a:endParaRPr>
          </a:p>
          <a:p>
            <a:pPr marL="367665" indent="-355600">
              <a:lnSpc>
                <a:spcPct val="100000"/>
              </a:lnSpc>
              <a:spcBef>
                <a:spcPts val="585"/>
              </a:spcBef>
              <a:buFont typeface="Cambria"/>
              <a:buAutoNum type="arabicPlain"/>
              <a:tabLst>
                <a:tab pos="368300" algn="l"/>
              </a:tabLst>
            </a:pPr>
            <a:r>
              <a:rPr sz="2400" b="1" spc="215" dirty="0">
                <a:latin typeface="Cambria"/>
                <a:cs typeface="Cambria"/>
              </a:rPr>
              <a:t>Öğe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Sistem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içindeki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herhangi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nesne</a:t>
            </a:r>
            <a:endParaRPr sz="2400">
              <a:latin typeface="Cambria"/>
              <a:cs typeface="Cambria"/>
            </a:endParaRPr>
          </a:p>
          <a:p>
            <a:pPr marL="367665" indent="-355600">
              <a:lnSpc>
                <a:spcPct val="100000"/>
              </a:lnSpc>
              <a:spcBef>
                <a:spcPts val="605"/>
              </a:spcBef>
              <a:buFont typeface="Cambria"/>
              <a:buAutoNum type="arabicPlain"/>
              <a:tabLst>
                <a:tab pos="368300" algn="l"/>
              </a:tabLst>
            </a:pPr>
            <a:r>
              <a:rPr sz="2400" b="1" spc="150" dirty="0">
                <a:latin typeface="Cambria"/>
                <a:cs typeface="Cambria"/>
              </a:rPr>
              <a:t>Özellik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Sistem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içindeki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öğelerin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özellikleri</a:t>
            </a:r>
            <a:endParaRPr sz="2400">
              <a:latin typeface="Cambria"/>
              <a:cs typeface="Cambria"/>
            </a:endParaRPr>
          </a:p>
          <a:p>
            <a:pPr marL="367665" indent="-355600">
              <a:lnSpc>
                <a:spcPct val="100000"/>
              </a:lnSpc>
              <a:spcBef>
                <a:spcPts val="600"/>
              </a:spcBef>
              <a:buFont typeface="Cambria"/>
              <a:buAutoNum type="arabicPlain"/>
              <a:tabLst>
                <a:tab pos="368300" algn="l"/>
              </a:tabLst>
            </a:pPr>
            <a:r>
              <a:rPr sz="2400" b="1" spc="175" dirty="0">
                <a:latin typeface="Cambria"/>
                <a:cs typeface="Cambria"/>
              </a:rPr>
              <a:t>Faaliyet</a:t>
            </a:r>
            <a:r>
              <a:rPr sz="2400" b="1" spc="15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Sistemde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değişimi</a:t>
            </a:r>
            <a:r>
              <a:rPr sz="2400" spc="120" dirty="0">
                <a:latin typeface="Cambria"/>
                <a:cs typeface="Cambria"/>
              </a:rPr>
              <a:t> sağlayan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süreçler</a:t>
            </a:r>
            <a:endParaRPr sz="2400">
              <a:latin typeface="Cambria"/>
              <a:cs typeface="Cambria"/>
            </a:endParaRPr>
          </a:p>
          <a:p>
            <a:pPr marL="367665" indent="-355600">
              <a:lnSpc>
                <a:spcPct val="100000"/>
              </a:lnSpc>
              <a:spcBef>
                <a:spcPts val="600"/>
              </a:spcBef>
              <a:buFont typeface="Cambria"/>
              <a:buAutoNum type="arabicPlain"/>
              <a:tabLst>
                <a:tab pos="368300" algn="l"/>
              </a:tabLst>
            </a:pPr>
            <a:r>
              <a:rPr sz="2400" b="1" spc="210" dirty="0">
                <a:latin typeface="Cambria"/>
                <a:cs typeface="Cambria"/>
              </a:rPr>
              <a:t>Durum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: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Belli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25" dirty="0">
                <a:latin typeface="Cambria"/>
                <a:cs typeface="Cambria"/>
              </a:rPr>
              <a:t> zaman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noktasına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sistemin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öğe,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100" dirty="0">
                <a:latin typeface="Cambria"/>
                <a:cs typeface="Cambria"/>
              </a:rPr>
              <a:t>nitelik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faaliyetlerinin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tanımı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311" y="1269491"/>
            <a:ext cx="6839711" cy="4005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644" y="2393569"/>
            <a:ext cx="5224145" cy="13525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0" dirty="0">
                <a:latin typeface="Cambria"/>
                <a:cs typeface="Cambria"/>
              </a:rPr>
              <a:t>Sistem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öğelerden</a:t>
            </a:r>
            <a:r>
              <a:rPr sz="2400" spc="100" dirty="0">
                <a:latin typeface="Cambria"/>
                <a:cs typeface="Cambria"/>
              </a:rPr>
              <a:t> oluşmuştur.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Öğeler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arasında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ilişkiler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vardır.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0" dirty="0">
                <a:latin typeface="Cambria"/>
                <a:cs typeface="Cambria"/>
              </a:rPr>
              <a:t>Sistem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belli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amaca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yönelmiştir.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319276"/>
            <a:ext cx="8187690" cy="4600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99"/>
              </a:lnSpc>
              <a:spcBef>
                <a:spcPts val="100"/>
              </a:spcBef>
              <a:buClr>
                <a:srgbClr val="FD8537"/>
              </a:buClr>
              <a:buSzPct val="68965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900" b="1" spc="200" dirty="0">
                <a:latin typeface="Cambria"/>
                <a:cs typeface="Cambria"/>
              </a:rPr>
              <a:t>Öğeler</a:t>
            </a:r>
            <a:r>
              <a:rPr sz="2900" b="1" spc="175" dirty="0">
                <a:latin typeface="Cambria"/>
                <a:cs typeface="Cambria"/>
              </a:rPr>
              <a:t> </a:t>
            </a:r>
            <a:r>
              <a:rPr sz="2900" spc="40" dirty="0">
                <a:latin typeface="Cambria"/>
                <a:cs typeface="Cambria"/>
              </a:rPr>
              <a:t>:</a:t>
            </a:r>
            <a:r>
              <a:rPr sz="2900" spc="165" dirty="0">
                <a:latin typeface="Cambria"/>
                <a:cs typeface="Cambria"/>
              </a:rPr>
              <a:t> </a:t>
            </a:r>
            <a:r>
              <a:rPr sz="2900" spc="145" dirty="0">
                <a:latin typeface="Cambria"/>
                <a:cs typeface="Cambria"/>
              </a:rPr>
              <a:t>Sistemi</a:t>
            </a:r>
            <a:r>
              <a:rPr sz="2900" spc="135" dirty="0">
                <a:latin typeface="Cambria"/>
                <a:cs typeface="Cambria"/>
              </a:rPr>
              <a:t> </a:t>
            </a:r>
            <a:r>
              <a:rPr sz="2900" spc="125" dirty="0">
                <a:latin typeface="Cambria"/>
                <a:cs typeface="Cambria"/>
              </a:rPr>
              <a:t>meydana</a:t>
            </a:r>
            <a:r>
              <a:rPr sz="2900" spc="150" dirty="0">
                <a:latin typeface="Cambria"/>
                <a:cs typeface="Cambria"/>
              </a:rPr>
              <a:t> </a:t>
            </a:r>
            <a:r>
              <a:rPr sz="2900" spc="95" dirty="0">
                <a:latin typeface="Cambria"/>
                <a:cs typeface="Cambria"/>
              </a:rPr>
              <a:t>getiren</a:t>
            </a:r>
            <a:r>
              <a:rPr sz="2900" spc="155" dirty="0">
                <a:latin typeface="Cambria"/>
                <a:cs typeface="Cambria"/>
              </a:rPr>
              <a:t> </a:t>
            </a:r>
            <a:r>
              <a:rPr sz="2900" spc="100" dirty="0">
                <a:latin typeface="Cambria"/>
                <a:cs typeface="Cambria"/>
              </a:rPr>
              <a:t>fiziksel</a:t>
            </a:r>
            <a:r>
              <a:rPr sz="2900" spc="165" dirty="0">
                <a:latin typeface="Cambria"/>
                <a:cs typeface="Cambria"/>
              </a:rPr>
              <a:t> </a:t>
            </a:r>
            <a:r>
              <a:rPr sz="2900" spc="140" dirty="0">
                <a:latin typeface="Cambria"/>
                <a:cs typeface="Cambria"/>
              </a:rPr>
              <a:t>ya 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125" dirty="0">
                <a:latin typeface="Cambria"/>
                <a:cs typeface="Cambria"/>
              </a:rPr>
              <a:t>da</a:t>
            </a:r>
            <a:r>
              <a:rPr sz="2900" spc="150" dirty="0">
                <a:latin typeface="Cambria"/>
                <a:cs typeface="Cambria"/>
              </a:rPr>
              <a:t> kavramsal</a:t>
            </a:r>
            <a:r>
              <a:rPr sz="2900" spc="140" dirty="0">
                <a:latin typeface="Cambria"/>
                <a:cs typeface="Cambria"/>
              </a:rPr>
              <a:t> </a:t>
            </a:r>
            <a:r>
              <a:rPr sz="2900" spc="160" dirty="0">
                <a:latin typeface="Cambria"/>
                <a:cs typeface="Cambria"/>
              </a:rPr>
              <a:t>tüm</a:t>
            </a:r>
            <a:r>
              <a:rPr sz="2900" spc="150" dirty="0">
                <a:latin typeface="Cambria"/>
                <a:cs typeface="Cambria"/>
              </a:rPr>
              <a:t> </a:t>
            </a:r>
            <a:r>
              <a:rPr sz="2900" spc="80" dirty="0">
                <a:latin typeface="Cambria"/>
                <a:cs typeface="Cambria"/>
              </a:rPr>
              <a:t>bileşenler</a:t>
            </a:r>
            <a:r>
              <a:rPr sz="2900" spc="125" dirty="0">
                <a:latin typeface="Cambria"/>
                <a:cs typeface="Cambria"/>
              </a:rPr>
              <a:t> </a:t>
            </a:r>
            <a:r>
              <a:rPr sz="2900" spc="110" dirty="0">
                <a:latin typeface="Cambria"/>
                <a:cs typeface="Cambria"/>
              </a:rPr>
              <a:t>sistemin </a:t>
            </a:r>
            <a:r>
              <a:rPr sz="2900" spc="114" dirty="0">
                <a:latin typeface="Cambria"/>
                <a:cs typeface="Cambria"/>
              </a:rPr>
              <a:t> </a:t>
            </a:r>
            <a:r>
              <a:rPr sz="2900" spc="80" dirty="0">
                <a:latin typeface="Cambria"/>
                <a:cs typeface="Cambria"/>
              </a:rPr>
              <a:t>öğeleridir.</a:t>
            </a:r>
            <a:r>
              <a:rPr sz="2900" spc="125" dirty="0">
                <a:latin typeface="Cambria"/>
                <a:cs typeface="Cambria"/>
              </a:rPr>
              <a:t> </a:t>
            </a:r>
            <a:r>
              <a:rPr sz="2900" spc="145" dirty="0">
                <a:latin typeface="Cambria"/>
                <a:cs typeface="Cambria"/>
              </a:rPr>
              <a:t>Örneğin</a:t>
            </a:r>
            <a:r>
              <a:rPr sz="2900" spc="165" dirty="0">
                <a:latin typeface="Cambria"/>
                <a:cs typeface="Cambria"/>
              </a:rPr>
              <a:t> </a:t>
            </a:r>
            <a:r>
              <a:rPr sz="2900" spc="45" dirty="0">
                <a:latin typeface="Cambria"/>
                <a:cs typeface="Cambria"/>
              </a:rPr>
              <a:t>otomobili</a:t>
            </a:r>
            <a:r>
              <a:rPr sz="2900" spc="120" dirty="0">
                <a:latin typeface="Cambria"/>
                <a:cs typeface="Cambria"/>
              </a:rPr>
              <a:t> </a:t>
            </a:r>
            <a:r>
              <a:rPr sz="2900" spc="125" dirty="0">
                <a:latin typeface="Cambria"/>
                <a:cs typeface="Cambria"/>
              </a:rPr>
              <a:t>meydana </a:t>
            </a:r>
            <a:r>
              <a:rPr sz="2900" spc="95" dirty="0">
                <a:latin typeface="Cambria"/>
                <a:cs typeface="Cambria"/>
              </a:rPr>
              <a:t>getiren </a:t>
            </a:r>
            <a:r>
              <a:rPr sz="2900" spc="-620" dirty="0">
                <a:latin typeface="Cambria"/>
                <a:cs typeface="Cambria"/>
              </a:rPr>
              <a:t> </a:t>
            </a:r>
            <a:r>
              <a:rPr sz="2900" spc="90" dirty="0">
                <a:latin typeface="Cambria"/>
                <a:cs typeface="Cambria"/>
              </a:rPr>
              <a:t>piston,</a:t>
            </a:r>
            <a:r>
              <a:rPr sz="2900" spc="95" dirty="0">
                <a:latin typeface="Cambria"/>
                <a:cs typeface="Cambria"/>
              </a:rPr>
              <a:t> </a:t>
            </a:r>
            <a:r>
              <a:rPr sz="2900" spc="90" dirty="0">
                <a:latin typeface="Cambria"/>
                <a:cs typeface="Cambria"/>
              </a:rPr>
              <a:t>direksiyon,</a:t>
            </a:r>
            <a:r>
              <a:rPr sz="2900" spc="95" dirty="0">
                <a:latin typeface="Cambria"/>
                <a:cs typeface="Cambria"/>
              </a:rPr>
              <a:t> </a:t>
            </a:r>
            <a:r>
              <a:rPr sz="2900" spc="90" dirty="0">
                <a:latin typeface="Cambria"/>
                <a:cs typeface="Cambria"/>
              </a:rPr>
              <a:t>vites  </a:t>
            </a:r>
            <a:r>
              <a:rPr sz="2900" spc="105" dirty="0">
                <a:latin typeface="Cambria"/>
                <a:cs typeface="Cambria"/>
              </a:rPr>
              <a:t>vb.  </a:t>
            </a:r>
            <a:r>
              <a:rPr sz="2900" spc="114" dirty="0">
                <a:latin typeface="Cambria"/>
                <a:cs typeface="Cambria"/>
              </a:rPr>
              <a:t>parçalar </a:t>
            </a:r>
            <a:r>
              <a:rPr sz="2900" spc="120" dirty="0">
                <a:latin typeface="Cambria"/>
                <a:cs typeface="Cambria"/>
              </a:rPr>
              <a:t> </a:t>
            </a:r>
            <a:r>
              <a:rPr sz="2900" spc="75" dirty="0">
                <a:latin typeface="Cambria"/>
                <a:cs typeface="Cambria"/>
              </a:rPr>
              <a:t>öğelerdir.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170" dirty="0">
                <a:latin typeface="Cambria"/>
                <a:cs typeface="Cambria"/>
              </a:rPr>
              <a:t>Bir</a:t>
            </a:r>
            <a:r>
              <a:rPr sz="2900" spc="165" dirty="0">
                <a:latin typeface="Cambria"/>
                <a:cs typeface="Cambria"/>
              </a:rPr>
              <a:t> </a:t>
            </a:r>
            <a:r>
              <a:rPr sz="2900" spc="100" dirty="0">
                <a:latin typeface="Cambria"/>
                <a:cs typeface="Cambria"/>
              </a:rPr>
              <a:t>işletmedeki</a:t>
            </a:r>
            <a:r>
              <a:rPr sz="2900" spc="150" dirty="0">
                <a:latin typeface="Cambria"/>
                <a:cs typeface="Cambria"/>
              </a:rPr>
              <a:t> </a:t>
            </a:r>
            <a:r>
              <a:rPr sz="2900" spc="100" dirty="0">
                <a:latin typeface="Cambria"/>
                <a:cs typeface="Cambria"/>
              </a:rPr>
              <a:t>yönetim,</a:t>
            </a:r>
            <a:r>
              <a:rPr sz="2900" spc="130" dirty="0">
                <a:latin typeface="Cambria"/>
                <a:cs typeface="Cambria"/>
              </a:rPr>
              <a:t> </a:t>
            </a:r>
            <a:r>
              <a:rPr sz="2900" spc="80" dirty="0">
                <a:latin typeface="Cambria"/>
                <a:cs typeface="Cambria"/>
              </a:rPr>
              <a:t>denetleme </a:t>
            </a:r>
            <a:r>
              <a:rPr sz="2900" spc="85" dirty="0">
                <a:latin typeface="Cambria"/>
                <a:cs typeface="Cambria"/>
              </a:rPr>
              <a:t> </a:t>
            </a:r>
            <a:r>
              <a:rPr sz="2900" spc="90" dirty="0">
                <a:latin typeface="Cambria"/>
                <a:cs typeface="Cambria"/>
              </a:rPr>
              <a:t>gibi</a:t>
            </a:r>
            <a:r>
              <a:rPr sz="2900" spc="140" dirty="0">
                <a:latin typeface="Cambria"/>
                <a:cs typeface="Cambria"/>
              </a:rPr>
              <a:t> </a:t>
            </a:r>
            <a:r>
              <a:rPr sz="2900" spc="110" dirty="0">
                <a:latin typeface="Cambria"/>
                <a:cs typeface="Cambria"/>
              </a:rPr>
              <a:t>faaliyetler</a:t>
            </a:r>
            <a:r>
              <a:rPr sz="2900" spc="125" dirty="0">
                <a:latin typeface="Cambria"/>
                <a:cs typeface="Cambria"/>
              </a:rPr>
              <a:t> </a:t>
            </a:r>
            <a:r>
              <a:rPr sz="2900" spc="45" dirty="0">
                <a:latin typeface="Cambria"/>
                <a:cs typeface="Cambria"/>
              </a:rPr>
              <a:t>de</a:t>
            </a:r>
            <a:r>
              <a:rPr sz="2900" spc="150" dirty="0">
                <a:latin typeface="Cambria"/>
                <a:cs typeface="Cambria"/>
              </a:rPr>
              <a:t> </a:t>
            </a:r>
            <a:r>
              <a:rPr sz="2900" spc="75" dirty="0">
                <a:latin typeface="Cambria"/>
                <a:cs typeface="Cambria"/>
              </a:rPr>
              <a:t>öğedir.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Segoe UI Symbol"/>
              <a:buChar char="⚫"/>
            </a:pPr>
            <a:endParaRPr sz="3950">
              <a:latin typeface="Cambria"/>
              <a:cs typeface="Cambria"/>
            </a:endParaRPr>
          </a:p>
          <a:p>
            <a:pPr marL="286385" marR="995044" indent="-274320">
              <a:lnSpc>
                <a:spcPct val="100200"/>
              </a:lnSpc>
              <a:buClr>
                <a:srgbClr val="FD8537"/>
              </a:buClr>
              <a:buSzPct val="68965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900" b="1" spc="165" dirty="0">
                <a:latin typeface="Cambria"/>
                <a:cs typeface="Cambria"/>
              </a:rPr>
              <a:t>İlişkiler</a:t>
            </a:r>
            <a:r>
              <a:rPr sz="2900" b="1" spc="175" dirty="0">
                <a:latin typeface="Cambria"/>
                <a:cs typeface="Cambria"/>
              </a:rPr>
              <a:t> </a:t>
            </a:r>
            <a:r>
              <a:rPr sz="2900" spc="40" dirty="0">
                <a:latin typeface="Cambria"/>
                <a:cs typeface="Cambria"/>
              </a:rPr>
              <a:t>: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155" dirty="0">
                <a:latin typeface="Cambria"/>
                <a:cs typeface="Cambria"/>
              </a:rPr>
              <a:t>Sistem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90" dirty="0">
                <a:latin typeface="Cambria"/>
                <a:cs typeface="Cambria"/>
              </a:rPr>
              <a:t>içerisindeki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70" dirty="0">
                <a:latin typeface="Cambria"/>
                <a:cs typeface="Cambria"/>
              </a:rPr>
              <a:t>öğelerin </a:t>
            </a:r>
            <a:r>
              <a:rPr sz="2900" spc="75" dirty="0">
                <a:latin typeface="Cambria"/>
                <a:cs typeface="Cambria"/>
              </a:rPr>
              <a:t> birbirleri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135" dirty="0">
                <a:latin typeface="Cambria"/>
                <a:cs typeface="Cambria"/>
              </a:rPr>
              <a:t>arasındaki</a:t>
            </a:r>
            <a:r>
              <a:rPr sz="2900" spc="125" dirty="0">
                <a:latin typeface="Cambria"/>
                <a:cs typeface="Cambria"/>
              </a:rPr>
              <a:t> </a:t>
            </a:r>
            <a:r>
              <a:rPr sz="2900" spc="100" dirty="0">
                <a:latin typeface="Cambria"/>
                <a:cs typeface="Cambria"/>
              </a:rPr>
              <a:t>her</a:t>
            </a:r>
            <a:r>
              <a:rPr sz="2900" spc="160" dirty="0">
                <a:latin typeface="Cambria"/>
                <a:cs typeface="Cambria"/>
              </a:rPr>
              <a:t> </a:t>
            </a:r>
            <a:r>
              <a:rPr sz="2900" spc="135" dirty="0">
                <a:latin typeface="Cambria"/>
                <a:cs typeface="Cambria"/>
              </a:rPr>
              <a:t>türlü</a:t>
            </a:r>
            <a:r>
              <a:rPr sz="2900" spc="145" dirty="0">
                <a:latin typeface="Cambria"/>
                <a:cs typeface="Cambria"/>
              </a:rPr>
              <a:t> akış</a:t>
            </a:r>
            <a:r>
              <a:rPr sz="2900" spc="155" dirty="0">
                <a:latin typeface="Cambria"/>
                <a:cs typeface="Cambria"/>
              </a:rPr>
              <a:t> </a:t>
            </a:r>
            <a:r>
              <a:rPr sz="2900" spc="120" dirty="0">
                <a:latin typeface="Cambria"/>
                <a:cs typeface="Cambria"/>
              </a:rPr>
              <a:t>ilişki </a:t>
            </a:r>
            <a:r>
              <a:rPr sz="2900" spc="-620" dirty="0">
                <a:latin typeface="Cambria"/>
                <a:cs typeface="Cambria"/>
              </a:rPr>
              <a:t> </a:t>
            </a:r>
            <a:r>
              <a:rPr sz="2900" spc="120" dirty="0">
                <a:latin typeface="Cambria"/>
                <a:cs typeface="Cambria"/>
              </a:rPr>
              <a:t>olarak</a:t>
            </a:r>
            <a:r>
              <a:rPr sz="2900" spc="145" dirty="0">
                <a:latin typeface="Cambria"/>
                <a:cs typeface="Cambria"/>
              </a:rPr>
              <a:t> </a:t>
            </a:r>
            <a:r>
              <a:rPr sz="2900" spc="120" dirty="0">
                <a:latin typeface="Cambria"/>
                <a:cs typeface="Cambria"/>
              </a:rPr>
              <a:t>adlandırılır.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947419"/>
            <a:ext cx="8075930" cy="442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375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50" dirty="0">
                <a:latin typeface="Cambria"/>
                <a:cs typeface="Cambria"/>
              </a:rPr>
              <a:t>Mekansal</a:t>
            </a:r>
            <a:r>
              <a:rPr sz="2200" b="1" spc="185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İlişki</a:t>
            </a:r>
            <a:r>
              <a:rPr sz="2200" b="1" spc="155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:</a:t>
            </a:r>
            <a:r>
              <a:rPr sz="2200" spc="125" dirty="0">
                <a:latin typeface="Cambria"/>
                <a:cs typeface="Cambria"/>
              </a:rPr>
              <a:t> Bir </a:t>
            </a:r>
            <a:r>
              <a:rPr sz="2200" spc="114" dirty="0">
                <a:latin typeface="Cambria"/>
                <a:cs typeface="Cambria"/>
              </a:rPr>
              <a:t>imalat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sistemindeki</a:t>
            </a:r>
            <a:r>
              <a:rPr sz="2200" spc="90" dirty="0">
                <a:latin typeface="Cambria"/>
                <a:cs typeface="Cambria"/>
              </a:rPr>
              <a:t> tezgahlar</a:t>
            </a:r>
            <a:endParaRPr sz="2200">
              <a:latin typeface="Cambria"/>
              <a:cs typeface="Cambria"/>
            </a:endParaRPr>
          </a:p>
          <a:p>
            <a:pPr marL="286385">
              <a:lnSpc>
                <a:spcPts val="2375"/>
              </a:lnSpc>
            </a:pPr>
            <a:r>
              <a:rPr sz="2200" spc="100" dirty="0">
                <a:latin typeface="Cambria"/>
                <a:cs typeface="Cambria"/>
              </a:rPr>
              <a:t>arasındaki </a:t>
            </a:r>
            <a:r>
              <a:rPr sz="2200" spc="114" dirty="0">
                <a:latin typeface="Cambria"/>
                <a:cs typeface="Cambria"/>
              </a:rPr>
              <a:t>uzaklık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ilişkisi.</a:t>
            </a:r>
            <a:endParaRPr sz="2200">
              <a:latin typeface="Cambria"/>
              <a:cs typeface="Cambria"/>
            </a:endParaRPr>
          </a:p>
          <a:p>
            <a:pPr marL="286385" marR="48260" indent="-274320">
              <a:lnSpc>
                <a:spcPct val="80000"/>
              </a:lnSpc>
              <a:spcBef>
                <a:spcPts val="60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364490" algn="l"/>
                <a:tab pos="365125" algn="l"/>
              </a:tabLst>
            </a:pPr>
            <a:r>
              <a:rPr dirty="0"/>
              <a:t>	</a:t>
            </a:r>
            <a:r>
              <a:rPr sz="2200" b="1" spc="150" dirty="0">
                <a:latin typeface="Cambria"/>
                <a:cs typeface="Cambria"/>
              </a:rPr>
              <a:t>Zamansal</a:t>
            </a:r>
            <a:r>
              <a:rPr sz="2200" b="1" spc="190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İlişki</a:t>
            </a:r>
            <a:r>
              <a:rPr sz="2200" b="1" spc="160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:</a:t>
            </a:r>
            <a:r>
              <a:rPr sz="2200" spc="125" dirty="0">
                <a:latin typeface="Cambria"/>
                <a:cs typeface="Cambria"/>
              </a:rPr>
              <a:t> Bir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arabanın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hızı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ile</a:t>
            </a:r>
            <a:r>
              <a:rPr sz="2200" spc="125" dirty="0">
                <a:latin typeface="Cambria"/>
                <a:cs typeface="Cambria"/>
              </a:rPr>
              <a:t> kat </a:t>
            </a:r>
            <a:r>
              <a:rPr sz="2200" spc="80" dirty="0">
                <a:latin typeface="Cambria"/>
                <a:cs typeface="Cambria"/>
              </a:rPr>
              <a:t>ettiği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uzunluğu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arasında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bir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zaman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ilişkisi vardır.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215" dirty="0">
                <a:latin typeface="Cambria"/>
                <a:cs typeface="Cambria"/>
              </a:rPr>
              <a:t>Ya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da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imalat 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sisteminde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120" dirty="0">
                <a:latin typeface="Cambria"/>
                <a:cs typeface="Cambria"/>
              </a:rPr>
              <a:t>mamulün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izleyeceği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işlem</a:t>
            </a:r>
            <a:r>
              <a:rPr sz="2200" spc="90" dirty="0">
                <a:latin typeface="Cambria"/>
                <a:cs typeface="Cambria"/>
              </a:rPr>
              <a:t> sıraları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arasında 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zaman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ilişkisi </a:t>
            </a:r>
            <a:r>
              <a:rPr sz="2200" spc="70" dirty="0">
                <a:latin typeface="Cambria"/>
                <a:cs typeface="Cambria"/>
              </a:rPr>
              <a:t>olabilir.</a:t>
            </a:r>
            <a:endParaRPr sz="2200">
              <a:latin typeface="Cambria"/>
              <a:cs typeface="Cambria"/>
            </a:endParaRPr>
          </a:p>
          <a:p>
            <a:pPr marL="286385" marR="5080" indent="-274320">
              <a:lnSpc>
                <a:spcPts val="2110"/>
              </a:lnSpc>
              <a:spcBef>
                <a:spcPts val="58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364490" algn="l"/>
                <a:tab pos="365125" algn="l"/>
              </a:tabLst>
            </a:pPr>
            <a:r>
              <a:rPr dirty="0"/>
              <a:t>	</a:t>
            </a:r>
            <a:r>
              <a:rPr sz="2200" b="1" spc="160" dirty="0">
                <a:latin typeface="Cambria"/>
                <a:cs typeface="Cambria"/>
              </a:rPr>
              <a:t>Neden-Sonuç</a:t>
            </a:r>
            <a:r>
              <a:rPr sz="2200" b="1" spc="220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İlişkisi</a:t>
            </a:r>
            <a:r>
              <a:rPr sz="2200" b="1" spc="155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: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Bir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ekonomik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sistemde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ürünün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fiyatı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belirlenirken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herhangi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nedenle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o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ürüne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olan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talep 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artarsa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bu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nedenini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sonucu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olarak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-70" dirty="0">
                <a:latin typeface="Cambria"/>
                <a:cs typeface="Cambria"/>
              </a:rPr>
              <a:t>o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ürünün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fiyatı 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artacaktır.</a:t>
            </a:r>
            <a:endParaRPr sz="2200">
              <a:latin typeface="Cambria"/>
              <a:cs typeface="Cambria"/>
            </a:endParaRPr>
          </a:p>
          <a:p>
            <a:pPr marL="286385" marR="324485" indent="-274320">
              <a:lnSpc>
                <a:spcPts val="2110"/>
              </a:lnSpc>
              <a:spcBef>
                <a:spcPts val="610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364490" algn="l"/>
                <a:tab pos="365125" algn="l"/>
              </a:tabLst>
            </a:pPr>
            <a:r>
              <a:rPr dirty="0"/>
              <a:t>	</a:t>
            </a:r>
            <a:r>
              <a:rPr sz="2200" b="1" spc="160" dirty="0">
                <a:latin typeface="Cambria"/>
                <a:cs typeface="Cambria"/>
              </a:rPr>
              <a:t>Enerjinin</a:t>
            </a:r>
            <a:r>
              <a:rPr sz="2200" b="1" spc="200" dirty="0">
                <a:latin typeface="Cambria"/>
                <a:cs typeface="Cambria"/>
              </a:rPr>
              <a:t> </a:t>
            </a:r>
            <a:r>
              <a:rPr sz="2200" b="1" spc="170" dirty="0">
                <a:latin typeface="Cambria"/>
                <a:cs typeface="Cambria"/>
              </a:rPr>
              <a:t>Korunumu</a:t>
            </a:r>
            <a:r>
              <a:rPr sz="2200" b="1" spc="200" dirty="0">
                <a:latin typeface="Cambria"/>
                <a:cs typeface="Cambria"/>
              </a:rPr>
              <a:t> </a:t>
            </a:r>
            <a:r>
              <a:rPr sz="2200" b="1" spc="120" dirty="0">
                <a:latin typeface="Cambria"/>
                <a:cs typeface="Cambria"/>
              </a:rPr>
              <a:t>İlişkisi</a:t>
            </a:r>
            <a:r>
              <a:rPr sz="2200" b="1" spc="170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: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Maddenin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biçimden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diğerine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geçerken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enerji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madde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korunur.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180" dirty="0">
                <a:latin typeface="Cambria"/>
                <a:cs typeface="Cambria"/>
              </a:rPr>
              <a:t>Bu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ilişki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 </a:t>
            </a:r>
            <a:r>
              <a:rPr sz="2200" spc="55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doğa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yasası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olarak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sistemler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için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de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geçerlidir.</a:t>
            </a:r>
            <a:endParaRPr sz="2200">
              <a:latin typeface="Cambria"/>
              <a:cs typeface="Cambria"/>
            </a:endParaRPr>
          </a:p>
          <a:p>
            <a:pPr marL="286385" marR="149225" indent="-274320">
              <a:lnSpc>
                <a:spcPts val="2110"/>
              </a:lnSpc>
              <a:spcBef>
                <a:spcPts val="60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367665" algn="l"/>
                <a:tab pos="368300" algn="l"/>
              </a:tabLst>
            </a:pPr>
            <a:r>
              <a:rPr dirty="0"/>
              <a:t>	</a:t>
            </a:r>
            <a:r>
              <a:rPr sz="2200" b="1" spc="150" dirty="0">
                <a:latin typeface="Cambria"/>
                <a:cs typeface="Cambria"/>
              </a:rPr>
              <a:t>Mantıksal</a:t>
            </a:r>
            <a:r>
              <a:rPr sz="2200" b="1" spc="180" dirty="0">
                <a:latin typeface="Cambria"/>
                <a:cs typeface="Cambria"/>
              </a:rPr>
              <a:t> </a:t>
            </a:r>
            <a:r>
              <a:rPr sz="2200" b="1" spc="130" dirty="0">
                <a:latin typeface="Cambria"/>
                <a:cs typeface="Cambria"/>
              </a:rPr>
              <a:t>İlişki</a:t>
            </a:r>
            <a:r>
              <a:rPr sz="2200" b="1" spc="160" dirty="0">
                <a:latin typeface="Cambria"/>
                <a:cs typeface="Cambria"/>
              </a:rPr>
              <a:t> </a:t>
            </a:r>
            <a:r>
              <a:rPr sz="2200" spc="30" dirty="0">
                <a:latin typeface="Cambria"/>
                <a:cs typeface="Cambria"/>
              </a:rPr>
              <a:t>: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Özellikle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soyut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sistemlerde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görülen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bir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ilişki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türüdür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bilgisayar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programlarında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sıkça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rastlanır.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16102"/>
            <a:ext cx="4272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00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550" spc="300" dirty="0">
                <a:solidFill>
                  <a:srgbClr val="565F6C"/>
                </a:solidFill>
                <a:latin typeface="Cambria"/>
                <a:cs typeface="Cambria"/>
              </a:rPr>
              <a:t>İSTEMİN</a:t>
            </a:r>
            <a:r>
              <a:rPr sz="2550" spc="28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200" spc="310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550" spc="310" dirty="0">
                <a:solidFill>
                  <a:srgbClr val="565F6C"/>
                </a:solidFill>
                <a:latin typeface="Cambria"/>
                <a:cs typeface="Cambria"/>
              </a:rPr>
              <a:t>ZELLİKLERİ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6739255" cy="2837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10" dirty="0">
                <a:latin typeface="Cambria"/>
                <a:cs typeface="Cambria"/>
              </a:rPr>
              <a:t>Bileşenler</a:t>
            </a:r>
            <a:r>
              <a:rPr sz="2200" spc="110" dirty="0">
                <a:latin typeface="Cambria"/>
                <a:cs typeface="Cambria"/>
              </a:rPr>
              <a:t>: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Sistemi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oluşturan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parçalardır.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Wingdings"/>
              <a:buChar char=""/>
            </a:pPr>
            <a:endParaRPr sz="325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25" dirty="0">
                <a:latin typeface="Cambria"/>
                <a:cs typeface="Cambria"/>
              </a:rPr>
              <a:t>Değişkenler</a:t>
            </a:r>
            <a:r>
              <a:rPr sz="2200" spc="125" dirty="0">
                <a:latin typeface="Cambria"/>
                <a:cs typeface="Cambria"/>
              </a:rPr>
              <a:t>:</a:t>
            </a:r>
            <a:r>
              <a:rPr sz="2200" spc="16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Sistemin </a:t>
            </a:r>
            <a:r>
              <a:rPr sz="2200" spc="70" dirty="0">
                <a:latin typeface="Cambria"/>
                <a:cs typeface="Cambria"/>
              </a:rPr>
              <a:t>özellikleridir.</a:t>
            </a:r>
            <a:r>
              <a:rPr sz="2200" spc="10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Dört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sınıfta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tanımlanır:</a:t>
            </a:r>
            <a:endParaRPr sz="22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5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5" dirty="0">
                <a:latin typeface="Cambria"/>
                <a:cs typeface="Cambria"/>
              </a:rPr>
              <a:t>Bağımsız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ve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bağımlı</a:t>
            </a:r>
            <a:endParaRPr sz="18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65" dirty="0">
                <a:latin typeface="Cambria"/>
                <a:cs typeface="Cambria"/>
              </a:rPr>
              <a:t>Denetlenebilir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ve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denetlenemez</a:t>
            </a:r>
            <a:endParaRPr sz="18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3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55" dirty="0">
                <a:latin typeface="Cambria"/>
                <a:cs typeface="Cambria"/>
              </a:rPr>
              <a:t>İçsel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ve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dışsal</a:t>
            </a:r>
            <a:endParaRPr sz="18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434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00" dirty="0">
                <a:latin typeface="Cambria"/>
                <a:cs typeface="Cambria"/>
              </a:rPr>
              <a:t>Girdi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ve</a:t>
            </a:r>
            <a:r>
              <a:rPr sz="1800" spc="70" dirty="0">
                <a:latin typeface="Cambria"/>
                <a:cs typeface="Cambria"/>
              </a:rPr>
              <a:t> çıktı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844872"/>
            <a:ext cx="6255385" cy="1301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30" dirty="0">
                <a:latin typeface="Cambria"/>
                <a:cs typeface="Cambria"/>
              </a:rPr>
              <a:t>Parametreler</a:t>
            </a:r>
            <a:r>
              <a:rPr sz="2200" spc="130" dirty="0">
                <a:latin typeface="Cambria"/>
                <a:cs typeface="Cambria"/>
              </a:rPr>
              <a:t>: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Analiz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boyunca</a:t>
            </a:r>
            <a:r>
              <a:rPr sz="2200" spc="15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sabit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kalan</a:t>
            </a:r>
            <a:endParaRPr sz="22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200" spc="60" dirty="0">
                <a:latin typeface="Cambria"/>
                <a:cs typeface="Cambria"/>
              </a:rPr>
              <a:t>değerlerdir.</a:t>
            </a:r>
            <a:endParaRPr sz="2200">
              <a:latin typeface="Cambria"/>
              <a:cs typeface="Cambria"/>
            </a:endParaRPr>
          </a:p>
          <a:p>
            <a:pPr marL="652780" marR="5080" lvl="1" indent="-274320">
              <a:lnSpc>
                <a:spcPct val="100000"/>
              </a:lnSpc>
              <a:spcBef>
                <a:spcPts val="44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90" dirty="0">
                <a:latin typeface="Cambria"/>
                <a:cs typeface="Cambria"/>
              </a:rPr>
              <a:t>Örnek: </a:t>
            </a:r>
            <a:r>
              <a:rPr sz="1800" spc="55" dirty="0">
                <a:latin typeface="Cambria"/>
                <a:cs typeface="Cambria"/>
              </a:rPr>
              <a:t>y=3x+2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denkleminde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3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ve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2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parametre;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x </a:t>
            </a:r>
            <a:r>
              <a:rPr sz="1800" spc="40" dirty="0">
                <a:latin typeface="Cambria"/>
                <a:cs typeface="Cambria"/>
              </a:rPr>
              <a:t>ve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y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değişkendir.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1980"/>
            <a:ext cx="6474460" cy="1119505"/>
            <a:chOff x="576767" y="601980"/>
            <a:chExt cx="6474460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8095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31520"/>
              <a:ext cx="2189226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1428" y="601980"/>
              <a:ext cx="971550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60" y="731520"/>
              <a:ext cx="1631441" cy="9060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6951" y="601980"/>
              <a:ext cx="1000505" cy="11193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6240" y="731520"/>
              <a:ext cx="2844545" cy="90601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734694"/>
            <a:ext cx="6241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İSTEMİN</a:t>
            </a:r>
            <a:r>
              <a:rPr sz="3200" spc="65" dirty="0"/>
              <a:t> </a:t>
            </a:r>
            <a:r>
              <a:rPr sz="4000" dirty="0"/>
              <a:t>T</a:t>
            </a:r>
            <a:r>
              <a:rPr sz="3200" dirty="0"/>
              <a:t>EMEL</a:t>
            </a:r>
            <a:r>
              <a:rPr sz="3200" spc="20" dirty="0"/>
              <a:t> </a:t>
            </a:r>
            <a:r>
              <a:rPr sz="4000" dirty="0"/>
              <a:t>B</a:t>
            </a:r>
            <a:r>
              <a:rPr sz="3200" dirty="0"/>
              <a:t>İLEŞENLERİ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691692" y="1581658"/>
            <a:ext cx="2237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3965" algn="l"/>
              </a:tabLst>
            </a:pPr>
            <a:r>
              <a:rPr sz="2400" spc="-5" dirty="0">
                <a:latin typeface="Times New Roman"/>
                <a:cs typeface="Times New Roman"/>
              </a:rPr>
              <a:t>Sis</a:t>
            </a:r>
            <a:r>
              <a:rPr sz="2400" dirty="0">
                <a:latin typeface="Times New Roman"/>
                <a:cs typeface="Times New Roman"/>
              </a:rPr>
              <a:t>te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	g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rdil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692" y="1947417"/>
            <a:ext cx="2267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6595" algn="l"/>
              </a:tabLst>
            </a:pPr>
            <a:r>
              <a:rPr sz="2400" dirty="0">
                <a:latin typeface="Times New Roman"/>
                <a:cs typeface="Times New Roman"/>
              </a:rPr>
              <a:t>faa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iye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lerd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n	ve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15767" y="1581658"/>
            <a:ext cx="52800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100"/>
              </a:spcBef>
              <a:tabLst>
                <a:tab pos="1349375" algn="l"/>
                <a:tab pos="1494155" algn="l"/>
                <a:tab pos="3032125" algn="l"/>
                <a:tab pos="4489450" algn="l"/>
              </a:tabLst>
            </a:pPr>
            <a:r>
              <a:rPr sz="2400" dirty="0">
                <a:latin typeface="Times New Roman"/>
                <a:cs typeface="Times New Roman"/>
              </a:rPr>
              <a:t>çık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ılara	dönüştüren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irbiri</a:t>
            </a:r>
            <a:r>
              <a:rPr sz="2400" spc="-15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le	ili</a:t>
            </a:r>
            <a:r>
              <a:rPr sz="2400" spc="-10" dirty="0">
                <a:latin typeface="Times New Roman"/>
                <a:cs typeface="Times New Roman"/>
              </a:rPr>
              <a:t>ş</a:t>
            </a:r>
            <a:r>
              <a:rPr sz="2400" dirty="0">
                <a:latin typeface="Times New Roman"/>
                <a:cs typeface="Times New Roman"/>
              </a:rPr>
              <a:t>k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li  </a:t>
            </a:r>
            <a:r>
              <a:rPr sz="2400" spc="-5" dirty="0">
                <a:latin typeface="Times New Roman"/>
                <a:cs typeface="Times New Roman"/>
              </a:rPr>
              <a:t>öğelerden		(elemanlardan)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19138" y="1947417"/>
            <a:ext cx="167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oluşmaktadır.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692" y="2312873"/>
            <a:ext cx="55162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Sistemin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çok</a:t>
            </a:r>
            <a:r>
              <a:rPr sz="2400" spc="-5" dirty="0">
                <a:latin typeface="Times New Roman"/>
                <a:cs typeface="Times New Roman"/>
              </a:rPr>
              <a:t> sayıda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girdisi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</a:t>
            </a:r>
            <a:r>
              <a:rPr sz="2400" dirty="0">
                <a:latin typeface="Times New Roman"/>
                <a:cs typeface="Times New Roman"/>
              </a:rPr>
              <a:t> çıktısı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olabilir.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9330" y="2932822"/>
            <a:ext cx="6114094" cy="333931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09256" y="4198366"/>
            <a:ext cx="1486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380CF4"/>
                </a:solidFill>
                <a:latin typeface="Times New Roman"/>
                <a:cs typeface="Times New Roman"/>
              </a:rPr>
              <a:t>Geri</a:t>
            </a:r>
            <a:r>
              <a:rPr sz="1800" dirty="0">
                <a:solidFill>
                  <a:srgbClr val="380CF4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80CF4"/>
                </a:solidFill>
                <a:latin typeface="Times New Roman"/>
                <a:cs typeface="Times New Roman"/>
              </a:rPr>
              <a:t>beslemeli </a:t>
            </a:r>
            <a:r>
              <a:rPr sz="1800" spc="-434" dirty="0">
                <a:solidFill>
                  <a:srgbClr val="380CF4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80CF4"/>
                </a:solidFill>
                <a:latin typeface="Times New Roman"/>
                <a:cs typeface="Times New Roman"/>
              </a:rPr>
              <a:t>genel bir </a:t>
            </a:r>
            <a:r>
              <a:rPr sz="1800" spc="-5" dirty="0">
                <a:solidFill>
                  <a:srgbClr val="380CF4"/>
                </a:solidFill>
                <a:latin typeface="Times New Roman"/>
                <a:cs typeface="Times New Roman"/>
              </a:rPr>
              <a:t>sistem </a:t>
            </a:r>
            <a:r>
              <a:rPr sz="1800" spc="-434" dirty="0">
                <a:solidFill>
                  <a:srgbClr val="380CF4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380CF4"/>
                </a:solidFill>
                <a:latin typeface="Times New Roman"/>
                <a:cs typeface="Times New Roman"/>
              </a:rPr>
              <a:t>modeli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65758"/>
            <a:ext cx="42729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00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550" spc="300" dirty="0">
                <a:solidFill>
                  <a:srgbClr val="565F6C"/>
                </a:solidFill>
                <a:latin typeface="Cambria"/>
                <a:cs typeface="Cambria"/>
              </a:rPr>
              <a:t>İSTEMİN</a:t>
            </a:r>
            <a:r>
              <a:rPr sz="2550" spc="28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200" spc="310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550" spc="310" dirty="0">
                <a:solidFill>
                  <a:srgbClr val="565F6C"/>
                </a:solidFill>
                <a:latin typeface="Cambria"/>
                <a:cs typeface="Cambria"/>
              </a:rPr>
              <a:t>ZELLİKLERİ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073"/>
            <a:ext cx="7301230" cy="2807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b="1" spc="120" dirty="0">
                <a:latin typeface="Cambria"/>
                <a:cs typeface="Cambria"/>
              </a:rPr>
              <a:t>İlişkiler</a:t>
            </a:r>
            <a:r>
              <a:rPr sz="2400" spc="120" dirty="0">
                <a:latin typeface="Cambria"/>
                <a:cs typeface="Cambria"/>
              </a:rPr>
              <a:t>: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Bileşenler,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değişkenler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parametreler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15"/>
              </a:spcBef>
            </a:pPr>
            <a:r>
              <a:rPr sz="2400" spc="114" dirty="0">
                <a:latin typeface="Cambria"/>
                <a:cs typeface="Cambria"/>
              </a:rPr>
              <a:t>arasındaki</a:t>
            </a:r>
            <a:r>
              <a:rPr sz="2400" spc="100" dirty="0">
                <a:latin typeface="Cambria"/>
                <a:cs typeface="Cambria"/>
              </a:rPr>
              <a:t> bağlantılardır.</a:t>
            </a:r>
            <a:endParaRPr sz="2400">
              <a:latin typeface="Cambria"/>
              <a:cs typeface="Cambria"/>
            </a:endParaRPr>
          </a:p>
          <a:p>
            <a:pPr marL="652780" marR="568960" lvl="1" indent="-274320">
              <a:lnSpc>
                <a:spcPct val="100400"/>
              </a:lnSpc>
              <a:spcBef>
                <a:spcPts val="555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b="1" spc="160" dirty="0">
                <a:latin typeface="Cambria"/>
                <a:cs typeface="Cambria"/>
              </a:rPr>
              <a:t>Yapısal </a:t>
            </a:r>
            <a:r>
              <a:rPr sz="2400" b="1" spc="110" dirty="0">
                <a:latin typeface="Cambria"/>
                <a:cs typeface="Cambria"/>
              </a:rPr>
              <a:t>ilişkiler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Bileşenleri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özellikleri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birbirine</a:t>
            </a:r>
            <a:r>
              <a:rPr sz="2400" spc="110" dirty="0">
                <a:latin typeface="Cambria"/>
                <a:cs typeface="Cambria"/>
              </a:rPr>
              <a:t> bağlayan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ilişkilerdir.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FD8537"/>
              </a:buClr>
              <a:buFont typeface="Segoe UI Symbol"/>
              <a:buChar char="⚫"/>
            </a:pPr>
            <a:endParaRPr sz="3400">
              <a:latin typeface="Cambria"/>
              <a:cs typeface="Cambria"/>
            </a:endParaRPr>
          </a:p>
          <a:p>
            <a:pPr marL="652780" marR="433705" lvl="1" indent="-274320">
              <a:lnSpc>
                <a:spcPct val="100400"/>
              </a:lnSpc>
              <a:spcBef>
                <a:spcPts val="5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400" b="1" spc="125" dirty="0">
                <a:latin typeface="Cambria"/>
                <a:cs typeface="Cambria"/>
              </a:rPr>
              <a:t>İşlevsel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ilişkiler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Bileşen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veya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bileşenlerin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davranışını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belirleyen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ilişkilerdir.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920233"/>
            <a:ext cx="6460490" cy="1124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200"/>
              </a:lnSpc>
              <a:spcBef>
                <a:spcPts val="95"/>
              </a:spcBef>
              <a:buClr>
                <a:srgbClr val="FD8537"/>
              </a:buClr>
              <a:buSzPct val="7916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spc="170" dirty="0">
                <a:latin typeface="Cambria"/>
                <a:cs typeface="Cambria"/>
              </a:rPr>
              <a:t>Sırasal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10" dirty="0">
                <a:latin typeface="Cambria"/>
                <a:cs typeface="Cambria"/>
              </a:rPr>
              <a:t>ilişkiler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Birbirine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yalnızca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0" dirty="0">
                <a:latin typeface="Cambria"/>
                <a:cs typeface="Cambria"/>
              </a:rPr>
              <a:t>zaman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açısından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bağımlı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olan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sistem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olaylarının 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arasındaki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ilişkilerdir.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8242"/>
            <a:ext cx="3747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60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250" spc="260" dirty="0">
                <a:solidFill>
                  <a:srgbClr val="565F6C"/>
                </a:solidFill>
                <a:latin typeface="Cambria"/>
                <a:cs typeface="Cambria"/>
              </a:rPr>
              <a:t>İSTEMİN</a:t>
            </a:r>
            <a:r>
              <a:rPr sz="2250" spc="2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800" spc="265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250" spc="265" dirty="0">
                <a:solidFill>
                  <a:srgbClr val="565F6C"/>
                </a:solidFill>
                <a:latin typeface="Cambria"/>
                <a:cs typeface="Cambria"/>
              </a:rPr>
              <a:t>ZELLİKLERİ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2691" y="588744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992456"/>
            <a:ext cx="5794375" cy="3606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  <a:tabLst>
                <a:tab pos="286385" algn="l"/>
              </a:tabLst>
            </a:pPr>
            <a:r>
              <a:rPr sz="1750" spc="-655" dirty="0">
                <a:solidFill>
                  <a:srgbClr val="FD8537"/>
                </a:solidFill>
                <a:latin typeface="Segoe UI Symbol"/>
                <a:cs typeface="Segoe UI Symbol"/>
              </a:rPr>
              <a:t>⚫	</a:t>
            </a:r>
            <a:r>
              <a:rPr sz="2200" spc="195" dirty="0">
                <a:latin typeface="Cambria"/>
                <a:cs typeface="Cambria"/>
              </a:rPr>
              <a:t>Ham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veriyi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özetleme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veya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ayrıntılandırma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073"/>
            <a:ext cx="6912609" cy="4319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180" dirty="0">
                <a:latin typeface="Cambria"/>
                <a:cs typeface="Cambria"/>
              </a:rPr>
              <a:t>Sınır</a:t>
            </a:r>
            <a:r>
              <a:rPr sz="2600" spc="180" dirty="0">
                <a:latin typeface="Cambria"/>
                <a:cs typeface="Cambria"/>
              </a:rPr>
              <a:t>:</a:t>
            </a:r>
            <a:r>
              <a:rPr sz="2600" spc="130" dirty="0">
                <a:latin typeface="Cambria"/>
                <a:cs typeface="Cambria"/>
              </a:rPr>
              <a:t> Sistemin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ortamını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belirler.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D8537"/>
              </a:buClr>
              <a:buFont typeface="Wingdings"/>
              <a:buChar char=""/>
            </a:pPr>
            <a:endParaRPr sz="3650">
              <a:latin typeface="Cambria"/>
              <a:cs typeface="Cambria"/>
            </a:endParaRPr>
          </a:p>
          <a:p>
            <a:pPr marL="287020" marR="85725" indent="-287020">
              <a:lnSpc>
                <a:spcPct val="100000"/>
              </a:lnSpc>
              <a:buClr>
                <a:srgbClr val="FD8537"/>
              </a:buClr>
              <a:buSzPct val="69230"/>
              <a:buFont typeface="Wingdings"/>
              <a:buChar char=""/>
              <a:tabLst>
                <a:tab pos="287020" algn="l"/>
              </a:tabLst>
            </a:pPr>
            <a:r>
              <a:rPr sz="2600" b="1" spc="160" dirty="0">
                <a:latin typeface="Cambria"/>
                <a:cs typeface="Cambria"/>
              </a:rPr>
              <a:t>Arabirim</a:t>
            </a:r>
            <a:r>
              <a:rPr sz="2600" spc="160" dirty="0">
                <a:latin typeface="Cambria"/>
                <a:cs typeface="Cambria"/>
              </a:rPr>
              <a:t>: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Sistemin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ortam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ile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veya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her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bir</a:t>
            </a:r>
            <a:endParaRPr sz="2600">
              <a:latin typeface="Cambria"/>
              <a:cs typeface="Cambria"/>
            </a:endParaRPr>
          </a:p>
          <a:p>
            <a:pPr marR="119380" algn="ctr">
              <a:lnSpc>
                <a:spcPct val="100000"/>
              </a:lnSpc>
            </a:pPr>
            <a:r>
              <a:rPr sz="2600" spc="135" dirty="0">
                <a:latin typeface="Cambria"/>
                <a:cs typeface="Cambria"/>
              </a:rPr>
              <a:t>alt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sistemin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diğeri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ile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karşılaştığı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yerdir.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50">
              <a:latin typeface="Cambria"/>
              <a:cs typeface="Cambria"/>
            </a:endParaRPr>
          </a:p>
          <a:p>
            <a:pPr marL="288290">
              <a:lnSpc>
                <a:spcPct val="100000"/>
              </a:lnSpc>
            </a:pPr>
            <a:r>
              <a:rPr sz="2600" b="1" spc="175" dirty="0">
                <a:latin typeface="Cambria"/>
                <a:cs typeface="Cambria"/>
              </a:rPr>
              <a:t>Arabirim</a:t>
            </a:r>
            <a:r>
              <a:rPr sz="2600" b="1" spc="114" dirty="0">
                <a:latin typeface="Cambria"/>
                <a:cs typeface="Cambria"/>
              </a:rPr>
              <a:t> </a:t>
            </a:r>
            <a:r>
              <a:rPr sz="2600" b="1" spc="120" dirty="0">
                <a:latin typeface="Cambria"/>
                <a:cs typeface="Cambria"/>
              </a:rPr>
              <a:t>işlevleri</a:t>
            </a:r>
            <a:r>
              <a:rPr sz="2600" spc="120" dirty="0">
                <a:latin typeface="Cambria"/>
                <a:cs typeface="Cambria"/>
              </a:rPr>
              <a:t>:</a:t>
            </a:r>
            <a:endParaRPr sz="26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35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125" dirty="0">
                <a:latin typeface="Cambria"/>
                <a:cs typeface="Cambria"/>
              </a:rPr>
              <a:t>Gizlilik</a:t>
            </a:r>
            <a:endParaRPr sz="22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25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80" dirty="0">
                <a:latin typeface="Cambria"/>
                <a:cs typeface="Cambria"/>
              </a:rPr>
              <a:t>İstenmeyen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60" dirty="0">
                <a:latin typeface="Cambria"/>
                <a:cs typeface="Cambria"/>
              </a:rPr>
              <a:t>veriyi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filtreleme</a:t>
            </a:r>
            <a:endParaRPr sz="22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35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125" dirty="0">
                <a:latin typeface="Cambria"/>
                <a:cs typeface="Cambria"/>
              </a:rPr>
              <a:t>Gelen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giden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mesajları</a:t>
            </a:r>
            <a:r>
              <a:rPr sz="2200" spc="8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kodlama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kod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25" dirty="0">
                <a:latin typeface="Cambria"/>
                <a:cs typeface="Cambria"/>
              </a:rPr>
              <a:t>çözme</a:t>
            </a:r>
            <a:endParaRPr sz="22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25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135" dirty="0">
                <a:latin typeface="Cambria"/>
                <a:cs typeface="Cambria"/>
              </a:rPr>
              <a:t>Ortam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ile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iletişimde</a:t>
            </a:r>
            <a:r>
              <a:rPr sz="2200" spc="95" dirty="0">
                <a:latin typeface="Cambria"/>
                <a:cs typeface="Cambria"/>
              </a:rPr>
              <a:t> </a:t>
            </a:r>
            <a:r>
              <a:rPr sz="2200" spc="110" dirty="0">
                <a:latin typeface="Cambria"/>
                <a:cs typeface="Cambria"/>
              </a:rPr>
              <a:t>hataları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bulma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düzeltme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28242"/>
            <a:ext cx="3747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60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250" spc="260" dirty="0">
                <a:solidFill>
                  <a:srgbClr val="565F6C"/>
                </a:solidFill>
                <a:latin typeface="Cambria"/>
                <a:cs typeface="Cambria"/>
              </a:rPr>
              <a:t>İSTEMİN</a:t>
            </a:r>
            <a:r>
              <a:rPr sz="2250" spc="2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800" spc="265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250" spc="265" dirty="0">
                <a:solidFill>
                  <a:srgbClr val="565F6C"/>
                </a:solidFill>
                <a:latin typeface="Cambria"/>
                <a:cs typeface="Cambria"/>
              </a:rPr>
              <a:t>ZELLİKLERİ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2691" y="588744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6941184" cy="2994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25" dirty="0">
                <a:latin typeface="Cambria"/>
                <a:cs typeface="Cambria"/>
              </a:rPr>
              <a:t>Kısıtlar</a:t>
            </a:r>
            <a:r>
              <a:rPr sz="2200" spc="125" dirty="0">
                <a:latin typeface="Cambria"/>
                <a:cs typeface="Cambria"/>
              </a:rPr>
              <a:t>: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Değişkenlerin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değerleri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veya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kaynakların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nasıl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tahsis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50" dirty="0">
                <a:latin typeface="Cambria"/>
                <a:cs typeface="Cambria"/>
              </a:rPr>
              <a:t>edileceği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üzerindeki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sınırlamalardır.</a:t>
            </a:r>
            <a:endParaRPr sz="2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Wingdings"/>
              <a:buChar char=""/>
            </a:pPr>
            <a:endParaRPr sz="325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spc="150" dirty="0">
                <a:latin typeface="Cambria"/>
                <a:cs typeface="Cambria"/>
              </a:rPr>
              <a:t>Ölçüt</a:t>
            </a:r>
            <a:r>
              <a:rPr sz="2200" spc="150" dirty="0">
                <a:latin typeface="Cambria"/>
                <a:cs typeface="Cambria"/>
              </a:rPr>
              <a:t>: </a:t>
            </a:r>
            <a:r>
              <a:rPr sz="2200" spc="125" dirty="0">
                <a:latin typeface="Cambria"/>
                <a:cs typeface="Cambria"/>
              </a:rPr>
              <a:t>Yargılama</a:t>
            </a:r>
            <a:r>
              <a:rPr sz="2200" spc="114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standardıdır.</a:t>
            </a:r>
            <a:endParaRPr sz="2200">
              <a:latin typeface="Cambria"/>
              <a:cs typeface="Cambria"/>
            </a:endParaRPr>
          </a:p>
          <a:p>
            <a:pPr marL="652780" marR="191770" lvl="1" indent="-274320">
              <a:lnSpc>
                <a:spcPct val="100000"/>
              </a:lnSpc>
              <a:spcBef>
                <a:spcPts val="530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80" dirty="0">
                <a:latin typeface="Cambria"/>
                <a:cs typeface="Cambria"/>
              </a:rPr>
              <a:t>Modelin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95" dirty="0">
                <a:latin typeface="Cambria"/>
                <a:cs typeface="Cambria"/>
              </a:rPr>
              <a:t>tasarımı</a:t>
            </a:r>
            <a:r>
              <a:rPr sz="2200" spc="9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ve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75" dirty="0">
                <a:latin typeface="Cambria"/>
                <a:cs typeface="Cambria"/>
              </a:rPr>
              <a:t>işletilmesi</a:t>
            </a:r>
            <a:r>
              <a:rPr sz="2200" spc="80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üzerinde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büyük </a:t>
            </a:r>
            <a:r>
              <a:rPr sz="2200" spc="-470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etkisi</a:t>
            </a:r>
            <a:r>
              <a:rPr sz="2200" spc="105" dirty="0">
                <a:latin typeface="Cambria"/>
                <a:cs typeface="Cambria"/>
              </a:rPr>
              <a:t> </a:t>
            </a:r>
            <a:r>
              <a:rPr sz="2200" spc="80" dirty="0">
                <a:latin typeface="Cambria"/>
                <a:cs typeface="Cambria"/>
              </a:rPr>
              <a:t>vardır.</a:t>
            </a:r>
            <a:endParaRPr sz="2200">
              <a:latin typeface="Cambria"/>
              <a:cs typeface="Cambria"/>
            </a:endParaRPr>
          </a:p>
          <a:p>
            <a:pPr marL="652780" lvl="1" indent="-274955">
              <a:lnSpc>
                <a:spcPct val="100000"/>
              </a:lnSpc>
              <a:spcBef>
                <a:spcPts val="530"/>
              </a:spcBef>
              <a:buClr>
                <a:srgbClr val="FD8537"/>
              </a:buClr>
              <a:buSzPct val="7954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200" spc="120" dirty="0">
                <a:latin typeface="Cambria"/>
                <a:cs typeface="Cambria"/>
              </a:rPr>
              <a:t>Ölçütün</a:t>
            </a:r>
            <a:r>
              <a:rPr sz="2200" spc="15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yanlış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105" dirty="0">
                <a:latin typeface="Cambria"/>
                <a:cs typeface="Cambria"/>
              </a:rPr>
              <a:t>tanımlanması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90" dirty="0">
                <a:latin typeface="Cambria"/>
                <a:cs typeface="Cambria"/>
              </a:rPr>
              <a:t>yanlış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70" dirty="0">
                <a:latin typeface="Cambria"/>
                <a:cs typeface="Cambria"/>
              </a:rPr>
              <a:t>sonuçlar</a:t>
            </a:r>
            <a:endParaRPr sz="2200">
              <a:latin typeface="Cambria"/>
              <a:cs typeface="Cambria"/>
            </a:endParaRPr>
          </a:p>
          <a:p>
            <a:pPr marL="652780">
              <a:lnSpc>
                <a:spcPct val="100000"/>
              </a:lnSpc>
            </a:pPr>
            <a:r>
              <a:rPr sz="2200" spc="65" dirty="0">
                <a:latin typeface="Cambria"/>
                <a:cs typeface="Cambria"/>
              </a:rPr>
              <a:t>verecektir.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41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400" spc="290" dirty="0">
                <a:solidFill>
                  <a:srgbClr val="565F6C"/>
                </a:solidFill>
                <a:latin typeface="Cambria"/>
                <a:cs typeface="Cambria"/>
              </a:rPr>
              <a:t>İSTEMDE</a:t>
            </a:r>
            <a:r>
              <a:rPr sz="2400" spc="3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315" dirty="0">
                <a:solidFill>
                  <a:srgbClr val="565F6C"/>
                </a:solidFill>
                <a:latin typeface="Cambria"/>
                <a:cs typeface="Cambria"/>
              </a:rPr>
              <a:t>G</a:t>
            </a:r>
            <a:r>
              <a:rPr sz="2400" spc="315" dirty="0">
                <a:solidFill>
                  <a:srgbClr val="565F6C"/>
                </a:solidFill>
                <a:latin typeface="Cambria"/>
                <a:cs typeface="Cambria"/>
              </a:rPr>
              <a:t>ERİ </a:t>
            </a:r>
            <a:r>
              <a:rPr sz="3000" spc="325" dirty="0">
                <a:solidFill>
                  <a:srgbClr val="565F6C"/>
                </a:solidFill>
                <a:latin typeface="Cambria"/>
                <a:cs typeface="Cambria"/>
              </a:rPr>
              <a:t>B</a:t>
            </a:r>
            <a:r>
              <a:rPr sz="2400" spc="325" dirty="0">
                <a:solidFill>
                  <a:srgbClr val="565F6C"/>
                </a:solidFill>
                <a:latin typeface="Cambria"/>
                <a:cs typeface="Cambria"/>
              </a:rPr>
              <a:t>ESLEME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4722952"/>
            <a:ext cx="73050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4" dirty="0">
                <a:latin typeface="Cambria"/>
                <a:cs typeface="Cambria"/>
              </a:rPr>
              <a:t>Sistemler,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çıktıları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kontrol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etme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ölçme 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değerlendirme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yoluyla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girdiler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üzerinde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iyileştirme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yapmak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için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geri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beslemeye(feedback) 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sahiptirler.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9973" y="2009394"/>
            <a:ext cx="1927860" cy="856615"/>
          </a:xfrm>
          <a:prstGeom prst="rect">
            <a:avLst/>
          </a:prstGeom>
          <a:ln w="25400">
            <a:solidFill>
              <a:srgbClr val="777B84"/>
            </a:solidFill>
          </a:ln>
        </p:spPr>
        <p:txBody>
          <a:bodyPr vert="horz" wrap="square" lIns="0" tIns="27114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2135"/>
              </a:spcBef>
            </a:pPr>
            <a:r>
              <a:rPr sz="2000" b="1" spc="295" dirty="0">
                <a:latin typeface="Cambria"/>
                <a:cs typeface="Cambria"/>
              </a:rPr>
              <a:t>İŞLEM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67707" y="2358770"/>
            <a:ext cx="1429385" cy="132715"/>
          </a:xfrm>
          <a:custGeom>
            <a:avLst/>
            <a:gdLst/>
            <a:ahLst/>
            <a:cxnLst/>
            <a:rect l="l" t="t" r="r" b="b"/>
            <a:pathLst>
              <a:path w="1429385" h="132714">
                <a:moveTo>
                  <a:pt x="1404455" y="51180"/>
                </a:moveTo>
                <a:lnTo>
                  <a:pt x="1400428" y="51180"/>
                </a:lnTo>
                <a:lnTo>
                  <a:pt x="1400682" y="79755"/>
                </a:lnTo>
                <a:lnTo>
                  <a:pt x="1347907" y="80282"/>
                </a:lnTo>
                <a:lnTo>
                  <a:pt x="1301241" y="108076"/>
                </a:lnTo>
                <a:lnTo>
                  <a:pt x="1299082" y="116839"/>
                </a:lnTo>
                <a:lnTo>
                  <a:pt x="1303146" y="123570"/>
                </a:lnTo>
                <a:lnTo>
                  <a:pt x="1307083" y="130428"/>
                </a:lnTo>
                <a:lnTo>
                  <a:pt x="1315973" y="132587"/>
                </a:lnTo>
                <a:lnTo>
                  <a:pt x="1429003" y="65150"/>
                </a:lnTo>
                <a:lnTo>
                  <a:pt x="1404455" y="51180"/>
                </a:lnTo>
                <a:close/>
              </a:path>
              <a:path w="1429385" h="132714">
                <a:moveTo>
                  <a:pt x="1347700" y="51706"/>
                </a:moveTo>
                <a:lnTo>
                  <a:pt x="0" y="65150"/>
                </a:lnTo>
                <a:lnTo>
                  <a:pt x="253" y="93725"/>
                </a:lnTo>
                <a:lnTo>
                  <a:pt x="1347907" y="80282"/>
                </a:lnTo>
                <a:lnTo>
                  <a:pt x="1372312" y="65734"/>
                </a:lnTo>
                <a:lnTo>
                  <a:pt x="1347700" y="51706"/>
                </a:lnTo>
                <a:close/>
              </a:path>
              <a:path w="1429385" h="132714">
                <a:moveTo>
                  <a:pt x="1372312" y="65734"/>
                </a:moveTo>
                <a:lnTo>
                  <a:pt x="1347907" y="80282"/>
                </a:lnTo>
                <a:lnTo>
                  <a:pt x="1400682" y="79755"/>
                </a:lnTo>
                <a:lnTo>
                  <a:pt x="1400666" y="77850"/>
                </a:lnTo>
                <a:lnTo>
                  <a:pt x="1393570" y="77850"/>
                </a:lnTo>
                <a:lnTo>
                  <a:pt x="1372312" y="65734"/>
                </a:lnTo>
                <a:close/>
              </a:path>
              <a:path w="1429385" h="132714">
                <a:moveTo>
                  <a:pt x="1393316" y="53212"/>
                </a:moveTo>
                <a:lnTo>
                  <a:pt x="1372312" y="65734"/>
                </a:lnTo>
                <a:lnTo>
                  <a:pt x="1393570" y="77850"/>
                </a:lnTo>
                <a:lnTo>
                  <a:pt x="1393316" y="53212"/>
                </a:lnTo>
                <a:close/>
              </a:path>
              <a:path w="1429385" h="132714">
                <a:moveTo>
                  <a:pt x="1400447" y="53212"/>
                </a:moveTo>
                <a:lnTo>
                  <a:pt x="1393316" y="53212"/>
                </a:lnTo>
                <a:lnTo>
                  <a:pt x="1393570" y="77850"/>
                </a:lnTo>
                <a:lnTo>
                  <a:pt x="1400666" y="77850"/>
                </a:lnTo>
                <a:lnTo>
                  <a:pt x="1400447" y="53212"/>
                </a:lnTo>
                <a:close/>
              </a:path>
              <a:path w="1429385" h="132714">
                <a:moveTo>
                  <a:pt x="1400428" y="51180"/>
                </a:moveTo>
                <a:lnTo>
                  <a:pt x="1347700" y="51706"/>
                </a:lnTo>
                <a:lnTo>
                  <a:pt x="1372312" y="65734"/>
                </a:lnTo>
                <a:lnTo>
                  <a:pt x="1393316" y="53212"/>
                </a:lnTo>
                <a:lnTo>
                  <a:pt x="1400447" y="53212"/>
                </a:lnTo>
                <a:lnTo>
                  <a:pt x="1400428" y="51180"/>
                </a:lnTo>
                <a:close/>
              </a:path>
              <a:path w="1429385" h="132714">
                <a:moveTo>
                  <a:pt x="1314577" y="0"/>
                </a:moveTo>
                <a:lnTo>
                  <a:pt x="1305814" y="2412"/>
                </a:lnTo>
                <a:lnTo>
                  <a:pt x="1302003" y="9270"/>
                </a:lnTo>
                <a:lnTo>
                  <a:pt x="1298066" y="16128"/>
                </a:lnTo>
                <a:lnTo>
                  <a:pt x="1300479" y="24764"/>
                </a:lnTo>
                <a:lnTo>
                  <a:pt x="1347700" y="51706"/>
                </a:lnTo>
                <a:lnTo>
                  <a:pt x="1404455" y="51180"/>
                </a:lnTo>
                <a:lnTo>
                  <a:pt x="1314577" y="0"/>
                </a:lnTo>
                <a:close/>
              </a:path>
            </a:pathLst>
          </a:custGeom>
          <a:solidFill>
            <a:srgbClr val="8B9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7290" y="2250185"/>
            <a:ext cx="520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Çıktı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69726" y="2654045"/>
            <a:ext cx="1952625" cy="1206500"/>
            <a:chOff x="4669726" y="2654045"/>
            <a:chExt cx="1952625" cy="1206500"/>
          </a:xfrm>
        </p:grpSpPr>
        <p:sp>
          <p:nvSpPr>
            <p:cNvPr id="9" name="object 9"/>
            <p:cNvSpPr/>
            <p:nvPr/>
          </p:nvSpPr>
          <p:spPr>
            <a:xfrm>
              <a:off x="6489192" y="2654045"/>
              <a:ext cx="132715" cy="1172210"/>
            </a:xfrm>
            <a:custGeom>
              <a:avLst/>
              <a:gdLst/>
              <a:ahLst/>
              <a:cxnLst/>
              <a:rect l="l" t="t" r="r" b="b"/>
              <a:pathLst>
                <a:path w="132715" h="1172210">
                  <a:moveTo>
                    <a:pt x="15875" y="1041272"/>
                  </a:moveTo>
                  <a:lnTo>
                    <a:pt x="9144" y="1045209"/>
                  </a:lnTo>
                  <a:lnTo>
                    <a:pt x="2286" y="1049146"/>
                  </a:lnTo>
                  <a:lnTo>
                    <a:pt x="0" y="1057909"/>
                  </a:lnTo>
                  <a:lnTo>
                    <a:pt x="3937" y="1064767"/>
                  </a:lnTo>
                  <a:lnTo>
                    <a:pt x="66293" y="1171702"/>
                  </a:lnTo>
                  <a:lnTo>
                    <a:pt x="82883" y="1143253"/>
                  </a:lnTo>
                  <a:lnTo>
                    <a:pt x="51942" y="1143253"/>
                  </a:lnTo>
                  <a:lnTo>
                    <a:pt x="51942" y="1090451"/>
                  </a:lnTo>
                  <a:lnTo>
                    <a:pt x="28575" y="1050416"/>
                  </a:lnTo>
                  <a:lnTo>
                    <a:pt x="24637" y="1043558"/>
                  </a:lnTo>
                  <a:lnTo>
                    <a:pt x="15875" y="1041272"/>
                  </a:lnTo>
                  <a:close/>
                </a:path>
                <a:path w="132715" h="1172210">
                  <a:moveTo>
                    <a:pt x="51942" y="1090451"/>
                  </a:moveTo>
                  <a:lnTo>
                    <a:pt x="51942" y="1143253"/>
                  </a:lnTo>
                  <a:lnTo>
                    <a:pt x="80517" y="1143253"/>
                  </a:lnTo>
                  <a:lnTo>
                    <a:pt x="80517" y="1136141"/>
                  </a:lnTo>
                  <a:lnTo>
                    <a:pt x="53975" y="1136141"/>
                  </a:lnTo>
                  <a:lnTo>
                    <a:pt x="66294" y="1115037"/>
                  </a:lnTo>
                  <a:lnTo>
                    <a:pt x="51942" y="1090451"/>
                  </a:lnTo>
                  <a:close/>
                </a:path>
                <a:path w="132715" h="1172210">
                  <a:moveTo>
                    <a:pt x="116712" y="1041272"/>
                  </a:moveTo>
                  <a:lnTo>
                    <a:pt x="107950" y="1043558"/>
                  </a:lnTo>
                  <a:lnTo>
                    <a:pt x="104012" y="1050416"/>
                  </a:lnTo>
                  <a:lnTo>
                    <a:pt x="80517" y="1090668"/>
                  </a:lnTo>
                  <a:lnTo>
                    <a:pt x="80517" y="1143253"/>
                  </a:lnTo>
                  <a:lnTo>
                    <a:pt x="82883" y="1143253"/>
                  </a:lnTo>
                  <a:lnTo>
                    <a:pt x="128651" y="1064767"/>
                  </a:lnTo>
                  <a:lnTo>
                    <a:pt x="132587" y="1057909"/>
                  </a:lnTo>
                  <a:lnTo>
                    <a:pt x="130302" y="1049146"/>
                  </a:lnTo>
                  <a:lnTo>
                    <a:pt x="123443" y="1045209"/>
                  </a:lnTo>
                  <a:lnTo>
                    <a:pt x="116712" y="1041272"/>
                  </a:lnTo>
                  <a:close/>
                </a:path>
                <a:path w="132715" h="1172210">
                  <a:moveTo>
                    <a:pt x="66294" y="1115037"/>
                  </a:moveTo>
                  <a:lnTo>
                    <a:pt x="53975" y="1136141"/>
                  </a:lnTo>
                  <a:lnTo>
                    <a:pt x="78612" y="1136141"/>
                  </a:lnTo>
                  <a:lnTo>
                    <a:pt x="66294" y="1115037"/>
                  </a:lnTo>
                  <a:close/>
                </a:path>
                <a:path w="132715" h="1172210">
                  <a:moveTo>
                    <a:pt x="80517" y="1090668"/>
                  </a:moveTo>
                  <a:lnTo>
                    <a:pt x="66294" y="1115037"/>
                  </a:lnTo>
                  <a:lnTo>
                    <a:pt x="78612" y="1136141"/>
                  </a:lnTo>
                  <a:lnTo>
                    <a:pt x="80517" y="1136141"/>
                  </a:lnTo>
                  <a:lnTo>
                    <a:pt x="80517" y="1090668"/>
                  </a:lnTo>
                  <a:close/>
                </a:path>
                <a:path w="132715" h="1172210">
                  <a:moveTo>
                    <a:pt x="80517" y="0"/>
                  </a:moveTo>
                  <a:lnTo>
                    <a:pt x="51942" y="0"/>
                  </a:lnTo>
                  <a:lnTo>
                    <a:pt x="51942" y="1090451"/>
                  </a:lnTo>
                  <a:lnTo>
                    <a:pt x="66294" y="1115037"/>
                  </a:lnTo>
                  <a:lnTo>
                    <a:pt x="80517" y="1090668"/>
                  </a:lnTo>
                  <a:lnTo>
                    <a:pt x="80517" y="0"/>
                  </a:lnTo>
                  <a:close/>
                </a:path>
              </a:pathLst>
            </a:custGeom>
            <a:solidFill>
              <a:srgbClr val="8B9B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84014" y="3804665"/>
              <a:ext cx="1857375" cy="41275"/>
            </a:xfrm>
            <a:custGeom>
              <a:avLst/>
              <a:gdLst/>
              <a:ahLst/>
              <a:cxnLst/>
              <a:rect l="l" t="t" r="r" b="b"/>
              <a:pathLst>
                <a:path w="1857375" h="41275">
                  <a:moveTo>
                    <a:pt x="0" y="41274"/>
                  </a:moveTo>
                  <a:lnTo>
                    <a:pt x="1857375" y="0"/>
                  </a:lnTo>
                </a:path>
              </a:pathLst>
            </a:custGeom>
            <a:ln w="28575">
              <a:solidFill>
                <a:srgbClr val="8B9B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24885" y="3608070"/>
            <a:ext cx="1485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Geri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Besleme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72539" y="2654045"/>
            <a:ext cx="1652905" cy="1213485"/>
            <a:chOff x="1272539" y="2654045"/>
            <a:chExt cx="1652905" cy="1213485"/>
          </a:xfrm>
        </p:grpSpPr>
        <p:sp>
          <p:nvSpPr>
            <p:cNvPr id="13" name="object 13"/>
            <p:cNvSpPr/>
            <p:nvPr/>
          </p:nvSpPr>
          <p:spPr>
            <a:xfrm>
              <a:off x="1410461" y="3795521"/>
              <a:ext cx="1500505" cy="30480"/>
            </a:xfrm>
            <a:custGeom>
              <a:avLst/>
              <a:gdLst/>
              <a:ahLst/>
              <a:cxnLst/>
              <a:rect l="l" t="t" r="r" b="b"/>
              <a:pathLst>
                <a:path w="1500505" h="30479">
                  <a:moveTo>
                    <a:pt x="1500251" y="0"/>
                  </a:moveTo>
                  <a:lnTo>
                    <a:pt x="0" y="30225"/>
                  </a:lnTo>
                </a:path>
              </a:pathLst>
            </a:custGeom>
            <a:ln w="28575">
              <a:solidFill>
                <a:srgbClr val="8B9B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2539" y="2654045"/>
              <a:ext cx="132715" cy="1213485"/>
            </a:xfrm>
            <a:custGeom>
              <a:avLst/>
              <a:gdLst/>
              <a:ahLst/>
              <a:cxnLst/>
              <a:rect l="l" t="t" r="r" b="b"/>
              <a:pathLst>
                <a:path w="132715" h="1213485">
                  <a:moveTo>
                    <a:pt x="15875" y="1082547"/>
                  </a:moveTo>
                  <a:lnTo>
                    <a:pt x="9143" y="1086484"/>
                  </a:lnTo>
                  <a:lnTo>
                    <a:pt x="2285" y="1090421"/>
                  </a:lnTo>
                  <a:lnTo>
                    <a:pt x="0" y="1099184"/>
                  </a:lnTo>
                  <a:lnTo>
                    <a:pt x="3937" y="1106042"/>
                  </a:lnTo>
                  <a:lnTo>
                    <a:pt x="66293" y="1212977"/>
                  </a:lnTo>
                  <a:lnTo>
                    <a:pt x="82883" y="1184528"/>
                  </a:lnTo>
                  <a:lnTo>
                    <a:pt x="52069" y="1184528"/>
                  </a:lnTo>
                  <a:lnTo>
                    <a:pt x="51948" y="1131735"/>
                  </a:lnTo>
                  <a:lnTo>
                    <a:pt x="28575" y="1091691"/>
                  </a:lnTo>
                  <a:lnTo>
                    <a:pt x="24637" y="1084833"/>
                  </a:lnTo>
                  <a:lnTo>
                    <a:pt x="15875" y="1082547"/>
                  </a:lnTo>
                  <a:close/>
                </a:path>
                <a:path w="132715" h="1213485">
                  <a:moveTo>
                    <a:pt x="52064" y="1131933"/>
                  </a:moveTo>
                  <a:lnTo>
                    <a:pt x="52069" y="1184528"/>
                  </a:lnTo>
                  <a:lnTo>
                    <a:pt x="80644" y="1184528"/>
                  </a:lnTo>
                  <a:lnTo>
                    <a:pt x="80644" y="1177416"/>
                  </a:lnTo>
                  <a:lnTo>
                    <a:pt x="53975" y="1177416"/>
                  </a:lnTo>
                  <a:lnTo>
                    <a:pt x="66293" y="1156312"/>
                  </a:lnTo>
                  <a:lnTo>
                    <a:pt x="52064" y="1131933"/>
                  </a:lnTo>
                  <a:close/>
                </a:path>
                <a:path w="132715" h="1213485">
                  <a:moveTo>
                    <a:pt x="116712" y="1082547"/>
                  </a:moveTo>
                  <a:lnTo>
                    <a:pt x="107950" y="1084833"/>
                  </a:lnTo>
                  <a:lnTo>
                    <a:pt x="104012" y="1091691"/>
                  </a:lnTo>
                  <a:lnTo>
                    <a:pt x="80639" y="1131735"/>
                  </a:lnTo>
                  <a:lnTo>
                    <a:pt x="80644" y="1184528"/>
                  </a:lnTo>
                  <a:lnTo>
                    <a:pt x="82883" y="1184528"/>
                  </a:lnTo>
                  <a:lnTo>
                    <a:pt x="128650" y="1106042"/>
                  </a:lnTo>
                  <a:lnTo>
                    <a:pt x="132587" y="1099184"/>
                  </a:lnTo>
                  <a:lnTo>
                    <a:pt x="130301" y="1090421"/>
                  </a:lnTo>
                  <a:lnTo>
                    <a:pt x="123443" y="1086484"/>
                  </a:lnTo>
                  <a:lnTo>
                    <a:pt x="116712" y="1082547"/>
                  </a:lnTo>
                  <a:close/>
                </a:path>
                <a:path w="132715" h="1213485">
                  <a:moveTo>
                    <a:pt x="66293" y="1156312"/>
                  </a:moveTo>
                  <a:lnTo>
                    <a:pt x="53975" y="1177416"/>
                  </a:lnTo>
                  <a:lnTo>
                    <a:pt x="78612" y="1177416"/>
                  </a:lnTo>
                  <a:lnTo>
                    <a:pt x="66293" y="1156312"/>
                  </a:lnTo>
                  <a:close/>
                </a:path>
                <a:path w="132715" h="1213485">
                  <a:moveTo>
                    <a:pt x="80639" y="1131735"/>
                  </a:moveTo>
                  <a:lnTo>
                    <a:pt x="66293" y="1156312"/>
                  </a:lnTo>
                  <a:lnTo>
                    <a:pt x="78612" y="1177416"/>
                  </a:lnTo>
                  <a:lnTo>
                    <a:pt x="80644" y="1177416"/>
                  </a:lnTo>
                  <a:lnTo>
                    <a:pt x="80639" y="1131735"/>
                  </a:lnTo>
                  <a:close/>
                </a:path>
                <a:path w="132715" h="1213485">
                  <a:moveTo>
                    <a:pt x="80518" y="0"/>
                  </a:moveTo>
                  <a:lnTo>
                    <a:pt x="51943" y="0"/>
                  </a:lnTo>
                  <a:lnTo>
                    <a:pt x="52064" y="1131933"/>
                  </a:lnTo>
                  <a:lnTo>
                    <a:pt x="66293" y="1156312"/>
                  </a:lnTo>
                  <a:lnTo>
                    <a:pt x="80523" y="1131933"/>
                  </a:lnTo>
                  <a:lnTo>
                    <a:pt x="80518" y="0"/>
                  </a:lnTo>
                  <a:close/>
                </a:path>
              </a:pathLst>
            </a:custGeom>
            <a:solidFill>
              <a:srgbClr val="8B9B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1486" y="2309240"/>
            <a:ext cx="560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rdi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90751" y="2372867"/>
            <a:ext cx="1076960" cy="132715"/>
          </a:xfrm>
          <a:custGeom>
            <a:avLst/>
            <a:gdLst/>
            <a:ahLst/>
            <a:cxnLst/>
            <a:rect l="l" t="t" r="r" b="b"/>
            <a:pathLst>
              <a:path w="1076960" h="132714">
                <a:moveTo>
                  <a:pt x="1051869" y="50800"/>
                </a:moveTo>
                <a:lnTo>
                  <a:pt x="1048004" y="50800"/>
                </a:lnTo>
                <a:lnTo>
                  <a:pt x="1048385" y="79375"/>
                </a:lnTo>
                <a:lnTo>
                  <a:pt x="995633" y="80078"/>
                </a:lnTo>
                <a:lnTo>
                  <a:pt x="948944" y="108077"/>
                </a:lnTo>
                <a:lnTo>
                  <a:pt x="946785" y="116840"/>
                </a:lnTo>
                <a:lnTo>
                  <a:pt x="950849" y="123698"/>
                </a:lnTo>
                <a:lnTo>
                  <a:pt x="954913" y="130429"/>
                </a:lnTo>
                <a:lnTo>
                  <a:pt x="963676" y="132587"/>
                </a:lnTo>
                <a:lnTo>
                  <a:pt x="1076579" y="64770"/>
                </a:lnTo>
                <a:lnTo>
                  <a:pt x="1051869" y="50800"/>
                </a:lnTo>
                <a:close/>
              </a:path>
              <a:path w="1076960" h="132714">
                <a:moveTo>
                  <a:pt x="995062" y="51505"/>
                </a:moveTo>
                <a:lnTo>
                  <a:pt x="0" y="64770"/>
                </a:lnTo>
                <a:lnTo>
                  <a:pt x="254" y="93345"/>
                </a:lnTo>
                <a:lnTo>
                  <a:pt x="995633" y="80078"/>
                </a:lnTo>
                <a:lnTo>
                  <a:pt x="1019838" y="65533"/>
                </a:lnTo>
                <a:lnTo>
                  <a:pt x="995062" y="51505"/>
                </a:lnTo>
                <a:close/>
              </a:path>
              <a:path w="1076960" h="132714">
                <a:moveTo>
                  <a:pt x="1019838" y="65533"/>
                </a:moveTo>
                <a:lnTo>
                  <a:pt x="995633" y="80078"/>
                </a:lnTo>
                <a:lnTo>
                  <a:pt x="1048385" y="79375"/>
                </a:lnTo>
                <a:lnTo>
                  <a:pt x="1048361" y="77597"/>
                </a:lnTo>
                <a:lnTo>
                  <a:pt x="1041146" y="77597"/>
                </a:lnTo>
                <a:lnTo>
                  <a:pt x="1019838" y="65533"/>
                </a:lnTo>
                <a:close/>
              </a:path>
              <a:path w="1076960" h="132714">
                <a:moveTo>
                  <a:pt x="1040765" y="52959"/>
                </a:moveTo>
                <a:lnTo>
                  <a:pt x="1019838" y="65533"/>
                </a:lnTo>
                <a:lnTo>
                  <a:pt x="1041146" y="77597"/>
                </a:lnTo>
                <a:lnTo>
                  <a:pt x="1040765" y="52959"/>
                </a:lnTo>
                <a:close/>
              </a:path>
              <a:path w="1076960" h="132714">
                <a:moveTo>
                  <a:pt x="1048032" y="52959"/>
                </a:moveTo>
                <a:lnTo>
                  <a:pt x="1040765" y="52959"/>
                </a:lnTo>
                <a:lnTo>
                  <a:pt x="1041146" y="77597"/>
                </a:lnTo>
                <a:lnTo>
                  <a:pt x="1048361" y="77597"/>
                </a:lnTo>
                <a:lnTo>
                  <a:pt x="1048032" y="52959"/>
                </a:lnTo>
                <a:close/>
              </a:path>
              <a:path w="1076960" h="132714">
                <a:moveTo>
                  <a:pt x="1048004" y="50800"/>
                </a:moveTo>
                <a:lnTo>
                  <a:pt x="995062" y="51505"/>
                </a:lnTo>
                <a:lnTo>
                  <a:pt x="1019838" y="65533"/>
                </a:lnTo>
                <a:lnTo>
                  <a:pt x="1040765" y="52959"/>
                </a:lnTo>
                <a:lnTo>
                  <a:pt x="1048032" y="52959"/>
                </a:lnTo>
                <a:lnTo>
                  <a:pt x="1048004" y="50800"/>
                </a:lnTo>
                <a:close/>
              </a:path>
              <a:path w="1076960" h="132714">
                <a:moveTo>
                  <a:pt x="961898" y="0"/>
                </a:moveTo>
                <a:lnTo>
                  <a:pt x="953262" y="2412"/>
                </a:lnTo>
                <a:lnTo>
                  <a:pt x="949325" y="9271"/>
                </a:lnTo>
                <a:lnTo>
                  <a:pt x="945515" y="16129"/>
                </a:lnTo>
                <a:lnTo>
                  <a:pt x="947928" y="24892"/>
                </a:lnTo>
                <a:lnTo>
                  <a:pt x="954786" y="28702"/>
                </a:lnTo>
                <a:lnTo>
                  <a:pt x="995062" y="51505"/>
                </a:lnTo>
                <a:lnTo>
                  <a:pt x="1048004" y="50800"/>
                </a:lnTo>
                <a:lnTo>
                  <a:pt x="1051869" y="50800"/>
                </a:lnTo>
                <a:lnTo>
                  <a:pt x="961898" y="0"/>
                </a:lnTo>
                <a:close/>
              </a:path>
            </a:pathLst>
          </a:custGeom>
          <a:solidFill>
            <a:srgbClr val="8B9BB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578358"/>
            <a:ext cx="24720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6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150" spc="26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150" spc="21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80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150" spc="280" dirty="0">
                <a:solidFill>
                  <a:srgbClr val="565F6C"/>
                </a:solidFill>
                <a:latin typeface="Cambria"/>
                <a:cs typeface="Cambria"/>
              </a:rPr>
              <a:t>RNEĞİ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073"/>
            <a:ext cx="683196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60" dirty="0">
                <a:latin typeface="Cambria"/>
                <a:cs typeface="Cambria"/>
              </a:rPr>
              <a:t>Ortam:</a:t>
            </a:r>
            <a:r>
              <a:rPr sz="2400" b="1" spc="14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Sistemle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etkileşimli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olan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dışında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140" dirty="0">
                <a:latin typeface="Cambria"/>
                <a:cs typeface="Cambria"/>
              </a:rPr>
              <a:t>kalan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her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şeydir.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283" y="3157873"/>
            <a:ext cx="7125436" cy="18017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14750" y="5470042"/>
            <a:ext cx="1077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LOKA</a:t>
            </a:r>
            <a:r>
              <a:rPr sz="1800" spc="-15" dirty="0">
                <a:latin typeface="Arial MT"/>
                <a:cs typeface="Arial MT"/>
              </a:rPr>
              <a:t>N</a:t>
            </a:r>
            <a:r>
              <a:rPr sz="1800" spc="-120" dirty="0">
                <a:latin typeface="Arial MT"/>
                <a:cs typeface="Arial MT"/>
              </a:rPr>
              <a:t>T</a:t>
            </a:r>
            <a:r>
              <a:rPr sz="180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5988" y="268224"/>
            <a:ext cx="6621780" cy="1384935"/>
            <a:chOff x="995988" y="268224"/>
            <a:chExt cx="6621780" cy="13849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8619" y="518620"/>
              <a:ext cx="273540" cy="3050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2595" y="826062"/>
              <a:ext cx="3330702" cy="631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58795" y="370332"/>
              <a:ext cx="758190" cy="72618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6747" y="268224"/>
              <a:ext cx="756665" cy="896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1068" y="370332"/>
              <a:ext cx="1405890" cy="7261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39768" y="268224"/>
              <a:ext cx="825246" cy="896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82667" y="370332"/>
              <a:ext cx="1425702" cy="7261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6023" y="268224"/>
              <a:ext cx="745998" cy="896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5988" y="938010"/>
              <a:ext cx="314596" cy="3778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83563" y="858011"/>
              <a:ext cx="1442465" cy="72618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47316" y="755904"/>
              <a:ext cx="825245" cy="896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90216" y="858011"/>
              <a:ext cx="1750313" cy="72618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58184" y="755904"/>
              <a:ext cx="666750" cy="8968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93819" y="755904"/>
              <a:ext cx="756665" cy="896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68140" y="858011"/>
              <a:ext cx="2038350" cy="7261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9299" y="755904"/>
              <a:ext cx="756666" cy="896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03619" y="858011"/>
              <a:ext cx="1514094" cy="726186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980338" y="370458"/>
            <a:ext cx="642175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3200" u="heavy" dirty="0">
                <a:uFill>
                  <a:solidFill>
                    <a:srgbClr val="C00000"/>
                  </a:solidFill>
                </a:uFill>
              </a:rPr>
              <a:t>B</a:t>
            </a:r>
            <a:r>
              <a:rPr sz="2550" u="heavy" dirty="0">
                <a:uFill>
                  <a:solidFill>
                    <a:srgbClr val="C00000"/>
                  </a:solidFill>
                </a:uFill>
              </a:rPr>
              <a:t>İR</a:t>
            </a:r>
            <a:r>
              <a:rPr sz="2550" u="heavy" spc="14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3200" u="heavy" dirty="0">
                <a:uFill>
                  <a:solidFill>
                    <a:srgbClr val="C00000"/>
                  </a:solidFill>
                </a:uFill>
              </a:rPr>
              <a:t>S</a:t>
            </a:r>
            <a:r>
              <a:rPr sz="2550" u="heavy" dirty="0">
                <a:uFill>
                  <a:solidFill>
                    <a:srgbClr val="C00000"/>
                  </a:solidFill>
                </a:uFill>
              </a:rPr>
              <a:t>İSTEM</a:t>
            </a:r>
            <a:r>
              <a:rPr sz="2550" u="heavy" spc="16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sz="3200" u="heavy" dirty="0">
                <a:uFill>
                  <a:solidFill>
                    <a:srgbClr val="C00000"/>
                  </a:solidFill>
                </a:uFill>
              </a:rPr>
              <a:t>Ö</a:t>
            </a:r>
            <a:r>
              <a:rPr sz="2550" u="heavy" dirty="0">
                <a:uFill>
                  <a:solidFill>
                    <a:srgbClr val="C00000"/>
                  </a:solidFill>
                </a:uFill>
              </a:rPr>
              <a:t>RNEĞİ</a:t>
            </a:r>
            <a:r>
              <a:rPr sz="3200" dirty="0"/>
              <a:t>:</a:t>
            </a:r>
            <a:endParaRPr sz="3200"/>
          </a:p>
          <a:p>
            <a:pPr algn="ctr">
              <a:lnSpc>
                <a:spcPct val="100000"/>
              </a:lnSpc>
            </a:pPr>
            <a:r>
              <a:rPr sz="3200" dirty="0"/>
              <a:t>Ü</a:t>
            </a:r>
            <a:r>
              <a:rPr sz="2550" dirty="0"/>
              <a:t>RETİM</a:t>
            </a:r>
            <a:r>
              <a:rPr sz="2550" spc="170" dirty="0"/>
              <a:t> </a:t>
            </a:r>
            <a:r>
              <a:rPr sz="3200" dirty="0"/>
              <a:t>K</a:t>
            </a:r>
            <a:r>
              <a:rPr sz="2550" dirty="0"/>
              <a:t>ONTROL</a:t>
            </a:r>
            <a:r>
              <a:rPr sz="3200" dirty="0"/>
              <a:t>-P</a:t>
            </a:r>
            <a:r>
              <a:rPr sz="2550" dirty="0"/>
              <a:t>LANLAMA</a:t>
            </a:r>
            <a:r>
              <a:rPr sz="2550" spc="50" dirty="0"/>
              <a:t> </a:t>
            </a:r>
            <a:r>
              <a:rPr sz="3200" spc="-5" dirty="0"/>
              <a:t>S</a:t>
            </a:r>
            <a:r>
              <a:rPr sz="2550" spc="-5" dirty="0"/>
              <a:t>İSTEMİ</a:t>
            </a:r>
            <a:endParaRPr sz="2550"/>
          </a:p>
        </p:txBody>
      </p:sp>
      <p:sp>
        <p:nvSpPr>
          <p:cNvPr id="21" name="object 21"/>
          <p:cNvSpPr txBox="1"/>
          <p:nvPr/>
        </p:nvSpPr>
        <p:spPr>
          <a:xfrm>
            <a:off x="691692" y="1622501"/>
            <a:ext cx="6672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3945" algn="l"/>
                <a:tab pos="3390265" algn="l"/>
                <a:tab pos="4537710" algn="l"/>
                <a:tab pos="5865495" algn="l"/>
              </a:tabLst>
            </a:pPr>
            <a:r>
              <a:rPr sz="2400" spc="-5" dirty="0">
                <a:latin typeface="Times New Roman"/>
                <a:cs typeface="Times New Roman"/>
              </a:rPr>
              <a:t>Üre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im	kontro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	sis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i,	dışarı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an	</a:t>
            </a:r>
            <a:r>
              <a:rPr sz="2400" spc="-15" dirty="0">
                <a:latin typeface="Times New Roman"/>
                <a:cs typeface="Times New Roman"/>
              </a:rPr>
              <a:t>g</a:t>
            </a:r>
            <a:r>
              <a:rPr sz="2400" dirty="0">
                <a:latin typeface="Times New Roman"/>
                <a:cs typeface="Times New Roman"/>
              </a:rPr>
              <a:t>ir</a:t>
            </a:r>
            <a:r>
              <a:rPr sz="2400" spc="-1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49388" y="1622501"/>
            <a:ext cx="11391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gil</a:t>
            </a:r>
            <a:r>
              <a:rPr sz="2400" dirty="0">
                <a:latin typeface="Times New Roman"/>
                <a:cs typeface="Times New Roman"/>
              </a:rPr>
              <a:t>erin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1692" y="1988946"/>
            <a:ext cx="79984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17575" algn="l"/>
                <a:tab pos="2279015" algn="l"/>
                <a:tab pos="4534535" algn="l"/>
                <a:tab pos="5744845" algn="l"/>
                <a:tab pos="6499225" algn="l"/>
              </a:tabLst>
            </a:pPr>
            <a:r>
              <a:rPr sz="2400" dirty="0">
                <a:latin typeface="Times New Roman"/>
                <a:cs typeface="Times New Roman"/>
              </a:rPr>
              <a:t>çeşi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li	</a:t>
            </a:r>
            <a:r>
              <a:rPr sz="2400" spc="-5" dirty="0">
                <a:latin typeface="Times New Roman"/>
                <a:cs typeface="Times New Roman"/>
              </a:rPr>
              <a:t>şe</a:t>
            </a:r>
            <a:r>
              <a:rPr sz="2400" spc="-10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lerde	de</a:t>
            </a:r>
            <a:r>
              <a:rPr sz="2400" spc="-10" dirty="0">
                <a:latin typeface="Times New Roman"/>
                <a:cs typeface="Times New Roman"/>
              </a:rPr>
              <a:t>ğ</a:t>
            </a:r>
            <a:r>
              <a:rPr sz="2400" dirty="0">
                <a:latin typeface="Times New Roman"/>
                <a:cs typeface="Times New Roman"/>
              </a:rPr>
              <a:t>er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endir</a:t>
            </a:r>
            <a:r>
              <a:rPr sz="2400" spc="-1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lerek	üreti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	n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sı</a:t>
            </a:r>
            <a:r>
              <a:rPr sz="2400" dirty="0">
                <a:latin typeface="Times New Roman"/>
                <a:cs typeface="Times New Roman"/>
              </a:rPr>
              <a:t>l	</a:t>
            </a:r>
            <a:r>
              <a:rPr sz="2400" spc="-10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apı</a:t>
            </a:r>
            <a:r>
              <a:rPr sz="2400" spc="-10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ac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ğı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ı  kontrol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eden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sistemdir.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38848" y="3029419"/>
            <a:ext cx="5095259" cy="3047882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06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60" dirty="0">
                <a:solidFill>
                  <a:srgbClr val="565F6C"/>
                </a:solidFill>
                <a:latin typeface="Cambria"/>
                <a:cs typeface="Cambria"/>
              </a:rPr>
              <a:t>G</a:t>
            </a:r>
            <a:r>
              <a:rPr sz="2400" spc="360" dirty="0">
                <a:solidFill>
                  <a:srgbClr val="565F6C"/>
                </a:solidFill>
                <a:latin typeface="Cambria"/>
                <a:cs typeface="Cambria"/>
              </a:rPr>
              <a:t>ENEL</a:t>
            </a:r>
            <a:r>
              <a:rPr sz="2400" spc="30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28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400" spc="3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254" dirty="0">
                <a:solidFill>
                  <a:srgbClr val="565F6C"/>
                </a:solidFill>
                <a:latin typeface="Cambria"/>
                <a:cs typeface="Cambria"/>
              </a:rPr>
              <a:t>T</a:t>
            </a:r>
            <a:r>
              <a:rPr sz="2400" spc="254" dirty="0">
                <a:solidFill>
                  <a:srgbClr val="565F6C"/>
                </a:solidFill>
                <a:latin typeface="Cambria"/>
                <a:cs typeface="Cambria"/>
              </a:rPr>
              <a:t>EORİSİ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58466"/>
            <a:ext cx="7168515" cy="41808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09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Sistemler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girdileri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çıktılara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dönüştürür.</a:t>
            </a:r>
            <a:endParaRPr sz="2400">
              <a:latin typeface="Cambria"/>
              <a:cs typeface="Cambria"/>
            </a:endParaRPr>
          </a:p>
          <a:p>
            <a:pPr marL="286385" marR="213360" indent="-274320">
              <a:lnSpc>
                <a:spcPts val="2590"/>
              </a:lnSpc>
              <a:spcBef>
                <a:spcPts val="64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Sistemler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disiplinler</a:t>
            </a:r>
            <a:r>
              <a:rPr sz="2400" spc="100" dirty="0">
                <a:latin typeface="Cambria"/>
                <a:cs typeface="Cambria"/>
              </a:rPr>
              <a:t> arasıdır.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Bir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bilim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dalında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bulunan</a:t>
            </a:r>
            <a:r>
              <a:rPr sz="2400" spc="130" dirty="0">
                <a:latin typeface="Cambria"/>
                <a:cs typeface="Cambria"/>
              </a:rPr>
              <a:t> ürün,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kural </a:t>
            </a:r>
            <a:r>
              <a:rPr sz="2400" spc="114" dirty="0">
                <a:latin typeface="Cambria"/>
                <a:cs typeface="Cambria"/>
              </a:rPr>
              <a:t>ya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yöntem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başka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 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bilim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dalında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kullanılabilir.</a:t>
            </a:r>
            <a:endParaRPr sz="2400">
              <a:latin typeface="Cambria"/>
              <a:cs typeface="Cambria"/>
            </a:endParaRPr>
          </a:p>
          <a:p>
            <a:pPr marL="286385" marR="5080" indent="-274320">
              <a:lnSpc>
                <a:spcPts val="259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Sistem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elemanları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arasında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etkileşim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vardır.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Bir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parçaya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uygulanan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işlem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sırasında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tüm 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elemanları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göz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önünde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tutulmalıdır.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2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Sistemler </a:t>
            </a:r>
            <a:r>
              <a:rPr sz="2400" spc="110" dirty="0">
                <a:latin typeface="Cambria"/>
                <a:cs typeface="Cambria"/>
              </a:rPr>
              <a:t>farklı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elemanlardan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oluşur.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Sistemler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hiyerarşiktir.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Sistem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ortama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30" dirty="0">
                <a:latin typeface="Cambria"/>
                <a:cs typeface="Cambria"/>
              </a:rPr>
              <a:t>göre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düzenlenmelidir.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Sistemler </a:t>
            </a:r>
            <a:r>
              <a:rPr sz="2400" spc="110" dirty="0">
                <a:latin typeface="Cambria"/>
                <a:cs typeface="Cambria"/>
              </a:rPr>
              <a:t>amaç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yönelimlidir.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1980"/>
            <a:ext cx="6474460" cy="1119505"/>
            <a:chOff x="576767" y="601980"/>
            <a:chExt cx="6474460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8095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31520"/>
              <a:ext cx="2189226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81428" y="601980"/>
              <a:ext cx="971550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1760" y="731520"/>
              <a:ext cx="1631441" cy="9060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6951" y="601980"/>
              <a:ext cx="1000505" cy="11193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6240" y="731520"/>
              <a:ext cx="2844545" cy="90601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734694"/>
            <a:ext cx="6241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İSTEMİN</a:t>
            </a:r>
            <a:r>
              <a:rPr sz="3200" spc="65" dirty="0"/>
              <a:t> </a:t>
            </a:r>
            <a:r>
              <a:rPr sz="4000" dirty="0"/>
              <a:t>T</a:t>
            </a:r>
            <a:r>
              <a:rPr sz="3200" dirty="0"/>
              <a:t>EMEL</a:t>
            </a:r>
            <a:r>
              <a:rPr sz="3200" spc="20" dirty="0"/>
              <a:t> </a:t>
            </a:r>
            <a:r>
              <a:rPr sz="4000" dirty="0"/>
              <a:t>B</a:t>
            </a:r>
            <a:r>
              <a:rPr sz="3200" dirty="0"/>
              <a:t>İLEŞENLERİ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691692" y="1622501"/>
            <a:ext cx="799719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Bir </a:t>
            </a:r>
            <a:r>
              <a:rPr sz="2400" spc="-5" dirty="0">
                <a:latin typeface="Times New Roman"/>
                <a:cs typeface="Times New Roman"/>
              </a:rPr>
              <a:t>sistemin çevresini </a:t>
            </a:r>
            <a:r>
              <a:rPr sz="2400" dirty="0">
                <a:latin typeface="Times New Roman"/>
                <a:cs typeface="Times New Roman"/>
              </a:rPr>
              <a:t>oluşturan </a:t>
            </a:r>
            <a:r>
              <a:rPr sz="2400" spc="-5" dirty="0">
                <a:latin typeface="Times New Roman"/>
                <a:cs typeface="Times New Roman"/>
              </a:rPr>
              <a:t>elemanlar yeni </a:t>
            </a:r>
            <a:r>
              <a:rPr sz="2400" dirty="0">
                <a:latin typeface="Times New Roman"/>
                <a:cs typeface="Times New Roman"/>
              </a:rPr>
              <a:t>bir </a:t>
            </a:r>
            <a:r>
              <a:rPr sz="2400" spc="-5" dirty="0">
                <a:latin typeface="Times New Roman"/>
                <a:cs typeface="Times New Roman"/>
              </a:rPr>
              <a:t>sistem </a:t>
            </a:r>
            <a:r>
              <a:rPr sz="2400" dirty="0">
                <a:latin typeface="Times New Roman"/>
                <a:cs typeface="Times New Roman"/>
              </a:rPr>
              <a:t>olarak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algılanabilirler. </a:t>
            </a:r>
            <a:r>
              <a:rPr sz="2400" spc="-5" dirty="0">
                <a:latin typeface="Times New Roman"/>
                <a:cs typeface="Times New Roman"/>
              </a:rPr>
              <a:t>Her sistem </a:t>
            </a:r>
            <a:r>
              <a:rPr sz="2400" dirty="0">
                <a:latin typeface="Times New Roman"/>
                <a:cs typeface="Times New Roman"/>
              </a:rPr>
              <a:t>daha </a:t>
            </a:r>
            <a:r>
              <a:rPr sz="2400" spc="-5" dirty="0">
                <a:latin typeface="Times New Roman"/>
                <a:cs typeface="Times New Roman"/>
              </a:rPr>
              <a:t>büyük bir </a:t>
            </a:r>
            <a:r>
              <a:rPr sz="2400" spc="-10" dirty="0">
                <a:latin typeface="Times New Roman"/>
                <a:cs typeface="Times New Roman"/>
              </a:rPr>
              <a:t>sistemin </a:t>
            </a:r>
            <a:r>
              <a:rPr sz="2400" dirty="0">
                <a:latin typeface="Times New Roman"/>
                <a:cs typeface="Times New Roman"/>
              </a:rPr>
              <a:t>alt </a:t>
            </a:r>
            <a:r>
              <a:rPr sz="2400" spc="-5" dirty="0">
                <a:latin typeface="Times New Roman"/>
                <a:cs typeface="Times New Roman"/>
              </a:rPr>
              <a:t>parçası </a:t>
            </a:r>
            <a:r>
              <a:rPr sz="2400" dirty="0">
                <a:latin typeface="Times New Roman"/>
                <a:cs typeface="Times New Roman"/>
              </a:rPr>
              <a:t> olarak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düşünülebilir.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22691" y="5870549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82843" y="3167772"/>
            <a:ext cx="4822746" cy="21851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0240" y="5667247"/>
            <a:ext cx="6088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Sistemin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ucundaki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elemana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380CF4"/>
                </a:solidFill>
                <a:latin typeface="Times New Roman"/>
                <a:cs typeface="Times New Roman"/>
              </a:rPr>
              <a:t>“karakutu” </a:t>
            </a:r>
            <a:r>
              <a:rPr sz="2400" dirty="0">
                <a:latin typeface="Times New Roman"/>
                <a:cs typeface="Times New Roman"/>
              </a:rPr>
              <a:t>denir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705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400" spc="29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400" spc="310" dirty="0">
                <a:solidFill>
                  <a:srgbClr val="565F6C"/>
                </a:solidFill>
                <a:latin typeface="Cambria"/>
                <a:cs typeface="Cambria"/>
              </a:rPr>
              <a:t>VE</a:t>
            </a:r>
            <a:r>
              <a:rPr sz="2400" spc="29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254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400" spc="254" dirty="0">
                <a:solidFill>
                  <a:srgbClr val="565F6C"/>
                </a:solidFill>
                <a:latin typeface="Cambria"/>
                <a:cs typeface="Cambria"/>
              </a:rPr>
              <a:t>RTAM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28597"/>
            <a:ext cx="6492240" cy="289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Sistemin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içinde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bulunduğu, </a:t>
            </a:r>
            <a:r>
              <a:rPr sz="2400" spc="75" dirty="0">
                <a:latin typeface="Cambria"/>
                <a:cs typeface="Cambria"/>
              </a:rPr>
              <a:t>işlev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spc="75" dirty="0">
                <a:latin typeface="Cambria"/>
                <a:cs typeface="Cambria"/>
              </a:rPr>
              <a:t>performansını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etkileyen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ortam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vardır.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200" dirty="0">
                <a:latin typeface="Cambria"/>
                <a:cs typeface="Cambria"/>
              </a:rPr>
              <a:t>Bu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ortamın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kendisi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sistem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olabilir.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35" dirty="0">
                <a:latin typeface="Cambria"/>
                <a:cs typeface="Cambria"/>
              </a:rPr>
              <a:t>Bir </a:t>
            </a:r>
            <a:r>
              <a:rPr sz="2400" spc="85" dirty="0">
                <a:latin typeface="Cambria"/>
                <a:cs typeface="Cambria"/>
              </a:rPr>
              <a:t>sistem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başka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sistemin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parçası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alt</a:t>
            </a:r>
            <a:endParaRPr sz="2400">
              <a:latin typeface="Cambria"/>
              <a:cs typeface="Cambria"/>
            </a:endParaRPr>
          </a:p>
          <a:p>
            <a:pPr marL="286385">
              <a:lnSpc>
                <a:spcPct val="100000"/>
              </a:lnSpc>
            </a:pPr>
            <a:r>
              <a:rPr sz="2400" spc="90" dirty="0">
                <a:latin typeface="Cambria"/>
                <a:cs typeface="Cambria"/>
              </a:rPr>
              <a:t>sistemdir.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99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75" dirty="0">
                <a:solidFill>
                  <a:srgbClr val="565F6C"/>
                </a:solidFill>
                <a:latin typeface="Cambria"/>
                <a:cs typeface="Cambria"/>
              </a:rPr>
              <a:t>Ö</a:t>
            </a:r>
            <a:r>
              <a:rPr sz="2400" spc="275" dirty="0">
                <a:solidFill>
                  <a:srgbClr val="565F6C"/>
                </a:solidFill>
                <a:latin typeface="Cambria"/>
                <a:cs typeface="Cambria"/>
              </a:rPr>
              <a:t>RNEK</a:t>
            </a:r>
            <a:r>
              <a:rPr sz="3000" spc="275" dirty="0">
                <a:solidFill>
                  <a:srgbClr val="565F6C"/>
                </a:solidFill>
                <a:latin typeface="Cambria"/>
                <a:cs typeface="Cambria"/>
              </a:rPr>
              <a:t>:</a:t>
            </a:r>
            <a:r>
              <a:rPr sz="3000" spc="18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28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400" spc="31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spc="270" dirty="0">
                <a:solidFill>
                  <a:srgbClr val="565F6C"/>
                </a:solidFill>
                <a:latin typeface="Cambria"/>
                <a:cs typeface="Cambria"/>
              </a:rPr>
              <a:t>H</a:t>
            </a:r>
            <a:r>
              <a:rPr sz="2400" spc="270" dirty="0">
                <a:solidFill>
                  <a:srgbClr val="565F6C"/>
                </a:solidFill>
                <a:latin typeface="Cambria"/>
                <a:cs typeface="Cambria"/>
              </a:rPr>
              <a:t>İYERARŞİSİ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9952" y="2298176"/>
            <a:ext cx="7031990" cy="3508375"/>
            <a:chOff x="569952" y="2298176"/>
            <a:chExt cx="7031990" cy="35083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9952" y="2298176"/>
              <a:ext cx="7031783" cy="35082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123" y="2314955"/>
              <a:ext cx="6954011" cy="3429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1123" y="2314955"/>
              <a:ext cx="6954520" cy="3429000"/>
            </a:xfrm>
            <a:custGeom>
              <a:avLst/>
              <a:gdLst/>
              <a:ahLst/>
              <a:cxnLst/>
              <a:rect l="l" t="t" r="r" b="b"/>
              <a:pathLst>
                <a:path w="6954520" h="3429000">
                  <a:moveTo>
                    <a:pt x="0" y="3429000"/>
                  </a:moveTo>
                  <a:lnTo>
                    <a:pt x="6954011" y="3429000"/>
                  </a:lnTo>
                  <a:lnTo>
                    <a:pt x="6954011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440" y="2636519"/>
              <a:ext cx="6463284" cy="28300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875" y="2671571"/>
              <a:ext cx="6348983" cy="271424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12875" y="2671571"/>
              <a:ext cx="6349365" cy="2714625"/>
            </a:xfrm>
            <a:custGeom>
              <a:avLst/>
              <a:gdLst/>
              <a:ahLst/>
              <a:cxnLst/>
              <a:rect l="l" t="t" r="r" b="b"/>
              <a:pathLst>
                <a:path w="6349365" h="2714625">
                  <a:moveTo>
                    <a:pt x="0" y="2714243"/>
                  </a:moveTo>
                  <a:lnTo>
                    <a:pt x="6348983" y="2714243"/>
                  </a:lnTo>
                  <a:lnTo>
                    <a:pt x="6348983" y="0"/>
                  </a:lnTo>
                  <a:lnTo>
                    <a:pt x="0" y="0"/>
                  </a:lnTo>
                  <a:lnTo>
                    <a:pt x="0" y="271424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56716" y="2994659"/>
              <a:ext cx="5858256" cy="21153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6151" y="3029711"/>
              <a:ext cx="5743956" cy="19994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16151" y="3029711"/>
              <a:ext cx="5744210" cy="1999614"/>
            </a:xfrm>
            <a:custGeom>
              <a:avLst/>
              <a:gdLst/>
              <a:ahLst/>
              <a:cxnLst/>
              <a:rect l="l" t="t" r="r" b="b"/>
              <a:pathLst>
                <a:path w="5744209" h="1999614">
                  <a:moveTo>
                    <a:pt x="0" y="1999488"/>
                  </a:moveTo>
                  <a:lnTo>
                    <a:pt x="5743956" y="1999488"/>
                  </a:lnTo>
                  <a:lnTo>
                    <a:pt x="5743956" y="0"/>
                  </a:lnTo>
                  <a:lnTo>
                    <a:pt x="0" y="0"/>
                  </a:lnTo>
                  <a:lnTo>
                    <a:pt x="0" y="199948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0168" y="2266959"/>
            <a:ext cx="1107440" cy="105156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ŞEHİR</a:t>
            </a:r>
            <a:endParaRPr sz="1800">
              <a:latin typeface="Calibri"/>
              <a:cs typeface="Calibri"/>
            </a:endParaRPr>
          </a:p>
          <a:p>
            <a:pPr marL="258445">
              <a:lnSpc>
                <a:spcPct val="100000"/>
              </a:lnSpc>
              <a:spcBef>
                <a:spcPts val="75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CADDE</a:t>
            </a:r>
            <a:endParaRPr sz="1800">
              <a:latin typeface="Calibri"/>
              <a:cs typeface="Calibri"/>
            </a:endParaRPr>
          </a:p>
          <a:p>
            <a:pPr marL="615315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BİNA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338325" y="3352800"/>
          <a:ext cx="5446395" cy="14795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3937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195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ISITMA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317500">
                        <a:lnSpc>
                          <a:spcPct val="100000"/>
                        </a:lnSpc>
                      </a:pPr>
                      <a:r>
                        <a:rPr sz="1800" b="1" spc="229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SİSTEMİ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EBEBEC"/>
                    </a:solidFill>
                  </a:tcPr>
                </a:tc>
                <a:tc>
                  <a:txBody>
                    <a:bodyPr/>
                    <a:lstStyle/>
                    <a:p>
                      <a:pPr marL="5949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320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ENERJİ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546735">
                        <a:lnSpc>
                          <a:spcPct val="100000"/>
                        </a:lnSpc>
                      </a:pPr>
                      <a:r>
                        <a:rPr sz="1800" b="1" spc="229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SİSTEMİ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EBEBE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275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SU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229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SİSTEMİ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EB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469">
                <a:tc>
                  <a:txBody>
                    <a:bodyPr/>
                    <a:lstStyle/>
                    <a:p>
                      <a:pPr marL="351155" marR="194945" indent="-149860">
                        <a:lnSpc>
                          <a:spcPts val="215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GÜV</a:t>
                      </a:r>
                      <a:r>
                        <a:rPr sz="1800" spc="-10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800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NLİK  </a:t>
                      </a:r>
                      <a:r>
                        <a:rPr sz="1800" spc="195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SİSTEMİ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D5D6D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55"/>
                        </a:lnSpc>
                        <a:spcBef>
                          <a:spcPts val="340"/>
                        </a:spcBef>
                      </a:pPr>
                      <a:r>
                        <a:rPr sz="1800" spc="195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AYDINLATMA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1270" algn="ctr">
                        <a:lnSpc>
                          <a:spcPts val="2155"/>
                        </a:lnSpc>
                      </a:pPr>
                      <a:r>
                        <a:rPr sz="1800" spc="204" dirty="0">
                          <a:solidFill>
                            <a:srgbClr val="252525"/>
                          </a:solidFill>
                          <a:latin typeface="Cambria"/>
                          <a:cs typeface="Cambria"/>
                        </a:rPr>
                        <a:t>SİSTEM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D5D6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905" marB="0">
                    <a:lnL w="12700">
                      <a:solidFill>
                        <a:srgbClr val="777B84"/>
                      </a:solidFill>
                      <a:prstDash val="solid"/>
                    </a:lnL>
                    <a:lnR w="12700">
                      <a:solidFill>
                        <a:srgbClr val="777B84"/>
                      </a:solidFill>
                      <a:prstDash val="solid"/>
                    </a:lnR>
                    <a:lnT w="12700">
                      <a:solidFill>
                        <a:srgbClr val="777B84"/>
                      </a:solidFill>
                      <a:prstDash val="solid"/>
                    </a:lnT>
                    <a:lnB w="12700">
                      <a:solidFill>
                        <a:srgbClr val="777B84"/>
                      </a:solidFill>
                      <a:prstDash val="solid"/>
                    </a:lnB>
                    <a:solidFill>
                      <a:srgbClr val="EB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600583"/>
            <a:ext cx="38576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15" dirty="0">
                <a:solidFill>
                  <a:srgbClr val="565F6C"/>
                </a:solidFill>
                <a:latin typeface="Cambria"/>
                <a:cs typeface="Cambria"/>
              </a:rPr>
              <a:t>SİSTEM</a:t>
            </a:r>
            <a:r>
              <a:rPr sz="2700" spc="6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300" dirty="0">
                <a:solidFill>
                  <a:srgbClr val="565F6C"/>
                </a:solidFill>
                <a:latin typeface="Cambria"/>
                <a:cs typeface="Cambria"/>
              </a:rPr>
              <a:t>HİYERARŞİSİ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081278"/>
            <a:ext cx="7789545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165" dirty="0">
                <a:latin typeface="Cambria"/>
                <a:cs typeface="Cambria"/>
              </a:rPr>
              <a:t>Var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olan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tüm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sistemleri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barındıran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piramit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şeklinde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gösterebilecek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bir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sistemler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hiyerarşisinden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söz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etmek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125" dirty="0">
                <a:latin typeface="Cambria"/>
                <a:cs typeface="Cambria"/>
              </a:rPr>
              <a:t>mümkündür.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455" y="2008632"/>
            <a:ext cx="5903976" cy="45049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6767" y="601980"/>
            <a:ext cx="6708775" cy="1119505"/>
            <a:chOff x="576767" y="601980"/>
            <a:chExt cx="6708775" cy="1119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767" y="908095"/>
              <a:ext cx="264535" cy="3929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96" y="731520"/>
              <a:ext cx="2957322" cy="9060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7144" y="601980"/>
              <a:ext cx="944118" cy="11193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0044" y="731520"/>
              <a:ext cx="3885438" cy="90601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734694"/>
            <a:ext cx="6475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S</a:t>
            </a:r>
            <a:r>
              <a:rPr sz="3200" dirty="0"/>
              <a:t>İSTEMLERİN</a:t>
            </a:r>
            <a:r>
              <a:rPr sz="3200" spc="105" dirty="0"/>
              <a:t> </a:t>
            </a:r>
            <a:r>
              <a:rPr sz="4000" dirty="0"/>
              <a:t>S</a:t>
            </a:r>
            <a:r>
              <a:rPr sz="3200" dirty="0"/>
              <a:t>INIFLANDIRMASI</a:t>
            </a:r>
            <a:endParaRPr sz="3200"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2234183"/>
            <a:ext cx="128524" cy="1369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2676144"/>
            <a:ext cx="128524" cy="13690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3118104"/>
            <a:ext cx="128524" cy="13690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3560064"/>
            <a:ext cx="128524" cy="13690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4002023"/>
            <a:ext cx="128524" cy="13690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2522" y="4443984"/>
            <a:ext cx="128524" cy="13690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91692" y="1545904"/>
            <a:ext cx="6751955" cy="31210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5" dirty="0">
                <a:latin typeface="Times New Roman"/>
                <a:cs typeface="Times New Roman"/>
              </a:rPr>
              <a:t>Sistemleri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farklı </a:t>
            </a:r>
            <a:r>
              <a:rPr sz="2400" spc="-5" dirty="0">
                <a:latin typeface="Times New Roman"/>
                <a:cs typeface="Times New Roman"/>
              </a:rPr>
              <a:t>şekillerde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sınıflandırmak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mümkündür:</a:t>
            </a:r>
            <a:endParaRPr sz="2400">
              <a:latin typeface="Times New Roman"/>
              <a:cs typeface="Times New Roman"/>
            </a:endParaRPr>
          </a:p>
          <a:p>
            <a:pPr marL="544195" marR="3166745">
              <a:lnSpc>
                <a:spcPct val="1208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açık ve kapalı </a:t>
            </a:r>
            <a:r>
              <a:rPr sz="2400" spc="-15" dirty="0">
                <a:latin typeface="Times New Roman"/>
                <a:cs typeface="Times New Roman"/>
              </a:rPr>
              <a:t>sistemler, 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canlı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cansız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sistemler,</a:t>
            </a:r>
            <a:endParaRPr sz="2400">
              <a:latin typeface="Times New Roman"/>
              <a:cs typeface="Times New Roman"/>
            </a:endParaRPr>
          </a:p>
          <a:p>
            <a:pPr marL="54419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Times New Roman"/>
                <a:cs typeface="Times New Roman"/>
              </a:rPr>
              <a:t>doğal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yapısı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sistemler,</a:t>
            </a:r>
            <a:endParaRPr sz="2400">
              <a:latin typeface="Times New Roman"/>
              <a:cs typeface="Times New Roman"/>
            </a:endParaRPr>
          </a:p>
          <a:p>
            <a:pPr marL="544195" marR="2832100">
              <a:lnSpc>
                <a:spcPct val="120800"/>
              </a:lnSpc>
            </a:pPr>
            <a:r>
              <a:rPr sz="2400" dirty="0">
                <a:latin typeface="Times New Roman"/>
                <a:cs typeface="Times New Roman"/>
              </a:rPr>
              <a:t>statik ve </a:t>
            </a:r>
            <a:r>
              <a:rPr sz="2400" spc="-5" dirty="0">
                <a:latin typeface="Times New Roman"/>
                <a:cs typeface="Times New Roman"/>
              </a:rPr>
              <a:t>dinamik </a:t>
            </a:r>
            <a:r>
              <a:rPr sz="2400" spc="-10" dirty="0">
                <a:latin typeface="Times New Roman"/>
                <a:cs typeface="Times New Roman"/>
              </a:rPr>
              <a:t>sistemler,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soyut ve </a:t>
            </a:r>
            <a:r>
              <a:rPr sz="2400" spc="-5" dirty="0">
                <a:latin typeface="Times New Roman"/>
                <a:cs typeface="Times New Roman"/>
              </a:rPr>
              <a:t>somut </a:t>
            </a:r>
            <a:r>
              <a:rPr sz="2400" spc="-10" dirty="0">
                <a:latin typeface="Times New Roman"/>
                <a:cs typeface="Times New Roman"/>
              </a:rPr>
              <a:t>sistemler, 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karmaşık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sistemler.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2035" y="678180"/>
            <a:ext cx="5455285" cy="1009650"/>
            <a:chOff x="552035" y="678180"/>
            <a:chExt cx="545528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035" y="956861"/>
              <a:ext cx="355159" cy="34720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748" y="794004"/>
              <a:ext cx="1117853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6840" y="794004"/>
              <a:ext cx="976122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3955" y="678180"/>
              <a:ext cx="928878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19528" y="794004"/>
              <a:ext cx="1530858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9856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29228" y="794004"/>
              <a:ext cx="2277618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5223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380CF4"/>
                </a:solidFill>
              </a:rPr>
              <a:t>A</a:t>
            </a:r>
            <a:r>
              <a:rPr spc="10" dirty="0">
                <a:solidFill>
                  <a:srgbClr val="380CF4"/>
                </a:solidFill>
              </a:rPr>
              <a:t>ÇIK</a:t>
            </a:r>
            <a:r>
              <a:rPr spc="105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75" dirty="0">
                <a:solidFill>
                  <a:srgbClr val="380CF4"/>
                </a:solidFill>
              </a:rPr>
              <a:t> </a:t>
            </a:r>
            <a:r>
              <a:rPr sz="3600" spc="-35" dirty="0">
                <a:solidFill>
                  <a:srgbClr val="380CF4"/>
                </a:solidFill>
              </a:rPr>
              <a:t>K</a:t>
            </a:r>
            <a:r>
              <a:rPr spc="-35" dirty="0">
                <a:solidFill>
                  <a:srgbClr val="380CF4"/>
                </a:solidFill>
              </a:rPr>
              <a:t>APALI</a:t>
            </a:r>
            <a:r>
              <a:rPr spc="165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74428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Açık</a:t>
            </a:r>
            <a:r>
              <a:rPr sz="24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30" dirty="0">
                <a:solidFill>
                  <a:srgbClr val="FF0000"/>
                </a:solidFill>
                <a:latin typeface="Times New Roman"/>
                <a:cs typeface="Times New Roman"/>
              </a:rPr>
              <a:t>sistemler,</a:t>
            </a:r>
            <a:r>
              <a:rPr sz="24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çevresi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etkileşim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halinde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olan</a:t>
            </a:r>
            <a:r>
              <a:rPr sz="2400" spc="-10" dirty="0">
                <a:latin typeface="Times New Roman"/>
                <a:cs typeface="Times New Roman"/>
              </a:rPr>
              <a:t> sistemlerdir.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72642" y="2309155"/>
          <a:ext cx="7839708" cy="703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51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  <a:tabLst>
                          <a:tab pos="1252220" algn="l"/>
                        </a:tabLst>
                      </a:pPr>
                      <a:r>
                        <a:rPr sz="2400" i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Kapalı	</a:t>
                      </a:r>
                      <a:r>
                        <a:rPr sz="2400" i="1" spc="-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sistemler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2620"/>
                        </a:lnSpc>
                        <a:tabLst>
                          <a:tab pos="828040" algn="l"/>
                        </a:tabLst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ise,	çevresiyle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6045" algn="r">
                        <a:lnSpc>
                          <a:spcPts val="262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etkileşimi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2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olmayan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51">
                <a:tc>
                  <a:txBody>
                    <a:bodyPr/>
                    <a:lstStyle/>
                    <a:p>
                      <a:pPr marL="31750">
                        <a:lnSpc>
                          <a:spcPts val="2670"/>
                        </a:lnSpc>
                        <a:tabLst>
                          <a:tab pos="1746250" algn="l"/>
                        </a:tabLst>
                      </a:pPr>
                      <a:r>
                        <a:rPr sz="2400" spc="-15" dirty="0">
                          <a:latin typeface="Times New Roman"/>
                          <a:cs typeface="Times New Roman"/>
                        </a:rPr>
                        <a:t>sistemlerdir.	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Aslında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ts val="2670"/>
                        </a:lnSpc>
                        <a:tabLst>
                          <a:tab pos="1647825" algn="l"/>
                        </a:tabLst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çevresiyle	hiç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2670"/>
                        </a:lnSpc>
                        <a:tabLst>
                          <a:tab pos="557530" algn="l"/>
                        </a:tabLst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bir	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şekilde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7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girdi-çıktı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7003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alışverişinde</a:t>
            </a:r>
            <a:r>
              <a:rPr dirty="0"/>
              <a:t> </a:t>
            </a:r>
            <a:r>
              <a:rPr spc="-5" dirty="0"/>
              <a:t>bulunmayan</a:t>
            </a:r>
            <a:r>
              <a:rPr dirty="0"/>
              <a:t> bir</a:t>
            </a:r>
            <a:r>
              <a:rPr spc="5" dirty="0"/>
              <a:t> </a:t>
            </a:r>
            <a:r>
              <a:rPr spc="-5" dirty="0"/>
              <a:t>sistem</a:t>
            </a:r>
            <a:r>
              <a:rPr dirty="0"/>
              <a:t> örneği</a:t>
            </a:r>
            <a:r>
              <a:rPr spc="5" dirty="0"/>
              <a:t> </a:t>
            </a:r>
            <a:r>
              <a:rPr spc="-5" dirty="0"/>
              <a:t>bulmak</a:t>
            </a:r>
            <a:r>
              <a:rPr dirty="0"/>
              <a:t> hemen </a:t>
            </a:r>
            <a:r>
              <a:rPr spc="5" dirty="0"/>
              <a:t> </a:t>
            </a:r>
            <a:r>
              <a:rPr spc="-5" dirty="0"/>
              <a:t>hemen imkansız olduğundan dolayı </a:t>
            </a:r>
            <a:r>
              <a:rPr dirty="0"/>
              <a:t>bu tür </a:t>
            </a:r>
            <a:r>
              <a:rPr spc="-15" dirty="0"/>
              <a:t>sistemler, </a:t>
            </a:r>
            <a:r>
              <a:rPr spc="-5" dirty="0"/>
              <a:t>genelde </a:t>
            </a:r>
            <a:r>
              <a:rPr dirty="0"/>
              <a:t> teorik</a:t>
            </a:r>
            <a:r>
              <a:rPr spc="5" dirty="0"/>
              <a:t> </a:t>
            </a:r>
            <a:r>
              <a:rPr dirty="0"/>
              <a:t>ve</a:t>
            </a:r>
            <a:r>
              <a:rPr spc="5" dirty="0"/>
              <a:t> </a:t>
            </a:r>
            <a:r>
              <a:rPr spc="-5" dirty="0"/>
              <a:t>varsayıma</a:t>
            </a:r>
            <a:r>
              <a:rPr dirty="0"/>
              <a:t> </a:t>
            </a:r>
            <a:r>
              <a:rPr spc="-5" dirty="0"/>
              <a:t>dayalı</a:t>
            </a:r>
            <a:r>
              <a:rPr dirty="0"/>
              <a:t> </a:t>
            </a:r>
            <a:r>
              <a:rPr spc="-15" dirty="0"/>
              <a:t>sistemlerdir.</a:t>
            </a:r>
            <a:r>
              <a:rPr spc="575" dirty="0"/>
              <a:t> </a:t>
            </a:r>
            <a:r>
              <a:rPr spc="-10" dirty="0"/>
              <a:t>Bazı</a:t>
            </a:r>
            <a:r>
              <a:rPr spc="-5" dirty="0"/>
              <a:t> kimyasal </a:t>
            </a:r>
            <a:r>
              <a:rPr dirty="0"/>
              <a:t> reaksiyonlar kapalı</a:t>
            </a:r>
            <a:r>
              <a:rPr spc="-45" dirty="0"/>
              <a:t> </a:t>
            </a:r>
            <a:r>
              <a:rPr dirty="0"/>
              <a:t>sistem</a:t>
            </a:r>
            <a:r>
              <a:rPr spc="-20" dirty="0"/>
              <a:t> </a:t>
            </a:r>
            <a:r>
              <a:rPr dirty="0"/>
              <a:t>olarak</a:t>
            </a:r>
            <a:r>
              <a:rPr spc="-25" dirty="0"/>
              <a:t> </a:t>
            </a:r>
            <a:r>
              <a:rPr spc="-10" dirty="0"/>
              <a:t>düşünülebilir.</a:t>
            </a: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985836" y="4654435"/>
            <a:ext cx="1783629" cy="151305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21228" y="4654485"/>
            <a:ext cx="1792690" cy="150380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59073" y="5242940"/>
            <a:ext cx="10236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80CF4"/>
                </a:solidFill>
                <a:latin typeface="Times New Roman"/>
                <a:cs typeface="Times New Roman"/>
              </a:rPr>
              <a:t>Açık</a:t>
            </a:r>
            <a:r>
              <a:rPr sz="1600" b="1" spc="-55" dirty="0">
                <a:solidFill>
                  <a:srgbClr val="380CF4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380CF4"/>
                </a:solidFill>
                <a:latin typeface="Times New Roman"/>
                <a:cs typeface="Times New Roman"/>
              </a:rPr>
              <a:t>sistem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6831583" y="5242940"/>
            <a:ext cx="1205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380CF4"/>
                </a:solidFill>
                <a:latin typeface="Times New Roman"/>
                <a:cs typeface="Times New Roman"/>
              </a:rPr>
              <a:t>Kapalı</a:t>
            </a:r>
            <a:r>
              <a:rPr sz="1600" b="1" spc="-50" dirty="0">
                <a:solidFill>
                  <a:srgbClr val="380CF4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solidFill>
                  <a:srgbClr val="380CF4"/>
                </a:solidFill>
                <a:latin typeface="Times New Roman"/>
                <a:cs typeface="Times New Roman"/>
              </a:rPr>
              <a:t>sistem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1605" y="678180"/>
            <a:ext cx="5672455" cy="1009650"/>
            <a:chOff x="561605" y="678180"/>
            <a:chExt cx="567245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605" y="952293"/>
              <a:ext cx="305550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39" y="794004"/>
              <a:ext cx="1361694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3247" y="794004"/>
              <a:ext cx="976122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0363" y="678180"/>
              <a:ext cx="902969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0028" y="794004"/>
              <a:ext cx="1564386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6931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56304" y="794004"/>
              <a:ext cx="2277618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5450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380CF4"/>
                </a:solidFill>
              </a:rPr>
              <a:t>C</a:t>
            </a:r>
            <a:r>
              <a:rPr spc="10" dirty="0">
                <a:solidFill>
                  <a:srgbClr val="380CF4"/>
                </a:solidFill>
              </a:rPr>
              <a:t>ANLI</a:t>
            </a:r>
            <a:r>
              <a:rPr spc="90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75" dirty="0">
                <a:solidFill>
                  <a:srgbClr val="380CF4"/>
                </a:solidFill>
              </a:rPr>
              <a:t> </a:t>
            </a:r>
            <a:r>
              <a:rPr sz="3600" spc="10" dirty="0">
                <a:solidFill>
                  <a:srgbClr val="380CF4"/>
                </a:solidFill>
              </a:rPr>
              <a:t>C</a:t>
            </a:r>
            <a:r>
              <a:rPr spc="10" dirty="0">
                <a:solidFill>
                  <a:srgbClr val="380CF4"/>
                </a:solidFill>
              </a:rPr>
              <a:t>ANSIZ</a:t>
            </a:r>
            <a:r>
              <a:rPr spc="185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579755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6780" algn="l"/>
                <a:tab pos="2265045" algn="l"/>
                <a:tab pos="3403600" algn="l"/>
                <a:tab pos="4246880" algn="l"/>
                <a:tab pos="4752340" algn="l"/>
              </a:tabLst>
            </a:pP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nlı	sis</a:t>
            </a:r>
            <a:r>
              <a:rPr sz="24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mle</a:t>
            </a:r>
            <a:r>
              <a:rPr sz="2400" i="1" spc="-26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,	</a:t>
            </a:r>
            <a:r>
              <a:rPr sz="2400" dirty="0">
                <a:latin typeface="Times New Roman"/>
                <a:cs typeface="Times New Roman"/>
              </a:rPr>
              <a:t>doğu</a:t>
            </a:r>
            <a:r>
              <a:rPr sz="2400" spc="-3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,	ölüm	</a:t>
            </a:r>
            <a:r>
              <a:rPr sz="2400" spc="10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	çoğal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özelliklere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sahip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sistemlerdir.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8930" y="1622501"/>
            <a:ext cx="500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gibi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71080" y="1622501"/>
            <a:ext cx="11245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iyol</a:t>
            </a:r>
            <a:r>
              <a:rPr sz="2400" spc="-10" dirty="0">
                <a:latin typeface="Times New Roman"/>
                <a:cs typeface="Times New Roman"/>
              </a:rPr>
              <a:t>oj</a:t>
            </a:r>
            <a:r>
              <a:rPr sz="2400" dirty="0">
                <a:latin typeface="Times New Roman"/>
                <a:cs typeface="Times New Roman"/>
              </a:rPr>
              <a:t>ik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692" y="2629027"/>
            <a:ext cx="7803515" cy="217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Cansız</a:t>
            </a:r>
            <a:r>
              <a:rPr sz="2400" i="1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sistemler</a:t>
            </a:r>
            <a:r>
              <a:rPr sz="2400" i="1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ise,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biyolojik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yaşam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belirtisi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göstermeyen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sistemlerdir.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imes New Roman"/>
              <a:cs typeface="Times New Roman"/>
            </a:endParaRPr>
          </a:p>
          <a:p>
            <a:pPr marL="1543050" marR="508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Bir insan ya da hayvan </a:t>
            </a:r>
            <a:r>
              <a:rPr sz="2400" spc="-5" dirty="0">
                <a:latin typeface="Times New Roman"/>
                <a:cs typeface="Times New Roman"/>
              </a:rPr>
              <a:t>canlı sistemler için örnek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oluştururken, bir uçak </a:t>
            </a:r>
            <a:r>
              <a:rPr sz="2400" spc="-10" dirty="0">
                <a:latin typeface="Times New Roman"/>
                <a:cs typeface="Times New Roman"/>
              </a:rPr>
              <a:t>ya </a:t>
            </a:r>
            <a:r>
              <a:rPr sz="2400" spc="-5" dirty="0">
                <a:latin typeface="Times New Roman"/>
                <a:cs typeface="Times New Roman"/>
              </a:rPr>
              <a:t>da bir çalar saat cansız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örnektir.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9686" y="3643884"/>
            <a:ext cx="1036545" cy="24993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9902" y="4646320"/>
            <a:ext cx="1158440" cy="14212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86500" y="4786884"/>
            <a:ext cx="1857755" cy="1235963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6588" y="678180"/>
            <a:ext cx="6885940" cy="1009650"/>
            <a:chOff x="556588" y="678180"/>
            <a:chExt cx="6885940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588" y="961430"/>
              <a:ext cx="341499" cy="3426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747" y="794004"/>
              <a:ext cx="1489709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7172" y="794004"/>
              <a:ext cx="976122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04288" y="678180"/>
              <a:ext cx="750569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11551" y="794004"/>
              <a:ext cx="1482089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7872" y="678180"/>
              <a:ext cx="878586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83151" y="794004"/>
              <a:ext cx="1401318" cy="81762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55463" y="678180"/>
              <a:ext cx="852677" cy="10096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64836" y="794004"/>
              <a:ext cx="2277617" cy="817626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6659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380CF4"/>
                </a:solidFill>
              </a:rPr>
              <a:t>D</a:t>
            </a:r>
            <a:r>
              <a:rPr spc="10" dirty="0">
                <a:solidFill>
                  <a:srgbClr val="380CF4"/>
                </a:solidFill>
              </a:rPr>
              <a:t>OĞAL</a:t>
            </a:r>
            <a:r>
              <a:rPr spc="5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85" dirty="0">
                <a:solidFill>
                  <a:srgbClr val="380CF4"/>
                </a:solidFill>
              </a:rPr>
              <a:t> </a:t>
            </a:r>
            <a:r>
              <a:rPr sz="3600" spc="10" dirty="0">
                <a:solidFill>
                  <a:srgbClr val="380CF4"/>
                </a:solidFill>
              </a:rPr>
              <a:t>İ</a:t>
            </a:r>
            <a:r>
              <a:rPr spc="10" dirty="0">
                <a:solidFill>
                  <a:srgbClr val="380CF4"/>
                </a:solidFill>
              </a:rPr>
              <a:t>NSAN</a:t>
            </a:r>
            <a:r>
              <a:rPr spc="40" dirty="0">
                <a:solidFill>
                  <a:srgbClr val="380CF4"/>
                </a:solidFill>
              </a:rPr>
              <a:t> </a:t>
            </a:r>
            <a:r>
              <a:rPr sz="3600" spc="-60" dirty="0">
                <a:solidFill>
                  <a:srgbClr val="380CF4"/>
                </a:solidFill>
              </a:rPr>
              <a:t>Y</a:t>
            </a:r>
            <a:r>
              <a:rPr spc="-60" dirty="0">
                <a:solidFill>
                  <a:srgbClr val="380CF4"/>
                </a:solidFill>
              </a:rPr>
              <a:t>APISI</a:t>
            </a:r>
            <a:r>
              <a:rPr spc="185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ISTEMLER</a:t>
            </a:r>
            <a:endParaRPr sz="3600"/>
          </a:p>
        </p:txBody>
      </p:sp>
      <p:sp>
        <p:nvSpPr>
          <p:cNvPr id="13" name="object 13"/>
          <p:cNvSpPr txBox="1"/>
          <p:nvPr/>
        </p:nvSpPr>
        <p:spPr>
          <a:xfrm>
            <a:off x="691692" y="1622501"/>
            <a:ext cx="7801609" cy="3608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Doğal </a:t>
            </a:r>
            <a:r>
              <a:rPr sz="2400" dirty="0">
                <a:latin typeface="Times New Roman"/>
                <a:cs typeface="Times New Roman"/>
              </a:rPr>
              <a:t>yollarla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oluşmuş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olan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sistemlere,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doğal</a:t>
            </a:r>
            <a:r>
              <a:rPr sz="24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sistemler</a:t>
            </a:r>
            <a:r>
              <a:rPr sz="24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denir.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165"/>
              </a:spcBef>
              <a:tabLst>
                <a:tab pos="1238250" algn="l"/>
                <a:tab pos="2716530" algn="l"/>
                <a:tab pos="3498215" algn="l"/>
                <a:tab pos="4702175" algn="l"/>
                <a:tab pos="6690359" algn="l"/>
              </a:tabLst>
            </a:pPr>
            <a:r>
              <a:rPr sz="2400" dirty="0">
                <a:latin typeface="Times New Roman"/>
                <a:cs typeface="Times New Roman"/>
              </a:rPr>
              <a:t>İnsanlar	ta</a:t>
            </a:r>
            <a:r>
              <a:rPr sz="2400" spc="-1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afından	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15" dirty="0">
                <a:latin typeface="Times New Roman"/>
                <a:cs typeface="Times New Roman"/>
              </a:rPr>
              <a:t>l</a:t>
            </a:r>
            <a:r>
              <a:rPr sz="2400" dirty="0">
                <a:latin typeface="Times New Roman"/>
                <a:cs typeface="Times New Roman"/>
              </a:rPr>
              <a:t>i	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ç</a:t>
            </a:r>
            <a:r>
              <a:rPr sz="2400" dirty="0">
                <a:latin typeface="Times New Roman"/>
                <a:cs typeface="Times New Roman"/>
              </a:rPr>
              <a:t>lar	doğrultu</a:t>
            </a:r>
            <a:r>
              <a:rPr sz="2400" spc="5" dirty="0">
                <a:latin typeface="Times New Roman"/>
                <a:cs typeface="Times New Roman"/>
              </a:rPr>
              <a:t>s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nda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eydana  getirilen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ise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insan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yapısı</a:t>
            </a:r>
            <a:r>
              <a:rPr sz="24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sistemler</a:t>
            </a:r>
            <a:r>
              <a:rPr sz="24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denir.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 marR="3146425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Bir </a:t>
            </a:r>
            <a:r>
              <a:rPr sz="2400" spc="-5" dirty="0">
                <a:latin typeface="Times New Roman"/>
                <a:cs typeface="Times New Roman"/>
              </a:rPr>
              <a:t>işletme </a:t>
            </a:r>
            <a:r>
              <a:rPr sz="2400" dirty="0">
                <a:latin typeface="Times New Roman"/>
                <a:cs typeface="Times New Roman"/>
              </a:rPr>
              <a:t>ya da </a:t>
            </a:r>
            <a:r>
              <a:rPr sz="2400" spc="-5" dirty="0">
                <a:latin typeface="Times New Roman"/>
                <a:cs typeface="Times New Roman"/>
              </a:rPr>
              <a:t>işletmeyi </a:t>
            </a:r>
            <a:r>
              <a:rPr sz="2400" dirty="0">
                <a:latin typeface="Times New Roman"/>
                <a:cs typeface="Times New Roman"/>
              </a:rPr>
              <a:t>de </a:t>
            </a:r>
            <a:r>
              <a:rPr sz="2400" spc="-5" dirty="0">
                <a:latin typeface="Times New Roman"/>
                <a:cs typeface="Times New Roman"/>
              </a:rPr>
              <a:t>içine </a:t>
            </a:r>
            <a:r>
              <a:rPr sz="2400" dirty="0">
                <a:latin typeface="Times New Roman"/>
                <a:cs typeface="Times New Roman"/>
              </a:rPr>
              <a:t> alan </a:t>
            </a:r>
            <a:r>
              <a:rPr sz="2400" spc="-5" dirty="0">
                <a:latin typeface="Times New Roman"/>
                <a:cs typeface="Times New Roman"/>
              </a:rPr>
              <a:t>ekonomik </a:t>
            </a:r>
            <a:r>
              <a:rPr sz="2400" dirty="0">
                <a:latin typeface="Times New Roman"/>
                <a:cs typeface="Times New Roman"/>
              </a:rPr>
              <a:t>sistem insan yapısı bir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sistemdir.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Güneş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sistemi</a:t>
            </a:r>
            <a:r>
              <a:rPr sz="2400" dirty="0">
                <a:latin typeface="Times New Roman"/>
                <a:cs typeface="Times New Roman"/>
              </a:rPr>
              <a:t> ya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da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dünyamızdaki </a:t>
            </a:r>
            <a:r>
              <a:rPr sz="2400" dirty="0">
                <a:latin typeface="Times New Roman"/>
                <a:cs typeface="Times New Roman"/>
              </a:rPr>
              <a:t>tabi </a:t>
            </a:r>
            <a:r>
              <a:rPr sz="2400" spc="-5" dirty="0">
                <a:latin typeface="Times New Roman"/>
                <a:cs typeface="Times New Roman"/>
              </a:rPr>
              <a:t>hayat ise doğal bir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sistemdir.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91555" y="3281121"/>
            <a:ext cx="3212465" cy="2952115"/>
            <a:chOff x="5591555" y="3281121"/>
            <a:chExt cx="3212465" cy="295211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1555" y="3281121"/>
              <a:ext cx="3212465" cy="29519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6627" y="3476243"/>
              <a:ext cx="2642616" cy="2382011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8180"/>
            <a:ext cx="6071235" cy="1009650"/>
            <a:chOff x="574548" y="678180"/>
            <a:chExt cx="607123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2293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4004"/>
              <a:ext cx="1515618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6880" y="794004"/>
              <a:ext cx="976121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3996" y="678180"/>
              <a:ext cx="928878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9568" y="794004"/>
              <a:ext cx="1847850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8412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67783" y="794004"/>
              <a:ext cx="2277617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5862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380CF4"/>
                </a:solidFill>
              </a:rPr>
              <a:t>S</a:t>
            </a:r>
            <a:r>
              <a:rPr spc="-80" dirty="0">
                <a:solidFill>
                  <a:srgbClr val="380CF4"/>
                </a:solidFill>
              </a:rPr>
              <a:t>TATİK</a:t>
            </a:r>
            <a:r>
              <a:rPr spc="95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75" dirty="0">
                <a:solidFill>
                  <a:srgbClr val="380CF4"/>
                </a:solidFill>
              </a:rPr>
              <a:t> </a:t>
            </a:r>
            <a:r>
              <a:rPr sz="3600" spc="10" dirty="0">
                <a:solidFill>
                  <a:srgbClr val="380CF4"/>
                </a:solidFill>
              </a:rPr>
              <a:t>D</a:t>
            </a:r>
            <a:r>
              <a:rPr spc="10" dirty="0">
                <a:solidFill>
                  <a:srgbClr val="380CF4"/>
                </a:solidFill>
              </a:rPr>
              <a:t>İNAMİK</a:t>
            </a:r>
            <a:r>
              <a:rPr spc="170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7804150" cy="286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Çevredekileri değişmelere karşın durumunu </a:t>
            </a:r>
            <a:r>
              <a:rPr sz="2400" dirty="0">
                <a:latin typeface="Times New Roman"/>
                <a:cs typeface="Times New Roman"/>
              </a:rPr>
              <a:t>koruyan </a:t>
            </a:r>
            <a:r>
              <a:rPr sz="2400" spc="-5" dirty="0">
                <a:latin typeface="Times New Roman"/>
                <a:cs typeface="Times New Roman"/>
              </a:rPr>
              <a:t>sistemler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statik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olarak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adlandırılırken,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çevredeki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değişikliklere </a:t>
            </a:r>
            <a:r>
              <a:rPr sz="2400" dirty="0">
                <a:latin typeface="Times New Roman"/>
                <a:cs typeface="Times New Roman"/>
              </a:rPr>
              <a:t> göre </a:t>
            </a:r>
            <a:r>
              <a:rPr sz="2400" spc="-5" dirty="0">
                <a:latin typeface="Times New Roman"/>
                <a:cs typeface="Times New Roman"/>
              </a:rPr>
              <a:t>zaman </a:t>
            </a:r>
            <a:r>
              <a:rPr sz="2400" dirty="0">
                <a:latin typeface="Times New Roman"/>
                <a:cs typeface="Times New Roman"/>
              </a:rPr>
              <a:t>içinde </a:t>
            </a:r>
            <a:r>
              <a:rPr sz="2400" spc="-5" dirty="0">
                <a:latin typeface="Times New Roman"/>
                <a:cs typeface="Times New Roman"/>
              </a:rPr>
              <a:t>değişikliğe </a:t>
            </a:r>
            <a:r>
              <a:rPr sz="2400" dirty="0">
                <a:latin typeface="Times New Roman"/>
                <a:cs typeface="Times New Roman"/>
              </a:rPr>
              <a:t>uğrayan </a:t>
            </a:r>
            <a:r>
              <a:rPr sz="2400" spc="-5" dirty="0">
                <a:latin typeface="Times New Roman"/>
                <a:cs typeface="Times New Roman"/>
              </a:rPr>
              <a:t>sistemler ise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dinamik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sistemler</a:t>
            </a:r>
            <a:r>
              <a:rPr sz="24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olarak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adlandırılır.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165"/>
              </a:spcBef>
            </a:pPr>
            <a:r>
              <a:rPr sz="2400" spc="-5" dirty="0">
                <a:latin typeface="Times New Roman"/>
                <a:cs typeface="Times New Roman"/>
              </a:rPr>
              <a:t>Dinamik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geri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besleme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mekanizması</a:t>
            </a:r>
            <a:r>
              <a:rPr sz="2400" spc="-5" dirty="0">
                <a:latin typeface="Times New Roman"/>
                <a:cs typeface="Times New Roman"/>
              </a:rPr>
              <a:t> sayesinde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kendisini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çevredeki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değişken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parametrelere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uydurur.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Statik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uzun </a:t>
            </a:r>
            <a:r>
              <a:rPr sz="2400" spc="-5" dirty="0">
                <a:latin typeface="Times New Roman"/>
                <a:cs typeface="Times New Roman"/>
              </a:rPr>
              <a:t>müddet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durumlarını</a:t>
            </a:r>
            <a:r>
              <a:rPr sz="2400" spc="-15" dirty="0">
                <a:latin typeface="Times New Roman"/>
                <a:cs typeface="Times New Roman"/>
              </a:rPr>
              <a:t> korurlar.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8180"/>
            <a:ext cx="6071235" cy="1009650"/>
            <a:chOff x="574548" y="678180"/>
            <a:chExt cx="607123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2293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4004"/>
              <a:ext cx="1515618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6880" y="794004"/>
              <a:ext cx="976121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3996" y="678180"/>
              <a:ext cx="928878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9568" y="794004"/>
              <a:ext cx="1847850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8412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67783" y="794004"/>
              <a:ext cx="2277617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58623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>
                <a:solidFill>
                  <a:srgbClr val="380CF4"/>
                </a:solidFill>
              </a:rPr>
              <a:t>S</a:t>
            </a:r>
            <a:r>
              <a:rPr spc="-80" dirty="0">
                <a:solidFill>
                  <a:srgbClr val="380CF4"/>
                </a:solidFill>
              </a:rPr>
              <a:t>TATİK</a:t>
            </a:r>
            <a:r>
              <a:rPr spc="95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75" dirty="0">
                <a:solidFill>
                  <a:srgbClr val="380CF4"/>
                </a:solidFill>
              </a:rPr>
              <a:t> </a:t>
            </a:r>
            <a:r>
              <a:rPr sz="3600" spc="10" dirty="0">
                <a:solidFill>
                  <a:srgbClr val="380CF4"/>
                </a:solidFill>
              </a:rPr>
              <a:t>D</a:t>
            </a:r>
            <a:r>
              <a:rPr spc="10" dirty="0">
                <a:solidFill>
                  <a:srgbClr val="380CF4"/>
                </a:solidFill>
              </a:rPr>
              <a:t>İNAMİK</a:t>
            </a:r>
            <a:r>
              <a:rPr spc="170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7803515" cy="322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Örneğin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işletme,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çevredeki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arz</a:t>
            </a:r>
            <a:r>
              <a:rPr sz="2400" spc="-5" dirty="0">
                <a:latin typeface="Times New Roman"/>
                <a:cs typeface="Times New Roman"/>
              </a:rPr>
              <a:t> 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talep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gibi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değişken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parametrelerin zaman içindeki durumuna </a:t>
            </a:r>
            <a:r>
              <a:rPr sz="2400" dirty="0">
                <a:latin typeface="Times New Roman"/>
                <a:cs typeface="Times New Roman"/>
              </a:rPr>
              <a:t>göre </a:t>
            </a:r>
            <a:r>
              <a:rPr sz="2400" spc="-5" dirty="0">
                <a:latin typeface="Times New Roman"/>
                <a:cs typeface="Times New Roman"/>
              </a:rPr>
              <a:t>kendisini sürekli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değiştirmek </a:t>
            </a:r>
            <a:r>
              <a:rPr sz="2400" dirty="0">
                <a:latin typeface="Times New Roman"/>
                <a:cs typeface="Times New Roman"/>
              </a:rPr>
              <a:t>ve </a:t>
            </a:r>
            <a:r>
              <a:rPr sz="2400" spc="-5" dirty="0">
                <a:latin typeface="Times New Roman"/>
                <a:cs typeface="Times New Roman"/>
              </a:rPr>
              <a:t>ayarlamak durumunda </a:t>
            </a:r>
            <a:r>
              <a:rPr sz="2400" dirty="0">
                <a:latin typeface="Times New Roman"/>
                <a:cs typeface="Times New Roman"/>
              </a:rPr>
              <a:t>olduğu </a:t>
            </a:r>
            <a:r>
              <a:rPr sz="2400" spc="-5" dirty="0">
                <a:latin typeface="Times New Roman"/>
                <a:cs typeface="Times New Roman"/>
              </a:rPr>
              <a:t>için dinamik </a:t>
            </a:r>
            <a:r>
              <a:rPr sz="2400" dirty="0">
                <a:latin typeface="Times New Roman"/>
                <a:cs typeface="Times New Roman"/>
              </a:rPr>
              <a:t>bir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sistemdir.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165"/>
              </a:spcBef>
            </a:pPr>
            <a:r>
              <a:rPr sz="2400" spc="-5" dirty="0">
                <a:latin typeface="Times New Roman"/>
                <a:cs typeface="Times New Roman"/>
              </a:rPr>
              <a:t>Güneş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sistemimiz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ise,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bizim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zaman</a:t>
            </a:r>
            <a:r>
              <a:rPr sz="2400" spc="-5" dirty="0">
                <a:latin typeface="Times New Roman"/>
                <a:cs typeface="Times New Roman"/>
              </a:rPr>
              <a:t> ölçeğimiz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içinde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düşünüldüğünde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hemen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hemen</a:t>
            </a:r>
            <a:r>
              <a:rPr sz="2400" spc="5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hiçbir</a:t>
            </a:r>
            <a:r>
              <a:rPr sz="2400" spc="5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değişikliğe</a:t>
            </a:r>
            <a:r>
              <a:rPr sz="2400" spc="5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uğramadan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seyrini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sürdürmektedir.</a:t>
            </a:r>
            <a:r>
              <a:rPr sz="2400" spc="5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Güneş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sistemi</a:t>
            </a:r>
            <a:r>
              <a:rPr sz="2400" dirty="0">
                <a:latin typeface="Times New Roman"/>
                <a:cs typeface="Times New Roman"/>
              </a:rPr>
              <a:t> bu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açıdan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statik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örnek olarak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verilebilir.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548" y="678180"/>
            <a:ext cx="5685790" cy="1009650"/>
            <a:chOff x="574548" y="678180"/>
            <a:chExt cx="5685790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40" y="952293"/>
              <a:ext cx="237108" cy="3563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548" y="794004"/>
              <a:ext cx="1497330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8592" y="794004"/>
              <a:ext cx="976121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34183" y="678180"/>
              <a:ext cx="852678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3555" y="794004"/>
              <a:ext cx="1558290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2840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2212" y="794004"/>
              <a:ext cx="2277617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5478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380CF4"/>
                </a:solidFill>
              </a:rPr>
              <a:t>S</a:t>
            </a:r>
            <a:r>
              <a:rPr spc="10" dirty="0">
                <a:solidFill>
                  <a:srgbClr val="380CF4"/>
                </a:solidFill>
              </a:rPr>
              <a:t>OYUT</a:t>
            </a:r>
            <a:r>
              <a:rPr spc="45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55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OMUT</a:t>
            </a:r>
            <a:r>
              <a:rPr spc="120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7804784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Eğer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bir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somut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öğelerden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meydana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geliyorsa</a:t>
            </a:r>
            <a:r>
              <a:rPr sz="2400" spc="2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sisteme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somut</a:t>
            </a:r>
            <a:r>
              <a:rPr sz="24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r>
              <a:rPr sz="24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denir.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160"/>
              </a:spcBef>
            </a:pPr>
            <a:r>
              <a:rPr sz="2400" dirty="0">
                <a:latin typeface="Times New Roman"/>
                <a:cs typeface="Times New Roman"/>
              </a:rPr>
              <a:t>Tüm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elemanları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kavramlardan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oluşan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ise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soyut</a:t>
            </a:r>
            <a:r>
              <a:rPr sz="2400" i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olarak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adlandırılır.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160"/>
              </a:spcBef>
            </a:pPr>
            <a:r>
              <a:rPr sz="2400" dirty="0">
                <a:latin typeface="Times New Roman"/>
                <a:cs typeface="Times New Roman"/>
              </a:rPr>
              <a:t>Buna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göre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somut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kavramlardan</a:t>
            </a:r>
            <a:r>
              <a:rPr sz="2400" dirty="0">
                <a:latin typeface="Times New Roman"/>
                <a:cs typeface="Times New Roman"/>
              </a:rPr>
              <a:t> ve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fiziksel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nesnelerden </a:t>
            </a:r>
            <a:r>
              <a:rPr sz="2400" dirty="0">
                <a:latin typeface="Times New Roman"/>
                <a:cs typeface="Times New Roman"/>
              </a:rPr>
              <a:t>oluşuyor </a:t>
            </a:r>
            <a:r>
              <a:rPr sz="2400" spc="-20" dirty="0">
                <a:latin typeface="Times New Roman"/>
                <a:cs typeface="Times New Roman"/>
              </a:rPr>
              <a:t>olabilir. </a:t>
            </a:r>
            <a:r>
              <a:rPr sz="2400" dirty="0">
                <a:latin typeface="Times New Roman"/>
                <a:cs typeface="Times New Roman"/>
              </a:rPr>
              <a:t>Akla ilk </a:t>
            </a:r>
            <a:r>
              <a:rPr sz="2400" spc="-5" dirty="0">
                <a:latin typeface="Times New Roman"/>
                <a:cs typeface="Times New Roman"/>
              </a:rPr>
              <a:t>etapta gelen sistemlerin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hemen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hepsi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somut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sistemlerdir;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işletme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gibi.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Soyut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sistemlere</a:t>
            </a:r>
            <a:r>
              <a:rPr sz="2400" dirty="0">
                <a:latin typeface="Times New Roman"/>
                <a:cs typeface="Times New Roman"/>
              </a:rPr>
              <a:t> örnek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olarak</a:t>
            </a:r>
            <a:r>
              <a:rPr sz="2400" dirty="0">
                <a:latin typeface="Times New Roman"/>
                <a:cs typeface="Times New Roman"/>
              </a:rPr>
              <a:t> ise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basit</a:t>
            </a:r>
            <a:r>
              <a:rPr sz="2400" dirty="0">
                <a:latin typeface="Times New Roman"/>
                <a:cs typeface="Times New Roman"/>
              </a:rPr>
              <a:t> bir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bilgisayar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programı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verilebilir.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Soyut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sistemler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için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diğer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örnek</a:t>
            </a:r>
            <a:r>
              <a:rPr sz="2400" dirty="0">
                <a:latin typeface="Times New Roman"/>
                <a:cs typeface="Times New Roman"/>
              </a:rPr>
              <a:t> de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felsefe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sistemi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olabilir.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7045" y="678180"/>
            <a:ext cx="6243955" cy="1009650"/>
            <a:chOff x="557045" y="678180"/>
            <a:chExt cx="624395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45" y="961430"/>
              <a:ext cx="305550" cy="3426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4839" y="794004"/>
              <a:ext cx="1294637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7716" y="794004"/>
              <a:ext cx="976122" cy="81762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3308" y="678180"/>
              <a:ext cx="928878" cy="10096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879" y="794004"/>
              <a:ext cx="2172462" cy="81762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3859" y="678180"/>
              <a:ext cx="852677" cy="10096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3232" y="794004"/>
              <a:ext cx="2277617" cy="817626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35940" y="797178"/>
            <a:ext cx="60178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>
                <a:solidFill>
                  <a:srgbClr val="380CF4"/>
                </a:solidFill>
              </a:rPr>
              <a:t>B</a:t>
            </a:r>
            <a:r>
              <a:rPr spc="10" dirty="0">
                <a:solidFill>
                  <a:srgbClr val="380CF4"/>
                </a:solidFill>
              </a:rPr>
              <a:t>ASİT</a:t>
            </a:r>
            <a:r>
              <a:rPr spc="60" dirty="0">
                <a:solidFill>
                  <a:srgbClr val="380CF4"/>
                </a:solidFill>
              </a:rPr>
              <a:t> </a:t>
            </a:r>
            <a:r>
              <a:rPr spc="15" dirty="0">
                <a:solidFill>
                  <a:srgbClr val="380CF4"/>
                </a:solidFill>
              </a:rPr>
              <a:t>VE</a:t>
            </a:r>
            <a:r>
              <a:rPr spc="160" dirty="0">
                <a:solidFill>
                  <a:srgbClr val="380CF4"/>
                </a:solidFill>
              </a:rPr>
              <a:t> </a:t>
            </a:r>
            <a:r>
              <a:rPr sz="3600" spc="10" dirty="0">
                <a:solidFill>
                  <a:srgbClr val="380CF4"/>
                </a:solidFill>
              </a:rPr>
              <a:t>K</a:t>
            </a:r>
            <a:r>
              <a:rPr spc="10" dirty="0">
                <a:solidFill>
                  <a:srgbClr val="380CF4"/>
                </a:solidFill>
              </a:rPr>
              <a:t>ARMAŞIK</a:t>
            </a:r>
            <a:r>
              <a:rPr spc="170" dirty="0">
                <a:solidFill>
                  <a:srgbClr val="380CF4"/>
                </a:solidFill>
              </a:rPr>
              <a:t> </a:t>
            </a:r>
            <a:r>
              <a:rPr sz="3600" spc="15" dirty="0">
                <a:solidFill>
                  <a:srgbClr val="380CF4"/>
                </a:solidFill>
              </a:rPr>
              <a:t>S</a:t>
            </a:r>
            <a:r>
              <a:rPr spc="15" dirty="0">
                <a:solidFill>
                  <a:srgbClr val="380CF4"/>
                </a:solidFill>
              </a:rPr>
              <a:t>İSTEMLER</a:t>
            </a:r>
            <a:endParaRPr sz="36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691692" y="1622501"/>
            <a:ext cx="7804150" cy="2129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Sistemde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çok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az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öğe</a:t>
            </a:r>
            <a:r>
              <a:rPr sz="2400" spc="3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</a:t>
            </a:r>
            <a:r>
              <a:rPr sz="2400" spc="3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ilişki</a:t>
            </a:r>
            <a:r>
              <a:rPr sz="2400" spc="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varsa,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buna</a:t>
            </a:r>
            <a:r>
              <a:rPr sz="2400" spc="39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basit</a:t>
            </a:r>
            <a:r>
              <a:rPr sz="2400" i="1" spc="3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sistem</a:t>
            </a:r>
            <a:r>
              <a:rPr sz="2400" i="1" spc="3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denir.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Örneğin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çörek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pişirme işlemi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sistemdir.</a:t>
            </a:r>
            <a:endParaRPr sz="24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  <a:spcBef>
                <a:spcPts val="2160"/>
              </a:spcBef>
            </a:pP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Karmaşık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sistemler</a:t>
            </a:r>
            <a:r>
              <a:rPr sz="2400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ise,</a:t>
            </a:r>
            <a:r>
              <a:rPr sz="2400" dirty="0">
                <a:latin typeface="Times New Roman"/>
                <a:cs typeface="Times New Roman"/>
              </a:rPr>
              <a:t> çok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fazla</a:t>
            </a:r>
            <a:r>
              <a:rPr sz="2400" dirty="0">
                <a:latin typeface="Times New Roman"/>
                <a:cs typeface="Times New Roman"/>
              </a:rPr>
              <a:t> öğe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ve</a:t>
            </a:r>
            <a:r>
              <a:rPr sz="2400" spc="-5" dirty="0">
                <a:latin typeface="Times New Roman"/>
                <a:cs typeface="Times New Roman"/>
              </a:rPr>
              <a:t> ilişki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barındıran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sistemlerdir.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Makine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imalatı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yapan</a:t>
            </a:r>
            <a:r>
              <a:rPr sz="2400" dirty="0">
                <a:latin typeface="Times New Roman"/>
                <a:cs typeface="Times New Roman"/>
              </a:rPr>
              <a:t> bir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işletme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karmaşık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bir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sistem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sayılabilir.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650824"/>
            <a:ext cx="33972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25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150" spc="325" dirty="0">
                <a:solidFill>
                  <a:srgbClr val="565F6C"/>
                </a:solidFill>
                <a:latin typeface="Cambria"/>
                <a:cs typeface="Cambria"/>
              </a:rPr>
              <a:t>KUL</a:t>
            </a:r>
            <a:r>
              <a:rPr sz="2150" spc="24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6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150" spc="26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150" spc="24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70" dirty="0">
                <a:solidFill>
                  <a:srgbClr val="565F6C"/>
                </a:solidFill>
                <a:latin typeface="Cambria"/>
                <a:cs typeface="Cambria"/>
              </a:rPr>
              <a:t>Ş</a:t>
            </a:r>
            <a:r>
              <a:rPr sz="2150" spc="270" dirty="0">
                <a:solidFill>
                  <a:srgbClr val="565F6C"/>
                </a:solidFill>
                <a:latin typeface="Cambria"/>
                <a:cs typeface="Cambria"/>
              </a:rPr>
              <a:t>EMASI</a:t>
            </a:r>
            <a:endParaRPr sz="21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1600200"/>
            <a:ext cx="6322223" cy="42480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pic>
        <p:nvPicPr>
          <p:cNvPr id="6" name="Resim 5" descr="Üniversite kitaplığında çok uzun bir kitap yığınını taşıyan ve yüzlerini karartan bir kişi">
            <a:extLst>
              <a:ext uri="{FF2B5EF4-FFF2-40B4-BE49-F238E27FC236}">
                <a16:creationId xmlns:a16="http://schemas.microsoft.com/office/drawing/2014/main" id="{3CC8C6C2-6148-86ED-AE7D-0B05CE2B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057400"/>
            <a:ext cx="1038494" cy="1502253"/>
          </a:xfrm>
          <a:prstGeom prst="rect">
            <a:avLst/>
          </a:prstGeom>
        </p:spPr>
      </p:pic>
      <p:pic>
        <p:nvPicPr>
          <p:cNvPr id="8" name="Resim 7" descr="Kitaplıkta ders çalışan kadın">
            <a:extLst>
              <a:ext uri="{FF2B5EF4-FFF2-40B4-BE49-F238E27FC236}">
                <a16:creationId xmlns:a16="http://schemas.microsoft.com/office/drawing/2014/main" id="{B40A665B-83FC-F81E-B212-942D257B9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038600"/>
            <a:ext cx="1828799" cy="155225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506425"/>
            <a:ext cx="339788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25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150" spc="325" dirty="0">
                <a:solidFill>
                  <a:srgbClr val="565F6C"/>
                </a:solidFill>
                <a:latin typeface="Cambria"/>
                <a:cs typeface="Cambria"/>
              </a:rPr>
              <a:t>KUL</a:t>
            </a:r>
            <a:r>
              <a:rPr sz="2150" spc="24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6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150" spc="26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150" spc="24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70" dirty="0">
                <a:solidFill>
                  <a:srgbClr val="565F6C"/>
                </a:solidFill>
                <a:latin typeface="Cambria"/>
                <a:cs typeface="Cambria"/>
              </a:rPr>
              <a:t>Ş</a:t>
            </a:r>
            <a:r>
              <a:rPr sz="2150" spc="270" dirty="0">
                <a:solidFill>
                  <a:srgbClr val="565F6C"/>
                </a:solidFill>
                <a:latin typeface="Cambria"/>
                <a:cs typeface="Cambria"/>
              </a:rPr>
              <a:t>EMASI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91692" y="1878136"/>
            <a:ext cx="7910195" cy="2450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0" dirty="0">
                <a:latin typeface="Cambria"/>
                <a:cs typeface="Cambria"/>
              </a:rPr>
              <a:t>İlişkili</a:t>
            </a:r>
            <a:r>
              <a:rPr sz="2400" spc="95" dirty="0">
                <a:latin typeface="Cambria"/>
                <a:cs typeface="Cambria"/>
              </a:rPr>
              <a:t> elemanlar: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öğrenci,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öğretmen,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ders,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bölüm</a:t>
            </a:r>
            <a:endParaRPr sz="2400">
              <a:latin typeface="Cambria"/>
              <a:cs typeface="Cambria"/>
            </a:endParaRPr>
          </a:p>
          <a:p>
            <a:pPr marL="286385" marR="417195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60" dirty="0">
                <a:latin typeface="Cambria"/>
                <a:cs typeface="Cambria"/>
              </a:rPr>
              <a:t>Ortak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hedef: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okula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gelen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öğrencileri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gerek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teknikte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gerekse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sosyal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olarak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yetiştirmek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ve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mezun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etmek.</a:t>
            </a:r>
            <a:endParaRPr sz="2400">
              <a:latin typeface="Cambria"/>
              <a:cs typeface="Cambri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10" dirty="0">
                <a:latin typeface="Cambria"/>
                <a:cs typeface="Cambria"/>
              </a:rPr>
              <a:t>Birlikte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çalışma: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0" dirty="0">
                <a:latin typeface="Cambria"/>
                <a:cs typeface="Cambria"/>
              </a:rPr>
              <a:t>Bu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amaçta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okul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binası,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dersler, </a:t>
            </a:r>
            <a:r>
              <a:rPr sz="2400" spc="75" dirty="0">
                <a:latin typeface="Cambria"/>
                <a:cs typeface="Cambria"/>
              </a:rPr>
              <a:t> bölümler,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öğrenciler,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öğretmenler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ortak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hedefe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hizmet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etmek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için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birlikte</a:t>
            </a:r>
            <a:r>
              <a:rPr sz="2400" spc="105" dirty="0">
                <a:latin typeface="Cambria"/>
                <a:cs typeface="Cambria"/>
              </a:rPr>
              <a:t> çalışmaları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gerekmektedir.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578358"/>
            <a:ext cx="33978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25" dirty="0">
                <a:solidFill>
                  <a:srgbClr val="565F6C"/>
                </a:solidFill>
                <a:latin typeface="Cambria"/>
                <a:cs typeface="Cambria"/>
              </a:rPr>
              <a:t>O</a:t>
            </a:r>
            <a:r>
              <a:rPr sz="2150" spc="325" dirty="0">
                <a:solidFill>
                  <a:srgbClr val="565F6C"/>
                </a:solidFill>
                <a:latin typeface="Cambria"/>
                <a:cs typeface="Cambria"/>
              </a:rPr>
              <a:t>KUL</a:t>
            </a:r>
            <a:r>
              <a:rPr sz="2150" spc="24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65" dirty="0">
                <a:solidFill>
                  <a:srgbClr val="565F6C"/>
                </a:solidFill>
                <a:latin typeface="Cambria"/>
                <a:cs typeface="Cambria"/>
              </a:rPr>
              <a:t>S</a:t>
            </a:r>
            <a:r>
              <a:rPr sz="2150" spc="265" dirty="0">
                <a:solidFill>
                  <a:srgbClr val="565F6C"/>
                </a:solidFill>
                <a:latin typeface="Cambria"/>
                <a:cs typeface="Cambria"/>
              </a:rPr>
              <a:t>İSTEM</a:t>
            </a:r>
            <a:r>
              <a:rPr sz="2150" spc="245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2700" spc="270" dirty="0">
                <a:solidFill>
                  <a:srgbClr val="565F6C"/>
                </a:solidFill>
                <a:latin typeface="Cambria"/>
                <a:cs typeface="Cambria"/>
              </a:rPr>
              <a:t>Ş</a:t>
            </a:r>
            <a:r>
              <a:rPr sz="2150" spc="270" dirty="0">
                <a:solidFill>
                  <a:srgbClr val="565F6C"/>
                </a:solidFill>
                <a:latin typeface="Cambria"/>
                <a:cs typeface="Cambria"/>
              </a:rPr>
              <a:t>EMASI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437003"/>
            <a:ext cx="6615430" cy="13519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25" dirty="0">
                <a:latin typeface="Cambria"/>
                <a:cs typeface="Cambria"/>
              </a:rPr>
              <a:t>Sistem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için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girdi: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öğrenci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05" dirty="0">
                <a:latin typeface="Cambria"/>
                <a:cs typeface="Cambria"/>
              </a:rPr>
              <a:t>İşlem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süreci: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eğitim,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öğretim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süreci</a:t>
            </a:r>
            <a:endParaRPr sz="24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sz="2400" spc="145" dirty="0">
                <a:latin typeface="Cambria"/>
                <a:cs typeface="Cambria"/>
              </a:rPr>
              <a:t>Çıktı: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yetişmis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bireyleri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olarak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düşünülebilir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1968" y="676655"/>
            <a:ext cx="6149975" cy="1009650"/>
            <a:chOff x="551968" y="676655"/>
            <a:chExt cx="6149975" cy="1009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968" y="959906"/>
              <a:ext cx="350523" cy="3426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456" y="792479"/>
              <a:ext cx="3128010" cy="81762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459" y="676655"/>
              <a:ext cx="928877" cy="10096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5031" y="792479"/>
              <a:ext cx="2504693" cy="817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6420" y="676655"/>
              <a:ext cx="1055370" cy="100965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5940" y="795654"/>
            <a:ext cx="58648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Y</a:t>
            </a:r>
            <a:r>
              <a:rPr spc="-15" dirty="0"/>
              <a:t>ARARLANILAN</a:t>
            </a:r>
            <a:r>
              <a:rPr spc="110" dirty="0"/>
              <a:t> </a:t>
            </a:r>
            <a:r>
              <a:rPr sz="3600" spc="-15" dirty="0"/>
              <a:t>K</a:t>
            </a:r>
            <a:r>
              <a:rPr spc="-15" dirty="0"/>
              <a:t>AYNAKLAR</a:t>
            </a:r>
            <a:r>
              <a:rPr sz="3600" spc="-15" dirty="0"/>
              <a:t>…</a:t>
            </a:r>
            <a:endParaRPr sz="360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691692" y="1622501"/>
            <a:ext cx="780351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Font typeface="Arial MT"/>
              <a:buChar char="•"/>
              <a:tabLst>
                <a:tab pos="287020" algn="l"/>
              </a:tabLst>
            </a:pPr>
            <a:r>
              <a:rPr sz="2400" i="1" spc="-5" dirty="0">
                <a:latin typeface="Times New Roman"/>
                <a:cs typeface="Times New Roman"/>
              </a:rPr>
              <a:t>“Bilgisayar Bilimlerinde Sistem Analizi </a:t>
            </a:r>
            <a:r>
              <a:rPr sz="2400" i="1" dirty="0">
                <a:latin typeface="Times New Roman"/>
                <a:cs typeface="Times New Roman"/>
              </a:rPr>
              <a:t>ve </a:t>
            </a:r>
            <a:r>
              <a:rPr sz="2400" i="1" spc="-25" dirty="0">
                <a:latin typeface="Times New Roman"/>
                <a:cs typeface="Times New Roman"/>
              </a:rPr>
              <a:t>Tasarımı”</a:t>
            </a:r>
            <a:r>
              <a:rPr sz="2400" spc="-25" dirty="0">
                <a:latin typeface="Times New Roman"/>
                <a:cs typeface="Times New Roman"/>
              </a:rPr>
              <a:t>, </a:t>
            </a:r>
            <a:r>
              <a:rPr sz="2400" spc="-5" dirty="0">
                <a:latin typeface="Times New Roman"/>
                <a:cs typeface="Times New Roman"/>
              </a:rPr>
              <a:t>Prof.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Dr. </a:t>
            </a:r>
            <a:r>
              <a:rPr sz="2400" dirty="0">
                <a:latin typeface="Times New Roman"/>
                <a:cs typeface="Times New Roman"/>
              </a:rPr>
              <a:t>Oya </a:t>
            </a:r>
            <a:r>
              <a:rPr sz="2400" spc="-5" dirty="0">
                <a:latin typeface="Times New Roman"/>
                <a:cs typeface="Times New Roman"/>
              </a:rPr>
              <a:t>Kalıpsız, </a:t>
            </a:r>
            <a:r>
              <a:rPr sz="2400" spc="-60" dirty="0">
                <a:latin typeface="Times New Roman"/>
                <a:cs typeface="Times New Roman"/>
              </a:rPr>
              <a:t>Ayşe </a:t>
            </a:r>
            <a:r>
              <a:rPr sz="2400" spc="-5" dirty="0">
                <a:latin typeface="Times New Roman"/>
                <a:cs typeface="Times New Roman"/>
              </a:rPr>
              <a:t>Buharalı, </a:t>
            </a:r>
            <a:r>
              <a:rPr sz="2400" spc="-50" dirty="0">
                <a:latin typeface="Times New Roman"/>
                <a:cs typeface="Times New Roman"/>
              </a:rPr>
              <a:t>Dr. </a:t>
            </a:r>
            <a:r>
              <a:rPr sz="2400" spc="-5" dirty="0">
                <a:latin typeface="Times New Roman"/>
                <a:cs typeface="Times New Roman"/>
              </a:rPr>
              <a:t>Göksel Biricik, Papatya 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Yayıncılık,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2012.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3750</TotalTime>
  <Words>1827</Words>
  <Application>Microsoft Macintosh PowerPoint</Application>
  <PresentationFormat>Ekran Gösterisi (4:3)</PresentationFormat>
  <Paragraphs>263</Paragraphs>
  <Slides>39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39</vt:i4>
      </vt:variant>
    </vt:vector>
  </HeadingPairs>
  <TitlesOfParts>
    <vt:vector size="47" baseType="lpstr">
      <vt:lpstr>Arial</vt:lpstr>
      <vt:lpstr>Arial MT</vt:lpstr>
      <vt:lpstr>Calibri</vt:lpstr>
      <vt:lpstr>Cambria</vt:lpstr>
      <vt:lpstr>Segoe UI Symbol</vt:lpstr>
      <vt:lpstr>Times New Roman</vt:lpstr>
      <vt:lpstr>Wingdings</vt:lpstr>
      <vt:lpstr>Office Theme</vt:lpstr>
      <vt:lpstr>SİSTEM NEDİR?</vt:lpstr>
      <vt:lpstr>SİSTEM KAVRAMI</vt:lpstr>
      <vt:lpstr>SİSTEM KAVRAMI</vt:lpstr>
      <vt:lpstr>SİSTEM KAVRAMI</vt:lpstr>
      <vt:lpstr>SİSTEM KAVRAMI</vt:lpstr>
      <vt:lpstr>SİSTEM KAVRAMININ ORTAYA ÇIKIŞI</vt:lpstr>
      <vt:lpstr>SİSTEM KAVRAMININ ORTAYA ÇIKIŞI</vt:lpstr>
      <vt:lpstr>SİSTEM KAVRAMININ ORTAYA ÇIKIŞI</vt:lpstr>
      <vt:lpstr>SİSTEM YAKLAŞIMININ TEMEL  İLKELERİ</vt:lpstr>
      <vt:lpstr>SİSTEM BİLEŞENLERİ</vt:lpstr>
      <vt:lpstr>PowerPoint Sunusu</vt:lpstr>
      <vt:lpstr>PowerPoint Sunusu</vt:lpstr>
      <vt:lpstr>PowerPoint Sunusu</vt:lpstr>
      <vt:lpstr>PowerPoint Sunusu</vt:lpstr>
      <vt:lpstr>SİSTEMİN ÖZELLİKLERİ</vt:lpstr>
      <vt:lpstr>SİSTEMİN TEMEL BİLEŞENLERİ</vt:lpstr>
      <vt:lpstr>SİSTEMİN ÖZELLİKLERİ</vt:lpstr>
      <vt:lpstr>SİSTEMİN ÖZELLİKLERİ</vt:lpstr>
      <vt:lpstr>SİSTEMİN ÖZELLİKLERİ</vt:lpstr>
      <vt:lpstr>SİSTEMDE GERİ BESLEME</vt:lpstr>
      <vt:lpstr>SİSTEM ÖRNEĞİ</vt:lpstr>
      <vt:lpstr>BİR SİSTEM ÖRNEĞİ: ÜRETİM KONTROL-PLANLAMA SİSTEMİ</vt:lpstr>
      <vt:lpstr>GENEL SİSTEM TEORİSİ</vt:lpstr>
      <vt:lpstr>SİSTEMİN TEMEL BİLEŞENLERİ</vt:lpstr>
      <vt:lpstr>SİSTEM VE ORTAM</vt:lpstr>
      <vt:lpstr>ÖRNEK: SİSTEM HİYERARŞİSİ</vt:lpstr>
      <vt:lpstr>SİSTEM HİYERARŞİSİ</vt:lpstr>
      <vt:lpstr>SİSTEMLERİN SINIFLANDIRMASI</vt:lpstr>
      <vt:lpstr>AÇIK VE KAPALI SİSTEMLER</vt:lpstr>
      <vt:lpstr>CANLI VE CANSIZ SİSTEMLER</vt:lpstr>
      <vt:lpstr>DOĞAL VE İNSAN YAPISI SISTEMLER</vt:lpstr>
      <vt:lpstr>STATİK VE DİNAMİK SİSTEMLER</vt:lpstr>
      <vt:lpstr>STATİK VE DİNAMİK SİSTEMLER</vt:lpstr>
      <vt:lpstr>SOYUT VE SOMUT SİSTEMLER</vt:lpstr>
      <vt:lpstr>BASİT VE KARMAŞIK SİSTEMLER</vt:lpstr>
      <vt:lpstr>OKUL SİSTEM ŞEMASI</vt:lpstr>
      <vt:lpstr>OKUL SİSTEM ŞEMASI</vt:lpstr>
      <vt:lpstr>OKUL SİSTEM ŞEMASI</vt:lpstr>
      <vt:lpstr>YARARLANILAN KAYNAKLAR…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Esra</dc:creator>
  <cp:lastModifiedBy>Fatih Çallı</cp:lastModifiedBy>
  <cp:revision>2</cp:revision>
  <dcterms:created xsi:type="dcterms:W3CDTF">2023-10-26T19:17:49Z</dcterms:created>
  <dcterms:modified xsi:type="dcterms:W3CDTF">2023-10-29T20:33:13Z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2020-11-11T00:00:00Z</vt:filetime>
  </property>
  <property fmtid="{D5CDD505-2E9C-101B-9397-08002B2CF9AE}" pid="3" name="Creator">
    <vt:lpwstr>Microsoft® PowerPoint® Microsoft 365 için</vt:lpwstr>
  </property>
  <property fmtid="{D5CDD505-2E9C-101B-9397-08002B2CF9AE}" pid="4" name="LastSaved">
    <vt:filetime>2023-10-26T00:00:00Z</vt:filetime>
  </property>
</Properties>
</file>