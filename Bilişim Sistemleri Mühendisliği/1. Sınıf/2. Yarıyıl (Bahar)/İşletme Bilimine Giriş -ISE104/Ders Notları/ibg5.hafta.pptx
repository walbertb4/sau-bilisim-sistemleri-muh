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35"/>
  </p:notesMasterIdLst>
  <p:sldIdLst>
    <p:sldId id="256" r:id="rId2"/>
    <p:sldId id="257" r:id="rId3"/>
    <p:sldId id="262" r:id="rId4"/>
    <p:sldId id="259" r:id="rId5"/>
    <p:sldId id="260" r:id="rId6"/>
    <p:sldId id="261" r:id="rId7"/>
    <p:sldId id="263" r:id="rId8"/>
    <p:sldId id="264" r:id="rId9"/>
    <p:sldId id="265" r:id="rId10"/>
    <p:sldId id="266" r:id="rId11"/>
    <p:sldId id="278" r:id="rId12"/>
    <p:sldId id="279" r:id="rId13"/>
    <p:sldId id="267" r:id="rId14"/>
    <p:sldId id="268" r:id="rId15"/>
    <p:sldId id="269" r:id="rId16"/>
    <p:sldId id="270" r:id="rId17"/>
    <p:sldId id="271" r:id="rId18"/>
    <p:sldId id="272" r:id="rId19"/>
    <p:sldId id="273" r:id="rId20"/>
    <p:sldId id="283" r:id="rId21"/>
    <p:sldId id="284" r:id="rId22"/>
    <p:sldId id="274" r:id="rId23"/>
    <p:sldId id="275" r:id="rId24"/>
    <p:sldId id="285" r:id="rId25"/>
    <p:sldId id="286" r:id="rId26"/>
    <p:sldId id="276" r:id="rId27"/>
    <p:sldId id="287" r:id="rId28"/>
    <p:sldId id="280" r:id="rId29"/>
    <p:sldId id="277" r:id="rId30"/>
    <p:sldId id="281" r:id="rId31"/>
    <p:sldId id="288" r:id="rId32"/>
    <p:sldId id="289" r:id="rId33"/>
    <p:sldId id="282"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6864" autoAdjust="0"/>
    <p:restoredTop sz="73758" autoAdjust="0"/>
  </p:normalViewPr>
  <p:slideViewPr>
    <p:cSldViewPr snapToGrid="0">
      <p:cViewPr varScale="1">
        <p:scale>
          <a:sx n="80" d="100"/>
          <a:sy n="80" d="100"/>
        </p:scale>
        <p:origin x="1728" y="184"/>
      </p:cViewPr>
      <p:guideLst/>
    </p:cSldViewPr>
  </p:slideViewPr>
  <p:notesTextViewPr>
    <p:cViewPr>
      <p:scale>
        <a:sx n="1" d="1"/>
        <a:sy n="1" d="1"/>
      </p:scale>
      <p:origin x="0" y="0"/>
    </p:cViewPr>
  </p:notesTextViewPr>
  <p:notesViewPr>
    <p:cSldViewPr snapToGrid="0">
      <p:cViewPr varScale="1">
        <p:scale>
          <a:sx n="84" d="100"/>
          <a:sy n="84" d="100"/>
        </p:scale>
        <p:origin x="3960"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2.png"/><Relationship Id="rId6" Type="http://schemas.openxmlformats.org/officeDocument/2006/relationships/image" Target="../media/image12.svg"/><Relationship Id="rId5" Type="http://schemas.openxmlformats.org/officeDocument/2006/relationships/image" Target="../media/image4.png"/><Relationship Id="rId4" Type="http://schemas.openxmlformats.org/officeDocument/2006/relationships/image" Target="../media/image11.svg"/></Relationships>
</file>

<file path=ppt/diagrams/_rels/data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2.png"/><Relationship Id="rId6" Type="http://schemas.openxmlformats.org/officeDocument/2006/relationships/image" Target="../media/image12.svg"/><Relationship Id="rId5" Type="http://schemas.openxmlformats.org/officeDocument/2006/relationships/image" Target="../media/image4.png"/><Relationship Id="rId4" Type="http://schemas.openxmlformats.org/officeDocument/2006/relationships/image" Target="../media/image1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CDB5A9-C6F8-48CB-BE6A-9619DAE67E3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DF99CCF-9C82-4307-B8E3-56ADDD93E762}">
      <dgm:prSet/>
      <dgm:spPr/>
      <dgm:t>
        <a:bodyPr/>
        <a:lstStyle/>
        <a:p>
          <a:pPr>
            <a:defRPr cap="all"/>
          </a:pPr>
          <a:r>
            <a:rPr lang="tr-TR"/>
            <a:t>1.YÖNETİCİ-LİDER KAVRAMI</a:t>
          </a:r>
          <a:endParaRPr lang="en-US"/>
        </a:p>
      </dgm:t>
    </dgm:pt>
    <dgm:pt modelId="{443BF2C6-939A-448E-99F6-E62792A17B9F}" type="parTrans" cxnId="{1141CEDF-CE6F-4C84-AEB4-CE447B6836CF}">
      <dgm:prSet/>
      <dgm:spPr/>
      <dgm:t>
        <a:bodyPr/>
        <a:lstStyle/>
        <a:p>
          <a:endParaRPr lang="en-US"/>
        </a:p>
      </dgm:t>
    </dgm:pt>
    <dgm:pt modelId="{81D907B6-C475-48C0-8FA8-050780883218}" type="sibTrans" cxnId="{1141CEDF-CE6F-4C84-AEB4-CE447B6836CF}">
      <dgm:prSet/>
      <dgm:spPr/>
      <dgm:t>
        <a:bodyPr/>
        <a:lstStyle/>
        <a:p>
          <a:endParaRPr lang="en-US"/>
        </a:p>
      </dgm:t>
    </dgm:pt>
    <dgm:pt modelId="{CF3F04A4-8C5E-424E-ACEB-25AE5E4855F3}">
      <dgm:prSet/>
      <dgm:spPr/>
      <dgm:t>
        <a:bodyPr/>
        <a:lstStyle/>
        <a:p>
          <a:pPr>
            <a:defRPr cap="all"/>
          </a:pPr>
          <a:r>
            <a:rPr lang="tr-TR"/>
            <a:t>2.ÖRGÜT KAVRAMI</a:t>
          </a:r>
          <a:endParaRPr lang="en-US"/>
        </a:p>
      </dgm:t>
    </dgm:pt>
    <dgm:pt modelId="{873CC791-ABED-451B-B298-A3E9D6764049}" type="parTrans" cxnId="{CEF6ABB3-8695-4D63-8997-BEB4E01F74EE}">
      <dgm:prSet/>
      <dgm:spPr/>
      <dgm:t>
        <a:bodyPr/>
        <a:lstStyle/>
        <a:p>
          <a:endParaRPr lang="en-US"/>
        </a:p>
      </dgm:t>
    </dgm:pt>
    <dgm:pt modelId="{9F216B24-1BD5-47EC-863D-3EC063C09FDC}" type="sibTrans" cxnId="{CEF6ABB3-8695-4D63-8997-BEB4E01F74EE}">
      <dgm:prSet/>
      <dgm:spPr/>
      <dgm:t>
        <a:bodyPr/>
        <a:lstStyle/>
        <a:p>
          <a:endParaRPr lang="en-US"/>
        </a:p>
      </dgm:t>
    </dgm:pt>
    <dgm:pt modelId="{66C43F37-F65A-4743-9132-DA577EF1A8F0}" type="pres">
      <dgm:prSet presAssocID="{75CDB5A9-C6F8-48CB-BE6A-9619DAE67E38}" presName="root" presStyleCnt="0">
        <dgm:presLayoutVars>
          <dgm:dir/>
          <dgm:resizeHandles val="exact"/>
        </dgm:presLayoutVars>
      </dgm:prSet>
      <dgm:spPr/>
    </dgm:pt>
    <dgm:pt modelId="{136C98B6-F2FB-49AE-A5A5-33FF4CE29140}" type="pres">
      <dgm:prSet presAssocID="{6DF99CCF-9C82-4307-B8E3-56ADDD93E762}" presName="compNode" presStyleCnt="0"/>
      <dgm:spPr/>
    </dgm:pt>
    <dgm:pt modelId="{B96CACA8-93B7-484C-8EC5-8C5180011D6E}" type="pres">
      <dgm:prSet presAssocID="{6DF99CCF-9C82-4307-B8E3-56ADDD93E762}" presName="iconBgRect" presStyleLbl="bgShp" presStyleIdx="0" presStyleCnt="2"/>
      <dgm:spPr>
        <a:prstGeom prst="round2DiagRect">
          <a:avLst>
            <a:gd name="adj1" fmla="val 29727"/>
            <a:gd name="adj2" fmla="val 0"/>
          </a:avLst>
        </a:prstGeom>
      </dgm:spPr>
    </dgm:pt>
    <dgm:pt modelId="{FD83C181-B0B7-4DBC-A970-381CA2AC53FA}" type="pres">
      <dgm:prSet presAssocID="{6DF99CCF-9C82-4307-B8E3-56ADDD93E76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ullanıcı"/>
        </a:ext>
      </dgm:extLst>
    </dgm:pt>
    <dgm:pt modelId="{752C1522-A872-4F2B-BE26-68410FB0880B}" type="pres">
      <dgm:prSet presAssocID="{6DF99CCF-9C82-4307-B8E3-56ADDD93E762}" presName="spaceRect" presStyleCnt="0"/>
      <dgm:spPr/>
    </dgm:pt>
    <dgm:pt modelId="{5D9E6989-EC27-4E8F-A3D3-97BD7F3BFE8D}" type="pres">
      <dgm:prSet presAssocID="{6DF99CCF-9C82-4307-B8E3-56ADDD93E762}" presName="textRect" presStyleLbl="revTx" presStyleIdx="0" presStyleCnt="2">
        <dgm:presLayoutVars>
          <dgm:chMax val="1"/>
          <dgm:chPref val="1"/>
        </dgm:presLayoutVars>
      </dgm:prSet>
      <dgm:spPr/>
    </dgm:pt>
    <dgm:pt modelId="{A2E22264-3FDD-4A43-9F29-5ADEE838B234}" type="pres">
      <dgm:prSet presAssocID="{81D907B6-C475-48C0-8FA8-050780883218}" presName="sibTrans" presStyleCnt="0"/>
      <dgm:spPr/>
    </dgm:pt>
    <dgm:pt modelId="{3B19CC4B-7829-443F-9BA0-08EA66D059E4}" type="pres">
      <dgm:prSet presAssocID="{CF3F04A4-8C5E-424E-ACEB-25AE5E4855F3}" presName="compNode" presStyleCnt="0"/>
      <dgm:spPr/>
    </dgm:pt>
    <dgm:pt modelId="{2609082D-DB48-443D-86CF-A5C90CF79ADB}" type="pres">
      <dgm:prSet presAssocID="{CF3F04A4-8C5E-424E-ACEB-25AE5E4855F3}" presName="iconBgRect" presStyleLbl="bgShp" presStyleIdx="1" presStyleCnt="2"/>
      <dgm:spPr>
        <a:prstGeom prst="round2DiagRect">
          <a:avLst>
            <a:gd name="adj1" fmla="val 29727"/>
            <a:gd name="adj2" fmla="val 0"/>
          </a:avLst>
        </a:prstGeom>
      </dgm:spPr>
    </dgm:pt>
    <dgm:pt modelId="{E0D5D485-5FA9-4099-A66B-14ECE3A43C91}" type="pres">
      <dgm:prSet presAssocID="{CF3F04A4-8C5E-424E-ACEB-25AE5E4855F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yerarşi"/>
        </a:ext>
      </dgm:extLst>
    </dgm:pt>
    <dgm:pt modelId="{6DCAC41A-7753-44A3-92B4-3A645E6C456F}" type="pres">
      <dgm:prSet presAssocID="{CF3F04A4-8C5E-424E-ACEB-25AE5E4855F3}" presName="spaceRect" presStyleCnt="0"/>
      <dgm:spPr/>
    </dgm:pt>
    <dgm:pt modelId="{B325E858-208A-4494-88C3-52997A3109B7}" type="pres">
      <dgm:prSet presAssocID="{CF3F04A4-8C5E-424E-ACEB-25AE5E4855F3}" presName="textRect" presStyleLbl="revTx" presStyleIdx="1" presStyleCnt="2">
        <dgm:presLayoutVars>
          <dgm:chMax val="1"/>
          <dgm:chPref val="1"/>
        </dgm:presLayoutVars>
      </dgm:prSet>
      <dgm:spPr/>
    </dgm:pt>
  </dgm:ptLst>
  <dgm:cxnLst>
    <dgm:cxn modelId="{C402A001-A56C-4209-AC44-EDD22B36D085}" type="presOf" srcId="{CF3F04A4-8C5E-424E-ACEB-25AE5E4855F3}" destId="{B325E858-208A-4494-88C3-52997A3109B7}" srcOrd="0" destOrd="0" presId="urn:microsoft.com/office/officeart/2018/5/layout/IconLeafLabelList"/>
    <dgm:cxn modelId="{A8385C30-DA5F-422F-9085-CFA33317A66B}" type="presOf" srcId="{75CDB5A9-C6F8-48CB-BE6A-9619DAE67E38}" destId="{66C43F37-F65A-4743-9132-DA577EF1A8F0}" srcOrd="0" destOrd="0" presId="urn:microsoft.com/office/officeart/2018/5/layout/IconLeafLabelList"/>
    <dgm:cxn modelId="{EBE2E873-3537-4784-B549-6F2C48D8FA23}" type="presOf" srcId="{6DF99CCF-9C82-4307-B8E3-56ADDD93E762}" destId="{5D9E6989-EC27-4E8F-A3D3-97BD7F3BFE8D}" srcOrd="0" destOrd="0" presId="urn:microsoft.com/office/officeart/2018/5/layout/IconLeafLabelList"/>
    <dgm:cxn modelId="{CEF6ABB3-8695-4D63-8997-BEB4E01F74EE}" srcId="{75CDB5A9-C6F8-48CB-BE6A-9619DAE67E38}" destId="{CF3F04A4-8C5E-424E-ACEB-25AE5E4855F3}" srcOrd="1" destOrd="0" parTransId="{873CC791-ABED-451B-B298-A3E9D6764049}" sibTransId="{9F216B24-1BD5-47EC-863D-3EC063C09FDC}"/>
    <dgm:cxn modelId="{1141CEDF-CE6F-4C84-AEB4-CE447B6836CF}" srcId="{75CDB5A9-C6F8-48CB-BE6A-9619DAE67E38}" destId="{6DF99CCF-9C82-4307-B8E3-56ADDD93E762}" srcOrd="0" destOrd="0" parTransId="{443BF2C6-939A-448E-99F6-E62792A17B9F}" sibTransId="{81D907B6-C475-48C0-8FA8-050780883218}"/>
    <dgm:cxn modelId="{034842E9-C5D7-4834-B046-E5F368BF5803}" type="presParOf" srcId="{66C43F37-F65A-4743-9132-DA577EF1A8F0}" destId="{136C98B6-F2FB-49AE-A5A5-33FF4CE29140}" srcOrd="0" destOrd="0" presId="urn:microsoft.com/office/officeart/2018/5/layout/IconLeafLabelList"/>
    <dgm:cxn modelId="{9F02DAB5-0DE4-40F0-B5DB-DEAF015A9816}" type="presParOf" srcId="{136C98B6-F2FB-49AE-A5A5-33FF4CE29140}" destId="{B96CACA8-93B7-484C-8EC5-8C5180011D6E}" srcOrd="0" destOrd="0" presId="urn:microsoft.com/office/officeart/2018/5/layout/IconLeafLabelList"/>
    <dgm:cxn modelId="{2A1A41D0-84A7-4E6A-8485-DBB974E0BB5E}" type="presParOf" srcId="{136C98B6-F2FB-49AE-A5A5-33FF4CE29140}" destId="{FD83C181-B0B7-4DBC-A970-381CA2AC53FA}" srcOrd="1" destOrd="0" presId="urn:microsoft.com/office/officeart/2018/5/layout/IconLeafLabelList"/>
    <dgm:cxn modelId="{8D9F3B74-0D8C-44CC-B1DB-9C41FB96AE33}" type="presParOf" srcId="{136C98B6-F2FB-49AE-A5A5-33FF4CE29140}" destId="{752C1522-A872-4F2B-BE26-68410FB0880B}" srcOrd="2" destOrd="0" presId="urn:microsoft.com/office/officeart/2018/5/layout/IconLeafLabelList"/>
    <dgm:cxn modelId="{5F02A1A5-72E0-493B-820F-0DA049C014EE}" type="presParOf" srcId="{136C98B6-F2FB-49AE-A5A5-33FF4CE29140}" destId="{5D9E6989-EC27-4E8F-A3D3-97BD7F3BFE8D}" srcOrd="3" destOrd="0" presId="urn:microsoft.com/office/officeart/2018/5/layout/IconLeafLabelList"/>
    <dgm:cxn modelId="{87D94532-8F2B-40F4-8A58-111EA673A585}" type="presParOf" srcId="{66C43F37-F65A-4743-9132-DA577EF1A8F0}" destId="{A2E22264-3FDD-4A43-9F29-5ADEE838B234}" srcOrd="1" destOrd="0" presId="urn:microsoft.com/office/officeart/2018/5/layout/IconLeafLabelList"/>
    <dgm:cxn modelId="{6B305B06-8D69-40EB-A931-136C98FC58DE}" type="presParOf" srcId="{66C43F37-F65A-4743-9132-DA577EF1A8F0}" destId="{3B19CC4B-7829-443F-9BA0-08EA66D059E4}" srcOrd="2" destOrd="0" presId="urn:microsoft.com/office/officeart/2018/5/layout/IconLeafLabelList"/>
    <dgm:cxn modelId="{E02D3541-D2A4-4E37-8B83-BA874A90DBA9}" type="presParOf" srcId="{3B19CC4B-7829-443F-9BA0-08EA66D059E4}" destId="{2609082D-DB48-443D-86CF-A5C90CF79ADB}" srcOrd="0" destOrd="0" presId="urn:microsoft.com/office/officeart/2018/5/layout/IconLeafLabelList"/>
    <dgm:cxn modelId="{CC1B4713-3367-4C88-B3B3-A44AE9BBE987}" type="presParOf" srcId="{3B19CC4B-7829-443F-9BA0-08EA66D059E4}" destId="{E0D5D485-5FA9-4099-A66B-14ECE3A43C91}" srcOrd="1" destOrd="0" presId="urn:microsoft.com/office/officeart/2018/5/layout/IconLeafLabelList"/>
    <dgm:cxn modelId="{F5C88CDE-711C-4592-A69D-FFA6383CED9F}" type="presParOf" srcId="{3B19CC4B-7829-443F-9BA0-08EA66D059E4}" destId="{6DCAC41A-7753-44A3-92B4-3A645E6C456F}" srcOrd="2" destOrd="0" presId="urn:microsoft.com/office/officeart/2018/5/layout/IconLeafLabelList"/>
    <dgm:cxn modelId="{E2AADD1B-7C55-437F-A883-1E66EA26878A}" type="presParOf" srcId="{3B19CC4B-7829-443F-9BA0-08EA66D059E4}" destId="{B325E858-208A-4494-88C3-52997A3109B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522B1B-CEB6-419A-BEAF-D78CE2FA308D}"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8BAEFF06-C52E-4E59-AB0F-9467890F1319}">
      <dgm:prSet/>
      <dgm:spPr/>
      <dgm:t>
        <a:bodyPr/>
        <a:lstStyle/>
        <a:p>
          <a:r>
            <a:rPr lang="tr-TR" b="1"/>
            <a:t>YÖNETİM NEDİR?</a:t>
          </a:r>
          <a:endParaRPr lang="en-US"/>
        </a:p>
      </dgm:t>
    </dgm:pt>
    <dgm:pt modelId="{849328D3-5AF3-453B-A309-2871A5D4632F}" type="parTrans" cxnId="{0F46A691-7CE7-475C-98C0-FC8BF33CB2F0}">
      <dgm:prSet/>
      <dgm:spPr/>
      <dgm:t>
        <a:bodyPr/>
        <a:lstStyle/>
        <a:p>
          <a:endParaRPr lang="en-US"/>
        </a:p>
      </dgm:t>
    </dgm:pt>
    <dgm:pt modelId="{D62605BB-FA98-4652-BDEB-3A228799E18C}" type="sibTrans" cxnId="{0F46A691-7CE7-475C-98C0-FC8BF33CB2F0}">
      <dgm:prSet/>
      <dgm:spPr/>
      <dgm:t>
        <a:bodyPr/>
        <a:lstStyle/>
        <a:p>
          <a:endParaRPr lang="en-US"/>
        </a:p>
      </dgm:t>
    </dgm:pt>
    <dgm:pt modelId="{40402079-04E5-49DE-8E2A-FF719836444A}">
      <dgm:prSet/>
      <dgm:spPr/>
      <dgm:t>
        <a:bodyPr/>
        <a:lstStyle/>
        <a:p>
          <a:r>
            <a:rPr lang="tr-TR"/>
            <a:t>Önceden belirlenmiş amaç ve hedeflere ulaşabilmek için elde bulunan kaynakları (İnsan, Bilgi, Tabiat, Sermaye) anlamlı bir şekilde bir araya getiren planlayan, örgütleyen koordine eden, yönelten ve denetleyen sürece yönetim denir .</a:t>
          </a:r>
          <a:endParaRPr lang="en-US"/>
        </a:p>
      </dgm:t>
    </dgm:pt>
    <dgm:pt modelId="{C66427FB-C617-4FCF-9CFF-751BDCE6A941}" type="parTrans" cxnId="{6C46EF3F-18E7-45CF-853A-E273932FD874}">
      <dgm:prSet/>
      <dgm:spPr/>
      <dgm:t>
        <a:bodyPr/>
        <a:lstStyle/>
        <a:p>
          <a:endParaRPr lang="en-US"/>
        </a:p>
      </dgm:t>
    </dgm:pt>
    <dgm:pt modelId="{BBB33BFC-6E50-4D7E-919A-76A3E51C862E}" type="sibTrans" cxnId="{6C46EF3F-18E7-45CF-853A-E273932FD874}">
      <dgm:prSet/>
      <dgm:spPr/>
      <dgm:t>
        <a:bodyPr/>
        <a:lstStyle/>
        <a:p>
          <a:endParaRPr lang="en-US"/>
        </a:p>
      </dgm:t>
    </dgm:pt>
    <dgm:pt modelId="{88C87101-C4B7-47C6-A68F-322CCCD3C866}" type="pres">
      <dgm:prSet presAssocID="{E9522B1B-CEB6-419A-BEAF-D78CE2FA308D}" presName="Name0" presStyleCnt="0">
        <dgm:presLayoutVars>
          <dgm:dir/>
          <dgm:animLvl val="lvl"/>
          <dgm:resizeHandles val="exact"/>
        </dgm:presLayoutVars>
      </dgm:prSet>
      <dgm:spPr/>
    </dgm:pt>
    <dgm:pt modelId="{E4C4C20A-CB26-4A73-8445-69B3E78DFCA1}" type="pres">
      <dgm:prSet presAssocID="{40402079-04E5-49DE-8E2A-FF719836444A}" presName="boxAndChildren" presStyleCnt="0"/>
      <dgm:spPr/>
    </dgm:pt>
    <dgm:pt modelId="{C6452D29-0395-4B44-99CF-9A4E70AFE275}" type="pres">
      <dgm:prSet presAssocID="{40402079-04E5-49DE-8E2A-FF719836444A}" presName="parentTextBox" presStyleLbl="node1" presStyleIdx="0" presStyleCnt="2"/>
      <dgm:spPr/>
    </dgm:pt>
    <dgm:pt modelId="{912B70C6-F24C-4BC9-80BC-819BBF3F88A4}" type="pres">
      <dgm:prSet presAssocID="{D62605BB-FA98-4652-BDEB-3A228799E18C}" presName="sp" presStyleCnt="0"/>
      <dgm:spPr/>
    </dgm:pt>
    <dgm:pt modelId="{C371EC0C-E229-4D17-AE9B-194861FF4961}" type="pres">
      <dgm:prSet presAssocID="{8BAEFF06-C52E-4E59-AB0F-9467890F1319}" presName="arrowAndChildren" presStyleCnt="0"/>
      <dgm:spPr/>
    </dgm:pt>
    <dgm:pt modelId="{67342FC5-B780-492E-90F1-08687FC7D3F9}" type="pres">
      <dgm:prSet presAssocID="{8BAEFF06-C52E-4E59-AB0F-9467890F1319}" presName="parentTextArrow" presStyleLbl="node1" presStyleIdx="1" presStyleCnt="2"/>
      <dgm:spPr/>
    </dgm:pt>
  </dgm:ptLst>
  <dgm:cxnLst>
    <dgm:cxn modelId="{EF887910-DBBE-49D6-BC4F-C44F3A13450C}" type="presOf" srcId="{E9522B1B-CEB6-419A-BEAF-D78CE2FA308D}" destId="{88C87101-C4B7-47C6-A68F-322CCCD3C866}" srcOrd="0" destOrd="0" presId="urn:microsoft.com/office/officeart/2005/8/layout/process4"/>
    <dgm:cxn modelId="{92687C34-44C7-486F-873D-A5ED81079ED2}" type="presOf" srcId="{8BAEFF06-C52E-4E59-AB0F-9467890F1319}" destId="{67342FC5-B780-492E-90F1-08687FC7D3F9}" srcOrd="0" destOrd="0" presId="urn:microsoft.com/office/officeart/2005/8/layout/process4"/>
    <dgm:cxn modelId="{6C46EF3F-18E7-45CF-853A-E273932FD874}" srcId="{E9522B1B-CEB6-419A-BEAF-D78CE2FA308D}" destId="{40402079-04E5-49DE-8E2A-FF719836444A}" srcOrd="1" destOrd="0" parTransId="{C66427FB-C617-4FCF-9CFF-751BDCE6A941}" sibTransId="{BBB33BFC-6E50-4D7E-919A-76A3E51C862E}"/>
    <dgm:cxn modelId="{0F46A691-7CE7-475C-98C0-FC8BF33CB2F0}" srcId="{E9522B1B-CEB6-419A-BEAF-D78CE2FA308D}" destId="{8BAEFF06-C52E-4E59-AB0F-9467890F1319}" srcOrd="0" destOrd="0" parTransId="{849328D3-5AF3-453B-A309-2871A5D4632F}" sibTransId="{D62605BB-FA98-4652-BDEB-3A228799E18C}"/>
    <dgm:cxn modelId="{03B331E4-F9F0-4806-8134-F8B2836249F9}" type="presOf" srcId="{40402079-04E5-49DE-8E2A-FF719836444A}" destId="{C6452D29-0395-4B44-99CF-9A4E70AFE275}" srcOrd="0" destOrd="0" presId="urn:microsoft.com/office/officeart/2005/8/layout/process4"/>
    <dgm:cxn modelId="{50131E43-4BD9-4D57-96F8-5E29AFEA4084}" type="presParOf" srcId="{88C87101-C4B7-47C6-A68F-322CCCD3C866}" destId="{E4C4C20A-CB26-4A73-8445-69B3E78DFCA1}" srcOrd="0" destOrd="0" presId="urn:microsoft.com/office/officeart/2005/8/layout/process4"/>
    <dgm:cxn modelId="{15E7FEB8-364F-470B-895F-721CA04DCC4C}" type="presParOf" srcId="{E4C4C20A-CB26-4A73-8445-69B3E78DFCA1}" destId="{C6452D29-0395-4B44-99CF-9A4E70AFE275}" srcOrd="0" destOrd="0" presId="urn:microsoft.com/office/officeart/2005/8/layout/process4"/>
    <dgm:cxn modelId="{8C96E304-175A-4DAA-A2CD-57D35BA825E3}" type="presParOf" srcId="{88C87101-C4B7-47C6-A68F-322CCCD3C866}" destId="{912B70C6-F24C-4BC9-80BC-819BBF3F88A4}" srcOrd="1" destOrd="0" presId="urn:microsoft.com/office/officeart/2005/8/layout/process4"/>
    <dgm:cxn modelId="{2B2D9669-0596-4F13-871B-D1B01EFA98FE}" type="presParOf" srcId="{88C87101-C4B7-47C6-A68F-322CCCD3C866}" destId="{C371EC0C-E229-4D17-AE9B-194861FF4961}" srcOrd="2" destOrd="0" presId="urn:microsoft.com/office/officeart/2005/8/layout/process4"/>
    <dgm:cxn modelId="{9978585A-0EB0-4033-AA03-81F7DC233571}" type="presParOf" srcId="{C371EC0C-E229-4D17-AE9B-194861FF4961}" destId="{67342FC5-B780-492E-90F1-08687FC7D3F9}"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8FE462-06A6-4851-838F-3CD418D13B0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745D4DD-DD91-4CEF-8830-8E9923EA90FB}">
      <dgm:prSet/>
      <dgm:spPr/>
      <dgm:t>
        <a:bodyPr/>
        <a:lstStyle/>
        <a:p>
          <a:r>
            <a:rPr lang="tr-TR"/>
            <a:t>Yönetim süreci onu işleten veya başka bir deyimle ona işlerlik kazandıran grup veya organlar açısından incelendiğinde üç tür yönetimin gündeme gelmesini sağlar.</a:t>
          </a:r>
          <a:endParaRPr lang="en-US"/>
        </a:p>
      </dgm:t>
    </dgm:pt>
    <dgm:pt modelId="{9C9C7850-C786-472D-A7AE-47BFE22B3E7A}" type="parTrans" cxnId="{E9E5F7A8-791D-4FBA-A1FB-6B02625DE1BD}">
      <dgm:prSet/>
      <dgm:spPr/>
      <dgm:t>
        <a:bodyPr/>
        <a:lstStyle/>
        <a:p>
          <a:endParaRPr lang="en-US"/>
        </a:p>
      </dgm:t>
    </dgm:pt>
    <dgm:pt modelId="{9B881D08-D337-4F9A-A465-5F11B5646C2F}" type="sibTrans" cxnId="{E9E5F7A8-791D-4FBA-A1FB-6B02625DE1BD}">
      <dgm:prSet/>
      <dgm:spPr/>
      <dgm:t>
        <a:bodyPr/>
        <a:lstStyle/>
        <a:p>
          <a:endParaRPr lang="en-US"/>
        </a:p>
      </dgm:t>
    </dgm:pt>
    <dgm:pt modelId="{40DBDF6A-0E27-4D97-A1FC-263E6371CEB9}">
      <dgm:prSet/>
      <dgm:spPr/>
      <dgm:t>
        <a:bodyPr/>
        <a:lstStyle/>
        <a:p>
          <a:r>
            <a:rPr lang="tr-TR">
              <a:solidFill>
                <a:schemeClr val="bg1"/>
              </a:solidFill>
            </a:rPr>
            <a:t>1.Ailesel yönetim</a:t>
          </a:r>
          <a:endParaRPr lang="en-US">
            <a:solidFill>
              <a:schemeClr val="bg1"/>
            </a:solidFill>
          </a:endParaRPr>
        </a:p>
      </dgm:t>
    </dgm:pt>
    <dgm:pt modelId="{CBEA01B2-CD5F-44AD-A35D-0DFF60BA876F}" type="parTrans" cxnId="{7329D4EB-6494-4FFB-BC8B-2D6CF0CB2B5C}">
      <dgm:prSet/>
      <dgm:spPr/>
      <dgm:t>
        <a:bodyPr/>
        <a:lstStyle/>
        <a:p>
          <a:endParaRPr lang="en-US"/>
        </a:p>
      </dgm:t>
    </dgm:pt>
    <dgm:pt modelId="{006C5BD1-B380-4A19-AB3D-61282EE8451B}" type="sibTrans" cxnId="{7329D4EB-6494-4FFB-BC8B-2D6CF0CB2B5C}">
      <dgm:prSet/>
      <dgm:spPr/>
      <dgm:t>
        <a:bodyPr/>
        <a:lstStyle/>
        <a:p>
          <a:endParaRPr lang="en-US"/>
        </a:p>
      </dgm:t>
    </dgm:pt>
    <dgm:pt modelId="{148F0EF8-78A2-4DD2-A51C-C41BBB5AB6A3}">
      <dgm:prSet/>
      <dgm:spPr/>
      <dgm:t>
        <a:bodyPr/>
        <a:lstStyle/>
        <a:p>
          <a:r>
            <a:rPr lang="tr-TR">
              <a:solidFill>
                <a:schemeClr val="bg1"/>
              </a:solidFill>
            </a:rPr>
            <a:t>2.Siyasal (politik) Yönetim</a:t>
          </a:r>
          <a:endParaRPr lang="en-US">
            <a:solidFill>
              <a:schemeClr val="bg1"/>
            </a:solidFill>
          </a:endParaRPr>
        </a:p>
      </dgm:t>
    </dgm:pt>
    <dgm:pt modelId="{396A9953-2859-4336-8BA9-FCE9D313C8D7}" type="parTrans" cxnId="{B7A28DB2-B36C-4376-B986-9B8E93750729}">
      <dgm:prSet/>
      <dgm:spPr/>
      <dgm:t>
        <a:bodyPr/>
        <a:lstStyle/>
        <a:p>
          <a:endParaRPr lang="en-US"/>
        </a:p>
      </dgm:t>
    </dgm:pt>
    <dgm:pt modelId="{8CBFDD9D-F5A5-4B89-89C9-353D08C32A70}" type="sibTrans" cxnId="{B7A28DB2-B36C-4376-B986-9B8E93750729}">
      <dgm:prSet/>
      <dgm:spPr/>
      <dgm:t>
        <a:bodyPr/>
        <a:lstStyle/>
        <a:p>
          <a:endParaRPr lang="en-US"/>
        </a:p>
      </dgm:t>
    </dgm:pt>
    <dgm:pt modelId="{F47B76BF-CF8E-4CFE-8B00-8DFFE4F08164}">
      <dgm:prSet/>
      <dgm:spPr/>
      <dgm:t>
        <a:bodyPr/>
        <a:lstStyle/>
        <a:p>
          <a:r>
            <a:rPr lang="tr-TR">
              <a:solidFill>
                <a:schemeClr val="bg1"/>
              </a:solidFill>
            </a:rPr>
            <a:t>3.Profesyonel (mesleki) Yönetim</a:t>
          </a:r>
          <a:endParaRPr lang="en-US">
            <a:solidFill>
              <a:schemeClr val="bg1"/>
            </a:solidFill>
          </a:endParaRPr>
        </a:p>
      </dgm:t>
    </dgm:pt>
    <dgm:pt modelId="{81E7B39A-BE1E-4D4E-A1FD-9700491ED7C9}" type="parTrans" cxnId="{4225191B-2C9B-4888-85DD-48958B2F809C}">
      <dgm:prSet/>
      <dgm:spPr/>
      <dgm:t>
        <a:bodyPr/>
        <a:lstStyle/>
        <a:p>
          <a:endParaRPr lang="en-US"/>
        </a:p>
      </dgm:t>
    </dgm:pt>
    <dgm:pt modelId="{5AE37327-42C1-46EF-8917-C665031A2A37}" type="sibTrans" cxnId="{4225191B-2C9B-4888-85DD-48958B2F809C}">
      <dgm:prSet/>
      <dgm:spPr/>
      <dgm:t>
        <a:bodyPr/>
        <a:lstStyle/>
        <a:p>
          <a:endParaRPr lang="en-US"/>
        </a:p>
      </dgm:t>
    </dgm:pt>
    <dgm:pt modelId="{093F0FF2-0535-4E13-85FE-EFE8E3DFF637}" type="pres">
      <dgm:prSet presAssocID="{7D8FE462-06A6-4851-838F-3CD418D13B01}" presName="linear" presStyleCnt="0">
        <dgm:presLayoutVars>
          <dgm:animLvl val="lvl"/>
          <dgm:resizeHandles val="exact"/>
        </dgm:presLayoutVars>
      </dgm:prSet>
      <dgm:spPr/>
    </dgm:pt>
    <dgm:pt modelId="{0A445715-0EF9-43CC-A510-7E36A8E5EF4B}" type="pres">
      <dgm:prSet presAssocID="{3745D4DD-DD91-4CEF-8830-8E9923EA90FB}" presName="parentText" presStyleLbl="node1" presStyleIdx="0" presStyleCnt="4">
        <dgm:presLayoutVars>
          <dgm:chMax val="0"/>
          <dgm:bulletEnabled val="1"/>
        </dgm:presLayoutVars>
      </dgm:prSet>
      <dgm:spPr/>
    </dgm:pt>
    <dgm:pt modelId="{B978DECE-5CB2-49DD-B37B-ECCFBB227F5D}" type="pres">
      <dgm:prSet presAssocID="{9B881D08-D337-4F9A-A465-5F11B5646C2F}" presName="spacer" presStyleCnt="0"/>
      <dgm:spPr/>
    </dgm:pt>
    <dgm:pt modelId="{0102C697-C43C-4144-AC4D-D3146A136246}" type="pres">
      <dgm:prSet presAssocID="{40DBDF6A-0E27-4D97-A1FC-263E6371CEB9}" presName="parentText" presStyleLbl="node1" presStyleIdx="1" presStyleCnt="4" custLinFactNeighborX="-1845" custLinFactNeighborY="41115">
        <dgm:presLayoutVars>
          <dgm:chMax val="0"/>
          <dgm:bulletEnabled val="1"/>
        </dgm:presLayoutVars>
      </dgm:prSet>
      <dgm:spPr/>
    </dgm:pt>
    <dgm:pt modelId="{ED8485D5-15FD-443E-8D61-9FCFD00EFB31}" type="pres">
      <dgm:prSet presAssocID="{006C5BD1-B380-4A19-AB3D-61282EE8451B}" presName="spacer" presStyleCnt="0"/>
      <dgm:spPr/>
    </dgm:pt>
    <dgm:pt modelId="{AB3F5487-4B0F-4718-B906-86B745C56AC2}" type="pres">
      <dgm:prSet presAssocID="{148F0EF8-78A2-4DD2-A51C-C41BBB5AB6A3}" presName="parentText" presStyleLbl="node1" presStyleIdx="2" presStyleCnt="4">
        <dgm:presLayoutVars>
          <dgm:chMax val="0"/>
          <dgm:bulletEnabled val="1"/>
        </dgm:presLayoutVars>
      </dgm:prSet>
      <dgm:spPr/>
    </dgm:pt>
    <dgm:pt modelId="{53230CF1-C188-40B1-A741-ACA3CE544324}" type="pres">
      <dgm:prSet presAssocID="{8CBFDD9D-F5A5-4B89-89C9-353D08C32A70}" presName="spacer" presStyleCnt="0"/>
      <dgm:spPr/>
    </dgm:pt>
    <dgm:pt modelId="{0DB3AF7B-5F6F-467B-9575-F30815C220CC}" type="pres">
      <dgm:prSet presAssocID="{F47B76BF-CF8E-4CFE-8B00-8DFFE4F08164}" presName="parentText" presStyleLbl="node1" presStyleIdx="3" presStyleCnt="4">
        <dgm:presLayoutVars>
          <dgm:chMax val="0"/>
          <dgm:bulletEnabled val="1"/>
        </dgm:presLayoutVars>
      </dgm:prSet>
      <dgm:spPr/>
    </dgm:pt>
  </dgm:ptLst>
  <dgm:cxnLst>
    <dgm:cxn modelId="{D1E57614-9BD5-4573-8FC9-9492ED4A1F7F}" type="presOf" srcId="{40DBDF6A-0E27-4D97-A1FC-263E6371CEB9}" destId="{0102C697-C43C-4144-AC4D-D3146A136246}" srcOrd="0" destOrd="0" presId="urn:microsoft.com/office/officeart/2005/8/layout/vList2"/>
    <dgm:cxn modelId="{4225191B-2C9B-4888-85DD-48958B2F809C}" srcId="{7D8FE462-06A6-4851-838F-3CD418D13B01}" destId="{F47B76BF-CF8E-4CFE-8B00-8DFFE4F08164}" srcOrd="3" destOrd="0" parTransId="{81E7B39A-BE1E-4D4E-A1FD-9700491ED7C9}" sibTransId="{5AE37327-42C1-46EF-8917-C665031A2A37}"/>
    <dgm:cxn modelId="{2BD9D325-AFD5-4DD1-89EC-39433C9FEBE6}" type="presOf" srcId="{F47B76BF-CF8E-4CFE-8B00-8DFFE4F08164}" destId="{0DB3AF7B-5F6F-467B-9575-F30815C220CC}" srcOrd="0" destOrd="0" presId="urn:microsoft.com/office/officeart/2005/8/layout/vList2"/>
    <dgm:cxn modelId="{F511F469-ABDC-448A-A56E-948F442EFDED}" type="presOf" srcId="{7D8FE462-06A6-4851-838F-3CD418D13B01}" destId="{093F0FF2-0535-4E13-85FE-EFE8E3DFF637}" srcOrd="0" destOrd="0" presId="urn:microsoft.com/office/officeart/2005/8/layout/vList2"/>
    <dgm:cxn modelId="{E9E5F7A8-791D-4FBA-A1FB-6B02625DE1BD}" srcId="{7D8FE462-06A6-4851-838F-3CD418D13B01}" destId="{3745D4DD-DD91-4CEF-8830-8E9923EA90FB}" srcOrd="0" destOrd="0" parTransId="{9C9C7850-C786-472D-A7AE-47BFE22B3E7A}" sibTransId="{9B881D08-D337-4F9A-A465-5F11B5646C2F}"/>
    <dgm:cxn modelId="{B7A28DB2-B36C-4376-B986-9B8E93750729}" srcId="{7D8FE462-06A6-4851-838F-3CD418D13B01}" destId="{148F0EF8-78A2-4DD2-A51C-C41BBB5AB6A3}" srcOrd="2" destOrd="0" parTransId="{396A9953-2859-4336-8BA9-FCE9D313C8D7}" sibTransId="{8CBFDD9D-F5A5-4B89-89C9-353D08C32A70}"/>
    <dgm:cxn modelId="{856962C3-E669-4E03-9005-E302EBD3233B}" type="presOf" srcId="{148F0EF8-78A2-4DD2-A51C-C41BBB5AB6A3}" destId="{AB3F5487-4B0F-4718-B906-86B745C56AC2}" srcOrd="0" destOrd="0" presId="urn:microsoft.com/office/officeart/2005/8/layout/vList2"/>
    <dgm:cxn modelId="{7329D4EB-6494-4FFB-BC8B-2D6CF0CB2B5C}" srcId="{7D8FE462-06A6-4851-838F-3CD418D13B01}" destId="{40DBDF6A-0E27-4D97-A1FC-263E6371CEB9}" srcOrd="1" destOrd="0" parTransId="{CBEA01B2-CD5F-44AD-A35D-0DFF60BA876F}" sibTransId="{006C5BD1-B380-4A19-AB3D-61282EE8451B}"/>
    <dgm:cxn modelId="{CA7E9AF6-DE02-48BD-8FD7-99F299B96332}" type="presOf" srcId="{3745D4DD-DD91-4CEF-8830-8E9923EA90FB}" destId="{0A445715-0EF9-43CC-A510-7E36A8E5EF4B}" srcOrd="0" destOrd="0" presId="urn:microsoft.com/office/officeart/2005/8/layout/vList2"/>
    <dgm:cxn modelId="{5C6D4904-BE2D-480E-B558-E33B7DCF21AB}" type="presParOf" srcId="{093F0FF2-0535-4E13-85FE-EFE8E3DFF637}" destId="{0A445715-0EF9-43CC-A510-7E36A8E5EF4B}" srcOrd="0" destOrd="0" presId="urn:microsoft.com/office/officeart/2005/8/layout/vList2"/>
    <dgm:cxn modelId="{F646A2C6-EBE4-489C-8253-232608012737}" type="presParOf" srcId="{093F0FF2-0535-4E13-85FE-EFE8E3DFF637}" destId="{B978DECE-5CB2-49DD-B37B-ECCFBB227F5D}" srcOrd="1" destOrd="0" presId="urn:microsoft.com/office/officeart/2005/8/layout/vList2"/>
    <dgm:cxn modelId="{83A5EA2E-8A5A-469D-85F2-BC8A7BDF83E6}" type="presParOf" srcId="{093F0FF2-0535-4E13-85FE-EFE8E3DFF637}" destId="{0102C697-C43C-4144-AC4D-D3146A136246}" srcOrd="2" destOrd="0" presId="urn:microsoft.com/office/officeart/2005/8/layout/vList2"/>
    <dgm:cxn modelId="{3E41BEFF-A39F-4C09-8D3D-4ABBD2615AA5}" type="presParOf" srcId="{093F0FF2-0535-4E13-85FE-EFE8E3DFF637}" destId="{ED8485D5-15FD-443E-8D61-9FCFD00EFB31}" srcOrd="3" destOrd="0" presId="urn:microsoft.com/office/officeart/2005/8/layout/vList2"/>
    <dgm:cxn modelId="{71A3D2D2-758A-42ED-95A1-7EFF8DE59780}" type="presParOf" srcId="{093F0FF2-0535-4E13-85FE-EFE8E3DFF637}" destId="{AB3F5487-4B0F-4718-B906-86B745C56AC2}" srcOrd="4" destOrd="0" presId="urn:microsoft.com/office/officeart/2005/8/layout/vList2"/>
    <dgm:cxn modelId="{1DC6884F-D9C3-4741-B457-41B54C8FD7E5}" type="presParOf" srcId="{093F0FF2-0535-4E13-85FE-EFE8E3DFF637}" destId="{53230CF1-C188-40B1-A741-ACA3CE544324}" srcOrd="5" destOrd="0" presId="urn:microsoft.com/office/officeart/2005/8/layout/vList2"/>
    <dgm:cxn modelId="{9BF182BA-42BE-4A25-B405-95FB0A93A126}" type="presParOf" srcId="{093F0FF2-0535-4E13-85FE-EFE8E3DFF637}" destId="{0DB3AF7B-5F6F-467B-9575-F30815C220C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288BC4-9BC8-4A03-A355-5CEBC7719E6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2EAA34D-E84E-43B5-A16C-82ED9D6EAB84}">
      <dgm:prSet/>
      <dgm:spPr/>
      <dgm:t>
        <a:bodyPr/>
        <a:lstStyle/>
        <a:p>
          <a:r>
            <a:rPr lang="tr-TR" dirty="0"/>
            <a:t>Klasik düşünürler için yönetici=lider</a:t>
          </a:r>
          <a:endParaRPr lang="en-US" dirty="0"/>
        </a:p>
      </dgm:t>
    </dgm:pt>
    <dgm:pt modelId="{735E52FD-607C-4B07-A108-EBC46F125110}" type="parTrans" cxnId="{231B488C-AFD4-4711-84BE-5FD5DF48D434}">
      <dgm:prSet/>
      <dgm:spPr/>
      <dgm:t>
        <a:bodyPr/>
        <a:lstStyle/>
        <a:p>
          <a:endParaRPr lang="en-US"/>
        </a:p>
      </dgm:t>
    </dgm:pt>
    <dgm:pt modelId="{899BACFA-F3E1-4448-B439-DD673C53F8ED}" type="sibTrans" cxnId="{231B488C-AFD4-4711-84BE-5FD5DF48D434}">
      <dgm:prSet/>
      <dgm:spPr/>
      <dgm:t>
        <a:bodyPr/>
        <a:lstStyle/>
        <a:p>
          <a:endParaRPr lang="en-US"/>
        </a:p>
      </dgm:t>
    </dgm:pt>
    <dgm:pt modelId="{255C2ABA-A088-438E-8C41-B1B102D1128B}">
      <dgm:prSet/>
      <dgm:spPr/>
      <dgm:t>
        <a:bodyPr/>
        <a:lstStyle/>
        <a:p>
          <a:r>
            <a:rPr lang="tr-TR" dirty="0"/>
            <a:t>Günümüzde her yöneticinin mutlaka bir lider olmadığı fakat olması gerektiği görüşü hakimdir.</a:t>
          </a:r>
          <a:endParaRPr lang="en-US" dirty="0"/>
        </a:p>
      </dgm:t>
    </dgm:pt>
    <dgm:pt modelId="{D727DE24-15EB-4845-B876-E40BA40AB0DF}" type="parTrans" cxnId="{CF77E25E-03FD-4F4F-9A22-C48827F38EF1}">
      <dgm:prSet/>
      <dgm:spPr/>
      <dgm:t>
        <a:bodyPr/>
        <a:lstStyle/>
        <a:p>
          <a:endParaRPr lang="en-US"/>
        </a:p>
      </dgm:t>
    </dgm:pt>
    <dgm:pt modelId="{181AD645-CBC7-470B-90CA-71843A151D66}" type="sibTrans" cxnId="{CF77E25E-03FD-4F4F-9A22-C48827F38EF1}">
      <dgm:prSet/>
      <dgm:spPr/>
      <dgm:t>
        <a:bodyPr/>
        <a:lstStyle/>
        <a:p>
          <a:endParaRPr lang="en-US"/>
        </a:p>
      </dgm:t>
    </dgm:pt>
    <dgm:pt modelId="{020504EE-F771-49AB-A1B1-AEC2EBF38920}">
      <dgm:prSet/>
      <dgm:spPr/>
      <dgm:t>
        <a:bodyPr/>
        <a:lstStyle/>
        <a:p>
          <a:r>
            <a:rPr lang="tr-TR"/>
            <a:t>Yönetici ancak liderlik yetenekleri sayesinde örgütte düzen ve uyumu sağlayabilir.</a:t>
          </a:r>
          <a:endParaRPr lang="en-US"/>
        </a:p>
      </dgm:t>
    </dgm:pt>
    <dgm:pt modelId="{9FBC6973-988A-4CEF-A166-472D79D5FCD4}" type="parTrans" cxnId="{78172DBC-3AFA-4B95-A3F1-732BC9F90913}">
      <dgm:prSet/>
      <dgm:spPr/>
      <dgm:t>
        <a:bodyPr/>
        <a:lstStyle/>
        <a:p>
          <a:endParaRPr lang="en-US"/>
        </a:p>
      </dgm:t>
    </dgm:pt>
    <dgm:pt modelId="{A36ED3E3-3206-45AF-AAE8-DDB246DCDB2D}" type="sibTrans" cxnId="{78172DBC-3AFA-4B95-A3F1-732BC9F90913}">
      <dgm:prSet/>
      <dgm:spPr/>
      <dgm:t>
        <a:bodyPr/>
        <a:lstStyle/>
        <a:p>
          <a:endParaRPr lang="en-US"/>
        </a:p>
      </dgm:t>
    </dgm:pt>
    <dgm:pt modelId="{ED777F10-C874-4EF5-B18E-20F2C1F83BCB}" type="pres">
      <dgm:prSet presAssocID="{CB288BC4-9BC8-4A03-A355-5CEBC7719E60}" presName="root" presStyleCnt="0">
        <dgm:presLayoutVars>
          <dgm:dir/>
          <dgm:resizeHandles val="exact"/>
        </dgm:presLayoutVars>
      </dgm:prSet>
      <dgm:spPr/>
    </dgm:pt>
    <dgm:pt modelId="{634E669B-0A0E-45D7-85E6-09488B5C2DBF}" type="pres">
      <dgm:prSet presAssocID="{42EAA34D-E84E-43B5-A16C-82ED9D6EAB84}" presName="compNode" presStyleCnt="0"/>
      <dgm:spPr/>
    </dgm:pt>
    <dgm:pt modelId="{BFDB1109-9FE9-46E5-A703-818769BD7B60}" type="pres">
      <dgm:prSet presAssocID="{42EAA34D-E84E-43B5-A16C-82ED9D6EAB84}" presName="bgRect" presStyleLbl="bgShp" presStyleIdx="0" presStyleCnt="3"/>
      <dgm:spPr/>
    </dgm:pt>
    <dgm:pt modelId="{FE5850C2-D6C9-4223-98F9-606D00D6C8FB}" type="pres">
      <dgm:prSet presAssocID="{42EAA34D-E84E-43B5-A16C-82ED9D6EAB8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ullanıcı"/>
        </a:ext>
      </dgm:extLst>
    </dgm:pt>
    <dgm:pt modelId="{C39A0FE8-8EC2-4151-AFAB-05AF074228EC}" type="pres">
      <dgm:prSet presAssocID="{42EAA34D-E84E-43B5-A16C-82ED9D6EAB84}" presName="spaceRect" presStyleCnt="0"/>
      <dgm:spPr/>
    </dgm:pt>
    <dgm:pt modelId="{FAA5E235-5474-4D09-B2ED-7F9792ADF177}" type="pres">
      <dgm:prSet presAssocID="{42EAA34D-E84E-43B5-A16C-82ED9D6EAB84}" presName="parTx" presStyleLbl="revTx" presStyleIdx="0" presStyleCnt="3">
        <dgm:presLayoutVars>
          <dgm:chMax val="0"/>
          <dgm:chPref val="0"/>
        </dgm:presLayoutVars>
      </dgm:prSet>
      <dgm:spPr/>
    </dgm:pt>
    <dgm:pt modelId="{7CD89EA8-010D-4C97-AAB9-0CF52F052F4C}" type="pres">
      <dgm:prSet presAssocID="{899BACFA-F3E1-4448-B439-DD673C53F8ED}" presName="sibTrans" presStyleCnt="0"/>
      <dgm:spPr/>
    </dgm:pt>
    <dgm:pt modelId="{A313E11B-6ED4-4B55-B580-9D34E74ACE6C}" type="pres">
      <dgm:prSet presAssocID="{255C2ABA-A088-438E-8C41-B1B102D1128B}" presName="compNode" presStyleCnt="0"/>
      <dgm:spPr/>
    </dgm:pt>
    <dgm:pt modelId="{C55A7EEE-E963-4592-8E67-FA7DDAA7CCFF}" type="pres">
      <dgm:prSet presAssocID="{255C2ABA-A088-438E-8C41-B1B102D1128B}" presName="bgRect" presStyleLbl="bgShp" presStyleIdx="1" presStyleCnt="3"/>
      <dgm:spPr/>
    </dgm:pt>
    <dgm:pt modelId="{7FB8238A-9573-42E4-B5B7-D171C107F1AE}" type="pres">
      <dgm:prSet presAssocID="{255C2ABA-A088-438E-8C41-B1B102D1128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of People"/>
        </a:ext>
      </dgm:extLst>
    </dgm:pt>
    <dgm:pt modelId="{A2F97C07-8248-49E3-8923-C948AF2C45BF}" type="pres">
      <dgm:prSet presAssocID="{255C2ABA-A088-438E-8C41-B1B102D1128B}" presName="spaceRect" presStyleCnt="0"/>
      <dgm:spPr/>
    </dgm:pt>
    <dgm:pt modelId="{1D2F661F-1F53-4C52-B5C6-FE20F9FCFDFB}" type="pres">
      <dgm:prSet presAssocID="{255C2ABA-A088-438E-8C41-B1B102D1128B}" presName="parTx" presStyleLbl="revTx" presStyleIdx="1" presStyleCnt="3">
        <dgm:presLayoutVars>
          <dgm:chMax val="0"/>
          <dgm:chPref val="0"/>
        </dgm:presLayoutVars>
      </dgm:prSet>
      <dgm:spPr/>
    </dgm:pt>
    <dgm:pt modelId="{EFCD4255-2256-4030-8AFF-5C11E50626E4}" type="pres">
      <dgm:prSet presAssocID="{181AD645-CBC7-470B-90CA-71843A151D66}" presName="sibTrans" presStyleCnt="0"/>
      <dgm:spPr/>
    </dgm:pt>
    <dgm:pt modelId="{FCADE320-B34B-445B-894A-BB074457EE59}" type="pres">
      <dgm:prSet presAssocID="{020504EE-F771-49AB-A1B1-AEC2EBF38920}" presName="compNode" presStyleCnt="0"/>
      <dgm:spPr/>
    </dgm:pt>
    <dgm:pt modelId="{D19D7567-1D82-49F8-BEB9-8131FFC69254}" type="pres">
      <dgm:prSet presAssocID="{020504EE-F771-49AB-A1B1-AEC2EBF38920}" presName="bgRect" presStyleLbl="bgShp" presStyleIdx="2" presStyleCnt="3"/>
      <dgm:spPr/>
    </dgm:pt>
    <dgm:pt modelId="{42279C81-1C59-47DF-972B-80DE19567ACF}" type="pres">
      <dgm:prSet presAssocID="{020504EE-F771-49AB-A1B1-AEC2EBF3892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yerarşi"/>
        </a:ext>
      </dgm:extLst>
    </dgm:pt>
    <dgm:pt modelId="{808CB519-76CD-47A1-B59D-1566B0356F38}" type="pres">
      <dgm:prSet presAssocID="{020504EE-F771-49AB-A1B1-AEC2EBF38920}" presName="spaceRect" presStyleCnt="0"/>
      <dgm:spPr/>
    </dgm:pt>
    <dgm:pt modelId="{B1B6AFE6-81E0-475D-9929-D14A71AA2172}" type="pres">
      <dgm:prSet presAssocID="{020504EE-F771-49AB-A1B1-AEC2EBF38920}" presName="parTx" presStyleLbl="revTx" presStyleIdx="2" presStyleCnt="3">
        <dgm:presLayoutVars>
          <dgm:chMax val="0"/>
          <dgm:chPref val="0"/>
        </dgm:presLayoutVars>
      </dgm:prSet>
      <dgm:spPr/>
    </dgm:pt>
  </dgm:ptLst>
  <dgm:cxnLst>
    <dgm:cxn modelId="{7FF6991F-7CEA-4FD7-AD54-6CB78CF7B150}" type="presOf" srcId="{CB288BC4-9BC8-4A03-A355-5CEBC7719E60}" destId="{ED777F10-C874-4EF5-B18E-20F2C1F83BCB}" srcOrd="0" destOrd="0" presId="urn:microsoft.com/office/officeart/2018/2/layout/IconVerticalSolidList"/>
    <dgm:cxn modelId="{CF77E25E-03FD-4F4F-9A22-C48827F38EF1}" srcId="{CB288BC4-9BC8-4A03-A355-5CEBC7719E60}" destId="{255C2ABA-A088-438E-8C41-B1B102D1128B}" srcOrd="1" destOrd="0" parTransId="{D727DE24-15EB-4845-B876-E40BA40AB0DF}" sibTransId="{181AD645-CBC7-470B-90CA-71843A151D66}"/>
    <dgm:cxn modelId="{4F010784-98D5-496F-B003-0F92638058CF}" type="presOf" srcId="{255C2ABA-A088-438E-8C41-B1B102D1128B}" destId="{1D2F661F-1F53-4C52-B5C6-FE20F9FCFDFB}" srcOrd="0" destOrd="0" presId="urn:microsoft.com/office/officeart/2018/2/layout/IconVerticalSolidList"/>
    <dgm:cxn modelId="{231B488C-AFD4-4711-84BE-5FD5DF48D434}" srcId="{CB288BC4-9BC8-4A03-A355-5CEBC7719E60}" destId="{42EAA34D-E84E-43B5-A16C-82ED9D6EAB84}" srcOrd="0" destOrd="0" parTransId="{735E52FD-607C-4B07-A108-EBC46F125110}" sibTransId="{899BACFA-F3E1-4448-B439-DD673C53F8ED}"/>
    <dgm:cxn modelId="{78172DBC-3AFA-4B95-A3F1-732BC9F90913}" srcId="{CB288BC4-9BC8-4A03-A355-5CEBC7719E60}" destId="{020504EE-F771-49AB-A1B1-AEC2EBF38920}" srcOrd="2" destOrd="0" parTransId="{9FBC6973-988A-4CEF-A166-472D79D5FCD4}" sibTransId="{A36ED3E3-3206-45AF-AAE8-DDB246DCDB2D}"/>
    <dgm:cxn modelId="{AC2F90F5-6923-44A0-8AFD-8B2D05C3F187}" type="presOf" srcId="{020504EE-F771-49AB-A1B1-AEC2EBF38920}" destId="{B1B6AFE6-81E0-475D-9929-D14A71AA2172}" srcOrd="0" destOrd="0" presId="urn:microsoft.com/office/officeart/2018/2/layout/IconVerticalSolidList"/>
    <dgm:cxn modelId="{33763AF6-DBFE-4F38-948E-B62A6AA03D32}" type="presOf" srcId="{42EAA34D-E84E-43B5-A16C-82ED9D6EAB84}" destId="{FAA5E235-5474-4D09-B2ED-7F9792ADF177}" srcOrd="0" destOrd="0" presId="urn:microsoft.com/office/officeart/2018/2/layout/IconVerticalSolidList"/>
    <dgm:cxn modelId="{F6883A87-A2A5-4DEA-ACAC-30ED03F92827}" type="presParOf" srcId="{ED777F10-C874-4EF5-B18E-20F2C1F83BCB}" destId="{634E669B-0A0E-45D7-85E6-09488B5C2DBF}" srcOrd="0" destOrd="0" presId="urn:microsoft.com/office/officeart/2018/2/layout/IconVerticalSolidList"/>
    <dgm:cxn modelId="{C1ADDFA1-C0C5-4DC0-92FA-22616F143877}" type="presParOf" srcId="{634E669B-0A0E-45D7-85E6-09488B5C2DBF}" destId="{BFDB1109-9FE9-46E5-A703-818769BD7B60}" srcOrd="0" destOrd="0" presId="urn:microsoft.com/office/officeart/2018/2/layout/IconVerticalSolidList"/>
    <dgm:cxn modelId="{E16FE079-4F7B-4EE9-89E1-7480DC27ABF4}" type="presParOf" srcId="{634E669B-0A0E-45D7-85E6-09488B5C2DBF}" destId="{FE5850C2-D6C9-4223-98F9-606D00D6C8FB}" srcOrd="1" destOrd="0" presId="urn:microsoft.com/office/officeart/2018/2/layout/IconVerticalSolidList"/>
    <dgm:cxn modelId="{A48DC7D0-B752-45AF-B1D9-37B24FFE22AB}" type="presParOf" srcId="{634E669B-0A0E-45D7-85E6-09488B5C2DBF}" destId="{C39A0FE8-8EC2-4151-AFAB-05AF074228EC}" srcOrd="2" destOrd="0" presId="urn:microsoft.com/office/officeart/2018/2/layout/IconVerticalSolidList"/>
    <dgm:cxn modelId="{0A453015-5626-41F7-BC54-1AFC05C979C4}" type="presParOf" srcId="{634E669B-0A0E-45D7-85E6-09488B5C2DBF}" destId="{FAA5E235-5474-4D09-B2ED-7F9792ADF177}" srcOrd="3" destOrd="0" presId="urn:microsoft.com/office/officeart/2018/2/layout/IconVerticalSolidList"/>
    <dgm:cxn modelId="{939C5618-9D1A-409F-B48D-D6CADB65D702}" type="presParOf" srcId="{ED777F10-C874-4EF5-B18E-20F2C1F83BCB}" destId="{7CD89EA8-010D-4C97-AAB9-0CF52F052F4C}" srcOrd="1" destOrd="0" presId="urn:microsoft.com/office/officeart/2018/2/layout/IconVerticalSolidList"/>
    <dgm:cxn modelId="{D150F1D3-4253-482E-9D8C-864B537ECF83}" type="presParOf" srcId="{ED777F10-C874-4EF5-B18E-20F2C1F83BCB}" destId="{A313E11B-6ED4-4B55-B580-9D34E74ACE6C}" srcOrd="2" destOrd="0" presId="urn:microsoft.com/office/officeart/2018/2/layout/IconVerticalSolidList"/>
    <dgm:cxn modelId="{03C45F86-53A2-4179-94B1-EF593E0FF2C8}" type="presParOf" srcId="{A313E11B-6ED4-4B55-B580-9D34E74ACE6C}" destId="{C55A7EEE-E963-4592-8E67-FA7DDAA7CCFF}" srcOrd="0" destOrd="0" presId="urn:microsoft.com/office/officeart/2018/2/layout/IconVerticalSolidList"/>
    <dgm:cxn modelId="{A5D7A155-BD97-4DC8-BD02-E52E4CEA5F41}" type="presParOf" srcId="{A313E11B-6ED4-4B55-B580-9D34E74ACE6C}" destId="{7FB8238A-9573-42E4-B5B7-D171C107F1AE}" srcOrd="1" destOrd="0" presId="urn:microsoft.com/office/officeart/2018/2/layout/IconVerticalSolidList"/>
    <dgm:cxn modelId="{24543E9B-4ACC-4D76-8F55-2EB6C8B7C4C1}" type="presParOf" srcId="{A313E11B-6ED4-4B55-B580-9D34E74ACE6C}" destId="{A2F97C07-8248-49E3-8923-C948AF2C45BF}" srcOrd="2" destOrd="0" presId="urn:microsoft.com/office/officeart/2018/2/layout/IconVerticalSolidList"/>
    <dgm:cxn modelId="{B6DEDFEF-E5BC-4A14-8764-506D5AA0EF8D}" type="presParOf" srcId="{A313E11B-6ED4-4B55-B580-9D34E74ACE6C}" destId="{1D2F661F-1F53-4C52-B5C6-FE20F9FCFDFB}" srcOrd="3" destOrd="0" presId="urn:microsoft.com/office/officeart/2018/2/layout/IconVerticalSolidList"/>
    <dgm:cxn modelId="{04438FB4-5770-40EF-A3B4-B7987ECBB724}" type="presParOf" srcId="{ED777F10-C874-4EF5-B18E-20F2C1F83BCB}" destId="{EFCD4255-2256-4030-8AFF-5C11E50626E4}" srcOrd="3" destOrd="0" presId="urn:microsoft.com/office/officeart/2018/2/layout/IconVerticalSolidList"/>
    <dgm:cxn modelId="{A5D713E1-F770-459D-9445-3E78B639C951}" type="presParOf" srcId="{ED777F10-C874-4EF5-B18E-20F2C1F83BCB}" destId="{FCADE320-B34B-445B-894A-BB074457EE59}" srcOrd="4" destOrd="0" presId="urn:microsoft.com/office/officeart/2018/2/layout/IconVerticalSolidList"/>
    <dgm:cxn modelId="{56647674-FA2F-4052-8F45-4B42C19C4781}" type="presParOf" srcId="{FCADE320-B34B-445B-894A-BB074457EE59}" destId="{D19D7567-1D82-49F8-BEB9-8131FFC69254}" srcOrd="0" destOrd="0" presId="urn:microsoft.com/office/officeart/2018/2/layout/IconVerticalSolidList"/>
    <dgm:cxn modelId="{ED0E27DF-4567-46DC-967E-8D44CE7771CF}" type="presParOf" srcId="{FCADE320-B34B-445B-894A-BB074457EE59}" destId="{42279C81-1C59-47DF-972B-80DE19567ACF}" srcOrd="1" destOrd="0" presId="urn:microsoft.com/office/officeart/2018/2/layout/IconVerticalSolidList"/>
    <dgm:cxn modelId="{32506609-F53D-499C-BB99-346C4BA2F3C0}" type="presParOf" srcId="{FCADE320-B34B-445B-894A-BB074457EE59}" destId="{808CB519-76CD-47A1-B59D-1566B0356F38}" srcOrd="2" destOrd="0" presId="urn:microsoft.com/office/officeart/2018/2/layout/IconVerticalSolidList"/>
    <dgm:cxn modelId="{E40B48E9-8689-4B13-B849-25011E679644}" type="presParOf" srcId="{FCADE320-B34B-445B-894A-BB074457EE59}" destId="{B1B6AFE6-81E0-475D-9929-D14A71AA217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9AB8091-073C-4289-881F-9EE5B79041F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38C4D27-C689-44A2-821A-FE9F80ED47F4}">
      <dgm:prSet/>
      <dgm:spPr/>
      <dgm:t>
        <a:bodyPr/>
        <a:lstStyle/>
        <a:p>
          <a:r>
            <a:rPr lang="tr-TR" dirty="0"/>
            <a:t>Belirli durum veya koşullar altında amaca ulaşmak için başkalarının davranış ve eylemlerini etkileme sanatı olarak ifade edilebilir. </a:t>
          </a:r>
          <a:endParaRPr lang="en-US" dirty="0"/>
        </a:p>
      </dgm:t>
    </dgm:pt>
    <dgm:pt modelId="{7CB0B485-996E-442E-8E37-BBF49908A8CE}" type="parTrans" cxnId="{52C976E1-07EE-42E3-BA56-4C4D95377853}">
      <dgm:prSet/>
      <dgm:spPr/>
      <dgm:t>
        <a:bodyPr/>
        <a:lstStyle/>
        <a:p>
          <a:endParaRPr lang="en-US"/>
        </a:p>
      </dgm:t>
    </dgm:pt>
    <dgm:pt modelId="{C8561556-6A1A-4839-A507-AAAC4CDE3A75}" type="sibTrans" cxnId="{52C976E1-07EE-42E3-BA56-4C4D95377853}">
      <dgm:prSet/>
      <dgm:spPr/>
      <dgm:t>
        <a:bodyPr/>
        <a:lstStyle/>
        <a:p>
          <a:endParaRPr lang="en-US"/>
        </a:p>
      </dgm:t>
    </dgm:pt>
    <dgm:pt modelId="{81F5ED43-3BBE-4455-9B26-2B05AB0D95A0}">
      <dgm:prSet/>
      <dgm:spPr/>
      <dgm:t>
        <a:bodyPr/>
        <a:lstStyle/>
        <a:p>
          <a:r>
            <a:rPr lang="tr-TR" b="1" dirty="0"/>
            <a:t>Liderlik</a:t>
          </a:r>
          <a:r>
            <a:rPr lang="tr-TR" dirty="0"/>
            <a:t>: Bir otorite veya statünün fonksiyonu olmaktan çok ‘bir şeyi başkalarına istetmek ve benimsemek suretiyle yaptırabilme gücüne sahip kişi olarak nitelendirilen lider ile izleyicileri arasında belirli durumlarda ortaya çıkan ve etkileşim şeklinde ifade edilen karşılıklı ilişkilerin bir fonksiyonu’ olarak tanımlanabilir.</a:t>
          </a:r>
          <a:endParaRPr lang="en-US" dirty="0"/>
        </a:p>
      </dgm:t>
    </dgm:pt>
    <dgm:pt modelId="{07F6CC24-F724-40B3-81CD-7A3CFA9688E1}" type="parTrans" cxnId="{8854CB25-1E83-4A19-9684-28D0A128294C}">
      <dgm:prSet/>
      <dgm:spPr/>
      <dgm:t>
        <a:bodyPr/>
        <a:lstStyle/>
        <a:p>
          <a:endParaRPr lang="en-US"/>
        </a:p>
      </dgm:t>
    </dgm:pt>
    <dgm:pt modelId="{626C0D4B-5CC0-47A2-A5FC-90ABB5E999C4}" type="sibTrans" cxnId="{8854CB25-1E83-4A19-9684-28D0A128294C}">
      <dgm:prSet/>
      <dgm:spPr/>
      <dgm:t>
        <a:bodyPr/>
        <a:lstStyle/>
        <a:p>
          <a:endParaRPr lang="en-US"/>
        </a:p>
      </dgm:t>
    </dgm:pt>
    <dgm:pt modelId="{866C6F78-8445-A24B-89AB-CC89FB760DD7}" type="pres">
      <dgm:prSet presAssocID="{29AB8091-073C-4289-881F-9EE5B79041FD}" presName="hierChild1" presStyleCnt="0">
        <dgm:presLayoutVars>
          <dgm:chPref val="1"/>
          <dgm:dir/>
          <dgm:animOne val="branch"/>
          <dgm:animLvl val="lvl"/>
          <dgm:resizeHandles/>
        </dgm:presLayoutVars>
      </dgm:prSet>
      <dgm:spPr/>
    </dgm:pt>
    <dgm:pt modelId="{2F8D77C9-9A11-F24D-B0D4-C41EC4CCAA8B}" type="pres">
      <dgm:prSet presAssocID="{F38C4D27-C689-44A2-821A-FE9F80ED47F4}" presName="hierRoot1" presStyleCnt="0"/>
      <dgm:spPr/>
    </dgm:pt>
    <dgm:pt modelId="{B639D285-70BE-E04F-9A1B-8548C3BD51BE}" type="pres">
      <dgm:prSet presAssocID="{F38C4D27-C689-44A2-821A-FE9F80ED47F4}" presName="composite" presStyleCnt="0"/>
      <dgm:spPr/>
    </dgm:pt>
    <dgm:pt modelId="{F8C70F53-81AB-134C-AE03-573A4B82F847}" type="pres">
      <dgm:prSet presAssocID="{F38C4D27-C689-44A2-821A-FE9F80ED47F4}" presName="background" presStyleLbl="node0" presStyleIdx="0" presStyleCnt="2"/>
      <dgm:spPr/>
    </dgm:pt>
    <dgm:pt modelId="{766361E4-81A3-4D47-B6D7-D8157F9E1F6B}" type="pres">
      <dgm:prSet presAssocID="{F38C4D27-C689-44A2-821A-FE9F80ED47F4}" presName="text" presStyleLbl="fgAcc0" presStyleIdx="0" presStyleCnt="2">
        <dgm:presLayoutVars>
          <dgm:chPref val="3"/>
        </dgm:presLayoutVars>
      </dgm:prSet>
      <dgm:spPr/>
    </dgm:pt>
    <dgm:pt modelId="{A0760599-7D1E-0F43-A2F1-80A495D38EAE}" type="pres">
      <dgm:prSet presAssocID="{F38C4D27-C689-44A2-821A-FE9F80ED47F4}" presName="hierChild2" presStyleCnt="0"/>
      <dgm:spPr/>
    </dgm:pt>
    <dgm:pt modelId="{5962B6FC-AAAD-554E-8288-59210588FBCC}" type="pres">
      <dgm:prSet presAssocID="{81F5ED43-3BBE-4455-9B26-2B05AB0D95A0}" presName="hierRoot1" presStyleCnt="0"/>
      <dgm:spPr/>
    </dgm:pt>
    <dgm:pt modelId="{7067A583-CD0F-EF45-A632-F545A6364F8B}" type="pres">
      <dgm:prSet presAssocID="{81F5ED43-3BBE-4455-9B26-2B05AB0D95A0}" presName="composite" presStyleCnt="0"/>
      <dgm:spPr/>
    </dgm:pt>
    <dgm:pt modelId="{92476ABF-0D5C-0E4D-B073-F37482DC4478}" type="pres">
      <dgm:prSet presAssocID="{81F5ED43-3BBE-4455-9B26-2B05AB0D95A0}" presName="background" presStyleLbl="node0" presStyleIdx="1" presStyleCnt="2"/>
      <dgm:spPr/>
    </dgm:pt>
    <dgm:pt modelId="{160835C1-E097-E34A-82C0-3CFB39EE4C1C}" type="pres">
      <dgm:prSet presAssocID="{81F5ED43-3BBE-4455-9B26-2B05AB0D95A0}" presName="text" presStyleLbl="fgAcc0" presStyleIdx="1" presStyleCnt="2">
        <dgm:presLayoutVars>
          <dgm:chPref val="3"/>
        </dgm:presLayoutVars>
      </dgm:prSet>
      <dgm:spPr/>
    </dgm:pt>
    <dgm:pt modelId="{A9C4A430-ECC2-5940-ACED-30A7188D9EC5}" type="pres">
      <dgm:prSet presAssocID="{81F5ED43-3BBE-4455-9B26-2B05AB0D95A0}" presName="hierChild2" presStyleCnt="0"/>
      <dgm:spPr/>
    </dgm:pt>
  </dgm:ptLst>
  <dgm:cxnLst>
    <dgm:cxn modelId="{8854CB25-1E83-4A19-9684-28D0A128294C}" srcId="{29AB8091-073C-4289-881F-9EE5B79041FD}" destId="{81F5ED43-3BBE-4455-9B26-2B05AB0D95A0}" srcOrd="1" destOrd="0" parTransId="{07F6CC24-F724-40B3-81CD-7A3CFA9688E1}" sibTransId="{626C0D4B-5CC0-47A2-A5FC-90ABB5E999C4}"/>
    <dgm:cxn modelId="{8F5A343A-6251-FB46-889A-180D0DEE50F9}" type="presOf" srcId="{F38C4D27-C689-44A2-821A-FE9F80ED47F4}" destId="{766361E4-81A3-4D47-B6D7-D8157F9E1F6B}" srcOrd="0" destOrd="0" presId="urn:microsoft.com/office/officeart/2005/8/layout/hierarchy1"/>
    <dgm:cxn modelId="{B0C11063-7046-6A41-85CF-17320DE2CA5A}" type="presOf" srcId="{29AB8091-073C-4289-881F-9EE5B79041FD}" destId="{866C6F78-8445-A24B-89AB-CC89FB760DD7}" srcOrd="0" destOrd="0" presId="urn:microsoft.com/office/officeart/2005/8/layout/hierarchy1"/>
    <dgm:cxn modelId="{52C976E1-07EE-42E3-BA56-4C4D95377853}" srcId="{29AB8091-073C-4289-881F-9EE5B79041FD}" destId="{F38C4D27-C689-44A2-821A-FE9F80ED47F4}" srcOrd="0" destOrd="0" parTransId="{7CB0B485-996E-442E-8E37-BBF49908A8CE}" sibTransId="{C8561556-6A1A-4839-A507-AAAC4CDE3A75}"/>
    <dgm:cxn modelId="{2E5723E8-EE0D-4447-AEB6-6BA5B4636809}" type="presOf" srcId="{81F5ED43-3BBE-4455-9B26-2B05AB0D95A0}" destId="{160835C1-E097-E34A-82C0-3CFB39EE4C1C}" srcOrd="0" destOrd="0" presId="urn:microsoft.com/office/officeart/2005/8/layout/hierarchy1"/>
    <dgm:cxn modelId="{25ECC798-AD2C-454C-BA7D-289385D2371B}" type="presParOf" srcId="{866C6F78-8445-A24B-89AB-CC89FB760DD7}" destId="{2F8D77C9-9A11-F24D-B0D4-C41EC4CCAA8B}" srcOrd="0" destOrd="0" presId="urn:microsoft.com/office/officeart/2005/8/layout/hierarchy1"/>
    <dgm:cxn modelId="{9BA4E7B5-0C54-A74C-81DE-5F480D2310EF}" type="presParOf" srcId="{2F8D77C9-9A11-F24D-B0D4-C41EC4CCAA8B}" destId="{B639D285-70BE-E04F-9A1B-8548C3BD51BE}" srcOrd="0" destOrd="0" presId="urn:microsoft.com/office/officeart/2005/8/layout/hierarchy1"/>
    <dgm:cxn modelId="{B1A1FB48-50DB-6141-BA2C-66B239B27189}" type="presParOf" srcId="{B639D285-70BE-E04F-9A1B-8548C3BD51BE}" destId="{F8C70F53-81AB-134C-AE03-573A4B82F847}" srcOrd="0" destOrd="0" presId="urn:microsoft.com/office/officeart/2005/8/layout/hierarchy1"/>
    <dgm:cxn modelId="{7B099D86-A26F-454C-9EA6-BF40FAA61973}" type="presParOf" srcId="{B639D285-70BE-E04F-9A1B-8548C3BD51BE}" destId="{766361E4-81A3-4D47-B6D7-D8157F9E1F6B}" srcOrd="1" destOrd="0" presId="urn:microsoft.com/office/officeart/2005/8/layout/hierarchy1"/>
    <dgm:cxn modelId="{57EAFD41-01E9-6044-B48C-4570FFF7D8E6}" type="presParOf" srcId="{2F8D77C9-9A11-F24D-B0D4-C41EC4CCAA8B}" destId="{A0760599-7D1E-0F43-A2F1-80A495D38EAE}" srcOrd="1" destOrd="0" presId="urn:microsoft.com/office/officeart/2005/8/layout/hierarchy1"/>
    <dgm:cxn modelId="{B1FD8F10-AB96-524C-8354-EF59616AD398}" type="presParOf" srcId="{866C6F78-8445-A24B-89AB-CC89FB760DD7}" destId="{5962B6FC-AAAD-554E-8288-59210588FBCC}" srcOrd="1" destOrd="0" presId="urn:microsoft.com/office/officeart/2005/8/layout/hierarchy1"/>
    <dgm:cxn modelId="{79DFECDA-4071-8F4B-B7EB-48557D3687C2}" type="presParOf" srcId="{5962B6FC-AAAD-554E-8288-59210588FBCC}" destId="{7067A583-CD0F-EF45-A632-F545A6364F8B}" srcOrd="0" destOrd="0" presId="urn:microsoft.com/office/officeart/2005/8/layout/hierarchy1"/>
    <dgm:cxn modelId="{AD63BE4C-597A-5741-8ED9-C6E8EF709A9C}" type="presParOf" srcId="{7067A583-CD0F-EF45-A632-F545A6364F8B}" destId="{92476ABF-0D5C-0E4D-B073-F37482DC4478}" srcOrd="0" destOrd="0" presId="urn:microsoft.com/office/officeart/2005/8/layout/hierarchy1"/>
    <dgm:cxn modelId="{427CAC42-C4AC-0146-BC10-7810C4911F8F}" type="presParOf" srcId="{7067A583-CD0F-EF45-A632-F545A6364F8B}" destId="{160835C1-E097-E34A-82C0-3CFB39EE4C1C}" srcOrd="1" destOrd="0" presId="urn:microsoft.com/office/officeart/2005/8/layout/hierarchy1"/>
    <dgm:cxn modelId="{5C44559C-410B-D94B-8E52-920C9BEA0415}" type="presParOf" srcId="{5962B6FC-AAAD-554E-8288-59210588FBCC}" destId="{A9C4A430-ECC2-5940-ACED-30A7188D9EC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CF5387-747D-43C1-8734-D9C5B287505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2ABE648-1C25-44DE-8A4D-4A85BBFBE6D6}">
      <dgm:prSet/>
      <dgm:spPr/>
      <dgm:t>
        <a:bodyPr/>
        <a:lstStyle/>
        <a:p>
          <a:pPr>
            <a:lnSpc>
              <a:spcPct val="100000"/>
            </a:lnSpc>
            <a:defRPr cap="all"/>
          </a:pPr>
          <a:r>
            <a:rPr lang="tr-TR" b="1"/>
            <a:t>Teknik Yetenek</a:t>
          </a:r>
          <a:endParaRPr lang="en-US" b="1"/>
        </a:p>
      </dgm:t>
    </dgm:pt>
    <dgm:pt modelId="{949DE18B-4CA7-4EA5-A06E-DCFF6149C6E7}" type="parTrans" cxnId="{025FEB2B-68B4-46D1-9092-AE44F0BC8916}">
      <dgm:prSet/>
      <dgm:spPr/>
      <dgm:t>
        <a:bodyPr/>
        <a:lstStyle/>
        <a:p>
          <a:endParaRPr lang="en-US"/>
        </a:p>
      </dgm:t>
    </dgm:pt>
    <dgm:pt modelId="{A2BB9921-B7ED-4178-9336-CE5D8BBA40B6}" type="sibTrans" cxnId="{025FEB2B-68B4-46D1-9092-AE44F0BC8916}">
      <dgm:prSet/>
      <dgm:spPr/>
      <dgm:t>
        <a:bodyPr/>
        <a:lstStyle/>
        <a:p>
          <a:endParaRPr lang="en-US"/>
        </a:p>
      </dgm:t>
    </dgm:pt>
    <dgm:pt modelId="{B49CD523-3922-4013-B36E-E624870F0F2B}">
      <dgm:prSet/>
      <dgm:spPr/>
      <dgm:t>
        <a:bodyPr/>
        <a:lstStyle/>
        <a:p>
          <a:pPr>
            <a:lnSpc>
              <a:spcPct val="100000"/>
            </a:lnSpc>
            <a:defRPr cap="all"/>
          </a:pPr>
          <a:r>
            <a:rPr lang="tr-TR" b="1"/>
            <a:t>İnsancıl İlişkiler Kurma ve Geliştirme Yeteneği</a:t>
          </a:r>
          <a:endParaRPr lang="en-US" b="1"/>
        </a:p>
      </dgm:t>
    </dgm:pt>
    <dgm:pt modelId="{21DC1BF0-1376-4287-886B-2B4389127170}" type="parTrans" cxnId="{5D2238DE-00FB-4DE4-9D54-FFBACB1AB2FB}">
      <dgm:prSet/>
      <dgm:spPr/>
      <dgm:t>
        <a:bodyPr/>
        <a:lstStyle/>
        <a:p>
          <a:endParaRPr lang="en-US"/>
        </a:p>
      </dgm:t>
    </dgm:pt>
    <dgm:pt modelId="{135E3FBE-0EBC-4E5F-A1A9-64D8D8C28E56}" type="sibTrans" cxnId="{5D2238DE-00FB-4DE4-9D54-FFBACB1AB2FB}">
      <dgm:prSet/>
      <dgm:spPr/>
      <dgm:t>
        <a:bodyPr/>
        <a:lstStyle/>
        <a:p>
          <a:endParaRPr lang="en-US"/>
        </a:p>
      </dgm:t>
    </dgm:pt>
    <dgm:pt modelId="{AC542E32-6FCE-4163-955E-E6C53169A8F6}">
      <dgm:prSet/>
      <dgm:spPr/>
      <dgm:t>
        <a:bodyPr/>
        <a:lstStyle/>
        <a:p>
          <a:pPr>
            <a:lnSpc>
              <a:spcPct val="100000"/>
            </a:lnSpc>
            <a:defRPr cap="all"/>
          </a:pPr>
          <a:r>
            <a:rPr lang="tr-TR" b="1"/>
            <a:t>Fikri Yetenek</a:t>
          </a:r>
          <a:endParaRPr lang="en-US" b="1"/>
        </a:p>
      </dgm:t>
    </dgm:pt>
    <dgm:pt modelId="{88DE63EC-68A1-47B8-8D81-5717AD015BB0}" type="parTrans" cxnId="{BA68910F-CCB9-4074-9039-241F53D4C7EC}">
      <dgm:prSet/>
      <dgm:spPr/>
      <dgm:t>
        <a:bodyPr/>
        <a:lstStyle/>
        <a:p>
          <a:endParaRPr lang="en-US"/>
        </a:p>
      </dgm:t>
    </dgm:pt>
    <dgm:pt modelId="{92867E01-7E1C-4631-8D35-D1A982814525}" type="sibTrans" cxnId="{BA68910F-CCB9-4074-9039-241F53D4C7EC}">
      <dgm:prSet/>
      <dgm:spPr/>
      <dgm:t>
        <a:bodyPr/>
        <a:lstStyle/>
        <a:p>
          <a:endParaRPr lang="en-US"/>
        </a:p>
      </dgm:t>
    </dgm:pt>
    <dgm:pt modelId="{CB39726C-BAA5-498A-9312-1EE8DC0E4CE7}" type="pres">
      <dgm:prSet presAssocID="{94CF5387-747D-43C1-8734-D9C5B287505C}" presName="root" presStyleCnt="0">
        <dgm:presLayoutVars>
          <dgm:dir/>
          <dgm:resizeHandles val="exact"/>
        </dgm:presLayoutVars>
      </dgm:prSet>
      <dgm:spPr/>
    </dgm:pt>
    <dgm:pt modelId="{137BD902-09D7-44D5-AE46-2AB0890F2A3A}" type="pres">
      <dgm:prSet presAssocID="{32ABE648-1C25-44DE-8A4D-4A85BBFBE6D6}" presName="compNode" presStyleCnt="0"/>
      <dgm:spPr/>
    </dgm:pt>
    <dgm:pt modelId="{88693ED7-0FAE-43AA-B02E-4841EC72F824}" type="pres">
      <dgm:prSet presAssocID="{32ABE648-1C25-44DE-8A4D-4A85BBFBE6D6}" presName="iconBgRect" presStyleLbl="bgShp" presStyleIdx="0" presStyleCnt="3"/>
      <dgm:spPr>
        <a:prstGeom prst="round2DiagRect">
          <a:avLst>
            <a:gd name="adj1" fmla="val 29727"/>
            <a:gd name="adj2" fmla="val 0"/>
          </a:avLst>
        </a:prstGeom>
      </dgm:spPr>
    </dgm:pt>
    <dgm:pt modelId="{75040CF9-514E-4B93-9CFD-771F2CCBD7E5}" type="pres">
      <dgm:prSet presAssocID="{32ABE648-1C25-44DE-8A4D-4A85BBFBE6D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73297D54-5DCF-44FF-BE99-22644FB3BE9C}" type="pres">
      <dgm:prSet presAssocID="{32ABE648-1C25-44DE-8A4D-4A85BBFBE6D6}" presName="spaceRect" presStyleCnt="0"/>
      <dgm:spPr/>
    </dgm:pt>
    <dgm:pt modelId="{B8551ACF-D565-43CB-A6F1-F101607E61F4}" type="pres">
      <dgm:prSet presAssocID="{32ABE648-1C25-44DE-8A4D-4A85BBFBE6D6}" presName="textRect" presStyleLbl="revTx" presStyleIdx="0" presStyleCnt="3">
        <dgm:presLayoutVars>
          <dgm:chMax val="1"/>
          <dgm:chPref val="1"/>
        </dgm:presLayoutVars>
      </dgm:prSet>
      <dgm:spPr/>
    </dgm:pt>
    <dgm:pt modelId="{D95D82E3-DF27-4270-B7C8-AD7355556ACD}" type="pres">
      <dgm:prSet presAssocID="{A2BB9921-B7ED-4178-9336-CE5D8BBA40B6}" presName="sibTrans" presStyleCnt="0"/>
      <dgm:spPr/>
    </dgm:pt>
    <dgm:pt modelId="{678CBFBB-8AF4-4577-B09C-74794454D84E}" type="pres">
      <dgm:prSet presAssocID="{B49CD523-3922-4013-B36E-E624870F0F2B}" presName="compNode" presStyleCnt="0"/>
      <dgm:spPr/>
    </dgm:pt>
    <dgm:pt modelId="{DFC07764-B541-4AF7-8DCE-7F4B15FACB16}" type="pres">
      <dgm:prSet presAssocID="{B49CD523-3922-4013-B36E-E624870F0F2B}" presName="iconBgRect" presStyleLbl="bgShp" presStyleIdx="1" presStyleCnt="3"/>
      <dgm:spPr>
        <a:prstGeom prst="round2DiagRect">
          <a:avLst>
            <a:gd name="adj1" fmla="val 29727"/>
            <a:gd name="adj2" fmla="val 0"/>
          </a:avLst>
        </a:prstGeom>
      </dgm:spPr>
    </dgm:pt>
    <dgm:pt modelId="{4A8E5E52-3E54-49AC-A4E4-B2B2DA695DC7}" type="pres">
      <dgm:prSet presAssocID="{B49CD523-3922-4013-B36E-E624870F0F2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kalaşma"/>
        </a:ext>
      </dgm:extLst>
    </dgm:pt>
    <dgm:pt modelId="{73C97C2A-087C-4987-A309-90B19642D957}" type="pres">
      <dgm:prSet presAssocID="{B49CD523-3922-4013-B36E-E624870F0F2B}" presName="spaceRect" presStyleCnt="0"/>
      <dgm:spPr/>
    </dgm:pt>
    <dgm:pt modelId="{94AF98A0-33EC-4516-B599-A3DAEBF8F8FC}" type="pres">
      <dgm:prSet presAssocID="{B49CD523-3922-4013-B36E-E624870F0F2B}" presName="textRect" presStyleLbl="revTx" presStyleIdx="1" presStyleCnt="3">
        <dgm:presLayoutVars>
          <dgm:chMax val="1"/>
          <dgm:chPref val="1"/>
        </dgm:presLayoutVars>
      </dgm:prSet>
      <dgm:spPr/>
    </dgm:pt>
    <dgm:pt modelId="{5156FB58-D086-41E4-A498-D89A2A58574D}" type="pres">
      <dgm:prSet presAssocID="{135E3FBE-0EBC-4E5F-A1A9-64D8D8C28E56}" presName="sibTrans" presStyleCnt="0"/>
      <dgm:spPr/>
    </dgm:pt>
    <dgm:pt modelId="{A23EBD98-CCEF-4AAB-9AF4-1F7C25B7CB09}" type="pres">
      <dgm:prSet presAssocID="{AC542E32-6FCE-4163-955E-E6C53169A8F6}" presName="compNode" presStyleCnt="0"/>
      <dgm:spPr/>
    </dgm:pt>
    <dgm:pt modelId="{229832FA-C4C2-4F0C-A976-853F46AF940E}" type="pres">
      <dgm:prSet presAssocID="{AC542E32-6FCE-4163-955E-E6C53169A8F6}" presName="iconBgRect" presStyleLbl="bgShp" presStyleIdx="2" presStyleCnt="3"/>
      <dgm:spPr>
        <a:prstGeom prst="round2DiagRect">
          <a:avLst>
            <a:gd name="adj1" fmla="val 29727"/>
            <a:gd name="adj2" fmla="val 0"/>
          </a:avLst>
        </a:prstGeom>
      </dgm:spPr>
    </dgm:pt>
    <dgm:pt modelId="{A30FDDC8-6E6A-4A26-AF84-86249F13CA59}" type="pres">
      <dgm:prSet presAssocID="{AC542E32-6FCE-4163-955E-E6C53169A8F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mpul"/>
        </a:ext>
      </dgm:extLst>
    </dgm:pt>
    <dgm:pt modelId="{5AFA4085-5EB3-4912-93DD-F0CADD2F0286}" type="pres">
      <dgm:prSet presAssocID="{AC542E32-6FCE-4163-955E-E6C53169A8F6}" presName="spaceRect" presStyleCnt="0"/>
      <dgm:spPr/>
    </dgm:pt>
    <dgm:pt modelId="{6524F2CD-A03E-4783-ADF1-0FB3928FA0E8}" type="pres">
      <dgm:prSet presAssocID="{AC542E32-6FCE-4163-955E-E6C53169A8F6}" presName="textRect" presStyleLbl="revTx" presStyleIdx="2" presStyleCnt="3">
        <dgm:presLayoutVars>
          <dgm:chMax val="1"/>
          <dgm:chPref val="1"/>
        </dgm:presLayoutVars>
      </dgm:prSet>
      <dgm:spPr/>
    </dgm:pt>
  </dgm:ptLst>
  <dgm:cxnLst>
    <dgm:cxn modelId="{BA68910F-CCB9-4074-9039-241F53D4C7EC}" srcId="{94CF5387-747D-43C1-8734-D9C5B287505C}" destId="{AC542E32-6FCE-4163-955E-E6C53169A8F6}" srcOrd="2" destOrd="0" parTransId="{88DE63EC-68A1-47B8-8D81-5717AD015BB0}" sibTransId="{92867E01-7E1C-4631-8D35-D1A982814525}"/>
    <dgm:cxn modelId="{025FEB2B-68B4-46D1-9092-AE44F0BC8916}" srcId="{94CF5387-747D-43C1-8734-D9C5B287505C}" destId="{32ABE648-1C25-44DE-8A4D-4A85BBFBE6D6}" srcOrd="0" destOrd="0" parTransId="{949DE18B-4CA7-4EA5-A06E-DCFF6149C6E7}" sibTransId="{A2BB9921-B7ED-4178-9336-CE5D8BBA40B6}"/>
    <dgm:cxn modelId="{5E67D561-4BBF-4B8C-9936-AC96B34D30C4}" type="presOf" srcId="{94CF5387-747D-43C1-8734-D9C5B287505C}" destId="{CB39726C-BAA5-498A-9312-1EE8DC0E4CE7}" srcOrd="0" destOrd="0" presId="urn:microsoft.com/office/officeart/2018/5/layout/IconLeafLabelList"/>
    <dgm:cxn modelId="{4F8B01B5-92E1-4FE9-B031-FEFFD59C5052}" type="presOf" srcId="{32ABE648-1C25-44DE-8A4D-4A85BBFBE6D6}" destId="{B8551ACF-D565-43CB-A6F1-F101607E61F4}" srcOrd="0" destOrd="0" presId="urn:microsoft.com/office/officeart/2018/5/layout/IconLeafLabelList"/>
    <dgm:cxn modelId="{D0C120C0-A9EF-4E4A-BFBE-59B162AF3066}" type="presOf" srcId="{AC542E32-6FCE-4163-955E-E6C53169A8F6}" destId="{6524F2CD-A03E-4783-ADF1-0FB3928FA0E8}" srcOrd="0" destOrd="0" presId="urn:microsoft.com/office/officeart/2018/5/layout/IconLeafLabelList"/>
    <dgm:cxn modelId="{5D2238DE-00FB-4DE4-9D54-FFBACB1AB2FB}" srcId="{94CF5387-747D-43C1-8734-D9C5B287505C}" destId="{B49CD523-3922-4013-B36E-E624870F0F2B}" srcOrd="1" destOrd="0" parTransId="{21DC1BF0-1376-4287-886B-2B4389127170}" sibTransId="{135E3FBE-0EBC-4E5F-A1A9-64D8D8C28E56}"/>
    <dgm:cxn modelId="{D16B5EFF-490B-4C3E-93A2-CF7EF8724109}" type="presOf" srcId="{B49CD523-3922-4013-B36E-E624870F0F2B}" destId="{94AF98A0-33EC-4516-B599-A3DAEBF8F8FC}" srcOrd="0" destOrd="0" presId="urn:microsoft.com/office/officeart/2018/5/layout/IconLeafLabelList"/>
    <dgm:cxn modelId="{EE7F2B81-70CB-4333-9EB8-D48FAB37B27D}" type="presParOf" srcId="{CB39726C-BAA5-498A-9312-1EE8DC0E4CE7}" destId="{137BD902-09D7-44D5-AE46-2AB0890F2A3A}" srcOrd="0" destOrd="0" presId="urn:microsoft.com/office/officeart/2018/5/layout/IconLeafLabelList"/>
    <dgm:cxn modelId="{5592D9A6-3EEB-475D-BB35-7322295AE956}" type="presParOf" srcId="{137BD902-09D7-44D5-AE46-2AB0890F2A3A}" destId="{88693ED7-0FAE-43AA-B02E-4841EC72F824}" srcOrd="0" destOrd="0" presId="urn:microsoft.com/office/officeart/2018/5/layout/IconLeafLabelList"/>
    <dgm:cxn modelId="{DC2E1548-89D5-43E6-94A4-8A553C997C1F}" type="presParOf" srcId="{137BD902-09D7-44D5-AE46-2AB0890F2A3A}" destId="{75040CF9-514E-4B93-9CFD-771F2CCBD7E5}" srcOrd="1" destOrd="0" presId="urn:microsoft.com/office/officeart/2018/5/layout/IconLeafLabelList"/>
    <dgm:cxn modelId="{5BF75439-9302-4FE5-9F13-2FF3B97DE0FF}" type="presParOf" srcId="{137BD902-09D7-44D5-AE46-2AB0890F2A3A}" destId="{73297D54-5DCF-44FF-BE99-22644FB3BE9C}" srcOrd="2" destOrd="0" presId="urn:microsoft.com/office/officeart/2018/5/layout/IconLeafLabelList"/>
    <dgm:cxn modelId="{00BEE09D-78E0-4E3A-91FC-CE42CAF3C84C}" type="presParOf" srcId="{137BD902-09D7-44D5-AE46-2AB0890F2A3A}" destId="{B8551ACF-D565-43CB-A6F1-F101607E61F4}" srcOrd="3" destOrd="0" presId="urn:microsoft.com/office/officeart/2018/5/layout/IconLeafLabelList"/>
    <dgm:cxn modelId="{D6211014-C0A8-4AE0-B73E-A9CE17C44381}" type="presParOf" srcId="{CB39726C-BAA5-498A-9312-1EE8DC0E4CE7}" destId="{D95D82E3-DF27-4270-B7C8-AD7355556ACD}" srcOrd="1" destOrd="0" presId="urn:microsoft.com/office/officeart/2018/5/layout/IconLeafLabelList"/>
    <dgm:cxn modelId="{EED6BBBF-8B70-4D48-9F5B-99F3854C4078}" type="presParOf" srcId="{CB39726C-BAA5-498A-9312-1EE8DC0E4CE7}" destId="{678CBFBB-8AF4-4577-B09C-74794454D84E}" srcOrd="2" destOrd="0" presId="urn:microsoft.com/office/officeart/2018/5/layout/IconLeafLabelList"/>
    <dgm:cxn modelId="{FCA235E2-3B31-491E-B2ED-126384D9CBE8}" type="presParOf" srcId="{678CBFBB-8AF4-4577-B09C-74794454D84E}" destId="{DFC07764-B541-4AF7-8DCE-7F4B15FACB16}" srcOrd="0" destOrd="0" presId="urn:microsoft.com/office/officeart/2018/5/layout/IconLeafLabelList"/>
    <dgm:cxn modelId="{29CD3EA4-7710-46C9-B38C-DBEA59984E76}" type="presParOf" srcId="{678CBFBB-8AF4-4577-B09C-74794454D84E}" destId="{4A8E5E52-3E54-49AC-A4E4-B2B2DA695DC7}" srcOrd="1" destOrd="0" presId="urn:microsoft.com/office/officeart/2018/5/layout/IconLeafLabelList"/>
    <dgm:cxn modelId="{67DD9464-FA05-4CE1-B613-08372CF7ECA9}" type="presParOf" srcId="{678CBFBB-8AF4-4577-B09C-74794454D84E}" destId="{73C97C2A-087C-4987-A309-90B19642D957}" srcOrd="2" destOrd="0" presId="urn:microsoft.com/office/officeart/2018/5/layout/IconLeafLabelList"/>
    <dgm:cxn modelId="{97FF75CC-45EB-4D56-88B9-EDD16A64F9B7}" type="presParOf" srcId="{678CBFBB-8AF4-4577-B09C-74794454D84E}" destId="{94AF98A0-33EC-4516-B599-A3DAEBF8F8FC}" srcOrd="3" destOrd="0" presId="urn:microsoft.com/office/officeart/2018/5/layout/IconLeafLabelList"/>
    <dgm:cxn modelId="{4E3F2331-55FA-4DC0-8BE8-AAD767D46968}" type="presParOf" srcId="{CB39726C-BAA5-498A-9312-1EE8DC0E4CE7}" destId="{5156FB58-D086-41E4-A498-D89A2A58574D}" srcOrd="3" destOrd="0" presId="urn:microsoft.com/office/officeart/2018/5/layout/IconLeafLabelList"/>
    <dgm:cxn modelId="{0DD1546A-DEC6-41A5-A5B1-92329EAF43AC}" type="presParOf" srcId="{CB39726C-BAA5-498A-9312-1EE8DC0E4CE7}" destId="{A23EBD98-CCEF-4AAB-9AF4-1F7C25B7CB09}" srcOrd="4" destOrd="0" presId="urn:microsoft.com/office/officeart/2018/5/layout/IconLeafLabelList"/>
    <dgm:cxn modelId="{59A6EEB0-34F4-464A-A6BE-EA31174A1787}" type="presParOf" srcId="{A23EBD98-CCEF-4AAB-9AF4-1F7C25B7CB09}" destId="{229832FA-C4C2-4F0C-A976-853F46AF940E}" srcOrd="0" destOrd="0" presId="urn:microsoft.com/office/officeart/2018/5/layout/IconLeafLabelList"/>
    <dgm:cxn modelId="{336059EB-1B33-4666-A0FF-3BAB51622F0A}" type="presParOf" srcId="{A23EBD98-CCEF-4AAB-9AF4-1F7C25B7CB09}" destId="{A30FDDC8-6E6A-4A26-AF84-86249F13CA59}" srcOrd="1" destOrd="0" presId="urn:microsoft.com/office/officeart/2018/5/layout/IconLeafLabelList"/>
    <dgm:cxn modelId="{830B68B0-778B-4F15-B9EB-24763B6A3A10}" type="presParOf" srcId="{A23EBD98-CCEF-4AAB-9AF4-1F7C25B7CB09}" destId="{5AFA4085-5EB3-4912-93DD-F0CADD2F0286}" srcOrd="2" destOrd="0" presId="urn:microsoft.com/office/officeart/2018/5/layout/IconLeafLabelList"/>
    <dgm:cxn modelId="{899C8E51-F66C-4812-9D87-CA8EDBB7FF72}" type="presParOf" srcId="{A23EBD98-CCEF-4AAB-9AF4-1F7C25B7CB09}" destId="{6524F2CD-A03E-4783-ADF1-0FB3928FA0E8}"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CFF7E21-B068-4630-8171-A9013B46105C}"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DAC3E771-C7A6-4CED-9DC2-88BB41879424}">
      <dgm:prSet/>
      <dgm:spPr/>
      <dgm:t>
        <a:bodyPr/>
        <a:lstStyle/>
        <a:p>
          <a:pPr algn="just"/>
          <a:r>
            <a:rPr lang="tr-TR" b="1"/>
            <a:t>A</a:t>
          </a:r>
          <a:r>
            <a:rPr lang="tr-TR"/>
            <a:t>) Yönetici başkalarıyla çalışan ve onların vasıtasıyla amaca ulaşmaya çalışan kişidir</a:t>
          </a:r>
          <a:endParaRPr lang="en-US"/>
        </a:p>
      </dgm:t>
    </dgm:pt>
    <dgm:pt modelId="{00BC5A98-F7AF-4ECE-9FE6-A6A767C64792}" type="parTrans" cxnId="{64DB370A-C7A8-48AD-8BDD-C8BCBF6F480B}">
      <dgm:prSet/>
      <dgm:spPr/>
      <dgm:t>
        <a:bodyPr/>
        <a:lstStyle/>
        <a:p>
          <a:endParaRPr lang="en-US"/>
        </a:p>
      </dgm:t>
    </dgm:pt>
    <dgm:pt modelId="{4E5730E4-FABC-4BB0-90B0-44F07A4A3EFB}" type="sibTrans" cxnId="{64DB370A-C7A8-48AD-8BDD-C8BCBF6F480B}">
      <dgm:prSet/>
      <dgm:spPr/>
      <dgm:t>
        <a:bodyPr/>
        <a:lstStyle/>
        <a:p>
          <a:endParaRPr lang="en-US"/>
        </a:p>
      </dgm:t>
    </dgm:pt>
    <dgm:pt modelId="{FA2833EF-E989-4B71-832C-0CFD192A7040}">
      <dgm:prSet/>
      <dgm:spPr/>
      <dgm:t>
        <a:bodyPr/>
        <a:lstStyle/>
        <a:p>
          <a:r>
            <a:rPr lang="tr-TR" b="1"/>
            <a:t>B) </a:t>
          </a:r>
          <a:r>
            <a:rPr lang="tr-TR"/>
            <a:t>Yönetici rekabet halindeki amaçları dengeler</a:t>
          </a:r>
          <a:endParaRPr lang="en-US"/>
        </a:p>
      </dgm:t>
    </dgm:pt>
    <dgm:pt modelId="{86A8E70B-5DD0-4270-B3D2-6E38AC72C29E}" type="parTrans" cxnId="{F8C53C5A-85AE-458E-82AE-00B570FDD3AE}">
      <dgm:prSet/>
      <dgm:spPr/>
      <dgm:t>
        <a:bodyPr/>
        <a:lstStyle/>
        <a:p>
          <a:endParaRPr lang="en-US"/>
        </a:p>
      </dgm:t>
    </dgm:pt>
    <dgm:pt modelId="{07E9A10D-7C65-40BB-ACC1-00E1155D524A}" type="sibTrans" cxnId="{F8C53C5A-85AE-458E-82AE-00B570FDD3AE}">
      <dgm:prSet/>
      <dgm:spPr/>
      <dgm:t>
        <a:bodyPr/>
        <a:lstStyle/>
        <a:p>
          <a:endParaRPr lang="en-US"/>
        </a:p>
      </dgm:t>
    </dgm:pt>
    <dgm:pt modelId="{8F1B7BAA-D309-4AC0-9208-F03C0D26686C}">
      <dgm:prSet/>
      <dgm:spPr/>
      <dgm:t>
        <a:bodyPr/>
        <a:lstStyle/>
        <a:p>
          <a:r>
            <a:rPr lang="tr-TR" b="1"/>
            <a:t>C) </a:t>
          </a:r>
          <a:r>
            <a:rPr lang="tr-TR"/>
            <a:t>Yönetici her şeyden önce sorumluluk yüklenen kişidir</a:t>
          </a:r>
          <a:endParaRPr lang="en-US"/>
        </a:p>
      </dgm:t>
    </dgm:pt>
    <dgm:pt modelId="{D264C49A-91D5-406E-AD49-8DC43182BBC2}" type="parTrans" cxnId="{BD42A8C8-6659-4BCC-9C72-1D65E63A7B0A}">
      <dgm:prSet/>
      <dgm:spPr/>
      <dgm:t>
        <a:bodyPr/>
        <a:lstStyle/>
        <a:p>
          <a:endParaRPr lang="en-US"/>
        </a:p>
      </dgm:t>
    </dgm:pt>
    <dgm:pt modelId="{09163556-D5C5-43B5-B251-2D4EF59E319F}" type="sibTrans" cxnId="{BD42A8C8-6659-4BCC-9C72-1D65E63A7B0A}">
      <dgm:prSet/>
      <dgm:spPr/>
      <dgm:t>
        <a:bodyPr/>
        <a:lstStyle/>
        <a:p>
          <a:endParaRPr lang="en-US"/>
        </a:p>
      </dgm:t>
    </dgm:pt>
    <dgm:pt modelId="{84D3CBCF-EB1F-45E8-9B13-82C0DA0FF82D}">
      <dgm:prSet/>
      <dgm:spPr/>
      <dgm:t>
        <a:bodyPr/>
        <a:lstStyle/>
        <a:p>
          <a:r>
            <a:rPr lang="tr-TR" b="1"/>
            <a:t>D) </a:t>
          </a:r>
          <a:r>
            <a:rPr lang="tr-TR"/>
            <a:t>Yönetici Kavramsal (Fikri) bir düşünürdür.</a:t>
          </a:r>
          <a:endParaRPr lang="en-US"/>
        </a:p>
      </dgm:t>
    </dgm:pt>
    <dgm:pt modelId="{9CC44DAC-9F9D-4E94-A92B-8BAA2C4224CB}" type="parTrans" cxnId="{31EB8413-4E3A-4294-9E69-D5740FBF0AFC}">
      <dgm:prSet/>
      <dgm:spPr/>
      <dgm:t>
        <a:bodyPr/>
        <a:lstStyle/>
        <a:p>
          <a:endParaRPr lang="en-US"/>
        </a:p>
      </dgm:t>
    </dgm:pt>
    <dgm:pt modelId="{7B83A92B-0F30-48E8-9B27-97F3B7D7986C}" type="sibTrans" cxnId="{31EB8413-4E3A-4294-9E69-D5740FBF0AFC}">
      <dgm:prSet/>
      <dgm:spPr/>
      <dgm:t>
        <a:bodyPr/>
        <a:lstStyle/>
        <a:p>
          <a:endParaRPr lang="en-US"/>
        </a:p>
      </dgm:t>
    </dgm:pt>
    <dgm:pt modelId="{346AFEE3-A493-437C-B102-BA31661B0DB6}">
      <dgm:prSet/>
      <dgm:spPr/>
      <dgm:t>
        <a:bodyPr/>
        <a:lstStyle/>
        <a:p>
          <a:pPr algn="just"/>
          <a:r>
            <a:rPr lang="tr-TR" b="1"/>
            <a:t>E) </a:t>
          </a:r>
          <a:r>
            <a:rPr lang="tr-TR"/>
            <a:t>Yönetici örgütte bir arabuluculuk işlevini yerine getirir</a:t>
          </a:r>
          <a:endParaRPr lang="en-US"/>
        </a:p>
      </dgm:t>
    </dgm:pt>
    <dgm:pt modelId="{3CFB8AC6-1C1A-4CD8-8E71-C0134512FB7B}" type="parTrans" cxnId="{C2CF01EE-D942-429C-9CBB-E42E968694A3}">
      <dgm:prSet/>
      <dgm:spPr/>
      <dgm:t>
        <a:bodyPr/>
        <a:lstStyle/>
        <a:p>
          <a:endParaRPr lang="en-US"/>
        </a:p>
      </dgm:t>
    </dgm:pt>
    <dgm:pt modelId="{298CF28F-435D-4C94-B0EC-4261BF8D3F8A}" type="sibTrans" cxnId="{C2CF01EE-D942-429C-9CBB-E42E968694A3}">
      <dgm:prSet/>
      <dgm:spPr/>
      <dgm:t>
        <a:bodyPr/>
        <a:lstStyle/>
        <a:p>
          <a:endParaRPr lang="en-US"/>
        </a:p>
      </dgm:t>
    </dgm:pt>
    <dgm:pt modelId="{A85BBF23-EB70-4A4F-BA70-FB508CABF458}">
      <dgm:prSet/>
      <dgm:spPr/>
      <dgm:t>
        <a:bodyPr/>
        <a:lstStyle/>
        <a:p>
          <a:r>
            <a:rPr lang="tr-TR" b="1"/>
            <a:t>F) </a:t>
          </a:r>
          <a:r>
            <a:rPr lang="tr-TR"/>
            <a:t>Yönetici aynı zamanda bir politikacıdır.</a:t>
          </a:r>
          <a:endParaRPr lang="en-US"/>
        </a:p>
      </dgm:t>
    </dgm:pt>
    <dgm:pt modelId="{73CDCD13-C31A-48CD-824E-048805DDED7B}" type="parTrans" cxnId="{568A618F-2B74-4E4C-B8CF-41EDA7D55452}">
      <dgm:prSet/>
      <dgm:spPr/>
      <dgm:t>
        <a:bodyPr/>
        <a:lstStyle/>
        <a:p>
          <a:endParaRPr lang="en-US"/>
        </a:p>
      </dgm:t>
    </dgm:pt>
    <dgm:pt modelId="{34D0553E-4AB7-48B3-940C-CA9E13F08936}" type="sibTrans" cxnId="{568A618F-2B74-4E4C-B8CF-41EDA7D55452}">
      <dgm:prSet/>
      <dgm:spPr/>
      <dgm:t>
        <a:bodyPr/>
        <a:lstStyle/>
        <a:p>
          <a:endParaRPr lang="en-US"/>
        </a:p>
      </dgm:t>
    </dgm:pt>
    <dgm:pt modelId="{317579D5-420F-4264-B347-6F7C26F367B6}">
      <dgm:prSet/>
      <dgm:spPr/>
      <dgm:t>
        <a:bodyPr/>
        <a:lstStyle/>
        <a:p>
          <a:r>
            <a:rPr lang="tr-TR" b="1"/>
            <a:t>G) </a:t>
          </a:r>
          <a:r>
            <a:rPr lang="tr-TR"/>
            <a:t>Yönetici bir diplomattır.</a:t>
          </a:r>
          <a:endParaRPr lang="en-US"/>
        </a:p>
      </dgm:t>
    </dgm:pt>
    <dgm:pt modelId="{E20BB862-ED70-4044-9EBE-C23F9DF1BC91}" type="parTrans" cxnId="{5F59BF27-F4B5-4E87-9FEC-86A1941AFB5A}">
      <dgm:prSet/>
      <dgm:spPr/>
      <dgm:t>
        <a:bodyPr/>
        <a:lstStyle/>
        <a:p>
          <a:endParaRPr lang="en-US"/>
        </a:p>
      </dgm:t>
    </dgm:pt>
    <dgm:pt modelId="{7BA2F53F-B671-4934-B9EF-2454EFAFD14C}" type="sibTrans" cxnId="{5F59BF27-F4B5-4E87-9FEC-86A1941AFB5A}">
      <dgm:prSet/>
      <dgm:spPr/>
      <dgm:t>
        <a:bodyPr/>
        <a:lstStyle/>
        <a:p>
          <a:endParaRPr lang="en-US"/>
        </a:p>
      </dgm:t>
    </dgm:pt>
    <dgm:pt modelId="{B6AC5B7F-D4C6-454C-8B55-A6B3B5843F78}" type="pres">
      <dgm:prSet presAssocID="{7CFF7E21-B068-4630-8171-A9013B46105C}" presName="vert0" presStyleCnt="0">
        <dgm:presLayoutVars>
          <dgm:dir/>
          <dgm:animOne val="branch"/>
          <dgm:animLvl val="lvl"/>
        </dgm:presLayoutVars>
      </dgm:prSet>
      <dgm:spPr/>
    </dgm:pt>
    <dgm:pt modelId="{AD1C7E95-22CF-45B3-B05B-35EBA441345D}" type="pres">
      <dgm:prSet presAssocID="{DAC3E771-C7A6-4CED-9DC2-88BB41879424}" presName="thickLine" presStyleLbl="alignNode1" presStyleIdx="0" presStyleCnt="7"/>
      <dgm:spPr/>
    </dgm:pt>
    <dgm:pt modelId="{B3C69A4C-437F-4663-9362-CC2ADA8580BA}" type="pres">
      <dgm:prSet presAssocID="{DAC3E771-C7A6-4CED-9DC2-88BB41879424}" presName="horz1" presStyleCnt="0"/>
      <dgm:spPr/>
    </dgm:pt>
    <dgm:pt modelId="{040BBB10-6E7F-4365-822B-62657C0724C1}" type="pres">
      <dgm:prSet presAssocID="{DAC3E771-C7A6-4CED-9DC2-88BB41879424}" presName="tx1" presStyleLbl="revTx" presStyleIdx="0" presStyleCnt="7"/>
      <dgm:spPr/>
    </dgm:pt>
    <dgm:pt modelId="{3C28EA8C-1580-4435-8E8D-7D8197B5E010}" type="pres">
      <dgm:prSet presAssocID="{DAC3E771-C7A6-4CED-9DC2-88BB41879424}" presName="vert1" presStyleCnt="0"/>
      <dgm:spPr/>
    </dgm:pt>
    <dgm:pt modelId="{750D3B26-F3A0-45C3-913C-F548E4240F0F}" type="pres">
      <dgm:prSet presAssocID="{FA2833EF-E989-4B71-832C-0CFD192A7040}" presName="thickLine" presStyleLbl="alignNode1" presStyleIdx="1" presStyleCnt="7"/>
      <dgm:spPr/>
    </dgm:pt>
    <dgm:pt modelId="{37E831B5-F346-4899-8463-38DCCA715141}" type="pres">
      <dgm:prSet presAssocID="{FA2833EF-E989-4B71-832C-0CFD192A7040}" presName="horz1" presStyleCnt="0"/>
      <dgm:spPr/>
    </dgm:pt>
    <dgm:pt modelId="{40EC5603-DC78-42B7-80B8-1F84359630BC}" type="pres">
      <dgm:prSet presAssocID="{FA2833EF-E989-4B71-832C-0CFD192A7040}" presName="tx1" presStyleLbl="revTx" presStyleIdx="1" presStyleCnt="7"/>
      <dgm:spPr/>
    </dgm:pt>
    <dgm:pt modelId="{14FF6C0B-52C0-4B83-BCCE-B1F204251C11}" type="pres">
      <dgm:prSet presAssocID="{FA2833EF-E989-4B71-832C-0CFD192A7040}" presName="vert1" presStyleCnt="0"/>
      <dgm:spPr/>
    </dgm:pt>
    <dgm:pt modelId="{BC45F16B-F922-41BB-9F14-587097708267}" type="pres">
      <dgm:prSet presAssocID="{8F1B7BAA-D309-4AC0-9208-F03C0D26686C}" presName="thickLine" presStyleLbl="alignNode1" presStyleIdx="2" presStyleCnt="7"/>
      <dgm:spPr/>
    </dgm:pt>
    <dgm:pt modelId="{3F35195B-D6E5-4528-A351-DF1D1364C698}" type="pres">
      <dgm:prSet presAssocID="{8F1B7BAA-D309-4AC0-9208-F03C0D26686C}" presName="horz1" presStyleCnt="0"/>
      <dgm:spPr/>
    </dgm:pt>
    <dgm:pt modelId="{01535DED-9141-40BC-8231-BFEB681F5110}" type="pres">
      <dgm:prSet presAssocID="{8F1B7BAA-D309-4AC0-9208-F03C0D26686C}" presName="tx1" presStyleLbl="revTx" presStyleIdx="2" presStyleCnt="7"/>
      <dgm:spPr/>
    </dgm:pt>
    <dgm:pt modelId="{C048B6C7-B8A0-4FFA-B7FD-DC089D321D5F}" type="pres">
      <dgm:prSet presAssocID="{8F1B7BAA-D309-4AC0-9208-F03C0D26686C}" presName="vert1" presStyleCnt="0"/>
      <dgm:spPr/>
    </dgm:pt>
    <dgm:pt modelId="{E5E12374-9F56-4AA9-BE3C-3D7139BC50FB}" type="pres">
      <dgm:prSet presAssocID="{84D3CBCF-EB1F-45E8-9B13-82C0DA0FF82D}" presName="thickLine" presStyleLbl="alignNode1" presStyleIdx="3" presStyleCnt="7"/>
      <dgm:spPr/>
    </dgm:pt>
    <dgm:pt modelId="{C926F55A-8C20-484A-ACD7-EE8CD161E90A}" type="pres">
      <dgm:prSet presAssocID="{84D3CBCF-EB1F-45E8-9B13-82C0DA0FF82D}" presName="horz1" presStyleCnt="0"/>
      <dgm:spPr/>
    </dgm:pt>
    <dgm:pt modelId="{6945DA89-F09B-4228-A111-B0336FDC3DA5}" type="pres">
      <dgm:prSet presAssocID="{84D3CBCF-EB1F-45E8-9B13-82C0DA0FF82D}" presName="tx1" presStyleLbl="revTx" presStyleIdx="3" presStyleCnt="7"/>
      <dgm:spPr/>
    </dgm:pt>
    <dgm:pt modelId="{31CE3468-D518-4A9D-8742-3ED856F52CCE}" type="pres">
      <dgm:prSet presAssocID="{84D3CBCF-EB1F-45E8-9B13-82C0DA0FF82D}" presName="vert1" presStyleCnt="0"/>
      <dgm:spPr/>
    </dgm:pt>
    <dgm:pt modelId="{6A548F8C-2D90-4770-A38E-B9F730D53D1C}" type="pres">
      <dgm:prSet presAssocID="{346AFEE3-A493-437C-B102-BA31661B0DB6}" presName="thickLine" presStyleLbl="alignNode1" presStyleIdx="4" presStyleCnt="7"/>
      <dgm:spPr/>
    </dgm:pt>
    <dgm:pt modelId="{61F9675E-0AAE-4985-ABD9-AB26D42CB7B8}" type="pres">
      <dgm:prSet presAssocID="{346AFEE3-A493-437C-B102-BA31661B0DB6}" presName="horz1" presStyleCnt="0"/>
      <dgm:spPr/>
    </dgm:pt>
    <dgm:pt modelId="{DC8690C9-29F6-4843-AF40-63DA96EF4F22}" type="pres">
      <dgm:prSet presAssocID="{346AFEE3-A493-437C-B102-BA31661B0DB6}" presName="tx1" presStyleLbl="revTx" presStyleIdx="4" presStyleCnt="7"/>
      <dgm:spPr/>
    </dgm:pt>
    <dgm:pt modelId="{CDC6F1A5-E8A4-4CF4-82A6-7D17B2891842}" type="pres">
      <dgm:prSet presAssocID="{346AFEE3-A493-437C-B102-BA31661B0DB6}" presName="vert1" presStyleCnt="0"/>
      <dgm:spPr/>
    </dgm:pt>
    <dgm:pt modelId="{3AB1F763-1301-4452-9671-2CD9D1C4FD57}" type="pres">
      <dgm:prSet presAssocID="{A85BBF23-EB70-4A4F-BA70-FB508CABF458}" presName="thickLine" presStyleLbl="alignNode1" presStyleIdx="5" presStyleCnt="7"/>
      <dgm:spPr/>
    </dgm:pt>
    <dgm:pt modelId="{9945A5EB-2E82-43FB-A616-374415C4E15A}" type="pres">
      <dgm:prSet presAssocID="{A85BBF23-EB70-4A4F-BA70-FB508CABF458}" presName="horz1" presStyleCnt="0"/>
      <dgm:spPr/>
    </dgm:pt>
    <dgm:pt modelId="{4F86F6B9-450A-4F54-983E-CF72266EE57C}" type="pres">
      <dgm:prSet presAssocID="{A85BBF23-EB70-4A4F-BA70-FB508CABF458}" presName="tx1" presStyleLbl="revTx" presStyleIdx="5" presStyleCnt="7"/>
      <dgm:spPr/>
    </dgm:pt>
    <dgm:pt modelId="{895A3229-7935-4804-B449-0DE4906EAF25}" type="pres">
      <dgm:prSet presAssocID="{A85BBF23-EB70-4A4F-BA70-FB508CABF458}" presName="vert1" presStyleCnt="0"/>
      <dgm:spPr/>
    </dgm:pt>
    <dgm:pt modelId="{E20AA346-253E-4D8F-A620-977B1EB80DC5}" type="pres">
      <dgm:prSet presAssocID="{317579D5-420F-4264-B347-6F7C26F367B6}" presName="thickLine" presStyleLbl="alignNode1" presStyleIdx="6" presStyleCnt="7"/>
      <dgm:spPr/>
    </dgm:pt>
    <dgm:pt modelId="{FBF13912-71A8-413A-92E2-971F3A310E63}" type="pres">
      <dgm:prSet presAssocID="{317579D5-420F-4264-B347-6F7C26F367B6}" presName="horz1" presStyleCnt="0"/>
      <dgm:spPr/>
    </dgm:pt>
    <dgm:pt modelId="{6901E7F9-33C4-493B-AD93-18D14CDB21E8}" type="pres">
      <dgm:prSet presAssocID="{317579D5-420F-4264-B347-6F7C26F367B6}" presName="tx1" presStyleLbl="revTx" presStyleIdx="6" presStyleCnt="7"/>
      <dgm:spPr/>
    </dgm:pt>
    <dgm:pt modelId="{38B4D921-09C0-4AED-A275-D449BF1BAB79}" type="pres">
      <dgm:prSet presAssocID="{317579D5-420F-4264-B347-6F7C26F367B6}" presName="vert1" presStyleCnt="0"/>
      <dgm:spPr/>
    </dgm:pt>
  </dgm:ptLst>
  <dgm:cxnLst>
    <dgm:cxn modelId="{64DB370A-C7A8-48AD-8BDD-C8BCBF6F480B}" srcId="{7CFF7E21-B068-4630-8171-A9013B46105C}" destId="{DAC3E771-C7A6-4CED-9DC2-88BB41879424}" srcOrd="0" destOrd="0" parTransId="{00BC5A98-F7AF-4ECE-9FE6-A6A767C64792}" sibTransId="{4E5730E4-FABC-4BB0-90B0-44F07A4A3EFB}"/>
    <dgm:cxn modelId="{31EB8413-4E3A-4294-9E69-D5740FBF0AFC}" srcId="{7CFF7E21-B068-4630-8171-A9013B46105C}" destId="{84D3CBCF-EB1F-45E8-9B13-82C0DA0FF82D}" srcOrd="3" destOrd="0" parTransId="{9CC44DAC-9F9D-4E94-A92B-8BAA2C4224CB}" sibTransId="{7B83A92B-0F30-48E8-9B27-97F3B7D7986C}"/>
    <dgm:cxn modelId="{2A0C3526-1106-43B7-A8E9-6BE5DE4B67AD}" type="presOf" srcId="{7CFF7E21-B068-4630-8171-A9013B46105C}" destId="{B6AC5B7F-D4C6-454C-8B55-A6B3B5843F78}" srcOrd="0" destOrd="0" presId="urn:microsoft.com/office/officeart/2008/layout/LinedList"/>
    <dgm:cxn modelId="{5F59BF27-F4B5-4E87-9FEC-86A1941AFB5A}" srcId="{7CFF7E21-B068-4630-8171-A9013B46105C}" destId="{317579D5-420F-4264-B347-6F7C26F367B6}" srcOrd="6" destOrd="0" parTransId="{E20BB862-ED70-4044-9EBE-C23F9DF1BC91}" sibTransId="{7BA2F53F-B671-4934-B9EF-2454EFAFD14C}"/>
    <dgm:cxn modelId="{35924C4D-E76B-411D-8A75-BF98AE80FAD1}" type="presOf" srcId="{84D3CBCF-EB1F-45E8-9B13-82C0DA0FF82D}" destId="{6945DA89-F09B-4228-A111-B0336FDC3DA5}" srcOrd="0" destOrd="0" presId="urn:microsoft.com/office/officeart/2008/layout/LinedList"/>
    <dgm:cxn modelId="{3B22A250-313A-42FE-A9D4-8718B8DE89DB}" type="presOf" srcId="{8F1B7BAA-D309-4AC0-9208-F03C0D26686C}" destId="{01535DED-9141-40BC-8231-BFEB681F5110}" srcOrd="0" destOrd="0" presId="urn:microsoft.com/office/officeart/2008/layout/LinedList"/>
    <dgm:cxn modelId="{F8C53C5A-85AE-458E-82AE-00B570FDD3AE}" srcId="{7CFF7E21-B068-4630-8171-A9013B46105C}" destId="{FA2833EF-E989-4B71-832C-0CFD192A7040}" srcOrd="1" destOrd="0" parTransId="{86A8E70B-5DD0-4270-B3D2-6E38AC72C29E}" sibTransId="{07E9A10D-7C65-40BB-ACC1-00E1155D524A}"/>
    <dgm:cxn modelId="{1897436A-C6B5-44E6-891A-04918F68F15B}" type="presOf" srcId="{317579D5-420F-4264-B347-6F7C26F367B6}" destId="{6901E7F9-33C4-493B-AD93-18D14CDB21E8}" srcOrd="0" destOrd="0" presId="urn:microsoft.com/office/officeart/2008/layout/LinedList"/>
    <dgm:cxn modelId="{164F987F-176D-4C54-BD7D-D7250ADD7E31}" type="presOf" srcId="{FA2833EF-E989-4B71-832C-0CFD192A7040}" destId="{40EC5603-DC78-42B7-80B8-1F84359630BC}" srcOrd="0" destOrd="0" presId="urn:microsoft.com/office/officeart/2008/layout/LinedList"/>
    <dgm:cxn modelId="{568A618F-2B74-4E4C-B8CF-41EDA7D55452}" srcId="{7CFF7E21-B068-4630-8171-A9013B46105C}" destId="{A85BBF23-EB70-4A4F-BA70-FB508CABF458}" srcOrd="5" destOrd="0" parTransId="{73CDCD13-C31A-48CD-824E-048805DDED7B}" sibTransId="{34D0553E-4AB7-48B3-940C-CA9E13F08936}"/>
    <dgm:cxn modelId="{BD42A8C8-6659-4BCC-9C72-1D65E63A7B0A}" srcId="{7CFF7E21-B068-4630-8171-A9013B46105C}" destId="{8F1B7BAA-D309-4AC0-9208-F03C0D26686C}" srcOrd="2" destOrd="0" parTransId="{D264C49A-91D5-406E-AD49-8DC43182BBC2}" sibTransId="{09163556-D5C5-43B5-B251-2D4EF59E319F}"/>
    <dgm:cxn modelId="{7C5162D4-729F-46A2-AE11-0B003C4F9A84}" type="presOf" srcId="{346AFEE3-A493-437C-B102-BA31661B0DB6}" destId="{DC8690C9-29F6-4843-AF40-63DA96EF4F22}" srcOrd="0" destOrd="0" presId="urn:microsoft.com/office/officeart/2008/layout/LinedList"/>
    <dgm:cxn modelId="{BD49C2E1-3872-45C0-9D66-554B8513386E}" type="presOf" srcId="{A85BBF23-EB70-4A4F-BA70-FB508CABF458}" destId="{4F86F6B9-450A-4F54-983E-CF72266EE57C}" srcOrd="0" destOrd="0" presId="urn:microsoft.com/office/officeart/2008/layout/LinedList"/>
    <dgm:cxn modelId="{C2CF01EE-D942-429C-9CBB-E42E968694A3}" srcId="{7CFF7E21-B068-4630-8171-A9013B46105C}" destId="{346AFEE3-A493-437C-B102-BA31661B0DB6}" srcOrd="4" destOrd="0" parTransId="{3CFB8AC6-1C1A-4CD8-8E71-C0134512FB7B}" sibTransId="{298CF28F-435D-4C94-B0EC-4261BF8D3F8A}"/>
    <dgm:cxn modelId="{7054B9F5-3081-4FBF-9CC7-DDD39DE24B26}" type="presOf" srcId="{DAC3E771-C7A6-4CED-9DC2-88BB41879424}" destId="{040BBB10-6E7F-4365-822B-62657C0724C1}" srcOrd="0" destOrd="0" presId="urn:microsoft.com/office/officeart/2008/layout/LinedList"/>
    <dgm:cxn modelId="{9482DBF1-B6AA-41A2-8898-7351295F3F89}" type="presParOf" srcId="{B6AC5B7F-D4C6-454C-8B55-A6B3B5843F78}" destId="{AD1C7E95-22CF-45B3-B05B-35EBA441345D}" srcOrd="0" destOrd="0" presId="urn:microsoft.com/office/officeart/2008/layout/LinedList"/>
    <dgm:cxn modelId="{0D86CA18-8E05-4737-92AF-BFF94F42A2C9}" type="presParOf" srcId="{B6AC5B7F-D4C6-454C-8B55-A6B3B5843F78}" destId="{B3C69A4C-437F-4663-9362-CC2ADA8580BA}" srcOrd="1" destOrd="0" presId="urn:microsoft.com/office/officeart/2008/layout/LinedList"/>
    <dgm:cxn modelId="{D2DD81FB-88C7-4CD2-8B25-1B1D2CEE3B14}" type="presParOf" srcId="{B3C69A4C-437F-4663-9362-CC2ADA8580BA}" destId="{040BBB10-6E7F-4365-822B-62657C0724C1}" srcOrd="0" destOrd="0" presId="urn:microsoft.com/office/officeart/2008/layout/LinedList"/>
    <dgm:cxn modelId="{432ECEC5-2A75-480B-A504-07311CAA22EB}" type="presParOf" srcId="{B3C69A4C-437F-4663-9362-CC2ADA8580BA}" destId="{3C28EA8C-1580-4435-8E8D-7D8197B5E010}" srcOrd="1" destOrd="0" presId="urn:microsoft.com/office/officeart/2008/layout/LinedList"/>
    <dgm:cxn modelId="{EFBE2CB0-F0E0-4899-AC68-C4506F095894}" type="presParOf" srcId="{B6AC5B7F-D4C6-454C-8B55-A6B3B5843F78}" destId="{750D3B26-F3A0-45C3-913C-F548E4240F0F}" srcOrd="2" destOrd="0" presId="urn:microsoft.com/office/officeart/2008/layout/LinedList"/>
    <dgm:cxn modelId="{A110CB88-E596-4527-A3C0-AFFF83911B36}" type="presParOf" srcId="{B6AC5B7F-D4C6-454C-8B55-A6B3B5843F78}" destId="{37E831B5-F346-4899-8463-38DCCA715141}" srcOrd="3" destOrd="0" presId="urn:microsoft.com/office/officeart/2008/layout/LinedList"/>
    <dgm:cxn modelId="{21B757FE-AF7C-4FC9-A64E-541C5192E2E5}" type="presParOf" srcId="{37E831B5-F346-4899-8463-38DCCA715141}" destId="{40EC5603-DC78-42B7-80B8-1F84359630BC}" srcOrd="0" destOrd="0" presId="urn:microsoft.com/office/officeart/2008/layout/LinedList"/>
    <dgm:cxn modelId="{87D448BE-BA7E-480B-829B-1A9CBB2304E5}" type="presParOf" srcId="{37E831B5-F346-4899-8463-38DCCA715141}" destId="{14FF6C0B-52C0-4B83-BCCE-B1F204251C11}" srcOrd="1" destOrd="0" presId="urn:microsoft.com/office/officeart/2008/layout/LinedList"/>
    <dgm:cxn modelId="{EB60369B-9695-4375-BA4B-140CDDC92DBD}" type="presParOf" srcId="{B6AC5B7F-D4C6-454C-8B55-A6B3B5843F78}" destId="{BC45F16B-F922-41BB-9F14-587097708267}" srcOrd="4" destOrd="0" presId="urn:microsoft.com/office/officeart/2008/layout/LinedList"/>
    <dgm:cxn modelId="{B1226A7D-CDF0-4386-8F0E-2A80553D50C7}" type="presParOf" srcId="{B6AC5B7F-D4C6-454C-8B55-A6B3B5843F78}" destId="{3F35195B-D6E5-4528-A351-DF1D1364C698}" srcOrd="5" destOrd="0" presId="urn:microsoft.com/office/officeart/2008/layout/LinedList"/>
    <dgm:cxn modelId="{4FA54544-75B1-4EA5-BCC4-3C685732B2AA}" type="presParOf" srcId="{3F35195B-D6E5-4528-A351-DF1D1364C698}" destId="{01535DED-9141-40BC-8231-BFEB681F5110}" srcOrd="0" destOrd="0" presId="urn:microsoft.com/office/officeart/2008/layout/LinedList"/>
    <dgm:cxn modelId="{8CA90777-3021-4A2E-85C5-005DE73537A9}" type="presParOf" srcId="{3F35195B-D6E5-4528-A351-DF1D1364C698}" destId="{C048B6C7-B8A0-4FFA-B7FD-DC089D321D5F}" srcOrd="1" destOrd="0" presId="urn:microsoft.com/office/officeart/2008/layout/LinedList"/>
    <dgm:cxn modelId="{4F6237B5-A662-48E7-8EBB-DD78C29D8929}" type="presParOf" srcId="{B6AC5B7F-D4C6-454C-8B55-A6B3B5843F78}" destId="{E5E12374-9F56-4AA9-BE3C-3D7139BC50FB}" srcOrd="6" destOrd="0" presId="urn:microsoft.com/office/officeart/2008/layout/LinedList"/>
    <dgm:cxn modelId="{EA70373B-74C5-41C9-9E1A-65E207E94A90}" type="presParOf" srcId="{B6AC5B7F-D4C6-454C-8B55-A6B3B5843F78}" destId="{C926F55A-8C20-484A-ACD7-EE8CD161E90A}" srcOrd="7" destOrd="0" presId="urn:microsoft.com/office/officeart/2008/layout/LinedList"/>
    <dgm:cxn modelId="{B3FA9AED-3A0A-4EDC-9D25-5378B963A2B9}" type="presParOf" srcId="{C926F55A-8C20-484A-ACD7-EE8CD161E90A}" destId="{6945DA89-F09B-4228-A111-B0336FDC3DA5}" srcOrd="0" destOrd="0" presId="urn:microsoft.com/office/officeart/2008/layout/LinedList"/>
    <dgm:cxn modelId="{1245F1C5-BF40-49C9-B8AB-382F6D6C0C22}" type="presParOf" srcId="{C926F55A-8C20-484A-ACD7-EE8CD161E90A}" destId="{31CE3468-D518-4A9D-8742-3ED856F52CCE}" srcOrd="1" destOrd="0" presId="urn:microsoft.com/office/officeart/2008/layout/LinedList"/>
    <dgm:cxn modelId="{46FD8084-315A-4D7B-86FE-92330CC3FAA1}" type="presParOf" srcId="{B6AC5B7F-D4C6-454C-8B55-A6B3B5843F78}" destId="{6A548F8C-2D90-4770-A38E-B9F730D53D1C}" srcOrd="8" destOrd="0" presId="urn:microsoft.com/office/officeart/2008/layout/LinedList"/>
    <dgm:cxn modelId="{2545D447-D7F3-4024-9C19-E3BFC21E46F8}" type="presParOf" srcId="{B6AC5B7F-D4C6-454C-8B55-A6B3B5843F78}" destId="{61F9675E-0AAE-4985-ABD9-AB26D42CB7B8}" srcOrd="9" destOrd="0" presId="urn:microsoft.com/office/officeart/2008/layout/LinedList"/>
    <dgm:cxn modelId="{ED29D519-ECB0-4B55-BC07-2AAFB8D2B6FA}" type="presParOf" srcId="{61F9675E-0AAE-4985-ABD9-AB26D42CB7B8}" destId="{DC8690C9-29F6-4843-AF40-63DA96EF4F22}" srcOrd="0" destOrd="0" presId="urn:microsoft.com/office/officeart/2008/layout/LinedList"/>
    <dgm:cxn modelId="{D0D43073-47CC-4BE5-82A6-5A0994D70E06}" type="presParOf" srcId="{61F9675E-0AAE-4985-ABD9-AB26D42CB7B8}" destId="{CDC6F1A5-E8A4-4CF4-82A6-7D17B2891842}" srcOrd="1" destOrd="0" presId="urn:microsoft.com/office/officeart/2008/layout/LinedList"/>
    <dgm:cxn modelId="{BCADC12D-90EF-4DDC-9D56-C7FBA5C0E44B}" type="presParOf" srcId="{B6AC5B7F-D4C6-454C-8B55-A6B3B5843F78}" destId="{3AB1F763-1301-4452-9671-2CD9D1C4FD57}" srcOrd="10" destOrd="0" presId="urn:microsoft.com/office/officeart/2008/layout/LinedList"/>
    <dgm:cxn modelId="{675453C9-635C-49C8-AEC5-379B6703BDF8}" type="presParOf" srcId="{B6AC5B7F-D4C6-454C-8B55-A6B3B5843F78}" destId="{9945A5EB-2E82-43FB-A616-374415C4E15A}" srcOrd="11" destOrd="0" presId="urn:microsoft.com/office/officeart/2008/layout/LinedList"/>
    <dgm:cxn modelId="{53B7C1BF-29D0-47CB-9775-B47C024FC6AE}" type="presParOf" srcId="{9945A5EB-2E82-43FB-A616-374415C4E15A}" destId="{4F86F6B9-450A-4F54-983E-CF72266EE57C}" srcOrd="0" destOrd="0" presId="urn:microsoft.com/office/officeart/2008/layout/LinedList"/>
    <dgm:cxn modelId="{B64618FC-FA34-4ADA-9B10-2419AD3E7885}" type="presParOf" srcId="{9945A5EB-2E82-43FB-A616-374415C4E15A}" destId="{895A3229-7935-4804-B449-0DE4906EAF25}" srcOrd="1" destOrd="0" presId="urn:microsoft.com/office/officeart/2008/layout/LinedList"/>
    <dgm:cxn modelId="{2E7326E0-DE1A-4E8D-9FBF-CCD2809ACFBD}" type="presParOf" srcId="{B6AC5B7F-D4C6-454C-8B55-A6B3B5843F78}" destId="{E20AA346-253E-4D8F-A620-977B1EB80DC5}" srcOrd="12" destOrd="0" presId="urn:microsoft.com/office/officeart/2008/layout/LinedList"/>
    <dgm:cxn modelId="{FDEC82DF-88B2-4136-BBEF-EE45FD41B269}" type="presParOf" srcId="{B6AC5B7F-D4C6-454C-8B55-A6B3B5843F78}" destId="{FBF13912-71A8-413A-92E2-971F3A310E63}" srcOrd="13" destOrd="0" presId="urn:microsoft.com/office/officeart/2008/layout/LinedList"/>
    <dgm:cxn modelId="{A02969CD-5F60-475D-8562-6A76ABBA8D37}" type="presParOf" srcId="{FBF13912-71A8-413A-92E2-971F3A310E63}" destId="{6901E7F9-33C4-493B-AD93-18D14CDB21E8}" srcOrd="0" destOrd="0" presId="urn:microsoft.com/office/officeart/2008/layout/LinedList"/>
    <dgm:cxn modelId="{202D4D7D-6043-4FEE-A6CB-345B9DA6B9CE}" type="presParOf" srcId="{FBF13912-71A8-413A-92E2-971F3A310E63}" destId="{38B4D921-09C0-4AED-A275-D449BF1BAB7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7B1DF60-85D6-4435-A0FF-4BC13317F16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2B62683-91E5-4DA5-8EFF-CEFFB96261AD}">
      <dgm:prSet/>
      <dgm:spPr/>
      <dgm:t>
        <a:bodyPr/>
        <a:lstStyle/>
        <a:p>
          <a:r>
            <a:rPr lang="tr-TR" b="1"/>
            <a:t>A) </a:t>
          </a:r>
          <a:r>
            <a:rPr lang="tr-TR"/>
            <a:t>Yöneticinin bilgi sağlama rolü</a:t>
          </a:r>
          <a:endParaRPr lang="en-US"/>
        </a:p>
      </dgm:t>
    </dgm:pt>
    <dgm:pt modelId="{3A39CB37-0EE9-4B24-B029-1ED7044CA28A}" type="parTrans" cxnId="{DA78681D-A32F-49FD-A40C-BC5225A1BF4E}">
      <dgm:prSet/>
      <dgm:spPr/>
      <dgm:t>
        <a:bodyPr/>
        <a:lstStyle/>
        <a:p>
          <a:endParaRPr lang="en-US"/>
        </a:p>
      </dgm:t>
    </dgm:pt>
    <dgm:pt modelId="{EECB75B9-EDC0-435C-A4E4-C9267A6D09AC}" type="sibTrans" cxnId="{DA78681D-A32F-49FD-A40C-BC5225A1BF4E}">
      <dgm:prSet/>
      <dgm:spPr/>
      <dgm:t>
        <a:bodyPr/>
        <a:lstStyle/>
        <a:p>
          <a:endParaRPr lang="en-US"/>
        </a:p>
      </dgm:t>
    </dgm:pt>
    <dgm:pt modelId="{F55E7411-D881-4D69-AADE-CA4DB86C4DA3}">
      <dgm:prSet/>
      <dgm:spPr/>
      <dgm:t>
        <a:bodyPr/>
        <a:lstStyle/>
        <a:p>
          <a:r>
            <a:rPr lang="tr-TR" b="1"/>
            <a:t>B) </a:t>
          </a:r>
          <a:r>
            <a:rPr lang="tr-TR"/>
            <a:t>Yöneticinin karar almaya ilişkin rolü</a:t>
          </a:r>
          <a:endParaRPr lang="en-US"/>
        </a:p>
      </dgm:t>
    </dgm:pt>
    <dgm:pt modelId="{AB214ABF-E2E6-4ADF-BCF9-B1C920CF69AA}" type="parTrans" cxnId="{E59E6FC0-E1E8-48BD-9D3C-F75209695DB4}">
      <dgm:prSet/>
      <dgm:spPr/>
      <dgm:t>
        <a:bodyPr/>
        <a:lstStyle/>
        <a:p>
          <a:endParaRPr lang="en-US"/>
        </a:p>
      </dgm:t>
    </dgm:pt>
    <dgm:pt modelId="{7294662B-22C0-45EA-802E-E5357CAF5E43}" type="sibTrans" cxnId="{E59E6FC0-E1E8-48BD-9D3C-F75209695DB4}">
      <dgm:prSet/>
      <dgm:spPr/>
      <dgm:t>
        <a:bodyPr/>
        <a:lstStyle/>
        <a:p>
          <a:endParaRPr lang="en-US"/>
        </a:p>
      </dgm:t>
    </dgm:pt>
    <dgm:pt modelId="{EB9687B7-FA18-4E3F-BD6D-016A6DE9E74D}" type="pres">
      <dgm:prSet presAssocID="{47B1DF60-85D6-4435-A0FF-4BC13317F16E}" presName="root" presStyleCnt="0">
        <dgm:presLayoutVars>
          <dgm:dir/>
          <dgm:resizeHandles val="exact"/>
        </dgm:presLayoutVars>
      </dgm:prSet>
      <dgm:spPr/>
    </dgm:pt>
    <dgm:pt modelId="{E2DA0AA0-D84E-4895-9A5F-654550015AD7}" type="pres">
      <dgm:prSet presAssocID="{52B62683-91E5-4DA5-8EFF-CEFFB96261AD}" presName="compNode" presStyleCnt="0"/>
      <dgm:spPr/>
    </dgm:pt>
    <dgm:pt modelId="{2D300FF2-EB37-4CCA-A29A-B2BE63F4929F}" type="pres">
      <dgm:prSet presAssocID="{52B62683-91E5-4DA5-8EFF-CEFFB96261A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ontrol listesi"/>
        </a:ext>
      </dgm:extLst>
    </dgm:pt>
    <dgm:pt modelId="{F0264C89-15F2-406D-8DFA-412C7F0B1245}" type="pres">
      <dgm:prSet presAssocID="{52B62683-91E5-4DA5-8EFF-CEFFB96261AD}" presName="spaceRect" presStyleCnt="0"/>
      <dgm:spPr/>
    </dgm:pt>
    <dgm:pt modelId="{FF1A151D-5759-43FB-B288-CC6F48B4457D}" type="pres">
      <dgm:prSet presAssocID="{52B62683-91E5-4DA5-8EFF-CEFFB96261AD}" presName="textRect" presStyleLbl="revTx" presStyleIdx="0" presStyleCnt="2">
        <dgm:presLayoutVars>
          <dgm:chMax val="1"/>
          <dgm:chPref val="1"/>
        </dgm:presLayoutVars>
      </dgm:prSet>
      <dgm:spPr/>
    </dgm:pt>
    <dgm:pt modelId="{A309DE6C-9BD9-4243-9D38-4C071DC91B7D}" type="pres">
      <dgm:prSet presAssocID="{EECB75B9-EDC0-435C-A4E4-C9267A6D09AC}" presName="sibTrans" presStyleCnt="0"/>
      <dgm:spPr/>
    </dgm:pt>
    <dgm:pt modelId="{D29E8831-CABE-49BB-A7EB-8BFE3A59D315}" type="pres">
      <dgm:prSet presAssocID="{F55E7411-D881-4D69-AADE-CA4DB86C4DA3}" presName="compNode" presStyleCnt="0"/>
      <dgm:spPr/>
    </dgm:pt>
    <dgm:pt modelId="{6399A868-640C-4C43-AF32-3FD6F8CFA00C}" type="pres">
      <dgm:prSet presAssocID="{F55E7411-D881-4D69-AADE-CA4DB86C4DA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kmak"/>
        </a:ext>
      </dgm:extLst>
    </dgm:pt>
    <dgm:pt modelId="{A63069F0-6BEE-445C-9891-B98AB2271C79}" type="pres">
      <dgm:prSet presAssocID="{F55E7411-D881-4D69-AADE-CA4DB86C4DA3}" presName="spaceRect" presStyleCnt="0"/>
      <dgm:spPr/>
    </dgm:pt>
    <dgm:pt modelId="{FDE043C6-F00E-4856-8392-1F643B7FD2C9}" type="pres">
      <dgm:prSet presAssocID="{F55E7411-D881-4D69-AADE-CA4DB86C4DA3}" presName="textRect" presStyleLbl="revTx" presStyleIdx="1" presStyleCnt="2" custScaleY="242359" custLinFactY="18672" custLinFactNeighborX="-546" custLinFactNeighborY="100000">
        <dgm:presLayoutVars>
          <dgm:chMax val="1"/>
          <dgm:chPref val="1"/>
        </dgm:presLayoutVars>
      </dgm:prSet>
      <dgm:spPr/>
    </dgm:pt>
  </dgm:ptLst>
  <dgm:cxnLst>
    <dgm:cxn modelId="{DA78681D-A32F-49FD-A40C-BC5225A1BF4E}" srcId="{47B1DF60-85D6-4435-A0FF-4BC13317F16E}" destId="{52B62683-91E5-4DA5-8EFF-CEFFB96261AD}" srcOrd="0" destOrd="0" parTransId="{3A39CB37-0EE9-4B24-B029-1ED7044CA28A}" sibTransId="{EECB75B9-EDC0-435C-A4E4-C9267A6D09AC}"/>
    <dgm:cxn modelId="{227E3EBE-2B47-4093-BD01-D6FE2349F784}" type="presOf" srcId="{52B62683-91E5-4DA5-8EFF-CEFFB96261AD}" destId="{FF1A151D-5759-43FB-B288-CC6F48B4457D}" srcOrd="0" destOrd="0" presId="urn:microsoft.com/office/officeart/2018/2/layout/IconLabelList"/>
    <dgm:cxn modelId="{E59E6FC0-E1E8-48BD-9D3C-F75209695DB4}" srcId="{47B1DF60-85D6-4435-A0FF-4BC13317F16E}" destId="{F55E7411-D881-4D69-AADE-CA4DB86C4DA3}" srcOrd="1" destOrd="0" parTransId="{AB214ABF-E2E6-4ADF-BCF9-B1C920CF69AA}" sibTransId="{7294662B-22C0-45EA-802E-E5357CAF5E43}"/>
    <dgm:cxn modelId="{954ACAEE-39E1-4FD2-839B-DE68D61EB420}" type="presOf" srcId="{47B1DF60-85D6-4435-A0FF-4BC13317F16E}" destId="{EB9687B7-FA18-4E3F-BD6D-016A6DE9E74D}" srcOrd="0" destOrd="0" presId="urn:microsoft.com/office/officeart/2018/2/layout/IconLabelList"/>
    <dgm:cxn modelId="{60661CFF-8116-4AC1-A313-BD73B91789DC}" type="presOf" srcId="{F55E7411-D881-4D69-AADE-CA4DB86C4DA3}" destId="{FDE043C6-F00E-4856-8392-1F643B7FD2C9}" srcOrd="0" destOrd="0" presId="urn:microsoft.com/office/officeart/2018/2/layout/IconLabelList"/>
    <dgm:cxn modelId="{0BE88DB9-DFA5-42B0-B75B-5E16036626DC}" type="presParOf" srcId="{EB9687B7-FA18-4E3F-BD6D-016A6DE9E74D}" destId="{E2DA0AA0-D84E-4895-9A5F-654550015AD7}" srcOrd="0" destOrd="0" presId="urn:microsoft.com/office/officeart/2018/2/layout/IconLabelList"/>
    <dgm:cxn modelId="{3DC5F1E0-4FA8-48B6-BA69-FA79A35F702B}" type="presParOf" srcId="{E2DA0AA0-D84E-4895-9A5F-654550015AD7}" destId="{2D300FF2-EB37-4CCA-A29A-B2BE63F4929F}" srcOrd="0" destOrd="0" presId="urn:microsoft.com/office/officeart/2018/2/layout/IconLabelList"/>
    <dgm:cxn modelId="{C3F1997F-713D-4A4E-A01E-A7530AC34E0C}" type="presParOf" srcId="{E2DA0AA0-D84E-4895-9A5F-654550015AD7}" destId="{F0264C89-15F2-406D-8DFA-412C7F0B1245}" srcOrd="1" destOrd="0" presId="urn:microsoft.com/office/officeart/2018/2/layout/IconLabelList"/>
    <dgm:cxn modelId="{3A4CEC03-8186-4B5A-AB3C-772F11220453}" type="presParOf" srcId="{E2DA0AA0-D84E-4895-9A5F-654550015AD7}" destId="{FF1A151D-5759-43FB-B288-CC6F48B4457D}" srcOrd="2" destOrd="0" presId="urn:microsoft.com/office/officeart/2018/2/layout/IconLabelList"/>
    <dgm:cxn modelId="{CA7424D5-D68A-42F2-BD01-AF72B51C0C55}" type="presParOf" srcId="{EB9687B7-FA18-4E3F-BD6D-016A6DE9E74D}" destId="{A309DE6C-9BD9-4243-9D38-4C071DC91B7D}" srcOrd="1" destOrd="0" presId="urn:microsoft.com/office/officeart/2018/2/layout/IconLabelList"/>
    <dgm:cxn modelId="{E65957F5-612A-42DC-96F5-F4C6F75B6B2E}" type="presParOf" srcId="{EB9687B7-FA18-4E3F-BD6D-016A6DE9E74D}" destId="{D29E8831-CABE-49BB-A7EB-8BFE3A59D315}" srcOrd="2" destOrd="0" presId="urn:microsoft.com/office/officeart/2018/2/layout/IconLabelList"/>
    <dgm:cxn modelId="{45243A85-C9FD-4639-8A7B-DC16464B32EF}" type="presParOf" srcId="{D29E8831-CABE-49BB-A7EB-8BFE3A59D315}" destId="{6399A868-640C-4C43-AF32-3FD6F8CFA00C}" srcOrd="0" destOrd="0" presId="urn:microsoft.com/office/officeart/2018/2/layout/IconLabelList"/>
    <dgm:cxn modelId="{1D762115-A953-4C60-9968-622E5663D51B}" type="presParOf" srcId="{D29E8831-CABE-49BB-A7EB-8BFE3A59D315}" destId="{A63069F0-6BEE-445C-9891-B98AB2271C79}" srcOrd="1" destOrd="0" presId="urn:microsoft.com/office/officeart/2018/2/layout/IconLabelList"/>
    <dgm:cxn modelId="{0198B411-1627-4B24-915F-43C352665210}" type="presParOf" srcId="{D29E8831-CABE-49BB-A7EB-8BFE3A59D315}" destId="{FDE043C6-F00E-4856-8392-1F643B7FD2C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9F9CCE-B5B7-4EC4-8001-5AE417DD95E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6B6B812-BBAD-4ACE-92F6-4393A84E48EB}">
      <dgm:prSet/>
      <dgm:spPr/>
      <dgm:t>
        <a:bodyPr/>
        <a:lstStyle/>
        <a:p>
          <a:r>
            <a:rPr lang="tr-TR"/>
            <a:t>1) Alt Düzey Yöneticiler</a:t>
          </a:r>
          <a:endParaRPr lang="en-US"/>
        </a:p>
      </dgm:t>
    </dgm:pt>
    <dgm:pt modelId="{D903B46E-9E12-4CBB-954C-67B8AA7C482F}" type="parTrans" cxnId="{695C5873-6E43-4233-B1EF-2A15EE2C7003}">
      <dgm:prSet/>
      <dgm:spPr/>
      <dgm:t>
        <a:bodyPr/>
        <a:lstStyle/>
        <a:p>
          <a:endParaRPr lang="en-US"/>
        </a:p>
      </dgm:t>
    </dgm:pt>
    <dgm:pt modelId="{4A975319-8EB0-4E16-84C6-CEF4A8E088D4}" type="sibTrans" cxnId="{695C5873-6E43-4233-B1EF-2A15EE2C7003}">
      <dgm:prSet/>
      <dgm:spPr/>
      <dgm:t>
        <a:bodyPr/>
        <a:lstStyle/>
        <a:p>
          <a:endParaRPr lang="en-US"/>
        </a:p>
      </dgm:t>
    </dgm:pt>
    <dgm:pt modelId="{94EC591A-F368-45CE-8CA7-CAEDA7306F2B}">
      <dgm:prSet/>
      <dgm:spPr/>
      <dgm:t>
        <a:bodyPr/>
        <a:lstStyle/>
        <a:p>
          <a:r>
            <a:rPr lang="tr-TR"/>
            <a:t>2) Orta Düzey Yöneticiler</a:t>
          </a:r>
          <a:endParaRPr lang="en-US"/>
        </a:p>
      </dgm:t>
    </dgm:pt>
    <dgm:pt modelId="{02334199-FE95-4A9E-B2CF-58022401A518}" type="parTrans" cxnId="{C353BAF4-C864-4E47-A203-37119DCE7527}">
      <dgm:prSet/>
      <dgm:spPr/>
      <dgm:t>
        <a:bodyPr/>
        <a:lstStyle/>
        <a:p>
          <a:endParaRPr lang="en-US"/>
        </a:p>
      </dgm:t>
    </dgm:pt>
    <dgm:pt modelId="{29D84EFB-6726-498A-9EAB-8ABB275CE8FB}" type="sibTrans" cxnId="{C353BAF4-C864-4E47-A203-37119DCE7527}">
      <dgm:prSet/>
      <dgm:spPr/>
      <dgm:t>
        <a:bodyPr/>
        <a:lstStyle/>
        <a:p>
          <a:endParaRPr lang="en-US"/>
        </a:p>
      </dgm:t>
    </dgm:pt>
    <dgm:pt modelId="{EB585C4F-AD69-4FB1-AE7A-4DA78600BC1A}">
      <dgm:prSet/>
      <dgm:spPr/>
      <dgm:t>
        <a:bodyPr/>
        <a:lstStyle/>
        <a:p>
          <a:r>
            <a:rPr lang="tr-TR"/>
            <a:t>3) Üst Düzey(Tepe) ve Stratejik Yöneticiler</a:t>
          </a:r>
          <a:endParaRPr lang="en-US"/>
        </a:p>
      </dgm:t>
    </dgm:pt>
    <dgm:pt modelId="{FDE5DE75-3520-448E-AE72-566D0BE9E9F3}" type="parTrans" cxnId="{BEF98CBE-F00C-44F0-8A75-A2AB9E1695D4}">
      <dgm:prSet/>
      <dgm:spPr/>
      <dgm:t>
        <a:bodyPr/>
        <a:lstStyle/>
        <a:p>
          <a:endParaRPr lang="en-US"/>
        </a:p>
      </dgm:t>
    </dgm:pt>
    <dgm:pt modelId="{31F51473-74F5-486B-8558-90E35B558D5A}" type="sibTrans" cxnId="{BEF98CBE-F00C-44F0-8A75-A2AB9E1695D4}">
      <dgm:prSet/>
      <dgm:spPr/>
      <dgm:t>
        <a:bodyPr/>
        <a:lstStyle/>
        <a:p>
          <a:endParaRPr lang="en-US"/>
        </a:p>
      </dgm:t>
    </dgm:pt>
    <dgm:pt modelId="{CF994799-DC7C-42DB-8DDB-730C5109EAA8}" type="pres">
      <dgm:prSet presAssocID="{629F9CCE-B5B7-4EC4-8001-5AE417DD95ED}" presName="root" presStyleCnt="0">
        <dgm:presLayoutVars>
          <dgm:dir/>
          <dgm:resizeHandles val="exact"/>
        </dgm:presLayoutVars>
      </dgm:prSet>
      <dgm:spPr/>
    </dgm:pt>
    <dgm:pt modelId="{F8C390CE-D630-4C26-9219-864CD2F0F902}" type="pres">
      <dgm:prSet presAssocID="{E6B6B812-BBAD-4ACE-92F6-4393A84E48EB}" presName="compNode" presStyleCnt="0"/>
      <dgm:spPr/>
    </dgm:pt>
    <dgm:pt modelId="{A8AF9466-F6D3-4BAC-B19B-1900F54838B6}" type="pres">
      <dgm:prSet presAssocID="{E6B6B812-BBAD-4ACE-92F6-4393A84E48EB}" presName="bgRect" presStyleLbl="bgShp" presStyleIdx="0" presStyleCnt="3"/>
      <dgm:spPr/>
    </dgm:pt>
    <dgm:pt modelId="{45054131-5679-4BE1-8430-7EA9AC0BB7EE}" type="pres">
      <dgm:prSet presAssocID="{E6B6B812-BBAD-4ACE-92F6-4393A84E48E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ullanıcılar"/>
        </a:ext>
      </dgm:extLst>
    </dgm:pt>
    <dgm:pt modelId="{FA6029B9-FDDD-425F-90BC-C4E4007547C0}" type="pres">
      <dgm:prSet presAssocID="{E6B6B812-BBAD-4ACE-92F6-4393A84E48EB}" presName="spaceRect" presStyleCnt="0"/>
      <dgm:spPr/>
    </dgm:pt>
    <dgm:pt modelId="{590FE8A0-30F3-4299-8A9A-3CDF9F6AB168}" type="pres">
      <dgm:prSet presAssocID="{E6B6B812-BBAD-4ACE-92F6-4393A84E48EB}" presName="parTx" presStyleLbl="revTx" presStyleIdx="0" presStyleCnt="3">
        <dgm:presLayoutVars>
          <dgm:chMax val="0"/>
          <dgm:chPref val="0"/>
        </dgm:presLayoutVars>
      </dgm:prSet>
      <dgm:spPr/>
    </dgm:pt>
    <dgm:pt modelId="{F066CB6E-D09F-4C6B-A954-3DDE0F292399}" type="pres">
      <dgm:prSet presAssocID="{4A975319-8EB0-4E16-84C6-CEF4A8E088D4}" presName="sibTrans" presStyleCnt="0"/>
      <dgm:spPr/>
    </dgm:pt>
    <dgm:pt modelId="{7F4E123A-0BF5-4823-BDB6-FD9F3126AE93}" type="pres">
      <dgm:prSet presAssocID="{94EC591A-F368-45CE-8CA7-CAEDA7306F2B}" presName="compNode" presStyleCnt="0"/>
      <dgm:spPr/>
    </dgm:pt>
    <dgm:pt modelId="{22C8D812-3FAC-454B-AE1F-68CEE9FBC829}" type="pres">
      <dgm:prSet presAssocID="{94EC591A-F368-45CE-8CA7-CAEDA7306F2B}" presName="bgRect" presStyleLbl="bgShp" presStyleIdx="1" presStyleCnt="3"/>
      <dgm:spPr/>
    </dgm:pt>
    <dgm:pt modelId="{741972AD-6B64-41B7-B2BF-BFF06EA6697F}" type="pres">
      <dgm:prSet presAssocID="{94EC591A-F368-45CE-8CA7-CAEDA7306F2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ullanıcı"/>
        </a:ext>
      </dgm:extLst>
    </dgm:pt>
    <dgm:pt modelId="{31101C36-1DD9-4851-8E69-FE755117F17E}" type="pres">
      <dgm:prSet presAssocID="{94EC591A-F368-45CE-8CA7-CAEDA7306F2B}" presName="spaceRect" presStyleCnt="0"/>
      <dgm:spPr/>
    </dgm:pt>
    <dgm:pt modelId="{AF25645E-0D56-4A85-B65F-9563A9CDD8C5}" type="pres">
      <dgm:prSet presAssocID="{94EC591A-F368-45CE-8CA7-CAEDA7306F2B}" presName="parTx" presStyleLbl="revTx" presStyleIdx="1" presStyleCnt="3">
        <dgm:presLayoutVars>
          <dgm:chMax val="0"/>
          <dgm:chPref val="0"/>
        </dgm:presLayoutVars>
      </dgm:prSet>
      <dgm:spPr/>
    </dgm:pt>
    <dgm:pt modelId="{D3CE82B3-C058-4B54-9536-7F75DEA33A43}" type="pres">
      <dgm:prSet presAssocID="{29D84EFB-6726-498A-9EAB-8ABB275CE8FB}" presName="sibTrans" presStyleCnt="0"/>
      <dgm:spPr/>
    </dgm:pt>
    <dgm:pt modelId="{F4405BCE-2D36-4F09-A42F-41CDBB1577A9}" type="pres">
      <dgm:prSet presAssocID="{EB585C4F-AD69-4FB1-AE7A-4DA78600BC1A}" presName="compNode" presStyleCnt="0"/>
      <dgm:spPr/>
    </dgm:pt>
    <dgm:pt modelId="{7B433347-7D8D-49F6-A331-11C0A192E66A}" type="pres">
      <dgm:prSet presAssocID="{EB585C4F-AD69-4FB1-AE7A-4DA78600BC1A}" presName="bgRect" presStyleLbl="bgShp" presStyleIdx="2" presStyleCnt="3"/>
      <dgm:spPr/>
    </dgm:pt>
    <dgm:pt modelId="{8395FE83-9EA2-4B00-A3F4-4DB0E1691CF8}" type="pres">
      <dgm:prSet presAssocID="{EB585C4F-AD69-4FB1-AE7A-4DA78600BC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yerarşi"/>
        </a:ext>
      </dgm:extLst>
    </dgm:pt>
    <dgm:pt modelId="{87494B33-874A-4CE8-A205-F25316C7EB81}" type="pres">
      <dgm:prSet presAssocID="{EB585C4F-AD69-4FB1-AE7A-4DA78600BC1A}" presName="spaceRect" presStyleCnt="0"/>
      <dgm:spPr/>
    </dgm:pt>
    <dgm:pt modelId="{47882C53-3637-40D4-BD36-F06A4E360A5D}" type="pres">
      <dgm:prSet presAssocID="{EB585C4F-AD69-4FB1-AE7A-4DA78600BC1A}" presName="parTx" presStyleLbl="revTx" presStyleIdx="2" presStyleCnt="3">
        <dgm:presLayoutVars>
          <dgm:chMax val="0"/>
          <dgm:chPref val="0"/>
        </dgm:presLayoutVars>
      </dgm:prSet>
      <dgm:spPr/>
    </dgm:pt>
  </dgm:ptLst>
  <dgm:cxnLst>
    <dgm:cxn modelId="{DF71822D-3190-4313-9B2A-042F15DDDF65}" type="presOf" srcId="{94EC591A-F368-45CE-8CA7-CAEDA7306F2B}" destId="{AF25645E-0D56-4A85-B65F-9563A9CDD8C5}" srcOrd="0" destOrd="0" presId="urn:microsoft.com/office/officeart/2018/2/layout/IconVerticalSolidList"/>
    <dgm:cxn modelId="{695C5873-6E43-4233-B1EF-2A15EE2C7003}" srcId="{629F9CCE-B5B7-4EC4-8001-5AE417DD95ED}" destId="{E6B6B812-BBAD-4ACE-92F6-4393A84E48EB}" srcOrd="0" destOrd="0" parTransId="{D903B46E-9E12-4CBB-954C-67B8AA7C482F}" sibTransId="{4A975319-8EB0-4E16-84C6-CEF4A8E088D4}"/>
    <dgm:cxn modelId="{6BF3EF8B-D2BE-4D52-8483-D9446EEE9B99}" type="presOf" srcId="{629F9CCE-B5B7-4EC4-8001-5AE417DD95ED}" destId="{CF994799-DC7C-42DB-8DDB-730C5109EAA8}" srcOrd="0" destOrd="0" presId="urn:microsoft.com/office/officeart/2018/2/layout/IconVerticalSolidList"/>
    <dgm:cxn modelId="{39DAA4B3-9457-4CEC-9C8C-9EA6F89BD964}" type="presOf" srcId="{E6B6B812-BBAD-4ACE-92F6-4393A84E48EB}" destId="{590FE8A0-30F3-4299-8A9A-3CDF9F6AB168}" srcOrd="0" destOrd="0" presId="urn:microsoft.com/office/officeart/2018/2/layout/IconVerticalSolidList"/>
    <dgm:cxn modelId="{BEF98CBE-F00C-44F0-8A75-A2AB9E1695D4}" srcId="{629F9CCE-B5B7-4EC4-8001-5AE417DD95ED}" destId="{EB585C4F-AD69-4FB1-AE7A-4DA78600BC1A}" srcOrd="2" destOrd="0" parTransId="{FDE5DE75-3520-448E-AE72-566D0BE9E9F3}" sibTransId="{31F51473-74F5-486B-8558-90E35B558D5A}"/>
    <dgm:cxn modelId="{813D35E2-051E-4FF7-9E2D-E29E292DEF50}" type="presOf" srcId="{EB585C4F-AD69-4FB1-AE7A-4DA78600BC1A}" destId="{47882C53-3637-40D4-BD36-F06A4E360A5D}" srcOrd="0" destOrd="0" presId="urn:microsoft.com/office/officeart/2018/2/layout/IconVerticalSolidList"/>
    <dgm:cxn modelId="{C353BAF4-C864-4E47-A203-37119DCE7527}" srcId="{629F9CCE-B5B7-4EC4-8001-5AE417DD95ED}" destId="{94EC591A-F368-45CE-8CA7-CAEDA7306F2B}" srcOrd="1" destOrd="0" parTransId="{02334199-FE95-4A9E-B2CF-58022401A518}" sibTransId="{29D84EFB-6726-498A-9EAB-8ABB275CE8FB}"/>
    <dgm:cxn modelId="{8A5327E2-C922-40AC-ABC9-02BF9BEC906B}" type="presParOf" srcId="{CF994799-DC7C-42DB-8DDB-730C5109EAA8}" destId="{F8C390CE-D630-4C26-9219-864CD2F0F902}" srcOrd="0" destOrd="0" presId="urn:microsoft.com/office/officeart/2018/2/layout/IconVerticalSolidList"/>
    <dgm:cxn modelId="{BE29CF84-5EF8-417C-8999-4F9E3AAE0D7E}" type="presParOf" srcId="{F8C390CE-D630-4C26-9219-864CD2F0F902}" destId="{A8AF9466-F6D3-4BAC-B19B-1900F54838B6}" srcOrd="0" destOrd="0" presId="urn:microsoft.com/office/officeart/2018/2/layout/IconVerticalSolidList"/>
    <dgm:cxn modelId="{B62706DF-3F07-401A-9E2A-A9B2B851738D}" type="presParOf" srcId="{F8C390CE-D630-4C26-9219-864CD2F0F902}" destId="{45054131-5679-4BE1-8430-7EA9AC0BB7EE}" srcOrd="1" destOrd="0" presId="urn:microsoft.com/office/officeart/2018/2/layout/IconVerticalSolidList"/>
    <dgm:cxn modelId="{2B1AF0D6-27D5-4875-B1A3-16FA0D001161}" type="presParOf" srcId="{F8C390CE-D630-4C26-9219-864CD2F0F902}" destId="{FA6029B9-FDDD-425F-90BC-C4E4007547C0}" srcOrd="2" destOrd="0" presId="urn:microsoft.com/office/officeart/2018/2/layout/IconVerticalSolidList"/>
    <dgm:cxn modelId="{E8987ADB-E264-4065-B71E-66FA57F5B57E}" type="presParOf" srcId="{F8C390CE-D630-4C26-9219-864CD2F0F902}" destId="{590FE8A0-30F3-4299-8A9A-3CDF9F6AB168}" srcOrd="3" destOrd="0" presId="urn:microsoft.com/office/officeart/2018/2/layout/IconVerticalSolidList"/>
    <dgm:cxn modelId="{7811B866-5611-4877-A917-887031FD4249}" type="presParOf" srcId="{CF994799-DC7C-42DB-8DDB-730C5109EAA8}" destId="{F066CB6E-D09F-4C6B-A954-3DDE0F292399}" srcOrd="1" destOrd="0" presId="urn:microsoft.com/office/officeart/2018/2/layout/IconVerticalSolidList"/>
    <dgm:cxn modelId="{C1DBF80E-9538-47AB-9BE8-D92E47B8AC2E}" type="presParOf" srcId="{CF994799-DC7C-42DB-8DDB-730C5109EAA8}" destId="{7F4E123A-0BF5-4823-BDB6-FD9F3126AE93}" srcOrd="2" destOrd="0" presId="urn:microsoft.com/office/officeart/2018/2/layout/IconVerticalSolidList"/>
    <dgm:cxn modelId="{E6BAE755-F87A-4604-B70F-B213ECEB6B17}" type="presParOf" srcId="{7F4E123A-0BF5-4823-BDB6-FD9F3126AE93}" destId="{22C8D812-3FAC-454B-AE1F-68CEE9FBC829}" srcOrd="0" destOrd="0" presId="urn:microsoft.com/office/officeart/2018/2/layout/IconVerticalSolidList"/>
    <dgm:cxn modelId="{B511305A-48D1-427C-9435-E8711CD94188}" type="presParOf" srcId="{7F4E123A-0BF5-4823-BDB6-FD9F3126AE93}" destId="{741972AD-6B64-41B7-B2BF-BFF06EA6697F}" srcOrd="1" destOrd="0" presId="urn:microsoft.com/office/officeart/2018/2/layout/IconVerticalSolidList"/>
    <dgm:cxn modelId="{8A674D36-CF34-4189-947B-587EB119227E}" type="presParOf" srcId="{7F4E123A-0BF5-4823-BDB6-FD9F3126AE93}" destId="{31101C36-1DD9-4851-8E69-FE755117F17E}" srcOrd="2" destOrd="0" presId="urn:microsoft.com/office/officeart/2018/2/layout/IconVerticalSolidList"/>
    <dgm:cxn modelId="{2762A2B3-255A-4E74-BCB4-7B0FAA5BAC17}" type="presParOf" srcId="{7F4E123A-0BF5-4823-BDB6-FD9F3126AE93}" destId="{AF25645E-0D56-4A85-B65F-9563A9CDD8C5}" srcOrd="3" destOrd="0" presId="urn:microsoft.com/office/officeart/2018/2/layout/IconVerticalSolidList"/>
    <dgm:cxn modelId="{F3D9A09E-EE2C-45FF-BB7A-D827C12271A5}" type="presParOf" srcId="{CF994799-DC7C-42DB-8DDB-730C5109EAA8}" destId="{D3CE82B3-C058-4B54-9536-7F75DEA33A43}" srcOrd="3" destOrd="0" presId="urn:microsoft.com/office/officeart/2018/2/layout/IconVerticalSolidList"/>
    <dgm:cxn modelId="{EC6DC52A-C2A8-4AB2-A8EE-D2B49A532D48}" type="presParOf" srcId="{CF994799-DC7C-42DB-8DDB-730C5109EAA8}" destId="{F4405BCE-2D36-4F09-A42F-41CDBB1577A9}" srcOrd="4" destOrd="0" presId="urn:microsoft.com/office/officeart/2018/2/layout/IconVerticalSolidList"/>
    <dgm:cxn modelId="{10934B10-5268-400B-8B18-665A630F520D}" type="presParOf" srcId="{F4405BCE-2D36-4F09-A42F-41CDBB1577A9}" destId="{7B433347-7D8D-49F6-A331-11C0A192E66A}" srcOrd="0" destOrd="0" presId="urn:microsoft.com/office/officeart/2018/2/layout/IconVerticalSolidList"/>
    <dgm:cxn modelId="{F9086022-EF55-4AA7-B3C7-2E49CC41279D}" type="presParOf" srcId="{F4405BCE-2D36-4F09-A42F-41CDBB1577A9}" destId="{8395FE83-9EA2-4B00-A3F4-4DB0E1691CF8}" srcOrd="1" destOrd="0" presId="urn:microsoft.com/office/officeart/2018/2/layout/IconVerticalSolidList"/>
    <dgm:cxn modelId="{40034202-5374-4A58-BD99-4D523A435EEB}" type="presParOf" srcId="{F4405BCE-2D36-4F09-A42F-41CDBB1577A9}" destId="{87494B33-874A-4CE8-A205-F25316C7EB81}" srcOrd="2" destOrd="0" presId="urn:microsoft.com/office/officeart/2018/2/layout/IconVerticalSolidList"/>
    <dgm:cxn modelId="{EABF924F-4A95-425E-81E5-E7DAD3E77538}" type="presParOf" srcId="{F4405BCE-2D36-4F09-A42F-41CDBB1577A9}" destId="{47882C53-3637-40D4-BD36-F06A4E360A5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A7AC9D6-2161-4DCA-8F0A-2C7D9F20DD2B}"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CACCDC00-98EA-4C19-BE61-DED3A36F9827}">
      <dgm:prSet/>
      <dgm:spPr/>
      <dgm:t>
        <a:bodyPr/>
        <a:lstStyle/>
        <a:p>
          <a:r>
            <a:rPr lang="tr-TR"/>
            <a:t>Yöneticiler yönettikleri faaliyetlerin kapsam veya alanlarına bağlı olarak fonksiyonel ve genel olmak üzere ikili bir sınıflandırma yapmak mümkündür. </a:t>
          </a:r>
          <a:endParaRPr lang="en-US"/>
        </a:p>
      </dgm:t>
    </dgm:pt>
    <dgm:pt modelId="{F3FA9441-21C4-4E5F-ABD3-07983030986F}" type="parTrans" cxnId="{F3F3DA37-5327-43CE-A9A4-4C0402C3E2BF}">
      <dgm:prSet/>
      <dgm:spPr/>
      <dgm:t>
        <a:bodyPr/>
        <a:lstStyle/>
        <a:p>
          <a:endParaRPr lang="en-US"/>
        </a:p>
      </dgm:t>
    </dgm:pt>
    <dgm:pt modelId="{55999140-0671-45F9-BB81-786D580CACB1}" type="sibTrans" cxnId="{F3F3DA37-5327-43CE-A9A4-4C0402C3E2BF}">
      <dgm:prSet/>
      <dgm:spPr/>
      <dgm:t>
        <a:bodyPr/>
        <a:lstStyle/>
        <a:p>
          <a:endParaRPr lang="en-US"/>
        </a:p>
      </dgm:t>
    </dgm:pt>
    <dgm:pt modelId="{98CC3FFB-69D1-46A6-99B2-087DDB4BEE44}">
      <dgm:prSet/>
      <dgm:spPr/>
      <dgm:t>
        <a:bodyPr/>
        <a:lstStyle/>
        <a:p>
          <a:r>
            <a:rPr lang="tr-TR" b="1"/>
            <a:t>Fonksiyonel yönetici: </a:t>
          </a:r>
          <a:r>
            <a:rPr lang="tr-TR"/>
            <a:t>Üretim, pazarlama, satış ve finansman gibi uzmanlaşmış bir örgütsel faaliyetten sorumlu olan yönetici</a:t>
          </a:r>
          <a:endParaRPr lang="en-US"/>
        </a:p>
      </dgm:t>
    </dgm:pt>
    <dgm:pt modelId="{EF508763-2988-439F-9094-2764C88A7AB1}" type="parTrans" cxnId="{8A9F693F-B45A-4C97-B246-2F0A3AC5CCE6}">
      <dgm:prSet/>
      <dgm:spPr/>
      <dgm:t>
        <a:bodyPr/>
        <a:lstStyle/>
        <a:p>
          <a:endParaRPr lang="en-US"/>
        </a:p>
      </dgm:t>
    </dgm:pt>
    <dgm:pt modelId="{74552B38-9127-41B5-8C33-F547EE6E5A24}" type="sibTrans" cxnId="{8A9F693F-B45A-4C97-B246-2F0A3AC5CCE6}">
      <dgm:prSet/>
      <dgm:spPr/>
      <dgm:t>
        <a:bodyPr/>
        <a:lstStyle/>
        <a:p>
          <a:endParaRPr lang="en-US"/>
        </a:p>
      </dgm:t>
    </dgm:pt>
    <dgm:pt modelId="{ACB73A9F-5434-4E71-8887-1CAB7168CCDC}">
      <dgm:prSet/>
      <dgm:spPr/>
      <dgm:t>
        <a:bodyPr/>
        <a:lstStyle/>
        <a:p>
          <a:r>
            <a:rPr lang="tr-TR" b="1"/>
            <a:t>Genel yönetici: </a:t>
          </a:r>
          <a:r>
            <a:rPr lang="tr-TR"/>
            <a:t>Büyük bir şirket, bunun bir işletmesi veya onun bir alt bölümü gibi karmaşık bir birimi yöneten ve yönlendiren kişi</a:t>
          </a:r>
          <a:endParaRPr lang="en-US"/>
        </a:p>
      </dgm:t>
    </dgm:pt>
    <dgm:pt modelId="{39098B9F-076E-4D1C-A292-2CC0D54C4D2F}" type="parTrans" cxnId="{3C7EB7F2-C6F4-4B23-9B58-F09DDBEE9056}">
      <dgm:prSet/>
      <dgm:spPr/>
      <dgm:t>
        <a:bodyPr/>
        <a:lstStyle/>
        <a:p>
          <a:endParaRPr lang="en-US"/>
        </a:p>
      </dgm:t>
    </dgm:pt>
    <dgm:pt modelId="{2120FE5F-8C64-44E7-8BA4-D0DEAB2FEEB2}" type="sibTrans" cxnId="{3C7EB7F2-C6F4-4B23-9B58-F09DDBEE9056}">
      <dgm:prSet/>
      <dgm:spPr/>
      <dgm:t>
        <a:bodyPr/>
        <a:lstStyle/>
        <a:p>
          <a:endParaRPr lang="en-US"/>
        </a:p>
      </dgm:t>
    </dgm:pt>
    <dgm:pt modelId="{D7BA8F6A-691B-40A0-ACF4-761650EDD26C}" type="pres">
      <dgm:prSet presAssocID="{CA7AC9D6-2161-4DCA-8F0A-2C7D9F20DD2B}" presName="Name0" presStyleCnt="0">
        <dgm:presLayoutVars>
          <dgm:dir/>
          <dgm:animLvl val="lvl"/>
          <dgm:resizeHandles val="exact"/>
        </dgm:presLayoutVars>
      </dgm:prSet>
      <dgm:spPr/>
    </dgm:pt>
    <dgm:pt modelId="{426CBEC6-AD1D-4D96-A29F-3B666098EFC5}" type="pres">
      <dgm:prSet presAssocID="{CACCDC00-98EA-4C19-BE61-DED3A36F9827}" presName="boxAndChildren" presStyleCnt="0"/>
      <dgm:spPr/>
    </dgm:pt>
    <dgm:pt modelId="{C46968A1-95FB-4454-8755-A02E46959DD5}" type="pres">
      <dgm:prSet presAssocID="{CACCDC00-98EA-4C19-BE61-DED3A36F9827}" presName="parentTextBox" presStyleLbl="node1" presStyleIdx="0" presStyleCnt="1"/>
      <dgm:spPr/>
    </dgm:pt>
    <dgm:pt modelId="{EC3FAEAA-6ABC-48FB-94D3-9AA0EF3F2B92}" type="pres">
      <dgm:prSet presAssocID="{CACCDC00-98EA-4C19-BE61-DED3A36F9827}" presName="entireBox" presStyleLbl="node1" presStyleIdx="0" presStyleCnt="1"/>
      <dgm:spPr/>
    </dgm:pt>
    <dgm:pt modelId="{E481803C-0749-4787-B860-19D6FD946E59}" type="pres">
      <dgm:prSet presAssocID="{CACCDC00-98EA-4C19-BE61-DED3A36F9827}" presName="descendantBox" presStyleCnt="0"/>
      <dgm:spPr/>
    </dgm:pt>
    <dgm:pt modelId="{2E7E083B-00D0-46C3-8AEE-D73B7DD654D1}" type="pres">
      <dgm:prSet presAssocID="{98CC3FFB-69D1-46A6-99B2-087DDB4BEE44}" presName="childTextBox" presStyleLbl="fgAccFollowNode1" presStyleIdx="0" presStyleCnt="2">
        <dgm:presLayoutVars>
          <dgm:bulletEnabled val="1"/>
        </dgm:presLayoutVars>
      </dgm:prSet>
      <dgm:spPr/>
    </dgm:pt>
    <dgm:pt modelId="{56C88489-2019-4CD1-9D0B-F1DA0BAED2C3}" type="pres">
      <dgm:prSet presAssocID="{ACB73A9F-5434-4E71-8887-1CAB7168CCDC}" presName="childTextBox" presStyleLbl="fgAccFollowNode1" presStyleIdx="1" presStyleCnt="2">
        <dgm:presLayoutVars>
          <dgm:bulletEnabled val="1"/>
        </dgm:presLayoutVars>
      </dgm:prSet>
      <dgm:spPr/>
    </dgm:pt>
  </dgm:ptLst>
  <dgm:cxnLst>
    <dgm:cxn modelId="{F3F3DA37-5327-43CE-A9A4-4C0402C3E2BF}" srcId="{CA7AC9D6-2161-4DCA-8F0A-2C7D9F20DD2B}" destId="{CACCDC00-98EA-4C19-BE61-DED3A36F9827}" srcOrd="0" destOrd="0" parTransId="{F3FA9441-21C4-4E5F-ABD3-07983030986F}" sibTransId="{55999140-0671-45F9-BB81-786D580CACB1}"/>
    <dgm:cxn modelId="{8A9F693F-B45A-4C97-B246-2F0A3AC5CCE6}" srcId="{CACCDC00-98EA-4C19-BE61-DED3A36F9827}" destId="{98CC3FFB-69D1-46A6-99B2-087DDB4BEE44}" srcOrd="0" destOrd="0" parTransId="{EF508763-2988-439F-9094-2764C88A7AB1}" sibTransId="{74552B38-9127-41B5-8C33-F547EE6E5A24}"/>
    <dgm:cxn modelId="{31961046-866C-49F3-92F0-E3BC718FCC7D}" type="presOf" srcId="{CACCDC00-98EA-4C19-BE61-DED3A36F9827}" destId="{C46968A1-95FB-4454-8755-A02E46959DD5}" srcOrd="0" destOrd="0" presId="urn:microsoft.com/office/officeart/2005/8/layout/process4"/>
    <dgm:cxn modelId="{BD21B755-8633-48B2-8B8B-B7FF46E1712F}" type="presOf" srcId="{98CC3FFB-69D1-46A6-99B2-087DDB4BEE44}" destId="{2E7E083B-00D0-46C3-8AEE-D73B7DD654D1}" srcOrd="0" destOrd="0" presId="urn:microsoft.com/office/officeart/2005/8/layout/process4"/>
    <dgm:cxn modelId="{68619556-7EE2-4639-B4DF-B59DC3D4F802}" type="presOf" srcId="{CA7AC9D6-2161-4DCA-8F0A-2C7D9F20DD2B}" destId="{D7BA8F6A-691B-40A0-ACF4-761650EDD26C}" srcOrd="0" destOrd="0" presId="urn:microsoft.com/office/officeart/2005/8/layout/process4"/>
    <dgm:cxn modelId="{6D455487-D584-4746-B00E-F130CA279ADF}" type="presOf" srcId="{ACB73A9F-5434-4E71-8887-1CAB7168CCDC}" destId="{56C88489-2019-4CD1-9D0B-F1DA0BAED2C3}" srcOrd="0" destOrd="0" presId="urn:microsoft.com/office/officeart/2005/8/layout/process4"/>
    <dgm:cxn modelId="{F49A2FCC-E65A-454B-9861-13CEEFABC7D9}" type="presOf" srcId="{CACCDC00-98EA-4C19-BE61-DED3A36F9827}" destId="{EC3FAEAA-6ABC-48FB-94D3-9AA0EF3F2B92}" srcOrd="1" destOrd="0" presId="urn:microsoft.com/office/officeart/2005/8/layout/process4"/>
    <dgm:cxn modelId="{3C7EB7F2-C6F4-4B23-9B58-F09DDBEE9056}" srcId="{CACCDC00-98EA-4C19-BE61-DED3A36F9827}" destId="{ACB73A9F-5434-4E71-8887-1CAB7168CCDC}" srcOrd="1" destOrd="0" parTransId="{39098B9F-076E-4D1C-A292-2CC0D54C4D2F}" sibTransId="{2120FE5F-8C64-44E7-8BA4-D0DEAB2FEEB2}"/>
    <dgm:cxn modelId="{526DFE40-71CF-4839-B6B3-8B7F1688E888}" type="presParOf" srcId="{D7BA8F6A-691B-40A0-ACF4-761650EDD26C}" destId="{426CBEC6-AD1D-4D96-A29F-3B666098EFC5}" srcOrd="0" destOrd="0" presId="urn:microsoft.com/office/officeart/2005/8/layout/process4"/>
    <dgm:cxn modelId="{AFA426F5-A3F5-4AD9-BA3D-C28618DCDDD4}" type="presParOf" srcId="{426CBEC6-AD1D-4D96-A29F-3B666098EFC5}" destId="{C46968A1-95FB-4454-8755-A02E46959DD5}" srcOrd="0" destOrd="0" presId="urn:microsoft.com/office/officeart/2005/8/layout/process4"/>
    <dgm:cxn modelId="{457787A8-16C8-411A-B0EA-676A403B6E6B}" type="presParOf" srcId="{426CBEC6-AD1D-4D96-A29F-3B666098EFC5}" destId="{EC3FAEAA-6ABC-48FB-94D3-9AA0EF3F2B92}" srcOrd="1" destOrd="0" presId="urn:microsoft.com/office/officeart/2005/8/layout/process4"/>
    <dgm:cxn modelId="{8F6F19C6-8378-45F4-BCDF-9009505B4DF0}" type="presParOf" srcId="{426CBEC6-AD1D-4D96-A29F-3B666098EFC5}" destId="{E481803C-0749-4787-B860-19D6FD946E59}" srcOrd="2" destOrd="0" presId="urn:microsoft.com/office/officeart/2005/8/layout/process4"/>
    <dgm:cxn modelId="{9352FE47-EAD7-4BD0-A2DE-8C8565871ACE}" type="presParOf" srcId="{E481803C-0749-4787-B860-19D6FD946E59}" destId="{2E7E083B-00D0-46C3-8AEE-D73B7DD654D1}" srcOrd="0" destOrd="0" presId="urn:microsoft.com/office/officeart/2005/8/layout/process4"/>
    <dgm:cxn modelId="{FDEBC875-78E3-4FB9-9D21-9744A395F70B}" type="presParOf" srcId="{E481803C-0749-4787-B860-19D6FD946E59}" destId="{56C88489-2019-4CD1-9D0B-F1DA0BAED2C3}"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085C829-AD5F-4CC1-A6FF-92A53FFF275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507E6E2-4A10-4B79-B137-B654053A5248}">
      <dgm:prSet/>
      <dgm:spPr/>
      <dgm:t>
        <a:bodyPr/>
        <a:lstStyle/>
        <a:p>
          <a:r>
            <a:rPr lang="tr-TR"/>
            <a:t>1) Örgütler tek tek bireyler olarak üstesinden gelemediğimiz işleri başarmamızı mümkün kılan toplumsal işbirliği sistemleridir</a:t>
          </a:r>
          <a:endParaRPr lang="en-US"/>
        </a:p>
      </dgm:t>
    </dgm:pt>
    <dgm:pt modelId="{3809519F-80E8-481E-AD88-A4E0796087B5}" type="parTrans" cxnId="{930EAF6B-0B9D-427C-93FB-E46FEDFC2361}">
      <dgm:prSet/>
      <dgm:spPr/>
      <dgm:t>
        <a:bodyPr/>
        <a:lstStyle/>
        <a:p>
          <a:endParaRPr lang="en-US"/>
        </a:p>
      </dgm:t>
    </dgm:pt>
    <dgm:pt modelId="{A5A67D60-09E2-4D76-BF55-F0F9895EA98A}" type="sibTrans" cxnId="{930EAF6B-0B9D-427C-93FB-E46FEDFC2361}">
      <dgm:prSet/>
      <dgm:spPr/>
      <dgm:t>
        <a:bodyPr/>
        <a:lstStyle/>
        <a:p>
          <a:endParaRPr lang="en-US"/>
        </a:p>
      </dgm:t>
    </dgm:pt>
    <dgm:pt modelId="{FA466DA5-0D01-448E-AACE-DAA146719FDC}">
      <dgm:prSet/>
      <dgm:spPr/>
      <dgm:t>
        <a:bodyPr/>
        <a:lstStyle/>
        <a:p>
          <a:r>
            <a:rPr lang="tr-TR"/>
            <a:t>2) Örgütler bilgilerin birikiminde ve gelecek nesillere aktarılmasında bizlere yardımcı olurlar</a:t>
          </a:r>
          <a:endParaRPr lang="en-US"/>
        </a:p>
      </dgm:t>
    </dgm:pt>
    <dgm:pt modelId="{575273E0-F764-4824-8B20-DC5D532641BD}" type="parTrans" cxnId="{E3F4A033-1AE7-4067-BCC9-C687EF3CC62F}">
      <dgm:prSet/>
      <dgm:spPr/>
      <dgm:t>
        <a:bodyPr/>
        <a:lstStyle/>
        <a:p>
          <a:endParaRPr lang="en-US"/>
        </a:p>
      </dgm:t>
    </dgm:pt>
    <dgm:pt modelId="{671B7913-2BE5-401B-BFC1-094CFAB5E9D7}" type="sibTrans" cxnId="{E3F4A033-1AE7-4067-BCC9-C687EF3CC62F}">
      <dgm:prSet/>
      <dgm:spPr/>
      <dgm:t>
        <a:bodyPr/>
        <a:lstStyle/>
        <a:p>
          <a:endParaRPr lang="en-US"/>
        </a:p>
      </dgm:t>
    </dgm:pt>
    <dgm:pt modelId="{484193A0-1F23-473B-B2D9-F5C8C789E6BE}">
      <dgm:prSet/>
      <dgm:spPr/>
      <dgm:t>
        <a:bodyPr/>
        <a:lstStyle/>
        <a:p>
          <a:r>
            <a:rPr lang="tr-TR"/>
            <a:t>3) Örgütler bizler için çok önemli meslek kaynakları olarak hizmet ederler</a:t>
          </a:r>
          <a:endParaRPr lang="en-US"/>
        </a:p>
      </dgm:t>
    </dgm:pt>
    <dgm:pt modelId="{42C17786-DA30-4E81-8C92-695A9A522FA6}" type="parTrans" cxnId="{CE8D7AE8-35CF-4986-AFC2-C2D0CB7EB9B3}">
      <dgm:prSet/>
      <dgm:spPr/>
      <dgm:t>
        <a:bodyPr/>
        <a:lstStyle/>
        <a:p>
          <a:endParaRPr lang="en-US"/>
        </a:p>
      </dgm:t>
    </dgm:pt>
    <dgm:pt modelId="{AFB5F22E-D1AE-41B3-B3DF-56D7E52DAE69}" type="sibTrans" cxnId="{CE8D7AE8-35CF-4986-AFC2-C2D0CB7EB9B3}">
      <dgm:prSet/>
      <dgm:spPr/>
      <dgm:t>
        <a:bodyPr/>
        <a:lstStyle/>
        <a:p>
          <a:endParaRPr lang="en-US"/>
        </a:p>
      </dgm:t>
    </dgm:pt>
    <dgm:pt modelId="{A47C3113-9625-BF42-B4EF-BB77BD48ED7C}" type="pres">
      <dgm:prSet presAssocID="{6085C829-AD5F-4CC1-A6FF-92A53FFF2757}" presName="linear" presStyleCnt="0">
        <dgm:presLayoutVars>
          <dgm:animLvl val="lvl"/>
          <dgm:resizeHandles val="exact"/>
        </dgm:presLayoutVars>
      </dgm:prSet>
      <dgm:spPr/>
    </dgm:pt>
    <dgm:pt modelId="{8BED9814-E1CE-4C46-8F07-9969B3E26BFE}" type="pres">
      <dgm:prSet presAssocID="{5507E6E2-4A10-4B79-B137-B654053A5248}" presName="parentText" presStyleLbl="node1" presStyleIdx="0" presStyleCnt="3">
        <dgm:presLayoutVars>
          <dgm:chMax val="0"/>
          <dgm:bulletEnabled val="1"/>
        </dgm:presLayoutVars>
      </dgm:prSet>
      <dgm:spPr/>
    </dgm:pt>
    <dgm:pt modelId="{371C3D56-EE2B-2740-93CF-6DA6731735D2}" type="pres">
      <dgm:prSet presAssocID="{A5A67D60-09E2-4D76-BF55-F0F9895EA98A}" presName="spacer" presStyleCnt="0"/>
      <dgm:spPr/>
    </dgm:pt>
    <dgm:pt modelId="{8942C531-D93D-CB4A-9FC3-4C53587C6662}" type="pres">
      <dgm:prSet presAssocID="{FA466DA5-0D01-448E-AACE-DAA146719FDC}" presName="parentText" presStyleLbl="node1" presStyleIdx="1" presStyleCnt="3">
        <dgm:presLayoutVars>
          <dgm:chMax val="0"/>
          <dgm:bulletEnabled val="1"/>
        </dgm:presLayoutVars>
      </dgm:prSet>
      <dgm:spPr/>
    </dgm:pt>
    <dgm:pt modelId="{5D0D738F-EC91-0247-8737-C6811A4EBB76}" type="pres">
      <dgm:prSet presAssocID="{671B7913-2BE5-401B-BFC1-094CFAB5E9D7}" presName="spacer" presStyleCnt="0"/>
      <dgm:spPr/>
    </dgm:pt>
    <dgm:pt modelId="{AE260052-716D-9B49-8275-1E7732600D70}" type="pres">
      <dgm:prSet presAssocID="{484193A0-1F23-473B-B2D9-F5C8C789E6BE}" presName="parentText" presStyleLbl="node1" presStyleIdx="2" presStyleCnt="3">
        <dgm:presLayoutVars>
          <dgm:chMax val="0"/>
          <dgm:bulletEnabled val="1"/>
        </dgm:presLayoutVars>
      </dgm:prSet>
      <dgm:spPr/>
    </dgm:pt>
  </dgm:ptLst>
  <dgm:cxnLst>
    <dgm:cxn modelId="{E3F4A033-1AE7-4067-BCC9-C687EF3CC62F}" srcId="{6085C829-AD5F-4CC1-A6FF-92A53FFF2757}" destId="{FA466DA5-0D01-448E-AACE-DAA146719FDC}" srcOrd="1" destOrd="0" parTransId="{575273E0-F764-4824-8B20-DC5D532641BD}" sibTransId="{671B7913-2BE5-401B-BFC1-094CFAB5E9D7}"/>
    <dgm:cxn modelId="{08654B4C-6602-1D48-91CB-3C9D583A36B5}" type="presOf" srcId="{FA466DA5-0D01-448E-AACE-DAA146719FDC}" destId="{8942C531-D93D-CB4A-9FC3-4C53587C6662}" srcOrd="0" destOrd="0" presId="urn:microsoft.com/office/officeart/2005/8/layout/vList2"/>
    <dgm:cxn modelId="{628E2B52-47D9-E94F-AC9B-FC6B845110AA}" type="presOf" srcId="{484193A0-1F23-473B-B2D9-F5C8C789E6BE}" destId="{AE260052-716D-9B49-8275-1E7732600D70}" srcOrd="0" destOrd="0" presId="urn:microsoft.com/office/officeart/2005/8/layout/vList2"/>
    <dgm:cxn modelId="{BDC6B858-CE3E-CE4C-9B64-8269BC1BFDE4}" type="presOf" srcId="{5507E6E2-4A10-4B79-B137-B654053A5248}" destId="{8BED9814-E1CE-4C46-8F07-9969B3E26BFE}" srcOrd="0" destOrd="0" presId="urn:microsoft.com/office/officeart/2005/8/layout/vList2"/>
    <dgm:cxn modelId="{990A485D-3942-C54D-9C52-D5906974A346}" type="presOf" srcId="{6085C829-AD5F-4CC1-A6FF-92A53FFF2757}" destId="{A47C3113-9625-BF42-B4EF-BB77BD48ED7C}" srcOrd="0" destOrd="0" presId="urn:microsoft.com/office/officeart/2005/8/layout/vList2"/>
    <dgm:cxn modelId="{930EAF6B-0B9D-427C-93FB-E46FEDFC2361}" srcId="{6085C829-AD5F-4CC1-A6FF-92A53FFF2757}" destId="{5507E6E2-4A10-4B79-B137-B654053A5248}" srcOrd="0" destOrd="0" parTransId="{3809519F-80E8-481E-AD88-A4E0796087B5}" sibTransId="{A5A67D60-09E2-4D76-BF55-F0F9895EA98A}"/>
    <dgm:cxn modelId="{CE8D7AE8-35CF-4986-AFC2-C2D0CB7EB9B3}" srcId="{6085C829-AD5F-4CC1-A6FF-92A53FFF2757}" destId="{484193A0-1F23-473B-B2D9-F5C8C789E6BE}" srcOrd="2" destOrd="0" parTransId="{42C17786-DA30-4E81-8C92-695A9A522FA6}" sibTransId="{AFB5F22E-D1AE-41B3-B3DF-56D7E52DAE69}"/>
    <dgm:cxn modelId="{A3CC99F0-68E3-4D4D-A174-D91A5788F31E}" type="presParOf" srcId="{A47C3113-9625-BF42-B4EF-BB77BD48ED7C}" destId="{8BED9814-E1CE-4C46-8F07-9969B3E26BFE}" srcOrd="0" destOrd="0" presId="urn:microsoft.com/office/officeart/2005/8/layout/vList2"/>
    <dgm:cxn modelId="{DFFCCCDA-198E-8A46-AD3B-9E5A1BD3B9F1}" type="presParOf" srcId="{A47C3113-9625-BF42-B4EF-BB77BD48ED7C}" destId="{371C3D56-EE2B-2740-93CF-6DA6731735D2}" srcOrd="1" destOrd="0" presId="urn:microsoft.com/office/officeart/2005/8/layout/vList2"/>
    <dgm:cxn modelId="{494F1084-AD80-3444-99F2-E10B5C9139BC}" type="presParOf" srcId="{A47C3113-9625-BF42-B4EF-BB77BD48ED7C}" destId="{8942C531-D93D-CB4A-9FC3-4C53587C6662}" srcOrd="2" destOrd="0" presId="urn:microsoft.com/office/officeart/2005/8/layout/vList2"/>
    <dgm:cxn modelId="{0582951C-E311-E147-B15F-6CFACDBE7639}" type="presParOf" srcId="{A47C3113-9625-BF42-B4EF-BB77BD48ED7C}" destId="{5D0D738F-EC91-0247-8737-C6811A4EBB76}" srcOrd="3" destOrd="0" presId="urn:microsoft.com/office/officeart/2005/8/layout/vList2"/>
    <dgm:cxn modelId="{248BC1AD-BD5D-7D4F-A2F6-35AE74EB0392}" type="presParOf" srcId="{A47C3113-9625-BF42-B4EF-BB77BD48ED7C}" destId="{AE260052-716D-9B49-8275-1E7732600D7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BAA07CC-1F85-4094-8023-706EE421CEDB}"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0DF2937E-AB7F-4002-AA78-84AF156D4264}">
      <dgm:prSet/>
      <dgm:spPr/>
      <dgm:t>
        <a:bodyPr/>
        <a:lstStyle/>
        <a:p>
          <a:r>
            <a:rPr lang="tr-TR"/>
            <a:t>Örgütlerde davranış veya örgütsel davranış, örgütsel yapı içinde insan davranışını anlamaya çalışan bir bilim dalıdır.</a:t>
          </a:r>
          <a:endParaRPr lang="en-US"/>
        </a:p>
      </dgm:t>
    </dgm:pt>
    <dgm:pt modelId="{B3088C32-8A62-4BCE-82BE-267EA36B86B1}" type="parTrans" cxnId="{37BB139B-523C-4A18-BE85-7079B616CB9A}">
      <dgm:prSet/>
      <dgm:spPr/>
      <dgm:t>
        <a:bodyPr/>
        <a:lstStyle/>
        <a:p>
          <a:endParaRPr lang="en-US"/>
        </a:p>
      </dgm:t>
    </dgm:pt>
    <dgm:pt modelId="{C44EE866-E62C-4BF8-AC4D-EB4CAF86D466}" type="sibTrans" cxnId="{37BB139B-523C-4A18-BE85-7079B616CB9A}">
      <dgm:prSet/>
      <dgm:spPr/>
      <dgm:t>
        <a:bodyPr/>
        <a:lstStyle/>
        <a:p>
          <a:endParaRPr lang="en-US"/>
        </a:p>
      </dgm:t>
    </dgm:pt>
    <dgm:pt modelId="{CE240137-FBC4-4FE6-A1A7-D1B498DE1D92}">
      <dgm:prSet/>
      <dgm:spPr/>
      <dgm:t>
        <a:bodyPr/>
        <a:lstStyle/>
        <a:p>
          <a:r>
            <a:rPr lang="tr-TR" dirty="0"/>
            <a:t>Örgütsel yapıyı oluşturan dinamiklerden insan, işlevsel çevre ve toplumsal çevrenin bir araya gelerek oluşturduğu sonuca davranış denir. Örgütlerde davranış, organizasyonun yapısı içerisinde işlevsel çevreden ve toplumsal çevreden etkilenen ve şekillenen insan davranışlarını anlamaya ve açıklamaya çalışan akademik bir disiplindir.</a:t>
          </a:r>
          <a:endParaRPr lang="en-US" dirty="0"/>
        </a:p>
      </dgm:t>
    </dgm:pt>
    <dgm:pt modelId="{5C687CB5-6E43-44AC-B49C-8C9CD82852EB}" type="parTrans" cxnId="{99D9456A-2AF5-492F-BEB8-D31A691F0883}">
      <dgm:prSet/>
      <dgm:spPr/>
      <dgm:t>
        <a:bodyPr/>
        <a:lstStyle/>
        <a:p>
          <a:endParaRPr lang="en-US"/>
        </a:p>
      </dgm:t>
    </dgm:pt>
    <dgm:pt modelId="{62487ACC-DD22-4A9B-91F1-31C64797603E}" type="sibTrans" cxnId="{99D9456A-2AF5-492F-BEB8-D31A691F0883}">
      <dgm:prSet/>
      <dgm:spPr/>
      <dgm:t>
        <a:bodyPr/>
        <a:lstStyle/>
        <a:p>
          <a:endParaRPr lang="en-US"/>
        </a:p>
      </dgm:t>
    </dgm:pt>
    <dgm:pt modelId="{1203E9A5-1DAB-4BC1-BA2A-8BF1059BA57A}">
      <dgm:prSet/>
      <dgm:spPr/>
      <dgm:t>
        <a:bodyPr/>
        <a:lstStyle/>
        <a:p>
          <a:r>
            <a:rPr lang="tr-TR"/>
            <a:t>Organizasyon yapısı ile ilgili çalışmalar daha çok organizasyonların formel yapıları ile ilgili iken, davranışı esas alan çalışmalar organizasyonların informal yönleri ile organizasyonun işleyişi ile ilgilidir.</a:t>
          </a:r>
          <a:endParaRPr lang="en-US"/>
        </a:p>
      </dgm:t>
    </dgm:pt>
    <dgm:pt modelId="{4BE143A0-CE29-4F8A-8F34-7175DB89041A}" type="parTrans" cxnId="{1EA12BC4-4835-49D5-A0B6-EFF7442807C2}">
      <dgm:prSet/>
      <dgm:spPr/>
      <dgm:t>
        <a:bodyPr/>
        <a:lstStyle/>
        <a:p>
          <a:endParaRPr lang="en-US"/>
        </a:p>
      </dgm:t>
    </dgm:pt>
    <dgm:pt modelId="{ABA000B7-61DE-4BB6-87E8-500ED7CC5068}" type="sibTrans" cxnId="{1EA12BC4-4835-49D5-A0B6-EFF7442807C2}">
      <dgm:prSet/>
      <dgm:spPr/>
      <dgm:t>
        <a:bodyPr/>
        <a:lstStyle/>
        <a:p>
          <a:endParaRPr lang="en-US"/>
        </a:p>
      </dgm:t>
    </dgm:pt>
    <dgm:pt modelId="{F7511CF2-0B3F-B944-B83D-8CFDA22B8402}" type="pres">
      <dgm:prSet presAssocID="{7BAA07CC-1F85-4094-8023-706EE421CEDB}" presName="Name0" presStyleCnt="0">
        <dgm:presLayoutVars>
          <dgm:dir/>
          <dgm:animLvl val="lvl"/>
          <dgm:resizeHandles val="exact"/>
        </dgm:presLayoutVars>
      </dgm:prSet>
      <dgm:spPr/>
    </dgm:pt>
    <dgm:pt modelId="{90E307E5-6D51-4148-B5ED-E2FB94CCA9E0}" type="pres">
      <dgm:prSet presAssocID="{1203E9A5-1DAB-4BC1-BA2A-8BF1059BA57A}" presName="boxAndChildren" presStyleCnt="0"/>
      <dgm:spPr/>
    </dgm:pt>
    <dgm:pt modelId="{A62C5752-5391-DA49-B54E-11518EFB55DF}" type="pres">
      <dgm:prSet presAssocID="{1203E9A5-1DAB-4BC1-BA2A-8BF1059BA57A}" presName="parentTextBox" presStyleLbl="node1" presStyleIdx="0" presStyleCnt="3"/>
      <dgm:spPr/>
    </dgm:pt>
    <dgm:pt modelId="{F06DE0AA-DF00-C24C-98C6-6E65C5BD3E60}" type="pres">
      <dgm:prSet presAssocID="{62487ACC-DD22-4A9B-91F1-31C64797603E}" presName="sp" presStyleCnt="0"/>
      <dgm:spPr/>
    </dgm:pt>
    <dgm:pt modelId="{2C483AF3-5A1C-1448-97FE-F21F0A44E976}" type="pres">
      <dgm:prSet presAssocID="{CE240137-FBC4-4FE6-A1A7-D1B498DE1D92}" presName="arrowAndChildren" presStyleCnt="0"/>
      <dgm:spPr/>
    </dgm:pt>
    <dgm:pt modelId="{5CFC6F54-FC90-D043-9F23-DFDFC0C43978}" type="pres">
      <dgm:prSet presAssocID="{CE240137-FBC4-4FE6-A1A7-D1B498DE1D92}" presName="parentTextArrow" presStyleLbl="node1" presStyleIdx="1" presStyleCnt="3"/>
      <dgm:spPr/>
    </dgm:pt>
    <dgm:pt modelId="{DA9C5DE3-1DD3-7E43-9E45-165774AD2FFE}" type="pres">
      <dgm:prSet presAssocID="{C44EE866-E62C-4BF8-AC4D-EB4CAF86D466}" presName="sp" presStyleCnt="0"/>
      <dgm:spPr/>
    </dgm:pt>
    <dgm:pt modelId="{A869CBF0-8D52-F440-B87F-DEF8C37CD71A}" type="pres">
      <dgm:prSet presAssocID="{0DF2937E-AB7F-4002-AA78-84AF156D4264}" presName="arrowAndChildren" presStyleCnt="0"/>
      <dgm:spPr/>
    </dgm:pt>
    <dgm:pt modelId="{EF977911-2717-4040-A298-44F945A9D002}" type="pres">
      <dgm:prSet presAssocID="{0DF2937E-AB7F-4002-AA78-84AF156D4264}" presName="parentTextArrow" presStyleLbl="node1" presStyleIdx="2" presStyleCnt="3"/>
      <dgm:spPr/>
    </dgm:pt>
  </dgm:ptLst>
  <dgm:cxnLst>
    <dgm:cxn modelId="{2E2B0B3E-21DD-AD4B-822E-1D328321951E}" type="presOf" srcId="{0DF2937E-AB7F-4002-AA78-84AF156D4264}" destId="{EF977911-2717-4040-A298-44F945A9D002}" srcOrd="0" destOrd="0" presId="urn:microsoft.com/office/officeart/2005/8/layout/process4"/>
    <dgm:cxn modelId="{216DCA44-1441-894F-9CE0-E76EE6AD205D}" type="presOf" srcId="{7BAA07CC-1F85-4094-8023-706EE421CEDB}" destId="{F7511CF2-0B3F-B944-B83D-8CFDA22B8402}" srcOrd="0" destOrd="0" presId="urn:microsoft.com/office/officeart/2005/8/layout/process4"/>
    <dgm:cxn modelId="{99D9456A-2AF5-492F-BEB8-D31A691F0883}" srcId="{7BAA07CC-1F85-4094-8023-706EE421CEDB}" destId="{CE240137-FBC4-4FE6-A1A7-D1B498DE1D92}" srcOrd="1" destOrd="0" parTransId="{5C687CB5-6E43-44AC-B49C-8C9CD82852EB}" sibTransId="{62487ACC-DD22-4A9B-91F1-31C64797603E}"/>
    <dgm:cxn modelId="{3E3B6B7D-544E-324D-B2DE-5450EC7E0100}" type="presOf" srcId="{CE240137-FBC4-4FE6-A1A7-D1B498DE1D92}" destId="{5CFC6F54-FC90-D043-9F23-DFDFC0C43978}" srcOrd="0" destOrd="0" presId="urn:microsoft.com/office/officeart/2005/8/layout/process4"/>
    <dgm:cxn modelId="{37BB139B-523C-4A18-BE85-7079B616CB9A}" srcId="{7BAA07CC-1F85-4094-8023-706EE421CEDB}" destId="{0DF2937E-AB7F-4002-AA78-84AF156D4264}" srcOrd="0" destOrd="0" parTransId="{B3088C32-8A62-4BCE-82BE-267EA36B86B1}" sibTransId="{C44EE866-E62C-4BF8-AC4D-EB4CAF86D466}"/>
    <dgm:cxn modelId="{1EA12BC4-4835-49D5-A0B6-EFF7442807C2}" srcId="{7BAA07CC-1F85-4094-8023-706EE421CEDB}" destId="{1203E9A5-1DAB-4BC1-BA2A-8BF1059BA57A}" srcOrd="2" destOrd="0" parTransId="{4BE143A0-CE29-4F8A-8F34-7175DB89041A}" sibTransId="{ABA000B7-61DE-4BB6-87E8-500ED7CC5068}"/>
    <dgm:cxn modelId="{3B966AF3-0088-B442-8222-4A387EFBE210}" type="presOf" srcId="{1203E9A5-1DAB-4BC1-BA2A-8BF1059BA57A}" destId="{A62C5752-5391-DA49-B54E-11518EFB55DF}" srcOrd="0" destOrd="0" presId="urn:microsoft.com/office/officeart/2005/8/layout/process4"/>
    <dgm:cxn modelId="{BD8F9946-BD57-BE4E-840E-1C9104D1EEC9}" type="presParOf" srcId="{F7511CF2-0B3F-B944-B83D-8CFDA22B8402}" destId="{90E307E5-6D51-4148-B5ED-E2FB94CCA9E0}" srcOrd="0" destOrd="0" presId="urn:microsoft.com/office/officeart/2005/8/layout/process4"/>
    <dgm:cxn modelId="{2DC343D0-0FEB-6540-A9DA-4D11F065A66B}" type="presParOf" srcId="{90E307E5-6D51-4148-B5ED-E2FB94CCA9E0}" destId="{A62C5752-5391-DA49-B54E-11518EFB55DF}" srcOrd="0" destOrd="0" presId="urn:microsoft.com/office/officeart/2005/8/layout/process4"/>
    <dgm:cxn modelId="{050730C8-9EAD-C843-AA94-4F759946394D}" type="presParOf" srcId="{F7511CF2-0B3F-B944-B83D-8CFDA22B8402}" destId="{F06DE0AA-DF00-C24C-98C6-6E65C5BD3E60}" srcOrd="1" destOrd="0" presId="urn:microsoft.com/office/officeart/2005/8/layout/process4"/>
    <dgm:cxn modelId="{746D7818-F7E6-EF42-B9D5-34B351B5982C}" type="presParOf" srcId="{F7511CF2-0B3F-B944-B83D-8CFDA22B8402}" destId="{2C483AF3-5A1C-1448-97FE-F21F0A44E976}" srcOrd="2" destOrd="0" presId="urn:microsoft.com/office/officeart/2005/8/layout/process4"/>
    <dgm:cxn modelId="{A8DCDE0C-4712-8347-9BE6-10D4B4C74A68}" type="presParOf" srcId="{2C483AF3-5A1C-1448-97FE-F21F0A44E976}" destId="{5CFC6F54-FC90-D043-9F23-DFDFC0C43978}" srcOrd="0" destOrd="0" presId="urn:microsoft.com/office/officeart/2005/8/layout/process4"/>
    <dgm:cxn modelId="{88FD70C5-D930-CA4E-B78C-55B89F07312E}" type="presParOf" srcId="{F7511CF2-0B3F-B944-B83D-8CFDA22B8402}" destId="{DA9C5DE3-1DD3-7E43-9E45-165774AD2FFE}" srcOrd="3" destOrd="0" presId="urn:microsoft.com/office/officeart/2005/8/layout/process4"/>
    <dgm:cxn modelId="{ACB3F02D-602E-FF4F-B384-4196B6EAA6FB}" type="presParOf" srcId="{F7511CF2-0B3F-B944-B83D-8CFDA22B8402}" destId="{A869CBF0-8D52-F440-B87F-DEF8C37CD71A}" srcOrd="4" destOrd="0" presId="urn:microsoft.com/office/officeart/2005/8/layout/process4"/>
    <dgm:cxn modelId="{690625EA-C410-6849-A27B-A18B9BB8515D}" type="presParOf" srcId="{A869CBF0-8D52-F440-B87F-DEF8C37CD71A}" destId="{EF977911-2717-4040-A298-44F945A9D002}"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6CACA8-93B7-484C-8EC5-8C5180011D6E}">
      <dsp:nvSpPr>
        <dsp:cNvPr id="0" name=""/>
        <dsp:cNvSpPr/>
      </dsp:nvSpPr>
      <dsp:spPr>
        <a:xfrm>
          <a:off x="2672939" y="18497"/>
          <a:ext cx="1681312" cy="16813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83C181-B0B7-4DBC-A970-381CA2AC53FA}">
      <dsp:nvSpPr>
        <dsp:cNvPr id="0" name=""/>
        <dsp:cNvSpPr/>
      </dsp:nvSpPr>
      <dsp:spPr>
        <a:xfrm>
          <a:off x="3031252" y="376810"/>
          <a:ext cx="964687" cy="9646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D9E6989-EC27-4E8F-A3D3-97BD7F3BFE8D}">
      <dsp:nvSpPr>
        <dsp:cNvPr id="0" name=""/>
        <dsp:cNvSpPr/>
      </dsp:nvSpPr>
      <dsp:spPr>
        <a:xfrm>
          <a:off x="2135471" y="2223498"/>
          <a:ext cx="27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tr-TR" sz="2500" kern="1200"/>
            <a:t>1.YÖNETİCİ-LİDER KAVRAMI</a:t>
          </a:r>
          <a:endParaRPr lang="en-US" sz="2500" kern="1200"/>
        </a:p>
      </dsp:txBody>
      <dsp:txXfrm>
        <a:off x="2135471" y="2223498"/>
        <a:ext cx="2756250" cy="720000"/>
      </dsp:txXfrm>
    </dsp:sp>
    <dsp:sp modelId="{2609082D-DB48-443D-86CF-A5C90CF79ADB}">
      <dsp:nvSpPr>
        <dsp:cNvPr id="0" name=""/>
        <dsp:cNvSpPr/>
      </dsp:nvSpPr>
      <dsp:spPr>
        <a:xfrm>
          <a:off x="5911533" y="18497"/>
          <a:ext cx="1681312" cy="16813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D5D485-5FA9-4099-A66B-14ECE3A43C91}">
      <dsp:nvSpPr>
        <dsp:cNvPr id="0" name=""/>
        <dsp:cNvSpPr/>
      </dsp:nvSpPr>
      <dsp:spPr>
        <a:xfrm>
          <a:off x="6269846" y="376810"/>
          <a:ext cx="964687" cy="9646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325E858-208A-4494-88C3-52997A3109B7}">
      <dsp:nvSpPr>
        <dsp:cNvPr id="0" name=""/>
        <dsp:cNvSpPr/>
      </dsp:nvSpPr>
      <dsp:spPr>
        <a:xfrm>
          <a:off x="5374064" y="2223498"/>
          <a:ext cx="275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tr-TR" sz="2500" kern="1200"/>
            <a:t>2.ÖRGÜT KAVRAMI</a:t>
          </a:r>
          <a:endParaRPr lang="en-US" sz="2500" kern="1200"/>
        </a:p>
      </dsp:txBody>
      <dsp:txXfrm>
        <a:off x="5374064" y="2223498"/>
        <a:ext cx="2756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52D29-0395-4B44-99CF-9A4E70AFE275}">
      <dsp:nvSpPr>
        <dsp:cNvPr id="0" name=""/>
        <dsp:cNvSpPr/>
      </dsp:nvSpPr>
      <dsp:spPr>
        <a:xfrm>
          <a:off x="0" y="3219351"/>
          <a:ext cx="6096000" cy="2112243"/>
        </a:xfrm>
        <a:prstGeom prst="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tr-TR" sz="2100" kern="1200"/>
            <a:t>Önceden belirlenmiş amaç ve hedeflere ulaşabilmek için elde bulunan kaynakları (İnsan, Bilgi, Tabiat, Sermaye) anlamlı bir şekilde bir araya getiren planlayan, örgütleyen koordine eden, yönelten ve denetleyen sürece yönetim denir .</a:t>
          </a:r>
          <a:endParaRPr lang="en-US" sz="2100" kern="1200"/>
        </a:p>
      </dsp:txBody>
      <dsp:txXfrm>
        <a:off x="0" y="3219351"/>
        <a:ext cx="6096000" cy="2112243"/>
      </dsp:txXfrm>
    </dsp:sp>
    <dsp:sp modelId="{67342FC5-B780-492E-90F1-08687FC7D3F9}">
      <dsp:nvSpPr>
        <dsp:cNvPr id="0" name=""/>
        <dsp:cNvSpPr/>
      </dsp:nvSpPr>
      <dsp:spPr>
        <a:xfrm rot="10800000">
          <a:off x="0" y="2405"/>
          <a:ext cx="6096000" cy="3248629"/>
        </a:xfrm>
        <a:prstGeom prst="upArrowCallout">
          <a:avLst/>
        </a:prstGeom>
        <a:solidFill>
          <a:schemeClr val="accent2">
            <a:hueOff val="453165"/>
            <a:satOff val="-47993"/>
            <a:lumOff val="-117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tr-TR" sz="2100" b="1" kern="1200"/>
            <a:t>YÖNETİM NEDİR?</a:t>
          </a:r>
          <a:endParaRPr lang="en-US" sz="2100" kern="1200"/>
        </a:p>
      </dsp:txBody>
      <dsp:txXfrm rot="10800000">
        <a:off x="0" y="2405"/>
        <a:ext cx="6096000" cy="2110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45715-0EF9-43CC-A510-7E36A8E5EF4B}">
      <dsp:nvSpPr>
        <dsp:cNvPr id="0" name=""/>
        <dsp:cNvSpPr/>
      </dsp:nvSpPr>
      <dsp:spPr>
        <a:xfrm>
          <a:off x="0" y="181617"/>
          <a:ext cx="6858000" cy="101088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a:t>Yönetim süreci onu işleten veya başka bir deyimle ona işlerlik kazandıran grup veya organlar açısından incelendiğinde üç tür yönetimin gündeme gelmesini sağlar.</a:t>
          </a:r>
          <a:endParaRPr lang="en-US" sz="1800" kern="1200"/>
        </a:p>
      </dsp:txBody>
      <dsp:txXfrm>
        <a:off x="49347" y="230964"/>
        <a:ext cx="6759306" cy="912186"/>
      </dsp:txXfrm>
    </dsp:sp>
    <dsp:sp modelId="{0102C697-C43C-4144-AC4D-D3146A136246}">
      <dsp:nvSpPr>
        <dsp:cNvPr id="0" name=""/>
        <dsp:cNvSpPr/>
      </dsp:nvSpPr>
      <dsp:spPr>
        <a:xfrm>
          <a:off x="0" y="1265651"/>
          <a:ext cx="6858000" cy="1010880"/>
        </a:xfrm>
        <a:prstGeom prst="roundRect">
          <a:avLst/>
        </a:prstGeom>
        <a:solidFill>
          <a:schemeClr val="accent2">
            <a:hueOff val="151055"/>
            <a:satOff val="-15998"/>
            <a:lumOff val="-39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a:solidFill>
                <a:schemeClr val="bg1"/>
              </a:solidFill>
            </a:rPr>
            <a:t>1.Ailesel yönetim</a:t>
          </a:r>
          <a:endParaRPr lang="en-US" sz="1800" kern="1200">
            <a:solidFill>
              <a:schemeClr val="bg1"/>
            </a:solidFill>
          </a:endParaRPr>
        </a:p>
      </dsp:txBody>
      <dsp:txXfrm>
        <a:off x="49347" y="1314998"/>
        <a:ext cx="6759306" cy="912186"/>
      </dsp:txXfrm>
    </dsp:sp>
    <dsp:sp modelId="{AB3F5487-4B0F-4718-B906-86B745C56AC2}">
      <dsp:nvSpPr>
        <dsp:cNvPr id="0" name=""/>
        <dsp:cNvSpPr/>
      </dsp:nvSpPr>
      <dsp:spPr>
        <a:xfrm>
          <a:off x="0" y="2307056"/>
          <a:ext cx="6858000" cy="1010880"/>
        </a:xfrm>
        <a:prstGeom prst="roundRect">
          <a:avLst/>
        </a:prstGeom>
        <a:solidFill>
          <a:schemeClr val="accent2">
            <a:hueOff val="302110"/>
            <a:satOff val="-31995"/>
            <a:lumOff val="-78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a:solidFill>
                <a:schemeClr val="bg1"/>
              </a:solidFill>
            </a:rPr>
            <a:t>2.Siyasal (politik) Yönetim</a:t>
          </a:r>
          <a:endParaRPr lang="en-US" sz="1800" kern="1200">
            <a:solidFill>
              <a:schemeClr val="bg1"/>
            </a:solidFill>
          </a:endParaRPr>
        </a:p>
      </dsp:txBody>
      <dsp:txXfrm>
        <a:off x="49347" y="2356403"/>
        <a:ext cx="6759306" cy="912186"/>
      </dsp:txXfrm>
    </dsp:sp>
    <dsp:sp modelId="{0DB3AF7B-5F6F-467B-9575-F30815C220CC}">
      <dsp:nvSpPr>
        <dsp:cNvPr id="0" name=""/>
        <dsp:cNvSpPr/>
      </dsp:nvSpPr>
      <dsp:spPr>
        <a:xfrm>
          <a:off x="0" y="3369777"/>
          <a:ext cx="6858000" cy="1010880"/>
        </a:xfrm>
        <a:prstGeom prst="roundRect">
          <a:avLst/>
        </a:prstGeom>
        <a:solidFill>
          <a:schemeClr val="accent2">
            <a:hueOff val="453165"/>
            <a:satOff val="-47993"/>
            <a:lumOff val="-117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tr-TR" sz="1800" kern="1200">
              <a:solidFill>
                <a:schemeClr val="bg1"/>
              </a:solidFill>
            </a:rPr>
            <a:t>3.Profesyonel (mesleki) Yönetim</a:t>
          </a:r>
          <a:endParaRPr lang="en-US" sz="1800" kern="1200">
            <a:solidFill>
              <a:schemeClr val="bg1"/>
            </a:solidFill>
          </a:endParaRPr>
        </a:p>
      </dsp:txBody>
      <dsp:txXfrm>
        <a:off x="49347" y="3419124"/>
        <a:ext cx="6759306" cy="9121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B1109-9FE9-46E5-A703-818769BD7B60}">
      <dsp:nvSpPr>
        <dsp:cNvPr id="0" name=""/>
        <dsp:cNvSpPr/>
      </dsp:nvSpPr>
      <dsp:spPr>
        <a:xfrm>
          <a:off x="0" y="651"/>
          <a:ext cx="6651253" cy="152498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5850C2-D6C9-4223-98F9-606D00D6C8FB}">
      <dsp:nvSpPr>
        <dsp:cNvPr id="0" name=""/>
        <dsp:cNvSpPr/>
      </dsp:nvSpPr>
      <dsp:spPr>
        <a:xfrm>
          <a:off x="461309" y="343774"/>
          <a:ext cx="838743" cy="838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A5E235-5474-4D09-B2ED-7F9792ADF177}">
      <dsp:nvSpPr>
        <dsp:cNvPr id="0" name=""/>
        <dsp:cNvSpPr/>
      </dsp:nvSpPr>
      <dsp:spPr>
        <a:xfrm>
          <a:off x="1761361" y="651"/>
          <a:ext cx="4889891" cy="1524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395" tIns="161395" rIns="161395" bIns="161395" numCol="1" spcCol="1270" anchor="ctr" anchorCtr="0">
          <a:noAutofit/>
        </a:bodyPr>
        <a:lstStyle/>
        <a:p>
          <a:pPr marL="0" lvl="0" indent="0" algn="l" defTabSz="977900">
            <a:lnSpc>
              <a:spcPct val="90000"/>
            </a:lnSpc>
            <a:spcBef>
              <a:spcPct val="0"/>
            </a:spcBef>
            <a:spcAft>
              <a:spcPct val="35000"/>
            </a:spcAft>
            <a:buNone/>
          </a:pPr>
          <a:r>
            <a:rPr lang="tr-TR" sz="2200" kern="1200" dirty="0"/>
            <a:t>Klasik düşünürler için yönetici=lider</a:t>
          </a:r>
          <a:endParaRPr lang="en-US" sz="2200" kern="1200" dirty="0"/>
        </a:p>
      </dsp:txBody>
      <dsp:txXfrm>
        <a:off x="1761361" y="651"/>
        <a:ext cx="4889891" cy="1524988"/>
      </dsp:txXfrm>
    </dsp:sp>
    <dsp:sp modelId="{C55A7EEE-E963-4592-8E67-FA7DDAA7CCFF}">
      <dsp:nvSpPr>
        <dsp:cNvPr id="0" name=""/>
        <dsp:cNvSpPr/>
      </dsp:nvSpPr>
      <dsp:spPr>
        <a:xfrm>
          <a:off x="0" y="1906887"/>
          <a:ext cx="6651253" cy="152498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B8238A-9573-42E4-B5B7-D171C107F1AE}">
      <dsp:nvSpPr>
        <dsp:cNvPr id="0" name=""/>
        <dsp:cNvSpPr/>
      </dsp:nvSpPr>
      <dsp:spPr>
        <a:xfrm>
          <a:off x="461309" y="2250010"/>
          <a:ext cx="838743" cy="838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D2F661F-1F53-4C52-B5C6-FE20F9FCFDFB}">
      <dsp:nvSpPr>
        <dsp:cNvPr id="0" name=""/>
        <dsp:cNvSpPr/>
      </dsp:nvSpPr>
      <dsp:spPr>
        <a:xfrm>
          <a:off x="1761361" y="1906887"/>
          <a:ext cx="4889891" cy="1524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395" tIns="161395" rIns="161395" bIns="161395" numCol="1" spcCol="1270" anchor="ctr" anchorCtr="0">
          <a:noAutofit/>
        </a:bodyPr>
        <a:lstStyle/>
        <a:p>
          <a:pPr marL="0" lvl="0" indent="0" algn="l" defTabSz="977900">
            <a:lnSpc>
              <a:spcPct val="90000"/>
            </a:lnSpc>
            <a:spcBef>
              <a:spcPct val="0"/>
            </a:spcBef>
            <a:spcAft>
              <a:spcPct val="35000"/>
            </a:spcAft>
            <a:buNone/>
          </a:pPr>
          <a:r>
            <a:rPr lang="tr-TR" sz="2200" kern="1200" dirty="0"/>
            <a:t>Günümüzde her yöneticinin mutlaka bir lider olmadığı fakat olması gerektiği görüşü hakimdir.</a:t>
          </a:r>
          <a:endParaRPr lang="en-US" sz="2200" kern="1200" dirty="0"/>
        </a:p>
      </dsp:txBody>
      <dsp:txXfrm>
        <a:off x="1761361" y="1906887"/>
        <a:ext cx="4889891" cy="1524988"/>
      </dsp:txXfrm>
    </dsp:sp>
    <dsp:sp modelId="{D19D7567-1D82-49F8-BEB9-8131FFC69254}">
      <dsp:nvSpPr>
        <dsp:cNvPr id="0" name=""/>
        <dsp:cNvSpPr/>
      </dsp:nvSpPr>
      <dsp:spPr>
        <a:xfrm>
          <a:off x="0" y="3813123"/>
          <a:ext cx="6651253" cy="152498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279C81-1C59-47DF-972B-80DE19567ACF}">
      <dsp:nvSpPr>
        <dsp:cNvPr id="0" name=""/>
        <dsp:cNvSpPr/>
      </dsp:nvSpPr>
      <dsp:spPr>
        <a:xfrm>
          <a:off x="461309" y="4156246"/>
          <a:ext cx="838743" cy="838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1B6AFE6-81E0-475D-9929-D14A71AA2172}">
      <dsp:nvSpPr>
        <dsp:cNvPr id="0" name=""/>
        <dsp:cNvSpPr/>
      </dsp:nvSpPr>
      <dsp:spPr>
        <a:xfrm>
          <a:off x="1761361" y="3813123"/>
          <a:ext cx="4889891" cy="1524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395" tIns="161395" rIns="161395" bIns="161395" numCol="1" spcCol="1270" anchor="ctr" anchorCtr="0">
          <a:noAutofit/>
        </a:bodyPr>
        <a:lstStyle/>
        <a:p>
          <a:pPr marL="0" lvl="0" indent="0" algn="l" defTabSz="977900">
            <a:lnSpc>
              <a:spcPct val="90000"/>
            </a:lnSpc>
            <a:spcBef>
              <a:spcPct val="0"/>
            </a:spcBef>
            <a:spcAft>
              <a:spcPct val="35000"/>
            </a:spcAft>
            <a:buNone/>
          </a:pPr>
          <a:r>
            <a:rPr lang="tr-TR" sz="2200" kern="1200"/>
            <a:t>Yönetici ancak liderlik yetenekleri sayesinde örgütte düzen ve uyumu sağlayabilir.</a:t>
          </a:r>
          <a:endParaRPr lang="en-US" sz="2200" kern="1200"/>
        </a:p>
      </dsp:txBody>
      <dsp:txXfrm>
        <a:off x="1761361" y="3813123"/>
        <a:ext cx="4889891" cy="15249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70F53-81AB-134C-AE03-573A4B82F847}">
      <dsp:nvSpPr>
        <dsp:cNvPr id="0" name=""/>
        <dsp:cNvSpPr/>
      </dsp:nvSpPr>
      <dsp:spPr>
        <a:xfrm>
          <a:off x="1283" y="405750"/>
          <a:ext cx="4505585" cy="286104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6361E4-81A3-4D47-B6D7-D8157F9E1F6B}">
      <dsp:nvSpPr>
        <dsp:cNvPr id="0" name=""/>
        <dsp:cNvSpPr/>
      </dsp:nvSpPr>
      <dsp:spPr>
        <a:xfrm>
          <a:off x="501904" y="881340"/>
          <a:ext cx="4505585" cy="286104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dirty="0"/>
            <a:t>Belirli durum veya koşullar altında amaca ulaşmak için başkalarının davranış ve eylemlerini etkileme sanatı olarak ifade edilebilir. </a:t>
          </a:r>
          <a:endParaRPr lang="en-US" sz="1800" kern="1200" dirty="0"/>
        </a:p>
      </dsp:txBody>
      <dsp:txXfrm>
        <a:off x="585701" y="965137"/>
        <a:ext cx="4337991" cy="2693452"/>
      </dsp:txXfrm>
    </dsp:sp>
    <dsp:sp modelId="{92476ABF-0D5C-0E4D-B073-F37482DC4478}">
      <dsp:nvSpPr>
        <dsp:cNvPr id="0" name=""/>
        <dsp:cNvSpPr/>
      </dsp:nvSpPr>
      <dsp:spPr>
        <a:xfrm>
          <a:off x="5508110" y="405750"/>
          <a:ext cx="4505585" cy="286104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0835C1-E097-E34A-82C0-3CFB39EE4C1C}">
      <dsp:nvSpPr>
        <dsp:cNvPr id="0" name=""/>
        <dsp:cNvSpPr/>
      </dsp:nvSpPr>
      <dsp:spPr>
        <a:xfrm>
          <a:off x="6008730" y="881340"/>
          <a:ext cx="4505585" cy="286104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b="1" kern="1200" dirty="0"/>
            <a:t>Liderlik</a:t>
          </a:r>
          <a:r>
            <a:rPr lang="tr-TR" sz="1800" kern="1200" dirty="0"/>
            <a:t>: Bir otorite veya statünün fonksiyonu olmaktan çok ‘bir şeyi başkalarına istetmek ve benimsemek suretiyle yaptırabilme gücüne sahip kişi olarak nitelendirilen lider ile izleyicileri arasında belirli durumlarda ortaya çıkan ve etkileşim şeklinde ifade edilen karşılıklı ilişkilerin bir fonksiyonu’ olarak tanımlanabilir.</a:t>
          </a:r>
          <a:endParaRPr lang="en-US" sz="1800" kern="1200" dirty="0"/>
        </a:p>
      </dsp:txBody>
      <dsp:txXfrm>
        <a:off x="6092527" y="965137"/>
        <a:ext cx="4337991" cy="26934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93ED7-0FAE-43AA-B02E-4841EC72F824}">
      <dsp:nvSpPr>
        <dsp:cNvPr id="0" name=""/>
        <dsp:cNvSpPr/>
      </dsp:nvSpPr>
      <dsp:spPr>
        <a:xfrm>
          <a:off x="1190484" y="21843"/>
          <a:ext cx="1269562" cy="12695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040CF9-514E-4B93-9CFD-771F2CCBD7E5}">
      <dsp:nvSpPr>
        <dsp:cNvPr id="0" name=""/>
        <dsp:cNvSpPr/>
      </dsp:nvSpPr>
      <dsp:spPr>
        <a:xfrm>
          <a:off x="1461046" y="292406"/>
          <a:ext cx="728437" cy="728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8551ACF-D565-43CB-A6F1-F101607E61F4}">
      <dsp:nvSpPr>
        <dsp:cNvPr id="0" name=""/>
        <dsp:cNvSpPr/>
      </dsp:nvSpPr>
      <dsp:spPr>
        <a:xfrm>
          <a:off x="784640" y="1686843"/>
          <a:ext cx="20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tr-TR" sz="1500" b="1" kern="1200"/>
            <a:t>Teknik Yetenek</a:t>
          </a:r>
          <a:endParaRPr lang="en-US" sz="1500" b="1" kern="1200"/>
        </a:p>
      </dsp:txBody>
      <dsp:txXfrm>
        <a:off x="784640" y="1686843"/>
        <a:ext cx="2081250" cy="720000"/>
      </dsp:txXfrm>
    </dsp:sp>
    <dsp:sp modelId="{DFC07764-B541-4AF7-8DCE-7F4B15FACB16}">
      <dsp:nvSpPr>
        <dsp:cNvPr id="0" name=""/>
        <dsp:cNvSpPr/>
      </dsp:nvSpPr>
      <dsp:spPr>
        <a:xfrm>
          <a:off x="3635953" y="21843"/>
          <a:ext cx="1269562" cy="12695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8E5E52-3E54-49AC-A4E4-B2B2DA695DC7}">
      <dsp:nvSpPr>
        <dsp:cNvPr id="0" name=""/>
        <dsp:cNvSpPr/>
      </dsp:nvSpPr>
      <dsp:spPr>
        <a:xfrm>
          <a:off x="3906515" y="292406"/>
          <a:ext cx="728437" cy="728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4AF98A0-33EC-4516-B599-A3DAEBF8F8FC}">
      <dsp:nvSpPr>
        <dsp:cNvPr id="0" name=""/>
        <dsp:cNvSpPr/>
      </dsp:nvSpPr>
      <dsp:spPr>
        <a:xfrm>
          <a:off x="3230109" y="1686843"/>
          <a:ext cx="20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tr-TR" sz="1500" b="1" kern="1200"/>
            <a:t>İnsancıl İlişkiler Kurma ve Geliştirme Yeteneği</a:t>
          </a:r>
          <a:endParaRPr lang="en-US" sz="1500" b="1" kern="1200"/>
        </a:p>
      </dsp:txBody>
      <dsp:txXfrm>
        <a:off x="3230109" y="1686843"/>
        <a:ext cx="2081250" cy="720000"/>
      </dsp:txXfrm>
    </dsp:sp>
    <dsp:sp modelId="{229832FA-C4C2-4F0C-A976-853F46AF940E}">
      <dsp:nvSpPr>
        <dsp:cNvPr id="0" name=""/>
        <dsp:cNvSpPr/>
      </dsp:nvSpPr>
      <dsp:spPr>
        <a:xfrm>
          <a:off x="2413218" y="2927156"/>
          <a:ext cx="1269562" cy="126956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0FDDC8-6E6A-4A26-AF84-86249F13CA59}">
      <dsp:nvSpPr>
        <dsp:cNvPr id="0" name=""/>
        <dsp:cNvSpPr/>
      </dsp:nvSpPr>
      <dsp:spPr>
        <a:xfrm>
          <a:off x="2683781" y="3197718"/>
          <a:ext cx="728437" cy="728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524F2CD-A03E-4783-ADF1-0FB3928FA0E8}">
      <dsp:nvSpPr>
        <dsp:cNvPr id="0" name=""/>
        <dsp:cNvSpPr/>
      </dsp:nvSpPr>
      <dsp:spPr>
        <a:xfrm>
          <a:off x="2007375" y="4592156"/>
          <a:ext cx="20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tr-TR" sz="1500" b="1" kern="1200"/>
            <a:t>Fikri Yetenek</a:t>
          </a:r>
          <a:endParaRPr lang="en-US" sz="1500" b="1" kern="1200"/>
        </a:p>
      </dsp:txBody>
      <dsp:txXfrm>
        <a:off x="2007375" y="4592156"/>
        <a:ext cx="20812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1C7E95-22CF-45B3-B05B-35EBA441345D}">
      <dsp:nvSpPr>
        <dsp:cNvPr id="0" name=""/>
        <dsp:cNvSpPr/>
      </dsp:nvSpPr>
      <dsp:spPr>
        <a:xfrm>
          <a:off x="0" y="651"/>
          <a:ext cx="6096000"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0BBB10-6E7F-4365-822B-62657C0724C1}">
      <dsp:nvSpPr>
        <dsp:cNvPr id="0" name=""/>
        <dsp:cNvSpPr/>
      </dsp:nvSpPr>
      <dsp:spPr>
        <a:xfrm>
          <a:off x="0" y="651"/>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tr-TR" sz="2100" b="1" kern="1200"/>
            <a:t>A</a:t>
          </a:r>
          <a:r>
            <a:rPr lang="tr-TR" sz="2100" kern="1200"/>
            <a:t>) Yönetici başkalarıyla çalışan ve onların vasıtasıyla amaca ulaşmaya çalışan kişidir</a:t>
          </a:r>
          <a:endParaRPr lang="en-US" sz="2100" kern="1200"/>
        </a:p>
      </dsp:txBody>
      <dsp:txXfrm>
        <a:off x="0" y="651"/>
        <a:ext cx="6096000" cy="761813"/>
      </dsp:txXfrm>
    </dsp:sp>
    <dsp:sp modelId="{750D3B26-F3A0-45C3-913C-F548E4240F0F}">
      <dsp:nvSpPr>
        <dsp:cNvPr id="0" name=""/>
        <dsp:cNvSpPr/>
      </dsp:nvSpPr>
      <dsp:spPr>
        <a:xfrm>
          <a:off x="0" y="762465"/>
          <a:ext cx="6096000" cy="0"/>
        </a:xfrm>
        <a:prstGeom prst="line">
          <a:avLst/>
        </a:prstGeom>
        <a:solidFill>
          <a:schemeClr val="accent2">
            <a:hueOff val="75528"/>
            <a:satOff val="-7999"/>
            <a:lumOff val="-196"/>
            <a:alphaOff val="0"/>
          </a:schemeClr>
        </a:solidFill>
        <a:ln w="15875" cap="rnd" cmpd="sng" algn="ctr">
          <a:solidFill>
            <a:schemeClr val="accent2">
              <a:hueOff val="75528"/>
              <a:satOff val="-7999"/>
              <a:lumOff val="-19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EC5603-DC78-42B7-80B8-1F84359630BC}">
      <dsp:nvSpPr>
        <dsp:cNvPr id="0" name=""/>
        <dsp:cNvSpPr/>
      </dsp:nvSpPr>
      <dsp:spPr>
        <a:xfrm>
          <a:off x="0" y="762465"/>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b="1" kern="1200"/>
            <a:t>B) </a:t>
          </a:r>
          <a:r>
            <a:rPr lang="tr-TR" sz="2100" kern="1200"/>
            <a:t>Yönetici rekabet halindeki amaçları dengeler</a:t>
          </a:r>
          <a:endParaRPr lang="en-US" sz="2100" kern="1200"/>
        </a:p>
      </dsp:txBody>
      <dsp:txXfrm>
        <a:off x="0" y="762465"/>
        <a:ext cx="6096000" cy="761813"/>
      </dsp:txXfrm>
    </dsp:sp>
    <dsp:sp modelId="{BC45F16B-F922-41BB-9F14-587097708267}">
      <dsp:nvSpPr>
        <dsp:cNvPr id="0" name=""/>
        <dsp:cNvSpPr/>
      </dsp:nvSpPr>
      <dsp:spPr>
        <a:xfrm>
          <a:off x="0" y="1524279"/>
          <a:ext cx="6096000" cy="0"/>
        </a:xfrm>
        <a:prstGeom prst="line">
          <a:avLst/>
        </a:prstGeom>
        <a:solidFill>
          <a:schemeClr val="accent2">
            <a:hueOff val="151055"/>
            <a:satOff val="-15998"/>
            <a:lumOff val="-392"/>
            <a:alphaOff val="0"/>
          </a:schemeClr>
        </a:solidFill>
        <a:ln w="15875" cap="rnd" cmpd="sng" algn="ctr">
          <a:solidFill>
            <a:schemeClr val="accent2">
              <a:hueOff val="151055"/>
              <a:satOff val="-15998"/>
              <a:lumOff val="-39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535DED-9141-40BC-8231-BFEB681F5110}">
      <dsp:nvSpPr>
        <dsp:cNvPr id="0" name=""/>
        <dsp:cNvSpPr/>
      </dsp:nvSpPr>
      <dsp:spPr>
        <a:xfrm>
          <a:off x="0" y="1524279"/>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b="1" kern="1200"/>
            <a:t>C) </a:t>
          </a:r>
          <a:r>
            <a:rPr lang="tr-TR" sz="2100" kern="1200"/>
            <a:t>Yönetici her şeyden önce sorumluluk yüklenen kişidir</a:t>
          </a:r>
          <a:endParaRPr lang="en-US" sz="2100" kern="1200"/>
        </a:p>
      </dsp:txBody>
      <dsp:txXfrm>
        <a:off x="0" y="1524279"/>
        <a:ext cx="6096000" cy="761813"/>
      </dsp:txXfrm>
    </dsp:sp>
    <dsp:sp modelId="{E5E12374-9F56-4AA9-BE3C-3D7139BC50FB}">
      <dsp:nvSpPr>
        <dsp:cNvPr id="0" name=""/>
        <dsp:cNvSpPr/>
      </dsp:nvSpPr>
      <dsp:spPr>
        <a:xfrm>
          <a:off x="0" y="2286093"/>
          <a:ext cx="6096000" cy="0"/>
        </a:xfrm>
        <a:prstGeom prst="line">
          <a:avLst/>
        </a:prstGeom>
        <a:solidFill>
          <a:schemeClr val="accent2">
            <a:hueOff val="226582"/>
            <a:satOff val="-23996"/>
            <a:lumOff val="-588"/>
            <a:alphaOff val="0"/>
          </a:schemeClr>
        </a:solidFill>
        <a:ln w="15875" cap="rnd" cmpd="sng" algn="ctr">
          <a:solidFill>
            <a:schemeClr val="accent2">
              <a:hueOff val="226582"/>
              <a:satOff val="-23996"/>
              <a:lumOff val="-5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45DA89-F09B-4228-A111-B0336FDC3DA5}">
      <dsp:nvSpPr>
        <dsp:cNvPr id="0" name=""/>
        <dsp:cNvSpPr/>
      </dsp:nvSpPr>
      <dsp:spPr>
        <a:xfrm>
          <a:off x="0" y="2286093"/>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b="1" kern="1200"/>
            <a:t>D) </a:t>
          </a:r>
          <a:r>
            <a:rPr lang="tr-TR" sz="2100" kern="1200"/>
            <a:t>Yönetici Kavramsal (Fikri) bir düşünürdür.</a:t>
          </a:r>
          <a:endParaRPr lang="en-US" sz="2100" kern="1200"/>
        </a:p>
      </dsp:txBody>
      <dsp:txXfrm>
        <a:off x="0" y="2286093"/>
        <a:ext cx="6096000" cy="761813"/>
      </dsp:txXfrm>
    </dsp:sp>
    <dsp:sp modelId="{6A548F8C-2D90-4770-A38E-B9F730D53D1C}">
      <dsp:nvSpPr>
        <dsp:cNvPr id="0" name=""/>
        <dsp:cNvSpPr/>
      </dsp:nvSpPr>
      <dsp:spPr>
        <a:xfrm>
          <a:off x="0" y="3047906"/>
          <a:ext cx="6096000" cy="0"/>
        </a:xfrm>
        <a:prstGeom prst="line">
          <a:avLst/>
        </a:prstGeom>
        <a:solidFill>
          <a:schemeClr val="accent2">
            <a:hueOff val="302110"/>
            <a:satOff val="-31995"/>
            <a:lumOff val="-784"/>
            <a:alphaOff val="0"/>
          </a:schemeClr>
        </a:solidFill>
        <a:ln w="15875" cap="rnd" cmpd="sng" algn="ctr">
          <a:solidFill>
            <a:schemeClr val="accent2">
              <a:hueOff val="302110"/>
              <a:satOff val="-31995"/>
              <a:lumOff val="-78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8690C9-29F6-4843-AF40-63DA96EF4F22}">
      <dsp:nvSpPr>
        <dsp:cNvPr id="0" name=""/>
        <dsp:cNvSpPr/>
      </dsp:nvSpPr>
      <dsp:spPr>
        <a:xfrm>
          <a:off x="0" y="3047906"/>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just" defTabSz="933450">
            <a:lnSpc>
              <a:spcPct val="90000"/>
            </a:lnSpc>
            <a:spcBef>
              <a:spcPct val="0"/>
            </a:spcBef>
            <a:spcAft>
              <a:spcPct val="35000"/>
            </a:spcAft>
            <a:buNone/>
          </a:pPr>
          <a:r>
            <a:rPr lang="tr-TR" sz="2100" b="1" kern="1200"/>
            <a:t>E) </a:t>
          </a:r>
          <a:r>
            <a:rPr lang="tr-TR" sz="2100" kern="1200"/>
            <a:t>Yönetici örgütte bir arabuluculuk işlevini yerine getirir</a:t>
          </a:r>
          <a:endParaRPr lang="en-US" sz="2100" kern="1200"/>
        </a:p>
      </dsp:txBody>
      <dsp:txXfrm>
        <a:off x="0" y="3047906"/>
        <a:ext cx="6096000" cy="761813"/>
      </dsp:txXfrm>
    </dsp:sp>
    <dsp:sp modelId="{3AB1F763-1301-4452-9671-2CD9D1C4FD57}">
      <dsp:nvSpPr>
        <dsp:cNvPr id="0" name=""/>
        <dsp:cNvSpPr/>
      </dsp:nvSpPr>
      <dsp:spPr>
        <a:xfrm>
          <a:off x="0" y="3809720"/>
          <a:ext cx="6096000" cy="0"/>
        </a:xfrm>
        <a:prstGeom prst="line">
          <a:avLst/>
        </a:prstGeom>
        <a:solidFill>
          <a:schemeClr val="accent2">
            <a:hueOff val="377637"/>
            <a:satOff val="-39994"/>
            <a:lumOff val="-980"/>
            <a:alphaOff val="0"/>
          </a:schemeClr>
        </a:solidFill>
        <a:ln w="15875" cap="rnd" cmpd="sng" algn="ctr">
          <a:solidFill>
            <a:schemeClr val="accent2">
              <a:hueOff val="377637"/>
              <a:satOff val="-39994"/>
              <a:lumOff val="-98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86F6B9-450A-4F54-983E-CF72266EE57C}">
      <dsp:nvSpPr>
        <dsp:cNvPr id="0" name=""/>
        <dsp:cNvSpPr/>
      </dsp:nvSpPr>
      <dsp:spPr>
        <a:xfrm>
          <a:off x="0" y="3809720"/>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b="1" kern="1200"/>
            <a:t>F) </a:t>
          </a:r>
          <a:r>
            <a:rPr lang="tr-TR" sz="2100" kern="1200"/>
            <a:t>Yönetici aynı zamanda bir politikacıdır.</a:t>
          </a:r>
          <a:endParaRPr lang="en-US" sz="2100" kern="1200"/>
        </a:p>
      </dsp:txBody>
      <dsp:txXfrm>
        <a:off x="0" y="3809720"/>
        <a:ext cx="6096000" cy="761813"/>
      </dsp:txXfrm>
    </dsp:sp>
    <dsp:sp modelId="{E20AA346-253E-4D8F-A620-977B1EB80DC5}">
      <dsp:nvSpPr>
        <dsp:cNvPr id="0" name=""/>
        <dsp:cNvSpPr/>
      </dsp:nvSpPr>
      <dsp:spPr>
        <a:xfrm>
          <a:off x="0" y="4571534"/>
          <a:ext cx="6096000" cy="0"/>
        </a:xfrm>
        <a:prstGeom prst="line">
          <a:avLst/>
        </a:prstGeom>
        <a:solidFill>
          <a:schemeClr val="accent2">
            <a:hueOff val="453165"/>
            <a:satOff val="-47993"/>
            <a:lumOff val="-1176"/>
            <a:alphaOff val="0"/>
          </a:schemeClr>
        </a:solidFill>
        <a:ln w="15875" cap="rnd" cmpd="sng" algn="ctr">
          <a:solidFill>
            <a:schemeClr val="accent2">
              <a:hueOff val="453165"/>
              <a:satOff val="-47993"/>
              <a:lumOff val="-11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01E7F9-33C4-493B-AD93-18D14CDB21E8}">
      <dsp:nvSpPr>
        <dsp:cNvPr id="0" name=""/>
        <dsp:cNvSpPr/>
      </dsp:nvSpPr>
      <dsp:spPr>
        <a:xfrm>
          <a:off x="0" y="4571534"/>
          <a:ext cx="6096000" cy="76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b="1" kern="1200"/>
            <a:t>G) </a:t>
          </a:r>
          <a:r>
            <a:rPr lang="tr-TR" sz="2100" kern="1200"/>
            <a:t>Yönetici bir diplomattır.</a:t>
          </a:r>
          <a:endParaRPr lang="en-US" sz="2100" kern="1200"/>
        </a:p>
      </dsp:txBody>
      <dsp:txXfrm>
        <a:off x="0" y="4571534"/>
        <a:ext cx="6096000" cy="7618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00FF2-EB37-4CCA-A29A-B2BE63F4929F}">
      <dsp:nvSpPr>
        <dsp:cNvPr id="0" name=""/>
        <dsp:cNvSpPr/>
      </dsp:nvSpPr>
      <dsp:spPr>
        <a:xfrm>
          <a:off x="839313" y="1511837"/>
          <a:ext cx="1235250" cy="12352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F1A151D-5759-43FB-B288-CC6F48B4457D}">
      <dsp:nvSpPr>
        <dsp:cNvPr id="0" name=""/>
        <dsp:cNvSpPr/>
      </dsp:nvSpPr>
      <dsp:spPr>
        <a:xfrm>
          <a:off x="84438" y="3092436"/>
          <a:ext cx="274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tr-TR" sz="2300" b="1" kern="1200"/>
            <a:t>A) </a:t>
          </a:r>
          <a:r>
            <a:rPr lang="tr-TR" sz="2300" kern="1200"/>
            <a:t>Yöneticinin bilgi sağlama rolü</a:t>
          </a:r>
          <a:endParaRPr lang="en-US" sz="2300" kern="1200"/>
        </a:p>
      </dsp:txBody>
      <dsp:txXfrm>
        <a:off x="84438" y="3092436"/>
        <a:ext cx="2745000" cy="720000"/>
      </dsp:txXfrm>
    </dsp:sp>
    <dsp:sp modelId="{6399A868-640C-4C43-AF32-3FD6F8CFA00C}">
      <dsp:nvSpPr>
        <dsp:cNvPr id="0" name=""/>
        <dsp:cNvSpPr/>
      </dsp:nvSpPr>
      <dsp:spPr>
        <a:xfrm>
          <a:off x="4064688" y="1255590"/>
          <a:ext cx="1235250" cy="1235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E043C6-F00E-4856-8392-1F643B7FD2C9}">
      <dsp:nvSpPr>
        <dsp:cNvPr id="0" name=""/>
        <dsp:cNvSpPr/>
      </dsp:nvSpPr>
      <dsp:spPr>
        <a:xfrm>
          <a:off x="3294825" y="3178136"/>
          <a:ext cx="2745000" cy="1744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tr-TR" sz="2300" b="1" kern="1200"/>
            <a:t>B) </a:t>
          </a:r>
          <a:r>
            <a:rPr lang="tr-TR" sz="2300" kern="1200"/>
            <a:t>Yöneticinin karar almaya ilişkin rolü</a:t>
          </a:r>
          <a:endParaRPr lang="en-US" sz="2300" kern="1200"/>
        </a:p>
      </dsp:txBody>
      <dsp:txXfrm>
        <a:off x="3294825" y="3178136"/>
        <a:ext cx="2745000" cy="17449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F9466-F6D3-4BAC-B19B-1900F54838B6}">
      <dsp:nvSpPr>
        <dsp:cNvPr id="0" name=""/>
        <dsp:cNvSpPr/>
      </dsp:nvSpPr>
      <dsp:spPr>
        <a:xfrm>
          <a:off x="0" y="651"/>
          <a:ext cx="6096000" cy="1523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54131-5679-4BE1-8430-7EA9AC0BB7EE}">
      <dsp:nvSpPr>
        <dsp:cNvPr id="0" name=""/>
        <dsp:cNvSpPr/>
      </dsp:nvSpPr>
      <dsp:spPr>
        <a:xfrm>
          <a:off x="460897" y="343467"/>
          <a:ext cx="837995" cy="8379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90FE8A0-30F3-4299-8A9A-3CDF9F6AB168}">
      <dsp:nvSpPr>
        <dsp:cNvPr id="0" name=""/>
        <dsp:cNvSpPr/>
      </dsp:nvSpPr>
      <dsp:spPr>
        <a:xfrm>
          <a:off x="1759790" y="651"/>
          <a:ext cx="4336209" cy="1523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251" tIns="161251" rIns="161251" bIns="161251" numCol="1" spcCol="1270" anchor="ctr" anchorCtr="0">
          <a:noAutofit/>
        </a:bodyPr>
        <a:lstStyle/>
        <a:p>
          <a:pPr marL="0" lvl="0" indent="0" algn="l" defTabSz="1111250">
            <a:lnSpc>
              <a:spcPct val="90000"/>
            </a:lnSpc>
            <a:spcBef>
              <a:spcPct val="0"/>
            </a:spcBef>
            <a:spcAft>
              <a:spcPct val="35000"/>
            </a:spcAft>
            <a:buNone/>
          </a:pPr>
          <a:r>
            <a:rPr lang="tr-TR" sz="2500" kern="1200"/>
            <a:t>1) Alt Düzey Yöneticiler</a:t>
          </a:r>
          <a:endParaRPr lang="en-US" sz="2500" kern="1200"/>
        </a:p>
      </dsp:txBody>
      <dsp:txXfrm>
        <a:off x="1759790" y="651"/>
        <a:ext cx="4336209" cy="1523627"/>
      </dsp:txXfrm>
    </dsp:sp>
    <dsp:sp modelId="{22C8D812-3FAC-454B-AE1F-68CEE9FBC829}">
      <dsp:nvSpPr>
        <dsp:cNvPr id="0" name=""/>
        <dsp:cNvSpPr/>
      </dsp:nvSpPr>
      <dsp:spPr>
        <a:xfrm>
          <a:off x="0" y="1905186"/>
          <a:ext cx="6096000" cy="1523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1972AD-6B64-41B7-B2BF-BFF06EA6697F}">
      <dsp:nvSpPr>
        <dsp:cNvPr id="0" name=""/>
        <dsp:cNvSpPr/>
      </dsp:nvSpPr>
      <dsp:spPr>
        <a:xfrm>
          <a:off x="460897" y="2248002"/>
          <a:ext cx="837995" cy="8379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F25645E-0D56-4A85-B65F-9563A9CDD8C5}">
      <dsp:nvSpPr>
        <dsp:cNvPr id="0" name=""/>
        <dsp:cNvSpPr/>
      </dsp:nvSpPr>
      <dsp:spPr>
        <a:xfrm>
          <a:off x="1759790" y="1905186"/>
          <a:ext cx="4336209" cy="1523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251" tIns="161251" rIns="161251" bIns="161251" numCol="1" spcCol="1270" anchor="ctr" anchorCtr="0">
          <a:noAutofit/>
        </a:bodyPr>
        <a:lstStyle/>
        <a:p>
          <a:pPr marL="0" lvl="0" indent="0" algn="l" defTabSz="1111250">
            <a:lnSpc>
              <a:spcPct val="90000"/>
            </a:lnSpc>
            <a:spcBef>
              <a:spcPct val="0"/>
            </a:spcBef>
            <a:spcAft>
              <a:spcPct val="35000"/>
            </a:spcAft>
            <a:buNone/>
          </a:pPr>
          <a:r>
            <a:rPr lang="tr-TR" sz="2500" kern="1200"/>
            <a:t>2) Orta Düzey Yöneticiler</a:t>
          </a:r>
          <a:endParaRPr lang="en-US" sz="2500" kern="1200"/>
        </a:p>
      </dsp:txBody>
      <dsp:txXfrm>
        <a:off x="1759790" y="1905186"/>
        <a:ext cx="4336209" cy="1523627"/>
      </dsp:txXfrm>
    </dsp:sp>
    <dsp:sp modelId="{7B433347-7D8D-49F6-A331-11C0A192E66A}">
      <dsp:nvSpPr>
        <dsp:cNvPr id="0" name=""/>
        <dsp:cNvSpPr/>
      </dsp:nvSpPr>
      <dsp:spPr>
        <a:xfrm>
          <a:off x="0" y="3809720"/>
          <a:ext cx="6096000" cy="1523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95FE83-9EA2-4B00-A3F4-4DB0E1691CF8}">
      <dsp:nvSpPr>
        <dsp:cNvPr id="0" name=""/>
        <dsp:cNvSpPr/>
      </dsp:nvSpPr>
      <dsp:spPr>
        <a:xfrm>
          <a:off x="460897" y="4152537"/>
          <a:ext cx="837995" cy="8379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7882C53-3637-40D4-BD36-F06A4E360A5D}">
      <dsp:nvSpPr>
        <dsp:cNvPr id="0" name=""/>
        <dsp:cNvSpPr/>
      </dsp:nvSpPr>
      <dsp:spPr>
        <a:xfrm>
          <a:off x="1759790" y="3809720"/>
          <a:ext cx="4336209" cy="1523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251" tIns="161251" rIns="161251" bIns="161251" numCol="1" spcCol="1270" anchor="ctr" anchorCtr="0">
          <a:noAutofit/>
        </a:bodyPr>
        <a:lstStyle/>
        <a:p>
          <a:pPr marL="0" lvl="0" indent="0" algn="l" defTabSz="1111250">
            <a:lnSpc>
              <a:spcPct val="90000"/>
            </a:lnSpc>
            <a:spcBef>
              <a:spcPct val="0"/>
            </a:spcBef>
            <a:spcAft>
              <a:spcPct val="35000"/>
            </a:spcAft>
            <a:buNone/>
          </a:pPr>
          <a:r>
            <a:rPr lang="tr-TR" sz="2500" kern="1200"/>
            <a:t>3) Üst Düzey(Tepe) ve Stratejik Yöneticiler</a:t>
          </a:r>
          <a:endParaRPr lang="en-US" sz="2500" kern="1200"/>
        </a:p>
      </dsp:txBody>
      <dsp:txXfrm>
        <a:off x="1759790" y="3809720"/>
        <a:ext cx="4336209" cy="152362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3FAEAA-6ABC-48FB-94D3-9AA0EF3F2B92}">
      <dsp:nvSpPr>
        <dsp:cNvPr id="0" name=""/>
        <dsp:cNvSpPr/>
      </dsp:nvSpPr>
      <dsp:spPr>
        <a:xfrm>
          <a:off x="0" y="0"/>
          <a:ext cx="6139252" cy="5324274"/>
        </a:xfrm>
        <a:prstGeom prst="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tr-TR" sz="2900" kern="1200"/>
            <a:t>Yöneticiler yönettikleri faaliyetlerin kapsam veya alanlarına bağlı olarak fonksiyonel ve genel olmak üzere ikili bir sınıflandırma yapmak mümkündür. </a:t>
          </a:r>
          <a:endParaRPr lang="en-US" sz="2900" kern="1200"/>
        </a:p>
      </dsp:txBody>
      <dsp:txXfrm>
        <a:off x="0" y="0"/>
        <a:ext cx="6139252" cy="2875107"/>
      </dsp:txXfrm>
    </dsp:sp>
    <dsp:sp modelId="{2E7E083B-00D0-46C3-8AEE-D73B7DD654D1}">
      <dsp:nvSpPr>
        <dsp:cNvPr id="0" name=""/>
        <dsp:cNvSpPr/>
      </dsp:nvSpPr>
      <dsp:spPr>
        <a:xfrm>
          <a:off x="0" y="2768622"/>
          <a:ext cx="3069626" cy="2449166"/>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tr-TR" sz="2100" b="1" kern="1200"/>
            <a:t>Fonksiyonel yönetici: </a:t>
          </a:r>
          <a:r>
            <a:rPr lang="tr-TR" sz="2100" kern="1200"/>
            <a:t>Üretim, pazarlama, satış ve finansman gibi uzmanlaşmış bir örgütsel faaliyetten sorumlu olan yönetici</a:t>
          </a:r>
          <a:endParaRPr lang="en-US" sz="2100" kern="1200"/>
        </a:p>
      </dsp:txBody>
      <dsp:txXfrm>
        <a:off x="0" y="2768622"/>
        <a:ext cx="3069626" cy="2449166"/>
      </dsp:txXfrm>
    </dsp:sp>
    <dsp:sp modelId="{56C88489-2019-4CD1-9D0B-F1DA0BAED2C3}">
      <dsp:nvSpPr>
        <dsp:cNvPr id="0" name=""/>
        <dsp:cNvSpPr/>
      </dsp:nvSpPr>
      <dsp:spPr>
        <a:xfrm>
          <a:off x="3069626" y="2768622"/>
          <a:ext cx="3069626" cy="2449166"/>
        </a:xfrm>
        <a:prstGeom prst="rect">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tr-TR" sz="2100" b="1" kern="1200"/>
            <a:t>Genel yönetici: </a:t>
          </a:r>
          <a:r>
            <a:rPr lang="tr-TR" sz="2100" kern="1200"/>
            <a:t>Büyük bir şirket, bunun bir işletmesi veya onun bir alt bölümü gibi karmaşık bir birimi yöneten ve yönlendiren kişi</a:t>
          </a:r>
          <a:endParaRPr lang="en-US" sz="2100" kern="1200"/>
        </a:p>
      </dsp:txBody>
      <dsp:txXfrm>
        <a:off x="3069626" y="2768622"/>
        <a:ext cx="3069626" cy="244916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D9814-E1CE-4C46-8F07-9969B3E26BFE}">
      <dsp:nvSpPr>
        <dsp:cNvPr id="0" name=""/>
        <dsp:cNvSpPr/>
      </dsp:nvSpPr>
      <dsp:spPr>
        <a:xfrm>
          <a:off x="0" y="30942"/>
          <a:ext cx="6651253" cy="171288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tr-TR" sz="2400" kern="1200"/>
            <a:t>1) Örgütler tek tek bireyler olarak üstesinden gelemediğimiz işleri başarmamızı mümkün kılan toplumsal işbirliği sistemleridir</a:t>
          </a:r>
          <a:endParaRPr lang="en-US" sz="2400" kern="1200"/>
        </a:p>
      </dsp:txBody>
      <dsp:txXfrm>
        <a:off x="83616" y="114558"/>
        <a:ext cx="6484021" cy="1545648"/>
      </dsp:txXfrm>
    </dsp:sp>
    <dsp:sp modelId="{8942C531-D93D-CB4A-9FC3-4C53587C6662}">
      <dsp:nvSpPr>
        <dsp:cNvPr id="0" name=""/>
        <dsp:cNvSpPr/>
      </dsp:nvSpPr>
      <dsp:spPr>
        <a:xfrm>
          <a:off x="0" y="1812942"/>
          <a:ext cx="6651253" cy="1712880"/>
        </a:xfrm>
        <a:prstGeom prst="roundRect">
          <a:avLst/>
        </a:prstGeom>
        <a:solidFill>
          <a:schemeClr val="accent2">
            <a:hueOff val="226582"/>
            <a:satOff val="-23996"/>
            <a:lumOff val="-58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tr-TR" sz="2400" kern="1200"/>
            <a:t>2) Örgütler bilgilerin birikiminde ve gelecek nesillere aktarılmasında bizlere yardımcı olurlar</a:t>
          </a:r>
          <a:endParaRPr lang="en-US" sz="2400" kern="1200"/>
        </a:p>
      </dsp:txBody>
      <dsp:txXfrm>
        <a:off x="83616" y="1896558"/>
        <a:ext cx="6484021" cy="1545648"/>
      </dsp:txXfrm>
    </dsp:sp>
    <dsp:sp modelId="{AE260052-716D-9B49-8275-1E7732600D70}">
      <dsp:nvSpPr>
        <dsp:cNvPr id="0" name=""/>
        <dsp:cNvSpPr/>
      </dsp:nvSpPr>
      <dsp:spPr>
        <a:xfrm>
          <a:off x="0" y="3594942"/>
          <a:ext cx="6651253" cy="1712880"/>
        </a:xfrm>
        <a:prstGeom prst="roundRect">
          <a:avLst/>
        </a:prstGeom>
        <a:solidFill>
          <a:schemeClr val="accent2">
            <a:hueOff val="453165"/>
            <a:satOff val="-47993"/>
            <a:lumOff val="-117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tr-TR" sz="2400" kern="1200"/>
            <a:t>3) Örgütler bizler için çok önemli meslek kaynakları olarak hizmet ederler</a:t>
          </a:r>
          <a:endParaRPr lang="en-US" sz="2400" kern="1200"/>
        </a:p>
      </dsp:txBody>
      <dsp:txXfrm>
        <a:off x="83616" y="3678558"/>
        <a:ext cx="6484021" cy="154564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2C5752-5391-DA49-B54E-11518EFB55DF}">
      <dsp:nvSpPr>
        <dsp:cNvPr id="0" name=""/>
        <dsp:cNvSpPr/>
      </dsp:nvSpPr>
      <dsp:spPr>
        <a:xfrm>
          <a:off x="0" y="4018770"/>
          <a:ext cx="6651253" cy="1319050"/>
        </a:xfrm>
        <a:prstGeom prst="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tr-TR" sz="1400" kern="1200"/>
            <a:t>Organizasyon yapısı ile ilgili çalışmalar daha çok organizasyonların formel yapıları ile ilgili iken, davranışı esas alan çalışmalar organizasyonların informal yönleri ile organizasyonun işleyişi ile ilgilidir.</a:t>
          </a:r>
          <a:endParaRPr lang="en-US" sz="1400" kern="1200"/>
        </a:p>
      </dsp:txBody>
      <dsp:txXfrm>
        <a:off x="0" y="4018770"/>
        <a:ext cx="6651253" cy="1319050"/>
      </dsp:txXfrm>
    </dsp:sp>
    <dsp:sp modelId="{5CFC6F54-FC90-D043-9F23-DFDFC0C43978}">
      <dsp:nvSpPr>
        <dsp:cNvPr id="0" name=""/>
        <dsp:cNvSpPr/>
      </dsp:nvSpPr>
      <dsp:spPr>
        <a:xfrm rot="10800000">
          <a:off x="0" y="2009856"/>
          <a:ext cx="6651253" cy="2028699"/>
        </a:xfrm>
        <a:prstGeom prst="upArrowCallou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tr-TR" sz="1400" kern="1200" dirty="0"/>
            <a:t>Örgütsel yapıyı oluşturan dinamiklerden insan, işlevsel çevre ve toplumsal çevrenin bir araya gelerek oluşturduğu sonuca davranış denir. Örgütlerde davranış, organizasyonun yapısı içerisinde işlevsel çevreden ve toplumsal çevreden etkilenen ve şekillenen insan davranışlarını anlamaya ve açıklamaya çalışan akademik bir disiplindir.</a:t>
          </a:r>
          <a:endParaRPr lang="en-US" sz="1400" kern="1200" dirty="0"/>
        </a:p>
      </dsp:txBody>
      <dsp:txXfrm rot="10800000">
        <a:off x="0" y="2009856"/>
        <a:ext cx="6651253" cy="1318188"/>
      </dsp:txXfrm>
    </dsp:sp>
    <dsp:sp modelId="{EF977911-2717-4040-A298-44F945A9D002}">
      <dsp:nvSpPr>
        <dsp:cNvPr id="0" name=""/>
        <dsp:cNvSpPr/>
      </dsp:nvSpPr>
      <dsp:spPr>
        <a:xfrm rot="10800000">
          <a:off x="0" y="943"/>
          <a:ext cx="6651253" cy="2028699"/>
        </a:xfrm>
        <a:prstGeom prst="upArrowCallou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tr-TR" sz="1400" kern="1200"/>
            <a:t>Örgütlerde davranış veya örgütsel davranış, örgütsel yapı içinde insan davranışını anlamaya çalışan bir bilim dalıdır.</a:t>
          </a:r>
          <a:endParaRPr lang="en-US" sz="1400" kern="1200"/>
        </a:p>
      </dsp:txBody>
      <dsp:txXfrm rot="10800000">
        <a:off x="0" y="943"/>
        <a:ext cx="6651253" cy="1318188"/>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110E28-ECA6-4201-99C4-29988490289A}" type="datetimeFigureOut">
              <a:rPr lang="tr-TR" smtClean="0"/>
              <a:t>18.03.2025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CB0C29-0A45-4733-B4CB-F6C02C631505}" type="slidenum">
              <a:rPr lang="tr-TR" smtClean="0"/>
              <a:t>‹#›</a:t>
            </a:fld>
            <a:endParaRPr lang="tr-TR"/>
          </a:p>
        </p:txBody>
      </p:sp>
    </p:spTree>
    <p:extLst>
      <p:ext uri="{BB962C8B-B14F-4D97-AF65-F5344CB8AC3E}">
        <p14:creationId xmlns:p14="http://schemas.microsoft.com/office/powerpoint/2010/main" val="19879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00CB0C29-0A45-4733-B4CB-F6C02C631505}" type="slidenum">
              <a:rPr lang="tr-TR" smtClean="0"/>
              <a:t>1</a:t>
            </a:fld>
            <a:endParaRPr lang="tr-TR"/>
          </a:p>
        </p:txBody>
      </p:sp>
    </p:spTree>
    <p:extLst>
      <p:ext uri="{BB962C8B-B14F-4D97-AF65-F5344CB8AC3E}">
        <p14:creationId xmlns:p14="http://schemas.microsoft.com/office/powerpoint/2010/main" val="4174705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00CB0C29-0A45-4733-B4CB-F6C02C631505}" type="slidenum">
              <a:rPr lang="tr-TR" smtClean="0"/>
              <a:t>2</a:t>
            </a:fld>
            <a:endParaRPr lang="tr-TR"/>
          </a:p>
        </p:txBody>
      </p:sp>
    </p:spTree>
    <p:extLst>
      <p:ext uri="{BB962C8B-B14F-4D97-AF65-F5344CB8AC3E}">
        <p14:creationId xmlns:p14="http://schemas.microsoft.com/office/powerpoint/2010/main" val="462056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3</a:t>
            </a:fld>
            <a:endParaRPr lang="tr-TR"/>
          </a:p>
        </p:txBody>
      </p:sp>
    </p:spTree>
    <p:extLst>
      <p:ext uri="{BB962C8B-B14F-4D97-AF65-F5344CB8AC3E}">
        <p14:creationId xmlns:p14="http://schemas.microsoft.com/office/powerpoint/2010/main" val="42511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4</a:t>
            </a:fld>
            <a:endParaRPr lang="tr-TR"/>
          </a:p>
        </p:txBody>
      </p:sp>
    </p:spTree>
    <p:extLst>
      <p:ext uri="{BB962C8B-B14F-4D97-AF65-F5344CB8AC3E}">
        <p14:creationId xmlns:p14="http://schemas.microsoft.com/office/powerpoint/2010/main" val="1176049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5</a:t>
            </a:fld>
            <a:endParaRPr lang="tr-TR"/>
          </a:p>
        </p:txBody>
      </p:sp>
    </p:spTree>
    <p:extLst>
      <p:ext uri="{BB962C8B-B14F-4D97-AF65-F5344CB8AC3E}">
        <p14:creationId xmlns:p14="http://schemas.microsoft.com/office/powerpoint/2010/main" val="2169669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6</a:t>
            </a:fld>
            <a:endParaRPr lang="tr-TR"/>
          </a:p>
        </p:txBody>
      </p:sp>
    </p:spTree>
    <p:extLst>
      <p:ext uri="{BB962C8B-B14F-4D97-AF65-F5344CB8AC3E}">
        <p14:creationId xmlns:p14="http://schemas.microsoft.com/office/powerpoint/2010/main" val="3424363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7</a:t>
            </a:fld>
            <a:endParaRPr lang="tr-TR"/>
          </a:p>
        </p:txBody>
      </p:sp>
    </p:spTree>
    <p:extLst>
      <p:ext uri="{BB962C8B-B14F-4D97-AF65-F5344CB8AC3E}">
        <p14:creationId xmlns:p14="http://schemas.microsoft.com/office/powerpoint/2010/main" val="3599973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AAAC19A0-80D8-254A-8CD4-B7FA18276E58}" type="slidenum">
              <a:rPr lang="tr-TR" smtClean="0"/>
              <a:t>8</a:t>
            </a:fld>
            <a:endParaRPr lang="tr-TR"/>
          </a:p>
        </p:txBody>
      </p:sp>
    </p:spTree>
    <p:extLst>
      <p:ext uri="{BB962C8B-B14F-4D97-AF65-F5344CB8AC3E}">
        <p14:creationId xmlns:p14="http://schemas.microsoft.com/office/powerpoint/2010/main" val="1403509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9</a:t>
            </a:fld>
            <a:endParaRPr lang="tr-TR"/>
          </a:p>
        </p:txBody>
      </p:sp>
    </p:spTree>
    <p:extLst>
      <p:ext uri="{BB962C8B-B14F-4D97-AF65-F5344CB8AC3E}">
        <p14:creationId xmlns:p14="http://schemas.microsoft.com/office/powerpoint/2010/main" val="1128021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00CB0C29-0A45-4733-B4CB-F6C02C631505}" type="slidenum">
              <a:rPr lang="tr-TR" smtClean="0"/>
              <a:t>10</a:t>
            </a:fld>
            <a:endParaRPr lang="tr-TR"/>
          </a:p>
        </p:txBody>
      </p:sp>
    </p:spTree>
    <p:extLst>
      <p:ext uri="{BB962C8B-B14F-4D97-AF65-F5344CB8AC3E}">
        <p14:creationId xmlns:p14="http://schemas.microsoft.com/office/powerpoint/2010/main" val="1678209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11</a:t>
            </a:fld>
            <a:endParaRPr lang="tr-TR"/>
          </a:p>
        </p:txBody>
      </p:sp>
    </p:spTree>
    <p:extLst>
      <p:ext uri="{BB962C8B-B14F-4D97-AF65-F5344CB8AC3E}">
        <p14:creationId xmlns:p14="http://schemas.microsoft.com/office/powerpoint/2010/main" val="4256166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12</a:t>
            </a:fld>
            <a:endParaRPr lang="tr-TR"/>
          </a:p>
        </p:txBody>
      </p:sp>
    </p:spTree>
    <p:extLst>
      <p:ext uri="{BB962C8B-B14F-4D97-AF65-F5344CB8AC3E}">
        <p14:creationId xmlns:p14="http://schemas.microsoft.com/office/powerpoint/2010/main" val="1980378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79375" marR="252730" indent="466090" algn="just">
              <a:lnSpc>
                <a:spcPct val="115000"/>
              </a:lnSpc>
              <a:spcAft>
                <a:spcPts val="595"/>
              </a:spcAft>
            </a:pPr>
            <a:endParaRPr lang="tr-TR" noProof="0"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13</a:t>
            </a:fld>
            <a:endParaRPr lang="tr-TR"/>
          </a:p>
        </p:txBody>
      </p:sp>
    </p:spTree>
    <p:extLst>
      <p:ext uri="{BB962C8B-B14F-4D97-AF65-F5344CB8AC3E}">
        <p14:creationId xmlns:p14="http://schemas.microsoft.com/office/powerpoint/2010/main" val="2906479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14</a:t>
            </a:fld>
            <a:endParaRPr lang="tr-TR"/>
          </a:p>
        </p:txBody>
      </p:sp>
    </p:spTree>
    <p:extLst>
      <p:ext uri="{BB962C8B-B14F-4D97-AF65-F5344CB8AC3E}">
        <p14:creationId xmlns:p14="http://schemas.microsoft.com/office/powerpoint/2010/main" val="248498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15</a:t>
            </a:fld>
            <a:endParaRPr lang="tr-TR"/>
          </a:p>
        </p:txBody>
      </p:sp>
    </p:spTree>
    <p:extLst>
      <p:ext uri="{BB962C8B-B14F-4D97-AF65-F5344CB8AC3E}">
        <p14:creationId xmlns:p14="http://schemas.microsoft.com/office/powerpoint/2010/main" val="2063280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16</a:t>
            </a:fld>
            <a:endParaRPr lang="tr-TR"/>
          </a:p>
        </p:txBody>
      </p:sp>
    </p:spTree>
    <p:extLst>
      <p:ext uri="{BB962C8B-B14F-4D97-AF65-F5344CB8AC3E}">
        <p14:creationId xmlns:p14="http://schemas.microsoft.com/office/powerpoint/2010/main" val="1436808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17</a:t>
            </a:fld>
            <a:endParaRPr lang="tr-TR"/>
          </a:p>
        </p:txBody>
      </p:sp>
    </p:spTree>
    <p:extLst>
      <p:ext uri="{BB962C8B-B14F-4D97-AF65-F5344CB8AC3E}">
        <p14:creationId xmlns:p14="http://schemas.microsoft.com/office/powerpoint/2010/main" val="4252853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18</a:t>
            </a:fld>
            <a:endParaRPr lang="tr-TR"/>
          </a:p>
        </p:txBody>
      </p:sp>
    </p:spTree>
    <p:extLst>
      <p:ext uri="{BB962C8B-B14F-4D97-AF65-F5344CB8AC3E}">
        <p14:creationId xmlns:p14="http://schemas.microsoft.com/office/powerpoint/2010/main" val="3970302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19</a:t>
            </a:fld>
            <a:endParaRPr lang="tr-TR"/>
          </a:p>
        </p:txBody>
      </p:sp>
    </p:spTree>
    <p:extLst>
      <p:ext uri="{BB962C8B-B14F-4D97-AF65-F5344CB8AC3E}">
        <p14:creationId xmlns:p14="http://schemas.microsoft.com/office/powerpoint/2010/main" val="3574384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20</a:t>
            </a:fld>
            <a:endParaRPr lang="tr-TR"/>
          </a:p>
        </p:txBody>
      </p:sp>
    </p:spTree>
    <p:extLst>
      <p:ext uri="{BB962C8B-B14F-4D97-AF65-F5344CB8AC3E}">
        <p14:creationId xmlns:p14="http://schemas.microsoft.com/office/powerpoint/2010/main" val="3796768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551-4D04-1927-1622-8029176651D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6C8D82D-1343-9B26-4052-B448A8E4534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8D97CD7-E2F1-D4F6-0596-8E0353BBCC7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7111701-FB9A-DD98-A24D-B497B0DC1174}"/>
              </a:ext>
            </a:extLst>
          </p:cNvPr>
          <p:cNvSpPr>
            <a:spLocks noGrp="1"/>
          </p:cNvSpPr>
          <p:nvPr>
            <p:ph type="sldNum" sz="quarter" idx="5"/>
          </p:nvPr>
        </p:nvSpPr>
        <p:spPr/>
        <p:txBody>
          <a:bodyPr/>
          <a:lstStyle/>
          <a:p>
            <a:fld id="{AAAC19A0-80D8-254A-8CD4-B7FA18276E58}" type="slidenum">
              <a:rPr lang="tr-TR" smtClean="0"/>
              <a:t>21</a:t>
            </a:fld>
            <a:endParaRPr lang="tr-TR"/>
          </a:p>
        </p:txBody>
      </p:sp>
    </p:spTree>
    <p:extLst>
      <p:ext uri="{BB962C8B-B14F-4D97-AF65-F5344CB8AC3E}">
        <p14:creationId xmlns:p14="http://schemas.microsoft.com/office/powerpoint/2010/main" val="1342178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22</a:t>
            </a:fld>
            <a:endParaRPr lang="tr-TR"/>
          </a:p>
        </p:txBody>
      </p:sp>
    </p:spTree>
    <p:extLst>
      <p:ext uri="{BB962C8B-B14F-4D97-AF65-F5344CB8AC3E}">
        <p14:creationId xmlns:p14="http://schemas.microsoft.com/office/powerpoint/2010/main" val="8713260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buFont typeface="+mj-lt"/>
              <a:buAutoNum type="arabicPeriod"/>
            </a:pPr>
            <a:r>
              <a:rPr lang="tr-TR" b="1" i="0" dirty="0">
                <a:solidFill>
                  <a:srgbClr val="0D0D0D"/>
                </a:solidFill>
                <a:effectLst/>
                <a:latin typeface="Söhne"/>
              </a:rPr>
              <a:t>Küreselleşme (</a:t>
            </a:r>
            <a:r>
              <a:rPr lang="tr-TR" b="1" i="0" dirty="0" err="1">
                <a:solidFill>
                  <a:srgbClr val="0D0D0D"/>
                </a:solidFill>
                <a:effectLst/>
                <a:latin typeface="Söhne"/>
              </a:rPr>
              <a:t>Globalization</a:t>
            </a:r>
            <a:r>
              <a:rPr lang="tr-TR" b="1" i="0" dirty="0">
                <a:solidFill>
                  <a:srgbClr val="0D0D0D"/>
                </a:solidFill>
                <a:effectLst/>
                <a:latin typeface="Söhne"/>
              </a:rPr>
              <a:t>):</a:t>
            </a:r>
            <a:endParaRPr lang="tr-TR" b="0" i="0" dirty="0">
              <a:solidFill>
                <a:srgbClr val="0D0D0D"/>
              </a:solidFill>
              <a:effectLst/>
              <a:latin typeface="Söhne"/>
            </a:endParaRPr>
          </a:p>
          <a:p>
            <a:pPr marL="742950" lvl="1" indent="-285750" algn="l">
              <a:buFont typeface="+mj-lt"/>
              <a:buAutoNum type="arabicPeriod"/>
            </a:pPr>
            <a:r>
              <a:rPr lang="tr-TR" b="0" i="0" dirty="0">
                <a:solidFill>
                  <a:srgbClr val="0D0D0D"/>
                </a:solidFill>
                <a:effectLst/>
                <a:latin typeface="Söhne"/>
              </a:rPr>
              <a:t>Küreselleşme, dünya genelinde ekonomik, kültürel, sosyal ve politik alanlarda artan etkileşimi ve entegrasyonu tanımlar. Bu süreç, sınırların ötesinde ticaretin, iletişimin, sermayenin ve kültürel etkileşimin arttığı bir dünya düzenini ifade eder. Küreselleşme, teknolojik ilerlemeler, serbest ticaret anlaşmaları, finansal entegrasyon ve iletişim teknolojilerindeki gelişmeler gibi faktörlerden etkilenir.</a:t>
            </a:r>
          </a:p>
          <a:p>
            <a:pPr algn="l">
              <a:buFont typeface="+mj-lt"/>
              <a:buAutoNum type="arabicPeriod"/>
            </a:pPr>
            <a:r>
              <a:rPr lang="tr-TR" b="1" i="0" dirty="0" err="1">
                <a:solidFill>
                  <a:srgbClr val="0D0D0D"/>
                </a:solidFill>
                <a:effectLst/>
                <a:latin typeface="Söhne"/>
              </a:rPr>
              <a:t>Küreyerelleşme</a:t>
            </a:r>
            <a:r>
              <a:rPr lang="tr-TR" b="1" i="0" dirty="0">
                <a:solidFill>
                  <a:srgbClr val="0D0D0D"/>
                </a:solidFill>
                <a:effectLst/>
                <a:latin typeface="Söhne"/>
              </a:rPr>
              <a:t> (</a:t>
            </a:r>
            <a:r>
              <a:rPr lang="tr-TR" b="1" i="0" dirty="0" err="1">
                <a:solidFill>
                  <a:srgbClr val="0D0D0D"/>
                </a:solidFill>
                <a:effectLst/>
                <a:latin typeface="Söhne"/>
              </a:rPr>
              <a:t>Glocalization</a:t>
            </a:r>
            <a:r>
              <a:rPr lang="tr-TR" b="1" i="0" dirty="0">
                <a:solidFill>
                  <a:srgbClr val="0D0D0D"/>
                </a:solidFill>
                <a:effectLst/>
                <a:latin typeface="Söhne"/>
              </a:rPr>
              <a:t>):</a:t>
            </a:r>
            <a:endParaRPr lang="tr-TR" b="0" i="0" dirty="0">
              <a:solidFill>
                <a:srgbClr val="0D0D0D"/>
              </a:solidFill>
              <a:effectLst/>
              <a:latin typeface="Söhne"/>
            </a:endParaRPr>
          </a:p>
          <a:p>
            <a:pPr marL="742950" lvl="1" indent="-285750" algn="l">
              <a:buFont typeface="+mj-lt"/>
              <a:buAutoNum type="arabicPeriod"/>
            </a:pPr>
            <a:r>
              <a:rPr lang="tr-TR" b="0" i="0" dirty="0" err="1">
                <a:solidFill>
                  <a:srgbClr val="0D0D0D"/>
                </a:solidFill>
                <a:effectLst/>
                <a:latin typeface="Söhne"/>
              </a:rPr>
              <a:t>Küreyerelleşme</a:t>
            </a:r>
            <a:r>
              <a:rPr lang="tr-TR" b="0" i="0" dirty="0">
                <a:solidFill>
                  <a:srgbClr val="0D0D0D"/>
                </a:solidFill>
                <a:effectLst/>
                <a:latin typeface="Söhne"/>
              </a:rPr>
              <a:t> terimi, "global" ve "yerel" kelimelerinin birleşiminden türetilmiştir. Bu kavram, küreselleşme sürecinde, kültürel ve ekonomik unsurların küresel düzeyde etkileşim gösterirken aynı zamanda yerel kültür ve bağlam içinde adapte edilmesini ifade eder. </a:t>
            </a:r>
            <a:r>
              <a:rPr lang="tr-TR" b="0" i="0" dirty="0" err="1">
                <a:solidFill>
                  <a:srgbClr val="0D0D0D"/>
                </a:solidFill>
                <a:effectLst/>
                <a:latin typeface="Söhne"/>
              </a:rPr>
              <a:t>Küreyerelleşme</a:t>
            </a:r>
            <a:r>
              <a:rPr lang="tr-TR" b="0" i="0" dirty="0">
                <a:solidFill>
                  <a:srgbClr val="0D0D0D"/>
                </a:solidFill>
                <a:effectLst/>
                <a:latin typeface="Söhne"/>
              </a:rPr>
              <a:t>, kültürel çeşitliliği ve yerel özellikleri korurken küresel düzeyde işbirliği ve entegrasyonu teşvik eder.</a:t>
            </a:r>
          </a:p>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23</a:t>
            </a:fld>
            <a:endParaRPr lang="tr-TR"/>
          </a:p>
        </p:txBody>
      </p:sp>
    </p:spTree>
    <p:extLst>
      <p:ext uri="{BB962C8B-B14F-4D97-AF65-F5344CB8AC3E}">
        <p14:creationId xmlns:p14="http://schemas.microsoft.com/office/powerpoint/2010/main" val="1710543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00CB0C29-0A45-4733-B4CB-F6C02C631505}" type="slidenum">
              <a:rPr lang="tr-TR" smtClean="0"/>
              <a:t>24</a:t>
            </a:fld>
            <a:endParaRPr lang="tr-TR"/>
          </a:p>
        </p:txBody>
      </p:sp>
    </p:spTree>
    <p:extLst>
      <p:ext uri="{BB962C8B-B14F-4D97-AF65-F5344CB8AC3E}">
        <p14:creationId xmlns:p14="http://schemas.microsoft.com/office/powerpoint/2010/main" val="19392400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00CB0C29-0A45-4733-B4CB-F6C02C631505}" type="slidenum">
              <a:rPr lang="tr-TR" smtClean="0"/>
              <a:t>25</a:t>
            </a:fld>
            <a:endParaRPr lang="tr-TR"/>
          </a:p>
        </p:txBody>
      </p:sp>
    </p:spTree>
    <p:extLst>
      <p:ext uri="{BB962C8B-B14F-4D97-AF65-F5344CB8AC3E}">
        <p14:creationId xmlns:p14="http://schemas.microsoft.com/office/powerpoint/2010/main" val="9459812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00CB0C29-0A45-4733-B4CB-F6C02C631505}" type="slidenum">
              <a:rPr lang="tr-TR" smtClean="0"/>
              <a:t>26</a:t>
            </a:fld>
            <a:endParaRPr lang="tr-TR"/>
          </a:p>
        </p:txBody>
      </p:sp>
    </p:spTree>
    <p:extLst>
      <p:ext uri="{BB962C8B-B14F-4D97-AF65-F5344CB8AC3E}">
        <p14:creationId xmlns:p14="http://schemas.microsoft.com/office/powerpoint/2010/main" val="1474092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00CB0C29-0A45-4733-B4CB-F6C02C631505}" type="slidenum">
              <a:rPr lang="tr-TR" smtClean="0"/>
              <a:t>27</a:t>
            </a:fld>
            <a:endParaRPr lang="tr-TR"/>
          </a:p>
        </p:txBody>
      </p:sp>
    </p:spTree>
    <p:extLst>
      <p:ext uri="{BB962C8B-B14F-4D97-AF65-F5344CB8AC3E}">
        <p14:creationId xmlns:p14="http://schemas.microsoft.com/office/powerpoint/2010/main" val="1747027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28</a:t>
            </a:fld>
            <a:endParaRPr lang="tr-TR"/>
          </a:p>
        </p:txBody>
      </p:sp>
    </p:spTree>
    <p:extLst>
      <p:ext uri="{BB962C8B-B14F-4D97-AF65-F5344CB8AC3E}">
        <p14:creationId xmlns:p14="http://schemas.microsoft.com/office/powerpoint/2010/main" val="1805502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29</a:t>
            </a:fld>
            <a:endParaRPr lang="tr-TR"/>
          </a:p>
        </p:txBody>
      </p:sp>
    </p:spTree>
    <p:extLst>
      <p:ext uri="{BB962C8B-B14F-4D97-AF65-F5344CB8AC3E}">
        <p14:creationId xmlns:p14="http://schemas.microsoft.com/office/powerpoint/2010/main" val="12571337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30</a:t>
            </a:fld>
            <a:endParaRPr lang="tr-TR"/>
          </a:p>
        </p:txBody>
      </p:sp>
    </p:spTree>
    <p:extLst>
      <p:ext uri="{BB962C8B-B14F-4D97-AF65-F5344CB8AC3E}">
        <p14:creationId xmlns:p14="http://schemas.microsoft.com/office/powerpoint/2010/main" val="7624582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00CB0C29-0A45-4733-B4CB-F6C02C631505}" type="slidenum">
              <a:rPr lang="tr-TR" smtClean="0"/>
              <a:t>31</a:t>
            </a:fld>
            <a:endParaRPr lang="tr-TR"/>
          </a:p>
        </p:txBody>
      </p:sp>
    </p:spTree>
    <p:extLst>
      <p:ext uri="{BB962C8B-B14F-4D97-AF65-F5344CB8AC3E}">
        <p14:creationId xmlns:p14="http://schemas.microsoft.com/office/powerpoint/2010/main" val="12287078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00CB0C29-0A45-4733-B4CB-F6C02C631505}" type="slidenum">
              <a:rPr lang="tr-TR" smtClean="0"/>
              <a:t>32</a:t>
            </a:fld>
            <a:endParaRPr lang="tr-TR"/>
          </a:p>
        </p:txBody>
      </p:sp>
    </p:spTree>
    <p:extLst>
      <p:ext uri="{BB962C8B-B14F-4D97-AF65-F5344CB8AC3E}">
        <p14:creationId xmlns:p14="http://schemas.microsoft.com/office/powerpoint/2010/main" val="1704929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AAC19A0-80D8-254A-8CD4-B7FA18276E58}" type="slidenum">
              <a:rPr lang="tr-TR" smtClean="0"/>
              <a:t>33</a:t>
            </a:fld>
            <a:endParaRPr lang="tr-TR"/>
          </a:p>
        </p:txBody>
      </p:sp>
    </p:spTree>
    <p:extLst>
      <p:ext uri="{BB962C8B-B14F-4D97-AF65-F5344CB8AC3E}">
        <p14:creationId xmlns:p14="http://schemas.microsoft.com/office/powerpoint/2010/main" val="87024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3095831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1090149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1568584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76969C88-B244-455D-A017-012B25B1ACDD}" type="datetimeFigureOut">
              <a:rPr lang="en-US" smtClean="0"/>
              <a:pPr/>
              <a:t>3/18/25</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1946616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6969C88-B244-455D-A017-012B25B1ACDD}" type="datetimeFigureOut">
              <a:rPr lang="en-US" smtClean="0"/>
              <a:pPr/>
              <a:t>3/18/25</a:t>
            </a:fld>
            <a:endParaRPr lang="en-US"/>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298051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76969C88-B244-455D-A017-012B25B1ACDD}" type="datetimeFigureOut">
              <a:rPr lang="en-US" smtClean="0"/>
              <a:pPr/>
              <a:t>3/18/25</a:t>
            </a:fld>
            <a:endParaRPr lang="en-US"/>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44721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969C88-B244-455D-A017-012B25B1ACDD}" type="datetimeFigureOut">
              <a:rPr lang="en-US" smtClean="0"/>
              <a:pPr/>
              <a:t>3/18/25</a:t>
            </a:fld>
            <a:endParaRPr lang="en-US"/>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3750916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stilini düzenlemek için tıklayın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6969C88-B244-455D-A017-012B25B1ACDD}" type="datetimeFigureOut">
              <a:rPr lang="en-US" smtClean="0"/>
              <a:pPr/>
              <a:t>3/18/25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953996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6969C88-B244-455D-A017-012B25B1ACDD}" type="datetimeFigureOut">
              <a:rPr lang="en-US" smtClean="0"/>
              <a:pPr/>
              <a:t>3/18/25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2087388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4196574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CE569E-9B7C-4CB9-AB80-C0841F922CFF}" type="slidenum">
              <a:rPr lang="en-US" smtClean="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18619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76969C88-B244-455D-A017-012B25B1ACDD}" type="datetimeFigureOut">
              <a:rPr lang="en-US" smtClean="0"/>
              <a:pPr/>
              <a:t>3/18/25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24539661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76969C88-B244-455D-A017-012B25B1ACDD}" type="datetimeFigureOut">
              <a:rPr lang="en-US" smtClean="0"/>
              <a:pPr/>
              <a:t>3/18/25</a:t>
            </a:fld>
            <a:endParaRPr lang="en-US"/>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CE569E-9B7C-4CB9-AB80-C0841F922CFF}" type="slidenum">
              <a:rPr lang="en-US" smtClean="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78635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76969C88-B244-455D-A017-012B25B1ACDD}" type="datetimeFigureOut">
              <a:rPr lang="en-US" smtClean="0"/>
              <a:pPr/>
              <a:t>3/18/25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689445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721722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6969C88-B244-455D-A017-012B25B1ACDD}" type="datetimeFigureOut">
              <a:rPr lang="en-US" smtClean="0"/>
              <a:pPr/>
              <a:t>3/18/25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CE569E-9B7C-4CB9-AB80-C0841F922CFF}" type="slidenum">
              <a:rPr lang="en-US" smtClean="0"/>
              <a:pPr/>
              <a:t>‹#›</a:t>
            </a:fld>
            <a:endParaRPr lang="en-US"/>
          </a:p>
        </p:txBody>
      </p:sp>
    </p:spTree>
    <p:extLst>
      <p:ext uri="{BB962C8B-B14F-4D97-AF65-F5344CB8AC3E}">
        <p14:creationId xmlns:p14="http://schemas.microsoft.com/office/powerpoint/2010/main" val="411091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6969C88-B244-455D-A017-012B25B1ACDD}" type="datetimeFigureOut">
              <a:rPr lang="en-US" smtClean="0"/>
              <a:pPr/>
              <a:t>3/18/25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218521297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9B580AF-9263-6003-F7CB-CBABD0FF79B2}"/>
              </a:ext>
            </a:extLst>
          </p:cNvPr>
          <p:cNvSpPr>
            <a:spLocks noGrp="1"/>
          </p:cNvSpPr>
          <p:nvPr>
            <p:ph type="ctrTitle"/>
          </p:nvPr>
        </p:nvSpPr>
        <p:spPr>
          <a:xfrm>
            <a:off x="6096000" y="1524000"/>
            <a:ext cx="5334000" cy="2286000"/>
          </a:xfrm>
        </p:spPr>
        <p:txBody>
          <a:bodyPr>
            <a:normAutofit/>
          </a:bodyPr>
          <a:lstStyle/>
          <a:p>
            <a:pPr algn="l"/>
            <a:r>
              <a:rPr lang="tr-TR" sz="4400"/>
              <a:t>İŞLETME BİLİMİNE GİRİŞ</a:t>
            </a:r>
          </a:p>
        </p:txBody>
      </p:sp>
      <p:sp>
        <p:nvSpPr>
          <p:cNvPr id="3" name="Alt Başlık 2">
            <a:extLst>
              <a:ext uri="{FF2B5EF4-FFF2-40B4-BE49-F238E27FC236}">
                <a16:creationId xmlns:a16="http://schemas.microsoft.com/office/drawing/2014/main" id="{AA2F1D0F-3D41-6F06-3C90-CDF56AE4A3C5}"/>
              </a:ext>
            </a:extLst>
          </p:cNvPr>
          <p:cNvSpPr>
            <a:spLocks noGrp="1"/>
          </p:cNvSpPr>
          <p:nvPr>
            <p:ph type="subTitle" idx="1"/>
          </p:nvPr>
        </p:nvSpPr>
        <p:spPr>
          <a:xfrm>
            <a:off x="6096000" y="4571999"/>
            <a:ext cx="5334000" cy="1524000"/>
          </a:xfrm>
        </p:spPr>
        <p:txBody>
          <a:bodyPr>
            <a:normAutofit/>
          </a:bodyPr>
          <a:lstStyle/>
          <a:p>
            <a:pPr algn="l">
              <a:lnSpc>
                <a:spcPct val="115000"/>
              </a:lnSpc>
            </a:pPr>
            <a:r>
              <a:rPr lang="tr-TR" sz="2200"/>
              <a:t>5.HAFTA</a:t>
            </a:r>
          </a:p>
          <a:p>
            <a:pPr algn="l">
              <a:lnSpc>
                <a:spcPct val="115000"/>
              </a:lnSpc>
            </a:pPr>
            <a:endParaRPr lang="tr-TR" sz="2200"/>
          </a:p>
          <a:p>
            <a:pPr algn="l">
              <a:lnSpc>
                <a:spcPct val="115000"/>
              </a:lnSpc>
            </a:pPr>
            <a:r>
              <a:rPr lang="tr-TR" sz="2200"/>
              <a:t>FATİH ÇALLI</a:t>
            </a:r>
          </a:p>
        </p:txBody>
      </p:sp>
      <p:pic>
        <p:nvPicPr>
          <p:cNvPr id="4" name="Picture 3">
            <a:extLst>
              <a:ext uri="{FF2B5EF4-FFF2-40B4-BE49-F238E27FC236}">
                <a16:creationId xmlns:a16="http://schemas.microsoft.com/office/drawing/2014/main" id="{61CFAA0E-9985-1A46-BCE8-C5A8AA93CA75}"/>
              </a:ext>
            </a:extLst>
          </p:cNvPr>
          <p:cNvPicPr>
            <a:picLocks noChangeAspect="1"/>
          </p:cNvPicPr>
          <p:nvPr/>
        </p:nvPicPr>
        <p:blipFill>
          <a:blip r:embed="rId3"/>
          <a:srcRect l="8041" r="42977" b="-1"/>
          <a:stretch/>
        </p:blipFill>
        <p:spPr>
          <a:xfrm>
            <a:off x="2" y="732510"/>
            <a:ext cx="5333999" cy="6125491"/>
          </a:xfrm>
          <a:custGeom>
            <a:avLst/>
            <a:gdLst/>
            <a:ahLst/>
            <a:cxnLst/>
            <a:rect l="l" t="t" r="r" b="b"/>
            <a:pathLst>
              <a:path w="5333999" h="6125491">
                <a:moveTo>
                  <a:pt x="0" y="0"/>
                </a:moveTo>
                <a:lnTo>
                  <a:pt x="201347" y="12133"/>
                </a:lnTo>
                <a:cubicBezTo>
                  <a:pt x="834520" y="59989"/>
                  <a:pt x="1489622" y="165274"/>
                  <a:pt x="2149412" y="288819"/>
                </a:cubicBezTo>
                <a:cubicBezTo>
                  <a:pt x="4194087" y="671477"/>
                  <a:pt x="4738431" y="1884930"/>
                  <a:pt x="5125148" y="3309606"/>
                </a:cubicBezTo>
                <a:cubicBezTo>
                  <a:pt x="5383961" y="4263563"/>
                  <a:pt x="5599841" y="5130569"/>
                  <a:pt x="4496734" y="5829050"/>
                </a:cubicBezTo>
                <a:cubicBezTo>
                  <a:pt x="4342061" y="5927011"/>
                  <a:pt x="4177261" y="6012425"/>
                  <a:pt x="4005032" y="6088102"/>
                </a:cubicBezTo>
                <a:lnTo>
                  <a:pt x="3915032" y="6125491"/>
                </a:lnTo>
                <a:lnTo>
                  <a:pt x="0" y="6125491"/>
                </a:lnTo>
                <a:close/>
              </a:path>
            </a:pathLst>
          </a:custGeom>
        </p:spPr>
      </p:pic>
    </p:spTree>
    <p:extLst>
      <p:ext uri="{BB962C8B-B14F-4D97-AF65-F5344CB8AC3E}">
        <p14:creationId xmlns:p14="http://schemas.microsoft.com/office/powerpoint/2010/main" val="379750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F7E8610-2DF7-4AF0-B876-0F3B7882A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1C8C023-62A6-4DA0-8DF4-3F4EA9409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0669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0042484E-2402-7348-A8AD-5EAE7717ABA2}"/>
              </a:ext>
            </a:extLst>
          </p:cNvPr>
          <p:cNvSpPr>
            <a:spLocks noGrp="1"/>
          </p:cNvSpPr>
          <p:nvPr>
            <p:ph type="title"/>
          </p:nvPr>
        </p:nvSpPr>
        <p:spPr>
          <a:xfrm>
            <a:off x="1843391" y="624110"/>
            <a:ext cx="9383408" cy="1280890"/>
          </a:xfrm>
        </p:spPr>
        <p:txBody>
          <a:bodyPr>
            <a:normAutofit/>
          </a:bodyPr>
          <a:lstStyle/>
          <a:p>
            <a:r>
              <a:rPr lang="tr-TR">
                <a:solidFill>
                  <a:schemeClr val="bg1"/>
                </a:solidFill>
              </a:rPr>
              <a:t>İŞLETMELERDE YÖNETİM-1</a:t>
            </a:r>
          </a:p>
        </p:txBody>
      </p:sp>
      <p:sp>
        <p:nvSpPr>
          <p:cNvPr id="13" name="Freeform 11">
            <a:extLst>
              <a:ext uri="{FF2B5EF4-FFF2-40B4-BE49-F238E27FC236}">
                <a16:creationId xmlns:a16="http://schemas.microsoft.com/office/drawing/2014/main" id="{26B9FE07-322E-43FB-8707-C9826BD90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graphicFrame>
        <p:nvGraphicFramePr>
          <p:cNvPr id="5" name="İçerik Yer Tutucusu 2">
            <a:extLst>
              <a:ext uri="{FF2B5EF4-FFF2-40B4-BE49-F238E27FC236}">
                <a16:creationId xmlns:a16="http://schemas.microsoft.com/office/drawing/2014/main" id="{98EA2771-A087-781E-8213-4C422646F46B}"/>
              </a:ext>
            </a:extLst>
          </p:cNvPr>
          <p:cNvGraphicFramePr>
            <a:graphicFrameLocks noGrp="1"/>
          </p:cNvGraphicFramePr>
          <p:nvPr>
            <p:ph idx="1"/>
            <p:extLst>
              <p:ext uri="{D42A27DB-BD31-4B8C-83A1-F6EECF244321}">
                <p14:modId xmlns:p14="http://schemas.microsoft.com/office/powerpoint/2010/main" val="593009069"/>
              </p:ext>
            </p:extLst>
          </p:nvPr>
        </p:nvGraphicFramePr>
        <p:xfrm>
          <a:off x="961012" y="2930805"/>
          <a:ext cx="10265786" cy="29619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68525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93262980-E907-4930-9E6E-3DC2025C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9CE0225-A6B0-114B-943B-D664D11FAC46}"/>
              </a:ext>
            </a:extLst>
          </p:cNvPr>
          <p:cNvSpPr>
            <a:spLocks noGrp="1"/>
          </p:cNvSpPr>
          <p:nvPr>
            <p:ph type="title"/>
          </p:nvPr>
        </p:nvSpPr>
        <p:spPr>
          <a:xfrm>
            <a:off x="649224" y="645106"/>
            <a:ext cx="3650279" cy="1259894"/>
          </a:xfrm>
        </p:spPr>
        <p:txBody>
          <a:bodyPr>
            <a:normAutofit/>
          </a:bodyPr>
          <a:lstStyle/>
          <a:p>
            <a:r>
              <a:rPr lang="tr-TR">
                <a:solidFill>
                  <a:srgbClr val="2B5246"/>
                </a:solidFill>
              </a:rPr>
              <a:t>YÖNETİM</a:t>
            </a:r>
          </a:p>
        </p:txBody>
      </p:sp>
      <p:sp>
        <p:nvSpPr>
          <p:cNvPr id="16" name="Rectangle 11">
            <a:extLst>
              <a:ext uri="{FF2B5EF4-FFF2-40B4-BE49-F238E27FC236}">
                <a16:creationId xmlns:a16="http://schemas.microsoft.com/office/drawing/2014/main" id="{AFD53EBD-B361-45AD-8ABF-9270B20B4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rgbClr val="2B5246"/>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9026C310-0AC5-524D-A058-558963B7CAA4}"/>
              </a:ext>
            </a:extLst>
          </p:cNvPr>
          <p:cNvSpPr>
            <a:spLocks noGrp="1"/>
          </p:cNvSpPr>
          <p:nvPr>
            <p:ph idx="1"/>
          </p:nvPr>
        </p:nvSpPr>
        <p:spPr>
          <a:xfrm>
            <a:off x="649225" y="2133600"/>
            <a:ext cx="3650278" cy="3759253"/>
          </a:xfrm>
        </p:spPr>
        <p:txBody>
          <a:bodyPr>
            <a:normAutofit/>
          </a:bodyPr>
          <a:lstStyle/>
          <a:p>
            <a:pPr>
              <a:buClr>
                <a:srgbClr val="F29B0F"/>
              </a:buClr>
            </a:pPr>
            <a:r>
              <a:rPr lang="tr-TR"/>
              <a:t>İlk İnsan</a:t>
            </a:r>
          </a:p>
          <a:p>
            <a:pPr>
              <a:buClr>
                <a:srgbClr val="F29B0F"/>
              </a:buClr>
            </a:pPr>
            <a:r>
              <a:rPr lang="tr-TR"/>
              <a:t>Ortak Amaç</a:t>
            </a:r>
          </a:p>
          <a:p>
            <a:pPr>
              <a:buClr>
                <a:srgbClr val="F29B0F"/>
              </a:buClr>
            </a:pPr>
            <a:r>
              <a:rPr lang="tr-TR"/>
              <a:t>Bir bilim dalı olarak yönetim</a:t>
            </a:r>
          </a:p>
          <a:p>
            <a:pPr>
              <a:buClr>
                <a:srgbClr val="F29B0F"/>
              </a:buClr>
            </a:pPr>
            <a:endParaRPr lang="tr-TR"/>
          </a:p>
        </p:txBody>
      </p:sp>
      <p:sp>
        <p:nvSpPr>
          <p:cNvPr id="14" name="Freeform 11">
            <a:extLst>
              <a:ext uri="{FF2B5EF4-FFF2-40B4-BE49-F238E27FC236}">
                <a16:creationId xmlns:a16="http://schemas.microsoft.com/office/drawing/2014/main" id="{DA1A4CE7-6399-4B37-ACE2-CFC4B4077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nsanların renkli Karmış rakamları">
            <a:extLst>
              <a:ext uri="{FF2B5EF4-FFF2-40B4-BE49-F238E27FC236}">
                <a16:creationId xmlns:a16="http://schemas.microsoft.com/office/drawing/2014/main" id="{9C6FB7D7-698B-3D82-0E7C-91DA2B5C6B7A}"/>
              </a:ext>
            </a:extLst>
          </p:cNvPr>
          <p:cNvPicPr>
            <a:picLocks noChangeAspect="1"/>
          </p:cNvPicPr>
          <p:nvPr/>
        </p:nvPicPr>
        <p:blipFill>
          <a:blip r:embed="rId3"/>
          <a:srcRect l="10752" r="10519" b="-2"/>
          <a:stretch/>
        </p:blipFill>
        <p:spPr>
          <a:xfrm>
            <a:off x="4619543" y="10"/>
            <a:ext cx="7572457" cy="6853242"/>
          </a:xfrm>
          <a:prstGeom prst="rect">
            <a:avLst/>
          </a:prstGeom>
        </p:spPr>
      </p:pic>
    </p:spTree>
    <p:extLst>
      <p:ext uri="{BB962C8B-B14F-4D97-AF65-F5344CB8AC3E}">
        <p14:creationId xmlns:p14="http://schemas.microsoft.com/office/powerpoint/2010/main" val="2645251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913C77-1FA5-E644-A6A7-F6E8B29F0AFF}"/>
              </a:ext>
            </a:extLst>
          </p:cNvPr>
          <p:cNvSpPr>
            <a:spLocks noGrp="1"/>
          </p:cNvSpPr>
          <p:nvPr>
            <p:ph type="title"/>
          </p:nvPr>
        </p:nvSpPr>
        <p:spPr>
          <a:xfrm>
            <a:off x="761999" y="762000"/>
            <a:ext cx="3048001" cy="2286000"/>
          </a:xfrm>
        </p:spPr>
        <p:txBody>
          <a:bodyPr anchor="b">
            <a:normAutofit/>
          </a:bodyPr>
          <a:lstStyle/>
          <a:p>
            <a:r>
              <a:rPr lang="tr-TR" sz="3200">
                <a:solidFill>
                  <a:srgbClr val="FFFFFF"/>
                </a:solidFill>
              </a:rPr>
              <a:t>YÖNETİM</a:t>
            </a:r>
          </a:p>
        </p:txBody>
      </p:sp>
      <p:graphicFrame>
        <p:nvGraphicFramePr>
          <p:cNvPr id="5" name="İçerik Yer Tutucusu 2">
            <a:extLst>
              <a:ext uri="{FF2B5EF4-FFF2-40B4-BE49-F238E27FC236}">
                <a16:creationId xmlns:a16="http://schemas.microsoft.com/office/drawing/2014/main" id="{64830D5E-B30F-31A6-1EAA-84C78B804399}"/>
              </a:ext>
            </a:extLst>
          </p:cNvPr>
          <p:cNvGraphicFramePr>
            <a:graphicFrameLocks noGrp="1"/>
          </p:cNvGraphicFramePr>
          <p:nvPr>
            <p:ph idx="1"/>
            <p:extLst>
              <p:ext uri="{D42A27DB-BD31-4B8C-83A1-F6EECF244321}">
                <p14:modId xmlns:p14="http://schemas.microsoft.com/office/powerpoint/2010/main" val="1408653325"/>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5871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913C77-1FA5-E644-A6A7-F6E8B29F0AFF}"/>
              </a:ext>
            </a:extLst>
          </p:cNvPr>
          <p:cNvSpPr>
            <a:spLocks noGrp="1"/>
          </p:cNvSpPr>
          <p:nvPr>
            <p:ph type="title"/>
          </p:nvPr>
        </p:nvSpPr>
        <p:spPr/>
        <p:txBody>
          <a:bodyPr>
            <a:noAutofit/>
          </a:bodyPr>
          <a:lstStyle/>
          <a:p>
            <a:pPr algn="ctr"/>
            <a:r>
              <a:rPr lang="tr-TR" sz="3600" dirty="0"/>
              <a:t>YÖNETİM FONKSİYONLARI:</a:t>
            </a:r>
            <a:br>
              <a:rPr lang="tr-TR" sz="3600" dirty="0"/>
            </a:br>
            <a:r>
              <a:rPr lang="tr-TR" sz="3600" dirty="0"/>
              <a:t>YÖNETİCİLERİN KULLANDIKLARI FAALİYETLER</a:t>
            </a:r>
          </a:p>
        </p:txBody>
      </p:sp>
      <p:grpSp>
        <p:nvGrpSpPr>
          <p:cNvPr id="6" name="Group 23">
            <a:extLst>
              <a:ext uri="{FF2B5EF4-FFF2-40B4-BE49-F238E27FC236}">
                <a16:creationId xmlns:a16="http://schemas.microsoft.com/office/drawing/2014/main" id="{11ABDF0D-FAEE-EC47-984F-BF1DFACEFAD5}"/>
              </a:ext>
            </a:extLst>
          </p:cNvPr>
          <p:cNvGrpSpPr/>
          <p:nvPr/>
        </p:nvGrpSpPr>
        <p:grpSpPr>
          <a:xfrm>
            <a:off x="1412541" y="2057402"/>
            <a:ext cx="9327690" cy="3548101"/>
            <a:chOff x="549981" y="3302000"/>
            <a:chExt cx="8136819" cy="2355850"/>
          </a:xfrm>
        </p:grpSpPr>
        <p:sp>
          <p:nvSpPr>
            <p:cNvPr id="7" name="Folded Corner 4">
              <a:extLst>
                <a:ext uri="{FF2B5EF4-FFF2-40B4-BE49-F238E27FC236}">
                  <a16:creationId xmlns:a16="http://schemas.microsoft.com/office/drawing/2014/main" id="{488B94C0-31FA-7B4E-BBBF-1A6D0F15B89C}"/>
                </a:ext>
              </a:extLst>
            </p:cNvPr>
            <p:cNvSpPr/>
            <p:nvPr/>
          </p:nvSpPr>
          <p:spPr>
            <a:xfrm>
              <a:off x="584200" y="3575050"/>
              <a:ext cx="1498600" cy="1079500"/>
            </a:xfrm>
            <a:prstGeom prst="foldedCorne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latin typeface="Palatino Linotype"/>
                  <a:cs typeface="Palatino Linotype"/>
                </a:rPr>
                <a:t>PLANLAMA</a:t>
              </a:r>
              <a:endParaRPr lang="en-US" b="1" dirty="0">
                <a:latin typeface="Palatino Linotype"/>
                <a:cs typeface="Palatino Linotype"/>
              </a:endParaRPr>
            </a:p>
          </p:txBody>
        </p:sp>
        <p:sp>
          <p:nvSpPr>
            <p:cNvPr id="8" name="Folded Corner 7">
              <a:extLst>
                <a:ext uri="{FF2B5EF4-FFF2-40B4-BE49-F238E27FC236}">
                  <a16:creationId xmlns:a16="http://schemas.microsoft.com/office/drawing/2014/main" id="{492CCE1F-A422-0543-A334-386AFD66816F}"/>
                </a:ext>
              </a:extLst>
            </p:cNvPr>
            <p:cNvSpPr/>
            <p:nvPr/>
          </p:nvSpPr>
          <p:spPr>
            <a:xfrm>
              <a:off x="2247900" y="3575050"/>
              <a:ext cx="1498600" cy="1079500"/>
            </a:xfrm>
            <a:prstGeom prst="foldedCorne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latin typeface="Palatino Linotype"/>
                  <a:cs typeface="Palatino Linotype"/>
                </a:rPr>
                <a:t>ÖRGÜTLEME</a:t>
              </a:r>
              <a:endParaRPr lang="en-US" b="1" dirty="0">
                <a:latin typeface="Palatino Linotype"/>
                <a:cs typeface="Palatino Linotype"/>
              </a:endParaRPr>
            </a:p>
          </p:txBody>
        </p:sp>
        <p:sp>
          <p:nvSpPr>
            <p:cNvPr id="9" name="Folded Corner 8">
              <a:extLst>
                <a:ext uri="{FF2B5EF4-FFF2-40B4-BE49-F238E27FC236}">
                  <a16:creationId xmlns:a16="http://schemas.microsoft.com/office/drawing/2014/main" id="{FB1519BE-A385-CF46-A453-55E108BCB79D}"/>
                </a:ext>
              </a:extLst>
            </p:cNvPr>
            <p:cNvSpPr/>
            <p:nvPr/>
          </p:nvSpPr>
          <p:spPr>
            <a:xfrm>
              <a:off x="3886200" y="3575050"/>
              <a:ext cx="1498600" cy="1079500"/>
            </a:xfrm>
            <a:prstGeom prst="foldedCorne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latin typeface="Palatino Linotype"/>
                  <a:cs typeface="Palatino Linotype"/>
                </a:rPr>
                <a:t>YÖNELTME</a:t>
              </a:r>
              <a:endParaRPr lang="en-US" b="1" dirty="0">
                <a:latin typeface="Palatino Linotype"/>
                <a:cs typeface="Palatino Linotype"/>
              </a:endParaRPr>
            </a:p>
          </p:txBody>
        </p:sp>
        <p:sp>
          <p:nvSpPr>
            <p:cNvPr id="10" name="Folded Corner 9">
              <a:extLst>
                <a:ext uri="{FF2B5EF4-FFF2-40B4-BE49-F238E27FC236}">
                  <a16:creationId xmlns:a16="http://schemas.microsoft.com/office/drawing/2014/main" id="{C37E0FD9-3E8E-2C4A-B9E3-95830DE5C582}"/>
                </a:ext>
              </a:extLst>
            </p:cNvPr>
            <p:cNvSpPr/>
            <p:nvPr/>
          </p:nvSpPr>
          <p:spPr>
            <a:xfrm>
              <a:off x="5537200" y="3575050"/>
              <a:ext cx="1498600" cy="1079500"/>
            </a:xfrm>
            <a:prstGeom prst="foldedCorne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dirty="0">
                  <a:latin typeface="Palatino Linotype"/>
                  <a:cs typeface="Palatino Linotype"/>
                </a:rPr>
                <a:t>KOORDİNASYON</a:t>
              </a:r>
            </a:p>
          </p:txBody>
        </p:sp>
        <p:sp>
          <p:nvSpPr>
            <p:cNvPr id="11" name="Folded Corner 10">
              <a:extLst>
                <a:ext uri="{FF2B5EF4-FFF2-40B4-BE49-F238E27FC236}">
                  <a16:creationId xmlns:a16="http://schemas.microsoft.com/office/drawing/2014/main" id="{2A8BF26E-8D56-0D47-B672-144AE017ED6A}"/>
                </a:ext>
              </a:extLst>
            </p:cNvPr>
            <p:cNvSpPr/>
            <p:nvPr/>
          </p:nvSpPr>
          <p:spPr>
            <a:xfrm>
              <a:off x="7188200" y="3575050"/>
              <a:ext cx="1498600" cy="1079500"/>
            </a:xfrm>
            <a:prstGeom prst="foldedCorne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latin typeface="Palatino Linotype"/>
                  <a:cs typeface="Palatino Linotype"/>
                </a:rPr>
                <a:t>DENETLEME</a:t>
              </a:r>
              <a:endParaRPr lang="en-US" b="1" dirty="0">
                <a:latin typeface="Palatino Linotype"/>
                <a:cs typeface="Palatino Linotype"/>
              </a:endParaRPr>
            </a:p>
          </p:txBody>
        </p:sp>
        <p:sp>
          <p:nvSpPr>
            <p:cNvPr id="12" name="Oval 11">
              <a:extLst>
                <a:ext uri="{FF2B5EF4-FFF2-40B4-BE49-F238E27FC236}">
                  <a16:creationId xmlns:a16="http://schemas.microsoft.com/office/drawing/2014/main" id="{611F804F-2DBD-8A4E-A912-ADDE31242CCC}"/>
                </a:ext>
              </a:extLst>
            </p:cNvPr>
            <p:cNvSpPr/>
            <p:nvPr/>
          </p:nvSpPr>
          <p:spPr>
            <a:xfrm>
              <a:off x="1092200" y="3302000"/>
              <a:ext cx="520700" cy="546100"/>
            </a:xfrm>
            <a:prstGeom prst="ellipse">
              <a:avLst/>
            </a:prstGeom>
            <a:solidFill>
              <a:schemeClr val="tx2"/>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Palatino Linotype"/>
                  <a:cs typeface="Palatino Linotype"/>
                </a:rPr>
                <a:t>1</a:t>
              </a:r>
              <a:r>
                <a:rPr lang="en-US" sz="1200" b="1" dirty="0">
                  <a:solidFill>
                    <a:schemeClr val="bg1"/>
                  </a:solidFill>
                  <a:latin typeface="Palatino Linotype"/>
                  <a:cs typeface="Palatino Linotype"/>
                </a:rPr>
                <a:t>+</a:t>
              </a:r>
              <a:endParaRPr lang="en-US" b="1" dirty="0">
                <a:solidFill>
                  <a:schemeClr val="bg1"/>
                </a:solidFill>
                <a:latin typeface="Palatino Linotype"/>
                <a:cs typeface="Palatino Linotype"/>
              </a:endParaRPr>
            </a:p>
          </p:txBody>
        </p:sp>
        <p:sp>
          <p:nvSpPr>
            <p:cNvPr id="13" name="Oval 12">
              <a:extLst>
                <a:ext uri="{FF2B5EF4-FFF2-40B4-BE49-F238E27FC236}">
                  <a16:creationId xmlns:a16="http://schemas.microsoft.com/office/drawing/2014/main" id="{05CF9900-28D1-544E-867F-AF3879D16475}"/>
                </a:ext>
              </a:extLst>
            </p:cNvPr>
            <p:cNvSpPr/>
            <p:nvPr/>
          </p:nvSpPr>
          <p:spPr>
            <a:xfrm>
              <a:off x="2743200" y="3302000"/>
              <a:ext cx="520700" cy="546100"/>
            </a:xfrm>
            <a:prstGeom prst="ellipse">
              <a:avLst/>
            </a:prstGeom>
            <a:solidFill>
              <a:schemeClr val="tx2"/>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Palatino Linotype"/>
                  <a:cs typeface="Palatino Linotype"/>
                </a:rPr>
                <a:t>2</a:t>
              </a:r>
              <a:r>
                <a:rPr lang="en-US" sz="1200" b="1" dirty="0">
                  <a:solidFill>
                    <a:schemeClr val="bg1"/>
                  </a:solidFill>
                  <a:latin typeface="Palatino Linotype"/>
                  <a:cs typeface="Palatino Linotype"/>
                </a:rPr>
                <a:t>+</a:t>
              </a:r>
              <a:endParaRPr lang="en-US" b="1" dirty="0">
                <a:solidFill>
                  <a:schemeClr val="bg1"/>
                </a:solidFill>
                <a:latin typeface="Palatino Linotype"/>
                <a:cs typeface="Palatino Linotype"/>
              </a:endParaRPr>
            </a:p>
          </p:txBody>
        </p:sp>
        <p:sp>
          <p:nvSpPr>
            <p:cNvPr id="14" name="Oval 13">
              <a:extLst>
                <a:ext uri="{FF2B5EF4-FFF2-40B4-BE49-F238E27FC236}">
                  <a16:creationId xmlns:a16="http://schemas.microsoft.com/office/drawing/2014/main" id="{599B6BC1-9ADC-6F45-8ACA-88B2DBBE61E2}"/>
                </a:ext>
              </a:extLst>
            </p:cNvPr>
            <p:cNvSpPr/>
            <p:nvPr/>
          </p:nvSpPr>
          <p:spPr>
            <a:xfrm>
              <a:off x="4406900" y="3302000"/>
              <a:ext cx="520700" cy="546100"/>
            </a:xfrm>
            <a:prstGeom prst="ellipse">
              <a:avLst/>
            </a:prstGeom>
            <a:solidFill>
              <a:schemeClr val="tx2"/>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Palatino Linotype"/>
                  <a:cs typeface="Palatino Linotype"/>
                </a:rPr>
                <a:t>3</a:t>
              </a:r>
              <a:r>
                <a:rPr lang="en-US" sz="1200" b="1" dirty="0">
                  <a:solidFill>
                    <a:schemeClr val="bg1"/>
                  </a:solidFill>
                  <a:latin typeface="Palatino Linotype"/>
                  <a:cs typeface="Palatino Linotype"/>
                </a:rPr>
                <a:t>+</a:t>
              </a:r>
              <a:endParaRPr lang="en-US" b="1" dirty="0">
                <a:solidFill>
                  <a:schemeClr val="bg1"/>
                </a:solidFill>
                <a:latin typeface="Palatino Linotype"/>
                <a:cs typeface="Palatino Linotype"/>
              </a:endParaRPr>
            </a:p>
          </p:txBody>
        </p:sp>
        <p:sp>
          <p:nvSpPr>
            <p:cNvPr id="15" name="Oval 14">
              <a:extLst>
                <a:ext uri="{FF2B5EF4-FFF2-40B4-BE49-F238E27FC236}">
                  <a16:creationId xmlns:a16="http://schemas.microsoft.com/office/drawing/2014/main" id="{86F766AB-2A44-F047-B804-AE32A5C3362C}"/>
                </a:ext>
              </a:extLst>
            </p:cNvPr>
            <p:cNvSpPr/>
            <p:nvPr/>
          </p:nvSpPr>
          <p:spPr>
            <a:xfrm>
              <a:off x="5969000" y="3302000"/>
              <a:ext cx="520700" cy="546100"/>
            </a:xfrm>
            <a:prstGeom prst="ellipse">
              <a:avLst/>
            </a:prstGeom>
            <a:solidFill>
              <a:schemeClr val="tx2"/>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Palatino Linotype"/>
                  <a:cs typeface="Palatino Linotype"/>
                </a:rPr>
                <a:t>4</a:t>
              </a:r>
              <a:r>
                <a:rPr lang="en-US" sz="1200" b="1" dirty="0">
                  <a:solidFill>
                    <a:schemeClr val="bg1"/>
                  </a:solidFill>
                  <a:latin typeface="Palatino Linotype"/>
                  <a:cs typeface="Palatino Linotype"/>
                </a:rPr>
                <a:t>+</a:t>
              </a:r>
              <a:endParaRPr lang="en-US" b="1" dirty="0">
                <a:solidFill>
                  <a:schemeClr val="bg1"/>
                </a:solidFill>
                <a:latin typeface="Palatino Linotype"/>
                <a:cs typeface="Palatino Linotype"/>
              </a:endParaRPr>
            </a:p>
          </p:txBody>
        </p:sp>
        <p:sp>
          <p:nvSpPr>
            <p:cNvPr id="16" name="Oval 15">
              <a:extLst>
                <a:ext uri="{FF2B5EF4-FFF2-40B4-BE49-F238E27FC236}">
                  <a16:creationId xmlns:a16="http://schemas.microsoft.com/office/drawing/2014/main" id="{8BE0BECA-1886-DF4C-B028-1E676A3B05FE}"/>
                </a:ext>
              </a:extLst>
            </p:cNvPr>
            <p:cNvSpPr/>
            <p:nvPr/>
          </p:nvSpPr>
          <p:spPr>
            <a:xfrm>
              <a:off x="7707578" y="3302000"/>
              <a:ext cx="520700" cy="546100"/>
            </a:xfrm>
            <a:prstGeom prst="ellipse">
              <a:avLst/>
            </a:prstGeom>
            <a:solidFill>
              <a:schemeClr val="tx2"/>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Palatino Linotype"/>
                  <a:cs typeface="Palatino Linotype"/>
                </a:rPr>
                <a:t>5</a:t>
              </a:r>
              <a:r>
                <a:rPr lang="en-US" sz="1200" b="1" dirty="0">
                  <a:solidFill>
                    <a:schemeClr val="bg1"/>
                  </a:solidFill>
                  <a:latin typeface="Palatino Linotype"/>
                  <a:cs typeface="Palatino Linotype"/>
                </a:rPr>
                <a:t>+</a:t>
              </a:r>
              <a:endParaRPr lang="en-US" b="1" dirty="0">
                <a:solidFill>
                  <a:schemeClr val="bg1"/>
                </a:solidFill>
                <a:latin typeface="Palatino Linotype"/>
                <a:cs typeface="Palatino Linotype"/>
              </a:endParaRPr>
            </a:p>
          </p:txBody>
        </p:sp>
        <p:cxnSp>
          <p:nvCxnSpPr>
            <p:cNvPr id="17" name="Straight Arrow Connector 17">
              <a:extLst>
                <a:ext uri="{FF2B5EF4-FFF2-40B4-BE49-F238E27FC236}">
                  <a16:creationId xmlns:a16="http://schemas.microsoft.com/office/drawing/2014/main" id="{1A7CC174-A42A-9A4B-AFDA-5304E7BC9E22}"/>
                </a:ext>
              </a:extLst>
            </p:cNvPr>
            <p:cNvCxnSpPr/>
            <p:nvPr/>
          </p:nvCxnSpPr>
          <p:spPr>
            <a:xfrm>
              <a:off x="1333500" y="4616450"/>
              <a:ext cx="0" cy="6540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8">
              <a:extLst>
                <a:ext uri="{FF2B5EF4-FFF2-40B4-BE49-F238E27FC236}">
                  <a16:creationId xmlns:a16="http://schemas.microsoft.com/office/drawing/2014/main" id="{02329784-529C-DA44-BEFA-95A05EAC3E8B}"/>
                </a:ext>
              </a:extLst>
            </p:cNvPr>
            <p:cNvCxnSpPr/>
            <p:nvPr/>
          </p:nvCxnSpPr>
          <p:spPr>
            <a:xfrm>
              <a:off x="2984500" y="4616450"/>
              <a:ext cx="0" cy="6540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9">
              <a:extLst>
                <a:ext uri="{FF2B5EF4-FFF2-40B4-BE49-F238E27FC236}">
                  <a16:creationId xmlns:a16="http://schemas.microsoft.com/office/drawing/2014/main" id="{16B3F2C2-18E2-4346-B6D0-5697C10DE912}"/>
                </a:ext>
              </a:extLst>
            </p:cNvPr>
            <p:cNvCxnSpPr/>
            <p:nvPr/>
          </p:nvCxnSpPr>
          <p:spPr>
            <a:xfrm>
              <a:off x="4610100" y="4616450"/>
              <a:ext cx="0" cy="6540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20">
              <a:extLst>
                <a:ext uri="{FF2B5EF4-FFF2-40B4-BE49-F238E27FC236}">
                  <a16:creationId xmlns:a16="http://schemas.microsoft.com/office/drawing/2014/main" id="{B01332D1-9E34-5247-BB76-77294CCCB29C}"/>
                </a:ext>
              </a:extLst>
            </p:cNvPr>
            <p:cNvCxnSpPr/>
            <p:nvPr/>
          </p:nvCxnSpPr>
          <p:spPr>
            <a:xfrm>
              <a:off x="6210300" y="4610100"/>
              <a:ext cx="0" cy="6540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1">
              <a:extLst>
                <a:ext uri="{FF2B5EF4-FFF2-40B4-BE49-F238E27FC236}">
                  <a16:creationId xmlns:a16="http://schemas.microsoft.com/office/drawing/2014/main" id="{4B87E424-8010-6843-90F3-C4BB5D0A664C}"/>
                </a:ext>
              </a:extLst>
            </p:cNvPr>
            <p:cNvCxnSpPr/>
            <p:nvPr/>
          </p:nvCxnSpPr>
          <p:spPr>
            <a:xfrm>
              <a:off x="7950200" y="4610100"/>
              <a:ext cx="0" cy="6540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Rectangle 22">
              <a:extLst>
                <a:ext uri="{FF2B5EF4-FFF2-40B4-BE49-F238E27FC236}">
                  <a16:creationId xmlns:a16="http://schemas.microsoft.com/office/drawing/2014/main" id="{5CE4A323-41EC-A74E-AC70-3DADD91581D9}"/>
                </a:ext>
              </a:extLst>
            </p:cNvPr>
            <p:cNvSpPr/>
            <p:nvPr/>
          </p:nvSpPr>
          <p:spPr>
            <a:xfrm>
              <a:off x="549981" y="5270500"/>
              <a:ext cx="8102600" cy="387350"/>
            </a:xfrm>
            <a:prstGeom prst="rect">
              <a:avLst/>
            </a:prstGeom>
            <a:solidFill>
              <a:schemeClr val="tx2"/>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Palatino Linotype"/>
                  <a:cs typeface="Palatino Linotype"/>
                </a:rPr>
                <a:t>= SEVK VE İDARE</a:t>
              </a:r>
            </a:p>
          </p:txBody>
        </p:sp>
      </p:grpSp>
    </p:spTree>
    <p:extLst>
      <p:ext uri="{BB962C8B-B14F-4D97-AF65-F5344CB8AC3E}">
        <p14:creationId xmlns:p14="http://schemas.microsoft.com/office/powerpoint/2010/main" val="1402338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4347A91-51BF-EB42-9B5A-B4C3140A7BEA}"/>
              </a:ext>
            </a:extLst>
          </p:cNvPr>
          <p:cNvSpPr>
            <a:spLocks noGrp="1"/>
          </p:cNvSpPr>
          <p:nvPr>
            <p:ph type="title"/>
          </p:nvPr>
        </p:nvSpPr>
        <p:spPr>
          <a:xfrm>
            <a:off x="628810" y="1346617"/>
            <a:ext cx="3598808" cy="2286000"/>
          </a:xfrm>
        </p:spPr>
        <p:txBody>
          <a:bodyPr anchor="t">
            <a:normAutofit/>
          </a:bodyPr>
          <a:lstStyle/>
          <a:p>
            <a:r>
              <a:rPr lang="tr-TR" sz="3200">
                <a:solidFill>
                  <a:srgbClr val="FF0000"/>
                </a:solidFill>
              </a:rPr>
              <a:t>YÖNETİM GRUPLARI</a:t>
            </a:r>
          </a:p>
        </p:txBody>
      </p:sp>
      <p:graphicFrame>
        <p:nvGraphicFramePr>
          <p:cNvPr id="5" name="İçerik Yer Tutucusu 2">
            <a:extLst>
              <a:ext uri="{FF2B5EF4-FFF2-40B4-BE49-F238E27FC236}">
                <a16:creationId xmlns:a16="http://schemas.microsoft.com/office/drawing/2014/main" id="{D4D484EA-F588-A218-1A2B-0113D7D7DA76}"/>
              </a:ext>
            </a:extLst>
          </p:cNvPr>
          <p:cNvGraphicFramePr>
            <a:graphicFrameLocks noGrp="1"/>
          </p:cNvGraphicFramePr>
          <p:nvPr>
            <p:ph idx="1"/>
            <p:extLst>
              <p:ext uri="{D42A27DB-BD31-4B8C-83A1-F6EECF244321}">
                <p14:modId xmlns:p14="http://schemas.microsoft.com/office/powerpoint/2010/main" val="3296685734"/>
              </p:ext>
            </p:extLst>
          </p:nvPr>
        </p:nvGraphicFramePr>
        <p:xfrm>
          <a:off x="4572000" y="771726"/>
          <a:ext cx="6858000" cy="4562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6533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8" name="Picture 4" descr="Attributes of a great manager (1) - Businessday NG">
            <a:extLst>
              <a:ext uri="{FF2B5EF4-FFF2-40B4-BE49-F238E27FC236}">
                <a16:creationId xmlns:a16="http://schemas.microsoft.com/office/drawing/2014/main" id="{704A1B09-5032-03AD-FDAF-612BFC81B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1329" r="14996" b="1"/>
          <a:stretch/>
        </p:blipFill>
        <p:spPr bwMode="auto">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C5B2D46B-5519-1C4C-8F7F-561A990133FC}"/>
              </a:ext>
            </a:extLst>
          </p:cNvPr>
          <p:cNvSpPr>
            <a:spLocks noGrp="1"/>
          </p:cNvSpPr>
          <p:nvPr>
            <p:ph type="title"/>
          </p:nvPr>
        </p:nvSpPr>
        <p:spPr>
          <a:xfrm>
            <a:off x="6096000" y="762000"/>
            <a:ext cx="5334000" cy="1524000"/>
          </a:xfrm>
        </p:spPr>
        <p:txBody>
          <a:bodyPr>
            <a:normAutofit/>
          </a:bodyPr>
          <a:lstStyle/>
          <a:p>
            <a:r>
              <a:rPr lang="tr-TR" sz="3200"/>
              <a:t>YÖNETİCİ</a:t>
            </a:r>
          </a:p>
        </p:txBody>
      </p:sp>
      <p:sp>
        <p:nvSpPr>
          <p:cNvPr id="3" name="İçerik Yer Tutucusu 2">
            <a:extLst>
              <a:ext uri="{FF2B5EF4-FFF2-40B4-BE49-F238E27FC236}">
                <a16:creationId xmlns:a16="http://schemas.microsoft.com/office/drawing/2014/main" id="{352E631C-5F7A-1045-A2A7-4CE3FAA648EC}"/>
              </a:ext>
            </a:extLst>
          </p:cNvPr>
          <p:cNvSpPr>
            <a:spLocks noGrp="1"/>
          </p:cNvSpPr>
          <p:nvPr>
            <p:ph idx="1"/>
          </p:nvPr>
        </p:nvSpPr>
        <p:spPr>
          <a:xfrm>
            <a:off x="6096000" y="2286000"/>
            <a:ext cx="5334000" cy="3810001"/>
          </a:xfrm>
        </p:spPr>
        <p:txBody>
          <a:bodyPr>
            <a:normAutofit lnSpcReduction="10000"/>
          </a:bodyPr>
          <a:lstStyle/>
          <a:p>
            <a:pPr>
              <a:lnSpc>
                <a:spcPct val="115000"/>
              </a:lnSpc>
            </a:pPr>
            <a:r>
              <a:rPr lang="tr-TR" sz="2000"/>
              <a:t>Yönetim, yönetici adını verdiğimiz kişi veya gruplar aracılığıyla yerine getirilen bir süreç olduğuna göre, bunun işlerlik kazandıran ’yönetici’ üzerinde durmakta yarar vardır.  Yöneticiyi, ‘başkaları vasıtasıyla amaçlara ulaşmaya çalışan kişi’ şeklinde tanımlamak mümkündür.</a:t>
            </a:r>
          </a:p>
          <a:p>
            <a:pPr>
              <a:lnSpc>
                <a:spcPct val="115000"/>
              </a:lnSpc>
            </a:pPr>
            <a:r>
              <a:rPr lang="tr-TR" sz="2000"/>
              <a:t> </a:t>
            </a:r>
            <a:r>
              <a:rPr lang="tr-TR" sz="2000" b="1"/>
              <a:t>Profesyonel yönetici </a:t>
            </a:r>
            <a:r>
              <a:rPr lang="tr-TR" sz="2000"/>
              <a:t>ise ‘bu işi meslek olarak yapan veya icra eden kişi’ şeklinde belirtilebilir.</a:t>
            </a:r>
            <a:endParaRPr lang="tr-TR" sz="2000" b="1"/>
          </a:p>
        </p:txBody>
      </p:sp>
    </p:spTree>
    <p:extLst>
      <p:ext uri="{BB962C8B-B14F-4D97-AF65-F5344CB8AC3E}">
        <p14:creationId xmlns:p14="http://schemas.microsoft.com/office/powerpoint/2010/main" val="1664296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Verimlilik öğeleri bulunan masa">
            <a:extLst>
              <a:ext uri="{FF2B5EF4-FFF2-40B4-BE49-F238E27FC236}">
                <a16:creationId xmlns:a16="http://schemas.microsoft.com/office/drawing/2014/main" id="{BDA6736C-5A69-0362-7FD7-1F627DDAED9E}"/>
              </a:ext>
            </a:extLst>
          </p:cNvPr>
          <p:cNvPicPr>
            <a:picLocks noChangeAspect="1"/>
          </p:cNvPicPr>
          <p:nvPr/>
        </p:nvPicPr>
        <p:blipFill>
          <a:blip r:embed="rId3"/>
          <a:srcRect l="26737" r="11490" b="1"/>
          <a:stretch/>
        </p:blipFill>
        <p:spPr>
          <a:xfrm>
            <a:off x="6613174" y="10"/>
            <a:ext cx="5578824" cy="6028246"/>
          </a:xfrm>
          <a:custGeom>
            <a:avLst/>
            <a:gdLst/>
            <a:ahLst/>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p:spPr>
      </p:pic>
      <p:sp>
        <p:nvSpPr>
          <p:cNvPr id="2" name="Başlık 1">
            <a:extLst>
              <a:ext uri="{FF2B5EF4-FFF2-40B4-BE49-F238E27FC236}">
                <a16:creationId xmlns:a16="http://schemas.microsoft.com/office/drawing/2014/main" id="{C5B2D46B-5519-1C4C-8F7F-561A990133FC}"/>
              </a:ext>
            </a:extLst>
          </p:cNvPr>
          <p:cNvSpPr>
            <a:spLocks noGrp="1"/>
          </p:cNvSpPr>
          <p:nvPr>
            <p:ph type="title"/>
          </p:nvPr>
        </p:nvSpPr>
        <p:spPr>
          <a:xfrm>
            <a:off x="762000" y="762000"/>
            <a:ext cx="5334000" cy="1524000"/>
          </a:xfrm>
        </p:spPr>
        <p:txBody>
          <a:bodyPr>
            <a:normAutofit/>
          </a:bodyPr>
          <a:lstStyle/>
          <a:p>
            <a:r>
              <a:rPr lang="tr-TR" sz="3200"/>
              <a:t>YÖNETİCİ</a:t>
            </a:r>
          </a:p>
        </p:txBody>
      </p:sp>
      <p:sp>
        <p:nvSpPr>
          <p:cNvPr id="3" name="İçerik Yer Tutucusu 2">
            <a:extLst>
              <a:ext uri="{FF2B5EF4-FFF2-40B4-BE49-F238E27FC236}">
                <a16:creationId xmlns:a16="http://schemas.microsoft.com/office/drawing/2014/main" id="{352E631C-5F7A-1045-A2A7-4CE3FAA648EC}"/>
              </a:ext>
            </a:extLst>
          </p:cNvPr>
          <p:cNvSpPr>
            <a:spLocks noGrp="1"/>
          </p:cNvSpPr>
          <p:nvPr>
            <p:ph idx="1"/>
          </p:nvPr>
        </p:nvSpPr>
        <p:spPr>
          <a:xfrm>
            <a:off x="762000" y="2286000"/>
            <a:ext cx="5334000" cy="3810001"/>
          </a:xfrm>
        </p:spPr>
        <p:txBody>
          <a:bodyPr>
            <a:normAutofit/>
          </a:bodyPr>
          <a:lstStyle/>
          <a:p>
            <a:pPr>
              <a:lnSpc>
                <a:spcPct val="115000"/>
              </a:lnSpc>
            </a:pPr>
            <a:r>
              <a:rPr lang="tr-TR" sz="1700" b="1"/>
              <a:t>Profesyonel yönetici: </a:t>
            </a:r>
            <a:r>
              <a:rPr lang="tr-TR" sz="1700"/>
              <a:t>Kar ve zararı başkalarına ait olmak üzere belirli bir ücret karşılığında çalışıyor olsalar bile sahip oldukları geniş kapsamlı biçimsel (resmi) yetki sayesinde verdikleri kararlar; işletme sahiplerinin (hissedarların) ne kadar kar payı alacaklarına, piyasaya sunulan mal ve hizmetlere müşterilerin ne fiyat ödeyeceklerine, işletmede çalıştırılan personele ne kadar ücret ödeneceğine ve nihayet üretim ve istihdam düzeylerinin ne düzeyde olacağına kadar geniş bir alanı kapsar.</a:t>
            </a:r>
            <a:endParaRPr lang="tr-TR" sz="1700" b="1"/>
          </a:p>
        </p:txBody>
      </p:sp>
    </p:spTree>
    <p:extLst>
      <p:ext uri="{BB962C8B-B14F-4D97-AF65-F5344CB8AC3E}">
        <p14:creationId xmlns:p14="http://schemas.microsoft.com/office/powerpoint/2010/main" val="128033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8E4AC0C-A564-2549-A391-B9A2EE9BAE46}"/>
              </a:ext>
            </a:extLst>
          </p:cNvPr>
          <p:cNvSpPr>
            <a:spLocks noGrp="1"/>
          </p:cNvSpPr>
          <p:nvPr>
            <p:ph type="title"/>
          </p:nvPr>
        </p:nvSpPr>
        <p:spPr>
          <a:xfrm>
            <a:off x="838200" y="1495426"/>
            <a:ext cx="3220880" cy="4024310"/>
          </a:xfrm>
        </p:spPr>
        <p:txBody>
          <a:bodyPr>
            <a:normAutofit/>
          </a:bodyPr>
          <a:lstStyle/>
          <a:p>
            <a:r>
              <a:rPr lang="tr-TR" sz="3600"/>
              <a:t>YÖNETİCİ VE LİDER AYRIMI</a:t>
            </a:r>
          </a:p>
        </p:txBody>
      </p:sp>
      <p:graphicFrame>
        <p:nvGraphicFramePr>
          <p:cNvPr id="5" name="İçerik Yer Tutucusu 2">
            <a:extLst>
              <a:ext uri="{FF2B5EF4-FFF2-40B4-BE49-F238E27FC236}">
                <a16:creationId xmlns:a16="http://schemas.microsoft.com/office/drawing/2014/main" id="{11D2623D-DFD0-48D9-A4D5-258C85223BBD}"/>
              </a:ext>
            </a:extLst>
          </p:cNvPr>
          <p:cNvGraphicFramePr>
            <a:graphicFrameLocks noGrp="1"/>
          </p:cNvGraphicFramePr>
          <p:nvPr>
            <p:ph idx="1"/>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0534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DD443C-C567-ED48-80FA-A5BEA9E25FBE}"/>
              </a:ext>
            </a:extLst>
          </p:cNvPr>
          <p:cNvSpPr>
            <a:spLocks noGrp="1"/>
          </p:cNvSpPr>
          <p:nvPr>
            <p:ph type="title"/>
          </p:nvPr>
        </p:nvSpPr>
        <p:spPr>
          <a:xfrm>
            <a:off x="5991225" y="279400"/>
            <a:ext cx="5362576" cy="1892300"/>
          </a:xfrm>
        </p:spPr>
        <p:txBody>
          <a:bodyPr>
            <a:normAutofit/>
          </a:bodyPr>
          <a:lstStyle/>
          <a:p>
            <a:r>
              <a:rPr lang="tr-TR" dirty="0"/>
              <a:t>LİDERLİK SÜRECİ</a:t>
            </a:r>
          </a:p>
        </p:txBody>
      </p:sp>
      <p:graphicFrame>
        <p:nvGraphicFramePr>
          <p:cNvPr id="5" name="İçerik Yer Tutucusu 2">
            <a:extLst>
              <a:ext uri="{FF2B5EF4-FFF2-40B4-BE49-F238E27FC236}">
                <a16:creationId xmlns:a16="http://schemas.microsoft.com/office/drawing/2014/main" id="{F30202C4-FEBB-41D1-BA75-13B6B7EDDD90}"/>
              </a:ext>
            </a:extLst>
          </p:cNvPr>
          <p:cNvGraphicFramePr>
            <a:graphicFrameLocks noGrp="1"/>
          </p:cNvGraphicFramePr>
          <p:nvPr>
            <p:ph idx="1"/>
            <p:extLst>
              <p:ext uri="{D42A27DB-BD31-4B8C-83A1-F6EECF244321}">
                <p14:modId xmlns:p14="http://schemas.microsoft.com/office/powerpoint/2010/main" val="883230038"/>
              </p:ext>
            </p:extLst>
          </p:nvPr>
        </p:nvGraphicFramePr>
        <p:xfrm>
          <a:off x="838200" y="2028825"/>
          <a:ext cx="10515600" cy="4148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990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E97251B-8D49-D74A-ABA9-2756B5EBBEF2}"/>
              </a:ext>
            </a:extLst>
          </p:cNvPr>
          <p:cNvSpPr>
            <a:spLocks noGrp="1"/>
          </p:cNvSpPr>
          <p:nvPr>
            <p:ph type="title"/>
          </p:nvPr>
        </p:nvSpPr>
        <p:spPr>
          <a:xfrm>
            <a:off x="838201" y="365125"/>
            <a:ext cx="3816095" cy="1807305"/>
          </a:xfrm>
        </p:spPr>
        <p:txBody>
          <a:bodyPr>
            <a:normAutofit/>
          </a:bodyPr>
          <a:lstStyle/>
          <a:p>
            <a:r>
              <a:rPr lang="tr-TR" dirty="0"/>
              <a:t>YÖNETİCİLER VE LİDERLER</a:t>
            </a:r>
          </a:p>
        </p:txBody>
      </p:sp>
      <p:sp>
        <p:nvSpPr>
          <p:cNvPr id="3" name="İçerik Yer Tutucusu 2">
            <a:extLst>
              <a:ext uri="{FF2B5EF4-FFF2-40B4-BE49-F238E27FC236}">
                <a16:creationId xmlns:a16="http://schemas.microsoft.com/office/drawing/2014/main" id="{40F2E74F-8F89-3D4C-AB19-8ADF6F044487}"/>
              </a:ext>
            </a:extLst>
          </p:cNvPr>
          <p:cNvSpPr>
            <a:spLocks noGrp="1"/>
          </p:cNvSpPr>
          <p:nvPr>
            <p:ph idx="1"/>
          </p:nvPr>
        </p:nvSpPr>
        <p:spPr>
          <a:xfrm>
            <a:off x="838201" y="2333297"/>
            <a:ext cx="3816096" cy="3843666"/>
          </a:xfrm>
        </p:spPr>
        <p:txBody>
          <a:bodyPr>
            <a:normAutofit/>
          </a:bodyPr>
          <a:lstStyle/>
          <a:p>
            <a:r>
              <a:rPr lang="tr-TR" sz="2300" dirty="0"/>
              <a:t>YÖNETİCİ ÖRNEKLERİ</a:t>
            </a:r>
          </a:p>
          <a:p>
            <a:r>
              <a:rPr lang="tr-TR" sz="2300" dirty="0"/>
              <a:t>LİDER ÖRNEKLERİ</a:t>
            </a:r>
          </a:p>
        </p:txBody>
      </p:sp>
      <p:pic>
        <p:nvPicPr>
          <p:cNvPr id="4" name="Picture 4" descr="Ekran Resmi 2017-08-05 13.23.16.png">
            <a:extLst>
              <a:ext uri="{FF2B5EF4-FFF2-40B4-BE49-F238E27FC236}">
                <a16:creationId xmlns:a16="http://schemas.microsoft.com/office/drawing/2014/main" id="{F81BE5F5-B1F3-8940-92F7-FADDB25AEB24}"/>
              </a:ext>
            </a:extLst>
          </p:cNvPr>
          <p:cNvPicPr>
            <a:picLocks noChangeAspect="1"/>
          </p:cNvPicPr>
          <p:nvPr/>
        </p:nvPicPr>
        <p:blipFill rotWithShape="1">
          <a:blip r:embed="rId3">
            <a:extLst>
              <a:ext uri="{28A0092B-C50C-407E-A947-70E740481C1C}">
                <a14:useLocalDpi xmlns:a14="http://schemas.microsoft.com/office/drawing/2010/main" val="0"/>
              </a:ext>
            </a:extLst>
          </a:blip>
          <a:srcRect t="3521" r="-2" b="3520"/>
          <a:stretch/>
        </p:blipFill>
        <p:spPr>
          <a:xfrm>
            <a:off x="4726728" y="10"/>
            <a:ext cx="7472381" cy="6857990"/>
          </a:xfrm>
          <a:custGeom>
            <a:avLst/>
            <a:gdLst/>
            <a:ahLst/>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p:spPr>
      </p:pic>
    </p:spTree>
    <p:extLst>
      <p:ext uri="{BB962C8B-B14F-4D97-AF65-F5344CB8AC3E}">
        <p14:creationId xmlns:p14="http://schemas.microsoft.com/office/powerpoint/2010/main" val="1159386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a:extLst>
              <a:ext uri="{FF2B5EF4-FFF2-40B4-BE49-F238E27FC236}">
                <a16:creationId xmlns:a16="http://schemas.microsoft.com/office/drawing/2014/main" id="{CFCF00BD-D9BE-3342-B598-4A4040C93498}"/>
              </a:ext>
            </a:extLst>
          </p:cNvPr>
          <p:cNvPicPr>
            <a:picLocks/>
          </p:cNvPicPr>
          <p:nvPr/>
        </p:nvPicPr>
        <p:blipFill rotWithShape="1">
          <a:blip r:embed="rId3">
            <a:extLst>
              <a:ext uri="{28A0092B-C50C-407E-A947-70E740481C1C}">
                <a14:useLocalDpi xmlns:a14="http://schemas.microsoft.com/office/drawing/2010/main" val="0"/>
              </a:ext>
            </a:extLst>
          </a:blip>
          <a:srcRect l="15802" r="427"/>
          <a:stretch/>
        </p:blipFill>
        <p:spPr bwMode="auto">
          <a:xfrm>
            <a:off x="8452968" y="3681463"/>
            <a:ext cx="3747932"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a:noFill/>
        </p:spPr>
      </p:pic>
      <p:pic>
        <p:nvPicPr>
          <p:cNvPr id="5" name="Picture 8">
            <a:extLst>
              <a:ext uri="{FF2B5EF4-FFF2-40B4-BE49-F238E27FC236}">
                <a16:creationId xmlns:a16="http://schemas.microsoft.com/office/drawing/2014/main" id="{0E0F3DF9-CCDD-4E44-ABDF-32F096DA79BA}"/>
              </a:ext>
            </a:extLst>
          </p:cNvPr>
          <p:cNvPicPr/>
          <p:nvPr/>
        </p:nvPicPr>
        <p:blipFill rotWithShape="1">
          <a:blip r:embed="rId4">
            <a:extLst>
              <a:ext uri="{28A0092B-C50C-407E-A947-70E740481C1C}">
                <a14:useLocalDpi xmlns:a14="http://schemas.microsoft.com/office/drawing/2010/main" val="0"/>
              </a:ext>
            </a:extLst>
          </a:blip>
          <a:srcRect l="661" r="37160"/>
          <a:stretch/>
        </p:blipFill>
        <p:spPr bwMode="auto">
          <a:xfrm>
            <a:off x="5398276" y="2457970"/>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a:noFill/>
          <a:extLst>
            <a:ext uri="{FAA26D3D-D897-4be2-8F04-BA451C77F1D7}">
              <ma14:placeholderFlag xmlns:ma14="http://schemas.microsoft.com/office/mac/drawingml/2011/main" xmlns=""/>
            </a:ext>
          </a:extLst>
        </p:spPr>
      </p:pic>
      <p:pic>
        <p:nvPicPr>
          <p:cNvPr id="6" name="Picture 9">
            <a:extLst>
              <a:ext uri="{FF2B5EF4-FFF2-40B4-BE49-F238E27FC236}">
                <a16:creationId xmlns:a16="http://schemas.microsoft.com/office/drawing/2014/main" id="{839C0D78-A402-9A40-9F5C-E47E5D42DA97}"/>
              </a:ext>
            </a:extLst>
          </p:cNvPr>
          <p:cNvPicPr/>
          <p:nvPr/>
        </p:nvPicPr>
        <p:blipFill rotWithShape="1">
          <a:blip r:embed="rId5">
            <a:extLst>
              <a:ext uri="{28A0092B-C50C-407E-A947-70E740481C1C}">
                <a14:useLocalDpi xmlns:a14="http://schemas.microsoft.com/office/drawing/2010/main" val="0"/>
              </a:ext>
            </a:extLst>
          </a:blip>
          <a:srcRect l="20356"/>
          <a:stretch/>
        </p:blipFill>
        <p:spPr bwMode="auto">
          <a:xfrm>
            <a:off x="7621024" y="-3"/>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a:noFill/>
          <a:extLst>
            <a:ext uri="{FAA26D3D-D897-4be2-8F04-BA451C77F1D7}">
              <ma14:placeholderFlag xmlns:ma14="http://schemas.microsoft.com/office/mac/drawingml/2011/main" xmlns=""/>
            </a:ext>
          </a:extLst>
        </p:spPr>
      </p:pic>
      <p:pic>
        <p:nvPicPr>
          <p:cNvPr id="9" name="Picture 9" descr="Macintosh HD:Users:hakankoc:Desktop:atatürk.jpg">
            <a:extLst>
              <a:ext uri="{FF2B5EF4-FFF2-40B4-BE49-F238E27FC236}">
                <a16:creationId xmlns:a16="http://schemas.microsoft.com/office/drawing/2014/main" id="{25253193-60E6-534E-BD6D-CC0045E3B1ED}"/>
              </a:ext>
            </a:extLst>
          </p:cNvPr>
          <p:cNvPicPr>
            <a:picLocks noGrp="1"/>
          </p:cNvPicPr>
          <p:nvPr>
            <p:ph idx="1"/>
          </p:nvPr>
        </p:nvPicPr>
        <p:blipFill>
          <a:blip r:embed="rId6">
            <a:extLst>
              <a:ext uri="{28A0092B-C50C-407E-A947-70E740481C1C}">
                <a14:useLocalDpi xmlns:a14="http://schemas.microsoft.com/office/drawing/2010/main" val="0"/>
              </a:ext>
            </a:extLst>
          </a:blip>
          <a:srcRect/>
          <a:stretch>
            <a:fillRect/>
          </a:stretch>
        </p:blipFill>
        <p:spPr bwMode="auto">
          <a:xfrm>
            <a:off x="685801" y="571500"/>
            <a:ext cx="4329112" cy="5605463"/>
          </a:xfrm>
          <a:prstGeom prst="rect">
            <a:avLst/>
          </a:prstGeom>
          <a:noFill/>
          <a:ln>
            <a:noFill/>
          </a:ln>
          <a:extLst>
            <a:ext uri="{FAA26D3D-D897-4be2-8F04-BA451C77F1D7}">
              <ma14:placeholderFlag xmlns="" xmlns:ma14="http://schemas.microsoft.com/office/mac/drawingml/2011/main"/>
            </a:ext>
          </a:extLst>
        </p:spPr>
      </p:pic>
    </p:spTree>
    <p:extLst>
      <p:ext uri="{BB962C8B-B14F-4D97-AF65-F5344CB8AC3E}">
        <p14:creationId xmlns:p14="http://schemas.microsoft.com/office/powerpoint/2010/main" val="823107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854B970-4C72-914F-8E91-B3440EC67826}"/>
              </a:ext>
            </a:extLst>
          </p:cNvPr>
          <p:cNvSpPr>
            <a:spLocks noGrp="1"/>
          </p:cNvSpPr>
          <p:nvPr>
            <p:ph type="title"/>
          </p:nvPr>
        </p:nvSpPr>
        <p:spPr>
          <a:xfrm>
            <a:off x="1106772" y="1155492"/>
            <a:ext cx="3048001" cy="2286000"/>
          </a:xfrm>
        </p:spPr>
        <p:txBody>
          <a:bodyPr anchor="b">
            <a:normAutofit/>
          </a:bodyPr>
          <a:lstStyle/>
          <a:p>
            <a:r>
              <a:rPr lang="tr-TR" sz="3000" b="1">
                <a:solidFill>
                  <a:schemeClr val="tx1"/>
                </a:solidFill>
              </a:rPr>
              <a:t>YÖNETİCİLERDE ETKİNLİĞİ YÜKSELTECEK YETENEKLER</a:t>
            </a:r>
          </a:p>
        </p:txBody>
      </p:sp>
      <p:graphicFrame>
        <p:nvGraphicFramePr>
          <p:cNvPr id="5" name="İçerik Yer Tutucusu 2">
            <a:extLst>
              <a:ext uri="{FF2B5EF4-FFF2-40B4-BE49-F238E27FC236}">
                <a16:creationId xmlns:a16="http://schemas.microsoft.com/office/drawing/2014/main" id="{A97E0989-00CE-47E2-95C6-4BF967C9C3FF}"/>
              </a:ext>
            </a:extLst>
          </p:cNvPr>
          <p:cNvGraphicFramePr>
            <a:graphicFrameLocks noGrp="1"/>
          </p:cNvGraphicFramePr>
          <p:nvPr>
            <p:ph idx="1"/>
            <p:extLst>
              <p:ext uri="{D42A27DB-BD31-4B8C-83A1-F6EECF244321}">
                <p14:modId xmlns:p14="http://schemas.microsoft.com/office/powerpoint/2010/main" val="670720882"/>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7820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018657-EEC5-4044-BC04-D12738FA686E}"/>
              </a:ext>
            </a:extLst>
          </p:cNvPr>
          <p:cNvSpPr>
            <a:spLocks noGrp="1"/>
          </p:cNvSpPr>
          <p:nvPr>
            <p:ph type="title"/>
          </p:nvPr>
        </p:nvSpPr>
        <p:spPr>
          <a:xfrm>
            <a:off x="761999" y="762000"/>
            <a:ext cx="3048001" cy="2286000"/>
          </a:xfrm>
        </p:spPr>
        <p:txBody>
          <a:bodyPr anchor="b">
            <a:normAutofit/>
          </a:bodyPr>
          <a:lstStyle/>
          <a:p>
            <a:r>
              <a:rPr lang="tr-TR" sz="3000" b="1">
                <a:solidFill>
                  <a:schemeClr val="tx1"/>
                </a:solidFill>
              </a:rPr>
              <a:t>YÖNETİCİLERİN GÖREVLERİ</a:t>
            </a:r>
          </a:p>
        </p:txBody>
      </p:sp>
      <p:graphicFrame>
        <p:nvGraphicFramePr>
          <p:cNvPr id="5" name="İçerik Yer Tutucusu 2">
            <a:extLst>
              <a:ext uri="{FF2B5EF4-FFF2-40B4-BE49-F238E27FC236}">
                <a16:creationId xmlns:a16="http://schemas.microsoft.com/office/drawing/2014/main" id="{7DE6A563-8B25-FA69-30FE-ADF2AE12D556}"/>
              </a:ext>
            </a:extLst>
          </p:cNvPr>
          <p:cNvGraphicFramePr>
            <a:graphicFrameLocks noGrp="1"/>
          </p:cNvGraphicFramePr>
          <p:nvPr>
            <p:ph idx="1"/>
            <p:extLst>
              <p:ext uri="{D42A27DB-BD31-4B8C-83A1-F6EECF244321}">
                <p14:modId xmlns:p14="http://schemas.microsoft.com/office/powerpoint/2010/main" val="2052674594"/>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8019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8D5A61-845D-7549-8F5C-43A6530AFA7F}"/>
              </a:ext>
            </a:extLst>
          </p:cNvPr>
          <p:cNvSpPr>
            <a:spLocks noGrp="1"/>
          </p:cNvSpPr>
          <p:nvPr>
            <p:ph type="title"/>
          </p:nvPr>
        </p:nvSpPr>
        <p:spPr>
          <a:xfrm>
            <a:off x="762000" y="1165218"/>
            <a:ext cx="3853249" cy="2286000"/>
          </a:xfrm>
        </p:spPr>
        <p:txBody>
          <a:bodyPr anchor="t">
            <a:normAutofit/>
          </a:bodyPr>
          <a:lstStyle/>
          <a:p>
            <a:r>
              <a:rPr lang="tr-TR" sz="3200" b="1">
                <a:solidFill>
                  <a:schemeClr val="tx1"/>
                </a:solidFill>
              </a:rPr>
              <a:t>YÖNETİCİLERİN BİREYLER ARASI ROLLERİ</a:t>
            </a:r>
          </a:p>
        </p:txBody>
      </p:sp>
      <p:graphicFrame>
        <p:nvGraphicFramePr>
          <p:cNvPr id="5" name="İçerik Yer Tutucusu 2">
            <a:extLst>
              <a:ext uri="{FF2B5EF4-FFF2-40B4-BE49-F238E27FC236}">
                <a16:creationId xmlns:a16="http://schemas.microsoft.com/office/drawing/2014/main" id="{B719A53D-1FF0-F598-26EB-FD33CBA03CB8}"/>
              </a:ext>
            </a:extLst>
          </p:cNvPr>
          <p:cNvGraphicFramePr>
            <a:graphicFrameLocks noGrp="1"/>
          </p:cNvGraphicFramePr>
          <p:nvPr>
            <p:ph idx="1"/>
            <p:extLst>
              <p:ext uri="{D42A27DB-BD31-4B8C-83A1-F6EECF244321}">
                <p14:modId xmlns:p14="http://schemas.microsoft.com/office/powerpoint/2010/main" val="1075991518"/>
              </p:ext>
            </p:extLst>
          </p:nvPr>
        </p:nvGraphicFramePr>
        <p:xfrm>
          <a:off x="5290748" y="771726"/>
          <a:ext cx="6139252" cy="5324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9166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25967DC-EC3C-E44F-8025-15EAC9EA3A75}"/>
              </a:ext>
            </a:extLst>
          </p:cNvPr>
          <p:cNvSpPr>
            <a:spLocks noGrp="1"/>
          </p:cNvSpPr>
          <p:nvPr>
            <p:ph type="title"/>
          </p:nvPr>
        </p:nvSpPr>
        <p:spPr>
          <a:xfrm>
            <a:off x="761999" y="762000"/>
            <a:ext cx="3048001" cy="2286000"/>
          </a:xfrm>
        </p:spPr>
        <p:txBody>
          <a:bodyPr anchor="b">
            <a:normAutofit/>
          </a:bodyPr>
          <a:lstStyle/>
          <a:p>
            <a:r>
              <a:rPr lang="tr-TR" sz="3200" b="1">
                <a:solidFill>
                  <a:schemeClr val="tx1"/>
                </a:solidFill>
              </a:rPr>
              <a:t>YÖNETİM DÜZEYLERİ</a:t>
            </a:r>
          </a:p>
        </p:txBody>
      </p:sp>
      <p:graphicFrame>
        <p:nvGraphicFramePr>
          <p:cNvPr id="5" name="İçerik Yer Tutucusu 2">
            <a:extLst>
              <a:ext uri="{FF2B5EF4-FFF2-40B4-BE49-F238E27FC236}">
                <a16:creationId xmlns:a16="http://schemas.microsoft.com/office/drawing/2014/main" id="{F8CDD71D-575B-556A-8CDE-A2621FAE3279}"/>
              </a:ext>
            </a:extLst>
          </p:cNvPr>
          <p:cNvGraphicFramePr>
            <a:graphicFrameLocks noGrp="1"/>
          </p:cNvGraphicFramePr>
          <p:nvPr>
            <p:ph idx="1"/>
            <p:extLst>
              <p:ext uri="{D42A27DB-BD31-4B8C-83A1-F6EECF244321}">
                <p14:modId xmlns:p14="http://schemas.microsoft.com/office/powerpoint/2010/main" val="2969370961"/>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1592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E79058C-DF27-2B45-AC1F-CCE30A990EB0}"/>
              </a:ext>
            </a:extLst>
          </p:cNvPr>
          <p:cNvSpPr>
            <a:spLocks noGrp="1"/>
          </p:cNvSpPr>
          <p:nvPr>
            <p:ph type="title"/>
          </p:nvPr>
        </p:nvSpPr>
        <p:spPr>
          <a:xfrm>
            <a:off x="762000" y="1316636"/>
            <a:ext cx="3853249" cy="2286000"/>
          </a:xfrm>
        </p:spPr>
        <p:txBody>
          <a:bodyPr anchor="t">
            <a:normAutofit/>
          </a:bodyPr>
          <a:lstStyle/>
          <a:p>
            <a:r>
              <a:rPr lang="tr-TR" sz="3200" b="1">
                <a:solidFill>
                  <a:schemeClr val="tx1"/>
                </a:solidFill>
              </a:rPr>
              <a:t>FONKSİYONEL VE GENEL YÖNETİCİLER</a:t>
            </a:r>
          </a:p>
        </p:txBody>
      </p:sp>
      <p:graphicFrame>
        <p:nvGraphicFramePr>
          <p:cNvPr id="5" name="İçerik Yer Tutucusu 2">
            <a:extLst>
              <a:ext uri="{FF2B5EF4-FFF2-40B4-BE49-F238E27FC236}">
                <a16:creationId xmlns:a16="http://schemas.microsoft.com/office/drawing/2014/main" id="{EC43D916-C320-C22C-0BDE-68387EF403D8}"/>
              </a:ext>
            </a:extLst>
          </p:cNvPr>
          <p:cNvGraphicFramePr>
            <a:graphicFrameLocks noGrp="1"/>
          </p:cNvGraphicFramePr>
          <p:nvPr>
            <p:ph idx="1"/>
            <p:extLst>
              <p:ext uri="{D42A27DB-BD31-4B8C-83A1-F6EECF244321}">
                <p14:modId xmlns:p14="http://schemas.microsoft.com/office/powerpoint/2010/main" val="130063080"/>
              </p:ext>
            </p:extLst>
          </p:nvPr>
        </p:nvGraphicFramePr>
        <p:xfrm>
          <a:off x="5290748" y="771726"/>
          <a:ext cx="6139252" cy="5324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2658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Bilgisayar tarafından oluşturulan ışıklar">
            <a:extLst>
              <a:ext uri="{FF2B5EF4-FFF2-40B4-BE49-F238E27FC236}">
                <a16:creationId xmlns:a16="http://schemas.microsoft.com/office/drawing/2014/main" id="{34F157D7-1877-1755-13F0-AFB57E2F6152}"/>
              </a:ext>
            </a:extLst>
          </p:cNvPr>
          <p:cNvPicPr>
            <a:picLocks noChangeAspect="1"/>
          </p:cNvPicPr>
          <p:nvPr/>
        </p:nvPicPr>
        <p:blipFill>
          <a:blip r:embed="rId3"/>
          <a:srcRect l="10484" r="21034" b="1"/>
          <a:stretch/>
        </p:blipFill>
        <p:spPr>
          <a:xfrm>
            <a:off x="6613174" y="10"/>
            <a:ext cx="5578824" cy="6028246"/>
          </a:xfrm>
          <a:custGeom>
            <a:avLst/>
            <a:gdLst/>
            <a:ahLst/>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p:spPr>
      </p:pic>
      <p:sp>
        <p:nvSpPr>
          <p:cNvPr id="2" name="Başlık 1">
            <a:extLst>
              <a:ext uri="{FF2B5EF4-FFF2-40B4-BE49-F238E27FC236}">
                <a16:creationId xmlns:a16="http://schemas.microsoft.com/office/drawing/2014/main" id="{20597743-9290-7740-960E-B35A8B863C50}"/>
              </a:ext>
            </a:extLst>
          </p:cNvPr>
          <p:cNvSpPr>
            <a:spLocks noGrp="1"/>
          </p:cNvSpPr>
          <p:nvPr>
            <p:ph type="title"/>
          </p:nvPr>
        </p:nvSpPr>
        <p:spPr>
          <a:xfrm>
            <a:off x="762000" y="1256676"/>
            <a:ext cx="5334000" cy="1524000"/>
          </a:xfrm>
        </p:spPr>
        <p:txBody>
          <a:bodyPr>
            <a:normAutofit/>
          </a:bodyPr>
          <a:lstStyle/>
          <a:p>
            <a:r>
              <a:rPr lang="tr-TR" sz="3200" b="1"/>
              <a:t>2000Lİ YILLARDA YÖNETİM</a:t>
            </a:r>
          </a:p>
        </p:txBody>
      </p:sp>
      <p:sp>
        <p:nvSpPr>
          <p:cNvPr id="3" name="İçerik Yer Tutucusu 2">
            <a:extLst>
              <a:ext uri="{FF2B5EF4-FFF2-40B4-BE49-F238E27FC236}">
                <a16:creationId xmlns:a16="http://schemas.microsoft.com/office/drawing/2014/main" id="{519FA06B-E01C-3E4C-890F-942C6E153FE1}"/>
              </a:ext>
            </a:extLst>
          </p:cNvPr>
          <p:cNvSpPr>
            <a:spLocks noGrp="1"/>
          </p:cNvSpPr>
          <p:nvPr>
            <p:ph idx="1"/>
          </p:nvPr>
        </p:nvSpPr>
        <p:spPr>
          <a:xfrm>
            <a:off x="762000" y="2286000"/>
            <a:ext cx="5334000" cy="3810001"/>
          </a:xfrm>
        </p:spPr>
        <p:txBody>
          <a:bodyPr>
            <a:normAutofit lnSpcReduction="10000"/>
          </a:bodyPr>
          <a:lstStyle/>
          <a:p>
            <a:pPr marL="0" indent="0">
              <a:lnSpc>
                <a:spcPct val="115000"/>
              </a:lnSpc>
              <a:buNone/>
            </a:pPr>
            <a:r>
              <a:rPr lang="tr-TR" sz="1900" b="1"/>
              <a:t>1.PARADİGMADAKİ DEĞİŞMELER</a:t>
            </a:r>
          </a:p>
          <a:p>
            <a:pPr marL="0" indent="0">
              <a:lnSpc>
                <a:spcPct val="115000"/>
              </a:lnSpc>
              <a:buNone/>
            </a:pPr>
            <a:r>
              <a:rPr lang="tr-TR" sz="1900"/>
              <a:t>Paradigma, zihinsel bir kalıp veya düşünce sistemi olup, dünyayı ve olayları düşünme, algılama ve anlamada insana köklü ve ödünsüz bir bakış açısı sağlayan varsayımlar dizisidir. Yönetim paradigması ile yöneticilerin; astları konumdaki bireylere, bireylerin çalıştıkları örgütler hakkında sahip oldukları varsayımlar dizisi veya bunların oluşturdukları kuramlar ifade edilmek istenmektedir.</a:t>
            </a:r>
          </a:p>
        </p:txBody>
      </p:sp>
    </p:spTree>
    <p:extLst>
      <p:ext uri="{BB962C8B-B14F-4D97-AF65-F5344CB8AC3E}">
        <p14:creationId xmlns:p14="http://schemas.microsoft.com/office/powerpoint/2010/main" val="813421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050" name="Picture 2" descr="Kaos Teorisi Nedir? Doğadaki Kaostan Söz Ederken Neyi Kastediyoruz? - Evrim  Ağacı">
            <a:extLst>
              <a:ext uri="{FF2B5EF4-FFF2-40B4-BE49-F238E27FC236}">
                <a16:creationId xmlns:a16="http://schemas.microsoft.com/office/drawing/2014/main" id="{738C99D0-BA40-CA80-D6FA-B261EC119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093" r="23850" b="-1"/>
          <a:stretch/>
        </p:blipFill>
        <p:spPr bwMode="auto">
          <a:xfrm>
            <a:off x="6613174" y="10"/>
            <a:ext cx="5578824" cy="6028246"/>
          </a:xfrm>
          <a:custGeom>
            <a:avLst/>
            <a:gdLst/>
            <a:ahLst/>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20597743-9290-7740-960E-B35A8B863C50}"/>
              </a:ext>
            </a:extLst>
          </p:cNvPr>
          <p:cNvSpPr>
            <a:spLocks noGrp="1"/>
          </p:cNvSpPr>
          <p:nvPr>
            <p:ph type="title"/>
          </p:nvPr>
        </p:nvSpPr>
        <p:spPr>
          <a:xfrm>
            <a:off x="762000" y="1226695"/>
            <a:ext cx="5334000" cy="1524000"/>
          </a:xfrm>
        </p:spPr>
        <p:txBody>
          <a:bodyPr>
            <a:normAutofit/>
          </a:bodyPr>
          <a:lstStyle/>
          <a:p>
            <a:r>
              <a:rPr lang="tr-TR" sz="3200" b="1"/>
              <a:t>2000Lİ YILLARDA YÖNETİM</a:t>
            </a:r>
          </a:p>
        </p:txBody>
      </p:sp>
      <p:sp>
        <p:nvSpPr>
          <p:cNvPr id="3" name="İçerik Yer Tutucusu 2">
            <a:extLst>
              <a:ext uri="{FF2B5EF4-FFF2-40B4-BE49-F238E27FC236}">
                <a16:creationId xmlns:a16="http://schemas.microsoft.com/office/drawing/2014/main" id="{519FA06B-E01C-3E4C-890F-942C6E153FE1}"/>
              </a:ext>
            </a:extLst>
          </p:cNvPr>
          <p:cNvSpPr>
            <a:spLocks noGrp="1"/>
          </p:cNvSpPr>
          <p:nvPr>
            <p:ph idx="1"/>
          </p:nvPr>
        </p:nvSpPr>
        <p:spPr>
          <a:xfrm>
            <a:off x="762000" y="2286000"/>
            <a:ext cx="5334000" cy="3810001"/>
          </a:xfrm>
        </p:spPr>
        <p:txBody>
          <a:bodyPr>
            <a:normAutofit/>
          </a:bodyPr>
          <a:lstStyle/>
          <a:p>
            <a:pPr marL="0" indent="0">
              <a:lnSpc>
                <a:spcPct val="115000"/>
              </a:lnSpc>
              <a:buNone/>
            </a:pPr>
            <a:r>
              <a:rPr lang="tr-TR" sz="1700" b="1"/>
              <a:t>2. KAOS KURAMI</a:t>
            </a:r>
          </a:p>
          <a:p>
            <a:pPr>
              <a:lnSpc>
                <a:spcPct val="115000"/>
              </a:lnSpc>
            </a:pPr>
            <a:r>
              <a:rPr lang="tr-TR" sz="1700"/>
              <a:t>Devlet örgütünün, işletmelerin ve benzeri bürokratik örgütlerin yapılarında sağlamaya çalıştıkları düzenli ve sistemli bir işleyişin yanı sıra, tesadüfleri ve düzensizlikleri de birlikte barındırdıklarını varsaymaktadır. Buradan çıkan sonuç pek çok örgütte günü gününe ortaya çıkan olayların, sanıların tersine düzenli ve önceden öngörülebilen durumlar olmaktan çok, tesadüflere bağlı ve önceden tahmin edilemeyen olaylar şeklinde ortaya çıktığıdır.</a:t>
            </a:r>
          </a:p>
        </p:txBody>
      </p:sp>
    </p:spTree>
    <p:extLst>
      <p:ext uri="{BB962C8B-B14F-4D97-AF65-F5344CB8AC3E}">
        <p14:creationId xmlns:p14="http://schemas.microsoft.com/office/powerpoint/2010/main" val="3731237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597743-9290-7740-960E-B35A8B863C50}"/>
              </a:ext>
            </a:extLst>
          </p:cNvPr>
          <p:cNvSpPr>
            <a:spLocks noGrp="1"/>
          </p:cNvSpPr>
          <p:nvPr>
            <p:ph type="title"/>
          </p:nvPr>
        </p:nvSpPr>
        <p:spPr>
          <a:xfrm>
            <a:off x="763249" y="1284216"/>
            <a:ext cx="3461084" cy="5431376"/>
          </a:xfrm>
        </p:spPr>
        <p:txBody>
          <a:bodyPr>
            <a:normAutofit/>
          </a:bodyPr>
          <a:lstStyle/>
          <a:p>
            <a:r>
              <a:rPr lang="tr-TR" b="1">
                <a:solidFill>
                  <a:schemeClr val="tx1"/>
                </a:solidFill>
              </a:rPr>
              <a:t>2000Lİ YILLARDA YÖNETİM</a:t>
            </a:r>
          </a:p>
        </p:txBody>
      </p:sp>
      <p:sp>
        <p:nvSpPr>
          <p:cNvPr id="3" name="İçerik Yer Tutucusu 2">
            <a:extLst>
              <a:ext uri="{FF2B5EF4-FFF2-40B4-BE49-F238E27FC236}">
                <a16:creationId xmlns:a16="http://schemas.microsoft.com/office/drawing/2014/main" id="{519FA06B-E01C-3E4C-890F-942C6E153FE1}"/>
              </a:ext>
            </a:extLst>
          </p:cNvPr>
          <p:cNvSpPr>
            <a:spLocks noGrp="1"/>
          </p:cNvSpPr>
          <p:nvPr>
            <p:ph idx="1"/>
          </p:nvPr>
        </p:nvSpPr>
        <p:spPr>
          <a:xfrm>
            <a:off x="3777918" y="713312"/>
            <a:ext cx="8229599" cy="6002280"/>
          </a:xfrm>
        </p:spPr>
        <p:txBody>
          <a:bodyPr anchor="ctr">
            <a:normAutofit fontScale="32500" lnSpcReduction="20000"/>
          </a:bodyPr>
          <a:lstStyle/>
          <a:p>
            <a:pPr marL="0" indent="0" algn="l">
              <a:buNone/>
            </a:pPr>
            <a:r>
              <a:rPr lang="tr-TR" sz="6400" b="0" i="0" dirty="0">
                <a:solidFill>
                  <a:schemeClr val="tx1"/>
                </a:solidFill>
                <a:effectLst/>
                <a:latin typeface="Söhne"/>
              </a:rPr>
              <a:t>Yönetim açısından kaos kuramı, organizasyonların karmaşık ve dinamik doğasını anlamak için kaos teorisini kullanma yaklaşımını ifade eder. Bu teori, geleneksel düzen ve düzenlilik anlayışını aşarak karmaşık, belirsiz ve rastgele süreçleri anlamaya ve yönetmeye odaklanır. İşte yönetim açısından </a:t>
            </a:r>
            <a:r>
              <a:rPr lang="tr-TR" sz="6400" b="1" i="0" dirty="0">
                <a:solidFill>
                  <a:srgbClr val="FF0000"/>
                </a:solidFill>
                <a:effectLst/>
                <a:latin typeface="Söhne"/>
              </a:rPr>
              <a:t>kaos kuramının ana prensipleri ve özellikleri</a:t>
            </a:r>
            <a:r>
              <a:rPr lang="tr-TR" sz="6400" b="0" i="0" dirty="0">
                <a:solidFill>
                  <a:schemeClr val="tx1"/>
                </a:solidFill>
                <a:effectLst/>
                <a:latin typeface="Söhne"/>
              </a:rPr>
              <a:t>:</a:t>
            </a:r>
          </a:p>
          <a:p>
            <a:pPr algn="l">
              <a:buFont typeface="+mj-lt"/>
              <a:buAutoNum type="arabicPeriod"/>
            </a:pPr>
            <a:r>
              <a:rPr lang="tr-TR" sz="6400" b="1" i="0" dirty="0">
                <a:solidFill>
                  <a:schemeClr val="tx1"/>
                </a:solidFill>
                <a:effectLst/>
                <a:latin typeface="Söhne"/>
              </a:rPr>
              <a:t>Belirsizlik ve Karmaşıklık:</a:t>
            </a:r>
            <a:endParaRPr lang="tr-TR" sz="6400" b="0" i="0" dirty="0">
              <a:solidFill>
                <a:schemeClr val="tx1"/>
              </a:solidFill>
              <a:effectLst/>
              <a:latin typeface="Söhne"/>
            </a:endParaRPr>
          </a:p>
          <a:p>
            <a:pPr marL="457200" lvl="1" indent="0" algn="l">
              <a:buNone/>
            </a:pPr>
            <a:r>
              <a:rPr lang="tr-TR" sz="5600" b="0" i="0" dirty="0">
                <a:solidFill>
                  <a:schemeClr val="tx1"/>
                </a:solidFill>
                <a:effectLst/>
                <a:latin typeface="Söhne"/>
              </a:rPr>
              <a:t>Kaos teorisi, organizasyonların içinde bulunduğu ortamların karmaşık ve belirsiz olduğunu vurgular. Geleneksel planlama ve kontrol yaklaşımları, bu karmaşıklığı yönetmekte sınırlı kalabilir.</a:t>
            </a:r>
          </a:p>
          <a:p>
            <a:pPr algn="l">
              <a:buFont typeface="+mj-lt"/>
              <a:buAutoNum type="arabicPeriod"/>
            </a:pPr>
            <a:r>
              <a:rPr lang="tr-TR" sz="6400" b="1" i="0" dirty="0">
                <a:solidFill>
                  <a:schemeClr val="tx1"/>
                </a:solidFill>
                <a:effectLst/>
                <a:latin typeface="Söhne"/>
              </a:rPr>
              <a:t>Duyarlı Bağımlılık ve Kelebek Etkisi:</a:t>
            </a:r>
            <a:endParaRPr lang="tr-TR" sz="6400" b="0" i="0" dirty="0">
              <a:solidFill>
                <a:schemeClr val="tx1"/>
              </a:solidFill>
              <a:effectLst/>
              <a:latin typeface="Söhne"/>
            </a:endParaRPr>
          </a:p>
          <a:p>
            <a:pPr marL="457200" lvl="1" indent="0" algn="l">
              <a:buNone/>
            </a:pPr>
            <a:r>
              <a:rPr lang="tr-TR" sz="5600" b="0" i="0" dirty="0">
                <a:solidFill>
                  <a:schemeClr val="tx1"/>
                </a:solidFill>
                <a:effectLst/>
                <a:latin typeface="Söhne"/>
              </a:rPr>
              <a:t>Kaos teorisi, küçük başlangıç değişikliklerinin büyük sonuçlara yol açabileceği "duyarlı bağımlılık" veya "kelebek etkisi" ilkesini vurgular. Yani, küçük bir değişiklik büyük bir etkiye neden olabilir.</a:t>
            </a:r>
          </a:p>
          <a:p>
            <a:pPr algn="l">
              <a:buFont typeface="+mj-lt"/>
              <a:buAutoNum type="arabicPeriod"/>
            </a:pPr>
            <a:r>
              <a:rPr lang="tr-TR" sz="6400" b="1" i="0" dirty="0">
                <a:solidFill>
                  <a:schemeClr val="tx1"/>
                </a:solidFill>
                <a:effectLst/>
                <a:latin typeface="Söhne"/>
              </a:rPr>
              <a:t>Çoklu Denge Noktaları ve Geçişler:</a:t>
            </a:r>
            <a:endParaRPr lang="tr-TR" sz="6400" b="0" i="0" dirty="0">
              <a:solidFill>
                <a:schemeClr val="tx1"/>
              </a:solidFill>
              <a:effectLst/>
              <a:latin typeface="Söhne"/>
            </a:endParaRPr>
          </a:p>
          <a:p>
            <a:pPr marL="457200" lvl="1" indent="0" algn="l">
              <a:buNone/>
            </a:pPr>
            <a:r>
              <a:rPr lang="tr-TR" sz="5600" b="0" i="0" dirty="0">
                <a:solidFill>
                  <a:schemeClr val="tx1"/>
                </a:solidFill>
                <a:effectLst/>
                <a:latin typeface="Söhne"/>
              </a:rPr>
              <a:t>Kaos teorisi, sistemlerin birden fazla denge noktasına sahip olduğunu ve bu denge </a:t>
            </a:r>
            <a:r>
              <a:rPr lang="tr-TR" sz="5600" b="0" i="0">
                <a:solidFill>
                  <a:schemeClr val="tx1"/>
                </a:solidFill>
                <a:effectLst/>
                <a:latin typeface="Söhne"/>
              </a:rPr>
              <a:t>noktaları arasında geçişlerin </a:t>
            </a:r>
            <a:r>
              <a:rPr lang="tr-TR" sz="5600" b="0" i="0" dirty="0">
                <a:solidFill>
                  <a:schemeClr val="tx1"/>
                </a:solidFill>
                <a:effectLst/>
                <a:latin typeface="Söhne"/>
              </a:rPr>
              <a:t>(</a:t>
            </a:r>
            <a:r>
              <a:rPr lang="tr-TR" sz="5600" b="0" i="0" dirty="0" err="1">
                <a:solidFill>
                  <a:schemeClr val="tx1"/>
                </a:solidFill>
                <a:effectLst/>
                <a:latin typeface="Söhne"/>
              </a:rPr>
              <a:t>bifürkasyonlar</a:t>
            </a:r>
            <a:r>
              <a:rPr lang="tr-TR" sz="5600" b="0" i="0" dirty="0">
                <a:solidFill>
                  <a:schemeClr val="tx1"/>
                </a:solidFill>
                <a:effectLst/>
                <a:latin typeface="Söhne"/>
              </a:rPr>
              <a:t>) gerçekleşebileceğini belirtir. Organizasyonlar, farklı stratejik kararlar veya değişikliklerle farklı denge noktalarına geçiş yaşayabilir.</a:t>
            </a:r>
          </a:p>
          <a:p>
            <a:pPr marL="0" indent="0" algn="l">
              <a:buNone/>
            </a:pPr>
            <a:br>
              <a:rPr lang="tr-TR" b="0" i="0" dirty="0">
                <a:solidFill>
                  <a:srgbClr val="000000"/>
                </a:solidFill>
                <a:effectLst/>
                <a:latin typeface="Inter"/>
              </a:rPr>
            </a:br>
            <a:endParaRPr lang="tr-TR" b="0" i="0" dirty="0">
              <a:solidFill>
                <a:srgbClr val="000000"/>
              </a:solidFill>
              <a:effectLst/>
              <a:latin typeface="Inter"/>
            </a:endParaRPr>
          </a:p>
          <a:p>
            <a:endParaRPr lang="tr-TR" sz="2000" dirty="0"/>
          </a:p>
        </p:txBody>
      </p:sp>
    </p:spTree>
    <p:extLst>
      <p:ext uri="{BB962C8B-B14F-4D97-AF65-F5344CB8AC3E}">
        <p14:creationId xmlns:p14="http://schemas.microsoft.com/office/powerpoint/2010/main" val="466229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59B4-B5F8-3937-DEB3-A6D78E3807C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2DBF186-54AE-158A-8C30-DF26BB0BA7E9}"/>
              </a:ext>
            </a:extLst>
          </p:cNvPr>
          <p:cNvSpPr>
            <a:spLocks noGrp="1"/>
          </p:cNvSpPr>
          <p:nvPr>
            <p:ph type="title"/>
          </p:nvPr>
        </p:nvSpPr>
        <p:spPr>
          <a:xfrm>
            <a:off x="703288" y="1390429"/>
            <a:ext cx="3461084" cy="5431376"/>
          </a:xfrm>
        </p:spPr>
        <p:txBody>
          <a:bodyPr>
            <a:normAutofit/>
          </a:bodyPr>
          <a:lstStyle/>
          <a:p>
            <a:r>
              <a:rPr lang="tr-TR">
                <a:solidFill>
                  <a:schemeClr val="tx1"/>
                </a:solidFill>
              </a:rPr>
              <a:t>2000Lİ YILLARDA YÖNETİM</a:t>
            </a:r>
          </a:p>
        </p:txBody>
      </p:sp>
      <p:sp>
        <p:nvSpPr>
          <p:cNvPr id="3" name="İçerik Yer Tutucusu 2">
            <a:extLst>
              <a:ext uri="{FF2B5EF4-FFF2-40B4-BE49-F238E27FC236}">
                <a16:creationId xmlns:a16="http://schemas.microsoft.com/office/drawing/2014/main" id="{FA6BE367-B692-6B5F-581F-AC12C3FDBEFC}"/>
              </a:ext>
            </a:extLst>
          </p:cNvPr>
          <p:cNvSpPr>
            <a:spLocks noGrp="1"/>
          </p:cNvSpPr>
          <p:nvPr>
            <p:ph idx="1"/>
          </p:nvPr>
        </p:nvSpPr>
        <p:spPr>
          <a:xfrm>
            <a:off x="3687581" y="713313"/>
            <a:ext cx="7666220" cy="5732458"/>
          </a:xfrm>
        </p:spPr>
        <p:txBody>
          <a:bodyPr anchor="ctr">
            <a:normAutofit fontScale="40000" lnSpcReduction="20000"/>
          </a:bodyPr>
          <a:lstStyle/>
          <a:p>
            <a:pPr marL="0" indent="0" algn="l">
              <a:buNone/>
            </a:pPr>
            <a:r>
              <a:rPr lang="tr-TR" sz="4900" b="1" i="0">
                <a:solidFill>
                  <a:schemeClr val="tx1"/>
                </a:solidFill>
                <a:effectLst/>
                <a:latin typeface="Söhne"/>
              </a:rPr>
              <a:t>4. Esneklik </a:t>
            </a:r>
            <a:r>
              <a:rPr lang="tr-TR" sz="4900" b="1" i="0" dirty="0">
                <a:solidFill>
                  <a:schemeClr val="tx1"/>
                </a:solidFill>
                <a:effectLst/>
                <a:latin typeface="Söhne"/>
              </a:rPr>
              <a:t>ve Adaptasyon:</a:t>
            </a:r>
            <a:endParaRPr lang="tr-TR" sz="4900" b="0" i="0" dirty="0">
              <a:solidFill>
                <a:schemeClr val="tx1"/>
              </a:solidFill>
              <a:effectLst/>
              <a:latin typeface="Söhne"/>
            </a:endParaRPr>
          </a:p>
          <a:p>
            <a:pPr marL="457200" lvl="1" indent="0" algn="l">
              <a:buNone/>
            </a:pPr>
            <a:r>
              <a:rPr lang="tr-TR" sz="4300" b="0" i="0" dirty="0">
                <a:solidFill>
                  <a:schemeClr val="tx1"/>
                </a:solidFill>
                <a:effectLst/>
                <a:latin typeface="Söhne"/>
              </a:rPr>
              <a:t>Kaos teorisine göre organizasyonlar, çevresel değişikliklere hızlı bir şekilde adapte olabilmeli ve esnek olabilmelidir. Çevresel değişimlere karşı direnç göstermek yerine, değişime uyum sağlama yeteneği ön </a:t>
            </a:r>
            <a:r>
              <a:rPr lang="tr-TR" sz="4300" b="0" i="0">
                <a:solidFill>
                  <a:schemeClr val="tx1"/>
                </a:solidFill>
                <a:effectLst/>
                <a:latin typeface="Söhne"/>
              </a:rPr>
              <a:t>plandadır.</a:t>
            </a:r>
          </a:p>
          <a:p>
            <a:pPr marL="0" indent="0" algn="l">
              <a:buNone/>
            </a:pPr>
            <a:r>
              <a:rPr lang="tr-TR" sz="4900" b="1" i="0">
                <a:solidFill>
                  <a:schemeClr val="tx1"/>
                </a:solidFill>
                <a:effectLst/>
                <a:latin typeface="Söhne"/>
              </a:rPr>
              <a:t>5. İteratif Deneme ve Hata:</a:t>
            </a:r>
            <a:endParaRPr lang="tr-TR" sz="4900" b="0" i="0">
              <a:solidFill>
                <a:schemeClr val="tx1"/>
              </a:solidFill>
              <a:effectLst/>
              <a:latin typeface="Söhne"/>
            </a:endParaRPr>
          </a:p>
          <a:p>
            <a:pPr marL="457200" lvl="1" indent="0" algn="l">
              <a:buNone/>
            </a:pPr>
            <a:r>
              <a:rPr lang="tr-TR" sz="4300" b="0" i="0">
                <a:solidFill>
                  <a:schemeClr val="tx1"/>
                </a:solidFill>
                <a:effectLst/>
                <a:latin typeface="Söhne"/>
              </a:rPr>
              <a:t>Kaos </a:t>
            </a:r>
            <a:r>
              <a:rPr lang="tr-TR" sz="4300" b="0" i="0" dirty="0">
                <a:solidFill>
                  <a:schemeClr val="tx1"/>
                </a:solidFill>
                <a:effectLst/>
                <a:latin typeface="Söhne"/>
              </a:rPr>
              <a:t>teorisine göre, organizasyonlar sürekli olarak deneme-yanılma süreçlerini benimsemeli ve başarısızlıklardan öğrenerek yeni stratejilere adapte </a:t>
            </a:r>
            <a:r>
              <a:rPr lang="tr-TR" sz="4300" b="0" i="0">
                <a:solidFill>
                  <a:schemeClr val="tx1"/>
                </a:solidFill>
                <a:effectLst/>
                <a:latin typeface="Söhne"/>
              </a:rPr>
              <a:t>olmalıdır.</a:t>
            </a:r>
          </a:p>
          <a:p>
            <a:pPr marL="0" indent="0" algn="l">
              <a:buNone/>
            </a:pPr>
            <a:r>
              <a:rPr lang="tr-TR" sz="4900" b="1" i="0">
                <a:solidFill>
                  <a:schemeClr val="tx1"/>
                </a:solidFill>
                <a:effectLst/>
                <a:latin typeface="Söhne"/>
              </a:rPr>
              <a:t>6. Ahenk ve Karmaşa Dengesi:</a:t>
            </a:r>
            <a:endParaRPr lang="tr-TR" sz="4900" b="0" i="0">
              <a:solidFill>
                <a:schemeClr val="tx1"/>
              </a:solidFill>
              <a:effectLst/>
              <a:latin typeface="Söhne"/>
            </a:endParaRPr>
          </a:p>
          <a:p>
            <a:pPr marL="457200" lvl="1" indent="0" algn="l">
              <a:buNone/>
            </a:pPr>
            <a:r>
              <a:rPr lang="tr-TR" sz="4300" b="0" i="0">
                <a:solidFill>
                  <a:schemeClr val="tx1"/>
                </a:solidFill>
                <a:effectLst/>
                <a:latin typeface="Söhne"/>
              </a:rPr>
              <a:t>Kaos </a:t>
            </a:r>
            <a:r>
              <a:rPr lang="tr-TR" sz="4300" b="0" i="0" dirty="0">
                <a:solidFill>
                  <a:schemeClr val="tx1"/>
                </a:solidFill>
                <a:effectLst/>
                <a:latin typeface="Söhne"/>
              </a:rPr>
              <a:t>teorisi, organizasyonların ahenk ve karmaşa arasında denge kurması gerektiğini belirtir. Tamamen kontrol edilmeye çalışılan bir sistemde ahenk oluşabilir, ancak bu sistemde esneklik ve </a:t>
            </a:r>
            <a:r>
              <a:rPr lang="tr-TR" sz="4300" b="0" i="0" dirty="0" err="1">
                <a:solidFill>
                  <a:schemeClr val="tx1"/>
                </a:solidFill>
                <a:effectLst/>
                <a:latin typeface="Söhne"/>
              </a:rPr>
              <a:t>inovasyon</a:t>
            </a:r>
            <a:r>
              <a:rPr lang="tr-TR" sz="4300" b="0" i="0" dirty="0">
                <a:solidFill>
                  <a:schemeClr val="tx1"/>
                </a:solidFill>
                <a:effectLst/>
                <a:latin typeface="Söhne"/>
              </a:rPr>
              <a:t> eksik olabilir. Tamamen serbest bir sistemde ise karmaşa hâkim olabilir ve tahmin edilebilirlik kaybolabilir.</a:t>
            </a:r>
          </a:p>
          <a:p>
            <a:pPr marL="0" indent="0" algn="l">
              <a:buNone/>
            </a:pPr>
            <a:r>
              <a:rPr lang="tr-TR" sz="4900" b="0" i="0" dirty="0">
                <a:solidFill>
                  <a:schemeClr val="tx1"/>
                </a:solidFill>
                <a:effectLst/>
                <a:latin typeface="Söhne"/>
              </a:rPr>
              <a:t>Bu prensipler, organizasyonların daha etkili bir şekilde yönetilebilmesi için belirsizlik ve karmaşıklığı anlamaya yönelik bir yaklaşım sunar. Kaos teorisi, özellikle hızla değişen ve belirsizlik içeren ortamlarda, yöneticilere dinamik sistemlerin içsel düzenini anlama ve buna uygun stratejiler geliştirme konusunda yardımcı olabilir.</a:t>
            </a:r>
          </a:p>
          <a:p>
            <a:pPr marL="0" indent="0" algn="l">
              <a:buNone/>
            </a:pPr>
            <a:br>
              <a:rPr lang="tr-TR" b="0" i="0" dirty="0">
                <a:solidFill>
                  <a:srgbClr val="000000"/>
                </a:solidFill>
                <a:effectLst/>
                <a:latin typeface="Inter"/>
              </a:rPr>
            </a:br>
            <a:endParaRPr lang="tr-TR" b="0" i="0" dirty="0">
              <a:solidFill>
                <a:srgbClr val="000000"/>
              </a:solidFill>
              <a:effectLst/>
              <a:latin typeface="Inter"/>
            </a:endParaRPr>
          </a:p>
          <a:p>
            <a:endParaRPr lang="tr-TR" sz="2000" dirty="0"/>
          </a:p>
        </p:txBody>
      </p:sp>
    </p:spTree>
    <p:extLst>
      <p:ext uri="{BB962C8B-B14F-4D97-AF65-F5344CB8AC3E}">
        <p14:creationId xmlns:p14="http://schemas.microsoft.com/office/powerpoint/2010/main" val="122413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597743-9290-7740-960E-B35A8B863C50}"/>
              </a:ext>
            </a:extLst>
          </p:cNvPr>
          <p:cNvSpPr>
            <a:spLocks noGrp="1"/>
          </p:cNvSpPr>
          <p:nvPr>
            <p:ph type="title"/>
          </p:nvPr>
        </p:nvSpPr>
        <p:spPr>
          <a:xfrm>
            <a:off x="6029324" y="1523990"/>
            <a:ext cx="5400676" cy="1524010"/>
          </a:xfrm>
        </p:spPr>
        <p:txBody>
          <a:bodyPr anchor="t">
            <a:normAutofit/>
          </a:bodyPr>
          <a:lstStyle/>
          <a:p>
            <a:r>
              <a:rPr lang="tr-TR" sz="3200" b="1"/>
              <a:t>2000Lİ YILLARDA YÖNETİM</a:t>
            </a:r>
          </a:p>
        </p:txBody>
      </p:sp>
      <p:sp>
        <p:nvSpPr>
          <p:cNvPr id="3" name="İçerik Yer Tutucusu 2">
            <a:extLst>
              <a:ext uri="{FF2B5EF4-FFF2-40B4-BE49-F238E27FC236}">
                <a16:creationId xmlns:a16="http://schemas.microsoft.com/office/drawing/2014/main" id="{519FA06B-E01C-3E4C-890F-942C6E153FE1}"/>
              </a:ext>
            </a:extLst>
          </p:cNvPr>
          <p:cNvSpPr>
            <a:spLocks noGrp="1"/>
          </p:cNvSpPr>
          <p:nvPr>
            <p:ph idx="1"/>
          </p:nvPr>
        </p:nvSpPr>
        <p:spPr>
          <a:xfrm>
            <a:off x="6029325" y="3048000"/>
            <a:ext cx="5400676" cy="3048001"/>
          </a:xfrm>
        </p:spPr>
        <p:txBody>
          <a:bodyPr>
            <a:normAutofit/>
          </a:bodyPr>
          <a:lstStyle/>
          <a:p>
            <a:pPr marL="0" indent="0">
              <a:buNone/>
            </a:pPr>
            <a:r>
              <a:rPr lang="tr-TR" sz="2400" b="1"/>
              <a:t>3. ŞİRKET BİRLEŞMELERİ</a:t>
            </a:r>
          </a:p>
          <a:p>
            <a:pPr marL="0" indent="0">
              <a:buNone/>
            </a:pPr>
            <a:r>
              <a:rPr lang="tr-TR" sz="2400"/>
              <a:t>Büyük şirketlerin küçük işletmeleri satın alma ya da onlarla birleşme yolu ile yönetsel kariyer üzerinde önemli etkiler yarattığı ve gelecekte de bu etkilerin süreceği anlaşılmaktadır.</a:t>
            </a:r>
          </a:p>
        </p:txBody>
      </p:sp>
    </p:spTree>
    <p:extLst>
      <p:ext uri="{BB962C8B-B14F-4D97-AF65-F5344CB8AC3E}">
        <p14:creationId xmlns:p14="http://schemas.microsoft.com/office/powerpoint/2010/main" val="1743479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597743-9290-7740-960E-B35A8B863C50}"/>
              </a:ext>
            </a:extLst>
          </p:cNvPr>
          <p:cNvSpPr>
            <a:spLocks noGrp="1"/>
          </p:cNvSpPr>
          <p:nvPr>
            <p:ph type="title"/>
          </p:nvPr>
        </p:nvSpPr>
        <p:spPr>
          <a:xfrm>
            <a:off x="762000" y="1181725"/>
            <a:ext cx="5334000" cy="1524000"/>
          </a:xfrm>
        </p:spPr>
        <p:txBody>
          <a:bodyPr>
            <a:normAutofit/>
          </a:bodyPr>
          <a:lstStyle/>
          <a:p>
            <a:r>
              <a:rPr lang="tr-TR" sz="3200" b="1"/>
              <a:t>2000Lİ YILLARDA YÖNETİM</a:t>
            </a:r>
          </a:p>
        </p:txBody>
      </p:sp>
      <p:sp>
        <p:nvSpPr>
          <p:cNvPr id="3" name="İçerik Yer Tutucusu 2">
            <a:extLst>
              <a:ext uri="{FF2B5EF4-FFF2-40B4-BE49-F238E27FC236}">
                <a16:creationId xmlns:a16="http://schemas.microsoft.com/office/drawing/2014/main" id="{519FA06B-E01C-3E4C-890F-942C6E153FE1}"/>
              </a:ext>
            </a:extLst>
          </p:cNvPr>
          <p:cNvSpPr>
            <a:spLocks noGrp="1"/>
          </p:cNvSpPr>
          <p:nvPr>
            <p:ph idx="1"/>
          </p:nvPr>
        </p:nvSpPr>
        <p:spPr>
          <a:xfrm>
            <a:off x="1271666" y="2076138"/>
            <a:ext cx="5334000" cy="3810001"/>
          </a:xfrm>
        </p:spPr>
        <p:txBody>
          <a:bodyPr>
            <a:normAutofit/>
          </a:bodyPr>
          <a:lstStyle/>
          <a:p>
            <a:pPr marL="0" indent="0">
              <a:lnSpc>
                <a:spcPct val="115000"/>
              </a:lnSpc>
              <a:buNone/>
            </a:pPr>
            <a:r>
              <a:rPr lang="tr-TR" sz="2000" b="1"/>
              <a:t>4. KÜRESELLEŞME VE KÜREYELLEŞME</a:t>
            </a:r>
          </a:p>
          <a:p>
            <a:pPr marL="0" indent="0">
              <a:lnSpc>
                <a:spcPct val="115000"/>
              </a:lnSpc>
              <a:buNone/>
            </a:pPr>
            <a:r>
              <a:rPr lang="tr-TR" sz="2000"/>
              <a:t>Küreyerelleşme: Hem küreselleşme hem de yerelleşme ile ilgilidir. İş dünyası bağlamında küreyerelleşme fikri, mikro pazarlamada giderek farklılaşmış yerel ve özgün pazarlama yönelik olarak küresel veya küresele yakın ölçekte mal ve hizmetlerin uyarlanması ve reklamının yapılması ile ilişkilendirilmiştir. Örn: Yahoo, Mc Donalds</a:t>
            </a:r>
          </a:p>
        </p:txBody>
      </p:sp>
      <p:pic>
        <p:nvPicPr>
          <p:cNvPr id="5" name="Resim 4">
            <a:extLst>
              <a:ext uri="{FF2B5EF4-FFF2-40B4-BE49-F238E27FC236}">
                <a16:creationId xmlns:a16="http://schemas.microsoft.com/office/drawing/2014/main" id="{E2EFEE9E-6F36-5C54-6E46-A93AD94D4BA6}"/>
              </a:ext>
            </a:extLst>
          </p:cNvPr>
          <p:cNvPicPr>
            <a:picLocks noChangeAspect="1"/>
          </p:cNvPicPr>
          <p:nvPr/>
        </p:nvPicPr>
        <p:blipFill>
          <a:blip r:embed="rId3"/>
          <a:stretch>
            <a:fillRect/>
          </a:stretch>
        </p:blipFill>
        <p:spPr>
          <a:xfrm>
            <a:off x="6858000" y="1758315"/>
            <a:ext cx="5334000" cy="3360419"/>
          </a:xfrm>
          <a:prstGeom prst="rect">
            <a:avLst/>
          </a:prstGeom>
        </p:spPr>
      </p:pic>
    </p:spTree>
    <p:extLst>
      <p:ext uri="{BB962C8B-B14F-4D97-AF65-F5344CB8AC3E}">
        <p14:creationId xmlns:p14="http://schemas.microsoft.com/office/powerpoint/2010/main" val="885031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7AAB3E-2544-C615-C5A1-D4C672BC23BB}"/>
              </a:ext>
            </a:extLst>
          </p:cNvPr>
          <p:cNvSpPr>
            <a:spLocks noGrp="1"/>
          </p:cNvSpPr>
          <p:nvPr>
            <p:ph type="title"/>
          </p:nvPr>
        </p:nvSpPr>
        <p:spPr/>
        <p:txBody>
          <a:bodyPr/>
          <a:lstStyle/>
          <a:p>
            <a:r>
              <a:rPr lang="tr-TR" dirty="0"/>
              <a:t>2020li yıllarda yönetim</a:t>
            </a:r>
          </a:p>
        </p:txBody>
      </p:sp>
      <p:sp>
        <p:nvSpPr>
          <p:cNvPr id="3" name="İçerik Yer Tutucusu 2">
            <a:extLst>
              <a:ext uri="{FF2B5EF4-FFF2-40B4-BE49-F238E27FC236}">
                <a16:creationId xmlns:a16="http://schemas.microsoft.com/office/drawing/2014/main" id="{234AAAED-0D71-649D-A60F-DCC4F1DBC3F7}"/>
              </a:ext>
            </a:extLst>
          </p:cNvPr>
          <p:cNvSpPr>
            <a:spLocks noGrp="1"/>
          </p:cNvSpPr>
          <p:nvPr>
            <p:ph idx="1"/>
          </p:nvPr>
        </p:nvSpPr>
        <p:spPr>
          <a:xfrm>
            <a:off x="1106905" y="2133600"/>
            <a:ext cx="10397707" cy="4235116"/>
          </a:xfrm>
        </p:spPr>
        <p:txBody>
          <a:bodyPr>
            <a:normAutofit fontScale="70000" lnSpcReduction="20000"/>
          </a:bodyPr>
          <a:lstStyle/>
          <a:p>
            <a:r>
              <a:rPr lang="tr-TR" dirty="0"/>
              <a:t>2020’li yıllarda yönetim anlayışı, teknolojik dönüşüm, sürdürülebilirlik ve değişen iş gücü dinamikleri nedeniyle büyük bir evrim geçirdi. Geleneksel hiyerarşik yönetim modellerinin yerini daha esnek, dijital ve insan odaklı yaklaşımlar aldı. İşte 2020’li yıllarda yönetimi şekillendiren temel unsurlar:</a:t>
            </a:r>
          </a:p>
          <a:p>
            <a:r>
              <a:rPr lang="tr-TR" b="1" dirty="0"/>
              <a:t>1. Dijitalleşme ve Yapay Zeka Destekli Yönetim</a:t>
            </a:r>
          </a:p>
          <a:p>
            <a:r>
              <a:rPr lang="tr-TR" dirty="0"/>
              <a:t>🔹 </a:t>
            </a:r>
            <a:r>
              <a:rPr lang="tr-TR" b="1" dirty="0"/>
              <a:t>Veri Odaklı Karar Alma:</a:t>
            </a:r>
            <a:r>
              <a:rPr lang="tr-TR" dirty="0"/>
              <a:t> Yapay zeka (AI) ve büyük veri analitiği, yöneticilere daha isabetli kararlar alma imkânı sağladı.</a:t>
            </a:r>
            <a:br>
              <a:rPr lang="tr-TR" dirty="0"/>
            </a:br>
            <a:r>
              <a:rPr lang="tr-TR" dirty="0"/>
              <a:t>🔹 </a:t>
            </a:r>
            <a:r>
              <a:rPr lang="tr-TR" b="1" dirty="0"/>
              <a:t>Otomasyon ve Yapay Zeka:</a:t>
            </a:r>
            <a:r>
              <a:rPr lang="tr-TR" dirty="0"/>
              <a:t> Rutin işler otomatikleşirken, yöneticilerin stratejik ve yaratıcı süreçlere odaklanması önem kazandı.</a:t>
            </a:r>
            <a:br>
              <a:rPr lang="tr-TR" dirty="0"/>
            </a:br>
            <a:r>
              <a:rPr lang="tr-TR" dirty="0"/>
              <a:t>🔹 </a:t>
            </a:r>
            <a:r>
              <a:rPr lang="tr-TR" b="1" dirty="0"/>
              <a:t>Uzaktan Çalışma ve Dijital İş Ortamları:</a:t>
            </a:r>
            <a:r>
              <a:rPr lang="tr-TR" dirty="0"/>
              <a:t> </a:t>
            </a:r>
            <a:r>
              <a:rPr lang="tr-TR" dirty="0" err="1"/>
              <a:t>Pandemi</a:t>
            </a:r>
            <a:r>
              <a:rPr lang="tr-TR" dirty="0"/>
              <a:t> sonrası kalıcı hale gelen uzaktan çalışma modelleri, dijital liderlik ve sanal ekip yönetimi becerilerini ön plana çıkardı.</a:t>
            </a:r>
          </a:p>
          <a:p>
            <a:r>
              <a:rPr lang="tr-TR" b="1" dirty="0"/>
              <a:t>2. Çevik (</a:t>
            </a:r>
            <a:r>
              <a:rPr lang="tr-TR" b="1" dirty="0" err="1"/>
              <a:t>Agile</a:t>
            </a:r>
            <a:r>
              <a:rPr lang="tr-TR" b="1" dirty="0"/>
              <a:t>) ve Esnek Yönetim Modelleri</a:t>
            </a:r>
          </a:p>
          <a:p>
            <a:r>
              <a:rPr lang="tr-TR" dirty="0"/>
              <a:t>🔹 </a:t>
            </a:r>
            <a:r>
              <a:rPr lang="tr-TR" b="1" dirty="0"/>
              <a:t>Hızlı </a:t>
            </a:r>
            <a:r>
              <a:rPr lang="tr-TR" b="1" dirty="0" err="1"/>
              <a:t>Uyarlanabilirlik</a:t>
            </a:r>
            <a:r>
              <a:rPr lang="tr-TR" b="1" dirty="0"/>
              <a:t>:</a:t>
            </a:r>
            <a:r>
              <a:rPr lang="tr-TR" dirty="0"/>
              <a:t> Değişen pazar koşullarına hızla uyum sağlayabilen çevik yönetim anlayışı yaygınlaştı.</a:t>
            </a:r>
            <a:br>
              <a:rPr lang="tr-TR" dirty="0"/>
            </a:br>
            <a:r>
              <a:rPr lang="tr-TR" dirty="0"/>
              <a:t>🔹 </a:t>
            </a:r>
            <a:r>
              <a:rPr lang="tr-TR" b="1" dirty="0"/>
              <a:t>Esnek Çalışma Modelleri:</a:t>
            </a:r>
            <a:r>
              <a:rPr lang="tr-TR" dirty="0"/>
              <a:t> </a:t>
            </a:r>
            <a:r>
              <a:rPr lang="tr-TR" dirty="0" err="1"/>
              <a:t>Hibrit</a:t>
            </a:r>
            <a:r>
              <a:rPr lang="tr-TR" dirty="0"/>
              <a:t> çalışma modelleri (ofis + uzaktan çalışma) iş dünyasında norm haline geldi.</a:t>
            </a:r>
            <a:br>
              <a:rPr lang="tr-TR" dirty="0"/>
            </a:br>
            <a:r>
              <a:rPr lang="tr-TR" dirty="0"/>
              <a:t>🔹 </a:t>
            </a:r>
            <a:r>
              <a:rPr lang="tr-TR" b="1" dirty="0"/>
              <a:t>Düz Organizasyon Yapıları:</a:t>
            </a:r>
            <a:r>
              <a:rPr lang="tr-TR" dirty="0"/>
              <a:t> Geleneksel hiyerarşinin yerini daha yatay organizasyon yapıları aldı, ekipler arası iş birliği güçlendi.</a:t>
            </a:r>
          </a:p>
          <a:p>
            <a:r>
              <a:rPr lang="tr-TR" b="1" dirty="0"/>
              <a:t>3. Sürdürülebilirlik ve Sosyal Sorumluluk</a:t>
            </a:r>
          </a:p>
          <a:p>
            <a:r>
              <a:rPr lang="tr-TR" dirty="0"/>
              <a:t>🔹 </a:t>
            </a:r>
            <a:r>
              <a:rPr lang="tr-TR" b="1" dirty="0"/>
              <a:t>Yeşil Yönetim:</a:t>
            </a:r>
            <a:r>
              <a:rPr lang="tr-TR" dirty="0"/>
              <a:t> Karbon ayak izini azaltmaya yönelik sürdürülebilir iş modelleri ön plana çıktı.</a:t>
            </a:r>
            <a:br>
              <a:rPr lang="tr-TR" dirty="0"/>
            </a:br>
            <a:r>
              <a:rPr lang="tr-TR" dirty="0"/>
              <a:t>🔹 </a:t>
            </a:r>
            <a:r>
              <a:rPr lang="tr-TR" b="1" dirty="0"/>
              <a:t>Kurumsal Sosyal Sorumluluk (KSS):</a:t>
            </a:r>
            <a:r>
              <a:rPr lang="tr-TR" dirty="0"/>
              <a:t> Çalışanlar ve müşteriler, sosyal ve çevresel etkiyi gözeten şirketleri tercih etmeye başladı.</a:t>
            </a:r>
            <a:br>
              <a:rPr lang="tr-TR" dirty="0"/>
            </a:br>
            <a:r>
              <a:rPr lang="tr-TR" dirty="0"/>
              <a:t>🔹 </a:t>
            </a:r>
            <a:r>
              <a:rPr lang="tr-TR" b="1" dirty="0"/>
              <a:t>Döngüsel Ekonomi:</a:t>
            </a:r>
            <a:r>
              <a:rPr lang="tr-TR" dirty="0"/>
              <a:t> Şirketler, üretimden tüketime kadar sürdürülebilir süreçler geliştirmeye odaklandı.</a:t>
            </a:r>
          </a:p>
          <a:p>
            <a:endParaRPr lang="tr-TR" dirty="0"/>
          </a:p>
        </p:txBody>
      </p:sp>
    </p:spTree>
    <p:extLst>
      <p:ext uri="{BB962C8B-B14F-4D97-AF65-F5344CB8AC3E}">
        <p14:creationId xmlns:p14="http://schemas.microsoft.com/office/powerpoint/2010/main" val="761321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7AAB3E-2544-C615-C5A1-D4C672BC23BB}"/>
              </a:ext>
            </a:extLst>
          </p:cNvPr>
          <p:cNvSpPr>
            <a:spLocks noGrp="1"/>
          </p:cNvSpPr>
          <p:nvPr>
            <p:ph type="title"/>
          </p:nvPr>
        </p:nvSpPr>
        <p:spPr/>
        <p:txBody>
          <a:bodyPr/>
          <a:lstStyle/>
          <a:p>
            <a:r>
              <a:rPr lang="tr-TR" dirty="0"/>
              <a:t>2020li yıllarda yönetim</a:t>
            </a:r>
          </a:p>
        </p:txBody>
      </p:sp>
      <p:sp>
        <p:nvSpPr>
          <p:cNvPr id="3" name="İçerik Yer Tutucusu 2">
            <a:extLst>
              <a:ext uri="{FF2B5EF4-FFF2-40B4-BE49-F238E27FC236}">
                <a16:creationId xmlns:a16="http://schemas.microsoft.com/office/drawing/2014/main" id="{234AAAED-0D71-649D-A60F-DCC4F1DBC3F7}"/>
              </a:ext>
            </a:extLst>
          </p:cNvPr>
          <p:cNvSpPr>
            <a:spLocks noGrp="1"/>
          </p:cNvSpPr>
          <p:nvPr>
            <p:ph idx="1"/>
          </p:nvPr>
        </p:nvSpPr>
        <p:spPr>
          <a:xfrm>
            <a:off x="978568" y="2133600"/>
            <a:ext cx="10526044" cy="4283242"/>
          </a:xfrm>
        </p:spPr>
        <p:txBody>
          <a:bodyPr>
            <a:normAutofit fontScale="70000" lnSpcReduction="20000"/>
          </a:bodyPr>
          <a:lstStyle/>
          <a:p>
            <a:r>
              <a:rPr lang="tr-TR" b="1" dirty="0"/>
              <a:t>4. İnsan Odaklı Liderlik ve Çalışan Deneyimi</a:t>
            </a:r>
          </a:p>
          <a:p>
            <a:r>
              <a:rPr lang="tr-TR" dirty="0"/>
              <a:t>🔹 </a:t>
            </a:r>
            <a:r>
              <a:rPr lang="tr-TR" b="1" dirty="0"/>
              <a:t>Duygusal Zeka (EQ) Temelli Liderlik:</a:t>
            </a:r>
            <a:r>
              <a:rPr lang="tr-TR" dirty="0"/>
              <a:t> Liderler, çalışanların motivasyonunu artırmak için empati ve duygusal zekaya daha fazla önem verdi.</a:t>
            </a:r>
            <a:br>
              <a:rPr lang="tr-TR" dirty="0"/>
            </a:br>
            <a:r>
              <a:rPr lang="tr-TR" dirty="0"/>
              <a:t>🔹 </a:t>
            </a:r>
            <a:r>
              <a:rPr lang="tr-TR" b="1" dirty="0"/>
              <a:t>Çeşitlilik ve Kapsayıcılık:</a:t>
            </a:r>
            <a:r>
              <a:rPr lang="tr-TR" dirty="0"/>
              <a:t> Farklı kültürel geçmişlere sahip bireylerin iş gücüne dahil edilmesi, </a:t>
            </a:r>
            <a:r>
              <a:rPr lang="tr-TR" dirty="0" err="1"/>
              <a:t>inovasyonu</a:t>
            </a:r>
            <a:r>
              <a:rPr lang="tr-TR" dirty="0"/>
              <a:t> ve yaratıcılığı artırdı.</a:t>
            </a:r>
            <a:br>
              <a:rPr lang="tr-TR" dirty="0"/>
            </a:br>
            <a:r>
              <a:rPr lang="tr-TR" dirty="0"/>
              <a:t>🔹 </a:t>
            </a:r>
            <a:r>
              <a:rPr lang="tr-TR" b="1" dirty="0" err="1"/>
              <a:t>Well-being</a:t>
            </a:r>
            <a:r>
              <a:rPr lang="tr-TR" b="1" dirty="0"/>
              <a:t> (İş ve Özel Hayat Dengesi):</a:t>
            </a:r>
            <a:r>
              <a:rPr lang="tr-TR" dirty="0"/>
              <a:t> Çalışan refahı, iş performansının önemli bir bileşeni olarak görülmeye başlandı.</a:t>
            </a:r>
          </a:p>
          <a:p>
            <a:r>
              <a:rPr lang="tr-TR" b="1" dirty="0"/>
              <a:t>5. Yapay Zeka ve İnsan İş Birliği</a:t>
            </a:r>
          </a:p>
          <a:p>
            <a:r>
              <a:rPr lang="tr-TR" dirty="0"/>
              <a:t>🔹 </a:t>
            </a:r>
            <a:r>
              <a:rPr lang="tr-TR" b="1" dirty="0"/>
              <a:t>AI Destekli Liderlik:</a:t>
            </a:r>
            <a:r>
              <a:rPr lang="tr-TR" dirty="0"/>
              <a:t> Yapay zeka, yöneticilere stratejik karar almada destek sağlarken, insan odaklı liderlik becerileri kritik önem taşıdı.</a:t>
            </a:r>
            <a:br>
              <a:rPr lang="tr-TR" dirty="0"/>
            </a:br>
            <a:r>
              <a:rPr lang="tr-TR" dirty="0"/>
              <a:t>🔹 </a:t>
            </a:r>
            <a:r>
              <a:rPr lang="tr-TR" b="1" dirty="0"/>
              <a:t>İş Gücünün Yeniden Yetkinleştirilmesi (</a:t>
            </a:r>
            <a:r>
              <a:rPr lang="tr-TR" b="1" dirty="0" err="1"/>
              <a:t>Reskilling</a:t>
            </a:r>
            <a:r>
              <a:rPr lang="tr-TR" b="1" dirty="0"/>
              <a:t> &amp; </a:t>
            </a:r>
            <a:r>
              <a:rPr lang="tr-TR" b="1" dirty="0" err="1"/>
              <a:t>Upskilling</a:t>
            </a:r>
            <a:r>
              <a:rPr lang="tr-TR" b="1" dirty="0"/>
              <a:t>):</a:t>
            </a:r>
            <a:r>
              <a:rPr lang="tr-TR" dirty="0"/>
              <a:t> Teknolojik dönüşüme ayak uydurabilmek için çalışanların sürekli yeni beceriler edinmesi gerekti.</a:t>
            </a:r>
            <a:br>
              <a:rPr lang="tr-TR" dirty="0"/>
            </a:br>
            <a:r>
              <a:rPr lang="tr-TR" dirty="0"/>
              <a:t>🔹 </a:t>
            </a:r>
            <a:r>
              <a:rPr lang="tr-TR" b="1" dirty="0"/>
              <a:t>İnsan + Makine İş Birliği:</a:t>
            </a:r>
            <a:r>
              <a:rPr lang="tr-TR" dirty="0"/>
              <a:t> Yapay zeka, robotik süreç otomasyonu ve insanlar arasında dengeli bir iş paylaşımı oluşturulmaya çalışıldı.</a:t>
            </a:r>
          </a:p>
          <a:p>
            <a:r>
              <a:rPr lang="tr-TR" b="1" dirty="0"/>
              <a:t>Sonuç: 2020’li Yıllarda Yönetimde Anahtar Kelimeler</a:t>
            </a:r>
          </a:p>
          <a:p>
            <a:r>
              <a:rPr lang="tr-TR" dirty="0"/>
              <a:t>✔ </a:t>
            </a:r>
            <a:r>
              <a:rPr lang="tr-TR" b="1" dirty="0"/>
              <a:t>Dijitalleşme</a:t>
            </a:r>
            <a:br>
              <a:rPr lang="tr-TR" dirty="0"/>
            </a:br>
            <a:r>
              <a:rPr lang="tr-TR" dirty="0"/>
              <a:t>✔ </a:t>
            </a:r>
            <a:r>
              <a:rPr lang="tr-TR" b="1" dirty="0"/>
              <a:t>Çeviklik (</a:t>
            </a:r>
            <a:r>
              <a:rPr lang="tr-TR" b="1" dirty="0" err="1"/>
              <a:t>Agile</a:t>
            </a:r>
            <a:r>
              <a:rPr lang="tr-TR" b="1" dirty="0"/>
              <a:t>)</a:t>
            </a:r>
            <a:br>
              <a:rPr lang="tr-TR" dirty="0"/>
            </a:br>
            <a:r>
              <a:rPr lang="tr-TR" dirty="0"/>
              <a:t>✔ </a:t>
            </a:r>
            <a:r>
              <a:rPr lang="tr-TR" b="1" dirty="0"/>
              <a:t>Sürdürülebilirlik</a:t>
            </a:r>
            <a:br>
              <a:rPr lang="tr-TR" dirty="0"/>
            </a:br>
            <a:r>
              <a:rPr lang="tr-TR" dirty="0"/>
              <a:t>✔ </a:t>
            </a:r>
            <a:r>
              <a:rPr lang="tr-TR" b="1" dirty="0"/>
              <a:t>İnsan Odaklılık</a:t>
            </a:r>
            <a:br>
              <a:rPr lang="tr-TR" dirty="0"/>
            </a:br>
            <a:r>
              <a:rPr lang="tr-TR" dirty="0"/>
              <a:t>✔ </a:t>
            </a:r>
            <a:r>
              <a:rPr lang="tr-TR" b="1" dirty="0"/>
              <a:t>Yapay Zeka Destekli Karar Alma</a:t>
            </a:r>
            <a:br>
              <a:rPr lang="tr-TR" dirty="0"/>
            </a:br>
            <a:r>
              <a:rPr lang="tr-TR" dirty="0"/>
              <a:t>✔ </a:t>
            </a:r>
            <a:r>
              <a:rPr lang="tr-TR" b="1" dirty="0"/>
              <a:t>Esnek ve </a:t>
            </a:r>
            <a:r>
              <a:rPr lang="tr-TR" b="1" dirty="0" err="1"/>
              <a:t>Hibrit</a:t>
            </a:r>
            <a:r>
              <a:rPr lang="tr-TR" b="1" dirty="0"/>
              <a:t> Çalışma Modelleri</a:t>
            </a:r>
            <a:endParaRPr lang="tr-TR" dirty="0"/>
          </a:p>
          <a:p>
            <a:r>
              <a:rPr lang="tr-TR" dirty="0"/>
              <a:t>Günümüz yönetim anlayışı, hem teknolojik gelişmeleri hem de insan faktörünü dengelemeyi gerektiriyor. </a:t>
            </a:r>
          </a:p>
          <a:p>
            <a:endParaRPr lang="tr-TR" dirty="0"/>
          </a:p>
        </p:txBody>
      </p:sp>
    </p:spTree>
    <p:extLst>
      <p:ext uri="{BB962C8B-B14F-4D97-AF65-F5344CB8AC3E}">
        <p14:creationId xmlns:p14="http://schemas.microsoft.com/office/powerpoint/2010/main" val="2587907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047F9742-FCDF-C2DE-08FD-471209342E0E}"/>
              </a:ext>
            </a:extLst>
          </p:cNvPr>
          <p:cNvPicPr>
            <a:picLocks noChangeAspect="1"/>
          </p:cNvPicPr>
          <p:nvPr/>
        </p:nvPicPr>
        <p:blipFill>
          <a:blip r:embed="rId3"/>
          <a:srcRect l="20543" r="27400" b="-1"/>
          <a:stretch/>
        </p:blipFill>
        <p:spPr>
          <a:xfrm>
            <a:off x="6613174" y="10"/>
            <a:ext cx="5578824" cy="6028246"/>
          </a:xfrm>
          <a:custGeom>
            <a:avLst/>
            <a:gdLst/>
            <a:ahLst/>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p:spPr>
      </p:pic>
      <p:sp>
        <p:nvSpPr>
          <p:cNvPr id="2" name="Başlık 1">
            <a:extLst>
              <a:ext uri="{FF2B5EF4-FFF2-40B4-BE49-F238E27FC236}">
                <a16:creationId xmlns:a16="http://schemas.microsoft.com/office/drawing/2014/main" id="{CC4C5427-843E-E448-BC4A-2289A48C76AF}"/>
              </a:ext>
            </a:extLst>
          </p:cNvPr>
          <p:cNvSpPr>
            <a:spLocks noGrp="1"/>
          </p:cNvSpPr>
          <p:nvPr>
            <p:ph type="title"/>
          </p:nvPr>
        </p:nvSpPr>
        <p:spPr>
          <a:xfrm>
            <a:off x="866931" y="1301646"/>
            <a:ext cx="5334000" cy="1524000"/>
          </a:xfrm>
        </p:spPr>
        <p:txBody>
          <a:bodyPr>
            <a:normAutofit/>
          </a:bodyPr>
          <a:lstStyle/>
          <a:p>
            <a:r>
              <a:rPr lang="tr-TR" sz="3200" b="1"/>
              <a:t>ÖRGÜT</a:t>
            </a:r>
          </a:p>
        </p:txBody>
      </p:sp>
      <p:sp>
        <p:nvSpPr>
          <p:cNvPr id="3" name="İçerik Yer Tutucusu 2">
            <a:extLst>
              <a:ext uri="{FF2B5EF4-FFF2-40B4-BE49-F238E27FC236}">
                <a16:creationId xmlns:a16="http://schemas.microsoft.com/office/drawing/2014/main" id="{81DFB496-06D5-C842-8706-F03AB8496454}"/>
              </a:ext>
            </a:extLst>
          </p:cNvPr>
          <p:cNvSpPr>
            <a:spLocks noGrp="1"/>
          </p:cNvSpPr>
          <p:nvPr>
            <p:ph idx="1"/>
          </p:nvPr>
        </p:nvSpPr>
        <p:spPr>
          <a:xfrm>
            <a:off x="762000" y="2286000"/>
            <a:ext cx="5334000" cy="3810001"/>
          </a:xfrm>
        </p:spPr>
        <p:txBody>
          <a:bodyPr>
            <a:normAutofit/>
          </a:bodyPr>
          <a:lstStyle/>
          <a:p>
            <a:pPr>
              <a:lnSpc>
                <a:spcPct val="115000"/>
              </a:lnSpc>
            </a:pPr>
            <a:r>
              <a:rPr lang="tr-TR" sz="1700"/>
              <a:t>Yunanca ‘organon’ kelimesinden türemiştir. </a:t>
            </a:r>
          </a:p>
          <a:p>
            <a:pPr>
              <a:lnSpc>
                <a:spcPct val="115000"/>
              </a:lnSpc>
            </a:pPr>
            <a:r>
              <a:rPr lang="tr-TR" sz="1700"/>
              <a:t>Bireylerin tek başına gerçekleştiremeyecekleri amaçlarını, başka bireylerle bir araya gelerek grup halinde çaba, bilgi ve yeteneklerini birleştirmeleri yoluyla gerçekleştirmeleri mümkün kılan bir iş bölümü ve koordinasyon sistemi, düzen veya yapı</a:t>
            </a:r>
          </a:p>
          <a:p>
            <a:pPr>
              <a:lnSpc>
                <a:spcPct val="115000"/>
              </a:lnSpc>
            </a:pPr>
            <a:r>
              <a:rPr lang="tr-TR" sz="1700"/>
              <a:t>Beşeri ve fiziki kaynakların eşgüdümlenmiş olarak bir araya getirildiği bir açık sistem</a:t>
            </a:r>
          </a:p>
          <a:p>
            <a:pPr>
              <a:lnSpc>
                <a:spcPct val="115000"/>
              </a:lnSpc>
            </a:pPr>
            <a:r>
              <a:rPr lang="tr-TR" sz="1700"/>
              <a:t>Örgüt yapısı amaca ulaşmak için bir araçtır.</a:t>
            </a:r>
          </a:p>
        </p:txBody>
      </p:sp>
    </p:spTree>
    <p:extLst>
      <p:ext uri="{BB962C8B-B14F-4D97-AF65-F5344CB8AC3E}">
        <p14:creationId xmlns:p14="http://schemas.microsoft.com/office/powerpoint/2010/main" val="1241088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047F9742-FCDF-C2DE-08FD-471209342E0E}"/>
              </a:ext>
            </a:extLst>
          </p:cNvPr>
          <p:cNvPicPr>
            <a:picLocks noChangeAspect="1"/>
          </p:cNvPicPr>
          <p:nvPr/>
        </p:nvPicPr>
        <p:blipFill>
          <a:blip r:embed="rId3"/>
          <a:srcRect l="20543" r="27400" b="-1"/>
          <a:stretch/>
        </p:blipFill>
        <p:spPr>
          <a:xfrm>
            <a:off x="6613174" y="10"/>
            <a:ext cx="5578824" cy="6028246"/>
          </a:xfrm>
          <a:custGeom>
            <a:avLst/>
            <a:gdLst/>
            <a:ahLst/>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p:spPr>
      </p:pic>
      <p:sp>
        <p:nvSpPr>
          <p:cNvPr id="2" name="Başlık 1">
            <a:extLst>
              <a:ext uri="{FF2B5EF4-FFF2-40B4-BE49-F238E27FC236}">
                <a16:creationId xmlns:a16="http://schemas.microsoft.com/office/drawing/2014/main" id="{CC4C5427-843E-E448-BC4A-2289A48C76AF}"/>
              </a:ext>
            </a:extLst>
          </p:cNvPr>
          <p:cNvSpPr>
            <a:spLocks noGrp="1"/>
          </p:cNvSpPr>
          <p:nvPr>
            <p:ph type="title"/>
          </p:nvPr>
        </p:nvSpPr>
        <p:spPr>
          <a:xfrm>
            <a:off x="866931" y="1301646"/>
            <a:ext cx="5334000" cy="1524000"/>
          </a:xfrm>
        </p:spPr>
        <p:txBody>
          <a:bodyPr>
            <a:normAutofit/>
          </a:bodyPr>
          <a:lstStyle/>
          <a:p>
            <a:r>
              <a:rPr lang="tr-TR" sz="3200" b="1"/>
              <a:t>ÖRGÜT</a:t>
            </a:r>
          </a:p>
        </p:txBody>
      </p:sp>
      <p:sp>
        <p:nvSpPr>
          <p:cNvPr id="3" name="İçerik Yer Tutucusu 2">
            <a:extLst>
              <a:ext uri="{FF2B5EF4-FFF2-40B4-BE49-F238E27FC236}">
                <a16:creationId xmlns:a16="http://schemas.microsoft.com/office/drawing/2014/main" id="{81DFB496-06D5-C842-8706-F03AB8496454}"/>
              </a:ext>
            </a:extLst>
          </p:cNvPr>
          <p:cNvSpPr>
            <a:spLocks noGrp="1"/>
          </p:cNvSpPr>
          <p:nvPr>
            <p:ph idx="1"/>
          </p:nvPr>
        </p:nvSpPr>
        <p:spPr>
          <a:xfrm>
            <a:off x="762000" y="2286000"/>
            <a:ext cx="5334000" cy="3810001"/>
          </a:xfrm>
        </p:spPr>
        <p:txBody>
          <a:bodyPr>
            <a:normAutofit/>
          </a:bodyPr>
          <a:lstStyle/>
          <a:p>
            <a:r>
              <a:rPr lang="tr-TR" sz="1600" b="1" dirty="0"/>
              <a:t>Örgütün Temel Özellikleri</a:t>
            </a:r>
          </a:p>
          <a:p>
            <a:r>
              <a:rPr lang="tr-TR" sz="1600" dirty="0"/>
              <a:t>🔹 </a:t>
            </a:r>
            <a:r>
              <a:rPr lang="tr-TR" sz="1600" b="1" dirty="0"/>
              <a:t>Amaç:</a:t>
            </a:r>
            <a:r>
              <a:rPr lang="tr-TR" sz="1600" dirty="0"/>
              <a:t> Her örgütün belirli bir amacı vardır (örneğin, kar elde etmek, hizmet sunmak, eğitim vermek).</a:t>
            </a:r>
            <a:br>
              <a:rPr lang="tr-TR" sz="1600" dirty="0"/>
            </a:br>
            <a:r>
              <a:rPr lang="tr-TR" sz="1600" dirty="0"/>
              <a:t>🔹 </a:t>
            </a:r>
            <a:r>
              <a:rPr lang="tr-TR" sz="1600" b="1" dirty="0"/>
              <a:t>İnsan Kaynağı:</a:t>
            </a:r>
            <a:r>
              <a:rPr lang="tr-TR" sz="1600" dirty="0"/>
              <a:t> Örgütler, bireylerin bir araya gelmesiyle oluşur.</a:t>
            </a:r>
            <a:br>
              <a:rPr lang="tr-TR" sz="1600" dirty="0"/>
            </a:br>
            <a:r>
              <a:rPr lang="tr-TR" sz="1600" dirty="0"/>
              <a:t>🔹 </a:t>
            </a:r>
            <a:r>
              <a:rPr lang="tr-TR" sz="1600" b="1" dirty="0"/>
              <a:t>Yapı:</a:t>
            </a:r>
            <a:r>
              <a:rPr lang="tr-TR" sz="1600" dirty="0"/>
              <a:t> Hiyerarşik veya yatay olabilir; roller, görevler ve sorumluluklar tanımlıdır.</a:t>
            </a:r>
            <a:br>
              <a:rPr lang="tr-TR" sz="1600" dirty="0"/>
            </a:br>
            <a:r>
              <a:rPr lang="tr-TR" sz="1600" dirty="0"/>
              <a:t>🔹 </a:t>
            </a:r>
            <a:r>
              <a:rPr lang="tr-TR" sz="1600" b="1" dirty="0"/>
              <a:t>Süreklilik:</a:t>
            </a:r>
            <a:r>
              <a:rPr lang="tr-TR" sz="1600" dirty="0"/>
              <a:t> Örgütler belirli bir düzen içinde devamlılık gösterir.</a:t>
            </a:r>
            <a:br>
              <a:rPr lang="tr-TR" sz="1600" dirty="0"/>
            </a:br>
            <a:r>
              <a:rPr lang="tr-TR" sz="1600" dirty="0"/>
              <a:t>🔹 </a:t>
            </a:r>
            <a:r>
              <a:rPr lang="tr-TR" sz="1600" b="1" dirty="0"/>
              <a:t>Koordinasyon:</a:t>
            </a:r>
            <a:r>
              <a:rPr lang="tr-TR" sz="1600" dirty="0"/>
              <a:t> Farklı bölümler ve bireyler arasında iş birliği sağlanır.</a:t>
            </a:r>
          </a:p>
        </p:txBody>
      </p:sp>
    </p:spTree>
    <p:extLst>
      <p:ext uri="{BB962C8B-B14F-4D97-AF65-F5344CB8AC3E}">
        <p14:creationId xmlns:p14="http://schemas.microsoft.com/office/powerpoint/2010/main" val="3475605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1331" y="626218"/>
            <a:ext cx="8127167" cy="615703"/>
          </a:xfrm>
        </p:spPr>
        <p:txBody>
          <a:bodyPr>
            <a:normAutofit fontScale="90000"/>
          </a:bodyPr>
          <a:lstStyle/>
          <a:p>
            <a:pPr algn="l"/>
            <a:r>
              <a:rPr lang="en-US" b="1" dirty="0"/>
              <a:t>ÖRGÜT ÇEŞITLERI NEDIR?</a:t>
            </a:r>
          </a:p>
        </p:txBody>
      </p:sp>
      <p:pic>
        <p:nvPicPr>
          <p:cNvPr id="4" name="Picture 3" descr="Ekran Resmi 2017-07-29 15.15.5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5578" y="3492793"/>
            <a:ext cx="2186720" cy="960194"/>
          </a:xfrm>
          <a:prstGeom prst="rect">
            <a:avLst/>
          </a:prstGeom>
        </p:spPr>
      </p:pic>
      <p:grpSp>
        <p:nvGrpSpPr>
          <p:cNvPr id="8" name="Group 7"/>
          <p:cNvGrpSpPr>
            <a:grpSpLocks/>
          </p:cNvGrpSpPr>
          <p:nvPr/>
        </p:nvGrpSpPr>
        <p:grpSpPr bwMode="auto">
          <a:xfrm>
            <a:off x="2365248" y="1377703"/>
            <a:ext cx="5383283" cy="4781882"/>
            <a:chOff x="0" y="0"/>
            <a:chExt cx="4686300" cy="2515836"/>
          </a:xfrm>
        </p:grpSpPr>
        <p:sp>
          <p:nvSpPr>
            <p:cNvPr id="9" name="Dikdörtgen 2"/>
            <p:cNvSpPr>
              <a:spLocks/>
            </p:cNvSpPr>
            <p:nvPr/>
          </p:nvSpPr>
          <p:spPr bwMode="auto">
            <a:xfrm>
              <a:off x="0" y="0"/>
              <a:ext cx="4679950" cy="36004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ÖRGÜTLER</a:t>
              </a:r>
            </a:p>
          </p:txBody>
        </p:sp>
        <p:sp>
          <p:nvSpPr>
            <p:cNvPr id="10" name="Dikdörtgen 3"/>
            <p:cNvSpPr>
              <a:spLocks/>
            </p:cNvSpPr>
            <p:nvPr/>
          </p:nvSpPr>
          <p:spPr bwMode="auto">
            <a:xfrm>
              <a:off x="0" y="452755"/>
              <a:ext cx="2273300" cy="36004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YASAL ÖRGÜTLER</a:t>
              </a:r>
            </a:p>
          </p:txBody>
        </p:sp>
        <p:sp>
          <p:nvSpPr>
            <p:cNvPr id="11" name="Dikdörtgen 4"/>
            <p:cNvSpPr>
              <a:spLocks/>
            </p:cNvSpPr>
            <p:nvPr/>
          </p:nvSpPr>
          <p:spPr bwMode="auto">
            <a:xfrm>
              <a:off x="2527300" y="452755"/>
              <a:ext cx="2159000" cy="36004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YASA DIŞI ÖRGÜTLER</a:t>
              </a:r>
            </a:p>
          </p:txBody>
        </p:sp>
        <p:sp>
          <p:nvSpPr>
            <p:cNvPr id="12" name="Dikdörtgen 8"/>
            <p:cNvSpPr>
              <a:spLocks/>
            </p:cNvSpPr>
            <p:nvPr/>
          </p:nvSpPr>
          <p:spPr bwMode="auto">
            <a:xfrm>
              <a:off x="0" y="909955"/>
              <a:ext cx="2273300" cy="359410"/>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BİÇİMSEL ÖRGÜTLER</a:t>
              </a:r>
            </a:p>
          </p:txBody>
        </p:sp>
        <p:sp>
          <p:nvSpPr>
            <p:cNvPr id="13" name="Dikdörtgen 8"/>
            <p:cNvSpPr>
              <a:spLocks/>
            </p:cNvSpPr>
            <p:nvPr/>
          </p:nvSpPr>
          <p:spPr bwMode="auto">
            <a:xfrm>
              <a:off x="2527300" y="909955"/>
              <a:ext cx="2159000" cy="359410"/>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DOĞAL ÖRGÜTLER</a:t>
              </a:r>
            </a:p>
          </p:txBody>
        </p:sp>
        <p:sp>
          <p:nvSpPr>
            <p:cNvPr id="14" name="Dikdörtgen 8"/>
            <p:cNvSpPr>
              <a:spLocks/>
            </p:cNvSpPr>
            <p:nvPr/>
          </p:nvSpPr>
          <p:spPr bwMode="auto">
            <a:xfrm>
              <a:off x="0" y="1389060"/>
              <a:ext cx="2273300" cy="43529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KAR AMACI OLAN ÖRGÜTLER</a:t>
              </a:r>
            </a:p>
          </p:txBody>
        </p:sp>
        <p:sp>
          <p:nvSpPr>
            <p:cNvPr id="15" name="Dikdörtgen 8"/>
            <p:cNvSpPr>
              <a:spLocks/>
            </p:cNvSpPr>
            <p:nvPr/>
          </p:nvSpPr>
          <p:spPr bwMode="auto">
            <a:xfrm>
              <a:off x="2527300" y="1389060"/>
              <a:ext cx="2159000" cy="43529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KAR AMACI OLMAYAN ÖRGÜTLER</a:t>
              </a:r>
            </a:p>
          </p:txBody>
        </p:sp>
        <p:sp>
          <p:nvSpPr>
            <p:cNvPr id="16" name="Dikdörtgen 2"/>
            <p:cNvSpPr>
              <a:spLocks/>
            </p:cNvSpPr>
            <p:nvPr/>
          </p:nvSpPr>
          <p:spPr bwMode="auto">
            <a:xfrm>
              <a:off x="6350" y="1967230"/>
              <a:ext cx="4679950" cy="548606"/>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rot="0" vert="horz" wrap="square" lIns="91440" tIns="45720" rIns="91440" bIns="45720" anchor="ctr" anchorCtr="0" upright="1">
              <a:noAutofit/>
            </a:bodyPr>
            <a:lstStyle/>
            <a:p>
              <a:pPr algn="ctr"/>
              <a:r>
                <a:rPr lang="tr-TR" dirty="0"/>
                <a:t>İŞLETMELER+ KAMU KURUMLARI +KAMU İKTİSADİ TEŞEBBÜSLERİ+DERNEKLER +VAKIFLAR +SİVİL TOPLUM KURULUŞLARI</a:t>
              </a:r>
            </a:p>
          </p:txBody>
        </p:sp>
      </p:grpSp>
      <p:pic>
        <p:nvPicPr>
          <p:cNvPr id="17" name="Picture 16" descr="Ekran Resmi 2017-08-01 12.01.30.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5579" y="1185910"/>
            <a:ext cx="2192421" cy="1136513"/>
          </a:xfrm>
          <a:prstGeom prst="rect">
            <a:avLst/>
          </a:prstGeom>
        </p:spPr>
      </p:pic>
      <p:pic>
        <p:nvPicPr>
          <p:cNvPr id="18" name="Picture 17" descr="Ekran Resmi 2017-08-01 12.01.49.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75578" y="2413995"/>
            <a:ext cx="2192422" cy="896739"/>
          </a:xfrm>
          <a:prstGeom prst="rect">
            <a:avLst/>
          </a:prstGeom>
        </p:spPr>
      </p:pic>
      <p:pic>
        <p:nvPicPr>
          <p:cNvPr id="20" name="Picture 19" descr="Ekran Resmi 2017-08-01 12.02.38.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75578" y="4528356"/>
            <a:ext cx="2192422" cy="1246836"/>
          </a:xfrm>
          <a:prstGeom prst="rect">
            <a:avLst/>
          </a:prstGeom>
        </p:spPr>
      </p:pic>
    </p:spTree>
    <p:extLst>
      <p:ext uri="{BB962C8B-B14F-4D97-AF65-F5344CB8AC3E}">
        <p14:creationId xmlns:p14="http://schemas.microsoft.com/office/powerpoint/2010/main" val="2862403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DA871F2-5098-6E47-89FE-0643517298A4}"/>
              </a:ext>
            </a:extLst>
          </p:cNvPr>
          <p:cNvSpPr>
            <a:spLocks noGrp="1"/>
          </p:cNvSpPr>
          <p:nvPr>
            <p:ph type="title"/>
          </p:nvPr>
        </p:nvSpPr>
        <p:spPr>
          <a:xfrm>
            <a:off x="838200" y="1495426"/>
            <a:ext cx="3374036" cy="4024310"/>
          </a:xfrm>
        </p:spPr>
        <p:txBody>
          <a:bodyPr>
            <a:normAutofit/>
          </a:bodyPr>
          <a:lstStyle/>
          <a:p>
            <a:r>
              <a:rPr lang="tr-TR" sz="2800" b="1"/>
              <a:t>ÖRGÜTLERE DUYULAN GEREKSİNİMLERİN TEMEL NEDENLERİ</a:t>
            </a:r>
          </a:p>
        </p:txBody>
      </p:sp>
      <p:graphicFrame>
        <p:nvGraphicFramePr>
          <p:cNvPr id="5" name="İçerik Yer Tutucusu 2">
            <a:extLst>
              <a:ext uri="{FF2B5EF4-FFF2-40B4-BE49-F238E27FC236}">
                <a16:creationId xmlns:a16="http://schemas.microsoft.com/office/drawing/2014/main" id="{B5C727E5-7899-4BE8-ACE4-CF2B45C76823}"/>
              </a:ext>
            </a:extLst>
          </p:cNvPr>
          <p:cNvGraphicFramePr>
            <a:graphicFrameLocks noGrp="1"/>
          </p:cNvGraphicFramePr>
          <p:nvPr>
            <p:ph idx="1"/>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541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A7889B-3CC4-534B-98D3-0A9F62CEC339}"/>
              </a:ext>
            </a:extLst>
          </p:cNvPr>
          <p:cNvSpPr>
            <a:spLocks noGrp="1"/>
          </p:cNvSpPr>
          <p:nvPr>
            <p:ph type="title"/>
          </p:nvPr>
        </p:nvSpPr>
        <p:spPr>
          <a:xfrm>
            <a:off x="1000941" y="2620477"/>
            <a:ext cx="3010737" cy="1497475"/>
          </a:xfrm>
        </p:spPr>
        <p:txBody>
          <a:bodyPr>
            <a:normAutofit/>
          </a:bodyPr>
          <a:lstStyle/>
          <a:p>
            <a:r>
              <a:rPr lang="tr-TR" sz="2800" b="1"/>
              <a:t>DAVRANIŞ</a:t>
            </a:r>
          </a:p>
        </p:txBody>
      </p:sp>
      <p:graphicFrame>
        <p:nvGraphicFramePr>
          <p:cNvPr id="15" name="İçerik Yer Tutucusu 2">
            <a:extLst>
              <a:ext uri="{FF2B5EF4-FFF2-40B4-BE49-F238E27FC236}">
                <a16:creationId xmlns:a16="http://schemas.microsoft.com/office/drawing/2014/main" id="{65E5A391-A5C1-48C3-B826-DBB02FE3910C}"/>
              </a:ext>
            </a:extLst>
          </p:cNvPr>
          <p:cNvGraphicFramePr>
            <a:graphicFrameLocks noGrp="1"/>
          </p:cNvGraphicFramePr>
          <p:nvPr>
            <p:ph idx="1"/>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97868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6260A6-DF6F-3C7F-D9BE-73391A9447BB}"/>
              </a:ext>
            </a:extLst>
          </p:cNvPr>
          <p:cNvSpPr>
            <a:spLocks noGrp="1"/>
          </p:cNvSpPr>
          <p:nvPr>
            <p:ph type="title"/>
          </p:nvPr>
        </p:nvSpPr>
        <p:spPr/>
        <p:txBody>
          <a:bodyPr/>
          <a:lstStyle/>
          <a:p>
            <a:r>
              <a:rPr lang="tr-TR" b="1" dirty="0"/>
              <a:t>Örgütsel Davranışı Etkileyen Faktörler</a:t>
            </a:r>
            <a:br>
              <a:rPr lang="tr-TR" b="1" dirty="0"/>
            </a:br>
            <a:endParaRPr lang="tr-TR" dirty="0"/>
          </a:p>
        </p:txBody>
      </p:sp>
      <p:sp>
        <p:nvSpPr>
          <p:cNvPr id="3" name="İçerik Yer Tutucusu 2">
            <a:extLst>
              <a:ext uri="{FF2B5EF4-FFF2-40B4-BE49-F238E27FC236}">
                <a16:creationId xmlns:a16="http://schemas.microsoft.com/office/drawing/2014/main" id="{F065ACB2-5B84-7653-A70F-31FDED949E96}"/>
              </a:ext>
            </a:extLst>
          </p:cNvPr>
          <p:cNvSpPr>
            <a:spLocks noGrp="1"/>
          </p:cNvSpPr>
          <p:nvPr>
            <p:ph idx="1"/>
          </p:nvPr>
        </p:nvSpPr>
        <p:spPr>
          <a:xfrm>
            <a:off x="1588168" y="2133599"/>
            <a:ext cx="9916444" cy="4443663"/>
          </a:xfrm>
        </p:spPr>
        <p:txBody>
          <a:bodyPr>
            <a:normAutofit fontScale="70000" lnSpcReduction="20000"/>
          </a:bodyPr>
          <a:lstStyle/>
          <a:p>
            <a:r>
              <a:rPr lang="tr-TR" dirty="0"/>
              <a:t>Örgütsel davranış, iç ve dış faktörlerden etkilenir.</a:t>
            </a:r>
          </a:p>
          <a:p>
            <a:r>
              <a:rPr lang="tr-TR" b="1" dirty="0"/>
              <a:t>1. Bireysel Faktörler</a:t>
            </a:r>
          </a:p>
          <a:p>
            <a:r>
              <a:rPr lang="tr-TR" dirty="0"/>
              <a:t>✔ Kişilik özellikleri</a:t>
            </a:r>
            <a:br>
              <a:rPr lang="tr-TR" dirty="0"/>
            </a:br>
            <a:r>
              <a:rPr lang="tr-TR" dirty="0"/>
              <a:t>✔ Değerler ve inançlar</a:t>
            </a:r>
            <a:br>
              <a:rPr lang="tr-TR" dirty="0"/>
            </a:br>
            <a:r>
              <a:rPr lang="tr-TR" dirty="0"/>
              <a:t>✔ Motivasyon seviyesi</a:t>
            </a:r>
            <a:br>
              <a:rPr lang="tr-TR" dirty="0"/>
            </a:br>
            <a:r>
              <a:rPr lang="tr-TR" dirty="0"/>
              <a:t>✔ Algılar ve beklentiler</a:t>
            </a:r>
          </a:p>
          <a:p>
            <a:r>
              <a:rPr lang="tr-TR" b="1" dirty="0"/>
              <a:t>2. Grup Faktörleri</a:t>
            </a:r>
          </a:p>
          <a:p>
            <a:r>
              <a:rPr lang="tr-TR" dirty="0"/>
              <a:t>✔ Grup dinamikleri ve normları</a:t>
            </a:r>
            <a:br>
              <a:rPr lang="tr-TR" dirty="0"/>
            </a:br>
            <a:r>
              <a:rPr lang="tr-TR" dirty="0"/>
              <a:t>✔ Liderlik tarzı</a:t>
            </a:r>
            <a:br>
              <a:rPr lang="tr-TR" dirty="0"/>
            </a:br>
            <a:r>
              <a:rPr lang="tr-TR" dirty="0"/>
              <a:t>✔ Grup içi iletişim</a:t>
            </a:r>
            <a:br>
              <a:rPr lang="tr-TR" dirty="0"/>
            </a:br>
            <a:r>
              <a:rPr lang="tr-TR" dirty="0"/>
              <a:t>✔ Çatışma yönetimi</a:t>
            </a:r>
          </a:p>
          <a:p>
            <a:r>
              <a:rPr lang="tr-TR" b="1" dirty="0"/>
              <a:t>3. Örgütsel Faktörler</a:t>
            </a:r>
          </a:p>
          <a:p>
            <a:r>
              <a:rPr lang="tr-TR" dirty="0"/>
              <a:t>✔ Organizasyon yapısı</a:t>
            </a:r>
            <a:br>
              <a:rPr lang="tr-TR" dirty="0"/>
            </a:br>
            <a:r>
              <a:rPr lang="tr-TR" dirty="0"/>
              <a:t>✔ Kültürel değerler</a:t>
            </a:r>
            <a:br>
              <a:rPr lang="tr-TR" dirty="0"/>
            </a:br>
            <a:r>
              <a:rPr lang="tr-TR" dirty="0"/>
              <a:t>✔ Çalışma ortamı ve koşulları</a:t>
            </a:r>
            <a:br>
              <a:rPr lang="tr-TR" dirty="0"/>
            </a:br>
            <a:r>
              <a:rPr lang="tr-TR" dirty="0"/>
              <a:t>✔ Ödül sistemleri</a:t>
            </a:r>
          </a:p>
          <a:p>
            <a:r>
              <a:rPr lang="tr-TR" b="1" dirty="0"/>
              <a:t>4. Çevresel Faktörler</a:t>
            </a:r>
          </a:p>
          <a:p>
            <a:r>
              <a:rPr lang="tr-TR" dirty="0"/>
              <a:t>✔ Ekonomik değişkenler</a:t>
            </a:r>
            <a:br>
              <a:rPr lang="tr-TR" dirty="0"/>
            </a:br>
            <a:r>
              <a:rPr lang="tr-TR" dirty="0"/>
              <a:t>✔ Teknolojik gelişmeler</a:t>
            </a:r>
            <a:br>
              <a:rPr lang="tr-TR" dirty="0"/>
            </a:br>
            <a:r>
              <a:rPr lang="tr-TR" dirty="0"/>
              <a:t>✔ Toplumsal ve kültürel etkiler</a:t>
            </a:r>
            <a:br>
              <a:rPr lang="tr-TR" dirty="0"/>
            </a:br>
            <a:r>
              <a:rPr lang="tr-TR" dirty="0"/>
              <a:t>✔ Hukuki ve politik düzenlemeler</a:t>
            </a:r>
          </a:p>
          <a:p>
            <a:endParaRPr lang="tr-TR" dirty="0"/>
          </a:p>
        </p:txBody>
      </p:sp>
    </p:spTree>
    <p:extLst>
      <p:ext uri="{BB962C8B-B14F-4D97-AF65-F5344CB8AC3E}">
        <p14:creationId xmlns:p14="http://schemas.microsoft.com/office/powerpoint/2010/main" val="1071886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467F93-5000-7473-E400-E8717C07A9A2}"/>
              </a:ext>
            </a:extLst>
          </p:cNvPr>
          <p:cNvSpPr>
            <a:spLocks noGrp="1"/>
          </p:cNvSpPr>
          <p:nvPr>
            <p:ph type="title"/>
          </p:nvPr>
        </p:nvSpPr>
        <p:spPr/>
        <p:txBody>
          <a:bodyPr/>
          <a:lstStyle/>
          <a:p>
            <a:r>
              <a:rPr lang="tr-TR" b="1" dirty="0"/>
              <a:t>Örgütsel Davranışın Önemi</a:t>
            </a:r>
            <a:br>
              <a:rPr lang="tr-TR" b="1" dirty="0"/>
            </a:br>
            <a:endParaRPr lang="tr-TR" dirty="0"/>
          </a:p>
        </p:txBody>
      </p:sp>
      <p:sp>
        <p:nvSpPr>
          <p:cNvPr id="3" name="İçerik Yer Tutucusu 2">
            <a:extLst>
              <a:ext uri="{FF2B5EF4-FFF2-40B4-BE49-F238E27FC236}">
                <a16:creationId xmlns:a16="http://schemas.microsoft.com/office/drawing/2014/main" id="{2E798567-955C-78A9-C825-07B0C328304F}"/>
              </a:ext>
            </a:extLst>
          </p:cNvPr>
          <p:cNvSpPr>
            <a:spLocks noGrp="1"/>
          </p:cNvSpPr>
          <p:nvPr>
            <p:ph idx="1"/>
          </p:nvPr>
        </p:nvSpPr>
        <p:spPr/>
        <p:txBody>
          <a:bodyPr/>
          <a:lstStyle/>
          <a:p>
            <a:r>
              <a:rPr lang="tr-TR" dirty="0"/>
              <a:t>✅ </a:t>
            </a:r>
            <a:r>
              <a:rPr lang="tr-TR" b="1" dirty="0"/>
              <a:t>Çalışan Verimliliğini Artırır:</a:t>
            </a:r>
            <a:r>
              <a:rPr lang="tr-TR" dirty="0"/>
              <a:t> Motive olmuş çalışanlar daha üretkendir.</a:t>
            </a:r>
            <a:br>
              <a:rPr lang="tr-TR" dirty="0"/>
            </a:br>
            <a:r>
              <a:rPr lang="tr-TR" dirty="0"/>
              <a:t>✅ </a:t>
            </a:r>
            <a:r>
              <a:rPr lang="tr-TR" b="1" dirty="0"/>
              <a:t>İş Tatminini ve Bağlılığı Güçlendirir:</a:t>
            </a:r>
            <a:r>
              <a:rPr lang="tr-TR" dirty="0"/>
              <a:t> Çalışan memnuniyeti, örgüt başarısını artırır.</a:t>
            </a:r>
            <a:br>
              <a:rPr lang="tr-TR" dirty="0"/>
            </a:br>
            <a:r>
              <a:rPr lang="tr-TR" dirty="0"/>
              <a:t>✅ </a:t>
            </a:r>
            <a:r>
              <a:rPr lang="tr-TR" b="1" dirty="0"/>
              <a:t>Çatışmaları Yönetmeyi Sağlar:</a:t>
            </a:r>
            <a:r>
              <a:rPr lang="tr-TR" dirty="0"/>
              <a:t> Etkili yönetim, örgüt içi uyumu güçlendirir.</a:t>
            </a:r>
            <a:br>
              <a:rPr lang="tr-TR" dirty="0"/>
            </a:br>
            <a:r>
              <a:rPr lang="tr-TR" dirty="0"/>
              <a:t>✅ </a:t>
            </a:r>
            <a:r>
              <a:rPr lang="tr-TR" b="1" dirty="0" err="1"/>
              <a:t>İnovasyonu</a:t>
            </a:r>
            <a:r>
              <a:rPr lang="tr-TR" b="1" dirty="0"/>
              <a:t> ve Değişimi Teşvik Eder:</a:t>
            </a:r>
            <a:r>
              <a:rPr lang="tr-TR" dirty="0"/>
              <a:t> Değişime uyum sağlayan örgütler daha başarılı olur.</a:t>
            </a:r>
            <a:br>
              <a:rPr lang="tr-TR" dirty="0"/>
            </a:br>
            <a:r>
              <a:rPr lang="tr-TR" dirty="0"/>
              <a:t>✅ </a:t>
            </a:r>
            <a:r>
              <a:rPr lang="tr-TR" b="1" dirty="0"/>
              <a:t>Etkili Liderlik ve İletişimi Destekler:</a:t>
            </a:r>
            <a:r>
              <a:rPr lang="tr-TR" dirty="0"/>
              <a:t> İyi bir yönetim, örgütsel başarıyı artırır.</a:t>
            </a:r>
          </a:p>
          <a:p>
            <a:endParaRPr lang="tr-TR" dirty="0"/>
          </a:p>
        </p:txBody>
      </p:sp>
    </p:spTree>
    <p:extLst>
      <p:ext uri="{BB962C8B-B14F-4D97-AF65-F5344CB8AC3E}">
        <p14:creationId xmlns:p14="http://schemas.microsoft.com/office/powerpoint/2010/main" val="3170949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1F9B1E-5CAC-4341-AA11-AD47A16CCE9D}"/>
              </a:ext>
            </a:extLst>
          </p:cNvPr>
          <p:cNvSpPr>
            <a:spLocks noGrp="1"/>
          </p:cNvSpPr>
          <p:nvPr>
            <p:ph type="title"/>
          </p:nvPr>
        </p:nvSpPr>
        <p:spPr>
          <a:xfrm>
            <a:off x="1179576" y="2401189"/>
            <a:ext cx="10515600" cy="1325563"/>
          </a:xfrm>
        </p:spPr>
        <p:txBody>
          <a:bodyPr>
            <a:noAutofit/>
          </a:bodyPr>
          <a:lstStyle/>
          <a:p>
            <a:pPr algn="ctr"/>
            <a:r>
              <a:rPr lang="tr-TR" sz="5400" dirty="0"/>
              <a:t>TEŞEKKÜRLER</a:t>
            </a:r>
            <a:br>
              <a:rPr lang="tr-TR" sz="5400" dirty="0"/>
            </a:br>
            <a:br>
              <a:rPr lang="tr-TR" sz="5400" dirty="0"/>
            </a:br>
            <a:endParaRPr lang="tr-TR" sz="5400" dirty="0"/>
          </a:p>
        </p:txBody>
      </p:sp>
    </p:spTree>
    <p:extLst>
      <p:ext uri="{BB962C8B-B14F-4D97-AF65-F5344CB8AC3E}">
        <p14:creationId xmlns:p14="http://schemas.microsoft.com/office/powerpoint/2010/main" val="2357930366"/>
      </p:ext>
    </p:extLst>
  </p:cSld>
  <p:clrMapOvr>
    <a:masterClrMapping/>
  </p:clrMapOvr>
</p:sld>
</file>

<file path=ppt/theme/theme1.xml><?xml version="1.0" encoding="utf-8"?>
<a:theme xmlns:a="http://schemas.openxmlformats.org/drawingml/2006/main" name="Duman">
  <a:themeElements>
    <a:clrScheme name="Duma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786</TotalTime>
  <Words>2201</Words>
  <Application>Microsoft Macintosh PowerPoint</Application>
  <PresentationFormat>Geniş ekran</PresentationFormat>
  <Paragraphs>190</Paragraphs>
  <Slides>33</Slides>
  <Notes>33</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33</vt:i4>
      </vt:variant>
    </vt:vector>
  </HeadingPairs>
  <TitlesOfParts>
    <vt:vector size="41" baseType="lpstr">
      <vt:lpstr>Aptos</vt:lpstr>
      <vt:lpstr>Arial</vt:lpstr>
      <vt:lpstr>Century Gothic</vt:lpstr>
      <vt:lpstr>Inter</vt:lpstr>
      <vt:lpstr>Palatino Linotype</vt:lpstr>
      <vt:lpstr>Söhne</vt:lpstr>
      <vt:lpstr>Wingdings 3</vt:lpstr>
      <vt:lpstr>Duman</vt:lpstr>
      <vt:lpstr>İŞLETME BİLİMİNE GİRİŞ</vt:lpstr>
      <vt:lpstr>İŞLETMELERDE YÖNETİM-1</vt:lpstr>
      <vt:lpstr>YÖNETİM</vt:lpstr>
      <vt:lpstr>YÖNETİM</vt:lpstr>
      <vt:lpstr>YÖNETİM FONKSİYONLARI: YÖNETİCİLERİN KULLANDIKLARI FAALİYETLER</vt:lpstr>
      <vt:lpstr>YÖNETİM GRUPLARI</vt:lpstr>
      <vt:lpstr>YÖNETİCİ</vt:lpstr>
      <vt:lpstr>YÖNETİCİ</vt:lpstr>
      <vt:lpstr>YÖNETİCİ VE LİDER AYRIMI</vt:lpstr>
      <vt:lpstr>LİDERLİK SÜRECİ</vt:lpstr>
      <vt:lpstr>YÖNETİCİLER VE LİDERLER</vt:lpstr>
      <vt:lpstr>PowerPoint Sunusu</vt:lpstr>
      <vt:lpstr>YÖNETİCİLERDE ETKİNLİĞİ YÜKSELTECEK YETENEKLER</vt:lpstr>
      <vt:lpstr>YÖNETİCİLERİN GÖREVLERİ</vt:lpstr>
      <vt:lpstr>YÖNETİCİLERİN BİREYLER ARASI ROLLERİ</vt:lpstr>
      <vt:lpstr>YÖNETİM DÜZEYLERİ</vt:lpstr>
      <vt:lpstr>FONKSİYONEL VE GENEL YÖNETİCİLER</vt:lpstr>
      <vt:lpstr>2000Lİ YILLARDA YÖNETİM</vt:lpstr>
      <vt:lpstr>2000Lİ YILLARDA YÖNETİM</vt:lpstr>
      <vt:lpstr>2000Lİ YILLARDA YÖNETİM</vt:lpstr>
      <vt:lpstr>2000Lİ YILLARDA YÖNETİM</vt:lpstr>
      <vt:lpstr>2000Lİ YILLARDA YÖNETİM</vt:lpstr>
      <vt:lpstr>2000Lİ YILLARDA YÖNETİM</vt:lpstr>
      <vt:lpstr>2020li yıllarda yönetim</vt:lpstr>
      <vt:lpstr>2020li yıllarda yönetim</vt:lpstr>
      <vt:lpstr>ÖRGÜT</vt:lpstr>
      <vt:lpstr>ÖRGÜT</vt:lpstr>
      <vt:lpstr>ÖRGÜT ÇEŞITLERI NEDIR?</vt:lpstr>
      <vt:lpstr>ÖRGÜTLERE DUYULAN GEREKSİNİMLERİN TEMEL NEDENLERİ</vt:lpstr>
      <vt:lpstr>DAVRANIŞ</vt:lpstr>
      <vt:lpstr>Örgütsel Davranışı Etkileyen Faktörler </vt:lpstr>
      <vt:lpstr>Örgütsel Davranışın Önemi </vt:lpstr>
      <vt:lpstr>TEŞEKKÜRLER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GİRİŞ</dc:title>
  <dc:creator>Office</dc:creator>
  <cp:lastModifiedBy>Fatih Çallı</cp:lastModifiedBy>
  <cp:revision>4</cp:revision>
  <dcterms:created xsi:type="dcterms:W3CDTF">2025-03-17T07:47:03Z</dcterms:created>
  <dcterms:modified xsi:type="dcterms:W3CDTF">2025-03-18T09:07:09Z</dcterms:modified>
</cp:coreProperties>
</file>