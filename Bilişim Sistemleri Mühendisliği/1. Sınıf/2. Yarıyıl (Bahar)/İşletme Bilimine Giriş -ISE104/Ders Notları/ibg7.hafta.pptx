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80037" autoAdjust="0"/>
  </p:normalViewPr>
  <p:slideViewPr>
    <p:cSldViewPr snapToGrid="0">
      <p:cViewPr varScale="1">
        <p:scale>
          <a:sx n="73" d="100"/>
          <a:sy n="73" d="100"/>
        </p:scale>
        <p:origin x="147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CF4A79B-CA42-4D07-A192-080DA8507AF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78BA7A8-49FB-4F70-B0F7-FB2217CA7F69}">
      <dgm:prSet/>
      <dgm:spPr/>
      <dgm:t>
        <a:bodyPr/>
        <a:lstStyle/>
        <a:p>
          <a:r>
            <a:rPr lang="tr-TR" b="1"/>
            <a:t>Verimlilik</a:t>
          </a:r>
          <a:r>
            <a:rPr lang="tr-TR"/>
            <a:t>: Genellikle birim girdi başına üretilen çıktı olarak ölçülmektedir. Verimliliğin bu tanımı mühendislikteki teknik verim kavramından farklıdır. İşletmelerde bu tanım aynı zamanda üretkenlik için de kullanılır. </a:t>
          </a:r>
          <a:endParaRPr lang="en-US"/>
        </a:p>
      </dgm:t>
    </dgm:pt>
    <dgm:pt modelId="{529DF86F-ADEF-4F3B-801B-5E35B60FCF22}" type="parTrans" cxnId="{89258B09-30E4-4E67-973D-4A158DB52716}">
      <dgm:prSet/>
      <dgm:spPr/>
      <dgm:t>
        <a:bodyPr/>
        <a:lstStyle/>
        <a:p>
          <a:endParaRPr lang="en-US"/>
        </a:p>
      </dgm:t>
    </dgm:pt>
    <dgm:pt modelId="{F2EF8F5A-B3DE-4843-AF50-3C29D01615BB}" type="sibTrans" cxnId="{89258B09-30E4-4E67-973D-4A158DB52716}">
      <dgm:prSet/>
      <dgm:spPr/>
      <dgm:t>
        <a:bodyPr/>
        <a:lstStyle/>
        <a:p>
          <a:endParaRPr lang="en-US"/>
        </a:p>
      </dgm:t>
    </dgm:pt>
    <dgm:pt modelId="{5A740D3D-B2BD-425B-BEC6-A151269C5125}">
      <dgm:prSet/>
      <dgm:spPr/>
      <dgm:t>
        <a:bodyPr/>
        <a:lstStyle/>
        <a:p>
          <a:r>
            <a:rPr lang="tr-TR" b="1"/>
            <a:t>Etkinlik</a:t>
          </a:r>
          <a:r>
            <a:rPr lang="tr-TR"/>
            <a:t>: Üretim siste minin amaçlarını gerçekleştirme derecesi olarak tanımlanır ve performans ile eş anlamda kullanılır. Buna göre; verimlilik bir şeyi doğru yapmak ise etkinlik doğru şeyi yapmak olarak tanımlanabilir. Verimlilik üretim kaynaklarının ne kadar iyi kullanıldığını ölçerken etkinlik amaçların ne ölçüde gerçekleştiğini belirler. Bir üretim sisteminin verimli ama az etkin olması olasıdır. Ancak genelde verimli sistemlerin aynı zamanda etkin olmaları beklenir. </a:t>
          </a:r>
          <a:endParaRPr lang="en-US"/>
        </a:p>
      </dgm:t>
    </dgm:pt>
    <dgm:pt modelId="{6E989B21-71DE-4159-9E6C-FA523EBD751B}" type="parTrans" cxnId="{AA5790DA-3DF4-4AAB-B854-A605198F9663}">
      <dgm:prSet/>
      <dgm:spPr/>
      <dgm:t>
        <a:bodyPr/>
        <a:lstStyle/>
        <a:p>
          <a:endParaRPr lang="en-US"/>
        </a:p>
      </dgm:t>
    </dgm:pt>
    <dgm:pt modelId="{929CDCC7-B338-4610-8A38-0DC0007E78B5}" type="sibTrans" cxnId="{AA5790DA-3DF4-4AAB-B854-A605198F9663}">
      <dgm:prSet/>
      <dgm:spPr/>
      <dgm:t>
        <a:bodyPr/>
        <a:lstStyle/>
        <a:p>
          <a:endParaRPr lang="en-US"/>
        </a:p>
      </dgm:t>
    </dgm:pt>
    <dgm:pt modelId="{8655556F-011C-4AAF-9244-BEC083824B4C}">
      <dgm:prSet/>
      <dgm:spPr/>
      <dgm:t>
        <a:bodyPr/>
        <a:lstStyle/>
        <a:p>
          <a:r>
            <a:rPr lang="tr-TR" b="1"/>
            <a:t>Kapasite</a:t>
          </a:r>
          <a:r>
            <a:rPr lang="tr-TR"/>
            <a:t>: Üretim sisteminin gerçekleştirebileceği üretim düzeyini ölçer. Yüzde olarak ya da birim zamanda üretilebilecek miktar cinsinden ifade edilir. Değişik ölçütlere göre tanımlanan maksimum, gerçek ve etkin kapasite ölçütleri bulun maktadır. Bir fabrikaya alınan yeni teçhizatlar kapasiteyi arttırabilir. Ancak yatırım ve işletme maliyetleri yüksekse işletme verimliliği azalır. Buradan da anlaşıldığı gibi verimlilik ve kapasite farklı ölçütlerdir. </a:t>
          </a:r>
          <a:endParaRPr lang="en-US"/>
        </a:p>
      </dgm:t>
    </dgm:pt>
    <dgm:pt modelId="{6FA9AEF4-498C-4047-88EA-621F36CDA7D8}" type="parTrans" cxnId="{5FA5580C-DDA4-48AB-85A5-32B62CB0CD04}">
      <dgm:prSet/>
      <dgm:spPr/>
      <dgm:t>
        <a:bodyPr/>
        <a:lstStyle/>
        <a:p>
          <a:endParaRPr lang="en-US"/>
        </a:p>
      </dgm:t>
    </dgm:pt>
    <dgm:pt modelId="{E2BB88AD-DB81-413D-9385-B7D6135AF205}" type="sibTrans" cxnId="{5FA5580C-DDA4-48AB-85A5-32B62CB0CD04}">
      <dgm:prSet/>
      <dgm:spPr/>
      <dgm:t>
        <a:bodyPr/>
        <a:lstStyle/>
        <a:p>
          <a:endParaRPr lang="en-US"/>
        </a:p>
      </dgm:t>
    </dgm:pt>
    <dgm:pt modelId="{2EA90EB5-0EE8-429A-B18D-AF0C4593048F}">
      <dgm:prSet/>
      <dgm:spPr/>
      <dgm:t>
        <a:bodyPr/>
        <a:lstStyle/>
        <a:p>
          <a:r>
            <a:rPr lang="tr-TR" b="1"/>
            <a:t>Esneklik</a:t>
          </a:r>
          <a:r>
            <a:rPr lang="tr-TR"/>
            <a:t>: Bir üretim sisteminin beklenmedik talep değişikliklerine yanıt vere bilmesi ya da yeni ürün üretimine kolaylıkla geçebilmesi olarak tanımlanır. Günümüzde önem kazanan esneklik etmeninin belli bir ölçüsü bulunmamaktadır.</a:t>
          </a:r>
          <a:endParaRPr lang="en-US"/>
        </a:p>
      </dgm:t>
    </dgm:pt>
    <dgm:pt modelId="{4420BB1E-7977-4E8E-BD66-30ED0D0F21F8}" type="parTrans" cxnId="{4598C33D-5ED1-4B0C-A872-A06D26C1F511}">
      <dgm:prSet/>
      <dgm:spPr/>
      <dgm:t>
        <a:bodyPr/>
        <a:lstStyle/>
        <a:p>
          <a:endParaRPr lang="en-US"/>
        </a:p>
      </dgm:t>
    </dgm:pt>
    <dgm:pt modelId="{4355EA84-7540-485E-B0E0-45CD54530FD3}" type="sibTrans" cxnId="{4598C33D-5ED1-4B0C-A872-A06D26C1F511}">
      <dgm:prSet/>
      <dgm:spPr/>
      <dgm:t>
        <a:bodyPr/>
        <a:lstStyle/>
        <a:p>
          <a:endParaRPr lang="en-US"/>
        </a:p>
      </dgm:t>
    </dgm:pt>
    <dgm:pt modelId="{4C7C3BAA-5C11-42AB-AF28-066B77D9872B}" type="pres">
      <dgm:prSet presAssocID="{1CF4A79B-CA42-4D07-A192-080DA8507AFA}" presName="root" presStyleCnt="0">
        <dgm:presLayoutVars>
          <dgm:dir/>
          <dgm:resizeHandles val="exact"/>
        </dgm:presLayoutVars>
      </dgm:prSet>
      <dgm:spPr/>
    </dgm:pt>
    <dgm:pt modelId="{F9B702DF-4965-4925-B8DB-181DADC9EFEA}" type="pres">
      <dgm:prSet presAssocID="{178BA7A8-49FB-4F70-B0F7-FB2217CA7F69}" presName="compNode" presStyleCnt="0"/>
      <dgm:spPr/>
    </dgm:pt>
    <dgm:pt modelId="{25CEB8C0-69FD-439C-9F6E-A05C00FDE7C1}" type="pres">
      <dgm:prSet presAssocID="{178BA7A8-49FB-4F70-B0F7-FB2217CA7F69}" presName="bgRect" presStyleLbl="bgShp" presStyleIdx="0" presStyleCnt="4"/>
      <dgm:spPr/>
    </dgm:pt>
    <dgm:pt modelId="{DD0B2D41-40E8-4CE9-9C14-12C2315C2AB9}" type="pres">
      <dgm:prSet presAssocID="{178BA7A8-49FB-4F70-B0F7-FB2217CA7F6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şliler"/>
        </a:ext>
      </dgm:extLst>
    </dgm:pt>
    <dgm:pt modelId="{E2380DB9-0874-4EB6-88B8-4B1DC41CE111}" type="pres">
      <dgm:prSet presAssocID="{178BA7A8-49FB-4F70-B0F7-FB2217CA7F69}" presName="spaceRect" presStyleCnt="0"/>
      <dgm:spPr/>
    </dgm:pt>
    <dgm:pt modelId="{C6ACC8CE-B221-4FF4-9E66-3E7247599E09}" type="pres">
      <dgm:prSet presAssocID="{178BA7A8-49FB-4F70-B0F7-FB2217CA7F69}" presName="parTx" presStyleLbl="revTx" presStyleIdx="0" presStyleCnt="4">
        <dgm:presLayoutVars>
          <dgm:chMax val="0"/>
          <dgm:chPref val="0"/>
        </dgm:presLayoutVars>
      </dgm:prSet>
      <dgm:spPr/>
    </dgm:pt>
    <dgm:pt modelId="{2C350547-84FB-44BA-BEF9-C7BB30F45763}" type="pres">
      <dgm:prSet presAssocID="{F2EF8F5A-B3DE-4843-AF50-3C29D01615BB}" presName="sibTrans" presStyleCnt="0"/>
      <dgm:spPr/>
    </dgm:pt>
    <dgm:pt modelId="{C97BB441-C6D9-4C4D-B7C2-5DA020DADC21}" type="pres">
      <dgm:prSet presAssocID="{5A740D3D-B2BD-425B-BEC6-A151269C5125}" presName="compNode" presStyleCnt="0"/>
      <dgm:spPr/>
    </dgm:pt>
    <dgm:pt modelId="{C69F8CC7-CCCB-45B0-8862-B0CA66E829A6}" type="pres">
      <dgm:prSet presAssocID="{5A740D3D-B2BD-425B-BEC6-A151269C5125}" presName="bgRect" presStyleLbl="bgShp" presStyleIdx="1" presStyleCnt="4"/>
      <dgm:spPr/>
    </dgm:pt>
    <dgm:pt modelId="{DD0B3B3B-2D26-4582-9BFC-2FD2B5CC9662}" type="pres">
      <dgm:prSet presAssocID="{5A740D3D-B2BD-425B-BEC6-A151269C512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7D3BAE84-ED9E-464E-86A7-E6C390D18FF3}" type="pres">
      <dgm:prSet presAssocID="{5A740D3D-B2BD-425B-BEC6-A151269C5125}" presName="spaceRect" presStyleCnt="0"/>
      <dgm:spPr/>
    </dgm:pt>
    <dgm:pt modelId="{C99A7E01-FBF0-4EA2-A054-E946283EDB95}" type="pres">
      <dgm:prSet presAssocID="{5A740D3D-B2BD-425B-BEC6-A151269C5125}" presName="parTx" presStyleLbl="revTx" presStyleIdx="1" presStyleCnt="4">
        <dgm:presLayoutVars>
          <dgm:chMax val="0"/>
          <dgm:chPref val="0"/>
        </dgm:presLayoutVars>
      </dgm:prSet>
      <dgm:spPr/>
    </dgm:pt>
    <dgm:pt modelId="{DE19B600-D1FE-4317-8D77-05858C8C0C38}" type="pres">
      <dgm:prSet presAssocID="{929CDCC7-B338-4610-8A38-0DC0007E78B5}" presName="sibTrans" presStyleCnt="0"/>
      <dgm:spPr/>
    </dgm:pt>
    <dgm:pt modelId="{2C0D19C3-F799-4D22-92E8-51B560514744}" type="pres">
      <dgm:prSet presAssocID="{8655556F-011C-4AAF-9244-BEC083824B4C}" presName="compNode" presStyleCnt="0"/>
      <dgm:spPr/>
    </dgm:pt>
    <dgm:pt modelId="{4539CF1C-4C75-415D-883E-7F1A796CC8A9}" type="pres">
      <dgm:prSet presAssocID="{8655556F-011C-4AAF-9244-BEC083824B4C}" presName="bgRect" presStyleLbl="bgShp" presStyleIdx="2" presStyleCnt="4"/>
      <dgm:spPr/>
    </dgm:pt>
    <dgm:pt modelId="{625BBF53-ED44-4AD5-8640-424AC879F214}" type="pres">
      <dgm:prSet presAssocID="{8655556F-011C-4AAF-9244-BEC083824B4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nay işareti"/>
        </a:ext>
      </dgm:extLst>
    </dgm:pt>
    <dgm:pt modelId="{A3A00247-C5C6-4857-A92E-B41B97F60201}" type="pres">
      <dgm:prSet presAssocID="{8655556F-011C-4AAF-9244-BEC083824B4C}" presName="spaceRect" presStyleCnt="0"/>
      <dgm:spPr/>
    </dgm:pt>
    <dgm:pt modelId="{C5D62E7E-7C8E-4CB1-918B-30339E469ADC}" type="pres">
      <dgm:prSet presAssocID="{8655556F-011C-4AAF-9244-BEC083824B4C}" presName="parTx" presStyleLbl="revTx" presStyleIdx="2" presStyleCnt="4">
        <dgm:presLayoutVars>
          <dgm:chMax val="0"/>
          <dgm:chPref val="0"/>
        </dgm:presLayoutVars>
      </dgm:prSet>
      <dgm:spPr/>
    </dgm:pt>
    <dgm:pt modelId="{5400F459-8DF4-4D02-B44A-E8D2FDFA9C5B}" type="pres">
      <dgm:prSet presAssocID="{E2BB88AD-DB81-413D-9385-B7D6135AF205}" presName="sibTrans" presStyleCnt="0"/>
      <dgm:spPr/>
    </dgm:pt>
    <dgm:pt modelId="{17E5749E-B746-406A-B725-6D8BCA57B622}" type="pres">
      <dgm:prSet presAssocID="{2EA90EB5-0EE8-429A-B18D-AF0C4593048F}" presName="compNode" presStyleCnt="0"/>
      <dgm:spPr/>
    </dgm:pt>
    <dgm:pt modelId="{2EF151B8-7366-44FF-8BC6-0512661C4F77}" type="pres">
      <dgm:prSet presAssocID="{2EA90EB5-0EE8-429A-B18D-AF0C4593048F}" presName="bgRect" presStyleLbl="bgShp" presStyleIdx="3" presStyleCnt="4"/>
      <dgm:spPr/>
    </dgm:pt>
    <dgm:pt modelId="{29BED233-08EE-47DE-9FDE-63478FA0BA3D}" type="pres">
      <dgm:prSet presAssocID="{2EA90EB5-0EE8-429A-B18D-AF0C4593048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Kullanıcı"/>
        </a:ext>
      </dgm:extLst>
    </dgm:pt>
    <dgm:pt modelId="{1912C929-4F7F-428F-9BFA-26C1D905BBAD}" type="pres">
      <dgm:prSet presAssocID="{2EA90EB5-0EE8-429A-B18D-AF0C4593048F}" presName="spaceRect" presStyleCnt="0"/>
      <dgm:spPr/>
    </dgm:pt>
    <dgm:pt modelId="{0F49303C-A806-4A26-AFF2-02C4AAD42FC0}" type="pres">
      <dgm:prSet presAssocID="{2EA90EB5-0EE8-429A-B18D-AF0C4593048F}" presName="parTx" presStyleLbl="revTx" presStyleIdx="3" presStyleCnt="4">
        <dgm:presLayoutVars>
          <dgm:chMax val="0"/>
          <dgm:chPref val="0"/>
        </dgm:presLayoutVars>
      </dgm:prSet>
      <dgm:spPr/>
    </dgm:pt>
  </dgm:ptLst>
  <dgm:cxnLst>
    <dgm:cxn modelId="{89258B09-30E4-4E67-973D-4A158DB52716}" srcId="{1CF4A79B-CA42-4D07-A192-080DA8507AFA}" destId="{178BA7A8-49FB-4F70-B0F7-FB2217CA7F69}" srcOrd="0" destOrd="0" parTransId="{529DF86F-ADEF-4F3B-801B-5E35B60FCF22}" sibTransId="{F2EF8F5A-B3DE-4843-AF50-3C29D01615BB}"/>
    <dgm:cxn modelId="{5FA5580C-DDA4-48AB-85A5-32B62CB0CD04}" srcId="{1CF4A79B-CA42-4D07-A192-080DA8507AFA}" destId="{8655556F-011C-4AAF-9244-BEC083824B4C}" srcOrd="2" destOrd="0" parTransId="{6FA9AEF4-498C-4047-88EA-621F36CDA7D8}" sibTransId="{E2BB88AD-DB81-413D-9385-B7D6135AF205}"/>
    <dgm:cxn modelId="{E5C0191E-DA7E-40D2-978C-9656831999B5}" type="presOf" srcId="{1CF4A79B-CA42-4D07-A192-080DA8507AFA}" destId="{4C7C3BAA-5C11-42AB-AF28-066B77D9872B}" srcOrd="0" destOrd="0" presId="urn:microsoft.com/office/officeart/2018/2/layout/IconVerticalSolidList"/>
    <dgm:cxn modelId="{EB8F6931-9B29-41C8-9DDA-4B14079B14B0}" type="presOf" srcId="{178BA7A8-49FB-4F70-B0F7-FB2217CA7F69}" destId="{C6ACC8CE-B221-4FF4-9E66-3E7247599E09}" srcOrd="0" destOrd="0" presId="urn:microsoft.com/office/officeart/2018/2/layout/IconVerticalSolidList"/>
    <dgm:cxn modelId="{4598C33D-5ED1-4B0C-A872-A06D26C1F511}" srcId="{1CF4A79B-CA42-4D07-A192-080DA8507AFA}" destId="{2EA90EB5-0EE8-429A-B18D-AF0C4593048F}" srcOrd="3" destOrd="0" parTransId="{4420BB1E-7977-4E8E-BD66-30ED0D0F21F8}" sibTransId="{4355EA84-7540-485E-B0E0-45CD54530FD3}"/>
    <dgm:cxn modelId="{5C367B45-7272-45F3-A53E-08E763EFA4BA}" type="presOf" srcId="{5A740D3D-B2BD-425B-BEC6-A151269C5125}" destId="{C99A7E01-FBF0-4EA2-A054-E946283EDB95}" srcOrd="0" destOrd="0" presId="urn:microsoft.com/office/officeart/2018/2/layout/IconVerticalSolidList"/>
    <dgm:cxn modelId="{24AE1374-3A8C-401D-AD4B-B32B4499A270}" type="presOf" srcId="{8655556F-011C-4AAF-9244-BEC083824B4C}" destId="{C5D62E7E-7C8E-4CB1-918B-30339E469ADC}" srcOrd="0" destOrd="0" presId="urn:microsoft.com/office/officeart/2018/2/layout/IconVerticalSolidList"/>
    <dgm:cxn modelId="{AA5790DA-3DF4-4AAB-B854-A605198F9663}" srcId="{1CF4A79B-CA42-4D07-A192-080DA8507AFA}" destId="{5A740D3D-B2BD-425B-BEC6-A151269C5125}" srcOrd="1" destOrd="0" parTransId="{6E989B21-71DE-4159-9E6C-FA523EBD751B}" sibTransId="{929CDCC7-B338-4610-8A38-0DC0007E78B5}"/>
    <dgm:cxn modelId="{558876F0-54F2-479A-A7B4-77D016E26BF5}" type="presOf" srcId="{2EA90EB5-0EE8-429A-B18D-AF0C4593048F}" destId="{0F49303C-A806-4A26-AFF2-02C4AAD42FC0}" srcOrd="0" destOrd="0" presId="urn:microsoft.com/office/officeart/2018/2/layout/IconVerticalSolidList"/>
    <dgm:cxn modelId="{A0D21C15-01A1-44E4-B336-B0B6C3C459BB}" type="presParOf" srcId="{4C7C3BAA-5C11-42AB-AF28-066B77D9872B}" destId="{F9B702DF-4965-4925-B8DB-181DADC9EFEA}" srcOrd="0" destOrd="0" presId="urn:microsoft.com/office/officeart/2018/2/layout/IconVerticalSolidList"/>
    <dgm:cxn modelId="{A5B03694-CD8F-4672-9C07-BB9AD03F17AE}" type="presParOf" srcId="{F9B702DF-4965-4925-B8DB-181DADC9EFEA}" destId="{25CEB8C0-69FD-439C-9F6E-A05C00FDE7C1}" srcOrd="0" destOrd="0" presId="urn:microsoft.com/office/officeart/2018/2/layout/IconVerticalSolidList"/>
    <dgm:cxn modelId="{5983A476-9687-4431-8955-3846EE1F4B94}" type="presParOf" srcId="{F9B702DF-4965-4925-B8DB-181DADC9EFEA}" destId="{DD0B2D41-40E8-4CE9-9C14-12C2315C2AB9}" srcOrd="1" destOrd="0" presId="urn:microsoft.com/office/officeart/2018/2/layout/IconVerticalSolidList"/>
    <dgm:cxn modelId="{BD526C3A-52A1-4936-B188-56D76327FC7D}" type="presParOf" srcId="{F9B702DF-4965-4925-B8DB-181DADC9EFEA}" destId="{E2380DB9-0874-4EB6-88B8-4B1DC41CE111}" srcOrd="2" destOrd="0" presId="urn:microsoft.com/office/officeart/2018/2/layout/IconVerticalSolidList"/>
    <dgm:cxn modelId="{A9C4FFA3-8B34-44A7-A473-77F17AE56A1C}" type="presParOf" srcId="{F9B702DF-4965-4925-B8DB-181DADC9EFEA}" destId="{C6ACC8CE-B221-4FF4-9E66-3E7247599E09}" srcOrd="3" destOrd="0" presId="urn:microsoft.com/office/officeart/2018/2/layout/IconVerticalSolidList"/>
    <dgm:cxn modelId="{C60EED76-6934-4340-BA0E-AA550088F585}" type="presParOf" srcId="{4C7C3BAA-5C11-42AB-AF28-066B77D9872B}" destId="{2C350547-84FB-44BA-BEF9-C7BB30F45763}" srcOrd="1" destOrd="0" presId="urn:microsoft.com/office/officeart/2018/2/layout/IconVerticalSolidList"/>
    <dgm:cxn modelId="{A567E604-28C1-4D9B-82CF-BFF36CCAA1A1}" type="presParOf" srcId="{4C7C3BAA-5C11-42AB-AF28-066B77D9872B}" destId="{C97BB441-C6D9-4C4D-B7C2-5DA020DADC21}" srcOrd="2" destOrd="0" presId="urn:microsoft.com/office/officeart/2018/2/layout/IconVerticalSolidList"/>
    <dgm:cxn modelId="{78EE956B-A923-41DF-AB63-D480D6452BC0}" type="presParOf" srcId="{C97BB441-C6D9-4C4D-B7C2-5DA020DADC21}" destId="{C69F8CC7-CCCB-45B0-8862-B0CA66E829A6}" srcOrd="0" destOrd="0" presId="urn:microsoft.com/office/officeart/2018/2/layout/IconVerticalSolidList"/>
    <dgm:cxn modelId="{80EFD138-9674-406F-A380-A724293B5B48}" type="presParOf" srcId="{C97BB441-C6D9-4C4D-B7C2-5DA020DADC21}" destId="{DD0B3B3B-2D26-4582-9BFC-2FD2B5CC9662}" srcOrd="1" destOrd="0" presId="urn:microsoft.com/office/officeart/2018/2/layout/IconVerticalSolidList"/>
    <dgm:cxn modelId="{8D52EB6A-221D-41DC-91B5-4BE7F54B47D3}" type="presParOf" srcId="{C97BB441-C6D9-4C4D-B7C2-5DA020DADC21}" destId="{7D3BAE84-ED9E-464E-86A7-E6C390D18FF3}" srcOrd="2" destOrd="0" presId="urn:microsoft.com/office/officeart/2018/2/layout/IconVerticalSolidList"/>
    <dgm:cxn modelId="{E81D4FC4-BBC6-43E8-98FE-11FF6761A462}" type="presParOf" srcId="{C97BB441-C6D9-4C4D-B7C2-5DA020DADC21}" destId="{C99A7E01-FBF0-4EA2-A054-E946283EDB95}" srcOrd="3" destOrd="0" presId="urn:microsoft.com/office/officeart/2018/2/layout/IconVerticalSolidList"/>
    <dgm:cxn modelId="{39289D4F-FEC1-4D12-9CB3-8B93F20ECF81}" type="presParOf" srcId="{4C7C3BAA-5C11-42AB-AF28-066B77D9872B}" destId="{DE19B600-D1FE-4317-8D77-05858C8C0C38}" srcOrd="3" destOrd="0" presId="urn:microsoft.com/office/officeart/2018/2/layout/IconVerticalSolidList"/>
    <dgm:cxn modelId="{52971EAA-FEC5-49E8-BFC8-D6740E09D86A}" type="presParOf" srcId="{4C7C3BAA-5C11-42AB-AF28-066B77D9872B}" destId="{2C0D19C3-F799-4D22-92E8-51B560514744}" srcOrd="4" destOrd="0" presId="urn:microsoft.com/office/officeart/2018/2/layout/IconVerticalSolidList"/>
    <dgm:cxn modelId="{BE602939-88CF-4076-9542-90BC50FF6921}" type="presParOf" srcId="{2C0D19C3-F799-4D22-92E8-51B560514744}" destId="{4539CF1C-4C75-415D-883E-7F1A796CC8A9}" srcOrd="0" destOrd="0" presId="urn:microsoft.com/office/officeart/2018/2/layout/IconVerticalSolidList"/>
    <dgm:cxn modelId="{BB0DB238-FB8D-44D3-9E81-7D8C07CF28E4}" type="presParOf" srcId="{2C0D19C3-F799-4D22-92E8-51B560514744}" destId="{625BBF53-ED44-4AD5-8640-424AC879F214}" srcOrd="1" destOrd="0" presId="urn:microsoft.com/office/officeart/2018/2/layout/IconVerticalSolidList"/>
    <dgm:cxn modelId="{44B5028A-A9AF-4178-9223-2380FC31C8D3}" type="presParOf" srcId="{2C0D19C3-F799-4D22-92E8-51B560514744}" destId="{A3A00247-C5C6-4857-A92E-B41B97F60201}" srcOrd="2" destOrd="0" presId="urn:microsoft.com/office/officeart/2018/2/layout/IconVerticalSolidList"/>
    <dgm:cxn modelId="{62FD08E9-7F60-497F-82EE-BA6A94BFA522}" type="presParOf" srcId="{2C0D19C3-F799-4D22-92E8-51B560514744}" destId="{C5D62E7E-7C8E-4CB1-918B-30339E469ADC}" srcOrd="3" destOrd="0" presId="urn:microsoft.com/office/officeart/2018/2/layout/IconVerticalSolidList"/>
    <dgm:cxn modelId="{E0847014-7CA6-48C6-BE79-D43F1ACD6045}" type="presParOf" srcId="{4C7C3BAA-5C11-42AB-AF28-066B77D9872B}" destId="{5400F459-8DF4-4D02-B44A-E8D2FDFA9C5B}" srcOrd="5" destOrd="0" presId="urn:microsoft.com/office/officeart/2018/2/layout/IconVerticalSolidList"/>
    <dgm:cxn modelId="{D868436C-6BCB-4AE1-9901-BAF796864692}" type="presParOf" srcId="{4C7C3BAA-5C11-42AB-AF28-066B77D9872B}" destId="{17E5749E-B746-406A-B725-6D8BCA57B622}" srcOrd="6" destOrd="0" presId="urn:microsoft.com/office/officeart/2018/2/layout/IconVerticalSolidList"/>
    <dgm:cxn modelId="{9DD4552C-7816-4DE2-8C76-63558C7E67F7}" type="presParOf" srcId="{17E5749E-B746-406A-B725-6D8BCA57B622}" destId="{2EF151B8-7366-44FF-8BC6-0512661C4F77}" srcOrd="0" destOrd="0" presId="urn:microsoft.com/office/officeart/2018/2/layout/IconVerticalSolidList"/>
    <dgm:cxn modelId="{21C2306E-9DA3-4F47-B9E7-E8832C00F8B9}" type="presParOf" srcId="{17E5749E-B746-406A-B725-6D8BCA57B622}" destId="{29BED233-08EE-47DE-9FDE-63478FA0BA3D}" srcOrd="1" destOrd="0" presId="urn:microsoft.com/office/officeart/2018/2/layout/IconVerticalSolidList"/>
    <dgm:cxn modelId="{AD2B7E0E-A55D-4890-9A8E-360F231C9F8A}" type="presParOf" srcId="{17E5749E-B746-406A-B725-6D8BCA57B622}" destId="{1912C929-4F7F-428F-9BFA-26C1D905BBAD}" srcOrd="2" destOrd="0" presId="urn:microsoft.com/office/officeart/2018/2/layout/IconVerticalSolidList"/>
    <dgm:cxn modelId="{9B5231A3-564C-4F25-BA0F-C3F4071E23E5}" type="presParOf" srcId="{17E5749E-B746-406A-B725-6D8BCA57B622}" destId="{0F49303C-A806-4A26-AFF2-02C4AAD42FC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CEB8C0-69FD-439C-9F6E-A05C00FDE7C1}">
      <dsp:nvSpPr>
        <dsp:cNvPr id="0" name=""/>
        <dsp:cNvSpPr/>
      </dsp:nvSpPr>
      <dsp:spPr>
        <a:xfrm>
          <a:off x="0" y="3934"/>
          <a:ext cx="10515600" cy="83722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0B2D41-40E8-4CE9-9C14-12C2315C2AB9}">
      <dsp:nvSpPr>
        <dsp:cNvPr id="0" name=""/>
        <dsp:cNvSpPr/>
      </dsp:nvSpPr>
      <dsp:spPr>
        <a:xfrm>
          <a:off x="253261" y="192310"/>
          <a:ext cx="460924" cy="4604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ACC8CE-B221-4FF4-9E66-3E7247599E09}">
      <dsp:nvSpPr>
        <dsp:cNvPr id="0" name=""/>
        <dsp:cNvSpPr/>
      </dsp:nvSpPr>
      <dsp:spPr>
        <a:xfrm>
          <a:off x="967447" y="3934"/>
          <a:ext cx="9504446" cy="915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13" tIns="96913" rIns="96913" bIns="96913" numCol="1" spcCol="1270" anchor="ctr" anchorCtr="0">
          <a:noAutofit/>
        </a:bodyPr>
        <a:lstStyle/>
        <a:p>
          <a:pPr marL="0" lvl="0" indent="0" algn="l" defTabSz="622300">
            <a:lnSpc>
              <a:spcPct val="90000"/>
            </a:lnSpc>
            <a:spcBef>
              <a:spcPct val="0"/>
            </a:spcBef>
            <a:spcAft>
              <a:spcPct val="35000"/>
            </a:spcAft>
            <a:buNone/>
          </a:pPr>
          <a:r>
            <a:rPr lang="tr-TR" sz="1400" b="1" kern="1200"/>
            <a:t>Verimlilik</a:t>
          </a:r>
          <a:r>
            <a:rPr lang="tr-TR" sz="1400" kern="1200"/>
            <a:t>: Genellikle birim girdi başına üretilen çıktı olarak ölçülmektedir. Verimliliğin bu tanımı mühendislikteki teknik verim kavramından farklıdır. İşletmelerde bu tanım aynı zamanda üretkenlik için de kullanılır. </a:t>
          </a:r>
          <a:endParaRPr lang="en-US" sz="1400" kern="1200"/>
        </a:p>
      </dsp:txBody>
      <dsp:txXfrm>
        <a:off x="967447" y="3934"/>
        <a:ext cx="9504446" cy="915716"/>
      </dsp:txXfrm>
    </dsp:sp>
    <dsp:sp modelId="{C69F8CC7-CCCB-45B0-8862-B0CA66E829A6}">
      <dsp:nvSpPr>
        <dsp:cNvPr id="0" name=""/>
        <dsp:cNvSpPr/>
      </dsp:nvSpPr>
      <dsp:spPr>
        <a:xfrm>
          <a:off x="0" y="1148580"/>
          <a:ext cx="10515600" cy="83722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0B3B3B-2D26-4582-9BFC-2FD2B5CC9662}">
      <dsp:nvSpPr>
        <dsp:cNvPr id="0" name=""/>
        <dsp:cNvSpPr/>
      </dsp:nvSpPr>
      <dsp:spPr>
        <a:xfrm>
          <a:off x="253261" y="1336956"/>
          <a:ext cx="460924" cy="4604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9A7E01-FBF0-4EA2-A054-E946283EDB95}">
      <dsp:nvSpPr>
        <dsp:cNvPr id="0" name=""/>
        <dsp:cNvSpPr/>
      </dsp:nvSpPr>
      <dsp:spPr>
        <a:xfrm>
          <a:off x="967447" y="1148580"/>
          <a:ext cx="9504446" cy="915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13" tIns="96913" rIns="96913" bIns="96913" numCol="1" spcCol="1270" anchor="ctr" anchorCtr="0">
          <a:noAutofit/>
        </a:bodyPr>
        <a:lstStyle/>
        <a:p>
          <a:pPr marL="0" lvl="0" indent="0" algn="l" defTabSz="622300">
            <a:lnSpc>
              <a:spcPct val="90000"/>
            </a:lnSpc>
            <a:spcBef>
              <a:spcPct val="0"/>
            </a:spcBef>
            <a:spcAft>
              <a:spcPct val="35000"/>
            </a:spcAft>
            <a:buNone/>
          </a:pPr>
          <a:r>
            <a:rPr lang="tr-TR" sz="1400" b="1" kern="1200"/>
            <a:t>Etkinlik</a:t>
          </a:r>
          <a:r>
            <a:rPr lang="tr-TR" sz="1400" kern="1200"/>
            <a:t>: Üretim siste minin amaçlarını gerçekleştirme derecesi olarak tanımlanır ve performans ile eş anlamda kullanılır. Buna göre; verimlilik bir şeyi doğru yapmak ise etkinlik doğru şeyi yapmak olarak tanımlanabilir. Verimlilik üretim kaynaklarının ne kadar iyi kullanıldığını ölçerken etkinlik amaçların ne ölçüde gerçekleştiğini belirler. Bir üretim sisteminin verimli ama az etkin olması olasıdır. Ancak genelde verimli sistemlerin aynı zamanda etkin olmaları beklenir. </a:t>
          </a:r>
          <a:endParaRPr lang="en-US" sz="1400" kern="1200"/>
        </a:p>
      </dsp:txBody>
      <dsp:txXfrm>
        <a:off x="967447" y="1148580"/>
        <a:ext cx="9504446" cy="915716"/>
      </dsp:txXfrm>
    </dsp:sp>
    <dsp:sp modelId="{4539CF1C-4C75-415D-883E-7F1A796CC8A9}">
      <dsp:nvSpPr>
        <dsp:cNvPr id="0" name=""/>
        <dsp:cNvSpPr/>
      </dsp:nvSpPr>
      <dsp:spPr>
        <a:xfrm>
          <a:off x="0" y="2293226"/>
          <a:ext cx="10515600" cy="83722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5BBF53-ED44-4AD5-8640-424AC879F214}">
      <dsp:nvSpPr>
        <dsp:cNvPr id="0" name=""/>
        <dsp:cNvSpPr/>
      </dsp:nvSpPr>
      <dsp:spPr>
        <a:xfrm>
          <a:off x="253261" y="2481602"/>
          <a:ext cx="460924" cy="4604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D62E7E-7C8E-4CB1-918B-30339E469ADC}">
      <dsp:nvSpPr>
        <dsp:cNvPr id="0" name=""/>
        <dsp:cNvSpPr/>
      </dsp:nvSpPr>
      <dsp:spPr>
        <a:xfrm>
          <a:off x="967447" y="2293226"/>
          <a:ext cx="9504446" cy="915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13" tIns="96913" rIns="96913" bIns="96913" numCol="1" spcCol="1270" anchor="ctr" anchorCtr="0">
          <a:noAutofit/>
        </a:bodyPr>
        <a:lstStyle/>
        <a:p>
          <a:pPr marL="0" lvl="0" indent="0" algn="l" defTabSz="622300">
            <a:lnSpc>
              <a:spcPct val="90000"/>
            </a:lnSpc>
            <a:spcBef>
              <a:spcPct val="0"/>
            </a:spcBef>
            <a:spcAft>
              <a:spcPct val="35000"/>
            </a:spcAft>
            <a:buNone/>
          </a:pPr>
          <a:r>
            <a:rPr lang="tr-TR" sz="1400" b="1" kern="1200"/>
            <a:t>Kapasite</a:t>
          </a:r>
          <a:r>
            <a:rPr lang="tr-TR" sz="1400" kern="1200"/>
            <a:t>: Üretim sisteminin gerçekleştirebileceği üretim düzeyini ölçer. Yüzde olarak ya da birim zamanda üretilebilecek miktar cinsinden ifade edilir. Değişik ölçütlere göre tanımlanan maksimum, gerçek ve etkin kapasite ölçütleri bulun maktadır. Bir fabrikaya alınan yeni teçhizatlar kapasiteyi arttırabilir. Ancak yatırım ve işletme maliyetleri yüksekse işletme verimliliği azalır. Buradan da anlaşıldığı gibi verimlilik ve kapasite farklı ölçütlerdir. </a:t>
          </a:r>
          <a:endParaRPr lang="en-US" sz="1400" kern="1200"/>
        </a:p>
      </dsp:txBody>
      <dsp:txXfrm>
        <a:off x="967447" y="2293226"/>
        <a:ext cx="9504446" cy="915716"/>
      </dsp:txXfrm>
    </dsp:sp>
    <dsp:sp modelId="{2EF151B8-7366-44FF-8BC6-0512661C4F77}">
      <dsp:nvSpPr>
        <dsp:cNvPr id="0" name=""/>
        <dsp:cNvSpPr/>
      </dsp:nvSpPr>
      <dsp:spPr>
        <a:xfrm>
          <a:off x="0" y="3437872"/>
          <a:ext cx="10515600" cy="83722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BED233-08EE-47DE-9FDE-63478FA0BA3D}">
      <dsp:nvSpPr>
        <dsp:cNvPr id="0" name=""/>
        <dsp:cNvSpPr/>
      </dsp:nvSpPr>
      <dsp:spPr>
        <a:xfrm>
          <a:off x="253261" y="3626248"/>
          <a:ext cx="460924" cy="46047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49303C-A806-4A26-AFF2-02C4AAD42FC0}">
      <dsp:nvSpPr>
        <dsp:cNvPr id="0" name=""/>
        <dsp:cNvSpPr/>
      </dsp:nvSpPr>
      <dsp:spPr>
        <a:xfrm>
          <a:off x="967447" y="3437872"/>
          <a:ext cx="9504446" cy="915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913" tIns="96913" rIns="96913" bIns="96913" numCol="1" spcCol="1270" anchor="ctr" anchorCtr="0">
          <a:noAutofit/>
        </a:bodyPr>
        <a:lstStyle/>
        <a:p>
          <a:pPr marL="0" lvl="0" indent="0" algn="l" defTabSz="622300">
            <a:lnSpc>
              <a:spcPct val="90000"/>
            </a:lnSpc>
            <a:spcBef>
              <a:spcPct val="0"/>
            </a:spcBef>
            <a:spcAft>
              <a:spcPct val="35000"/>
            </a:spcAft>
            <a:buNone/>
          </a:pPr>
          <a:r>
            <a:rPr lang="tr-TR" sz="1400" b="1" kern="1200"/>
            <a:t>Esneklik</a:t>
          </a:r>
          <a:r>
            <a:rPr lang="tr-TR" sz="1400" kern="1200"/>
            <a:t>: Bir üretim sisteminin beklenmedik talep değişikliklerine yanıt vere bilmesi ya da yeni ürün üretimine kolaylıkla geçebilmesi olarak tanımlanır. Günümüzde önem kazanan esneklik etmeninin belli bir ölçüsü bulunmamaktadır.</a:t>
          </a:r>
          <a:endParaRPr lang="en-US" sz="1400" kern="1200"/>
        </a:p>
      </dsp:txBody>
      <dsp:txXfrm>
        <a:off x="967447" y="3437872"/>
        <a:ext cx="9504446" cy="91571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F28C9D-7A14-41F0-BD1A-625B69C31770}" type="datetimeFigureOut">
              <a:rPr lang="tr-TR" smtClean="0"/>
              <a:t>7.04.2025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0147AA-E8AF-42EC-B873-AB8CFA47E74F}" type="slidenum">
              <a:rPr lang="tr-TR" smtClean="0"/>
              <a:t>‹#›</a:t>
            </a:fld>
            <a:endParaRPr lang="tr-TR"/>
          </a:p>
        </p:txBody>
      </p:sp>
    </p:spTree>
    <p:extLst>
      <p:ext uri="{BB962C8B-B14F-4D97-AF65-F5344CB8AC3E}">
        <p14:creationId xmlns:p14="http://schemas.microsoft.com/office/powerpoint/2010/main" val="4242909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Üretim, değişik grup ve kesimler açısın dan farklı şekillerde algılanmaktadır. Örneğin, mühendislerin bakış açısıyla üretim olgusu; “hammaddelerin teknoloji kullanılarak çeşitli süreçlerden geçirilmesi yoluyla son ürün hâline dönüştürül mesi” olarak tanımlanmaktadır. Bu anlamda üretim, teknolojik bir dönüştürme sürecidir. Ancak üretim bu kadar yalın bir biçimde gerçekleşmemektedir. Tek nolojik işlemlerin yanında, çeşitli aşamalarda işgücüne de ihtiyaç duyulmaktadır. Bu olgu, işletmeleri sosyoteknik bir sisteme dönüştürmektedir. Bunun yanı sıra, hammadde ve malzemelerin teknik olarak son ürüne dönüştürülmesi için çeşitli araç, gereç, makine, fiziksel donanım ve ola naklara ihtiyaç vardır. İhtiyaç duyulan bu elemanlar genel olarak sermayeyi oluşturmakta ve bir dizi işlemden sonra üre timin gerçekleştirilmesine katkıda bulunmaktadırlar.</a:t>
            </a:r>
          </a:p>
        </p:txBody>
      </p:sp>
      <p:sp>
        <p:nvSpPr>
          <p:cNvPr id="4" name="Slayt Numarası Yer Tutucusu 3"/>
          <p:cNvSpPr>
            <a:spLocks noGrp="1"/>
          </p:cNvSpPr>
          <p:nvPr>
            <p:ph type="sldNum" sz="quarter" idx="5"/>
          </p:nvPr>
        </p:nvSpPr>
        <p:spPr/>
        <p:txBody>
          <a:bodyPr/>
          <a:lstStyle/>
          <a:p>
            <a:fld id="{630147AA-E8AF-42EC-B873-AB8CFA47E74F}" type="slidenum">
              <a:rPr lang="tr-TR" smtClean="0"/>
              <a:t>2</a:t>
            </a:fld>
            <a:endParaRPr lang="tr-TR"/>
          </a:p>
        </p:txBody>
      </p:sp>
    </p:spTree>
    <p:extLst>
      <p:ext uri="{BB962C8B-B14F-4D97-AF65-F5344CB8AC3E}">
        <p14:creationId xmlns:p14="http://schemas.microsoft.com/office/powerpoint/2010/main" val="638158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90C79-FAB8-FD8E-D81C-D48C5BE1580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0DA4E3E-E8D6-D7BC-F56A-B6CB922C4CE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136E83B7-11C8-0A01-6466-EDAFD5A0ADC0}"/>
              </a:ext>
            </a:extLst>
          </p:cNvPr>
          <p:cNvSpPr>
            <a:spLocks noGrp="1"/>
          </p:cNvSpPr>
          <p:nvPr>
            <p:ph type="body" idx="1"/>
          </p:nvPr>
        </p:nvSpPr>
        <p:spPr/>
        <p:txBody>
          <a:bodyPr/>
          <a:lstStyle/>
          <a:p>
            <a:r>
              <a:rPr lang="tr-TR"/>
              <a:t>Şekil 6.1.’de de görüldüğü gibi üretimde belirli girdiler, çeşitli işlemlerden ge çirilerek ürün ya da hizmet şeklinde çıktıya dönüştürülür. Bu tanıma göre üre tim sisteminin üç önemli elemanı bulunmaktadır. Bunlar; girdi, işlem ve çıktıdır. Üretim sistemini oluşturan ögeler göz önüne alındığında, girdilerin işgücü, mal zeme, enerji ve bilgi gibi unsurlar, çıktıla rın ise önceden elde edilmesi amaç lanmış ürün ya da hizmetler olduğu görül mektedir. Girdi ve çıktılar arasındaki dönüşüm ise teknoloji yardımı ile belirli yöntemler kullanılarak işlem birimle rinde gerçekleşir. Amaçlanan üretim, ürün yani makine, kıyafet, otomobil gibi elle tutulabilir somut çıktılar ise dönüşüm fabrikalarda; sağlık, taşıma, konak lama, eğlence gibi soyut çıktılar ise dönüşüm işlemi hastane, kamyon ya da otel gibi hizmet birimlerinde gerçekleştirilmek tedir. Bir üretim sisteminde sistemin geri besleme özelliği; çıktılar için önceden tanımlanan özellikler ile gerçekleşen özellikler arasındaki farklılığı gösteren, düzeltici kararların alınmasında kullanı labilecek bilgi akışıdır.</a:t>
            </a:r>
          </a:p>
        </p:txBody>
      </p:sp>
      <p:sp>
        <p:nvSpPr>
          <p:cNvPr id="4" name="Slayt Numarası Yer Tutucusu 3">
            <a:extLst>
              <a:ext uri="{FF2B5EF4-FFF2-40B4-BE49-F238E27FC236}">
                <a16:creationId xmlns:a16="http://schemas.microsoft.com/office/drawing/2014/main" id="{80461102-A891-ED85-9DA0-F72CD5F487BA}"/>
              </a:ext>
            </a:extLst>
          </p:cNvPr>
          <p:cNvSpPr>
            <a:spLocks noGrp="1"/>
          </p:cNvSpPr>
          <p:nvPr>
            <p:ph type="sldNum" sz="quarter" idx="5"/>
          </p:nvPr>
        </p:nvSpPr>
        <p:spPr/>
        <p:txBody>
          <a:bodyPr/>
          <a:lstStyle/>
          <a:p>
            <a:fld id="{630147AA-E8AF-42EC-B873-AB8CFA47E74F}" type="slidenum">
              <a:rPr lang="tr-TR" smtClean="0"/>
              <a:t>3</a:t>
            </a:fld>
            <a:endParaRPr lang="tr-TR"/>
          </a:p>
        </p:txBody>
      </p:sp>
    </p:spTree>
    <p:extLst>
      <p:ext uri="{BB962C8B-B14F-4D97-AF65-F5344CB8AC3E}">
        <p14:creationId xmlns:p14="http://schemas.microsoft.com/office/powerpoint/2010/main" val="31901075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28CED-0382-7106-B32B-ACD1946CCFD1}"/>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6D211FE-C90F-9FA2-9B67-F0AE72EB98E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54004FB8-1CE4-36B5-47AF-0AE66DDBF93A}"/>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EFF703D1-51E2-F408-7DD8-AA5F570EDA92}"/>
              </a:ext>
            </a:extLst>
          </p:cNvPr>
          <p:cNvSpPr>
            <a:spLocks noGrp="1"/>
          </p:cNvSpPr>
          <p:nvPr>
            <p:ph type="sldNum" sz="quarter" idx="5"/>
          </p:nvPr>
        </p:nvSpPr>
        <p:spPr/>
        <p:txBody>
          <a:bodyPr/>
          <a:lstStyle/>
          <a:p>
            <a:fld id="{630147AA-E8AF-42EC-B873-AB8CFA47E74F}" type="slidenum">
              <a:rPr lang="tr-TR" smtClean="0"/>
              <a:t>4</a:t>
            </a:fld>
            <a:endParaRPr lang="tr-TR"/>
          </a:p>
        </p:txBody>
      </p:sp>
    </p:spTree>
    <p:extLst>
      <p:ext uri="{BB962C8B-B14F-4D97-AF65-F5344CB8AC3E}">
        <p14:creationId xmlns:p14="http://schemas.microsoft.com/office/powerpoint/2010/main" val="669029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B523E-A9FA-2A8C-E5C8-463DD59A465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11DAF6B-05DC-3712-635E-B019868C886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30CBF79-F0E0-A507-0299-D2F4ABEC3387}"/>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AEA4DB16-1196-2123-2392-75C0C40CD68C}"/>
              </a:ext>
            </a:extLst>
          </p:cNvPr>
          <p:cNvSpPr>
            <a:spLocks noGrp="1"/>
          </p:cNvSpPr>
          <p:nvPr>
            <p:ph type="sldNum" sz="quarter" idx="5"/>
          </p:nvPr>
        </p:nvSpPr>
        <p:spPr/>
        <p:txBody>
          <a:bodyPr/>
          <a:lstStyle/>
          <a:p>
            <a:fld id="{630147AA-E8AF-42EC-B873-AB8CFA47E74F}" type="slidenum">
              <a:rPr lang="tr-TR" smtClean="0"/>
              <a:t>5</a:t>
            </a:fld>
            <a:endParaRPr lang="tr-TR"/>
          </a:p>
        </p:txBody>
      </p:sp>
    </p:spTree>
    <p:extLst>
      <p:ext uri="{BB962C8B-B14F-4D97-AF65-F5344CB8AC3E}">
        <p14:creationId xmlns:p14="http://schemas.microsoft.com/office/powerpoint/2010/main" val="3337660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Günümüzde el işçiliğine dayalı üretim sistemi gerileme göstermektedir. Bu üretim sisteminin en güçlü özelliği, üretim yönetimi nin son derece basit olması ve ortaya çıkması olası sorunların çözümünün kolay olmasıdır. Ayrıca, sistemin genellikle sipariş temeline dayalı olarak işlemesi, pa zarlama sorununu ortadan kaldırmakta ve sistemin talepte meydana gelebilecek değişikliklerden etkilenme olasılığı azalmaktadır.</a:t>
            </a:r>
          </a:p>
        </p:txBody>
      </p:sp>
      <p:sp>
        <p:nvSpPr>
          <p:cNvPr id="4" name="Slayt Numarası Yer Tutucusu 3"/>
          <p:cNvSpPr>
            <a:spLocks noGrp="1"/>
          </p:cNvSpPr>
          <p:nvPr>
            <p:ph type="sldNum" sz="quarter" idx="5"/>
          </p:nvPr>
        </p:nvSpPr>
        <p:spPr/>
        <p:txBody>
          <a:bodyPr/>
          <a:lstStyle/>
          <a:p>
            <a:fld id="{630147AA-E8AF-42EC-B873-AB8CFA47E74F}" type="slidenum">
              <a:rPr lang="tr-TR" smtClean="0"/>
              <a:t>7</a:t>
            </a:fld>
            <a:endParaRPr lang="tr-TR"/>
          </a:p>
        </p:txBody>
      </p:sp>
    </p:spTree>
    <p:extLst>
      <p:ext uri="{BB962C8B-B14F-4D97-AF65-F5344CB8AC3E}">
        <p14:creationId xmlns:p14="http://schemas.microsoft.com/office/powerpoint/2010/main" val="2710727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63200-9622-8C22-52F2-DB3D8A31E3A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A86D502-FE9C-19EC-7576-4C8F1504D22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74CB2381-5DFD-8F88-603A-06692C49E1C1}"/>
              </a:ext>
            </a:extLst>
          </p:cNvPr>
          <p:cNvSpPr>
            <a:spLocks noGrp="1"/>
          </p:cNvSpPr>
          <p:nvPr>
            <p:ph type="body" idx="1"/>
          </p:nvPr>
        </p:nvSpPr>
        <p:spPr/>
        <p:txBody>
          <a:bodyPr/>
          <a:lstStyle/>
          <a:p>
            <a:r>
              <a:rPr lang="tr-TR"/>
              <a:t>Gerek pazar istek ve ihtiyaçlarını karşılayabilme bakımın dan ve gerekse üretimi yaptırabilme bakımından birtakım sorunlar ortaya çıkabilir. Talebin süresinde karşılanması, üretimin hızlandırılması, aletlerin, makinaların iş çilere sağlanması, üretimin yönetiminde karşılaşılacak başlıca sorunlardandır.</a:t>
            </a:r>
          </a:p>
        </p:txBody>
      </p:sp>
      <p:sp>
        <p:nvSpPr>
          <p:cNvPr id="4" name="Slayt Numarası Yer Tutucusu 3">
            <a:extLst>
              <a:ext uri="{FF2B5EF4-FFF2-40B4-BE49-F238E27FC236}">
                <a16:creationId xmlns:a16="http://schemas.microsoft.com/office/drawing/2014/main" id="{A4D3CE2C-4A25-F936-9E9C-8A1E2CB93067}"/>
              </a:ext>
            </a:extLst>
          </p:cNvPr>
          <p:cNvSpPr>
            <a:spLocks noGrp="1"/>
          </p:cNvSpPr>
          <p:nvPr>
            <p:ph type="sldNum" sz="quarter" idx="5"/>
          </p:nvPr>
        </p:nvSpPr>
        <p:spPr/>
        <p:txBody>
          <a:bodyPr/>
          <a:lstStyle/>
          <a:p>
            <a:fld id="{630147AA-E8AF-42EC-B873-AB8CFA47E74F}" type="slidenum">
              <a:rPr lang="tr-TR" smtClean="0"/>
              <a:t>8</a:t>
            </a:fld>
            <a:endParaRPr lang="tr-TR"/>
          </a:p>
        </p:txBody>
      </p:sp>
    </p:spTree>
    <p:extLst>
      <p:ext uri="{BB962C8B-B14F-4D97-AF65-F5344CB8AC3E}">
        <p14:creationId xmlns:p14="http://schemas.microsoft.com/office/powerpoint/2010/main" val="974376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9D65B-FA42-60CB-2A02-D21D2FA3270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6F4DE403-ABEA-BCB7-EE73-1674F42F720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D6B40EE-E48B-9D4D-8342-3E34F89C1C63}"/>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74A89A45-35A7-CD06-FE51-3DF8FBBC45C7}"/>
              </a:ext>
            </a:extLst>
          </p:cNvPr>
          <p:cNvSpPr>
            <a:spLocks noGrp="1"/>
          </p:cNvSpPr>
          <p:nvPr>
            <p:ph type="sldNum" sz="quarter" idx="5"/>
          </p:nvPr>
        </p:nvSpPr>
        <p:spPr/>
        <p:txBody>
          <a:bodyPr/>
          <a:lstStyle/>
          <a:p>
            <a:fld id="{630147AA-E8AF-42EC-B873-AB8CFA47E74F}" type="slidenum">
              <a:rPr lang="tr-TR" smtClean="0"/>
              <a:t>9</a:t>
            </a:fld>
            <a:endParaRPr lang="tr-TR"/>
          </a:p>
        </p:txBody>
      </p:sp>
    </p:spTree>
    <p:extLst>
      <p:ext uri="{BB962C8B-B14F-4D97-AF65-F5344CB8AC3E}">
        <p14:creationId xmlns:p14="http://schemas.microsoft.com/office/powerpoint/2010/main" val="4780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05A6E-DA25-9435-FCD4-FACF10F84B17}"/>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A900336-C2C9-4E80-EE4F-E84DBE4E546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43810B1-78A8-1052-05DE-43E601ECEAEA}"/>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4369EA20-5236-546F-7602-EEFD0DE3FEC4}"/>
              </a:ext>
            </a:extLst>
          </p:cNvPr>
          <p:cNvSpPr>
            <a:spLocks noGrp="1"/>
          </p:cNvSpPr>
          <p:nvPr>
            <p:ph type="sldNum" sz="quarter" idx="5"/>
          </p:nvPr>
        </p:nvSpPr>
        <p:spPr/>
        <p:txBody>
          <a:bodyPr/>
          <a:lstStyle/>
          <a:p>
            <a:fld id="{630147AA-E8AF-42EC-B873-AB8CFA47E74F}" type="slidenum">
              <a:rPr lang="tr-TR" smtClean="0"/>
              <a:t>10</a:t>
            </a:fld>
            <a:endParaRPr lang="tr-TR"/>
          </a:p>
        </p:txBody>
      </p:sp>
    </p:spTree>
    <p:extLst>
      <p:ext uri="{BB962C8B-B14F-4D97-AF65-F5344CB8AC3E}">
        <p14:creationId xmlns:p14="http://schemas.microsoft.com/office/powerpoint/2010/main" val="158686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a:t>Ayrıca, iş akış hızının ortalama bir çalışanın çalışma temposundan daha düşük bir düzeyde belirlenmesi, merkezler arası iş uyumunun bozulmasına ve iş kazalarına yol açabilir. Bu nedenle, iş ve zaman etütleri yapıla rak çalışanların çalışma tempolarıyla işin akış hızının uyumlu olması sağlanmalı dır. Bu üretim biçiminde, hammaddelerin depolanma yeri ile son ürünün depo lanma yerinin doğru seçilmesi, makinelerin yerleşim düzeninin uygun olması ve malzeme akışının kesintisiz ve zamanında yapılması oldukça önemlidir.</a:t>
            </a:r>
          </a:p>
        </p:txBody>
      </p:sp>
      <p:sp>
        <p:nvSpPr>
          <p:cNvPr id="4" name="Slayt Numarası Yer Tutucusu 3"/>
          <p:cNvSpPr>
            <a:spLocks noGrp="1"/>
          </p:cNvSpPr>
          <p:nvPr>
            <p:ph type="sldNum" sz="quarter" idx="5"/>
          </p:nvPr>
        </p:nvSpPr>
        <p:spPr/>
        <p:txBody>
          <a:bodyPr/>
          <a:lstStyle/>
          <a:p>
            <a:fld id="{630147AA-E8AF-42EC-B873-AB8CFA47E74F}" type="slidenum">
              <a:rPr lang="tr-TR" smtClean="0"/>
              <a:t>17</a:t>
            </a:fld>
            <a:endParaRPr lang="tr-TR"/>
          </a:p>
        </p:txBody>
      </p:sp>
    </p:spTree>
    <p:extLst>
      <p:ext uri="{BB962C8B-B14F-4D97-AF65-F5344CB8AC3E}">
        <p14:creationId xmlns:p14="http://schemas.microsoft.com/office/powerpoint/2010/main" val="3882172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DEB67-4484-BCCC-67EE-4BCE9D622FD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37DF3DA-7F4F-1FC4-207F-C9985E498D3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75269DA-0ED6-0842-223B-601782D49541}"/>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976BD918-5E2C-7E99-27AD-01B9330CDE46}"/>
              </a:ext>
            </a:extLst>
          </p:cNvPr>
          <p:cNvSpPr>
            <a:spLocks noGrp="1"/>
          </p:cNvSpPr>
          <p:nvPr>
            <p:ph type="sldNum" sz="quarter" idx="5"/>
          </p:nvPr>
        </p:nvSpPr>
        <p:spPr/>
        <p:txBody>
          <a:bodyPr/>
          <a:lstStyle/>
          <a:p>
            <a:fld id="{630147AA-E8AF-42EC-B873-AB8CFA47E74F}" type="slidenum">
              <a:rPr lang="tr-TR" smtClean="0"/>
              <a:t>18</a:t>
            </a:fld>
            <a:endParaRPr lang="tr-TR"/>
          </a:p>
        </p:txBody>
      </p:sp>
    </p:spTree>
    <p:extLst>
      <p:ext uri="{BB962C8B-B14F-4D97-AF65-F5344CB8AC3E}">
        <p14:creationId xmlns:p14="http://schemas.microsoft.com/office/powerpoint/2010/main" val="118535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5FCDB-64B5-A592-3032-F762995C2CD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63DD30B2-D443-60F8-4AFF-C4C78A3642B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BAA8B6C7-F111-943A-7023-49F72CFE4A4F}"/>
              </a:ext>
            </a:extLst>
          </p:cNvPr>
          <p:cNvSpPr>
            <a:spLocks noGrp="1"/>
          </p:cNvSpPr>
          <p:nvPr>
            <p:ph type="body" idx="1"/>
          </p:nvPr>
        </p:nvSpPr>
        <p:spPr/>
        <p:txBody>
          <a:bodyPr/>
          <a:lstStyle/>
          <a:p>
            <a:r>
              <a:rPr lang="tr-TR"/>
              <a:t>Kitlesel (Yığın) Üretim: Kitlesel üretim, belirli bir ürünü büyük miktarlarda üretmek için yapılan bir üretim biçimidir. Kitlesel üretim biçiminde alıcı ile üre tici karşı karşıya gelmezler. Bu üretim biçiminde hem üretim büyük miktarlarda yapılır hem de ürünler birbirinin tamamen aynıdır. Kitlesel üretimin diğer bir özelliği, işin büyük bir kısmının üretime başlamadan önceki hazırlık aşamasın da tamamlanmış olmasıdır. Bu üretim biçiminde, hammaddelerin işletme içinde izleyeceği yolların hazırlanmış, uzaklıkların zamandan ve giderlerden kazanmak için elverişli bir şekilde kısaltılmış olması gerekmektedir. Kitlesel üretimde beğe nilerin değişmesi ve yeniliklerin ortaya çıkması durumunda ürünlerin özellik lerinde değişiklikler yapılabilir. Üretimi yapılacak yeni ürün, zaman ve niteliği önceden belirlenerek, uzun süre devam edecek üretimin planlanması yapılarak üretim çalışmalarına başlanır. Herhangi bir işletmenin kitlesel üretimde buluna bilmesi için pazarın yeterli büyüklüğe sahip olması gerekmektedir. Kitlesel üre tim yapan işletmeler, ileri düzeyde gelişmiş üretim teknolojisi ve üretim sistemleri kullanarak ürünler üretirler. Üretilen ürün miktarı çok olduğu için, parça başı sabit maliyet giderleri düşüktür. Akış Tipi Üretim: Akış ti pi üre tim de ma ki ne ve te sis ler yal nız ca tek bir ürün üre tecek biçimde tasarlanmıştır. Ürün, üretimde kullanılan süreçler, malzeme ve araç lar standartlaştırılmıştır. Akış tipi üretim biçiminin en önemli özelliklerinden biri de otomasyona dayalı, dolayısıyla sermayenin yoğun olmasıdır. Petrol rafinerileri, plastik, çimento, şeker, kâğıt üretimi bu üretim biçimine örnek olarak verilebilir. </a:t>
            </a:r>
          </a:p>
        </p:txBody>
      </p:sp>
      <p:sp>
        <p:nvSpPr>
          <p:cNvPr id="4" name="Slayt Numarası Yer Tutucusu 3">
            <a:extLst>
              <a:ext uri="{FF2B5EF4-FFF2-40B4-BE49-F238E27FC236}">
                <a16:creationId xmlns:a16="http://schemas.microsoft.com/office/drawing/2014/main" id="{928D6D86-0596-001D-05C2-423C4785FA33}"/>
              </a:ext>
            </a:extLst>
          </p:cNvPr>
          <p:cNvSpPr>
            <a:spLocks noGrp="1"/>
          </p:cNvSpPr>
          <p:nvPr>
            <p:ph type="sldNum" sz="quarter" idx="5"/>
          </p:nvPr>
        </p:nvSpPr>
        <p:spPr/>
        <p:txBody>
          <a:bodyPr/>
          <a:lstStyle/>
          <a:p>
            <a:fld id="{630147AA-E8AF-42EC-B873-AB8CFA47E74F}" type="slidenum">
              <a:rPr lang="tr-TR" smtClean="0"/>
              <a:t>19</a:t>
            </a:fld>
            <a:endParaRPr lang="tr-TR"/>
          </a:p>
        </p:txBody>
      </p:sp>
    </p:spTree>
    <p:extLst>
      <p:ext uri="{BB962C8B-B14F-4D97-AF65-F5344CB8AC3E}">
        <p14:creationId xmlns:p14="http://schemas.microsoft.com/office/powerpoint/2010/main" val="556815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E0489-85FB-C58E-74D2-CB5FD7554EE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A8AC71F-0680-D7FC-053F-EC71A32F0D7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21DA3AB-272B-027F-9663-274C9811A516}"/>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2A053388-41FE-FFD3-33A1-A84F0A2FC01F}"/>
              </a:ext>
            </a:extLst>
          </p:cNvPr>
          <p:cNvSpPr>
            <a:spLocks noGrp="1"/>
          </p:cNvSpPr>
          <p:nvPr>
            <p:ph type="sldNum" sz="quarter" idx="5"/>
          </p:nvPr>
        </p:nvSpPr>
        <p:spPr/>
        <p:txBody>
          <a:bodyPr/>
          <a:lstStyle/>
          <a:p>
            <a:fld id="{630147AA-E8AF-42EC-B873-AB8CFA47E74F}" type="slidenum">
              <a:rPr lang="tr-TR" smtClean="0"/>
              <a:t>20</a:t>
            </a:fld>
            <a:endParaRPr lang="tr-TR"/>
          </a:p>
        </p:txBody>
      </p:sp>
    </p:spTree>
    <p:extLst>
      <p:ext uri="{BB962C8B-B14F-4D97-AF65-F5344CB8AC3E}">
        <p14:creationId xmlns:p14="http://schemas.microsoft.com/office/powerpoint/2010/main" val="2629264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061D2-CF75-150E-C77B-3B16109A6A9F}"/>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93DA44E-BCC6-9C08-71B9-D48266C0AAA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3379A1D-A712-32E9-4F98-8D75C33DB0DD}"/>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3A00519B-2562-E41C-3262-9243DBFA255A}"/>
              </a:ext>
            </a:extLst>
          </p:cNvPr>
          <p:cNvSpPr>
            <a:spLocks noGrp="1"/>
          </p:cNvSpPr>
          <p:nvPr>
            <p:ph type="sldNum" sz="quarter" idx="5"/>
          </p:nvPr>
        </p:nvSpPr>
        <p:spPr/>
        <p:txBody>
          <a:bodyPr/>
          <a:lstStyle/>
          <a:p>
            <a:fld id="{630147AA-E8AF-42EC-B873-AB8CFA47E74F}" type="slidenum">
              <a:rPr lang="tr-TR" smtClean="0"/>
              <a:t>21</a:t>
            </a:fld>
            <a:endParaRPr lang="tr-TR"/>
          </a:p>
        </p:txBody>
      </p:sp>
    </p:spTree>
    <p:extLst>
      <p:ext uri="{BB962C8B-B14F-4D97-AF65-F5344CB8AC3E}">
        <p14:creationId xmlns:p14="http://schemas.microsoft.com/office/powerpoint/2010/main" val="3096534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264A6-4BDC-B070-83D7-401947F341E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E8C08DA3-41FD-CC12-277E-F09569215A8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8D98B54-79AB-0EF7-814F-F049D0C5982A}"/>
              </a:ext>
            </a:extLst>
          </p:cNvPr>
          <p:cNvSpPr>
            <a:spLocks noGrp="1"/>
          </p:cNvSpPr>
          <p:nvPr>
            <p:ph type="body" idx="1"/>
          </p:nvPr>
        </p:nvSpPr>
        <p:spPr/>
        <p:txBody>
          <a:bodyPr/>
          <a:lstStyle/>
          <a:p>
            <a:r>
              <a:rPr lang="tr-TR" dirty="0"/>
              <a:t>Bu üretim biçimi, sorunları gizleyen stokların oluşumunu engeller dolayısıyla stoklara yapılan yatırımı azaltır ve üretim çevrim zamanları da azaltılır. Tam zamanında üretim felsefesinden en büyük gider kaynağı olarak stoklar dikkate alınır. Ancak tedarikçilere olan güvensizlikten dolayı, üretici işletmelerin hammadde kaynaklı stok tutma eğiliminde oldukları görülmektedir. Günümüz süreç odaklı sistemlerinde ise tedarikçi ve alı </a:t>
            </a:r>
            <a:r>
              <a:rPr lang="tr-TR" dirty="0" err="1"/>
              <a:t>cı</a:t>
            </a:r>
            <a:r>
              <a:rPr lang="tr-TR" dirty="0"/>
              <a:t> işletmeler birbirlerini takip eden ardışık süreçler olarak düşünülmekte ve karşılıklı yarara dayalı tedarikçi ilişkileri dikkate alınmaktadır..</a:t>
            </a:r>
          </a:p>
        </p:txBody>
      </p:sp>
      <p:sp>
        <p:nvSpPr>
          <p:cNvPr id="4" name="Slayt Numarası Yer Tutucusu 3">
            <a:extLst>
              <a:ext uri="{FF2B5EF4-FFF2-40B4-BE49-F238E27FC236}">
                <a16:creationId xmlns:a16="http://schemas.microsoft.com/office/drawing/2014/main" id="{C12AF889-2DB6-4203-AE5E-D16E17B40828}"/>
              </a:ext>
            </a:extLst>
          </p:cNvPr>
          <p:cNvSpPr>
            <a:spLocks noGrp="1"/>
          </p:cNvSpPr>
          <p:nvPr>
            <p:ph type="sldNum" sz="quarter" idx="5"/>
          </p:nvPr>
        </p:nvSpPr>
        <p:spPr/>
        <p:txBody>
          <a:bodyPr/>
          <a:lstStyle/>
          <a:p>
            <a:fld id="{630147AA-E8AF-42EC-B873-AB8CFA47E74F}" type="slidenum">
              <a:rPr lang="tr-TR" smtClean="0"/>
              <a:t>22</a:t>
            </a:fld>
            <a:endParaRPr lang="tr-TR"/>
          </a:p>
        </p:txBody>
      </p:sp>
    </p:spTree>
    <p:extLst>
      <p:ext uri="{BB962C8B-B14F-4D97-AF65-F5344CB8AC3E}">
        <p14:creationId xmlns:p14="http://schemas.microsoft.com/office/powerpoint/2010/main" val="2735022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ED0B63-5E81-095A-0165-32850243F099}"/>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B36E1E11-DC62-A306-A199-A9BE29E952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52E7A9BF-79F7-73A1-9C06-B5FB327C0A76}"/>
              </a:ext>
            </a:extLst>
          </p:cNvPr>
          <p:cNvSpPr>
            <a:spLocks noGrp="1"/>
          </p:cNvSpPr>
          <p:nvPr>
            <p:ph type="dt" sz="half" idx="10"/>
          </p:nvPr>
        </p:nvSpPr>
        <p:spPr/>
        <p:txBody>
          <a:bodyPr/>
          <a:lstStyle/>
          <a:p>
            <a:fld id="{709C52BF-2009-4F13-A119-DD7040A953EF}" type="datetimeFigureOut">
              <a:rPr lang="tr-TR" smtClean="0"/>
              <a:t>7.04.2025</a:t>
            </a:fld>
            <a:endParaRPr lang="tr-TR"/>
          </a:p>
        </p:txBody>
      </p:sp>
      <p:sp>
        <p:nvSpPr>
          <p:cNvPr id="5" name="Alt Bilgi Yer Tutucusu 4">
            <a:extLst>
              <a:ext uri="{FF2B5EF4-FFF2-40B4-BE49-F238E27FC236}">
                <a16:creationId xmlns:a16="http://schemas.microsoft.com/office/drawing/2014/main" id="{8B0A40B7-FDD6-BCA9-087A-5FB48C06AB4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97542B3-4AC3-B305-7A84-EA86FCDE58F2}"/>
              </a:ext>
            </a:extLst>
          </p:cNvPr>
          <p:cNvSpPr>
            <a:spLocks noGrp="1"/>
          </p:cNvSpPr>
          <p:nvPr>
            <p:ph type="sldNum" sz="quarter" idx="12"/>
          </p:nvPr>
        </p:nvSpPr>
        <p:spPr/>
        <p:txBody>
          <a:bodyPr/>
          <a:lstStyle/>
          <a:p>
            <a:fld id="{1AC6A482-1E1F-47D9-96E0-C1BF61BEDF65}" type="slidenum">
              <a:rPr lang="tr-TR" smtClean="0"/>
              <a:t>‹#›</a:t>
            </a:fld>
            <a:endParaRPr lang="tr-TR"/>
          </a:p>
        </p:txBody>
      </p:sp>
    </p:spTree>
    <p:extLst>
      <p:ext uri="{BB962C8B-B14F-4D97-AF65-F5344CB8AC3E}">
        <p14:creationId xmlns:p14="http://schemas.microsoft.com/office/powerpoint/2010/main" val="105045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253BD6A-7215-C81C-3A4F-D4E6556E1AD0}"/>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7D396A34-474E-DEA8-709B-E864CFB2EA7B}"/>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C91FE03-C8A8-A503-DE2C-16AAD59FE114}"/>
              </a:ext>
            </a:extLst>
          </p:cNvPr>
          <p:cNvSpPr>
            <a:spLocks noGrp="1"/>
          </p:cNvSpPr>
          <p:nvPr>
            <p:ph type="dt" sz="half" idx="10"/>
          </p:nvPr>
        </p:nvSpPr>
        <p:spPr/>
        <p:txBody>
          <a:bodyPr/>
          <a:lstStyle/>
          <a:p>
            <a:fld id="{709C52BF-2009-4F13-A119-DD7040A953EF}" type="datetimeFigureOut">
              <a:rPr lang="tr-TR" smtClean="0"/>
              <a:t>7.04.2025</a:t>
            </a:fld>
            <a:endParaRPr lang="tr-TR"/>
          </a:p>
        </p:txBody>
      </p:sp>
      <p:sp>
        <p:nvSpPr>
          <p:cNvPr id="5" name="Alt Bilgi Yer Tutucusu 4">
            <a:extLst>
              <a:ext uri="{FF2B5EF4-FFF2-40B4-BE49-F238E27FC236}">
                <a16:creationId xmlns:a16="http://schemas.microsoft.com/office/drawing/2014/main" id="{5B0938E5-6754-6B76-307B-70E41277713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48B8ECA-FF03-ED6B-E5B0-768017457A75}"/>
              </a:ext>
            </a:extLst>
          </p:cNvPr>
          <p:cNvSpPr>
            <a:spLocks noGrp="1"/>
          </p:cNvSpPr>
          <p:nvPr>
            <p:ph type="sldNum" sz="quarter" idx="12"/>
          </p:nvPr>
        </p:nvSpPr>
        <p:spPr/>
        <p:txBody>
          <a:bodyPr/>
          <a:lstStyle/>
          <a:p>
            <a:fld id="{1AC6A482-1E1F-47D9-96E0-C1BF61BEDF65}" type="slidenum">
              <a:rPr lang="tr-TR" smtClean="0"/>
              <a:t>‹#›</a:t>
            </a:fld>
            <a:endParaRPr lang="tr-TR"/>
          </a:p>
        </p:txBody>
      </p:sp>
    </p:spTree>
    <p:extLst>
      <p:ext uri="{BB962C8B-B14F-4D97-AF65-F5344CB8AC3E}">
        <p14:creationId xmlns:p14="http://schemas.microsoft.com/office/powerpoint/2010/main" val="53361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8795901-FB30-C772-9491-17F5ADFF03AF}"/>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A5DE0370-EB94-B209-190D-AE9FDA3CEE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B528B2F2-D5FF-3D24-F274-3CAFD34E3128}"/>
              </a:ext>
            </a:extLst>
          </p:cNvPr>
          <p:cNvSpPr>
            <a:spLocks noGrp="1"/>
          </p:cNvSpPr>
          <p:nvPr>
            <p:ph type="dt" sz="half" idx="10"/>
          </p:nvPr>
        </p:nvSpPr>
        <p:spPr/>
        <p:txBody>
          <a:bodyPr/>
          <a:lstStyle/>
          <a:p>
            <a:fld id="{709C52BF-2009-4F13-A119-DD7040A953EF}" type="datetimeFigureOut">
              <a:rPr lang="tr-TR" smtClean="0"/>
              <a:t>7.04.2025</a:t>
            </a:fld>
            <a:endParaRPr lang="tr-TR"/>
          </a:p>
        </p:txBody>
      </p:sp>
      <p:sp>
        <p:nvSpPr>
          <p:cNvPr id="5" name="Alt Bilgi Yer Tutucusu 4">
            <a:extLst>
              <a:ext uri="{FF2B5EF4-FFF2-40B4-BE49-F238E27FC236}">
                <a16:creationId xmlns:a16="http://schemas.microsoft.com/office/drawing/2014/main" id="{5BF4E0CE-7170-A756-2F0F-54E2988703E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10193D3-DE5F-011D-307C-1945F9EFE65B}"/>
              </a:ext>
            </a:extLst>
          </p:cNvPr>
          <p:cNvSpPr>
            <a:spLocks noGrp="1"/>
          </p:cNvSpPr>
          <p:nvPr>
            <p:ph type="sldNum" sz="quarter" idx="12"/>
          </p:nvPr>
        </p:nvSpPr>
        <p:spPr/>
        <p:txBody>
          <a:bodyPr/>
          <a:lstStyle/>
          <a:p>
            <a:fld id="{1AC6A482-1E1F-47D9-96E0-C1BF61BEDF65}" type="slidenum">
              <a:rPr lang="tr-TR" smtClean="0"/>
              <a:t>‹#›</a:t>
            </a:fld>
            <a:endParaRPr lang="tr-TR"/>
          </a:p>
        </p:txBody>
      </p:sp>
    </p:spTree>
    <p:extLst>
      <p:ext uri="{BB962C8B-B14F-4D97-AF65-F5344CB8AC3E}">
        <p14:creationId xmlns:p14="http://schemas.microsoft.com/office/powerpoint/2010/main" val="355053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A59B01D-7CA4-60E8-114C-C9E011EFB7E8}"/>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9376D2B5-9AE8-958C-4553-59D30E6FF1D4}"/>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2762A255-F703-48E9-1A3C-95B29C98D321}"/>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8A0C1DD6-A494-7808-4849-353405821CDD}"/>
              </a:ext>
            </a:extLst>
          </p:cNvPr>
          <p:cNvSpPr>
            <a:spLocks noGrp="1"/>
          </p:cNvSpPr>
          <p:nvPr>
            <p:ph type="dt" sz="half" idx="10"/>
          </p:nvPr>
        </p:nvSpPr>
        <p:spPr/>
        <p:txBody>
          <a:bodyPr/>
          <a:lstStyle/>
          <a:p>
            <a:fld id="{709C52BF-2009-4F13-A119-DD7040A953EF}" type="datetimeFigureOut">
              <a:rPr lang="tr-TR" smtClean="0"/>
              <a:t>7.04.2025</a:t>
            </a:fld>
            <a:endParaRPr lang="tr-TR"/>
          </a:p>
        </p:txBody>
      </p:sp>
      <p:sp>
        <p:nvSpPr>
          <p:cNvPr id="6" name="Alt Bilgi Yer Tutucusu 5">
            <a:extLst>
              <a:ext uri="{FF2B5EF4-FFF2-40B4-BE49-F238E27FC236}">
                <a16:creationId xmlns:a16="http://schemas.microsoft.com/office/drawing/2014/main" id="{BA7E3799-B358-FD28-F4B8-4ABCCD42489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4F91F69-3DA3-2BE0-775B-4B4BD698EBA8}"/>
              </a:ext>
            </a:extLst>
          </p:cNvPr>
          <p:cNvSpPr>
            <a:spLocks noGrp="1"/>
          </p:cNvSpPr>
          <p:nvPr>
            <p:ph type="sldNum" sz="quarter" idx="12"/>
          </p:nvPr>
        </p:nvSpPr>
        <p:spPr/>
        <p:txBody>
          <a:bodyPr/>
          <a:lstStyle/>
          <a:p>
            <a:fld id="{1AC6A482-1E1F-47D9-96E0-C1BF61BEDF65}" type="slidenum">
              <a:rPr lang="tr-TR" smtClean="0"/>
              <a:t>‹#›</a:t>
            </a:fld>
            <a:endParaRPr lang="tr-TR"/>
          </a:p>
        </p:txBody>
      </p:sp>
    </p:spTree>
    <p:extLst>
      <p:ext uri="{BB962C8B-B14F-4D97-AF65-F5344CB8AC3E}">
        <p14:creationId xmlns:p14="http://schemas.microsoft.com/office/powerpoint/2010/main" val="1096965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82E2C9E-94C2-D19E-9D0B-48E90EAFFB19}"/>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72E141D3-0DB7-7981-9337-74F93F5D7A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A1291B60-99AB-97A4-697A-2A650A193A98}"/>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7B1DD6A5-AF33-74A7-37E7-3DCE021488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7301C000-9284-4FE7-41B0-C6A7E427AA29}"/>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58EAC877-5403-3DBD-7E55-9F3A94368012}"/>
              </a:ext>
            </a:extLst>
          </p:cNvPr>
          <p:cNvSpPr>
            <a:spLocks noGrp="1"/>
          </p:cNvSpPr>
          <p:nvPr>
            <p:ph type="dt" sz="half" idx="10"/>
          </p:nvPr>
        </p:nvSpPr>
        <p:spPr/>
        <p:txBody>
          <a:bodyPr/>
          <a:lstStyle/>
          <a:p>
            <a:fld id="{709C52BF-2009-4F13-A119-DD7040A953EF}" type="datetimeFigureOut">
              <a:rPr lang="tr-TR" smtClean="0"/>
              <a:t>7.04.2025</a:t>
            </a:fld>
            <a:endParaRPr lang="tr-TR"/>
          </a:p>
        </p:txBody>
      </p:sp>
      <p:sp>
        <p:nvSpPr>
          <p:cNvPr id="8" name="Alt Bilgi Yer Tutucusu 7">
            <a:extLst>
              <a:ext uri="{FF2B5EF4-FFF2-40B4-BE49-F238E27FC236}">
                <a16:creationId xmlns:a16="http://schemas.microsoft.com/office/drawing/2014/main" id="{9D5430B6-132E-F688-B3B4-39B35953E36B}"/>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F0FAC79F-03E0-E403-B4CD-4465633EAE0E}"/>
              </a:ext>
            </a:extLst>
          </p:cNvPr>
          <p:cNvSpPr>
            <a:spLocks noGrp="1"/>
          </p:cNvSpPr>
          <p:nvPr>
            <p:ph type="sldNum" sz="quarter" idx="12"/>
          </p:nvPr>
        </p:nvSpPr>
        <p:spPr/>
        <p:txBody>
          <a:bodyPr/>
          <a:lstStyle/>
          <a:p>
            <a:fld id="{1AC6A482-1E1F-47D9-96E0-C1BF61BEDF65}" type="slidenum">
              <a:rPr lang="tr-TR" smtClean="0"/>
              <a:t>‹#›</a:t>
            </a:fld>
            <a:endParaRPr lang="tr-TR"/>
          </a:p>
        </p:txBody>
      </p:sp>
    </p:spTree>
    <p:extLst>
      <p:ext uri="{BB962C8B-B14F-4D97-AF65-F5344CB8AC3E}">
        <p14:creationId xmlns:p14="http://schemas.microsoft.com/office/powerpoint/2010/main" val="55042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918FAEA-EB51-FFEE-4FBD-2B960A0D4678}"/>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054C3ADD-78B8-3DAB-2A0F-6C63829FBDF2}"/>
              </a:ext>
            </a:extLst>
          </p:cNvPr>
          <p:cNvSpPr>
            <a:spLocks noGrp="1"/>
          </p:cNvSpPr>
          <p:nvPr>
            <p:ph type="dt" sz="half" idx="10"/>
          </p:nvPr>
        </p:nvSpPr>
        <p:spPr/>
        <p:txBody>
          <a:bodyPr/>
          <a:lstStyle/>
          <a:p>
            <a:fld id="{709C52BF-2009-4F13-A119-DD7040A953EF}" type="datetimeFigureOut">
              <a:rPr lang="tr-TR" smtClean="0"/>
              <a:t>7.04.2025</a:t>
            </a:fld>
            <a:endParaRPr lang="tr-TR"/>
          </a:p>
        </p:txBody>
      </p:sp>
      <p:sp>
        <p:nvSpPr>
          <p:cNvPr id="4" name="Alt Bilgi Yer Tutucusu 3">
            <a:extLst>
              <a:ext uri="{FF2B5EF4-FFF2-40B4-BE49-F238E27FC236}">
                <a16:creationId xmlns:a16="http://schemas.microsoft.com/office/drawing/2014/main" id="{DF83359A-5617-494F-2575-EBE1608AD040}"/>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67CC80E7-A4B0-CFE4-B385-6A4845D491DB}"/>
              </a:ext>
            </a:extLst>
          </p:cNvPr>
          <p:cNvSpPr>
            <a:spLocks noGrp="1"/>
          </p:cNvSpPr>
          <p:nvPr>
            <p:ph type="sldNum" sz="quarter" idx="12"/>
          </p:nvPr>
        </p:nvSpPr>
        <p:spPr/>
        <p:txBody>
          <a:bodyPr/>
          <a:lstStyle/>
          <a:p>
            <a:fld id="{1AC6A482-1E1F-47D9-96E0-C1BF61BEDF65}" type="slidenum">
              <a:rPr lang="tr-TR" smtClean="0"/>
              <a:t>‹#›</a:t>
            </a:fld>
            <a:endParaRPr lang="tr-TR"/>
          </a:p>
        </p:txBody>
      </p:sp>
    </p:spTree>
    <p:extLst>
      <p:ext uri="{BB962C8B-B14F-4D97-AF65-F5344CB8AC3E}">
        <p14:creationId xmlns:p14="http://schemas.microsoft.com/office/powerpoint/2010/main" val="3147908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A32A33C7-BB2A-D9A2-ADC8-0A060962C64C}"/>
              </a:ext>
            </a:extLst>
          </p:cNvPr>
          <p:cNvSpPr>
            <a:spLocks noGrp="1"/>
          </p:cNvSpPr>
          <p:nvPr>
            <p:ph type="dt" sz="half" idx="10"/>
          </p:nvPr>
        </p:nvSpPr>
        <p:spPr/>
        <p:txBody>
          <a:bodyPr/>
          <a:lstStyle/>
          <a:p>
            <a:fld id="{709C52BF-2009-4F13-A119-DD7040A953EF}" type="datetimeFigureOut">
              <a:rPr lang="tr-TR" smtClean="0"/>
              <a:t>7.04.2025</a:t>
            </a:fld>
            <a:endParaRPr lang="tr-TR"/>
          </a:p>
        </p:txBody>
      </p:sp>
      <p:sp>
        <p:nvSpPr>
          <p:cNvPr id="3" name="Alt Bilgi Yer Tutucusu 2">
            <a:extLst>
              <a:ext uri="{FF2B5EF4-FFF2-40B4-BE49-F238E27FC236}">
                <a16:creationId xmlns:a16="http://schemas.microsoft.com/office/drawing/2014/main" id="{DA544E42-3A91-B139-9625-736A4ABAC0BA}"/>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ECACF4EC-6A6D-56AD-B35A-900851CC02B8}"/>
              </a:ext>
            </a:extLst>
          </p:cNvPr>
          <p:cNvSpPr>
            <a:spLocks noGrp="1"/>
          </p:cNvSpPr>
          <p:nvPr>
            <p:ph type="sldNum" sz="quarter" idx="12"/>
          </p:nvPr>
        </p:nvSpPr>
        <p:spPr/>
        <p:txBody>
          <a:bodyPr/>
          <a:lstStyle/>
          <a:p>
            <a:fld id="{1AC6A482-1E1F-47D9-96E0-C1BF61BEDF65}" type="slidenum">
              <a:rPr lang="tr-TR" smtClean="0"/>
              <a:t>‹#›</a:t>
            </a:fld>
            <a:endParaRPr lang="tr-TR"/>
          </a:p>
        </p:txBody>
      </p:sp>
    </p:spTree>
    <p:extLst>
      <p:ext uri="{BB962C8B-B14F-4D97-AF65-F5344CB8AC3E}">
        <p14:creationId xmlns:p14="http://schemas.microsoft.com/office/powerpoint/2010/main" val="2988920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9D353DB-F86E-76DC-FA93-7185A998745B}"/>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DD1B3CBB-D6FE-AB99-0BD2-16D8B8439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99A1A934-DFBA-C4B5-682D-1BA62FB925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6C4873D-D787-BEBB-4FB7-71798ECCFB9E}"/>
              </a:ext>
            </a:extLst>
          </p:cNvPr>
          <p:cNvSpPr>
            <a:spLocks noGrp="1"/>
          </p:cNvSpPr>
          <p:nvPr>
            <p:ph type="dt" sz="half" idx="10"/>
          </p:nvPr>
        </p:nvSpPr>
        <p:spPr/>
        <p:txBody>
          <a:bodyPr/>
          <a:lstStyle/>
          <a:p>
            <a:fld id="{709C52BF-2009-4F13-A119-DD7040A953EF}" type="datetimeFigureOut">
              <a:rPr lang="tr-TR" smtClean="0"/>
              <a:t>7.04.2025</a:t>
            </a:fld>
            <a:endParaRPr lang="tr-TR"/>
          </a:p>
        </p:txBody>
      </p:sp>
      <p:sp>
        <p:nvSpPr>
          <p:cNvPr id="6" name="Alt Bilgi Yer Tutucusu 5">
            <a:extLst>
              <a:ext uri="{FF2B5EF4-FFF2-40B4-BE49-F238E27FC236}">
                <a16:creationId xmlns:a16="http://schemas.microsoft.com/office/drawing/2014/main" id="{20099279-AAC8-9292-A510-18C35EE7A9D8}"/>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CD53F1EB-F972-1D0A-86EF-46E3193B73E5}"/>
              </a:ext>
            </a:extLst>
          </p:cNvPr>
          <p:cNvSpPr>
            <a:spLocks noGrp="1"/>
          </p:cNvSpPr>
          <p:nvPr>
            <p:ph type="sldNum" sz="quarter" idx="12"/>
          </p:nvPr>
        </p:nvSpPr>
        <p:spPr/>
        <p:txBody>
          <a:bodyPr/>
          <a:lstStyle/>
          <a:p>
            <a:fld id="{1AC6A482-1E1F-47D9-96E0-C1BF61BEDF65}" type="slidenum">
              <a:rPr lang="tr-TR" smtClean="0"/>
              <a:t>‹#›</a:t>
            </a:fld>
            <a:endParaRPr lang="tr-TR"/>
          </a:p>
        </p:txBody>
      </p:sp>
    </p:spTree>
    <p:extLst>
      <p:ext uri="{BB962C8B-B14F-4D97-AF65-F5344CB8AC3E}">
        <p14:creationId xmlns:p14="http://schemas.microsoft.com/office/powerpoint/2010/main" val="3858266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CD1ADE5-71C5-F4B2-ACE4-7D72862D70E7}"/>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55DBC139-A508-B642-3E62-30B4542180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23F5ED24-BC74-675B-55D7-FA27C8A408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782ACA9F-C4C9-53B2-D411-E0D03D52E3E0}"/>
              </a:ext>
            </a:extLst>
          </p:cNvPr>
          <p:cNvSpPr>
            <a:spLocks noGrp="1"/>
          </p:cNvSpPr>
          <p:nvPr>
            <p:ph type="dt" sz="half" idx="10"/>
          </p:nvPr>
        </p:nvSpPr>
        <p:spPr/>
        <p:txBody>
          <a:bodyPr/>
          <a:lstStyle/>
          <a:p>
            <a:fld id="{709C52BF-2009-4F13-A119-DD7040A953EF}" type="datetimeFigureOut">
              <a:rPr lang="tr-TR" smtClean="0"/>
              <a:t>7.04.2025</a:t>
            </a:fld>
            <a:endParaRPr lang="tr-TR"/>
          </a:p>
        </p:txBody>
      </p:sp>
      <p:sp>
        <p:nvSpPr>
          <p:cNvPr id="6" name="Alt Bilgi Yer Tutucusu 5">
            <a:extLst>
              <a:ext uri="{FF2B5EF4-FFF2-40B4-BE49-F238E27FC236}">
                <a16:creationId xmlns:a16="http://schemas.microsoft.com/office/drawing/2014/main" id="{3DB5C0DB-4F5A-91C2-EAB4-FE49C83A952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2410B39D-15AC-6545-10F8-9B578DA87403}"/>
              </a:ext>
            </a:extLst>
          </p:cNvPr>
          <p:cNvSpPr>
            <a:spLocks noGrp="1"/>
          </p:cNvSpPr>
          <p:nvPr>
            <p:ph type="sldNum" sz="quarter" idx="12"/>
          </p:nvPr>
        </p:nvSpPr>
        <p:spPr/>
        <p:txBody>
          <a:bodyPr/>
          <a:lstStyle/>
          <a:p>
            <a:fld id="{1AC6A482-1E1F-47D9-96E0-C1BF61BEDF65}" type="slidenum">
              <a:rPr lang="tr-TR" smtClean="0"/>
              <a:t>‹#›</a:t>
            </a:fld>
            <a:endParaRPr lang="tr-TR"/>
          </a:p>
        </p:txBody>
      </p:sp>
    </p:spTree>
    <p:extLst>
      <p:ext uri="{BB962C8B-B14F-4D97-AF65-F5344CB8AC3E}">
        <p14:creationId xmlns:p14="http://schemas.microsoft.com/office/powerpoint/2010/main" val="3984759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D9B99E6-054E-1169-5E54-71EC7C00B1C7}"/>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DD5D32EE-ED1C-0324-2015-E078E20F4F66}"/>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DDD5CD5-D21D-0585-B8A4-3C3180E2B915}"/>
              </a:ext>
            </a:extLst>
          </p:cNvPr>
          <p:cNvSpPr>
            <a:spLocks noGrp="1"/>
          </p:cNvSpPr>
          <p:nvPr>
            <p:ph type="dt" sz="half" idx="10"/>
          </p:nvPr>
        </p:nvSpPr>
        <p:spPr/>
        <p:txBody>
          <a:bodyPr/>
          <a:lstStyle/>
          <a:p>
            <a:fld id="{709C52BF-2009-4F13-A119-DD7040A953EF}" type="datetimeFigureOut">
              <a:rPr lang="tr-TR" smtClean="0"/>
              <a:t>7.04.2025</a:t>
            </a:fld>
            <a:endParaRPr lang="tr-TR"/>
          </a:p>
        </p:txBody>
      </p:sp>
      <p:sp>
        <p:nvSpPr>
          <p:cNvPr id="5" name="Alt Bilgi Yer Tutucusu 4">
            <a:extLst>
              <a:ext uri="{FF2B5EF4-FFF2-40B4-BE49-F238E27FC236}">
                <a16:creationId xmlns:a16="http://schemas.microsoft.com/office/drawing/2014/main" id="{93154DE4-C159-3ED1-1FA2-F2DB4257CA9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80F676B-F62E-1250-7125-406603E06D74}"/>
              </a:ext>
            </a:extLst>
          </p:cNvPr>
          <p:cNvSpPr>
            <a:spLocks noGrp="1"/>
          </p:cNvSpPr>
          <p:nvPr>
            <p:ph type="sldNum" sz="quarter" idx="12"/>
          </p:nvPr>
        </p:nvSpPr>
        <p:spPr/>
        <p:txBody>
          <a:bodyPr/>
          <a:lstStyle/>
          <a:p>
            <a:fld id="{1AC6A482-1E1F-47D9-96E0-C1BF61BEDF65}" type="slidenum">
              <a:rPr lang="tr-TR" smtClean="0"/>
              <a:t>‹#›</a:t>
            </a:fld>
            <a:endParaRPr lang="tr-TR"/>
          </a:p>
        </p:txBody>
      </p:sp>
    </p:spTree>
    <p:extLst>
      <p:ext uri="{BB962C8B-B14F-4D97-AF65-F5344CB8AC3E}">
        <p14:creationId xmlns:p14="http://schemas.microsoft.com/office/powerpoint/2010/main" val="1939510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36AE9599-2C42-3FF1-0F86-25F0E717A359}"/>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DFAFB647-F663-D371-005E-C5C2503EFCA8}"/>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8932946-3F7F-2D93-5C77-D7A21D3EE2A9}"/>
              </a:ext>
            </a:extLst>
          </p:cNvPr>
          <p:cNvSpPr>
            <a:spLocks noGrp="1"/>
          </p:cNvSpPr>
          <p:nvPr>
            <p:ph type="dt" sz="half" idx="10"/>
          </p:nvPr>
        </p:nvSpPr>
        <p:spPr/>
        <p:txBody>
          <a:bodyPr/>
          <a:lstStyle/>
          <a:p>
            <a:fld id="{709C52BF-2009-4F13-A119-DD7040A953EF}" type="datetimeFigureOut">
              <a:rPr lang="tr-TR" smtClean="0"/>
              <a:t>7.04.2025</a:t>
            </a:fld>
            <a:endParaRPr lang="tr-TR"/>
          </a:p>
        </p:txBody>
      </p:sp>
      <p:sp>
        <p:nvSpPr>
          <p:cNvPr id="5" name="Alt Bilgi Yer Tutucusu 4">
            <a:extLst>
              <a:ext uri="{FF2B5EF4-FFF2-40B4-BE49-F238E27FC236}">
                <a16:creationId xmlns:a16="http://schemas.microsoft.com/office/drawing/2014/main" id="{413F6790-B364-3626-D74F-6577BAF7336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69DE638-4CDE-1D85-71BC-D9E31A07FAB5}"/>
              </a:ext>
            </a:extLst>
          </p:cNvPr>
          <p:cNvSpPr>
            <a:spLocks noGrp="1"/>
          </p:cNvSpPr>
          <p:nvPr>
            <p:ph type="sldNum" sz="quarter" idx="12"/>
          </p:nvPr>
        </p:nvSpPr>
        <p:spPr/>
        <p:txBody>
          <a:bodyPr/>
          <a:lstStyle/>
          <a:p>
            <a:fld id="{1AC6A482-1E1F-47D9-96E0-C1BF61BEDF65}" type="slidenum">
              <a:rPr lang="tr-TR" smtClean="0"/>
              <a:t>‹#›</a:t>
            </a:fld>
            <a:endParaRPr lang="tr-TR"/>
          </a:p>
        </p:txBody>
      </p:sp>
    </p:spTree>
    <p:extLst>
      <p:ext uri="{BB962C8B-B14F-4D97-AF65-F5344CB8AC3E}">
        <p14:creationId xmlns:p14="http://schemas.microsoft.com/office/powerpoint/2010/main" val="2613715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45A0FDE0-09D9-5232-C1F7-F8D12D4322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7855A42A-F2F4-3C36-36C6-867CA41BE2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223E335-8EE3-AA14-AED2-C840CEF889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9C52BF-2009-4F13-A119-DD7040A953EF}" type="datetimeFigureOut">
              <a:rPr lang="tr-TR" smtClean="0"/>
              <a:t>7.04.2025</a:t>
            </a:fld>
            <a:endParaRPr lang="tr-TR"/>
          </a:p>
        </p:txBody>
      </p:sp>
      <p:sp>
        <p:nvSpPr>
          <p:cNvPr id="5" name="Alt Bilgi Yer Tutucusu 4">
            <a:extLst>
              <a:ext uri="{FF2B5EF4-FFF2-40B4-BE49-F238E27FC236}">
                <a16:creationId xmlns:a16="http://schemas.microsoft.com/office/drawing/2014/main" id="{34C842B6-791A-4FA9-2368-05B9D370B4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52F5E0E8-386B-08D6-9B63-7606DE2239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C6A482-1E1F-47D9-96E0-C1BF61BEDF65}" type="slidenum">
              <a:rPr lang="tr-TR" smtClean="0"/>
              <a:t>‹#›</a:t>
            </a:fld>
            <a:endParaRPr lang="tr-TR"/>
          </a:p>
        </p:txBody>
      </p:sp>
    </p:spTree>
    <p:extLst>
      <p:ext uri="{BB962C8B-B14F-4D97-AF65-F5344CB8AC3E}">
        <p14:creationId xmlns:p14="http://schemas.microsoft.com/office/powerpoint/2010/main" val="1205402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1"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 name="Freeform: Shape 1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Başlık 1">
            <a:extLst>
              <a:ext uri="{FF2B5EF4-FFF2-40B4-BE49-F238E27FC236}">
                <a16:creationId xmlns:a16="http://schemas.microsoft.com/office/drawing/2014/main" id="{F72DA7BA-70AC-C2AE-E067-7195596FE499}"/>
              </a:ext>
            </a:extLst>
          </p:cNvPr>
          <p:cNvSpPr>
            <a:spLocks noGrp="1"/>
          </p:cNvSpPr>
          <p:nvPr>
            <p:ph type="ctrTitle"/>
          </p:nvPr>
        </p:nvSpPr>
        <p:spPr>
          <a:xfrm>
            <a:off x="789708" y="666351"/>
            <a:ext cx="10558405" cy="3044335"/>
          </a:xfrm>
        </p:spPr>
        <p:txBody>
          <a:bodyPr anchor="b">
            <a:normAutofit/>
          </a:bodyPr>
          <a:lstStyle/>
          <a:p>
            <a:r>
              <a:rPr lang="tr-TR" sz="4800">
                <a:solidFill>
                  <a:schemeClr val="bg1"/>
                </a:solidFill>
              </a:rPr>
              <a:t>İŞLETME BİLİMİNE GİTİŞ</a:t>
            </a:r>
          </a:p>
        </p:txBody>
      </p:sp>
      <p:sp>
        <p:nvSpPr>
          <p:cNvPr id="3" name="Alt Başlık 2">
            <a:extLst>
              <a:ext uri="{FF2B5EF4-FFF2-40B4-BE49-F238E27FC236}">
                <a16:creationId xmlns:a16="http://schemas.microsoft.com/office/drawing/2014/main" id="{1CBE410D-D4FB-CEEB-7641-9A0B2B2C78D9}"/>
              </a:ext>
            </a:extLst>
          </p:cNvPr>
          <p:cNvSpPr>
            <a:spLocks noGrp="1"/>
          </p:cNvSpPr>
          <p:nvPr>
            <p:ph type="subTitle" idx="1"/>
          </p:nvPr>
        </p:nvSpPr>
        <p:spPr>
          <a:xfrm>
            <a:off x="789708" y="3866064"/>
            <a:ext cx="10558405" cy="2234485"/>
          </a:xfrm>
        </p:spPr>
        <p:txBody>
          <a:bodyPr anchor="t">
            <a:normAutofit/>
          </a:bodyPr>
          <a:lstStyle/>
          <a:p>
            <a:r>
              <a:rPr lang="tr-TR">
                <a:solidFill>
                  <a:schemeClr val="bg1"/>
                </a:solidFill>
              </a:rPr>
              <a:t>7.HAFTA</a:t>
            </a:r>
          </a:p>
          <a:p>
            <a:r>
              <a:rPr lang="tr-TR">
                <a:solidFill>
                  <a:schemeClr val="bg1"/>
                </a:solidFill>
              </a:rPr>
              <a:t>FATİH ÇALLI</a:t>
            </a:r>
          </a:p>
        </p:txBody>
      </p:sp>
    </p:spTree>
    <p:extLst>
      <p:ext uri="{BB962C8B-B14F-4D97-AF65-F5344CB8AC3E}">
        <p14:creationId xmlns:p14="http://schemas.microsoft.com/office/powerpoint/2010/main" val="1662500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A1E004E-E3A5-804C-158D-5D2E1D84D019}"/>
              </a:ext>
            </a:extLst>
          </p:cNvPr>
          <p:cNvSpPr>
            <a:spLocks noGrp="1"/>
          </p:cNvSpPr>
          <p:nvPr>
            <p:ph type="title"/>
          </p:nvPr>
        </p:nvSpPr>
        <p:spPr>
          <a:xfrm>
            <a:off x="686834" y="1153572"/>
            <a:ext cx="3200400" cy="4461163"/>
          </a:xfrm>
        </p:spPr>
        <p:txBody>
          <a:bodyPr>
            <a:normAutofit/>
          </a:bodyPr>
          <a:lstStyle/>
          <a:p>
            <a:r>
              <a:rPr lang="tr-TR" sz="2800">
                <a:solidFill>
                  <a:srgbClr val="FFFFFF"/>
                </a:solidFill>
              </a:rPr>
              <a:t>ÜRETİM FONKSİYONUNUN ANLAMI VE TEMEL KAVRAMLAR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3E99EF63-7B10-1DCC-9B5F-E8A46EA06141}"/>
              </a:ext>
            </a:extLst>
          </p:cNvPr>
          <p:cNvSpPr>
            <a:spLocks noGrp="1"/>
          </p:cNvSpPr>
          <p:nvPr>
            <p:ph idx="1"/>
          </p:nvPr>
        </p:nvSpPr>
        <p:spPr>
          <a:xfrm>
            <a:off x="4447308" y="591344"/>
            <a:ext cx="6906491" cy="5585619"/>
          </a:xfrm>
        </p:spPr>
        <p:txBody>
          <a:bodyPr anchor="ctr">
            <a:normAutofit/>
          </a:bodyPr>
          <a:lstStyle/>
          <a:p>
            <a:r>
              <a:rPr lang="tr-TR"/>
              <a:t>Üretim klasik olarak makine, insan ve teçhizat kullanarak fiziksel bir ürünün yapımı ya da hizmetin meydana getirilmesi olarak tanımlanmaktadır. Diğer bir tanıma göre ise üretim, kaynakların insan ihtiyaç ve isteklerine uygun ürün ve hizmetlere dönüştürülmesi için gerçekleştirilen fiziksel, kimyasal, teknik işlemler olarak tanımlanmaktadır. Kısaca üretimin gerçekleştirilmesinin temel amacı insanların ihtiyaç ve isteklerinin karşılanmasıdır.</a:t>
            </a:r>
          </a:p>
        </p:txBody>
      </p:sp>
    </p:spTree>
    <p:extLst>
      <p:ext uri="{BB962C8B-B14F-4D97-AF65-F5344CB8AC3E}">
        <p14:creationId xmlns:p14="http://schemas.microsoft.com/office/powerpoint/2010/main" val="2720261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9BDF-D300-E55C-52BD-8A77E122C79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B68D5F9-9D30-ACC5-501F-24A8E40E5E3A}"/>
              </a:ext>
            </a:extLst>
          </p:cNvPr>
          <p:cNvSpPr>
            <a:spLocks noGrp="1"/>
          </p:cNvSpPr>
          <p:nvPr>
            <p:ph type="title"/>
          </p:nvPr>
        </p:nvSpPr>
        <p:spPr/>
        <p:txBody>
          <a:bodyPr/>
          <a:lstStyle/>
          <a:p>
            <a:r>
              <a:rPr lang="tr-TR"/>
              <a:t>ÜRETİM FONKSİYONUNUN ANLAMI VE TEMEL KAVRAMLAR</a:t>
            </a:r>
          </a:p>
        </p:txBody>
      </p:sp>
      <p:pic>
        <p:nvPicPr>
          <p:cNvPr id="5" name="İçerik Yer Tutucusu 4" descr="metin, ekran görüntüsü, diyagram, sayı, numara içeren bir resim&#10;&#10;Yapay zeka tarafından oluşturulan içerik yanlış olabilir.">
            <a:extLst>
              <a:ext uri="{FF2B5EF4-FFF2-40B4-BE49-F238E27FC236}">
                <a16:creationId xmlns:a16="http://schemas.microsoft.com/office/drawing/2014/main" id="{84C8FACF-57DD-4AEC-EB4B-9B4CAF3CCEB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66389" y="2048396"/>
            <a:ext cx="7859222" cy="3905795"/>
          </a:xfrm>
        </p:spPr>
      </p:pic>
    </p:spTree>
    <p:extLst>
      <p:ext uri="{BB962C8B-B14F-4D97-AF65-F5344CB8AC3E}">
        <p14:creationId xmlns:p14="http://schemas.microsoft.com/office/powerpoint/2010/main" val="520003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55E37C-CBFF-424E-EC06-0F70E40FEFA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5DC7E00-A2EC-6B70-ECC3-A1A8F4B58968}"/>
              </a:ext>
            </a:extLst>
          </p:cNvPr>
          <p:cNvSpPr>
            <a:spLocks noGrp="1"/>
          </p:cNvSpPr>
          <p:nvPr>
            <p:ph type="title"/>
          </p:nvPr>
        </p:nvSpPr>
        <p:spPr>
          <a:xfrm>
            <a:off x="686834" y="1153572"/>
            <a:ext cx="3200400" cy="4461163"/>
          </a:xfrm>
        </p:spPr>
        <p:txBody>
          <a:bodyPr>
            <a:normAutofit/>
          </a:bodyPr>
          <a:lstStyle/>
          <a:p>
            <a:r>
              <a:rPr lang="tr-TR" sz="2800">
                <a:solidFill>
                  <a:srgbClr val="FFFFFF"/>
                </a:solidFill>
              </a:rPr>
              <a:t>ÜRETİM FONKSİYONUNUN ANLAMI VE TEMEL KAVRAMLAR</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İçerik Yer Tutucusu 3">
            <a:extLst>
              <a:ext uri="{FF2B5EF4-FFF2-40B4-BE49-F238E27FC236}">
                <a16:creationId xmlns:a16="http://schemas.microsoft.com/office/drawing/2014/main" id="{6B47AD3E-6094-2ECD-FE04-895BC9FAAA68}"/>
              </a:ext>
            </a:extLst>
          </p:cNvPr>
          <p:cNvSpPr>
            <a:spLocks noGrp="1"/>
          </p:cNvSpPr>
          <p:nvPr>
            <p:ph idx="1"/>
          </p:nvPr>
        </p:nvSpPr>
        <p:spPr>
          <a:xfrm>
            <a:off x="4447308" y="591344"/>
            <a:ext cx="6906491" cy="5585619"/>
          </a:xfrm>
        </p:spPr>
        <p:txBody>
          <a:bodyPr anchor="ctr">
            <a:normAutofit/>
          </a:bodyPr>
          <a:lstStyle/>
          <a:p>
            <a:r>
              <a:rPr lang="tr-TR" dirty="0"/>
              <a:t>Üretim süreci, sisteme giren ögelerin bir fayda yaratacak biçimde bir ürün ya da hizmete dönüştürülmesidir. Bu dönüştürme işlemi çeşitli biçimlerde olmak </a:t>
            </a:r>
            <a:r>
              <a:rPr lang="tr-TR" dirty="0" err="1"/>
              <a:t>tadır</a:t>
            </a:r>
            <a:r>
              <a:rPr lang="tr-TR" dirty="0"/>
              <a:t>. Örneğin, bir ham maddenin fiziksel ya da kimyasal yapısını değiştirmek, bir ürünü bir yerden diğerine taşımak, depolamak ya da kalite kontrol amacıyla incelemek üretim süreci olarak tanımlanır. Bir üretim sürecini değerlendirmede kullanılan ögelerden özellikle dört tanesi önemlidir. Bunlar; </a:t>
            </a:r>
            <a:r>
              <a:rPr lang="tr-TR" b="1" dirty="0"/>
              <a:t>verimlilik, etkinlik, kapasite </a:t>
            </a:r>
            <a:r>
              <a:rPr lang="tr-TR" dirty="0"/>
              <a:t>ve </a:t>
            </a:r>
            <a:r>
              <a:rPr lang="tr-TR" b="1" dirty="0"/>
              <a:t>esnekliktir</a:t>
            </a:r>
            <a:r>
              <a:rPr lang="tr-TR" dirty="0"/>
              <a:t>.</a:t>
            </a:r>
          </a:p>
        </p:txBody>
      </p:sp>
    </p:spTree>
    <p:extLst>
      <p:ext uri="{BB962C8B-B14F-4D97-AF65-F5344CB8AC3E}">
        <p14:creationId xmlns:p14="http://schemas.microsoft.com/office/powerpoint/2010/main" val="4223982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00AE22-DB0E-D1E6-9EC2-13B46769124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856D1E0-7874-6F52-06DF-0D27E5480D07}"/>
              </a:ext>
            </a:extLst>
          </p:cNvPr>
          <p:cNvSpPr>
            <a:spLocks noGrp="1"/>
          </p:cNvSpPr>
          <p:nvPr>
            <p:ph type="title"/>
          </p:nvPr>
        </p:nvSpPr>
        <p:spPr>
          <a:xfrm>
            <a:off x="841248" y="256032"/>
            <a:ext cx="10506456" cy="1014984"/>
          </a:xfrm>
        </p:spPr>
        <p:txBody>
          <a:bodyPr anchor="b">
            <a:normAutofit/>
          </a:bodyPr>
          <a:lstStyle/>
          <a:p>
            <a:r>
              <a:rPr lang="tr-TR" sz="3100"/>
              <a:t>ÜRETİM FONKSİYONUNUN ANLAMI VE TEMEL KAVRAMLAR</a:t>
            </a:r>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İçerik Yer Tutucusu 3">
            <a:extLst>
              <a:ext uri="{FF2B5EF4-FFF2-40B4-BE49-F238E27FC236}">
                <a16:creationId xmlns:a16="http://schemas.microsoft.com/office/drawing/2014/main" id="{8C7FC0BB-C975-8A0B-2471-ACCD3D6C5446}"/>
              </a:ext>
            </a:extLst>
          </p:cNvPr>
          <p:cNvGraphicFramePr>
            <a:graphicFrameLocks noGrp="1"/>
          </p:cNvGraphicFramePr>
          <p:nvPr>
            <p:ph idx="1"/>
            <p:extLst>
              <p:ext uri="{D42A27DB-BD31-4B8C-83A1-F6EECF244321}">
                <p14:modId xmlns:p14="http://schemas.microsoft.com/office/powerpoint/2010/main" val="1324506412"/>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102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Başlık 1">
            <a:extLst>
              <a:ext uri="{FF2B5EF4-FFF2-40B4-BE49-F238E27FC236}">
                <a16:creationId xmlns:a16="http://schemas.microsoft.com/office/drawing/2014/main" id="{1874FFB3-F2CA-69A5-7949-35D676C1074C}"/>
              </a:ext>
            </a:extLst>
          </p:cNvPr>
          <p:cNvSpPr>
            <a:spLocks noGrp="1"/>
          </p:cNvSpPr>
          <p:nvPr>
            <p:ph type="title"/>
          </p:nvPr>
        </p:nvSpPr>
        <p:spPr>
          <a:xfrm>
            <a:off x="838200" y="365125"/>
            <a:ext cx="10515600" cy="1325563"/>
          </a:xfrm>
        </p:spPr>
        <p:txBody>
          <a:bodyPr>
            <a:normAutofit/>
          </a:bodyPr>
          <a:lstStyle/>
          <a:p>
            <a:r>
              <a:rPr lang="tr-TR"/>
              <a:t>ÜRETİM SİSTEMLERİ</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8554AA61-E49B-75BD-7F0A-69EED8D8B8DC}"/>
              </a:ext>
            </a:extLst>
          </p:cNvPr>
          <p:cNvSpPr>
            <a:spLocks noGrp="1"/>
          </p:cNvSpPr>
          <p:nvPr>
            <p:ph idx="1"/>
          </p:nvPr>
        </p:nvSpPr>
        <p:spPr>
          <a:xfrm>
            <a:off x="838200" y="1825625"/>
            <a:ext cx="10515600" cy="4351338"/>
          </a:xfrm>
        </p:spPr>
        <p:txBody>
          <a:bodyPr>
            <a:normAutofit/>
          </a:bodyPr>
          <a:lstStyle/>
          <a:p>
            <a:r>
              <a:rPr lang="tr-TR" sz="2200"/>
              <a:t>Üretim gerçekleştirilirken işletmeler tarafından farklı üretim sistemleri kullanılır. Üretim sistemleri günümüze gelişerek gelmiş ve kitlesel üretimin yapılabileceği sistemler ortaya çıkmıştır. Bunun yanı sıra ülkelerin ve endüstrilerin gelişmişlik düzeyleri, ekonomik yapı, üretimin özelliği gibi faktörler basit ve kitlesel üretime uy gun olmayan üretim sistemlerinin de devam etmesine yol açmaktadır. İşletme ler özelliklerine göre bu sistemlerden herhangi birini kullanabilirler. Bu konuda dört sistemden söz edilebilir: </a:t>
            </a:r>
          </a:p>
          <a:p>
            <a:r>
              <a:rPr lang="tr-TR" sz="2200"/>
              <a:t>1. El İşçiliği Sistemi </a:t>
            </a:r>
          </a:p>
          <a:p>
            <a:r>
              <a:rPr lang="tr-TR" sz="2200"/>
              <a:t>2. Ev İşçiliği Sistemi </a:t>
            </a:r>
          </a:p>
          <a:p>
            <a:r>
              <a:rPr lang="tr-TR" sz="2200"/>
              <a:t>3. İmalathane Sistemi </a:t>
            </a:r>
          </a:p>
          <a:p>
            <a:r>
              <a:rPr lang="tr-TR" sz="2200"/>
              <a:t>4. Fabrikasyon Sistemi</a:t>
            </a:r>
          </a:p>
        </p:txBody>
      </p:sp>
    </p:spTree>
    <p:extLst>
      <p:ext uri="{BB962C8B-B14F-4D97-AF65-F5344CB8AC3E}">
        <p14:creationId xmlns:p14="http://schemas.microsoft.com/office/powerpoint/2010/main" val="2079526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25B113-7AEA-9C5D-11B1-76815F7F497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D36AE95-7CC9-49B1-195E-B8B29A4D2CAA}"/>
              </a:ext>
            </a:extLst>
          </p:cNvPr>
          <p:cNvSpPr>
            <a:spLocks noGrp="1"/>
          </p:cNvSpPr>
          <p:nvPr>
            <p:ph type="title"/>
          </p:nvPr>
        </p:nvSpPr>
        <p:spPr>
          <a:xfrm>
            <a:off x="686834" y="1153572"/>
            <a:ext cx="3200400" cy="4461163"/>
          </a:xfrm>
        </p:spPr>
        <p:txBody>
          <a:bodyPr>
            <a:normAutofit/>
          </a:bodyPr>
          <a:lstStyle/>
          <a:p>
            <a:r>
              <a:rPr lang="tr-TR">
                <a:solidFill>
                  <a:srgbClr val="FFFFFF"/>
                </a:solidFill>
              </a:rPr>
              <a:t>ÜRETİM SİSTEMLERİ</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70E0E382-E465-A011-39AF-AAA797095BF0}"/>
              </a:ext>
            </a:extLst>
          </p:cNvPr>
          <p:cNvSpPr>
            <a:spLocks noGrp="1"/>
          </p:cNvSpPr>
          <p:nvPr>
            <p:ph idx="1"/>
          </p:nvPr>
        </p:nvSpPr>
        <p:spPr>
          <a:xfrm>
            <a:off x="4447308" y="591344"/>
            <a:ext cx="6906491" cy="5585619"/>
          </a:xfrm>
        </p:spPr>
        <p:txBody>
          <a:bodyPr anchor="ctr">
            <a:normAutofit/>
          </a:bodyPr>
          <a:lstStyle/>
          <a:p>
            <a:r>
              <a:rPr lang="tr-TR" sz="2200" b="1"/>
              <a:t>El İşçiliği Sistemi</a:t>
            </a:r>
            <a:r>
              <a:rPr lang="tr-TR" sz="2200"/>
              <a:t>: Sipariş temeline dayalı olarak işleyen bu üretim sistemi kişilere bağlı olma özelliği taşımaktadır. Bu üretim sisteminde alıcı sayısının sınırlı olması, bu alıcıların ihtiyaçlarını karşılamak üzere kurulmuş olan işletmenin genellikle küçük bir birim hâlinde kurulması sonucunu doğurmaktadır. İşletmenin küçüklüğü ile birlikte üretimin kişiselliği, üretimin çoğu kez tek bir alanda uzmanlaşmış ve iş bölümüne gitmeyen kişi ya da kişiler tarafından başlatılıp bitirilmesi sonucunu beraberinde getirmektedir. Bu üretim sisteminde teknik yardımcı araçlar ve makinelere çok az yer verilmektedir. Ayrıca bu sistemde işletmenin küçük olması ve kullanılan yardımcı araç ve gereçlerin azlığı sabit sermaye ihtiyacını önemli ölçüde azalt maktadır. Bu durumda, bu üretim sistemin de çalışanlar, sermayeden çok işgücü ne dayalı mesai harcamaktadırlar. </a:t>
            </a:r>
          </a:p>
        </p:txBody>
      </p:sp>
    </p:spTree>
    <p:extLst>
      <p:ext uri="{BB962C8B-B14F-4D97-AF65-F5344CB8AC3E}">
        <p14:creationId xmlns:p14="http://schemas.microsoft.com/office/powerpoint/2010/main" val="3288142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F23DF0-A970-AF94-439F-8DF1D27D4B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E76CC59-F69E-3BC8-C90C-F2F4B8569426}"/>
              </a:ext>
            </a:extLst>
          </p:cNvPr>
          <p:cNvSpPr>
            <a:spLocks noGrp="1"/>
          </p:cNvSpPr>
          <p:nvPr>
            <p:ph type="title"/>
          </p:nvPr>
        </p:nvSpPr>
        <p:spPr>
          <a:xfrm>
            <a:off x="686834" y="1153572"/>
            <a:ext cx="3200400" cy="4461163"/>
          </a:xfrm>
        </p:spPr>
        <p:txBody>
          <a:bodyPr>
            <a:normAutofit/>
          </a:bodyPr>
          <a:lstStyle/>
          <a:p>
            <a:r>
              <a:rPr lang="tr-TR">
                <a:solidFill>
                  <a:srgbClr val="FFFFFF"/>
                </a:solidFill>
              </a:rPr>
              <a:t>ÜRETİM SİSTEMLERİ</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771AE631-33DB-0CFA-BFB5-B81E822C286B}"/>
              </a:ext>
            </a:extLst>
          </p:cNvPr>
          <p:cNvSpPr>
            <a:spLocks noGrp="1"/>
          </p:cNvSpPr>
          <p:nvPr>
            <p:ph idx="1"/>
          </p:nvPr>
        </p:nvSpPr>
        <p:spPr>
          <a:xfrm>
            <a:off x="4447308" y="591344"/>
            <a:ext cx="6906491" cy="5585619"/>
          </a:xfrm>
        </p:spPr>
        <p:txBody>
          <a:bodyPr anchor="ctr">
            <a:normAutofit/>
          </a:bodyPr>
          <a:lstStyle/>
          <a:p>
            <a:r>
              <a:rPr lang="tr-TR" sz="2400" b="1"/>
              <a:t>Ev İşçiliği Sistemi: </a:t>
            </a:r>
            <a:r>
              <a:rPr lang="tr-TR" sz="2400"/>
              <a:t>Ev işçiliğinin özelliği, üretimin girişimcilerin hesabına bağımsız işçilerce, kâr ve zararı girişimcilerin olmak üzere kendi işyerlerinde, çoğu kez evlerinde yapılmasıdır. Girişimciler, bu sistemde bağımsız işçilere gerekli hammadde ve yardımcı maddeleri verirler ve ayrıca üretim için, gerekli araç gereç ve makineleri de sağlarlar. Halı, kilim, tekstil, süs eşyası, saat ve oyuncak üre timinde bu sistem yaygındır. Örneğin, parça başı halı ya da kilim ürettirmek isteyen bir girişimci evde dokuma tezgahı olan ailelere iplikleri ve modeli verir, gerekiyorsa tezgahı da sağlar. İstediği modelde istediği büyüklükte halı ya da kilimi ürettirir. Bu sistemi uygulayan bir işletme değişik kişilere üretim yaptırır. </a:t>
            </a:r>
          </a:p>
        </p:txBody>
      </p:sp>
    </p:spTree>
    <p:extLst>
      <p:ext uri="{BB962C8B-B14F-4D97-AF65-F5344CB8AC3E}">
        <p14:creationId xmlns:p14="http://schemas.microsoft.com/office/powerpoint/2010/main" val="2404506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620C48-71F3-EB5A-4980-FDEB2C98F8BE}"/>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Başlık 1">
            <a:extLst>
              <a:ext uri="{FF2B5EF4-FFF2-40B4-BE49-F238E27FC236}">
                <a16:creationId xmlns:a16="http://schemas.microsoft.com/office/drawing/2014/main" id="{C62284B5-072E-110E-FA7C-2F7C92E4449F}"/>
              </a:ext>
            </a:extLst>
          </p:cNvPr>
          <p:cNvSpPr>
            <a:spLocks noGrp="1"/>
          </p:cNvSpPr>
          <p:nvPr>
            <p:ph type="title"/>
          </p:nvPr>
        </p:nvSpPr>
        <p:spPr>
          <a:xfrm>
            <a:off x="841246" y="673770"/>
            <a:ext cx="3644489" cy="2414488"/>
          </a:xfrm>
        </p:spPr>
        <p:txBody>
          <a:bodyPr anchor="t">
            <a:normAutofit/>
          </a:bodyPr>
          <a:lstStyle/>
          <a:p>
            <a:r>
              <a:rPr lang="tr-TR" sz="5400">
                <a:solidFill>
                  <a:srgbClr val="FFFFFF"/>
                </a:solidFill>
              </a:rPr>
              <a:t>ÜRETİM SİSTEMLERİ</a:t>
            </a:r>
          </a:p>
        </p:txBody>
      </p:sp>
      <p:sp>
        <p:nvSpPr>
          <p:cNvPr id="3" name="İçerik Yer Tutucusu 2">
            <a:extLst>
              <a:ext uri="{FF2B5EF4-FFF2-40B4-BE49-F238E27FC236}">
                <a16:creationId xmlns:a16="http://schemas.microsoft.com/office/drawing/2014/main" id="{09C1D931-F36D-9628-8F04-D1C41B35FA95}"/>
              </a:ext>
            </a:extLst>
          </p:cNvPr>
          <p:cNvSpPr>
            <a:spLocks noGrp="1"/>
          </p:cNvSpPr>
          <p:nvPr>
            <p:ph idx="1"/>
          </p:nvPr>
        </p:nvSpPr>
        <p:spPr>
          <a:xfrm>
            <a:off x="6095999" y="882315"/>
            <a:ext cx="5254754" cy="5294647"/>
          </a:xfrm>
        </p:spPr>
        <p:txBody>
          <a:bodyPr>
            <a:normAutofit/>
          </a:bodyPr>
          <a:lstStyle/>
          <a:p>
            <a:r>
              <a:rPr lang="tr-TR" sz="1500" b="1"/>
              <a:t>İmalathane Sistemi: </a:t>
            </a:r>
            <a:r>
              <a:rPr lang="tr-TR" sz="1500"/>
              <a:t>İmalathane sistemi ile üretim, el işçiliğine dayalı olarak yürütülen ancak evlerden çok, imalathane olarak nitelendirilen bağımsız işyerlerinde gerçekleşmektedir. Bu sistemde de üretim makineden çok, emek ve el işçiliği ağırlıklı yürütülmektedir. İmalathane sisteminin temel özellikleri aşağıdaki gibi sıralanabilir: </a:t>
            </a:r>
          </a:p>
          <a:p>
            <a:pPr marL="0" indent="0">
              <a:buNone/>
            </a:pPr>
            <a:r>
              <a:rPr lang="tr-TR" sz="1500"/>
              <a:t> Elişçiliği sisteminin aksine, bu sistemde ürünler, özel alıcıların kişisel isteklerine göre değil, daha geniş bir alıcı kitlesinin genel ve olası istekleri dikkate alınarak üretilir. Bu üretim sisteminde, tüketici ve üretici arasında kişisel bir ilişki bulunmayan geniş bir tüketici kitlesi hedef alındığı için, imalathaneler ilk iki sisteme göre daha büyük ölçekte kurulur.</a:t>
            </a:r>
          </a:p>
          <a:p>
            <a:pPr marL="0" indent="0">
              <a:buNone/>
            </a:pPr>
            <a:r>
              <a:rPr lang="tr-TR" sz="1500"/>
              <a:t>İşletmelerin büyük olması, işbölümü ve uzmanlaşmaya daha çok önem verilmesini gerektirir. Bunun sonucunda ise çalışanlar, uzmanlık alanlarına göre yalnızca belirli ürünleri ya da belirli ürünlerin belli parçalarını üretirler.</a:t>
            </a:r>
          </a:p>
          <a:p>
            <a:pPr marL="0" indent="0">
              <a:buNone/>
            </a:pPr>
            <a:r>
              <a:rPr lang="tr-TR" sz="1500"/>
              <a:t>İmalathane sisteminde, yardımcı araç ve gereçlere yer verilmemesi sebebiyle, sermaye gereksinimi düşük olsa da el işçiliğine oranla daha yüksektir.</a:t>
            </a:r>
          </a:p>
          <a:p>
            <a:pPr marL="0" indent="0">
              <a:buNone/>
            </a:pPr>
            <a:r>
              <a:rPr lang="tr-TR" sz="1500"/>
              <a:t>Maliyetler üretim kapasitesinin kullanımına bağlıdır, sabit giderler ise yüksektir. Bu sistemde kişi işletmeleri yaygındır.</a:t>
            </a:r>
          </a:p>
        </p:txBody>
      </p:sp>
    </p:spTree>
    <p:extLst>
      <p:ext uri="{BB962C8B-B14F-4D97-AF65-F5344CB8AC3E}">
        <p14:creationId xmlns:p14="http://schemas.microsoft.com/office/powerpoint/2010/main" val="567567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503253-403F-F159-265F-CF1239F3E8F8}"/>
            </a:ext>
          </a:extLst>
        </p:cNvPr>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9AB0B3C-F78A-D0EC-F6D5-3C6B56DDEB01}"/>
              </a:ext>
            </a:extLst>
          </p:cNvPr>
          <p:cNvSpPr>
            <a:spLocks noGrp="1"/>
          </p:cNvSpPr>
          <p:nvPr>
            <p:ph type="title"/>
          </p:nvPr>
        </p:nvSpPr>
        <p:spPr>
          <a:xfrm>
            <a:off x="686834" y="591344"/>
            <a:ext cx="3200400" cy="5585619"/>
          </a:xfrm>
        </p:spPr>
        <p:txBody>
          <a:bodyPr>
            <a:normAutofit/>
          </a:bodyPr>
          <a:lstStyle/>
          <a:p>
            <a:r>
              <a:rPr lang="tr-TR">
                <a:solidFill>
                  <a:srgbClr val="FFFFFF"/>
                </a:solidFill>
              </a:rPr>
              <a:t>ÜRETİM SİSTEMLERİ</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A171C2F7-6B7A-E169-9ED6-38D2BA7A25C9}"/>
              </a:ext>
            </a:extLst>
          </p:cNvPr>
          <p:cNvSpPr>
            <a:spLocks noGrp="1"/>
          </p:cNvSpPr>
          <p:nvPr>
            <p:ph idx="1"/>
          </p:nvPr>
        </p:nvSpPr>
        <p:spPr>
          <a:xfrm>
            <a:off x="4447308" y="591344"/>
            <a:ext cx="6906491" cy="5585619"/>
          </a:xfrm>
        </p:spPr>
        <p:txBody>
          <a:bodyPr anchor="ctr">
            <a:normAutofit/>
          </a:bodyPr>
          <a:lstStyle/>
          <a:p>
            <a:r>
              <a:rPr lang="tr-TR" sz="2000" b="1" dirty="0"/>
              <a:t>Fabrikasyon sistemi</a:t>
            </a:r>
            <a:r>
              <a:rPr lang="tr-TR" sz="2000" dirty="0"/>
              <a:t>, imalathane sisteminin zayıf yönlerini ortadan kaldırmak için kurulan, daha büyük çaplı üretim yapan ve daha geniş bir kitlenin taleplerini karşılayacak bir üretim sistemidir. Bu sistemde önceden belli olmayan tüketiciler için üretimde bulunulur ve stoklu çalışma söz konusudur. Bu sistemde çalışan işletmeler, büyük fabrika binalarına, depolara ve yönetim binalarına ihtiyaç duyarlar. İşgücü sayıca fazladır, alıcılar geniş tüketici kitleleri </a:t>
            </a:r>
            <a:r>
              <a:rPr lang="tr-TR" sz="2000" dirty="0" err="1"/>
              <a:t>dir</a:t>
            </a:r>
            <a:r>
              <a:rPr lang="tr-TR" sz="2000" dirty="0"/>
              <a:t>. Bu sistemde üretim sürekli artma eğilimindedir ve kitlesel üretim yapılır. Fabrikasyon sisteminde üretimin yönetimi, diğer üç sisteme göre çok daha karmaşıktır. Genellikle girişimci ve yönetici ayrı kişilerdir. İşletmelerin büyümesi, üretimin artması yönetimi zorlaştırmaktadır. Bu sistemde üretimin yönetimi ge </a:t>
            </a:r>
            <a:r>
              <a:rPr lang="tr-TR" sz="2000" dirty="0" err="1"/>
              <a:t>lişmiş</a:t>
            </a:r>
            <a:r>
              <a:rPr lang="tr-TR" sz="2000" dirty="0"/>
              <a:t> yöntemlerle yürütülmelidir. İşin planlanması, örgütleme ve denetimle ilgili görevlerin yerine getirilmesi güçleşmiştir. Sabit giderler yükseldiği için, kapasite ve büyüklük yönünden dengeli hareket etmek gerekmektedir. Çalışanların da iş </a:t>
            </a:r>
            <a:r>
              <a:rPr lang="tr-TR" sz="2000" dirty="0" err="1"/>
              <a:t>letme</a:t>
            </a:r>
            <a:r>
              <a:rPr lang="tr-TR" sz="2000" dirty="0"/>
              <a:t> amaçlarına uygun davranmaları için özendirilmeleri gerekmektedir.</a:t>
            </a:r>
          </a:p>
        </p:txBody>
      </p:sp>
    </p:spTree>
    <p:extLst>
      <p:ext uri="{BB962C8B-B14F-4D97-AF65-F5344CB8AC3E}">
        <p14:creationId xmlns:p14="http://schemas.microsoft.com/office/powerpoint/2010/main" val="1114170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E2886804-2B07-30A1-B04E-E02BF66EBD17}"/>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ÜRETİM BİÇİMLERİ</a:t>
            </a:r>
          </a:p>
        </p:txBody>
      </p:sp>
      <p:sp>
        <p:nvSpPr>
          <p:cNvPr id="3" name="İçerik Yer Tutucusu 2">
            <a:extLst>
              <a:ext uri="{FF2B5EF4-FFF2-40B4-BE49-F238E27FC236}">
                <a16:creationId xmlns:a16="http://schemas.microsoft.com/office/drawing/2014/main" id="{69B58E26-A188-A5E9-DFD6-E4DDA353D043}"/>
              </a:ext>
            </a:extLst>
          </p:cNvPr>
          <p:cNvSpPr>
            <a:spLocks noGrp="1"/>
          </p:cNvSpPr>
          <p:nvPr>
            <p:ph idx="1"/>
          </p:nvPr>
        </p:nvSpPr>
        <p:spPr>
          <a:xfrm>
            <a:off x="6172200" y="804672"/>
            <a:ext cx="5221224" cy="5230368"/>
          </a:xfrm>
        </p:spPr>
        <p:txBody>
          <a:bodyPr anchor="ctr">
            <a:normAutofit/>
          </a:bodyPr>
          <a:lstStyle/>
          <a:p>
            <a:r>
              <a:rPr lang="tr-TR" sz="1800">
                <a:solidFill>
                  <a:schemeClr val="tx2"/>
                </a:solidFill>
              </a:rPr>
              <a:t>İşletmelerin üretim miktarları, üretime ilişkin donanımlarıyla yakından ilişkili dir. Ancak teknolojideki yenilikler tüketici ihtiyaç ve isteklerini değiştirmekte ve bu değişim pazarlarını, dolayısıyla üretim biçimlerini yeniden yapılandırmakta dır. Bununla birlikte pazar yapıları çok sık değişmekte, pazardaki rekabet üstün lüğünün sağlanması ve pazar paylarının korunması, işletmeler açısından giderek daha zorlu bir hâle gelmektedir. Pazar ortamlarında yaşanan köklü değişimler, üretim biçimlerinin de gelişmesi gereğini ortaya çıkarmaktadır. Üretimde kulla nılan başlıca üretim biçimleri aşağıdaki gibi sınıflandırılabilir:</a:t>
            </a:r>
          </a:p>
          <a:p>
            <a:r>
              <a:rPr lang="tr-TR" sz="1800">
                <a:solidFill>
                  <a:schemeClr val="tx2"/>
                </a:solidFill>
              </a:rPr>
              <a:t>Üretim yöntemine göre sınıflandırma</a:t>
            </a:r>
          </a:p>
          <a:p>
            <a:r>
              <a:rPr lang="tr-TR" sz="1800">
                <a:solidFill>
                  <a:schemeClr val="tx2"/>
                </a:solidFill>
              </a:rPr>
              <a:t> Ürünün cinsine göre sınıflandırma</a:t>
            </a:r>
          </a:p>
          <a:p>
            <a:r>
              <a:rPr lang="tr-TR" sz="1800">
                <a:solidFill>
                  <a:schemeClr val="tx2"/>
                </a:solidFill>
              </a:rPr>
              <a:t> Üretim akışı ve miktarına göre sınıflandırma</a:t>
            </a:r>
          </a:p>
        </p:txBody>
      </p:sp>
    </p:spTree>
    <p:extLst>
      <p:ext uri="{BB962C8B-B14F-4D97-AF65-F5344CB8AC3E}">
        <p14:creationId xmlns:p14="http://schemas.microsoft.com/office/powerpoint/2010/main" val="2044837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6C9E94-9EF9-6AD1-9F45-F0A82045145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D73BA6C8-71EB-CF02-EE6A-C96684141834}"/>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ÜRETİM BİÇİMLERİ</a:t>
            </a:r>
          </a:p>
        </p:txBody>
      </p:sp>
      <p:sp>
        <p:nvSpPr>
          <p:cNvPr id="3" name="İçerik Yer Tutucusu 2">
            <a:extLst>
              <a:ext uri="{FF2B5EF4-FFF2-40B4-BE49-F238E27FC236}">
                <a16:creationId xmlns:a16="http://schemas.microsoft.com/office/drawing/2014/main" id="{D612F066-8DD3-6708-833A-E819743B2878}"/>
              </a:ext>
            </a:extLst>
          </p:cNvPr>
          <p:cNvSpPr>
            <a:spLocks noGrp="1"/>
          </p:cNvSpPr>
          <p:nvPr>
            <p:ph idx="1"/>
          </p:nvPr>
        </p:nvSpPr>
        <p:spPr>
          <a:xfrm>
            <a:off x="6172200" y="804672"/>
            <a:ext cx="5221224" cy="5230368"/>
          </a:xfrm>
        </p:spPr>
        <p:txBody>
          <a:bodyPr anchor="ctr">
            <a:normAutofit/>
          </a:bodyPr>
          <a:lstStyle/>
          <a:p>
            <a:r>
              <a:rPr lang="tr-TR" sz="1800" dirty="0">
                <a:solidFill>
                  <a:schemeClr val="tx2"/>
                </a:solidFill>
              </a:rPr>
              <a:t>Üretim Yöntemine Göre Sınıflandırma Bu sınıflandırmada üretimin yapılmasında uygulanan genel yöntemler göz önüne alınır. Üretim yöntemine göre üretim biçimleri</a:t>
            </a:r>
            <a:r>
              <a:rPr lang="tr-TR" sz="1800" b="1" dirty="0">
                <a:solidFill>
                  <a:schemeClr val="tx2"/>
                </a:solidFill>
              </a:rPr>
              <a:t>; </a:t>
            </a:r>
            <a:r>
              <a:rPr lang="tr-TR" sz="1800" b="1" dirty="0" err="1">
                <a:solidFill>
                  <a:schemeClr val="tx2"/>
                </a:solidFill>
              </a:rPr>
              <a:t>primer</a:t>
            </a:r>
            <a:r>
              <a:rPr lang="tr-TR" sz="1800" b="1" dirty="0">
                <a:solidFill>
                  <a:schemeClr val="tx2"/>
                </a:solidFill>
              </a:rPr>
              <a:t> (birincil), analitik ve sentetik, fabrikasyon ve montaj üretim </a:t>
            </a:r>
            <a:r>
              <a:rPr lang="tr-TR" sz="1800" dirty="0">
                <a:solidFill>
                  <a:schemeClr val="tx2"/>
                </a:solidFill>
              </a:rPr>
              <a:t>olmak üzere dörde ayrılır.</a:t>
            </a:r>
          </a:p>
          <a:p>
            <a:r>
              <a:rPr lang="tr-TR" sz="1800" dirty="0">
                <a:solidFill>
                  <a:schemeClr val="tx2"/>
                </a:solidFill>
              </a:rPr>
              <a:t> </a:t>
            </a:r>
            <a:r>
              <a:rPr lang="tr-TR" sz="1800" b="1" dirty="0" err="1">
                <a:solidFill>
                  <a:schemeClr val="tx2"/>
                </a:solidFill>
              </a:rPr>
              <a:t>Primer</a:t>
            </a:r>
            <a:r>
              <a:rPr lang="tr-TR" sz="1800" b="1" dirty="0">
                <a:solidFill>
                  <a:schemeClr val="tx2"/>
                </a:solidFill>
              </a:rPr>
              <a:t> (birincil) Üretim: </a:t>
            </a:r>
            <a:r>
              <a:rPr lang="tr-TR" sz="1800" dirty="0">
                <a:solidFill>
                  <a:schemeClr val="tx2"/>
                </a:solidFill>
              </a:rPr>
              <a:t>Yeryüzünde kullanılan her çeşit ürünün üretiminde yer alan ürünlerin üretimine birincil üretim denmektedir. Doğada bulunan ham maddelerin çıkarılması biçimindeki üretimdir. Madenler, kömür, orman	ürünleri ve petrol gibi madenlerin çıkarılması </a:t>
            </a:r>
            <a:r>
              <a:rPr lang="tr-TR" sz="1800" dirty="0" err="1">
                <a:solidFill>
                  <a:schemeClr val="tx2"/>
                </a:solidFill>
              </a:rPr>
              <a:t>primer</a:t>
            </a:r>
            <a:r>
              <a:rPr lang="tr-TR" sz="1800" dirty="0">
                <a:solidFill>
                  <a:schemeClr val="tx2"/>
                </a:solidFill>
              </a:rPr>
              <a:t> üretimdir.</a:t>
            </a:r>
          </a:p>
        </p:txBody>
      </p:sp>
    </p:spTree>
    <p:extLst>
      <p:ext uri="{BB962C8B-B14F-4D97-AF65-F5344CB8AC3E}">
        <p14:creationId xmlns:p14="http://schemas.microsoft.com/office/powerpoint/2010/main" val="2332995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5AB1DA-F78C-5216-E1B0-8A4B1AC9549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9364EE81-761E-4295-7AA0-05223EC25BE9}"/>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ÜRETİM BİÇİMLERİ</a:t>
            </a:r>
          </a:p>
        </p:txBody>
      </p:sp>
      <p:sp>
        <p:nvSpPr>
          <p:cNvPr id="3" name="İçerik Yer Tutucusu 2">
            <a:extLst>
              <a:ext uri="{FF2B5EF4-FFF2-40B4-BE49-F238E27FC236}">
                <a16:creationId xmlns:a16="http://schemas.microsoft.com/office/drawing/2014/main" id="{6DEC8276-6D10-2260-1B0E-70687878009E}"/>
              </a:ext>
            </a:extLst>
          </p:cNvPr>
          <p:cNvSpPr>
            <a:spLocks noGrp="1"/>
          </p:cNvSpPr>
          <p:nvPr>
            <p:ph idx="1"/>
          </p:nvPr>
        </p:nvSpPr>
        <p:spPr>
          <a:xfrm>
            <a:off x="6172200" y="804672"/>
            <a:ext cx="5221224" cy="5230368"/>
          </a:xfrm>
        </p:spPr>
        <p:txBody>
          <a:bodyPr anchor="ctr">
            <a:normAutofit/>
          </a:bodyPr>
          <a:lstStyle/>
          <a:p>
            <a:r>
              <a:rPr lang="tr-TR" sz="1700" b="1">
                <a:solidFill>
                  <a:schemeClr val="tx2"/>
                </a:solidFill>
              </a:rPr>
              <a:t>Analitik ve Sentetik Üretim: </a:t>
            </a:r>
            <a:r>
              <a:rPr lang="tr-TR" sz="1700">
                <a:solidFill>
                  <a:schemeClr val="tx2"/>
                </a:solidFill>
              </a:rPr>
              <a:t>Hammaddelerden ayrıştırma vasıtasıyla değişik ürünlerin elde edilmesi analitik üretimdir. Örneğin ham petrolden çeşitli petrol ürünlerinin elde edilmesi analitik üretim bi çimidir. Hammaddelerin bir araya ge tirilerek yeni ürünlere dönüştürülmesi ise sentetik üretimdir. Örneğin alaşımlı çelik, bronz ve kauçuk üretimi gibi. </a:t>
            </a:r>
          </a:p>
          <a:p>
            <a:r>
              <a:rPr lang="tr-TR" sz="1700" b="1">
                <a:solidFill>
                  <a:schemeClr val="tx2"/>
                </a:solidFill>
              </a:rPr>
              <a:t>Fabrikasyon Üretimi: </a:t>
            </a:r>
            <a:r>
              <a:rPr lang="tr-TR" sz="1700">
                <a:solidFill>
                  <a:schemeClr val="tx2"/>
                </a:solidFill>
              </a:rPr>
              <a:t>Hammaddelerin biçimini değiştirerek değerini arttıran ve böylece yeni ürünler oluşturan üretim biçimidir. Örneğin konfeksiyon, mobil ya, ayakkabı üretimi gibi. </a:t>
            </a:r>
          </a:p>
          <a:p>
            <a:r>
              <a:rPr lang="tr-TR" sz="1700" b="1">
                <a:solidFill>
                  <a:schemeClr val="tx2"/>
                </a:solidFill>
              </a:rPr>
              <a:t>Montaj Üretimi: </a:t>
            </a:r>
            <a:r>
              <a:rPr lang="tr-TR" sz="1700">
                <a:solidFill>
                  <a:schemeClr val="tx2"/>
                </a:solidFill>
              </a:rPr>
              <a:t>Çeşitli hammadde yarı mamul ve ürünlerin sistemli bir şekil de bir araya getirilerek yeni ürünlerin ortaya çıkarılmasına montaj üretimi denir. Otomobil, buzdolabı, televizyon gibi ürünlerin üretimi bu üretim biçimine örnek olarak verilebilir. İşletmeler yukarıda sıralanan üretim biçimlerinden bir ya da birkaçını kullanarak üretim yapmaktadır.</a:t>
            </a:r>
          </a:p>
        </p:txBody>
      </p:sp>
    </p:spTree>
    <p:extLst>
      <p:ext uri="{BB962C8B-B14F-4D97-AF65-F5344CB8AC3E}">
        <p14:creationId xmlns:p14="http://schemas.microsoft.com/office/powerpoint/2010/main" val="2406969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CF9387-D68E-3269-F1FA-DB223DC67FF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Başlık 1">
            <a:extLst>
              <a:ext uri="{FF2B5EF4-FFF2-40B4-BE49-F238E27FC236}">
                <a16:creationId xmlns:a16="http://schemas.microsoft.com/office/drawing/2014/main" id="{E6C2B6FE-9671-8484-C0F7-ED41C81EFA87}"/>
              </a:ext>
            </a:extLst>
          </p:cNvPr>
          <p:cNvSpPr>
            <a:spLocks noGrp="1"/>
          </p:cNvSpPr>
          <p:nvPr>
            <p:ph type="title"/>
          </p:nvPr>
        </p:nvSpPr>
        <p:spPr>
          <a:xfrm>
            <a:off x="640080" y="1243013"/>
            <a:ext cx="3855720" cy="4371974"/>
          </a:xfrm>
        </p:spPr>
        <p:txBody>
          <a:bodyPr>
            <a:normAutofit/>
          </a:bodyPr>
          <a:lstStyle/>
          <a:p>
            <a:r>
              <a:rPr lang="tr-TR" sz="3600">
                <a:solidFill>
                  <a:schemeClr val="tx2"/>
                </a:solidFill>
              </a:rPr>
              <a:t>ÜRETİM BİÇİMLERİ</a:t>
            </a:r>
          </a:p>
        </p:txBody>
      </p:sp>
      <p:sp>
        <p:nvSpPr>
          <p:cNvPr id="3" name="İçerik Yer Tutucusu 2">
            <a:extLst>
              <a:ext uri="{FF2B5EF4-FFF2-40B4-BE49-F238E27FC236}">
                <a16:creationId xmlns:a16="http://schemas.microsoft.com/office/drawing/2014/main" id="{B8D2D73C-1F32-23D0-C3AA-4127F1390BFB}"/>
              </a:ext>
            </a:extLst>
          </p:cNvPr>
          <p:cNvSpPr>
            <a:spLocks noGrp="1"/>
          </p:cNvSpPr>
          <p:nvPr>
            <p:ph idx="1"/>
          </p:nvPr>
        </p:nvSpPr>
        <p:spPr>
          <a:xfrm>
            <a:off x="6172200" y="804672"/>
            <a:ext cx="5221224" cy="5230368"/>
          </a:xfrm>
        </p:spPr>
        <p:txBody>
          <a:bodyPr anchor="ctr">
            <a:normAutofit/>
          </a:bodyPr>
          <a:lstStyle/>
          <a:p>
            <a:r>
              <a:rPr lang="tr-TR" sz="1800" b="1">
                <a:solidFill>
                  <a:schemeClr val="tx2"/>
                </a:solidFill>
              </a:rPr>
              <a:t>Ürünün Cinsine Göre Sınıflandırma</a:t>
            </a:r>
            <a:r>
              <a:rPr lang="tr-TR" sz="1800">
                <a:solidFill>
                  <a:schemeClr val="tx2"/>
                </a:solidFill>
              </a:rPr>
              <a:t>: Bazı durumlarda, üretilen ürünün özellikleri üretim biçiminin özelliklerinin belirlenmesinde oldukça önem taşır. Fabrika binasının yapısı, kullanılan makineler, insan gücü yapısı belirli tip bir ürüne göre oluşturulabilir. Örneğin, demir çelik üretimi, kömür üretimi, kimyasal maddelerin üretimi, tekstil üretimi gibi ürünlerin üretimi bu gruba girmektedir.</a:t>
            </a:r>
          </a:p>
          <a:p>
            <a:r>
              <a:rPr lang="tr-TR" sz="1800">
                <a:solidFill>
                  <a:schemeClr val="tx2"/>
                </a:solidFill>
              </a:rPr>
              <a:t> Üretim Akışı ve Miktarına Göre Sınıflandırma: Üretilecek ürünlerin miktarı ile bu ürünlerin üretim esnasında fabrika içinde izle dikleri yola göre yapılan sınıflandırmadır. Üretim akışına ve miktarına göre sınıflandırma; tek üretim, seri üretim, akıcı üretim, sipariş üretim, sürekli üretim ve yalın üretim olmak üzere altı grupta incelenebilir.</a:t>
            </a:r>
          </a:p>
        </p:txBody>
      </p:sp>
    </p:spTree>
    <p:extLst>
      <p:ext uri="{BB962C8B-B14F-4D97-AF65-F5344CB8AC3E}">
        <p14:creationId xmlns:p14="http://schemas.microsoft.com/office/powerpoint/2010/main" val="3207575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1731EF0-7883-441F-5590-3F4E5D4DB35A}"/>
              </a:ext>
            </a:extLst>
          </p:cNvPr>
          <p:cNvSpPr>
            <a:spLocks noGrp="1"/>
          </p:cNvSpPr>
          <p:nvPr>
            <p:ph type="title"/>
          </p:nvPr>
        </p:nvSpPr>
        <p:spPr>
          <a:xfrm>
            <a:off x="1389278" y="1233241"/>
            <a:ext cx="3240506" cy="4064628"/>
          </a:xfrm>
        </p:spPr>
        <p:txBody>
          <a:bodyPr>
            <a:normAutofit/>
          </a:bodyPr>
          <a:lstStyle/>
          <a:p>
            <a:r>
              <a:rPr lang="tr-TR">
                <a:solidFill>
                  <a:srgbClr val="FFFFFF"/>
                </a:solidFill>
              </a:rPr>
              <a:t>Üretim Akışı ve Miktarına Göre Sınıflandırma</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İçerik Yer Tutucusu 2">
            <a:extLst>
              <a:ext uri="{FF2B5EF4-FFF2-40B4-BE49-F238E27FC236}">
                <a16:creationId xmlns:a16="http://schemas.microsoft.com/office/drawing/2014/main" id="{9FADF18A-04FB-95D1-A9E2-BC684CFD7033}"/>
              </a:ext>
            </a:extLst>
          </p:cNvPr>
          <p:cNvSpPr>
            <a:spLocks noGrp="1"/>
          </p:cNvSpPr>
          <p:nvPr>
            <p:ph idx="1"/>
          </p:nvPr>
        </p:nvSpPr>
        <p:spPr>
          <a:xfrm>
            <a:off x="6096000" y="820880"/>
            <a:ext cx="5257799" cy="4889350"/>
          </a:xfrm>
        </p:spPr>
        <p:txBody>
          <a:bodyPr anchor="t">
            <a:normAutofit/>
          </a:bodyPr>
          <a:lstStyle/>
          <a:p>
            <a:r>
              <a:rPr lang="tr-TR" sz="2000" b="1" dirty="0"/>
              <a:t>Tek Üretim (Proje Tipi Üretim): </a:t>
            </a:r>
            <a:r>
              <a:rPr lang="tr-TR" sz="2000" dirty="0"/>
              <a:t>Tek üretimde, belirli bir zaman diliminde tek bir ürün üretilir ve üretim işlemi tekrar edilmez. Aynı sürede, aynı kalitede ve aynı ölçüde yalnızca bir ürün meydana getirildiği için, her üretilen ürün, kendisinden bir önceki ya da sonrakinden değişik olur. Gemiler, binalar, barajlar ve köprüler bu üretim biçiminin örneklerindendir. Bu üretim biçiminde sipariş üzerine çalışılır. Üretim, alıcının isteklerine uygun bir şekilde planlanarak gerçekleştirilir. Tek üretim genelde yapım yerinde üretim özelliği göstermektedir. Üretimle ilgili her çeşit unsur, üretimin yapılacağı yere taşınır; üretim bittikten sonra eski yerine getirilir ya da başka üretim için kullanılmak üzere düzenlenir.</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107365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6AA99D-3DE9-25D0-6484-84A55511F45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318BE4C-62F1-C586-4FC6-1BF25DB9B844}"/>
              </a:ext>
            </a:extLst>
          </p:cNvPr>
          <p:cNvSpPr>
            <a:spLocks noGrp="1"/>
          </p:cNvSpPr>
          <p:nvPr>
            <p:ph type="title"/>
          </p:nvPr>
        </p:nvSpPr>
        <p:spPr>
          <a:xfrm>
            <a:off x="1389278" y="1233241"/>
            <a:ext cx="3240506" cy="4064628"/>
          </a:xfrm>
        </p:spPr>
        <p:txBody>
          <a:bodyPr>
            <a:normAutofit/>
          </a:bodyPr>
          <a:lstStyle/>
          <a:p>
            <a:r>
              <a:rPr lang="tr-TR">
                <a:solidFill>
                  <a:srgbClr val="FFFFFF"/>
                </a:solidFill>
              </a:rPr>
              <a:t>Üretim Akışı ve Miktarına Göre Sınıflandırma</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İçerik Yer Tutucusu 2">
            <a:extLst>
              <a:ext uri="{FF2B5EF4-FFF2-40B4-BE49-F238E27FC236}">
                <a16:creationId xmlns:a16="http://schemas.microsoft.com/office/drawing/2014/main" id="{41621E9E-8808-BA0C-F099-D1C07B9EE1C3}"/>
              </a:ext>
            </a:extLst>
          </p:cNvPr>
          <p:cNvSpPr>
            <a:spLocks noGrp="1"/>
          </p:cNvSpPr>
          <p:nvPr>
            <p:ph idx="1"/>
          </p:nvPr>
        </p:nvSpPr>
        <p:spPr>
          <a:xfrm>
            <a:off x="6096000" y="820880"/>
            <a:ext cx="5257799" cy="4889350"/>
          </a:xfrm>
        </p:spPr>
        <p:txBody>
          <a:bodyPr anchor="t">
            <a:normAutofit/>
          </a:bodyPr>
          <a:lstStyle/>
          <a:p>
            <a:r>
              <a:rPr lang="tr-TR" sz="1800" b="1" dirty="0"/>
              <a:t>Seri Üretim</a:t>
            </a:r>
            <a:r>
              <a:rPr lang="tr-TR" sz="1800" dirty="0"/>
              <a:t>: Bir ürünün özel bir sipariş ya da pazardaki talebi karşılamak amacıyla, belirli bir süre üretilmesidir. Üretilen seri tamamlandıktan sonra, bir başka ürünün seri sinin üretimine geçilir. Seriler büyüdükçe ve üretim periyodu uzadıkça üretim planlama ve kontrol çalışmaları daha düzenli bir	şekilde yapılır. Makine takımı, teçhizat ve işgücünün planlanmasında gösterilecek özen, serinin büyüklüğüne ve üretim periyodunun sıklığına bağlıdır. Bu sistemde seri miktarı küçükse ve üre tim periyodu kısaysa, uygulanan üretim biçimi sipariş üretimine benzer eğer seri miktarı büyük ve üretim periyodu uzunsa uygulanan üretim yöntemleri kitle üretimine benzer. Seri üretim biçimine ev eşyası, hazır giyim, gıda gibi ürünlerin üretimleri örnek olarak verilebilir.</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837542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2DFDA9-7F20-0D5E-25BF-CE74439AE77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EEAAB23-751A-0FD9-4953-E1EF138AF26D}"/>
              </a:ext>
            </a:extLst>
          </p:cNvPr>
          <p:cNvSpPr>
            <a:spLocks noGrp="1"/>
          </p:cNvSpPr>
          <p:nvPr>
            <p:ph type="title"/>
          </p:nvPr>
        </p:nvSpPr>
        <p:spPr>
          <a:xfrm>
            <a:off x="1389278" y="1233241"/>
            <a:ext cx="3240506" cy="4064628"/>
          </a:xfrm>
        </p:spPr>
        <p:txBody>
          <a:bodyPr>
            <a:normAutofit/>
          </a:bodyPr>
          <a:lstStyle/>
          <a:p>
            <a:r>
              <a:rPr lang="tr-TR">
                <a:solidFill>
                  <a:srgbClr val="FFFFFF"/>
                </a:solidFill>
              </a:rPr>
              <a:t>Üretim Akışı ve Miktarına Göre Sınıflandırma</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İçerik Yer Tutucusu 2">
            <a:extLst>
              <a:ext uri="{FF2B5EF4-FFF2-40B4-BE49-F238E27FC236}">
                <a16:creationId xmlns:a16="http://schemas.microsoft.com/office/drawing/2014/main" id="{CA0F3535-BBA7-F4F1-7D97-1089D5A472E7}"/>
              </a:ext>
            </a:extLst>
          </p:cNvPr>
          <p:cNvSpPr>
            <a:spLocks noGrp="1"/>
          </p:cNvSpPr>
          <p:nvPr>
            <p:ph idx="1"/>
          </p:nvPr>
        </p:nvSpPr>
        <p:spPr>
          <a:xfrm>
            <a:off x="6096000" y="820880"/>
            <a:ext cx="5257799" cy="4889350"/>
          </a:xfrm>
        </p:spPr>
        <p:txBody>
          <a:bodyPr anchor="t">
            <a:normAutofit/>
          </a:bodyPr>
          <a:lstStyle/>
          <a:p>
            <a:r>
              <a:rPr lang="tr-TR" sz="1500" b="1"/>
              <a:t>Akıcı Üretim: </a:t>
            </a:r>
            <a:r>
              <a:rPr lang="tr-TR" sz="1500"/>
              <a:t>Akıcı üretimde, standartlaştırılmış ürünlerin üretilmesi amacıyla sağlanmış özel makinelerle kesintisiz olarak ve belirli bir üretim hattı çerçevesinde üretim gerçekleştirilir. Üretim hattında, üretimle ilgili birbirini tamamlayan işlemlerin yapıldığı iş merkezleri bulunur ve bu merkezler bir diğerine bağımlıdır. Hattın bir ucun dan başlayan üretim, tek tek iş merkezlerine uğrayarak hattın sonuna kadar gider. Hattın başında ham şekilde olan ürün, hattın sonunda nihai ürün olarak çıkar. Bu üretim biçiminde, üretime ilişkin hazırlıklar önceden yapılır ve üretime iliş kin girdiler üretim merkezlerine zamanında verilmek üzere hazır bulundurulur. Bunun yanı sıra, otomasyon gereği, her çalışanın yapacağı iş, önceden tam olarak tanımlanmış ve süresi kesin olarak belirlenmiştir. Akıcı üretimde iş akışının bir birine bağımlı olması, zaman ve iş etüdü adı verilen ön çalışmaların zamanında ve doğru bir biçimde yapılmasını zorunlu kılmaktadır. İş başındaki süreklilik, çalışanlarda çeşitli sorunla </a:t>
            </a:r>
            <a:r>
              <a:rPr lang="tr-TR" sz="1500" err="1"/>
              <a:t>ra</a:t>
            </a:r>
            <a:r>
              <a:rPr lang="tr-TR" sz="1500"/>
              <a:t> yol açabilir. İş akış hızının gereğinden çok olması, aynı işi sürekli yapmanın yol açacağı bunalım, bu üretim biçiminde çalışanlar için problemler oluşturabilir. Bu durum, verimliliğin düşmesine ya da çıktı kalitesinin bozulmasına yol açabilir. </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886265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0FBDBC-D3AB-C8C7-46D0-B62D2058258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6C58E41-7CD4-809D-23F5-7129554057D9}"/>
              </a:ext>
            </a:extLst>
          </p:cNvPr>
          <p:cNvSpPr>
            <a:spLocks noGrp="1"/>
          </p:cNvSpPr>
          <p:nvPr>
            <p:ph type="title"/>
          </p:nvPr>
        </p:nvSpPr>
        <p:spPr>
          <a:xfrm>
            <a:off x="956826" y="1112969"/>
            <a:ext cx="3937298" cy="4166010"/>
          </a:xfrm>
        </p:spPr>
        <p:txBody>
          <a:bodyPr>
            <a:normAutofit/>
          </a:bodyPr>
          <a:lstStyle/>
          <a:p>
            <a:r>
              <a:rPr lang="tr-TR">
                <a:solidFill>
                  <a:srgbClr val="FFFFFF"/>
                </a:solidFill>
              </a:rPr>
              <a:t>Üretim Akışı ve Miktarına Göre Sınıflandırma</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İçerik Yer Tutucusu 2">
            <a:extLst>
              <a:ext uri="{FF2B5EF4-FFF2-40B4-BE49-F238E27FC236}">
                <a16:creationId xmlns:a16="http://schemas.microsoft.com/office/drawing/2014/main" id="{2A19E9D8-A27E-94FE-F301-1C95A69B1219}"/>
              </a:ext>
            </a:extLst>
          </p:cNvPr>
          <p:cNvSpPr>
            <a:spLocks noGrp="1"/>
          </p:cNvSpPr>
          <p:nvPr>
            <p:ph idx="1"/>
          </p:nvPr>
        </p:nvSpPr>
        <p:spPr>
          <a:xfrm>
            <a:off x="6096000" y="820879"/>
            <a:ext cx="5617029" cy="5608949"/>
          </a:xfrm>
        </p:spPr>
        <p:txBody>
          <a:bodyPr anchor="t">
            <a:normAutofit lnSpcReduction="10000"/>
          </a:bodyPr>
          <a:lstStyle/>
          <a:p>
            <a:r>
              <a:rPr lang="tr-TR" sz="1600" b="1" dirty="0"/>
              <a:t>Sipariş Üretim: </a:t>
            </a:r>
            <a:r>
              <a:rPr lang="tr-TR" sz="1600" dirty="0"/>
              <a:t>Bu üretim biçiminde, tüketicinin ya da alıcı işletmenin zaman, miktar ve kalite açısından özel olarak belirlediği bir ürün üretilir. Üre tim miktarı bir ya da bir kaç adet denebilecek kadar azdır. Büyük buhar kazanı, özel elektronik aletler ve büyük takım tezgahları gibi üre timler bu gruba girer. Sipariş üretimi, üretimin yapıldığı sürelerin düzeni açısından üç gruba ayrılır:</a:t>
            </a:r>
          </a:p>
          <a:p>
            <a:r>
              <a:rPr lang="tr-TR" sz="1600" dirty="0"/>
              <a:t>Az sayıda ürünün  bir defada üretilmesi,	</a:t>
            </a:r>
          </a:p>
          <a:p>
            <a:r>
              <a:rPr lang="tr-TR" sz="1600" dirty="0"/>
              <a:t>Az sayıda ürünün talep geldikçe, belirsiz aralıklarla üretilmesi, </a:t>
            </a:r>
          </a:p>
          <a:p>
            <a:r>
              <a:rPr lang="tr-TR" sz="1600" dirty="0"/>
              <a:t>Az sayıda ürünün belirli aralıklarda periyodik olarak üretilmesi.</a:t>
            </a:r>
          </a:p>
          <a:p>
            <a:pPr marL="0" indent="0">
              <a:buNone/>
            </a:pPr>
            <a:r>
              <a:rPr lang="tr-TR" sz="1600" dirty="0"/>
              <a:t> Yalnız bir defa üretilen ürünler için; üretim tekniği, alet, teçhizat ve planlama açısından yapılacak bir şey bulunmamaktadır. Belirli ya da belirsiz aralıklarda üretilen ürünler için yöntem, planlama ve kontrol işlemlerinin düzenlenmesi ve bunlarla ilgili bilgilerin gerektiğinde tekrar kullanılmak için özenle saklanması önem taşımaktadır. Bu üretim biçiminde tezgah ve işgücü kapasitesinden yararlanma oranı düşüktür. Siparişlerin yığılması yüzünden sırada bekleme süresinin uzama ihtimali de yüksektir. Kısaca tekrar kullanma ihtimali bulunan bilgilerin önceden saptanıp iyi korunması önemlidir.</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159277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BE1D38-873D-13A5-1E18-527239E20A0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8F1FB96-26C2-14AD-3A05-4925D8A73E80}"/>
              </a:ext>
            </a:extLst>
          </p:cNvPr>
          <p:cNvSpPr>
            <a:spLocks noGrp="1"/>
          </p:cNvSpPr>
          <p:nvPr>
            <p:ph type="title"/>
          </p:nvPr>
        </p:nvSpPr>
        <p:spPr>
          <a:xfrm>
            <a:off x="956826" y="1112969"/>
            <a:ext cx="3937298" cy="4166010"/>
          </a:xfrm>
        </p:spPr>
        <p:txBody>
          <a:bodyPr>
            <a:normAutofit/>
          </a:bodyPr>
          <a:lstStyle/>
          <a:p>
            <a:r>
              <a:rPr lang="tr-TR">
                <a:solidFill>
                  <a:srgbClr val="FFFFFF"/>
                </a:solidFill>
              </a:rPr>
              <a:t>Üretim Akışı ve Miktarına Göre Sınıflandırma</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İçerik Yer Tutucusu 2">
            <a:extLst>
              <a:ext uri="{FF2B5EF4-FFF2-40B4-BE49-F238E27FC236}">
                <a16:creationId xmlns:a16="http://schemas.microsoft.com/office/drawing/2014/main" id="{B427D72E-AC83-7BB2-AEE0-D6C99D5C66ED}"/>
              </a:ext>
            </a:extLst>
          </p:cNvPr>
          <p:cNvSpPr>
            <a:spLocks noGrp="1"/>
          </p:cNvSpPr>
          <p:nvPr>
            <p:ph idx="1"/>
          </p:nvPr>
        </p:nvSpPr>
        <p:spPr>
          <a:xfrm>
            <a:off x="6096000" y="820880"/>
            <a:ext cx="5257799" cy="4889350"/>
          </a:xfrm>
        </p:spPr>
        <p:txBody>
          <a:bodyPr anchor="t">
            <a:normAutofit/>
          </a:bodyPr>
          <a:lstStyle/>
          <a:p>
            <a:r>
              <a:rPr lang="tr-TR" sz="2200" b="1" dirty="0"/>
              <a:t>Sürekli Üretim: </a:t>
            </a:r>
            <a:r>
              <a:rPr lang="tr-TR" sz="2200" dirty="0"/>
              <a:t>Üretim yapmak için takip edilecek yöntemler gereği olarak, </a:t>
            </a:r>
            <a:r>
              <a:rPr lang="tr-TR" sz="2200" dirty="0" err="1"/>
              <a:t>teçhizatların</a:t>
            </a:r>
            <a:r>
              <a:rPr lang="tr-TR" sz="2200" dirty="0"/>
              <a:t> organize edilip sıralandığı bir üretim sistemidir. Üretim sırasında malzeme akışı süreklidir. İşlerin rotası sabittir ve tezgah ayarları çok seyrek değişir. Eğer üretimin tümü için pazar bulunabiliyorsa bu tip bir üretim avantajlıdır. Tersi durumda özel ve pahalı makine ve teçhizat gerek tiren bu tip üretim biçimlerinde üretim esnekliği olmadığından, talep azalmalarının maliyeti çok yüksek olur. Bu tip üretim biçimi, kitlesel üretim ve akış tipi üretim olmak üzere ikiye ayrılmaktadır.</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2647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46A6B0-1A12-A8BB-1472-6407D4A9BD5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9C28F81-42BC-8B20-DE3B-968EEDCF8158}"/>
              </a:ext>
            </a:extLst>
          </p:cNvPr>
          <p:cNvSpPr>
            <a:spLocks noGrp="1"/>
          </p:cNvSpPr>
          <p:nvPr>
            <p:ph type="title"/>
          </p:nvPr>
        </p:nvSpPr>
        <p:spPr>
          <a:xfrm>
            <a:off x="1171074" y="1396686"/>
            <a:ext cx="3240506" cy="4064628"/>
          </a:xfrm>
        </p:spPr>
        <p:txBody>
          <a:bodyPr>
            <a:normAutofit/>
          </a:bodyPr>
          <a:lstStyle/>
          <a:p>
            <a:r>
              <a:rPr lang="tr-TR">
                <a:solidFill>
                  <a:srgbClr val="FFFFFF"/>
                </a:solidFill>
              </a:rPr>
              <a:t>Üretim Akışı ve Miktarına Göre Sınıflandırma</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5DF467EA-C903-178A-413B-E299287CE518}"/>
              </a:ext>
            </a:extLst>
          </p:cNvPr>
          <p:cNvSpPr>
            <a:spLocks noGrp="1"/>
          </p:cNvSpPr>
          <p:nvPr>
            <p:ph idx="1"/>
          </p:nvPr>
        </p:nvSpPr>
        <p:spPr>
          <a:xfrm>
            <a:off x="5370153" y="1526033"/>
            <a:ext cx="6332658" cy="4936187"/>
          </a:xfrm>
        </p:spPr>
        <p:txBody>
          <a:bodyPr>
            <a:normAutofit lnSpcReduction="10000"/>
          </a:bodyPr>
          <a:lstStyle/>
          <a:p>
            <a:r>
              <a:rPr lang="tr-TR" sz="2000" b="1" dirty="0"/>
              <a:t>Yalın Üretim: </a:t>
            </a:r>
            <a:r>
              <a:rPr lang="tr-TR" sz="2000" dirty="0"/>
              <a:t>Yalın kavramının özünde en az maliyetle tüketici değerini en üste çıkarma amacı vardır. Diğer bir ifade ile yalınlıkla, tüketiciler için en az kaynakla en çok değer yaratma amaçlanmaktadır. Yalın bir örgüt, tüketici değerini anlar ve tüm süreçlerinde devamlı olarak bu değer üzerine odaklanır. Son amaç, sıfır kayıpla gerçek bir değer yaratma süreci ile tüketicilere ulaşmaktır. Üretim sürecinde daha az in san emeği, da ha az alan, da ha az sermaye ve daha az zaman harcanır. Bu şe kil de geleneksel üretim sistemine oranla daha az hatalı ürün çıkacak ve maliyetler daha düşük olacaktır. Yalın üretim, işletmeyi daha etkin ve he def pazara daha duyarlı kılarak maliyetleri en aza indirmeyi amaçlar. Bu yaklaşım, üretim sürecine değer katmayan stok bulundurma, hatalı ürünü onarma, çalışanların ve ürünlerin gereksiz hare ketleri, aşırı üretim, gereksiz bekleme süreleri, hurda birikimi gibi tüm olumsuzlukları ortadan kaldırmaya yöneliktir.</a:t>
            </a:r>
          </a:p>
        </p:txBody>
      </p:sp>
    </p:spTree>
    <p:extLst>
      <p:ext uri="{BB962C8B-B14F-4D97-AF65-F5344CB8AC3E}">
        <p14:creationId xmlns:p14="http://schemas.microsoft.com/office/powerpoint/2010/main" val="1543713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BFA7AF-B0D7-9B7C-2BB4-5FA14389B2F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C1CA014-3399-4D8F-E40B-7322205BBE77}"/>
              </a:ext>
            </a:extLst>
          </p:cNvPr>
          <p:cNvSpPr>
            <a:spLocks noGrp="1"/>
          </p:cNvSpPr>
          <p:nvPr>
            <p:ph type="title"/>
          </p:nvPr>
        </p:nvSpPr>
        <p:spPr>
          <a:xfrm>
            <a:off x="686834" y="1153572"/>
            <a:ext cx="3200400" cy="4461163"/>
          </a:xfrm>
        </p:spPr>
        <p:txBody>
          <a:bodyPr>
            <a:normAutofit/>
          </a:bodyPr>
          <a:lstStyle/>
          <a:p>
            <a:r>
              <a:rPr lang="tr-TR">
                <a:solidFill>
                  <a:srgbClr val="FFFFFF"/>
                </a:solidFill>
              </a:rPr>
              <a:t>Üretim Akışı ve Miktarına Göre Sınıflandırma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İçerik Yer Tutucusu 2">
            <a:extLst>
              <a:ext uri="{FF2B5EF4-FFF2-40B4-BE49-F238E27FC236}">
                <a16:creationId xmlns:a16="http://schemas.microsoft.com/office/drawing/2014/main" id="{7DCCE63E-4952-0BC5-67F5-650415FD494A}"/>
              </a:ext>
            </a:extLst>
          </p:cNvPr>
          <p:cNvSpPr>
            <a:spLocks noGrp="1"/>
          </p:cNvSpPr>
          <p:nvPr>
            <p:ph idx="1"/>
          </p:nvPr>
        </p:nvSpPr>
        <p:spPr>
          <a:xfrm>
            <a:off x="4447308" y="591344"/>
            <a:ext cx="6906491" cy="5585619"/>
          </a:xfrm>
        </p:spPr>
        <p:txBody>
          <a:bodyPr anchor="ctr">
            <a:normAutofit/>
          </a:bodyPr>
          <a:lstStyle/>
          <a:p>
            <a:pPr marL="0" indent="0">
              <a:buNone/>
            </a:pPr>
            <a:r>
              <a:rPr lang="tr-TR" sz="2000" dirty="0"/>
              <a:t>Yalın üretimin temel özellikleri aşağıdaki gibi özetlenebilir:</a:t>
            </a:r>
          </a:p>
          <a:p>
            <a:r>
              <a:rPr lang="tr-TR" sz="2000" dirty="0"/>
              <a:t>Üretimin her aşamasında israfı yok etmeyi hedefler, bu amaçla bütün üretim faktörlerini daha az kullanır, </a:t>
            </a:r>
          </a:p>
          <a:p>
            <a:r>
              <a:rPr lang="tr-TR" sz="2000" dirty="0"/>
              <a:t>Tam zamanında  üretim doğrultusunda stoksuz üretimi öngörür,	</a:t>
            </a:r>
          </a:p>
          <a:p>
            <a:r>
              <a:rPr lang="tr-TR" sz="2000" dirty="0"/>
              <a:t>Tedarikçilerle ilişkiler, sistemin en önemli desteklerindendir,	</a:t>
            </a:r>
          </a:p>
          <a:p>
            <a:r>
              <a:rPr lang="tr-TR" sz="2000" dirty="0"/>
              <a:t>İç ve dış paydaşların beklentilerini temel alır,	</a:t>
            </a:r>
          </a:p>
          <a:p>
            <a:r>
              <a:rPr lang="tr-TR" sz="2000" dirty="0"/>
              <a:t>Üretim ve ürün esnekliği vardır, </a:t>
            </a:r>
          </a:p>
          <a:p>
            <a:r>
              <a:rPr lang="tr-TR" sz="2000" dirty="0"/>
              <a:t>Her süreçte sürekli gelişmeyi	ve kaliteyi amaçlar,	</a:t>
            </a:r>
          </a:p>
          <a:p>
            <a:r>
              <a:rPr lang="tr-TR" sz="2000" dirty="0"/>
              <a:t>İnsan odaklı bir örgütlenme anlayışı vardır,	</a:t>
            </a:r>
          </a:p>
          <a:p>
            <a:r>
              <a:rPr lang="tr-TR" sz="2000" dirty="0"/>
              <a:t>İletişim ve kararlara katılım bulunmaktadır,</a:t>
            </a:r>
          </a:p>
          <a:p>
            <a:r>
              <a:rPr lang="tr-TR" sz="2000" dirty="0"/>
              <a:t>Çok işlevli </a:t>
            </a:r>
            <a:r>
              <a:rPr lang="tr-TR" sz="2000" dirty="0" err="1"/>
              <a:t>işgörenlerle</a:t>
            </a:r>
            <a:r>
              <a:rPr lang="tr-TR" sz="2000" dirty="0"/>
              <a:t> gerçekleştirilen ekip çalışmaları vardır. Yalın üretim biçiminin başlangıcı olan ve en bilinen tekniği tam zamanında üretimdir.</a:t>
            </a:r>
          </a:p>
        </p:txBody>
      </p:sp>
    </p:spTree>
    <p:extLst>
      <p:ext uri="{BB962C8B-B14F-4D97-AF65-F5344CB8AC3E}">
        <p14:creationId xmlns:p14="http://schemas.microsoft.com/office/powerpoint/2010/main" val="1326610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24D1AC-063A-A296-BAC0-CDFABA68A8F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A80A039-95F7-2114-0698-D82570421C47}"/>
              </a:ext>
            </a:extLst>
          </p:cNvPr>
          <p:cNvSpPr>
            <a:spLocks noGrp="1"/>
          </p:cNvSpPr>
          <p:nvPr>
            <p:ph type="title"/>
          </p:nvPr>
        </p:nvSpPr>
        <p:spPr>
          <a:xfrm>
            <a:off x="1171074" y="1396686"/>
            <a:ext cx="3240506" cy="4064628"/>
          </a:xfrm>
        </p:spPr>
        <p:txBody>
          <a:bodyPr>
            <a:normAutofit/>
          </a:bodyPr>
          <a:lstStyle/>
          <a:p>
            <a:r>
              <a:rPr lang="tr-TR">
                <a:solidFill>
                  <a:srgbClr val="FFFFFF"/>
                </a:solidFill>
              </a:rPr>
              <a:t>Üretim Akışı ve Miktarına Göre Sınıflandırma</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İçerik Yer Tutucusu 2">
            <a:extLst>
              <a:ext uri="{FF2B5EF4-FFF2-40B4-BE49-F238E27FC236}">
                <a16:creationId xmlns:a16="http://schemas.microsoft.com/office/drawing/2014/main" id="{A98FC9C7-3F62-BC7C-6FBB-DDB647A06B7A}"/>
              </a:ext>
            </a:extLst>
          </p:cNvPr>
          <p:cNvSpPr>
            <a:spLocks noGrp="1"/>
          </p:cNvSpPr>
          <p:nvPr>
            <p:ph idx="1"/>
          </p:nvPr>
        </p:nvSpPr>
        <p:spPr>
          <a:xfrm>
            <a:off x="5370153" y="1526033"/>
            <a:ext cx="6332658" cy="4619938"/>
          </a:xfrm>
        </p:spPr>
        <p:txBody>
          <a:bodyPr>
            <a:normAutofit lnSpcReduction="10000"/>
          </a:bodyPr>
          <a:lstStyle/>
          <a:p>
            <a:r>
              <a:rPr lang="tr-TR" sz="2000" b="1" dirty="0"/>
              <a:t>Tam Zamanında Üretim (</a:t>
            </a:r>
            <a:r>
              <a:rPr lang="tr-TR" sz="2000" b="1" dirty="0" err="1"/>
              <a:t>Just</a:t>
            </a:r>
            <a:r>
              <a:rPr lang="tr-TR" sz="2000" b="1" dirty="0"/>
              <a:t>-in-time </a:t>
            </a:r>
            <a:r>
              <a:rPr lang="tr-TR" sz="2000" b="1" dirty="0" err="1"/>
              <a:t>Production</a:t>
            </a:r>
            <a:r>
              <a:rPr lang="tr-TR" sz="2000" b="1" dirty="0"/>
              <a:t>-JIT): </a:t>
            </a:r>
            <a:r>
              <a:rPr lang="tr-TR" sz="2000" dirty="0"/>
              <a:t>Başlangıçta Japonya’da geliştirilen ve bir envanter yönetimi biçimi olarak algılanan tam zamanında üre tim artık bir üretim </a:t>
            </a:r>
            <a:r>
              <a:rPr lang="tr-TR" sz="2000" dirty="0" err="1"/>
              <a:t>biçi</a:t>
            </a:r>
            <a:r>
              <a:rPr lang="tr-TR" sz="2000" dirty="0"/>
              <a:t> mi olarak kabul edilmeye başlanmıştır. İşe değer katma yan her türlü atığın ve değişkenliğin yok edilmesi ve malzemelerin gerektiği yer ve zamanda çekilmesi bu üretim biçiminin temelini oluşturur. Bu üretim </a:t>
            </a:r>
            <a:r>
              <a:rPr lang="tr-TR" sz="2000" dirty="0" err="1"/>
              <a:t>biçi</a:t>
            </a:r>
            <a:r>
              <a:rPr lang="tr-TR" sz="2000" dirty="0"/>
              <a:t> mi çekme sistemine dayalıdır. Çekme kavramı, hem ardışık üretim sistemlerin de hem de tedarikçilerle ilgili olarak kullanılır. Çekme sistemi üretim ve dağıtım talebini geliştirmek için iş istasyonları arasında çeşitli sinyaller kullanır. Örneğin bir ürün talebi oluştuğunda bu talep son istasyona iletilir ve tüketim noktası ile temin noktası arasında haberleşmeyi sağlayan </a:t>
            </a:r>
            <a:r>
              <a:rPr lang="tr-TR" sz="2000" dirty="0" err="1"/>
              <a:t>kanban</a:t>
            </a:r>
            <a:r>
              <a:rPr lang="tr-TR" sz="2000" dirty="0"/>
              <a:t> kartlarıyla istasyonlar arası malzeme çekimi sağlanır. Çekme sistemi yalnızca ihtiyaç oluştuğunda küçük partilerden oluşan malzemelerin üretilmesini sağlar</a:t>
            </a:r>
            <a:r>
              <a:rPr lang="tr-TR" sz="1600" dirty="0"/>
              <a:t>. </a:t>
            </a:r>
          </a:p>
        </p:txBody>
      </p:sp>
    </p:spTree>
    <p:extLst>
      <p:ext uri="{BB962C8B-B14F-4D97-AF65-F5344CB8AC3E}">
        <p14:creationId xmlns:p14="http://schemas.microsoft.com/office/powerpoint/2010/main" val="2966670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FD84193-0CDE-F9DC-3034-1F72B556D31D}"/>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EBCDFD55-EAA1-59CC-D37D-6B1D241FB281}"/>
              </a:ext>
            </a:extLst>
          </p:cNvPr>
          <p:cNvSpPr>
            <a:spLocks noGrp="1"/>
          </p:cNvSpPr>
          <p:nvPr>
            <p:ph idx="1"/>
          </p:nvPr>
        </p:nvSpPr>
        <p:spPr/>
        <p:txBody>
          <a:bodyPr/>
          <a:lstStyle/>
          <a:p>
            <a:r>
              <a:rPr lang="tr-TR" dirty="0"/>
              <a:t>TEŞEKKÜRLER </a:t>
            </a:r>
            <a:r>
              <a:rPr lang="tr-TR" dirty="0">
                <a:sym typeface="Wingdings" pitchFamily="2" charset="2"/>
              </a:rPr>
              <a:t></a:t>
            </a:r>
            <a:endParaRPr lang="tr-TR" dirty="0"/>
          </a:p>
        </p:txBody>
      </p:sp>
    </p:spTree>
    <p:extLst>
      <p:ext uri="{BB962C8B-B14F-4D97-AF65-F5344CB8AC3E}">
        <p14:creationId xmlns:p14="http://schemas.microsoft.com/office/powerpoint/2010/main" val="474221413"/>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893</TotalTime>
  <Words>3404</Words>
  <Application>Microsoft Macintosh PowerPoint</Application>
  <PresentationFormat>Geniş ekran</PresentationFormat>
  <Paragraphs>97</Paragraphs>
  <Slides>23</Slides>
  <Notes>14</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23</vt:i4>
      </vt:variant>
    </vt:vector>
  </HeadingPairs>
  <TitlesOfParts>
    <vt:vector size="28" baseType="lpstr">
      <vt:lpstr>Aptos</vt:lpstr>
      <vt:lpstr>Aptos Display</vt:lpstr>
      <vt:lpstr>Arial</vt:lpstr>
      <vt:lpstr>Calibri</vt:lpstr>
      <vt:lpstr>Office Teması</vt:lpstr>
      <vt:lpstr>İŞLETME BİLİMİNE GİTİŞ</vt:lpstr>
      <vt:lpstr>ÜRETİM FONKSİYONUNUN ANLAMI VE TEMEL KAVRAMLAR</vt:lpstr>
      <vt:lpstr>ÜRETİM FONKSİYONUNUN ANLAMI VE TEMEL KAVRAMLAR</vt:lpstr>
      <vt:lpstr>ÜRETİM FONKSİYONUNUN ANLAMI VE TEMEL KAVRAMLAR</vt:lpstr>
      <vt:lpstr>ÜRETİM FONKSİYONUNUN ANLAMI VE TEMEL KAVRAMLAR</vt:lpstr>
      <vt:lpstr>ÜRETİM SİSTEMLERİ</vt:lpstr>
      <vt:lpstr>ÜRETİM SİSTEMLERİ</vt:lpstr>
      <vt:lpstr>ÜRETİM SİSTEMLERİ</vt:lpstr>
      <vt:lpstr>ÜRETİM SİSTEMLERİ</vt:lpstr>
      <vt:lpstr>ÜRETİM SİSTEMLERİ</vt:lpstr>
      <vt:lpstr>ÜRETİM BİÇİMLERİ</vt:lpstr>
      <vt:lpstr>ÜRETİM BİÇİMLERİ</vt:lpstr>
      <vt:lpstr>ÜRETİM BİÇİMLERİ</vt:lpstr>
      <vt:lpstr>ÜRETİM BİÇİMLERİ</vt:lpstr>
      <vt:lpstr>Üretim Akışı ve Miktarına Göre Sınıflandırma</vt:lpstr>
      <vt:lpstr>Üretim Akışı ve Miktarına Göre Sınıflandırma</vt:lpstr>
      <vt:lpstr>Üretim Akışı ve Miktarına Göre Sınıflandırma</vt:lpstr>
      <vt:lpstr>Üretim Akışı ve Miktarına Göre Sınıflandırma</vt:lpstr>
      <vt:lpstr>Üretim Akışı ve Miktarına Göre Sınıflandırma</vt:lpstr>
      <vt:lpstr>Üretim Akışı ve Miktarına Göre Sınıflandırma</vt:lpstr>
      <vt:lpstr>Üretim Akışı ve Miktarına Göre Sınıflandırma</vt:lpstr>
      <vt:lpstr>Üretim Akışı ve Miktarına Göre Sınıflandırma</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İŞLETME BİLİMİNE GİTİŞ</dc:title>
  <dc:creator>Office</dc:creator>
  <cp:lastModifiedBy>Fatih Çallı</cp:lastModifiedBy>
  <cp:revision>3</cp:revision>
  <dcterms:created xsi:type="dcterms:W3CDTF">2025-04-07T08:17:09Z</dcterms:created>
  <dcterms:modified xsi:type="dcterms:W3CDTF">2025-04-08T08:52:14Z</dcterms:modified>
</cp:coreProperties>
</file>