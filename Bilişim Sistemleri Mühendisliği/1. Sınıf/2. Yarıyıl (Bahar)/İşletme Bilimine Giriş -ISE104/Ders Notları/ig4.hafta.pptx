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0"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7561"/>
    <p:restoredTop sz="79969" autoAdjust="0"/>
  </p:normalViewPr>
  <p:slideViewPr>
    <p:cSldViewPr snapToGrid="0">
      <p:cViewPr varScale="1">
        <p:scale>
          <a:sx n="87" d="100"/>
          <a:sy n="87" d="100"/>
        </p:scale>
        <p:origin x="1424" y="200"/>
      </p:cViewPr>
      <p:guideLst/>
    </p:cSldViewPr>
  </p:slideViewPr>
  <p:notesTextViewPr>
    <p:cViewPr>
      <p:scale>
        <a:sx n="1" d="1"/>
        <a:sy n="1" d="1"/>
      </p:scale>
      <p:origin x="0" y="0"/>
    </p:cViewPr>
  </p:notesTextViewPr>
  <p:notesViewPr>
    <p:cSldViewPr snapToGrid="0">
      <p:cViewPr varScale="1">
        <p:scale>
          <a:sx n="84" d="100"/>
          <a:sy n="84" d="100"/>
        </p:scale>
        <p:origin x="3960"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2AE16B-A79C-43E3-BA58-EB0A745CD3AF}"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4283B016-D2A4-4313-86FB-4733B95F448F}">
      <dgm:prSet/>
      <dgm:spPr/>
      <dgm:t>
        <a:bodyPr/>
        <a:lstStyle/>
        <a:p>
          <a:r>
            <a:rPr lang="tr-TR" b="1" dirty="0"/>
            <a:t>Yatırım Projesi: </a:t>
          </a:r>
          <a:r>
            <a:rPr lang="tr-TR" dirty="0"/>
            <a:t>Proje, önceden belirlenmiş bir süre içinde ve yapılması gereken işlerin nasıl ve hangi bütçe içinde yapılacağını gösteren bir plan türüdür. Yatırım projesi ise işletmenin kuruluş fikrinin benimsenmesi sonucunda başlatılan ve kuruluşuna kadar süren tüm çabaların, başlangıç ve bitiş noktalarının gösterildiği bir kuruluş planlamasıdır (Can, Tuncer ve Ayhan, 2009, s.20).</a:t>
          </a:r>
          <a:endParaRPr lang="en-US" dirty="0"/>
        </a:p>
      </dgm:t>
    </dgm:pt>
    <dgm:pt modelId="{655CCF75-40A1-49E5-9B95-CFED7D4B04F3}" type="parTrans" cxnId="{544B98A8-267E-4F47-A9C2-28EFBA5DFE57}">
      <dgm:prSet/>
      <dgm:spPr/>
      <dgm:t>
        <a:bodyPr/>
        <a:lstStyle/>
        <a:p>
          <a:endParaRPr lang="en-US"/>
        </a:p>
      </dgm:t>
    </dgm:pt>
    <dgm:pt modelId="{9988C0C4-58D5-4C79-88FC-260DCC94D652}" type="sibTrans" cxnId="{544B98A8-267E-4F47-A9C2-28EFBA5DFE57}">
      <dgm:prSet/>
      <dgm:spPr/>
      <dgm:t>
        <a:bodyPr/>
        <a:lstStyle/>
        <a:p>
          <a:endParaRPr lang="en-US"/>
        </a:p>
      </dgm:t>
    </dgm:pt>
    <dgm:pt modelId="{5A1B1BFD-A728-4746-95E3-161454657AEB}">
      <dgm:prSet/>
      <dgm:spPr/>
      <dgm:t>
        <a:bodyPr/>
        <a:lstStyle/>
        <a:p>
          <a:r>
            <a:rPr lang="tr-TR" b="1" dirty="0"/>
            <a:t>Ön Araştırma:</a:t>
          </a:r>
          <a:r>
            <a:rPr lang="tr-TR" dirty="0"/>
            <a:t> Girişimci, işletme kurmadan önce çeşitli araştırmalar yapar. Girişimcinin, bu araştırmaları yapmasının sebebi, çok sayıda alternatif proje arasından, uygulayabileceği en iyi projeye karar vermektir. Ön proje, kesin projeden önce yapılan araştırmalardan oluşur. Girişimci, ön projeye göre kararını netleştirir.</a:t>
          </a:r>
          <a:endParaRPr lang="en-US" dirty="0"/>
        </a:p>
      </dgm:t>
    </dgm:pt>
    <dgm:pt modelId="{1BDFA767-B336-4E2B-A4BE-4BD546DC63EB}" type="parTrans" cxnId="{1B7BFE90-4EA7-4722-A406-94D4C714D5FA}">
      <dgm:prSet/>
      <dgm:spPr/>
      <dgm:t>
        <a:bodyPr/>
        <a:lstStyle/>
        <a:p>
          <a:endParaRPr lang="en-US"/>
        </a:p>
      </dgm:t>
    </dgm:pt>
    <dgm:pt modelId="{CA5E6D74-2988-43F6-8042-4628E04A1BC9}" type="sibTrans" cxnId="{1B7BFE90-4EA7-4722-A406-94D4C714D5FA}">
      <dgm:prSet/>
      <dgm:spPr/>
      <dgm:t>
        <a:bodyPr/>
        <a:lstStyle/>
        <a:p>
          <a:endParaRPr lang="en-US"/>
        </a:p>
      </dgm:t>
    </dgm:pt>
    <dgm:pt modelId="{0DF321CD-290C-483E-A3BC-B29F3CAB7E4B}" type="pres">
      <dgm:prSet presAssocID="{BA2AE16B-A79C-43E3-BA58-EB0A745CD3AF}" presName="hierChild1" presStyleCnt="0">
        <dgm:presLayoutVars>
          <dgm:chPref val="1"/>
          <dgm:dir/>
          <dgm:animOne val="branch"/>
          <dgm:animLvl val="lvl"/>
          <dgm:resizeHandles/>
        </dgm:presLayoutVars>
      </dgm:prSet>
      <dgm:spPr/>
    </dgm:pt>
    <dgm:pt modelId="{F9ABBA53-28F8-4C46-8025-6FD575089D8D}" type="pres">
      <dgm:prSet presAssocID="{4283B016-D2A4-4313-86FB-4733B95F448F}" presName="hierRoot1" presStyleCnt="0"/>
      <dgm:spPr/>
    </dgm:pt>
    <dgm:pt modelId="{3E60836F-50E4-420B-8283-F9CAA50FE2F2}" type="pres">
      <dgm:prSet presAssocID="{4283B016-D2A4-4313-86FB-4733B95F448F}" presName="composite" presStyleCnt="0"/>
      <dgm:spPr/>
    </dgm:pt>
    <dgm:pt modelId="{DE1CFFDE-1B7D-4775-9221-70D67E975602}" type="pres">
      <dgm:prSet presAssocID="{4283B016-D2A4-4313-86FB-4733B95F448F}" presName="background" presStyleLbl="node0" presStyleIdx="0" presStyleCnt="2"/>
      <dgm:spPr/>
    </dgm:pt>
    <dgm:pt modelId="{505D807E-BD99-4AB5-BE14-0165C1CE60F7}" type="pres">
      <dgm:prSet presAssocID="{4283B016-D2A4-4313-86FB-4733B95F448F}" presName="text" presStyleLbl="fgAcc0" presStyleIdx="0" presStyleCnt="2">
        <dgm:presLayoutVars>
          <dgm:chPref val="3"/>
        </dgm:presLayoutVars>
      </dgm:prSet>
      <dgm:spPr/>
    </dgm:pt>
    <dgm:pt modelId="{A5854D4B-BD21-41FB-8369-386022726170}" type="pres">
      <dgm:prSet presAssocID="{4283B016-D2A4-4313-86FB-4733B95F448F}" presName="hierChild2" presStyleCnt="0"/>
      <dgm:spPr/>
    </dgm:pt>
    <dgm:pt modelId="{BE2F2F98-B958-4101-870C-4DEB7E8FE215}" type="pres">
      <dgm:prSet presAssocID="{5A1B1BFD-A728-4746-95E3-161454657AEB}" presName="hierRoot1" presStyleCnt="0"/>
      <dgm:spPr/>
    </dgm:pt>
    <dgm:pt modelId="{27F804C0-E64B-429B-966C-FEFE0F6C6556}" type="pres">
      <dgm:prSet presAssocID="{5A1B1BFD-A728-4746-95E3-161454657AEB}" presName="composite" presStyleCnt="0"/>
      <dgm:spPr/>
    </dgm:pt>
    <dgm:pt modelId="{A9FE0F4A-2C29-40E7-AB2C-0CFDA37EA69D}" type="pres">
      <dgm:prSet presAssocID="{5A1B1BFD-A728-4746-95E3-161454657AEB}" presName="background" presStyleLbl="node0" presStyleIdx="1" presStyleCnt="2"/>
      <dgm:spPr/>
    </dgm:pt>
    <dgm:pt modelId="{2CDFFEC0-50A5-49C1-BC53-B7018A2D2BD6}" type="pres">
      <dgm:prSet presAssocID="{5A1B1BFD-A728-4746-95E3-161454657AEB}" presName="text" presStyleLbl="fgAcc0" presStyleIdx="1" presStyleCnt="2">
        <dgm:presLayoutVars>
          <dgm:chPref val="3"/>
        </dgm:presLayoutVars>
      </dgm:prSet>
      <dgm:spPr/>
    </dgm:pt>
    <dgm:pt modelId="{479B1BFC-7E28-49A5-A7B6-6DF10597C40F}" type="pres">
      <dgm:prSet presAssocID="{5A1B1BFD-A728-4746-95E3-161454657AEB}" presName="hierChild2" presStyleCnt="0"/>
      <dgm:spPr/>
    </dgm:pt>
  </dgm:ptLst>
  <dgm:cxnLst>
    <dgm:cxn modelId="{D883C749-1A42-4E08-9276-C338BB1D3E82}" type="presOf" srcId="{4283B016-D2A4-4313-86FB-4733B95F448F}" destId="{505D807E-BD99-4AB5-BE14-0165C1CE60F7}" srcOrd="0" destOrd="0" presId="urn:microsoft.com/office/officeart/2005/8/layout/hierarchy1"/>
    <dgm:cxn modelId="{38414A6B-CB75-4CE1-8171-18299A8002E3}" type="presOf" srcId="{5A1B1BFD-A728-4746-95E3-161454657AEB}" destId="{2CDFFEC0-50A5-49C1-BC53-B7018A2D2BD6}" srcOrd="0" destOrd="0" presId="urn:microsoft.com/office/officeart/2005/8/layout/hierarchy1"/>
    <dgm:cxn modelId="{1B7BFE90-4EA7-4722-A406-94D4C714D5FA}" srcId="{BA2AE16B-A79C-43E3-BA58-EB0A745CD3AF}" destId="{5A1B1BFD-A728-4746-95E3-161454657AEB}" srcOrd="1" destOrd="0" parTransId="{1BDFA767-B336-4E2B-A4BE-4BD546DC63EB}" sibTransId="{CA5E6D74-2988-43F6-8042-4628E04A1BC9}"/>
    <dgm:cxn modelId="{CCB48899-CC7D-46DF-9554-BFE70E9E8119}" type="presOf" srcId="{BA2AE16B-A79C-43E3-BA58-EB0A745CD3AF}" destId="{0DF321CD-290C-483E-A3BC-B29F3CAB7E4B}" srcOrd="0" destOrd="0" presId="urn:microsoft.com/office/officeart/2005/8/layout/hierarchy1"/>
    <dgm:cxn modelId="{544B98A8-267E-4F47-A9C2-28EFBA5DFE57}" srcId="{BA2AE16B-A79C-43E3-BA58-EB0A745CD3AF}" destId="{4283B016-D2A4-4313-86FB-4733B95F448F}" srcOrd="0" destOrd="0" parTransId="{655CCF75-40A1-49E5-9B95-CFED7D4B04F3}" sibTransId="{9988C0C4-58D5-4C79-88FC-260DCC94D652}"/>
    <dgm:cxn modelId="{CD554B49-11BC-48DA-91D0-86BD97DDA651}" type="presParOf" srcId="{0DF321CD-290C-483E-A3BC-B29F3CAB7E4B}" destId="{F9ABBA53-28F8-4C46-8025-6FD575089D8D}" srcOrd="0" destOrd="0" presId="urn:microsoft.com/office/officeart/2005/8/layout/hierarchy1"/>
    <dgm:cxn modelId="{DB8B1182-182A-4A6E-B989-44D35F1B90B7}" type="presParOf" srcId="{F9ABBA53-28F8-4C46-8025-6FD575089D8D}" destId="{3E60836F-50E4-420B-8283-F9CAA50FE2F2}" srcOrd="0" destOrd="0" presId="urn:microsoft.com/office/officeart/2005/8/layout/hierarchy1"/>
    <dgm:cxn modelId="{9511B083-5179-4405-AB1F-9D250FC9DDEF}" type="presParOf" srcId="{3E60836F-50E4-420B-8283-F9CAA50FE2F2}" destId="{DE1CFFDE-1B7D-4775-9221-70D67E975602}" srcOrd="0" destOrd="0" presId="urn:microsoft.com/office/officeart/2005/8/layout/hierarchy1"/>
    <dgm:cxn modelId="{FC243A74-A602-46BB-B5B7-46B226C09F3F}" type="presParOf" srcId="{3E60836F-50E4-420B-8283-F9CAA50FE2F2}" destId="{505D807E-BD99-4AB5-BE14-0165C1CE60F7}" srcOrd="1" destOrd="0" presId="urn:microsoft.com/office/officeart/2005/8/layout/hierarchy1"/>
    <dgm:cxn modelId="{A72E8BFA-5B31-445D-A87A-72B8273BA1DF}" type="presParOf" srcId="{F9ABBA53-28F8-4C46-8025-6FD575089D8D}" destId="{A5854D4B-BD21-41FB-8369-386022726170}" srcOrd="1" destOrd="0" presId="urn:microsoft.com/office/officeart/2005/8/layout/hierarchy1"/>
    <dgm:cxn modelId="{F9D45103-3DD5-489E-8AFD-F211B25089B0}" type="presParOf" srcId="{0DF321CD-290C-483E-A3BC-B29F3CAB7E4B}" destId="{BE2F2F98-B958-4101-870C-4DEB7E8FE215}" srcOrd="1" destOrd="0" presId="urn:microsoft.com/office/officeart/2005/8/layout/hierarchy1"/>
    <dgm:cxn modelId="{6A2D6D0D-3D07-44C3-BA5F-39EE5C628BDF}" type="presParOf" srcId="{BE2F2F98-B958-4101-870C-4DEB7E8FE215}" destId="{27F804C0-E64B-429B-966C-FEFE0F6C6556}" srcOrd="0" destOrd="0" presId="urn:microsoft.com/office/officeart/2005/8/layout/hierarchy1"/>
    <dgm:cxn modelId="{41F7E8B4-BF89-4AE2-982D-CED3E2CCD4ED}" type="presParOf" srcId="{27F804C0-E64B-429B-966C-FEFE0F6C6556}" destId="{A9FE0F4A-2C29-40E7-AB2C-0CFDA37EA69D}" srcOrd="0" destOrd="0" presId="urn:microsoft.com/office/officeart/2005/8/layout/hierarchy1"/>
    <dgm:cxn modelId="{CDB212EB-F288-4103-8948-A7869C8B0ABC}" type="presParOf" srcId="{27F804C0-E64B-429B-966C-FEFE0F6C6556}" destId="{2CDFFEC0-50A5-49C1-BC53-B7018A2D2BD6}" srcOrd="1" destOrd="0" presId="urn:microsoft.com/office/officeart/2005/8/layout/hierarchy1"/>
    <dgm:cxn modelId="{06DA053E-A775-4DD2-BACD-CD7C83A95573}" type="presParOf" srcId="{BE2F2F98-B958-4101-870C-4DEB7E8FE215}" destId="{479B1BFC-7E28-49A5-A7B6-6DF10597C40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EF1D58-B374-40D3-A2B1-864CC377394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86B916C-45F3-46B0-9A1D-901C59178947}">
      <dgm:prSet/>
      <dgm:spPr/>
      <dgm:t>
        <a:bodyPr/>
        <a:lstStyle/>
        <a:p>
          <a:pPr>
            <a:lnSpc>
              <a:spcPct val="100000"/>
            </a:lnSpc>
          </a:pPr>
          <a:r>
            <a:rPr lang="tr-TR" b="1"/>
            <a:t>Kuruluş Yerinin Seçimi: </a:t>
          </a:r>
          <a:r>
            <a:rPr lang="tr-TR"/>
            <a:t>Kuruluş yeri seçimiyle ilgili konu, detaylı olarak ünitede ayrı bir başlık altında yer alacaktır.</a:t>
          </a:r>
          <a:endParaRPr lang="en-US"/>
        </a:p>
      </dgm:t>
    </dgm:pt>
    <dgm:pt modelId="{07953136-BD3C-4A3D-89B0-DDFC9289A60B}" type="parTrans" cxnId="{FA65194B-F42A-4967-91A4-83C9B1460E0A}">
      <dgm:prSet/>
      <dgm:spPr/>
      <dgm:t>
        <a:bodyPr/>
        <a:lstStyle/>
        <a:p>
          <a:endParaRPr lang="en-US"/>
        </a:p>
      </dgm:t>
    </dgm:pt>
    <dgm:pt modelId="{5D229DDB-5470-45BD-837F-542E0CD93ADD}" type="sibTrans" cxnId="{FA65194B-F42A-4967-91A4-83C9B1460E0A}">
      <dgm:prSet/>
      <dgm:spPr/>
      <dgm:t>
        <a:bodyPr/>
        <a:lstStyle/>
        <a:p>
          <a:endParaRPr lang="en-US"/>
        </a:p>
      </dgm:t>
    </dgm:pt>
    <dgm:pt modelId="{03F83C6B-29AC-4CE3-851A-C26190375564}">
      <dgm:prSet/>
      <dgm:spPr/>
      <dgm:t>
        <a:bodyPr/>
        <a:lstStyle/>
        <a:p>
          <a:pPr>
            <a:lnSpc>
              <a:spcPct val="100000"/>
            </a:lnSpc>
          </a:pPr>
          <a:r>
            <a:rPr lang="tr-TR" b="1"/>
            <a:t>Büyüklük ve Kapasite Seçimi:</a:t>
          </a:r>
          <a:r>
            <a:rPr lang="tr-TR"/>
            <a:t> Piyasa araştırması ve talep tahmini çalışmalarından elde edilen bilgilere göre, işletme büyüklüğü belirlenir (Tutar, 2005, s.110).Günümüz rekabet ortamında müşterilerin istek ve memnuniyetleri işletmeleriçin önemli bir unsurdur. Bu yüzden girişimciler, müşterilerin talepleri/istekleridoğrultusunda üretim yapmak/ hizmet sunmak ister. Bunu gerçekleştirebilmekiçin de işletme içinde yer alacak makine, işgücü gibi üretim faktörlerini yeterlimiktarda bulundurmak zorundadırlar. Bu faktörleri yeterli miktarda bulundurması da işletmenin rekabeti için yeterli olmayacaktır. </a:t>
          </a:r>
          <a:endParaRPr lang="en-US"/>
        </a:p>
      </dgm:t>
    </dgm:pt>
    <dgm:pt modelId="{C5EA44D4-0935-4FC7-B921-C178D5F18FD3}" type="parTrans" cxnId="{EF83D815-6B7E-466B-805F-6B9647B5D49A}">
      <dgm:prSet/>
      <dgm:spPr/>
      <dgm:t>
        <a:bodyPr/>
        <a:lstStyle/>
        <a:p>
          <a:endParaRPr lang="en-US"/>
        </a:p>
      </dgm:t>
    </dgm:pt>
    <dgm:pt modelId="{064482C9-CF5A-4CC8-BEAB-21BCCECB316F}" type="sibTrans" cxnId="{EF83D815-6B7E-466B-805F-6B9647B5D49A}">
      <dgm:prSet/>
      <dgm:spPr/>
      <dgm:t>
        <a:bodyPr/>
        <a:lstStyle/>
        <a:p>
          <a:endParaRPr lang="en-US"/>
        </a:p>
      </dgm:t>
    </dgm:pt>
    <dgm:pt modelId="{BABD54A3-7D09-4A8B-83ED-F52443333B6B}" type="pres">
      <dgm:prSet presAssocID="{90EF1D58-B374-40D3-A2B1-864CC377394F}" presName="root" presStyleCnt="0">
        <dgm:presLayoutVars>
          <dgm:dir/>
          <dgm:resizeHandles val="exact"/>
        </dgm:presLayoutVars>
      </dgm:prSet>
      <dgm:spPr/>
    </dgm:pt>
    <dgm:pt modelId="{9A4E11CD-0CAE-4EF0-A6B0-81B6832F3DB6}" type="pres">
      <dgm:prSet presAssocID="{986B916C-45F3-46B0-9A1D-901C59178947}" presName="compNode" presStyleCnt="0"/>
      <dgm:spPr/>
    </dgm:pt>
    <dgm:pt modelId="{D0DACDB0-8DDF-4FCF-8E6F-C8004D75C5B6}" type="pres">
      <dgm:prSet presAssocID="{986B916C-45F3-46B0-9A1D-901C59178947}" presName="bgRect" presStyleLbl="bgShp" presStyleIdx="0" presStyleCnt="2"/>
      <dgm:spPr/>
    </dgm:pt>
    <dgm:pt modelId="{DCD732D1-3B0E-4FF9-A8FD-F574594E03B1}" type="pres">
      <dgm:prSet presAssocID="{986B916C-45F3-46B0-9A1D-901C5917894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yerarşi"/>
        </a:ext>
      </dgm:extLst>
    </dgm:pt>
    <dgm:pt modelId="{DCFB730E-E75C-4F7B-A60C-6379097CC391}" type="pres">
      <dgm:prSet presAssocID="{986B916C-45F3-46B0-9A1D-901C59178947}" presName="spaceRect" presStyleCnt="0"/>
      <dgm:spPr/>
    </dgm:pt>
    <dgm:pt modelId="{D59CD511-E456-4BC8-B08F-16899EFE0F50}" type="pres">
      <dgm:prSet presAssocID="{986B916C-45F3-46B0-9A1D-901C59178947}" presName="parTx" presStyleLbl="revTx" presStyleIdx="0" presStyleCnt="2">
        <dgm:presLayoutVars>
          <dgm:chMax val="0"/>
          <dgm:chPref val="0"/>
        </dgm:presLayoutVars>
      </dgm:prSet>
      <dgm:spPr/>
    </dgm:pt>
    <dgm:pt modelId="{9FC39B1F-D8CA-42D8-A827-D06A30CE2FEC}" type="pres">
      <dgm:prSet presAssocID="{5D229DDB-5470-45BD-837F-542E0CD93ADD}" presName="sibTrans" presStyleCnt="0"/>
      <dgm:spPr/>
    </dgm:pt>
    <dgm:pt modelId="{78C8B1FA-1908-458E-8271-68AFDC9C7BA9}" type="pres">
      <dgm:prSet presAssocID="{03F83C6B-29AC-4CE3-851A-C26190375564}" presName="compNode" presStyleCnt="0"/>
      <dgm:spPr/>
    </dgm:pt>
    <dgm:pt modelId="{0CF0EC1C-EF3D-4494-A60E-8917CCDB76CC}" type="pres">
      <dgm:prSet presAssocID="{03F83C6B-29AC-4CE3-851A-C26190375564}" presName="bgRect" presStyleLbl="bgShp" presStyleIdx="1" presStyleCnt="2"/>
      <dgm:spPr/>
    </dgm:pt>
    <dgm:pt modelId="{B42D664A-80C9-47FD-B6C1-9970DEF88C9B}" type="pres">
      <dgm:prSet presAssocID="{03F83C6B-29AC-4CE3-851A-C2619037556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pward trend"/>
        </a:ext>
      </dgm:extLst>
    </dgm:pt>
    <dgm:pt modelId="{3FA2384D-296C-4499-8586-C3BD9AB37515}" type="pres">
      <dgm:prSet presAssocID="{03F83C6B-29AC-4CE3-851A-C26190375564}" presName="spaceRect" presStyleCnt="0"/>
      <dgm:spPr/>
    </dgm:pt>
    <dgm:pt modelId="{FB5C3439-832D-404B-B965-BB374363CC99}" type="pres">
      <dgm:prSet presAssocID="{03F83C6B-29AC-4CE3-851A-C26190375564}" presName="parTx" presStyleLbl="revTx" presStyleIdx="1" presStyleCnt="2">
        <dgm:presLayoutVars>
          <dgm:chMax val="0"/>
          <dgm:chPref val="0"/>
        </dgm:presLayoutVars>
      </dgm:prSet>
      <dgm:spPr/>
    </dgm:pt>
  </dgm:ptLst>
  <dgm:cxnLst>
    <dgm:cxn modelId="{EF83D815-6B7E-466B-805F-6B9647B5D49A}" srcId="{90EF1D58-B374-40D3-A2B1-864CC377394F}" destId="{03F83C6B-29AC-4CE3-851A-C26190375564}" srcOrd="1" destOrd="0" parTransId="{C5EA44D4-0935-4FC7-B921-C178D5F18FD3}" sibTransId="{064482C9-CF5A-4CC8-BEAB-21BCCECB316F}"/>
    <dgm:cxn modelId="{FA65194B-F42A-4967-91A4-83C9B1460E0A}" srcId="{90EF1D58-B374-40D3-A2B1-864CC377394F}" destId="{986B916C-45F3-46B0-9A1D-901C59178947}" srcOrd="0" destOrd="0" parTransId="{07953136-BD3C-4A3D-89B0-DDFC9289A60B}" sibTransId="{5D229DDB-5470-45BD-837F-542E0CD93ADD}"/>
    <dgm:cxn modelId="{81B7514B-DC99-411C-AECA-56909D375E19}" type="presOf" srcId="{986B916C-45F3-46B0-9A1D-901C59178947}" destId="{D59CD511-E456-4BC8-B08F-16899EFE0F50}" srcOrd="0" destOrd="0" presId="urn:microsoft.com/office/officeart/2018/2/layout/IconVerticalSolidList"/>
    <dgm:cxn modelId="{BF757393-2571-4D3C-ADB7-0677112E2DA3}" type="presOf" srcId="{90EF1D58-B374-40D3-A2B1-864CC377394F}" destId="{BABD54A3-7D09-4A8B-83ED-F52443333B6B}" srcOrd="0" destOrd="0" presId="urn:microsoft.com/office/officeart/2018/2/layout/IconVerticalSolidList"/>
    <dgm:cxn modelId="{803C28B2-5223-4818-B455-06E8F947ABA6}" type="presOf" srcId="{03F83C6B-29AC-4CE3-851A-C26190375564}" destId="{FB5C3439-832D-404B-B965-BB374363CC99}" srcOrd="0" destOrd="0" presId="urn:microsoft.com/office/officeart/2018/2/layout/IconVerticalSolidList"/>
    <dgm:cxn modelId="{0EB17540-48EC-40EA-B92A-B5004BCE700D}" type="presParOf" srcId="{BABD54A3-7D09-4A8B-83ED-F52443333B6B}" destId="{9A4E11CD-0CAE-4EF0-A6B0-81B6832F3DB6}" srcOrd="0" destOrd="0" presId="urn:microsoft.com/office/officeart/2018/2/layout/IconVerticalSolidList"/>
    <dgm:cxn modelId="{5369C5B4-85C6-4059-A6C6-B3EFF318BCFF}" type="presParOf" srcId="{9A4E11CD-0CAE-4EF0-A6B0-81B6832F3DB6}" destId="{D0DACDB0-8DDF-4FCF-8E6F-C8004D75C5B6}" srcOrd="0" destOrd="0" presId="urn:microsoft.com/office/officeart/2018/2/layout/IconVerticalSolidList"/>
    <dgm:cxn modelId="{4E93D3B2-3BEF-41E0-BF8C-4127B017FA47}" type="presParOf" srcId="{9A4E11CD-0CAE-4EF0-A6B0-81B6832F3DB6}" destId="{DCD732D1-3B0E-4FF9-A8FD-F574594E03B1}" srcOrd="1" destOrd="0" presId="urn:microsoft.com/office/officeart/2018/2/layout/IconVerticalSolidList"/>
    <dgm:cxn modelId="{3B45A474-F0EE-4EB3-BD49-5B4CC0C9E1C8}" type="presParOf" srcId="{9A4E11CD-0CAE-4EF0-A6B0-81B6832F3DB6}" destId="{DCFB730E-E75C-4F7B-A60C-6379097CC391}" srcOrd="2" destOrd="0" presId="urn:microsoft.com/office/officeart/2018/2/layout/IconVerticalSolidList"/>
    <dgm:cxn modelId="{827D761A-D6BF-4662-9DBA-EBB5DF5D9B06}" type="presParOf" srcId="{9A4E11CD-0CAE-4EF0-A6B0-81B6832F3DB6}" destId="{D59CD511-E456-4BC8-B08F-16899EFE0F50}" srcOrd="3" destOrd="0" presId="urn:microsoft.com/office/officeart/2018/2/layout/IconVerticalSolidList"/>
    <dgm:cxn modelId="{D92F4167-5CDA-46E7-8BFB-3D7D60F43AE7}" type="presParOf" srcId="{BABD54A3-7D09-4A8B-83ED-F52443333B6B}" destId="{9FC39B1F-D8CA-42D8-A827-D06A30CE2FEC}" srcOrd="1" destOrd="0" presId="urn:microsoft.com/office/officeart/2018/2/layout/IconVerticalSolidList"/>
    <dgm:cxn modelId="{6D942B20-6831-40A8-ACFB-69F94BAF7F6C}" type="presParOf" srcId="{BABD54A3-7D09-4A8B-83ED-F52443333B6B}" destId="{78C8B1FA-1908-458E-8271-68AFDC9C7BA9}" srcOrd="2" destOrd="0" presId="urn:microsoft.com/office/officeart/2018/2/layout/IconVerticalSolidList"/>
    <dgm:cxn modelId="{82750B46-5134-493E-B1CA-DE4ABA944A86}" type="presParOf" srcId="{78C8B1FA-1908-458E-8271-68AFDC9C7BA9}" destId="{0CF0EC1C-EF3D-4494-A60E-8917CCDB76CC}" srcOrd="0" destOrd="0" presId="urn:microsoft.com/office/officeart/2018/2/layout/IconVerticalSolidList"/>
    <dgm:cxn modelId="{3AC9089B-5824-4F2B-A6E0-47FBEB7C6365}" type="presParOf" srcId="{78C8B1FA-1908-458E-8271-68AFDC9C7BA9}" destId="{B42D664A-80C9-47FD-B6C1-9970DEF88C9B}" srcOrd="1" destOrd="0" presId="urn:microsoft.com/office/officeart/2018/2/layout/IconVerticalSolidList"/>
    <dgm:cxn modelId="{D0284308-30CC-4ACF-92D3-0B8E790020D7}" type="presParOf" srcId="{78C8B1FA-1908-458E-8271-68AFDC9C7BA9}" destId="{3FA2384D-296C-4499-8586-C3BD9AB37515}" srcOrd="2" destOrd="0" presId="urn:microsoft.com/office/officeart/2018/2/layout/IconVerticalSolidList"/>
    <dgm:cxn modelId="{6E5B6CA0-A965-4172-B40E-CFFCD82A6FA2}" type="presParOf" srcId="{78C8B1FA-1908-458E-8271-68AFDC9C7BA9}" destId="{FB5C3439-832D-404B-B965-BB374363CC9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C43C60A-88AA-40D6-B8F8-9A01F84956B9}"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1D0B6432-0512-4563-9715-9BBA119E1084}">
      <dgm:prSet/>
      <dgm:spPr/>
      <dgm:t>
        <a:bodyPr/>
        <a:lstStyle/>
        <a:p>
          <a:r>
            <a:rPr lang="tr-TR" b="1" dirty="0"/>
            <a:t>Büyükten Küçüğe Yaklaşımı: </a:t>
          </a:r>
          <a:r>
            <a:rPr lang="tr-TR" dirty="0"/>
            <a:t>Bu yaklaşımda büyük işletme, faaliyet özerkliğine ve kendine özgü gelir ve giderlere sahip olan daha küçük ölçekli işletmelere bölünür. Büyük işletmenin üst yönetimi birden fazla bağımsız işletmeyi denetler. Tüm denetim üst yönetime aittir.</a:t>
          </a:r>
          <a:endParaRPr lang="en-US" dirty="0"/>
        </a:p>
      </dgm:t>
    </dgm:pt>
    <dgm:pt modelId="{8177BC11-FCC0-4FD4-9B49-5C63B60A6B36}" type="parTrans" cxnId="{2AF92AE0-D0D6-4060-A51D-D9C788781C9D}">
      <dgm:prSet/>
      <dgm:spPr/>
      <dgm:t>
        <a:bodyPr/>
        <a:lstStyle/>
        <a:p>
          <a:endParaRPr lang="en-US"/>
        </a:p>
      </dgm:t>
    </dgm:pt>
    <dgm:pt modelId="{0C814A2C-B3DF-4203-BBBF-D3D120E24771}" type="sibTrans" cxnId="{2AF92AE0-D0D6-4060-A51D-D9C788781C9D}">
      <dgm:prSet/>
      <dgm:spPr/>
      <dgm:t>
        <a:bodyPr/>
        <a:lstStyle/>
        <a:p>
          <a:endParaRPr lang="en-US"/>
        </a:p>
      </dgm:t>
    </dgm:pt>
    <dgm:pt modelId="{AA7330C5-AC9C-46CD-A160-50917E891E98}">
      <dgm:prSet/>
      <dgm:spPr/>
      <dgm:t>
        <a:bodyPr/>
        <a:lstStyle/>
        <a:p>
          <a:r>
            <a:rPr lang="tr-TR" b="1" dirty="0"/>
            <a:t>Küçükten Büyüğe Yaklaşımı:</a:t>
          </a:r>
          <a:r>
            <a:rPr lang="tr-TR" dirty="0"/>
            <a:t> Küçük işletme olmanın üstün yönü ise esnek bir yapıya sahip olmaktır. Büyük işletmelerdeki bürokratik yapıya sahip olmadıkları için, prosedürler çok fazla değildir, bu yüzden de işler daha kolay ve çalışanlar açısından da zamanında bitirilir.</a:t>
          </a:r>
          <a:endParaRPr lang="en-US" dirty="0"/>
        </a:p>
      </dgm:t>
    </dgm:pt>
    <dgm:pt modelId="{7BECED11-309F-4C9F-AE5D-AAD7B4D2ECE1}" type="parTrans" cxnId="{49C0D350-1B8E-4157-B43B-91C3B2488F3C}">
      <dgm:prSet/>
      <dgm:spPr/>
      <dgm:t>
        <a:bodyPr/>
        <a:lstStyle/>
        <a:p>
          <a:endParaRPr lang="en-US"/>
        </a:p>
      </dgm:t>
    </dgm:pt>
    <dgm:pt modelId="{AF648B1B-D911-47EE-ABFF-915DAEC78ED2}" type="sibTrans" cxnId="{49C0D350-1B8E-4157-B43B-91C3B2488F3C}">
      <dgm:prSet/>
      <dgm:spPr/>
      <dgm:t>
        <a:bodyPr/>
        <a:lstStyle/>
        <a:p>
          <a:endParaRPr lang="en-US"/>
        </a:p>
      </dgm:t>
    </dgm:pt>
    <dgm:pt modelId="{140D5145-A48D-4679-B6BD-59567282BFE9}" type="pres">
      <dgm:prSet presAssocID="{6C43C60A-88AA-40D6-B8F8-9A01F84956B9}" presName="hierChild1" presStyleCnt="0">
        <dgm:presLayoutVars>
          <dgm:chPref val="1"/>
          <dgm:dir/>
          <dgm:animOne val="branch"/>
          <dgm:animLvl val="lvl"/>
          <dgm:resizeHandles/>
        </dgm:presLayoutVars>
      </dgm:prSet>
      <dgm:spPr/>
    </dgm:pt>
    <dgm:pt modelId="{9866814A-C3DE-40B0-9411-39BA4897D016}" type="pres">
      <dgm:prSet presAssocID="{1D0B6432-0512-4563-9715-9BBA119E1084}" presName="hierRoot1" presStyleCnt="0"/>
      <dgm:spPr/>
    </dgm:pt>
    <dgm:pt modelId="{94732D10-7D2B-4680-862B-C1C33F4209EF}" type="pres">
      <dgm:prSet presAssocID="{1D0B6432-0512-4563-9715-9BBA119E1084}" presName="composite" presStyleCnt="0"/>
      <dgm:spPr/>
    </dgm:pt>
    <dgm:pt modelId="{340904E1-EBDE-4F51-85F9-2756E3A7EA30}" type="pres">
      <dgm:prSet presAssocID="{1D0B6432-0512-4563-9715-9BBA119E1084}" presName="background" presStyleLbl="node0" presStyleIdx="0" presStyleCnt="2"/>
      <dgm:spPr/>
    </dgm:pt>
    <dgm:pt modelId="{42C841DB-15AB-48AC-A9E3-4EFEBCD802F5}" type="pres">
      <dgm:prSet presAssocID="{1D0B6432-0512-4563-9715-9BBA119E1084}" presName="text" presStyleLbl="fgAcc0" presStyleIdx="0" presStyleCnt="2">
        <dgm:presLayoutVars>
          <dgm:chPref val="3"/>
        </dgm:presLayoutVars>
      </dgm:prSet>
      <dgm:spPr/>
    </dgm:pt>
    <dgm:pt modelId="{A8DC26CC-C8E4-4DBC-8FFA-0892A4C0A232}" type="pres">
      <dgm:prSet presAssocID="{1D0B6432-0512-4563-9715-9BBA119E1084}" presName="hierChild2" presStyleCnt="0"/>
      <dgm:spPr/>
    </dgm:pt>
    <dgm:pt modelId="{9EBCD877-4B5D-4A03-8572-E9FE167AB771}" type="pres">
      <dgm:prSet presAssocID="{AA7330C5-AC9C-46CD-A160-50917E891E98}" presName="hierRoot1" presStyleCnt="0"/>
      <dgm:spPr/>
    </dgm:pt>
    <dgm:pt modelId="{40C2112C-E406-475E-86F0-B41CE0D707F2}" type="pres">
      <dgm:prSet presAssocID="{AA7330C5-AC9C-46CD-A160-50917E891E98}" presName="composite" presStyleCnt="0"/>
      <dgm:spPr/>
    </dgm:pt>
    <dgm:pt modelId="{E681C180-DB67-4668-8C10-825753339885}" type="pres">
      <dgm:prSet presAssocID="{AA7330C5-AC9C-46CD-A160-50917E891E98}" presName="background" presStyleLbl="node0" presStyleIdx="1" presStyleCnt="2"/>
      <dgm:spPr/>
    </dgm:pt>
    <dgm:pt modelId="{B69AD3E0-3BD4-4857-A353-07E65FDB70B8}" type="pres">
      <dgm:prSet presAssocID="{AA7330C5-AC9C-46CD-A160-50917E891E98}" presName="text" presStyleLbl="fgAcc0" presStyleIdx="1" presStyleCnt="2">
        <dgm:presLayoutVars>
          <dgm:chPref val="3"/>
        </dgm:presLayoutVars>
      </dgm:prSet>
      <dgm:spPr/>
    </dgm:pt>
    <dgm:pt modelId="{16E82143-47C3-4B8E-AAD6-DA178FA3B5D4}" type="pres">
      <dgm:prSet presAssocID="{AA7330C5-AC9C-46CD-A160-50917E891E98}" presName="hierChild2" presStyleCnt="0"/>
      <dgm:spPr/>
    </dgm:pt>
  </dgm:ptLst>
  <dgm:cxnLst>
    <dgm:cxn modelId="{49C0D350-1B8E-4157-B43B-91C3B2488F3C}" srcId="{6C43C60A-88AA-40D6-B8F8-9A01F84956B9}" destId="{AA7330C5-AC9C-46CD-A160-50917E891E98}" srcOrd="1" destOrd="0" parTransId="{7BECED11-309F-4C9F-AE5D-AAD7B4D2ECE1}" sibTransId="{AF648B1B-D911-47EE-ABFF-915DAEC78ED2}"/>
    <dgm:cxn modelId="{DE7CA263-6CA5-48CB-9807-9D10CCF9078B}" type="presOf" srcId="{6C43C60A-88AA-40D6-B8F8-9A01F84956B9}" destId="{140D5145-A48D-4679-B6BD-59567282BFE9}" srcOrd="0" destOrd="0" presId="urn:microsoft.com/office/officeart/2005/8/layout/hierarchy1"/>
    <dgm:cxn modelId="{D2E46970-84A9-4E13-ABAE-93A52E68AB76}" type="presOf" srcId="{1D0B6432-0512-4563-9715-9BBA119E1084}" destId="{42C841DB-15AB-48AC-A9E3-4EFEBCD802F5}" srcOrd="0" destOrd="0" presId="urn:microsoft.com/office/officeart/2005/8/layout/hierarchy1"/>
    <dgm:cxn modelId="{F1BFDDDC-E75E-460A-81B4-FA5254483A39}" type="presOf" srcId="{AA7330C5-AC9C-46CD-A160-50917E891E98}" destId="{B69AD3E0-3BD4-4857-A353-07E65FDB70B8}" srcOrd="0" destOrd="0" presId="urn:microsoft.com/office/officeart/2005/8/layout/hierarchy1"/>
    <dgm:cxn modelId="{2AF92AE0-D0D6-4060-A51D-D9C788781C9D}" srcId="{6C43C60A-88AA-40D6-B8F8-9A01F84956B9}" destId="{1D0B6432-0512-4563-9715-9BBA119E1084}" srcOrd="0" destOrd="0" parTransId="{8177BC11-FCC0-4FD4-9B49-5C63B60A6B36}" sibTransId="{0C814A2C-B3DF-4203-BBBF-D3D120E24771}"/>
    <dgm:cxn modelId="{59F611AB-AD6A-4691-8926-B1B77EAB2BA6}" type="presParOf" srcId="{140D5145-A48D-4679-B6BD-59567282BFE9}" destId="{9866814A-C3DE-40B0-9411-39BA4897D016}" srcOrd="0" destOrd="0" presId="urn:microsoft.com/office/officeart/2005/8/layout/hierarchy1"/>
    <dgm:cxn modelId="{4C663F83-A6C2-4900-8575-F8C00BA05B0D}" type="presParOf" srcId="{9866814A-C3DE-40B0-9411-39BA4897D016}" destId="{94732D10-7D2B-4680-862B-C1C33F4209EF}" srcOrd="0" destOrd="0" presId="urn:microsoft.com/office/officeart/2005/8/layout/hierarchy1"/>
    <dgm:cxn modelId="{B49D8F2B-10A3-4517-B042-B86379932BAE}" type="presParOf" srcId="{94732D10-7D2B-4680-862B-C1C33F4209EF}" destId="{340904E1-EBDE-4F51-85F9-2756E3A7EA30}" srcOrd="0" destOrd="0" presId="urn:microsoft.com/office/officeart/2005/8/layout/hierarchy1"/>
    <dgm:cxn modelId="{B7D1F8D7-7BDE-4701-A924-D67124C71C73}" type="presParOf" srcId="{94732D10-7D2B-4680-862B-C1C33F4209EF}" destId="{42C841DB-15AB-48AC-A9E3-4EFEBCD802F5}" srcOrd="1" destOrd="0" presId="urn:microsoft.com/office/officeart/2005/8/layout/hierarchy1"/>
    <dgm:cxn modelId="{43D2EFF2-4F43-4802-B5E2-076A8BC238A0}" type="presParOf" srcId="{9866814A-C3DE-40B0-9411-39BA4897D016}" destId="{A8DC26CC-C8E4-4DBC-8FFA-0892A4C0A232}" srcOrd="1" destOrd="0" presId="urn:microsoft.com/office/officeart/2005/8/layout/hierarchy1"/>
    <dgm:cxn modelId="{AB074420-F2D7-4A2A-8305-CEE33BAE9D84}" type="presParOf" srcId="{140D5145-A48D-4679-B6BD-59567282BFE9}" destId="{9EBCD877-4B5D-4A03-8572-E9FE167AB771}" srcOrd="1" destOrd="0" presId="urn:microsoft.com/office/officeart/2005/8/layout/hierarchy1"/>
    <dgm:cxn modelId="{0655404E-5928-419C-B03C-F28941BF2B02}" type="presParOf" srcId="{9EBCD877-4B5D-4A03-8572-E9FE167AB771}" destId="{40C2112C-E406-475E-86F0-B41CE0D707F2}" srcOrd="0" destOrd="0" presId="urn:microsoft.com/office/officeart/2005/8/layout/hierarchy1"/>
    <dgm:cxn modelId="{063FBFAE-26CD-4950-B226-E53F6EDD7976}" type="presParOf" srcId="{40C2112C-E406-475E-86F0-B41CE0D707F2}" destId="{E681C180-DB67-4668-8C10-825753339885}" srcOrd="0" destOrd="0" presId="urn:microsoft.com/office/officeart/2005/8/layout/hierarchy1"/>
    <dgm:cxn modelId="{E9EBB995-CF7C-4693-80BA-43E1FB9A652B}" type="presParOf" srcId="{40C2112C-E406-475E-86F0-B41CE0D707F2}" destId="{B69AD3E0-3BD4-4857-A353-07E65FDB70B8}" srcOrd="1" destOrd="0" presId="urn:microsoft.com/office/officeart/2005/8/layout/hierarchy1"/>
    <dgm:cxn modelId="{04BFB8D4-C0F6-4569-A195-4606AACEC20D}" type="presParOf" srcId="{9EBCD877-4B5D-4A03-8572-E9FE167AB771}" destId="{16E82143-47C3-4B8E-AAD6-DA178FA3B5D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1CFFDE-1B7D-4775-9221-70D67E975602}">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5D807E-BD99-4AB5-BE14-0165C1CE60F7}">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tr-TR" sz="1700" b="1" kern="1200" dirty="0"/>
            <a:t>Yatırım Projesi: </a:t>
          </a:r>
          <a:r>
            <a:rPr lang="tr-TR" sz="1700" kern="1200" dirty="0"/>
            <a:t>Proje, önceden belirlenmiş bir süre içinde ve yapılması gereken işlerin nasıl ve hangi bütçe içinde yapılacağını gösteren bir plan türüdür. Yatırım projesi ise işletmenin kuruluş fikrinin benimsenmesi sonucunda başlatılan ve kuruluşuna kadar süren tüm çabaların, başlangıç ve bitiş noktalarının gösterildiği bir kuruluş planlamasıdır (Can, Tuncer ve Ayhan, 2009, s.20).</a:t>
          </a:r>
          <a:endParaRPr lang="en-US" sz="1700" kern="1200" dirty="0"/>
        </a:p>
      </dsp:txBody>
      <dsp:txXfrm>
        <a:off x="696297" y="538547"/>
        <a:ext cx="4171627" cy="2590157"/>
      </dsp:txXfrm>
    </dsp:sp>
    <dsp:sp modelId="{A9FE0F4A-2C29-40E7-AB2C-0CFDA37EA69D}">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DFFEC0-50A5-49C1-BC53-B7018A2D2BD6}">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tr-TR" sz="1700" b="1" kern="1200" dirty="0"/>
            <a:t>Ön Araştırma:</a:t>
          </a:r>
          <a:r>
            <a:rPr lang="tr-TR" sz="1700" kern="1200" dirty="0"/>
            <a:t> Girişimci, işletme kurmadan önce çeşitli araştırmalar yapar. Girişimcinin, bu araştırmaları yapmasının sebebi, çok sayıda alternatif proje arasından, uygulayabileceği en iyi projeye karar vermektir. Ön proje, kesin projeden önce yapılan araştırmalardan oluşur. Girişimci, ön projeye göre kararını netleştirir.</a:t>
          </a:r>
          <a:endParaRPr lang="en-US" sz="1700" kern="1200" dirty="0"/>
        </a:p>
      </dsp:txBody>
      <dsp:txXfrm>
        <a:off x="5991936" y="538547"/>
        <a:ext cx="4171627" cy="25901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DACDB0-8DDF-4FCF-8E6F-C8004D75C5B6}">
      <dsp:nvSpPr>
        <dsp:cNvPr id="0" name=""/>
        <dsp:cNvSpPr/>
      </dsp:nvSpPr>
      <dsp:spPr>
        <a:xfrm>
          <a:off x="0" y="339948"/>
          <a:ext cx="10705618" cy="1672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D732D1-3B0E-4FF9-A8FD-F574594E03B1}">
      <dsp:nvSpPr>
        <dsp:cNvPr id="0" name=""/>
        <dsp:cNvSpPr/>
      </dsp:nvSpPr>
      <dsp:spPr>
        <a:xfrm>
          <a:off x="505945" y="716271"/>
          <a:ext cx="919900" cy="9199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9CD511-E456-4BC8-B08F-16899EFE0F50}">
      <dsp:nvSpPr>
        <dsp:cNvPr id="0" name=""/>
        <dsp:cNvSpPr/>
      </dsp:nvSpPr>
      <dsp:spPr>
        <a:xfrm>
          <a:off x="1931790" y="339948"/>
          <a:ext cx="8773827" cy="1672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011" tIns="177011" rIns="177011" bIns="177011" numCol="1" spcCol="1270" anchor="ctr" anchorCtr="0">
          <a:noAutofit/>
        </a:bodyPr>
        <a:lstStyle/>
        <a:p>
          <a:pPr marL="0" lvl="0" indent="0" algn="l" defTabSz="622300">
            <a:lnSpc>
              <a:spcPct val="100000"/>
            </a:lnSpc>
            <a:spcBef>
              <a:spcPct val="0"/>
            </a:spcBef>
            <a:spcAft>
              <a:spcPct val="35000"/>
            </a:spcAft>
            <a:buNone/>
          </a:pPr>
          <a:r>
            <a:rPr lang="tr-TR" sz="1400" b="1" kern="1200"/>
            <a:t>Kuruluş Yerinin Seçimi: </a:t>
          </a:r>
          <a:r>
            <a:rPr lang="tr-TR" sz="1400" kern="1200"/>
            <a:t>Kuruluş yeri seçimiyle ilgili konu, detaylı olarak ünitede ayrı bir başlık altında yer alacaktır.</a:t>
          </a:r>
          <a:endParaRPr lang="en-US" sz="1400" kern="1200"/>
        </a:p>
      </dsp:txBody>
      <dsp:txXfrm>
        <a:off x="1931790" y="339948"/>
        <a:ext cx="8773827" cy="1672545"/>
      </dsp:txXfrm>
    </dsp:sp>
    <dsp:sp modelId="{0CF0EC1C-EF3D-4494-A60E-8917CCDB76CC}">
      <dsp:nvSpPr>
        <dsp:cNvPr id="0" name=""/>
        <dsp:cNvSpPr/>
      </dsp:nvSpPr>
      <dsp:spPr>
        <a:xfrm>
          <a:off x="0" y="2338844"/>
          <a:ext cx="10705618" cy="1672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2D664A-80C9-47FD-B6C1-9970DEF88C9B}">
      <dsp:nvSpPr>
        <dsp:cNvPr id="0" name=""/>
        <dsp:cNvSpPr/>
      </dsp:nvSpPr>
      <dsp:spPr>
        <a:xfrm>
          <a:off x="505945" y="2715166"/>
          <a:ext cx="919900" cy="9199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5C3439-832D-404B-B965-BB374363CC99}">
      <dsp:nvSpPr>
        <dsp:cNvPr id="0" name=""/>
        <dsp:cNvSpPr/>
      </dsp:nvSpPr>
      <dsp:spPr>
        <a:xfrm>
          <a:off x="1931790" y="2338844"/>
          <a:ext cx="8773827" cy="1672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011" tIns="177011" rIns="177011" bIns="177011" numCol="1" spcCol="1270" anchor="ctr" anchorCtr="0">
          <a:noAutofit/>
        </a:bodyPr>
        <a:lstStyle/>
        <a:p>
          <a:pPr marL="0" lvl="0" indent="0" algn="l" defTabSz="622300">
            <a:lnSpc>
              <a:spcPct val="100000"/>
            </a:lnSpc>
            <a:spcBef>
              <a:spcPct val="0"/>
            </a:spcBef>
            <a:spcAft>
              <a:spcPct val="35000"/>
            </a:spcAft>
            <a:buNone/>
          </a:pPr>
          <a:r>
            <a:rPr lang="tr-TR" sz="1400" b="1" kern="1200"/>
            <a:t>Büyüklük ve Kapasite Seçimi:</a:t>
          </a:r>
          <a:r>
            <a:rPr lang="tr-TR" sz="1400" kern="1200"/>
            <a:t> Piyasa araştırması ve talep tahmini çalışmalarından elde edilen bilgilere göre, işletme büyüklüğü belirlenir (Tutar, 2005, s.110).Günümüz rekabet ortamında müşterilerin istek ve memnuniyetleri işletmeleriçin önemli bir unsurdur. Bu yüzden girişimciler, müşterilerin talepleri/istekleridoğrultusunda üretim yapmak/ hizmet sunmak ister. Bunu gerçekleştirebilmekiçin de işletme içinde yer alacak makine, işgücü gibi üretim faktörlerini yeterlimiktarda bulundurmak zorundadırlar. Bu faktörleri yeterli miktarda bulundurması da işletmenin rekabeti için yeterli olmayacaktır. </a:t>
          </a:r>
          <a:endParaRPr lang="en-US" sz="1400" kern="1200"/>
        </a:p>
      </dsp:txBody>
      <dsp:txXfrm>
        <a:off x="1931790" y="2338844"/>
        <a:ext cx="8773827" cy="16725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0904E1-EBDE-4F51-85F9-2756E3A7EA30}">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C841DB-15AB-48AC-A9E3-4EFEBCD802F5}">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tr-TR" sz="2100" b="1" kern="1200" dirty="0"/>
            <a:t>Büyükten Küçüğe Yaklaşımı: </a:t>
          </a:r>
          <a:r>
            <a:rPr lang="tr-TR" sz="2100" kern="1200" dirty="0"/>
            <a:t>Bu yaklaşımda büyük işletme, faaliyet özerkliğine ve kendine özgü gelir ve giderlere sahip olan daha küçük ölçekli işletmelere bölünür. Büyük işletmenin üst yönetimi birden fazla bağımsız işletmeyi denetler. Tüm denetim üst yönetime aittir.</a:t>
          </a:r>
          <a:endParaRPr lang="en-US" sz="2100" kern="1200" dirty="0"/>
        </a:p>
      </dsp:txBody>
      <dsp:txXfrm>
        <a:off x="608661" y="692298"/>
        <a:ext cx="4508047" cy="2799040"/>
      </dsp:txXfrm>
    </dsp:sp>
    <dsp:sp modelId="{E681C180-DB67-4668-8C10-825753339885}">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9AD3E0-3BD4-4857-A353-07E65FDB70B8}">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tr-TR" sz="2100" b="1" kern="1200" dirty="0"/>
            <a:t>Küçükten Büyüğe Yaklaşımı:</a:t>
          </a:r>
          <a:r>
            <a:rPr lang="tr-TR" sz="2100" kern="1200" dirty="0"/>
            <a:t> Küçük işletme olmanın üstün yönü ise esnek bir yapıya sahip olmaktır. Büyük işletmelerdeki bürokratik yapıya sahip olmadıkları için, prosedürler çok fazla değildir, bu yüzden de işler daha kolay ve çalışanlar açısından da zamanında bitirilir.</a:t>
          </a:r>
          <a:endParaRPr lang="en-US" sz="2100" kern="1200" dirty="0"/>
        </a:p>
      </dsp:txBody>
      <dsp:txXfrm>
        <a:off x="6331365"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C529ED-C638-440F-911B-6B9C7C969DB3}" type="datetimeFigureOut">
              <a:rPr lang="tr-TR" smtClean="0"/>
              <a:t>17.03.2025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1912DE-25A9-44E4-A746-61FC87CDBF97}" type="slidenum">
              <a:rPr lang="tr-TR" smtClean="0"/>
              <a:t>‹#›</a:t>
            </a:fld>
            <a:endParaRPr lang="tr-TR"/>
          </a:p>
        </p:txBody>
      </p:sp>
    </p:spTree>
    <p:extLst>
      <p:ext uri="{BB962C8B-B14F-4D97-AF65-F5344CB8AC3E}">
        <p14:creationId xmlns:p14="http://schemas.microsoft.com/office/powerpoint/2010/main" val="1762516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CA1912DE-25A9-44E4-A746-61FC87CDBF97}" type="slidenum">
              <a:rPr lang="tr-TR" smtClean="0"/>
              <a:t>2</a:t>
            </a:fld>
            <a:endParaRPr lang="tr-TR"/>
          </a:p>
        </p:txBody>
      </p:sp>
    </p:spTree>
    <p:extLst>
      <p:ext uri="{BB962C8B-B14F-4D97-AF65-F5344CB8AC3E}">
        <p14:creationId xmlns:p14="http://schemas.microsoft.com/office/powerpoint/2010/main" val="1275681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2EAA1-DCCC-4DC2-2246-926A8FE9FFD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C64D40CA-849D-EEBF-ED1B-5E284D107BB9}"/>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68E34C18-52A2-B6DF-9DC1-D85C80FBB23A}"/>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E55A2063-2840-90E4-6819-0C1105073E3B}"/>
              </a:ext>
            </a:extLst>
          </p:cNvPr>
          <p:cNvSpPr>
            <a:spLocks noGrp="1"/>
          </p:cNvSpPr>
          <p:nvPr>
            <p:ph type="sldNum" sz="quarter" idx="5"/>
          </p:nvPr>
        </p:nvSpPr>
        <p:spPr/>
        <p:txBody>
          <a:bodyPr/>
          <a:lstStyle/>
          <a:p>
            <a:fld id="{CA1912DE-25A9-44E4-A746-61FC87CDBF97}" type="slidenum">
              <a:rPr lang="tr-TR" smtClean="0"/>
              <a:t>3</a:t>
            </a:fld>
            <a:endParaRPr lang="tr-TR"/>
          </a:p>
        </p:txBody>
      </p:sp>
    </p:spTree>
    <p:extLst>
      <p:ext uri="{BB962C8B-B14F-4D97-AF65-F5344CB8AC3E}">
        <p14:creationId xmlns:p14="http://schemas.microsoft.com/office/powerpoint/2010/main" val="3470449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821A-4EDD-25A5-FD71-AD0A25A7969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88B6B3A-2A6A-7B01-0FFA-E88EA3FB35F2}"/>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7403AFF-5F09-E664-ED13-A5E7463EBA1D}"/>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98B43B7C-3C24-779F-C083-C991128421A6}"/>
              </a:ext>
            </a:extLst>
          </p:cNvPr>
          <p:cNvSpPr>
            <a:spLocks noGrp="1"/>
          </p:cNvSpPr>
          <p:nvPr>
            <p:ph type="sldNum" sz="quarter" idx="5"/>
          </p:nvPr>
        </p:nvSpPr>
        <p:spPr/>
        <p:txBody>
          <a:bodyPr/>
          <a:lstStyle/>
          <a:p>
            <a:fld id="{CA1912DE-25A9-44E4-A746-61FC87CDBF97}" type="slidenum">
              <a:rPr lang="tr-TR" smtClean="0"/>
              <a:t>4</a:t>
            </a:fld>
            <a:endParaRPr lang="tr-TR"/>
          </a:p>
        </p:txBody>
      </p:sp>
    </p:spTree>
    <p:extLst>
      <p:ext uri="{BB962C8B-B14F-4D97-AF65-F5344CB8AC3E}">
        <p14:creationId xmlns:p14="http://schemas.microsoft.com/office/powerpoint/2010/main" val="3668950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5880D-7016-161D-5F8E-BD5F588DEC4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441C0209-74AA-162C-A7E7-BF999A28B5A6}"/>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4BDFB67-EFE1-DE3F-C657-337BDBBF14CF}"/>
              </a:ext>
            </a:extLst>
          </p:cNvPr>
          <p:cNvSpPr>
            <a:spLocks noGrp="1"/>
          </p:cNvSpPr>
          <p:nvPr>
            <p:ph type="body" idx="1"/>
          </p:nvPr>
        </p:nvSpPr>
        <p:spPr/>
        <p:txBody>
          <a:bodyPr/>
          <a:lstStyle/>
          <a:p>
            <a:r>
              <a:rPr lang="tr-TR" dirty="0"/>
              <a:t>Fizibilite çalışmaları, işletmenin sürdürülebilir ve başarılı olmasını sağlamak amacıyla detaylı analizler içeren kritik bir süreçtir. Bu çalışmalar aşağıdaki temel alanlarda incelenir:</a:t>
            </a:r>
          </a:p>
          <a:p>
            <a:pPr>
              <a:buFont typeface="+mj-lt"/>
              <a:buAutoNum type="arabicPeriod"/>
            </a:pPr>
            <a:r>
              <a:rPr lang="tr-TR" b="1" dirty="0"/>
              <a:t>Ekonomik Fizibilite</a:t>
            </a:r>
            <a:r>
              <a:rPr lang="tr-TR" dirty="0"/>
              <a:t>: İşletmenin sektördeki konumu, pazar payı, talep ve arz dengesi gibi unsurlar değerlendirilir.</a:t>
            </a:r>
          </a:p>
          <a:p>
            <a:pPr>
              <a:buFont typeface="+mj-lt"/>
              <a:buAutoNum type="arabicPeriod"/>
            </a:pPr>
            <a:r>
              <a:rPr lang="tr-TR" b="1" dirty="0"/>
              <a:t>Teknik Fizibilite</a:t>
            </a:r>
            <a:r>
              <a:rPr lang="tr-TR" dirty="0"/>
              <a:t>: Üretim süreci, gerekli teknoloji, makine ve ekipman ihtiyaçları belirlenir.</a:t>
            </a:r>
          </a:p>
          <a:p>
            <a:pPr>
              <a:buFont typeface="+mj-lt"/>
              <a:buAutoNum type="arabicPeriod"/>
            </a:pPr>
            <a:r>
              <a:rPr lang="tr-TR" b="1" dirty="0"/>
              <a:t>Finansal Fizibilite</a:t>
            </a:r>
            <a:r>
              <a:rPr lang="tr-TR" dirty="0"/>
              <a:t>: Yatırım maliyetleri, finansman kaynakları, kârlılık oranları ve geri dönüş süresi hesaplanır.</a:t>
            </a:r>
          </a:p>
          <a:p>
            <a:pPr>
              <a:buFont typeface="+mj-lt"/>
              <a:buAutoNum type="arabicPeriod"/>
            </a:pPr>
            <a:r>
              <a:rPr lang="tr-TR" b="1" dirty="0"/>
              <a:t>Hukuki Fizibilite</a:t>
            </a:r>
            <a:r>
              <a:rPr lang="tr-TR" dirty="0"/>
              <a:t>: İşletmenin tabi olacağı yasal düzenlemeler, vergi yükümlülükleri, ruhsat ve izin süreçleri gözden geçirilir.</a:t>
            </a:r>
          </a:p>
          <a:p>
            <a:pPr>
              <a:buFont typeface="+mj-lt"/>
              <a:buAutoNum type="arabicPeriod"/>
            </a:pPr>
            <a:r>
              <a:rPr lang="tr-TR" b="1" dirty="0"/>
              <a:t>Örgütsel Fizibilite</a:t>
            </a:r>
            <a:r>
              <a:rPr lang="tr-TR" dirty="0"/>
              <a:t>: İşletmenin organizasyon yapısı, insan kaynakları ihtiyacı ve yönetim modeli belirlenir.</a:t>
            </a:r>
          </a:p>
          <a:p>
            <a:endParaRPr lang="tr-TR" dirty="0"/>
          </a:p>
        </p:txBody>
      </p:sp>
      <p:sp>
        <p:nvSpPr>
          <p:cNvPr id="4" name="Slayt Numarası Yer Tutucusu 3">
            <a:extLst>
              <a:ext uri="{FF2B5EF4-FFF2-40B4-BE49-F238E27FC236}">
                <a16:creationId xmlns:a16="http://schemas.microsoft.com/office/drawing/2014/main" id="{7AEECD0A-38C8-EE1B-FD90-A7113F89B1EC}"/>
              </a:ext>
            </a:extLst>
          </p:cNvPr>
          <p:cNvSpPr>
            <a:spLocks noGrp="1"/>
          </p:cNvSpPr>
          <p:nvPr>
            <p:ph type="sldNum" sz="quarter" idx="5"/>
          </p:nvPr>
        </p:nvSpPr>
        <p:spPr/>
        <p:txBody>
          <a:bodyPr/>
          <a:lstStyle/>
          <a:p>
            <a:fld id="{CA1912DE-25A9-44E4-A746-61FC87CDBF97}" type="slidenum">
              <a:rPr lang="tr-TR" smtClean="0"/>
              <a:t>5</a:t>
            </a:fld>
            <a:endParaRPr lang="tr-TR"/>
          </a:p>
        </p:txBody>
      </p:sp>
    </p:spTree>
    <p:extLst>
      <p:ext uri="{BB962C8B-B14F-4D97-AF65-F5344CB8AC3E}">
        <p14:creationId xmlns:p14="http://schemas.microsoft.com/office/powerpoint/2010/main" val="3181609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35BC3-F7C3-CB61-E4D7-C6F571649B4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3AED52C-0788-A2CE-899F-7650FEAA199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A18A495-0A22-2195-5988-DF4AFEB41568}"/>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A52167AA-792B-A3AD-21D1-0CCCBBA863A2}"/>
              </a:ext>
            </a:extLst>
          </p:cNvPr>
          <p:cNvSpPr>
            <a:spLocks noGrp="1"/>
          </p:cNvSpPr>
          <p:nvPr>
            <p:ph type="sldNum" sz="quarter" idx="5"/>
          </p:nvPr>
        </p:nvSpPr>
        <p:spPr/>
        <p:txBody>
          <a:bodyPr/>
          <a:lstStyle/>
          <a:p>
            <a:fld id="{CA1912DE-25A9-44E4-A746-61FC87CDBF97}" type="slidenum">
              <a:rPr lang="tr-TR" smtClean="0"/>
              <a:t>6</a:t>
            </a:fld>
            <a:endParaRPr lang="tr-TR"/>
          </a:p>
        </p:txBody>
      </p:sp>
    </p:spTree>
    <p:extLst>
      <p:ext uri="{BB962C8B-B14F-4D97-AF65-F5344CB8AC3E}">
        <p14:creationId xmlns:p14="http://schemas.microsoft.com/office/powerpoint/2010/main" val="3013356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1E438-A0E4-13BA-5C73-A48EE95A987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E09E209F-2A21-D64C-EC94-5A6770C7346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1AE44979-22E5-F1C8-9E92-E687B4E31383}"/>
              </a:ext>
            </a:extLst>
          </p:cNvPr>
          <p:cNvSpPr>
            <a:spLocks noGrp="1"/>
          </p:cNvSpPr>
          <p:nvPr>
            <p:ph type="body" idx="1"/>
          </p:nvPr>
        </p:nvSpPr>
        <p:spPr/>
        <p:txBody>
          <a:bodyPr/>
          <a:lstStyle/>
          <a:p>
            <a:r>
              <a:rPr lang="tr-TR" b="1" dirty="0"/>
              <a:t>Piyasa Araştırması ve Talep Tahmini</a:t>
            </a:r>
            <a:endParaRPr lang="tr-TR" dirty="0"/>
          </a:p>
          <a:p>
            <a:pPr>
              <a:buFont typeface="Arial" panose="020B0604020202020204" pitchFamily="34" charset="0"/>
              <a:buChar char="•"/>
            </a:pPr>
            <a:r>
              <a:rPr lang="tr-TR" dirty="0"/>
              <a:t>Mevcut pazar koşulları, rekabet durumu ve müşteri beklentileri analiz edilir.</a:t>
            </a:r>
          </a:p>
          <a:p>
            <a:pPr>
              <a:buFont typeface="Arial" panose="020B0604020202020204" pitchFamily="34" charset="0"/>
              <a:buChar char="•"/>
            </a:pPr>
            <a:r>
              <a:rPr lang="tr-TR" dirty="0"/>
              <a:t>Hedef kitlenin satın alma gücü ve eğilimleri incelenir.</a:t>
            </a:r>
          </a:p>
          <a:p>
            <a:pPr>
              <a:buFont typeface="Arial" panose="020B0604020202020204" pitchFamily="34" charset="0"/>
              <a:buChar char="•"/>
            </a:pPr>
            <a:r>
              <a:rPr lang="tr-TR" dirty="0"/>
              <a:t>Ürüne veya hizmete olan talebin kısa ve uzun vadeli projeksiyonları yapılır.</a:t>
            </a:r>
          </a:p>
          <a:p>
            <a:endParaRPr lang="tr-TR" dirty="0"/>
          </a:p>
        </p:txBody>
      </p:sp>
      <p:sp>
        <p:nvSpPr>
          <p:cNvPr id="4" name="Slayt Numarası Yer Tutucusu 3">
            <a:extLst>
              <a:ext uri="{FF2B5EF4-FFF2-40B4-BE49-F238E27FC236}">
                <a16:creationId xmlns:a16="http://schemas.microsoft.com/office/drawing/2014/main" id="{4396BDA3-8D6C-E37D-4B99-EE4D7AD064D0}"/>
              </a:ext>
            </a:extLst>
          </p:cNvPr>
          <p:cNvSpPr>
            <a:spLocks noGrp="1"/>
          </p:cNvSpPr>
          <p:nvPr>
            <p:ph type="sldNum" sz="quarter" idx="5"/>
          </p:nvPr>
        </p:nvSpPr>
        <p:spPr/>
        <p:txBody>
          <a:bodyPr/>
          <a:lstStyle/>
          <a:p>
            <a:fld id="{CA1912DE-25A9-44E4-A746-61FC87CDBF97}" type="slidenum">
              <a:rPr lang="tr-TR" smtClean="0"/>
              <a:t>7</a:t>
            </a:fld>
            <a:endParaRPr lang="tr-TR"/>
          </a:p>
        </p:txBody>
      </p:sp>
    </p:spTree>
    <p:extLst>
      <p:ext uri="{BB962C8B-B14F-4D97-AF65-F5344CB8AC3E}">
        <p14:creationId xmlns:p14="http://schemas.microsoft.com/office/powerpoint/2010/main" val="3613990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AEE93-5989-1489-C68B-26397DBD14EA}"/>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23A49BB9-5D42-4431-3301-2F6D51C4B77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8615F8FB-C194-E525-2BBF-5F71099AEDF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B0D844E4-03CD-1A77-FDB8-90074C2E0609}"/>
              </a:ext>
            </a:extLst>
          </p:cNvPr>
          <p:cNvSpPr>
            <a:spLocks noGrp="1"/>
          </p:cNvSpPr>
          <p:nvPr>
            <p:ph type="sldNum" sz="quarter" idx="5"/>
          </p:nvPr>
        </p:nvSpPr>
        <p:spPr/>
        <p:txBody>
          <a:bodyPr/>
          <a:lstStyle/>
          <a:p>
            <a:fld id="{CA1912DE-25A9-44E4-A746-61FC87CDBF97}" type="slidenum">
              <a:rPr lang="tr-TR" smtClean="0"/>
              <a:t>8</a:t>
            </a:fld>
            <a:endParaRPr lang="tr-TR"/>
          </a:p>
        </p:txBody>
      </p:sp>
    </p:spTree>
    <p:extLst>
      <p:ext uri="{BB962C8B-B14F-4D97-AF65-F5344CB8AC3E}">
        <p14:creationId xmlns:p14="http://schemas.microsoft.com/office/powerpoint/2010/main" val="265064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CA1912DE-25A9-44E4-A746-61FC87CDBF97}" type="slidenum">
              <a:rPr lang="tr-TR" smtClean="0"/>
              <a:t>9</a:t>
            </a:fld>
            <a:endParaRPr lang="tr-TR"/>
          </a:p>
        </p:txBody>
      </p:sp>
    </p:spTree>
    <p:extLst>
      <p:ext uri="{BB962C8B-B14F-4D97-AF65-F5344CB8AC3E}">
        <p14:creationId xmlns:p14="http://schemas.microsoft.com/office/powerpoint/2010/main" val="4005282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CA1912DE-25A9-44E4-A746-61FC87CDBF97}" type="slidenum">
              <a:rPr lang="tr-TR" smtClean="0"/>
              <a:t>10</a:t>
            </a:fld>
            <a:endParaRPr lang="tr-TR"/>
          </a:p>
        </p:txBody>
      </p:sp>
    </p:spTree>
    <p:extLst>
      <p:ext uri="{BB962C8B-B14F-4D97-AF65-F5344CB8AC3E}">
        <p14:creationId xmlns:p14="http://schemas.microsoft.com/office/powerpoint/2010/main" val="3289213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8661D-11B4-A0CF-C2C4-1D221F347EE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322D59E-FCDE-3892-A55B-EA76F1F74973}"/>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3257A04-2427-894B-97D3-C9073FD5449B}"/>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DBB99FC7-FA5E-8EED-01CD-AC051D9C1E87}"/>
              </a:ext>
            </a:extLst>
          </p:cNvPr>
          <p:cNvSpPr>
            <a:spLocks noGrp="1"/>
          </p:cNvSpPr>
          <p:nvPr>
            <p:ph type="sldNum" sz="quarter" idx="5"/>
          </p:nvPr>
        </p:nvSpPr>
        <p:spPr/>
        <p:txBody>
          <a:bodyPr/>
          <a:lstStyle/>
          <a:p>
            <a:fld id="{CA1912DE-25A9-44E4-A746-61FC87CDBF97}" type="slidenum">
              <a:rPr lang="tr-TR" smtClean="0"/>
              <a:t>11</a:t>
            </a:fld>
            <a:endParaRPr lang="tr-TR"/>
          </a:p>
        </p:txBody>
      </p:sp>
    </p:spTree>
    <p:extLst>
      <p:ext uri="{BB962C8B-B14F-4D97-AF65-F5344CB8AC3E}">
        <p14:creationId xmlns:p14="http://schemas.microsoft.com/office/powerpoint/2010/main" val="3587598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a:t>
            </a:r>
          </a:p>
          <a:p>
            <a:endParaRPr lang="tr-TR" dirty="0"/>
          </a:p>
        </p:txBody>
      </p:sp>
      <p:sp>
        <p:nvSpPr>
          <p:cNvPr id="4" name="Slayt Numarası Yer Tutucusu 3"/>
          <p:cNvSpPr>
            <a:spLocks noGrp="1"/>
          </p:cNvSpPr>
          <p:nvPr>
            <p:ph type="sldNum" sz="quarter" idx="5"/>
          </p:nvPr>
        </p:nvSpPr>
        <p:spPr/>
        <p:txBody>
          <a:bodyPr/>
          <a:lstStyle/>
          <a:p>
            <a:fld id="{CA1912DE-25A9-44E4-A746-61FC87CDBF97}" type="slidenum">
              <a:rPr lang="tr-TR" smtClean="0"/>
              <a:t>12</a:t>
            </a:fld>
            <a:endParaRPr lang="tr-TR"/>
          </a:p>
        </p:txBody>
      </p:sp>
    </p:spTree>
    <p:extLst>
      <p:ext uri="{BB962C8B-B14F-4D97-AF65-F5344CB8AC3E}">
        <p14:creationId xmlns:p14="http://schemas.microsoft.com/office/powerpoint/2010/main" val="1704599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CA1912DE-25A9-44E4-A746-61FC87CDBF97}" type="slidenum">
              <a:rPr lang="tr-TR" smtClean="0"/>
              <a:t>13</a:t>
            </a:fld>
            <a:endParaRPr lang="tr-TR"/>
          </a:p>
        </p:txBody>
      </p:sp>
    </p:spTree>
    <p:extLst>
      <p:ext uri="{BB962C8B-B14F-4D97-AF65-F5344CB8AC3E}">
        <p14:creationId xmlns:p14="http://schemas.microsoft.com/office/powerpoint/2010/main" val="1469564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CA1912DE-25A9-44E4-A746-61FC87CDBF97}" type="slidenum">
              <a:rPr lang="tr-TR" smtClean="0"/>
              <a:t>14</a:t>
            </a:fld>
            <a:endParaRPr lang="tr-TR"/>
          </a:p>
        </p:txBody>
      </p:sp>
    </p:spTree>
    <p:extLst>
      <p:ext uri="{BB962C8B-B14F-4D97-AF65-F5344CB8AC3E}">
        <p14:creationId xmlns:p14="http://schemas.microsoft.com/office/powerpoint/2010/main" val="16744867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CA1912DE-25A9-44E4-A746-61FC87CDBF97}" type="slidenum">
              <a:rPr lang="tr-TR" smtClean="0"/>
              <a:t>15</a:t>
            </a:fld>
            <a:endParaRPr lang="tr-TR"/>
          </a:p>
        </p:txBody>
      </p:sp>
    </p:spTree>
    <p:extLst>
      <p:ext uri="{BB962C8B-B14F-4D97-AF65-F5344CB8AC3E}">
        <p14:creationId xmlns:p14="http://schemas.microsoft.com/office/powerpoint/2010/main" val="36277792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2AB49-794A-17DC-B35A-B4B2A0F665B6}"/>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7F82606E-6884-1FD1-A0C8-465A68A487F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0FAD5E4-0115-4504-498F-680C526B8EF8}"/>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0BD97629-04E9-BD96-2607-B0A90F87B856}"/>
              </a:ext>
            </a:extLst>
          </p:cNvPr>
          <p:cNvSpPr>
            <a:spLocks noGrp="1"/>
          </p:cNvSpPr>
          <p:nvPr>
            <p:ph type="sldNum" sz="quarter" idx="5"/>
          </p:nvPr>
        </p:nvSpPr>
        <p:spPr/>
        <p:txBody>
          <a:bodyPr/>
          <a:lstStyle/>
          <a:p>
            <a:fld id="{CA1912DE-25A9-44E4-A746-61FC87CDBF97}" type="slidenum">
              <a:rPr lang="tr-TR" smtClean="0"/>
              <a:t>16</a:t>
            </a:fld>
            <a:endParaRPr lang="tr-TR"/>
          </a:p>
        </p:txBody>
      </p:sp>
    </p:spTree>
    <p:extLst>
      <p:ext uri="{BB962C8B-B14F-4D97-AF65-F5344CB8AC3E}">
        <p14:creationId xmlns:p14="http://schemas.microsoft.com/office/powerpoint/2010/main" val="30583197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1F8B-0E79-A5A4-A61D-70B4A11AAA3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6E54F522-1EEE-4CB2-69FF-0485326FCF31}"/>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B63786B-1AB3-43B5-611E-4E747D66D61D}"/>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326474FD-E997-AD37-218C-D9E6014B1E5E}"/>
              </a:ext>
            </a:extLst>
          </p:cNvPr>
          <p:cNvSpPr>
            <a:spLocks noGrp="1"/>
          </p:cNvSpPr>
          <p:nvPr>
            <p:ph type="sldNum" sz="quarter" idx="5"/>
          </p:nvPr>
        </p:nvSpPr>
        <p:spPr/>
        <p:txBody>
          <a:bodyPr/>
          <a:lstStyle/>
          <a:p>
            <a:fld id="{CA1912DE-25A9-44E4-A746-61FC87CDBF97}" type="slidenum">
              <a:rPr lang="tr-TR" smtClean="0"/>
              <a:t>17</a:t>
            </a:fld>
            <a:endParaRPr lang="tr-TR"/>
          </a:p>
        </p:txBody>
      </p:sp>
    </p:spTree>
    <p:extLst>
      <p:ext uri="{BB962C8B-B14F-4D97-AF65-F5344CB8AC3E}">
        <p14:creationId xmlns:p14="http://schemas.microsoft.com/office/powerpoint/2010/main" val="3860468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B3A17-7628-213F-157D-DCAEEBCD42E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97B21A0-BAC5-3391-CEE9-AAD902C3497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396C4FC-7184-F20E-680F-4AEF46C2B82F}"/>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3727743C-EC7B-2F47-7636-D65676CCFD0A}"/>
              </a:ext>
            </a:extLst>
          </p:cNvPr>
          <p:cNvSpPr>
            <a:spLocks noGrp="1"/>
          </p:cNvSpPr>
          <p:nvPr>
            <p:ph type="sldNum" sz="quarter" idx="5"/>
          </p:nvPr>
        </p:nvSpPr>
        <p:spPr/>
        <p:txBody>
          <a:bodyPr/>
          <a:lstStyle/>
          <a:p>
            <a:fld id="{CA1912DE-25A9-44E4-A746-61FC87CDBF97}" type="slidenum">
              <a:rPr lang="tr-TR" smtClean="0"/>
              <a:t>18</a:t>
            </a:fld>
            <a:endParaRPr lang="tr-TR"/>
          </a:p>
        </p:txBody>
      </p:sp>
    </p:spTree>
    <p:extLst>
      <p:ext uri="{BB962C8B-B14F-4D97-AF65-F5344CB8AC3E}">
        <p14:creationId xmlns:p14="http://schemas.microsoft.com/office/powerpoint/2010/main" val="34013856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CA1912DE-25A9-44E4-A746-61FC87CDBF97}" type="slidenum">
              <a:rPr lang="tr-TR" smtClean="0"/>
              <a:t>19</a:t>
            </a:fld>
            <a:endParaRPr lang="tr-TR"/>
          </a:p>
        </p:txBody>
      </p:sp>
    </p:spTree>
    <p:extLst>
      <p:ext uri="{BB962C8B-B14F-4D97-AF65-F5344CB8AC3E}">
        <p14:creationId xmlns:p14="http://schemas.microsoft.com/office/powerpoint/2010/main" val="8077508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CA1912DE-25A9-44E4-A746-61FC87CDBF97}" type="slidenum">
              <a:rPr lang="tr-TR" smtClean="0"/>
              <a:t>20</a:t>
            </a:fld>
            <a:endParaRPr lang="tr-TR"/>
          </a:p>
        </p:txBody>
      </p:sp>
    </p:spTree>
    <p:extLst>
      <p:ext uri="{BB962C8B-B14F-4D97-AF65-F5344CB8AC3E}">
        <p14:creationId xmlns:p14="http://schemas.microsoft.com/office/powerpoint/2010/main" val="5251088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E05FB-76B2-52E3-6274-9AFCF3A2514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532D3B09-6F6E-43A0-BA27-B43E9B39658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07F96A6-5977-5935-1125-920BB5B952E7}"/>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688A54FD-CF8B-7E55-1115-EB5B454E2BB6}"/>
              </a:ext>
            </a:extLst>
          </p:cNvPr>
          <p:cNvSpPr>
            <a:spLocks noGrp="1"/>
          </p:cNvSpPr>
          <p:nvPr>
            <p:ph type="sldNum" sz="quarter" idx="5"/>
          </p:nvPr>
        </p:nvSpPr>
        <p:spPr/>
        <p:txBody>
          <a:bodyPr/>
          <a:lstStyle/>
          <a:p>
            <a:fld id="{CA1912DE-25A9-44E4-A746-61FC87CDBF97}" type="slidenum">
              <a:rPr lang="tr-TR" smtClean="0"/>
              <a:t>21</a:t>
            </a:fld>
            <a:endParaRPr lang="tr-TR"/>
          </a:p>
        </p:txBody>
      </p:sp>
    </p:spTree>
    <p:extLst>
      <p:ext uri="{BB962C8B-B14F-4D97-AF65-F5344CB8AC3E}">
        <p14:creationId xmlns:p14="http://schemas.microsoft.com/office/powerpoint/2010/main" val="41296092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7AE50-6472-539C-58E9-528268C2572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50D39E37-09B5-B41D-5083-3CBC053B7D9D}"/>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76CBC186-5447-D2F1-F942-C241AF7DC84E}"/>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C905194F-018E-CD51-7216-D8A417D92B52}"/>
              </a:ext>
            </a:extLst>
          </p:cNvPr>
          <p:cNvSpPr>
            <a:spLocks noGrp="1"/>
          </p:cNvSpPr>
          <p:nvPr>
            <p:ph type="sldNum" sz="quarter" idx="5"/>
          </p:nvPr>
        </p:nvSpPr>
        <p:spPr/>
        <p:txBody>
          <a:bodyPr/>
          <a:lstStyle/>
          <a:p>
            <a:fld id="{CA1912DE-25A9-44E4-A746-61FC87CDBF97}" type="slidenum">
              <a:rPr lang="tr-TR" smtClean="0"/>
              <a:t>22</a:t>
            </a:fld>
            <a:endParaRPr lang="tr-TR"/>
          </a:p>
        </p:txBody>
      </p:sp>
    </p:spTree>
    <p:extLst>
      <p:ext uri="{BB962C8B-B14F-4D97-AF65-F5344CB8AC3E}">
        <p14:creationId xmlns:p14="http://schemas.microsoft.com/office/powerpoint/2010/main" val="13853348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E2575-9182-A50A-AA3A-B1CC96A1613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C81997D5-3AB1-73A2-14A8-97BD983043D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79D0352-1333-E40A-6081-E27CC2FF1EBE}"/>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BDFAAAAD-D5CD-B147-F33C-B63CA9F4A912}"/>
              </a:ext>
            </a:extLst>
          </p:cNvPr>
          <p:cNvSpPr>
            <a:spLocks noGrp="1"/>
          </p:cNvSpPr>
          <p:nvPr>
            <p:ph type="sldNum" sz="quarter" idx="5"/>
          </p:nvPr>
        </p:nvSpPr>
        <p:spPr/>
        <p:txBody>
          <a:bodyPr/>
          <a:lstStyle/>
          <a:p>
            <a:fld id="{CA1912DE-25A9-44E4-A746-61FC87CDBF97}" type="slidenum">
              <a:rPr lang="tr-TR" smtClean="0"/>
              <a:t>23</a:t>
            </a:fld>
            <a:endParaRPr lang="tr-TR"/>
          </a:p>
        </p:txBody>
      </p:sp>
    </p:spTree>
    <p:extLst>
      <p:ext uri="{BB962C8B-B14F-4D97-AF65-F5344CB8AC3E}">
        <p14:creationId xmlns:p14="http://schemas.microsoft.com/office/powerpoint/2010/main" val="2276677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2E530-10F3-5DE9-7702-D5F0F8887BB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789AF861-14C3-B5E3-588B-D8D24506F46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4A02973-7ADE-5674-6F0D-3F2EAEAB0703}"/>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C9C10E31-4650-3E14-2776-1AFB2F3DFF10}"/>
              </a:ext>
            </a:extLst>
          </p:cNvPr>
          <p:cNvSpPr>
            <a:spLocks noGrp="1"/>
          </p:cNvSpPr>
          <p:nvPr>
            <p:ph type="sldNum" sz="quarter" idx="5"/>
          </p:nvPr>
        </p:nvSpPr>
        <p:spPr/>
        <p:txBody>
          <a:bodyPr/>
          <a:lstStyle/>
          <a:p>
            <a:fld id="{CA1912DE-25A9-44E4-A746-61FC87CDBF97}" type="slidenum">
              <a:rPr lang="tr-TR" smtClean="0"/>
              <a:t>24</a:t>
            </a:fld>
            <a:endParaRPr lang="tr-TR"/>
          </a:p>
        </p:txBody>
      </p:sp>
    </p:spTree>
    <p:extLst>
      <p:ext uri="{BB962C8B-B14F-4D97-AF65-F5344CB8AC3E}">
        <p14:creationId xmlns:p14="http://schemas.microsoft.com/office/powerpoint/2010/main" val="37117071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EB9FF-E531-9912-BD67-46105FC73398}"/>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447B4442-75EE-F190-C05F-B920586D69F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6D322EEA-864B-4460-C452-F98F55BD0F52}"/>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40D011A6-4881-07B8-2791-10522BDD97CC}"/>
              </a:ext>
            </a:extLst>
          </p:cNvPr>
          <p:cNvSpPr>
            <a:spLocks noGrp="1"/>
          </p:cNvSpPr>
          <p:nvPr>
            <p:ph type="sldNum" sz="quarter" idx="5"/>
          </p:nvPr>
        </p:nvSpPr>
        <p:spPr/>
        <p:txBody>
          <a:bodyPr/>
          <a:lstStyle/>
          <a:p>
            <a:fld id="{CA1912DE-25A9-44E4-A746-61FC87CDBF97}" type="slidenum">
              <a:rPr lang="tr-TR" smtClean="0"/>
              <a:t>25</a:t>
            </a:fld>
            <a:endParaRPr lang="tr-TR"/>
          </a:p>
        </p:txBody>
      </p:sp>
    </p:spTree>
    <p:extLst>
      <p:ext uri="{BB962C8B-B14F-4D97-AF65-F5344CB8AC3E}">
        <p14:creationId xmlns:p14="http://schemas.microsoft.com/office/powerpoint/2010/main" val="20498019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CA1912DE-25A9-44E4-A746-61FC87CDBF97}" type="slidenum">
              <a:rPr lang="tr-TR" smtClean="0"/>
              <a:t>26</a:t>
            </a:fld>
            <a:endParaRPr lang="tr-TR"/>
          </a:p>
        </p:txBody>
      </p:sp>
    </p:spTree>
    <p:extLst>
      <p:ext uri="{BB962C8B-B14F-4D97-AF65-F5344CB8AC3E}">
        <p14:creationId xmlns:p14="http://schemas.microsoft.com/office/powerpoint/2010/main" val="16959931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7BCDA-AEAF-A829-7B02-6CB595316767}"/>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21A92FAB-BAD5-1947-70DC-515496BC87E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7F3A7DA-CA01-0524-8399-A8E9A3FA9DBC}"/>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8920F9F3-020A-D299-F100-621226F65B3B}"/>
              </a:ext>
            </a:extLst>
          </p:cNvPr>
          <p:cNvSpPr>
            <a:spLocks noGrp="1"/>
          </p:cNvSpPr>
          <p:nvPr>
            <p:ph type="sldNum" sz="quarter" idx="5"/>
          </p:nvPr>
        </p:nvSpPr>
        <p:spPr/>
        <p:txBody>
          <a:bodyPr/>
          <a:lstStyle/>
          <a:p>
            <a:fld id="{CA1912DE-25A9-44E4-A746-61FC87CDBF97}" type="slidenum">
              <a:rPr lang="tr-TR" smtClean="0"/>
              <a:t>27</a:t>
            </a:fld>
            <a:endParaRPr lang="tr-TR"/>
          </a:p>
        </p:txBody>
      </p:sp>
    </p:spTree>
    <p:extLst>
      <p:ext uri="{BB962C8B-B14F-4D97-AF65-F5344CB8AC3E}">
        <p14:creationId xmlns:p14="http://schemas.microsoft.com/office/powerpoint/2010/main" val="11671712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AEADF-20D4-F15E-46DA-1A6EBAA67F8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864A7C56-5B7A-E2BB-3E41-A66F55407B5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6F10A0F2-4389-803F-B5A6-2233BF9516CE}"/>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A8F7D583-2AED-EC09-B8D3-13F25BC47242}"/>
              </a:ext>
            </a:extLst>
          </p:cNvPr>
          <p:cNvSpPr>
            <a:spLocks noGrp="1"/>
          </p:cNvSpPr>
          <p:nvPr>
            <p:ph type="sldNum" sz="quarter" idx="5"/>
          </p:nvPr>
        </p:nvSpPr>
        <p:spPr/>
        <p:txBody>
          <a:bodyPr/>
          <a:lstStyle/>
          <a:p>
            <a:fld id="{CA1912DE-25A9-44E4-A746-61FC87CDBF97}" type="slidenum">
              <a:rPr lang="tr-TR" smtClean="0"/>
              <a:t>28</a:t>
            </a:fld>
            <a:endParaRPr lang="tr-TR"/>
          </a:p>
        </p:txBody>
      </p:sp>
    </p:spTree>
    <p:extLst>
      <p:ext uri="{BB962C8B-B14F-4D97-AF65-F5344CB8AC3E}">
        <p14:creationId xmlns:p14="http://schemas.microsoft.com/office/powerpoint/2010/main" val="32650329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9B4BD-A871-5799-2C12-39E3BA037378}"/>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461D759-07F7-B81E-D90A-8FEB1FC123E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80FA8F6-1FBE-ECB4-E37A-A4ADEDD72197}"/>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0C750D11-DC27-5D9E-B9F1-50335E7A5B65}"/>
              </a:ext>
            </a:extLst>
          </p:cNvPr>
          <p:cNvSpPr>
            <a:spLocks noGrp="1"/>
          </p:cNvSpPr>
          <p:nvPr>
            <p:ph type="sldNum" sz="quarter" idx="5"/>
          </p:nvPr>
        </p:nvSpPr>
        <p:spPr/>
        <p:txBody>
          <a:bodyPr/>
          <a:lstStyle/>
          <a:p>
            <a:fld id="{CA1912DE-25A9-44E4-A746-61FC87CDBF97}" type="slidenum">
              <a:rPr lang="tr-TR" smtClean="0"/>
              <a:t>29</a:t>
            </a:fld>
            <a:endParaRPr lang="tr-TR"/>
          </a:p>
        </p:txBody>
      </p:sp>
    </p:spTree>
    <p:extLst>
      <p:ext uri="{BB962C8B-B14F-4D97-AF65-F5344CB8AC3E}">
        <p14:creationId xmlns:p14="http://schemas.microsoft.com/office/powerpoint/2010/main" val="1868526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CA1912DE-25A9-44E4-A746-61FC87CDBF97}" type="slidenum">
              <a:rPr lang="tr-TR" smtClean="0"/>
              <a:t>30</a:t>
            </a:fld>
            <a:endParaRPr lang="tr-TR"/>
          </a:p>
        </p:txBody>
      </p:sp>
    </p:spTree>
    <p:extLst>
      <p:ext uri="{BB962C8B-B14F-4D97-AF65-F5344CB8AC3E}">
        <p14:creationId xmlns:p14="http://schemas.microsoft.com/office/powerpoint/2010/main" val="28199849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CA1912DE-25A9-44E4-A746-61FC87CDBF97}" type="slidenum">
              <a:rPr lang="tr-TR" smtClean="0"/>
              <a:t>31</a:t>
            </a:fld>
            <a:endParaRPr lang="tr-TR"/>
          </a:p>
        </p:txBody>
      </p:sp>
    </p:spTree>
    <p:extLst>
      <p:ext uri="{BB962C8B-B14F-4D97-AF65-F5344CB8AC3E}">
        <p14:creationId xmlns:p14="http://schemas.microsoft.com/office/powerpoint/2010/main" val="2695912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893E7-B1E4-DE46-9376-3649BBA950A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51F207AB-B6F4-2C35-1726-2FA450B6160F}"/>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D1E61BB-D500-65EE-2977-0021289D26DF}"/>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16EACDF0-7436-599D-F9C1-3E993E29C16C}"/>
              </a:ext>
            </a:extLst>
          </p:cNvPr>
          <p:cNvSpPr>
            <a:spLocks noGrp="1"/>
          </p:cNvSpPr>
          <p:nvPr>
            <p:ph type="sldNum" sz="quarter" idx="5"/>
          </p:nvPr>
        </p:nvSpPr>
        <p:spPr/>
        <p:txBody>
          <a:bodyPr/>
          <a:lstStyle/>
          <a:p>
            <a:fld id="{CA1912DE-25A9-44E4-A746-61FC87CDBF97}" type="slidenum">
              <a:rPr lang="tr-TR" smtClean="0"/>
              <a:t>32</a:t>
            </a:fld>
            <a:endParaRPr lang="tr-TR"/>
          </a:p>
        </p:txBody>
      </p:sp>
    </p:spTree>
    <p:extLst>
      <p:ext uri="{BB962C8B-B14F-4D97-AF65-F5344CB8AC3E}">
        <p14:creationId xmlns:p14="http://schemas.microsoft.com/office/powerpoint/2010/main" val="24293332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04FBD-18E5-6120-55F0-C45B32A7634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0F2020B2-4259-816D-36E9-20BADB85D81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8E2083C-B561-69C0-89A5-F2E96D64E547}"/>
              </a:ext>
            </a:extLst>
          </p:cNvPr>
          <p:cNvSpPr>
            <a:spLocks noGrp="1"/>
          </p:cNvSpPr>
          <p:nvPr>
            <p:ph type="body" idx="1"/>
          </p:nvPr>
        </p:nvSpPr>
        <p:spPr/>
        <p:txBody>
          <a:bodyPr/>
          <a:lstStyle/>
          <a:p>
            <a:r>
              <a:rPr lang="tr-TR" dirty="0"/>
              <a:t>.</a:t>
            </a:r>
          </a:p>
          <a:p>
            <a:endParaRPr lang="tr-TR" dirty="0"/>
          </a:p>
        </p:txBody>
      </p:sp>
      <p:sp>
        <p:nvSpPr>
          <p:cNvPr id="4" name="Slayt Numarası Yer Tutucusu 3">
            <a:extLst>
              <a:ext uri="{FF2B5EF4-FFF2-40B4-BE49-F238E27FC236}">
                <a16:creationId xmlns:a16="http://schemas.microsoft.com/office/drawing/2014/main" id="{F97E56E6-6DC2-A755-99ED-A0F01A16577E}"/>
              </a:ext>
            </a:extLst>
          </p:cNvPr>
          <p:cNvSpPr>
            <a:spLocks noGrp="1"/>
          </p:cNvSpPr>
          <p:nvPr>
            <p:ph type="sldNum" sz="quarter" idx="5"/>
          </p:nvPr>
        </p:nvSpPr>
        <p:spPr/>
        <p:txBody>
          <a:bodyPr/>
          <a:lstStyle/>
          <a:p>
            <a:fld id="{CA1912DE-25A9-44E4-A746-61FC87CDBF97}" type="slidenum">
              <a:rPr lang="tr-TR" smtClean="0"/>
              <a:t>33</a:t>
            </a:fld>
            <a:endParaRPr lang="tr-TR"/>
          </a:p>
        </p:txBody>
      </p:sp>
    </p:spTree>
    <p:extLst>
      <p:ext uri="{BB962C8B-B14F-4D97-AF65-F5344CB8AC3E}">
        <p14:creationId xmlns:p14="http://schemas.microsoft.com/office/powerpoint/2010/main" val="14384711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67350-9369-E776-3C5C-B85C9EFDCAF1}"/>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720462BE-BD79-D86C-56EC-A1C7EE5287CF}"/>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8986B43F-9294-38E0-6C1F-BC18911BCF29}"/>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1C6632BA-A96E-48C5-8BD2-F25EF0C3CEEC}"/>
              </a:ext>
            </a:extLst>
          </p:cNvPr>
          <p:cNvSpPr>
            <a:spLocks noGrp="1"/>
          </p:cNvSpPr>
          <p:nvPr>
            <p:ph type="sldNum" sz="quarter" idx="5"/>
          </p:nvPr>
        </p:nvSpPr>
        <p:spPr/>
        <p:txBody>
          <a:bodyPr/>
          <a:lstStyle/>
          <a:p>
            <a:fld id="{CA1912DE-25A9-44E4-A746-61FC87CDBF97}" type="slidenum">
              <a:rPr lang="tr-TR" smtClean="0"/>
              <a:t>34</a:t>
            </a:fld>
            <a:endParaRPr lang="tr-TR"/>
          </a:p>
        </p:txBody>
      </p:sp>
    </p:spTree>
    <p:extLst>
      <p:ext uri="{BB962C8B-B14F-4D97-AF65-F5344CB8AC3E}">
        <p14:creationId xmlns:p14="http://schemas.microsoft.com/office/powerpoint/2010/main" val="18091248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8C585-7F48-9E34-63A7-A089B80A78A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2CE5F81A-0D96-37A5-B0A3-7577914D3CC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8025E286-DF68-2104-2212-F9B710ABEFF7}"/>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CECCEEDD-E792-64D0-D7B0-53342751D20B}"/>
              </a:ext>
            </a:extLst>
          </p:cNvPr>
          <p:cNvSpPr>
            <a:spLocks noGrp="1"/>
          </p:cNvSpPr>
          <p:nvPr>
            <p:ph type="sldNum" sz="quarter" idx="5"/>
          </p:nvPr>
        </p:nvSpPr>
        <p:spPr/>
        <p:txBody>
          <a:bodyPr/>
          <a:lstStyle/>
          <a:p>
            <a:fld id="{CA1912DE-25A9-44E4-A746-61FC87CDBF97}" type="slidenum">
              <a:rPr lang="tr-TR" smtClean="0"/>
              <a:t>35</a:t>
            </a:fld>
            <a:endParaRPr lang="tr-TR"/>
          </a:p>
        </p:txBody>
      </p:sp>
    </p:spTree>
    <p:extLst>
      <p:ext uri="{BB962C8B-B14F-4D97-AF65-F5344CB8AC3E}">
        <p14:creationId xmlns:p14="http://schemas.microsoft.com/office/powerpoint/2010/main" val="30600086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B5352-CE1B-F77C-413D-8C845FADD4E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E82D26EF-3975-4736-FC4A-51D750828726}"/>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C481F34-10D0-8C40-3ED6-A28B2DC1A3B2}"/>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A38739DC-B3A2-FD12-4205-E6871844D799}"/>
              </a:ext>
            </a:extLst>
          </p:cNvPr>
          <p:cNvSpPr>
            <a:spLocks noGrp="1"/>
          </p:cNvSpPr>
          <p:nvPr>
            <p:ph type="sldNum" sz="quarter" idx="5"/>
          </p:nvPr>
        </p:nvSpPr>
        <p:spPr/>
        <p:txBody>
          <a:bodyPr/>
          <a:lstStyle/>
          <a:p>
            <a:fld id="{CA1912DE-25A9-44E4-A746-61FC87CDBF97}" type="slidenum">
              <a:rPr lang="tr-TR" smtClean="0"/>
              <a:t>36</a:t>
            </a:fld>
            <a:endParaRPr lang="tr-TR"/>
          </a:p>
        </p:txBody>
      </p:sp>
    </p:spTree>
    <p:extLst>
      <p:ext uri="{BB962C8B-B14F-4D97-AF65-F5344CB8AC3E}">
        <p14:creationId xmlns:p14="http://schemas.microsoft.com/office/powerpoint/2010/main" val="28376551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endParaRPr lang="tr-TR" dirty="0"/>
          </a:p>
        </p:txBody>
      </p:sp>
      <p:sp>
        <p:nvSpPr>
          <p:cNvPr id="4" name="Slayt Numarası Yer Tutucusu 3"/>
          <p:cNvSpPr>
            <a:spLocks noGrp="1"/>
          </p:cNvSpPr>
          <p:nvPr>
            <p:ph type="sldNum" sz="quarter" idx="5"/>
          </p:nvPr>
        </p:nvSpPr>
        <p:spPr/>
        <p:txBody>
          <a:bodyPr/>
          <a:lstStyle/>
          <a:p>
            <a:fld id="{CA1912DE-25A9-44E4-A746-61FC87CDBF97}" type="slidenum">
              <a:rPr lang="tr-TR" smtClean="0"/>
              <a:t>37</a:t>
            </a:fld>
            <a:endParaRPr lang="tr-TR"/>
          </a:p>
        </p:txBody>
      </p:sp>
    </p:spTree>
    <p:extLst>
      <p:ext uri="{BB962C8B-B14F-4D97-AF65-F5344CB8AC3E}">
        <p14:creationId xmlns:p14="http://schemas.microsoft.com/office/powerpoint/2010/main" val="37331741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CA1912DE-25A9-44E4-A746-61FC87CDBF97}" type="slidenum">
              <a:rPr lang="tr-TR" smtClean="0"/>
              <a:t>38</a:t>
            </a:fld>
            <a:endParaRPr lang="tr-TR"/>
          </a:p>
        </p:txBody>
      </p:sp>
    </p:spTree>
    <p:extLst>
      <p:ext uri="{BB962C8B-B14F-4D97-AF65-F5344CB8AC3E}">
        <p14:creationId xmlns:p14="http://schemas.microsoft.com/office/powerpoint/2010/main" val="3867749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6E9F50C-AC2A-7D06-E9A8-138F842768D1}"/>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78E41738-2B79-A4B9-BEF8-D21046EF32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B9270D6B-50F8-123C-3576-5897534A6FE5}"/>
              </a:ext>
            </a:extLst>
          </p:cNvPr>
          <p:cNvSpPr>
            <a:spLocks noGrp="1"/>
          </p:cNvSpPr>
          <p:nvPr>
            <p:ph type="dt" sz="half" idx="10"/>
          </p:nvPr>
        </p:nvSpPr>
        <p:spPr/>
        <p:txBody>
          <a:bodyPr/>
          <a:lstStyle/>
          <a:p>
            <a:fld id="{B951DD58-A8A3-43EC-9485-27A3D5CBE07B}" type="datetimeFigureOut">
              <a:rPr lang="tr-TR" smtClean="0"/>
              <a:t>17.03.2025</a:t>
            </a:fld>
            <a:endParaRPr lang="tr-TR"/>
          </a:p>
        </p:txBody>
      </p:sp>
      <p:sp>
        <p:nvSpPr>
          <p:cNvPr id="5" name="Alt Bilgi Yer Tutucusu 4">
            <a:extLst>
              <a:ext uri="{FF2B5EF4-FFF2-40B4-BE49-F238E27FC236}">
                <a16:creationId xmlns:a16="http://schemas.microsoft.com/office/drawing/2014/main" id="{F44B6D6B-4450-E9F0-CC9D-BF72968C441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4843B0F-2C96-0147-10F3-971CDBF18E47}"/>
              </a:ext>
            </a:extLst>
          </p:cNvPr>
          <p:cNvSpPr>
            <a:spLocks noGrp="1"/>
          </p:cNvSpPr>
          <p:nvPr>
            <p:ph type="sldNum" sz="quarter" idx="12"/>
          </p:nvPr>
        </p:nvSpPr>
        <p:spPr/>
        <p:txBody>
          <a:bodyPr/>
          <a:lstStyle/>
          <a:p>
            <a:fld id="{A9D6D268-175C-4974-B1AD-726B1B55FFEA}" type="slidenum">
              <a:rPr lang="tr-TR" smtClean="0"/>
              <a:t>‹#›</a:t>
            </a:fld>
            <a:endParaRPr lang="tr-TR"/>
          </a:p>
        </p:txBody>
      </p:sp>
    </p:spTree>
    <p:extLst>
      <p:ext uri="{BB962C8B-B14F-4D97-AF65-F5344CB8AC3E}">
        <p14:creationId xmlns:p14="http://schemas.microsoft.com/office/powerpoint/2010/main" val="3191107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A8A465A-7108-FAC8-A79E-01A8B3EF6568}"/>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1BDE97CA-7C32-A0D3-0D89-0E959831F11E}"/>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79B2C03-D480-DDDE-ABB6-7DE69B7C28C9}"/>
              </a:ext>
            </a:extLst>
          </p:cNvPr>
          <p:cNvSpPr>
            <a:spLocks noGrp="1"/>
          </p:cNvSpPr>
          <p:nvPr>
            <p:ph type="dt" sz="half" idx="10"/>
          </p:nvPr>
        </p:nvSpPr>
        <p:spPr/>
        <p:txBody>
          <a:bodyPr/>
          <a:lstStyle/>
          <a:p>
            <a:fld id="{B951DD58-A8A3-43EC-9485-27A3D5CBE07B}" type="datetimeFigureOut">
              <a:rPr lang="tr-TR" smtClean="0"/>
              <a:t>17.03.2025</a:t>
            </a:fld>
            <a:endParaRPr lang="tr-TR"/>
          </a:p>
        </p:txBody>
      </p:sp>
      <p:sp>
        <p:nvSpPr>
          <p:cNvPr id="5" name="Alt Bilgi Yer Tutucusu 4">
            <a:extLst>
              <a:ext uri="{FF2B5EF4-FFF2-40B4-BE49-F238E27FC236}">
                <a16:creationId xmlns:a16="http://schemas.microsoft.com/office/drawing/2014/main" id="{97565283-9EF9-A9BC-1BB6-5C697092C83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A4FDE67-8B40-2136-51D7-97D7ABBAFC98}"/>
              </a:ext>
            </a:extLst>
          </p:cNvPr>
          <p:cNvSpPr>
            <a:spLocks noGrp="1"/>
          </p:cNvSpPr>
          <p:nvPr>
            <p:ph type="sldNum" sz="quarter" idx="12"/>
          </p:nvPr>
        </p:nvSpPr>
        <p:spPr/>
        <p:txBody>
          <a:bodyPr/>
          <a:lstStyle/>
          <a:p>
            <a:fld id="{A9D6D268-175C-4974-B1AD-726B1B55FFEA}" type="slidenum">
              <a:rPr lang="tr-TR" smtClean="0"/>
              <a:t>‹#›</a:t>
            </a:fld>
            <a:endParaRPr lang="tr-TR"/>
          </a:p>
        </p:txBody>
      </p:sp>
    </p:spTree>
    <p:extLst>
      <p:ext uri="{BB962C8B-B14F-4D97-AF65-F5344CB8AC3E}">
        <p14:creationId xmlns:p14="http://schemas.microsoft.com/office/powerpoint/2010/main" val="1599794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B6212CF-7C6C-8C34-D3B3-AA3F1B1AE051}"/>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08BE7C27-F868-FA2B-FE58-DDF509B4D1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30C26274-042A-88F4-18AD-BA6C943A90C5}"/>
              </a:ext>
            </a:extLst>
          </p:cNvPr>
          <p:cNvSpPr>
            <a:spLocks noGrp="1"/>
          </p:cNvSpPr>
          <p:nvPr>
            <p:ph type="dt" sz="half" idx="10"/>
          </p:nvPr>
        </p:nvSpPr>
        <p:spPr/>
        <p:txBody>
          <a:bodyPr/>
          <a:lstStyle/>
          <a:p>
            <a:fld id="{B951DD58-A8A3-43EC-9485-27A3D5CBE07B}" type="datetimeFigureOut">
              <a:rPr lang="tr-TR" smtClean="0"/>
              <a:t>17.03.2025</a:t>
            </a:fld>
            <a:endParaRPr lang="tr-TR"/>
          </a:p>
        </p:txBody>
      </p:sp>
      <p:sp>
        <p:nvSpPr>
          <p:cNvPr id="5" name="Alt Bilgi Yer Tutucusu 4">
            <a:extLst>
              <a:ext uri="{FF2B5EF4-FFF2-40B4-BE49-F238E27FC236}">
                <a16:creationId xmlns:a16="http://schemas.microsoft.com/office/drawing/2014/main" id="{EB622FF6-4AAD-70D7-EDF6-B11E78AC0CD9}"/>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84D0632-E128-987B-D81E-58EF3C917F5B}"/>
              </a:ext>
            </a:extLst>
          </p:cNvPr>
          <p:cNvSpPr>
            <a:spLocks noGrp="1"/>
          </p:cNvSpPr>
          <p:nvPr>
            <p:ph type="sldNum" sz="quarter" idx="12"/>
          </p:nvPr>
        </p:nvSpPr>
        <p:spPr/>
        <p:txBody>
          <a:bodyPr/>
          <a:lstStyle/>
          <a:p>
            <a:fld id="{A9D6D268-175C-4974-B1AD-726B1B55FFEA}" type="slidenum">
              <a:rPr lang="tr-TR" smtClean="0"/>
              <a:t>‹#›</a:t>
            </a:fld>
            <a:endParaRPr lang="tr-TR"/>
          </a:p>
        </p:txBody>
      </p:sp>
    </p:spTree>
    <p:extLst>
      <p:ext uri="{BB962C8B-B14F-4D97-AF65-F5344CB8AC3E}">
        <p14:creationId xmlns:p14="http://schemas.microsoft.com/office/powerpoint/2010/main" val="4205697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94410C-2341-06AA-3111-FBD1EF388A35}"/>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26042675-DB3D-C1CC-2892-D9595A81D36A}"/>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523E800E-EDFC-7A31-E60B-950F10599DA2}"/>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8F7C4BDF-A9FB-689D-D7D2-20D41DA49B9D}"/>
              </a:ext>
            </a:extLst>
          </p:cNvPr>
          <p:cNvSpPr>
            <a:spLocks noGrp="1"/>
          </p:cNvSpPr>
          <p:nvPr>
            <p:ph type="dt" sz="half" idx="10"/>
          </p:nvPr>
        </p:nvSpPr>
        <p:spPr/>
        <p:txBody>
          <a:bodyPr/>
          <a:lstStyle/>
          <a:p>
            <a:fld id="{B951DD58-A8A3-43EC-9485-27A3D5CBE07B}" type="datetimeFigureOut">
              <a:rPr lang="tr-TR" smtClean="0"/>
              <a:t>17.03.2025</a:t>
            </a:fld>
            <a:endParaRPr lang="tr-TR"/>
          </a:p>
        </p:txBody>
      </p:sp>
      <p:sp>
        <p:nvSpPr>
          <p:cNvPr id="6" name="Alt Bilgi Yer Tutucusu 5">
            <a:extLst>
              <a:ext uri="{FF2B5EF4-FFF2-40B4-BE49-F238E27FC236}">
                <a16:creationId xmlns:a16="http://schemas.microsoft.com/office/drawing/2014/main" id="{911A2928-CD0E-B18A-1738-7885A2B590FE}"/>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C0D7527-72AA-5DDC-E59F-EB565A4CD41E}"/>
              </a:ext>
            </a:extLst>
          </p:cNvPr>
          <p:cNvSpPr>
            <a:spLocks noGrp="1"/>
          </p:cNvSpPr>
          <p:nvPr>
            <p:ph type="sldNum" sz="quarter" idx="12"/>
          </p:nvPr>
        </p:nvSpPr>
        <p:spPr/>
        <p:txBody>
          <a:bodyPr/>
          <a:lstStyle/>
          <a:p>
            <a:fld id="{A9D6D268-175C-4974-B1AD-726B1B55FFEA}" type="slidenum">
              <a:rPr lang="tr-TR" smtClean="0"/>
              <a:t>‹#›</a:t>
            </a:fld>
            <a:endParaRPr lang="tr-TR"/>
          </a:p>
        </p:txBody>
      </p:sp>
    </p:spTree>
    <p:extLst>
      <p:ext uri="{BB962C8B-B14F-4D97-AF65-F5344CB8AC3E}">
        <p14:creationId xmlns:p14="http://schemas.microsoft.com/office/powerpoint/2010/main" val="1387964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5547270-EF2E-AB92-C804-56DD108EDC81}"/>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69B7A303-2F8C-4DB7-34CD-4EE7BD1196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C69309AA-4EE8-A760-E540-74CFE4CE5D7E}"/>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2F819909-43C8-567C-AA1A-213E612A69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8D3BF1B2-9C1F-445C-8C5D-ACCCB3410A89}"/>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DCDD9024-AB58-82B9-06A6-8DBE63E8BCC1}"/>
              </a:ext>
            </a:extLst>
          </p:cNvPr>
          <p:cNvSpPr>
            <a:spLocks noGrp="1"/>
          </p:cNvSpPr>
          <p:nvPr>
            <p:ph type="dt" sz="half" idx="10"/>
          </p:nvPr>
        </p:nvSpPr>
        <p:spPr/>
        <p:txBody>
          <a:bodyPr/>
          <a:lstStyle/>
          <a:p>
            <a:fld id="{B951DD58-A8A3-43EC-9485-27A3D5CBE07B}" type="datetimeFigureOut">
              <a:rPr lang="tr-TR" smtClean="0"/>
              <a:t>17.03.2025</a:t>
            </a:fld>
            <a:endParaRPr lang="tr-TR"/>
          </a:p>
        </p:txBody>
      </p:sp>
      <p:sp>
        <p:nvSpPr>
          <p:cNvPr id="8" name="Alt Bilgi Yer Tutucusu 7">
            <a:extLst>
              <a:ext uri="{FF2B5EF4-FFF2-40B4-BE49-F238E27FC236}">
                <a16:creationId xmlns:a16="http://schemas.microsoft.com/office/drawing/2014/main" id="{A32B2649-DAE3-A9A3-25EF-14F1312BA4C8}"/>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DDA3FF67-ED80-30CF-443E-F58BD9C5A508}"/>
              </a:ext>
            </a:extLst>
          </p:cNvPr>
          <p:cNvSpPr>
            <a:spLocks noGrp="1"/>
          </p:cNvSpPr>
          <p:nvPr>
            <p:ph type="sldNum" sz="quarter" idx="12"/>
          </p:nvPr>
        </p:nvSpPr>
        <p:spPr/>
        <p:txBody>
          <a:bodyPr/>
          <a:lstStyle/>
          <a:p>
            <a:fld id="{A9D6D268-175C-4974-B1AD-726B1B55FFEA}" type="slidenum">
              <a:rPr lang="tr-TR" smtClean="0"/>
              <a:t>‹#›</a:t>
            </a:fld>
            <a:endParaRPr lang="tr-TR"/>
          </a:p>
        </p:txBody>
      </p:sp>
    </p:spTree>
    <p:extLst>
      <p:ext uri="{BB962C8B-B14F-4D97-AF65-F5344CB8AC3E}">
        <p14:creationId xmlns:p14="http://schemas.microsoft.com/office/powerpoint/2010/main" val="3054884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BEAC652-0C87-E515-E6A2-D5A815DE636A}"/>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C4681EE3-DEEF-6016-3ABD-BC3A10094850}"/>
              </a:ext>
            </a:extLst>
          </p:cNvPr>
          <p:cNvSpPr>
            <a:spLocks noGrp="1"/>
          </p:cNvSpPr>
          <p:nvPr>
            <p:ph type="dt" sz="half" idx="10"/>
          </p:nvPr>
        </p:nvSpPr>
        <p:spPr/>
        <p:txBody>
          <a:bodyPr/>
          <a:lstStyle/>
          <a:p>
            <a:fld id="{B951DD58-A8A3-43EC-9485-27A3D5CBE07B}" type="datetimeFigureOut">
              <a:rPr lang="tr-TR" smtClean="0"/>
              <a:t>17.03.2025</a:t>
            </a:fld>
            <a:endParaRPr lang="tr-TR"/>
          </a:p>
        </p:txBody>
      </p:sp>
      <p:sp>
        <p:nvSpPr>
          <p:cNvPr id="4" name="Alt Bilgi Yer Tutucusu 3">
            <a:extLst>
              <a:ext uri="{FF2B5EF4-FFF2-40B4-BE49-F238E27FC236}">
                <a16:creationId xmlns:a16="http://schemas.microsoft.com/office/drawing/2014/main" id="{CFCB29CF-FEDA-7A4C-2D17-CA39C3501434}"/>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6365194B-9E01-AB53-7B4F-25EF83B58E97}"/>
              </a:ext>
            </a:extLst>
          </p:cNvPr>
          <p:cNvSpPr>
            <a:spLocks noGrp="1"/>
          </p:cNvSpPr>
          <p:nvPr>
            <p:ph type="sldNum" sz="quarter" idx="12"/>
          </p:nvPr>
        </p:nvSpPr>
        <p:spPr/>
        <p:txBody>
          <a:bodyPr/>
          <a:lstStyle/>
          <a:p>
            <a:fld id="{A9D6D268-175C-4974-B1AD-726B1B55FFEA}" type="slidenum">
              <a:rPr lang="tr-TR" smtClean="0"/>
              <a:t>‹#›</a:t>
            </a:fld>
            <a:endParaRPr lang="tr-TR"/>
          </a:p>
        </p:txBody>
      </p:sp>
    </p:spTree>
    <p:extLst>
      <p:ext uri="{BB962C8B-B14F-4D97-AF65-F5344CB8AC3E}">
        <p14:creationId xmlns:p14="http://schemas.microsoft.com/office/powerpoint/2010/main" val="3738982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FD2CE9E3-4D82-20E1-1A11-6411D0A5E850}"/>
              </a:ext>
            </a:extLst>
          </p:cNvPr>
          <p:cNvSpPr>
            <a:spLocks noGrp="1"/>
          </p:cNvSpPr>
          <p:nvPr>
            <p:ph type="dt" sz="half" idx="10"/>
          </p:nvPr>
        </p:nvSpPr>
        <p:spPr/>
        <p:txBody>
          <a:bodyPr/>
          <a:lstStyle/>
          <a:p>
            <a:fld id="{B951DD58-A8A3-43EC-9485-27A3D5CBE07B}" type="datetimeFigureOut">
              <a:rPr lang="tr-TR" smtClean="0"/>
              <a:t>17.03.2025</a:t>
            </a:fld>
            <a:endParaRPr lang="tr-TR"/>
          </a:p>
        </p:txBody>
      </p:sp>
      <p:sp>
        <p:nvSpPr>
          <p:cNvPr id="3" name="Alt Bilgi Yer Tutucusu 2">
            <a:extLst>
              <a:ext uri="{FF2B5EF4-FFF2-40B4-BE49-F238E27FC236}">
                <a16:creationId xmlns:a16="http://schemas.microsoft.com/office/drawing/2014/main" id="{608C3762-990D-2674-7E79-D880B138DD8B}"/>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F2117878-5575-265A-113A-177A5DAD3D07}"/>
              </a:ext>
            </a:extLst>
          </p:cNvPr>
          <p:cNvSpPr>
            <a:spLocks noGrp="1"/>
          </p:cNvSpPr>
          <p:nvPr>
            <p:ph type="sldNum" sz="quarter" idx="12"/>
          </p:nvPr>
        </p:nvSpPr>
        <p:spPr/>
        <p:txBody>
          <a:bodyPr/>
          <a:lstStyle/>
          <a:p>
            <a:fld id="{A9D6D268-175C-4974-B1AD-726B1B55FFEA}" type="slidenum">
              <a:rPr lang="tr-TR" smtClean="0"/>
              <a:t>‹#›</a:t>
            </a:fld>
            <a:endParaRPr lang="tr-TR"/>
          </a:p>
        </p:txBody>
      </p:sp>
    </p:spTree>
    <p:extLst>
      <p:ext uri="{BB962C8B-B14F-4D97-AF65-F5344CB8AC3E}">
        <p14:creationId xmlns:p14="http://schemas.microsoft.com/office/powerpoint/2010/main" val="1970856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1BDF9B1-F39B-DF2C-7E94-7D7B99789EDA}"/>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75F2AE82-E587-2B49-7DC3-A75880BD2F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E8B1EB74-F8F4-C9FB-7B19-5178738400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4CDB6C0-ECC3-8327-1A84-ECFE8D0621D4}"/>
              </a:ext>
            </a:extLst>
          </p:cNvPr>
          <p:cNvSpPr>
            <a:spLocks noGrp="1"/>
          </p:cNvSpPr>
          <p:nvPr>
            <p:ph type="dt" sz="half" idx="10"/>
          </p:nvPr>
        </p:nvSpPr>
        <p:spPr/>
        <p:txBody>
          <a:bodyPr/>
          <a:lstStyle/>
          <a:p>
            <a:fld id="{B951DD58-A8A3-43EC-9485-27A3D5CBE07B}" type="datetimeFigureOut">
              <a:rPr lang="tr-TR" smtClean="0"/>
              <a:t>17.03.2025</a:t>
            </a:fld>
            <a:endParaRPr lang="tr-TR"/>
          </a:p>
        </p:txBody>
      </p:sp>
      <p:sp>
        <p:nvSpPr>
          <p:cNvPr id="6" name="Alt Bilgi Yer Tutucusu 5">
            <a:extLst>
              <a:ext uri="{FF2B5EF4-FFF2-40B4-BE49-F238E27FC236}">
                <a16:creationId xmlns:a16="http://schemas.microsoft.com/office/drawing/2014/main" id="{A8733187-57E8-B662-ECD7-917972321FE6}"/>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BBD3203-B4CE-8679-4924-80716F6D689D}"/>
              </a:ext>
            </a:extLst>
          </p:cNvPr>
          <p:cNvSpPr>
            <a:spLocks noGrp="1"/>
          </p:cNvSpPr>
          <p:nvPr>
            <p:ph type="sldNum" sz="quarter" idx="12"/>
          </p:nvPr>
        </p:nvSpPr>
        <p:spPr/>
        <p:txBody>
          <a:bodyPr/>
          <a:lstStyle/>
          <a:p>
            <a:fld id="{A9D6D268-175C-4974-B1AD-726B1B55FFEA}" type="slidenum">
              <a:rPr lang="tr-TR" smtClean="0"/>
              <a:t>‹#›</a:t>
            </a:fld>
            <a:endParaRPr lang="tr-TR"/>
          </a:p>
        </p:txBody>
      </p:sp>
    </p:spTree>
    <p:extLst>
      <p:ext uri="{BB962C8B-B14F-4D97-AF65-F5344CB8AC3E}">
        <p14:creationId xmlns:p14="http://schemas.microsoft.com/office/powerpoint/2010/main" val="2976161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E07F0A1-E214-F42E-C287-FD0CA45A1810}"/>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D59CAB43-F35D-AF74-4142-03BE376407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2BB63C1F-C9DD-D726-2817-9EFAA05E21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3A4E8A8-D034-C8C4-E74E-D8E09E5DBA2F}"/>
              </a:ext>
            </a:extLst>
          </p:cNvPr>
          <p:cNvSpPr>
            <a:spLocks noGrp="1"/>
          </p:cNvSpPr>
          <p:nvPr>
            <p:ph type="dt" sz="half" idx="10"/>
          </p:nvPr>
        </p:nvSpPr>
        <p:spPr/>
        <p:txBody>
          <a:bodyPr/>
          <a:lstStyle/>
          <a:p>
            <a:fld id="{B951DD58-A8A3-43EC-9485-27A3D5CBE07B}" type="datetimeFigureOut">
              <a:rPr lang="tr-TR" smtClean="0"/>
              <a:t>17.03.2025</a:t>
            </a:fld>
            <a:endParaRPr lang="tr-TR"/>
          </a:p>
        </p:txBody>
      </p:sp>
      <p:sp>
        <p:nvSpPr>
          <p:cNvPr id="6" name="Alt Bilgi Yer Tutucusu 5">
            <a:extLst>
              <a:ext uri="{FF2B5EF4-FFF2-40B4-BE49-F238E27FC236}">
                <a16:creationId xmlns:a16="http://schemas.microsoft.com/office/drawing/2014/main" id="{B1959A97-9478-2E9D-9C52-D19A9591462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0A299E8A-2388-F73C-6836-B39428C99212}"/>
              </a:ext>
            </a:extLst>
          </p:cNvPr>
          <p:cNvSpPr>
            <a:spLocks noGrp="1"/>
          </p:cNvSpPr>
          <p:nvPr>
            <p:ph type="sldNum" sz="quarter" idx="12"/>
          </p:nvPr>
        </p:nvSpPr>
        <p:spPr/>
        <p:txBody>
          <a:bodyPr/>
          <a:lstStyle/>
          <a:p>
            <a:fld id="{A9D6D268-175C-4974-B1AD-726B1B55FFEA}" type="slidenum">
              <a:rPr lang="tr-TR" smtClean="0"/>
              <a:t>‹#›</a:t>
            </a:fld>
            <a:endParaRPr lang="tr-TR"/>
          </a:p>
        </p:txBody>
      </p:sp>
    </p:spTree>
    <p:extLst>
      <p:ext uri="{BB962C8B-B14F-4D97-AF65-F5344CB8AC3E}">
        <p14:creationId xmlns:p14="http://schemas.microsoft.com/office/powerpoint/2010/main" val="1829147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51088FE-2E07-7DF8-2630-AB16025CBE6D}"/>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648E7F77-7409-052C-9FF5-DB0C35FFF424}"/>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91DAE19-9FB9-377E-57B1-8B6085F27F21}"/>
              </a:ext>
            </a:extLst>
          </p:cNvPr>
          <p:cNvSpPr>
            <a:spLocks noGrp="1"/>
          </p:cNvSpPr>
          <p:nvPr>
            <p:ph type="dt" sz="half" idx="10"/>
          </p:nvPr>
        </p:nvSpPr>
        <p:spPr/>
        <p:txBody>
          <a:bodyPr/>
          <a:lstStyle/>
          <a:p>
            <a:fld id="{B951DD58-A8A3-43EC-9485-27A3D5CBE07B}" type="datetimeFigureOut">
              <a:rPr lang="tr-TR" smtClean="0"/>
              <a:t>17.03.2025</a:t>
            </a:fld>
            <a:endParaRPr lang="tr-TR"/>
          </a:p>
        </p:txBody>
      </p:sp>
      <p:sp>
        <p:nvSpPr>
          <p:cNvPr id="5" name="Alt Bilgi Yer Tutucusu 4">
            <a:extLst>
              <a:ext uri="{FF2B5EF4-FFF2-40B4-BE49-F238E27FC236}">
                <a16:creationId xmlns:a16="http://schemas.microsoft.com/office/drawing/2014/main" id="{69C17EC1-E091-0FFE-786E-5DA654AB669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4CD8BD7-3E29-F44A-D46E-0C01369FE8EE}"/>
              </a:ext>
            </a:extLst>
          </p:cNvPr>
          <p:cNvSpPr>
            <a:spLocks noGrp="1"/>
          </p:cNvSpPr>
          <p:nvPr>
            <p:ph type="sldNum" sz="quarter" idx="12"/>
          </p:nvPr>
        </p:nvSpPr>
        <p:spPr/>
        <p:txBody>
          <a:bodyPr/>
          <a:lstStyle/>
          <a:p>
            <a:fld id="{A9D6D268-175C-4974-B1AD-726B1B55FFEA}" type="slidenum">
              <a:rPr lang="tr-TR" smtClean="0"/>
              <a:t>‹#›</a:t>
            </a:fld>
            <a:endParaRPr lang="tr-TR"/>
          </a:p>
        </p:txBody>
      </p:sp>
    </p:spTree>
    <p:extLst>
      <p:ext uri="{BB962C8B-B14F-4D97-AF65-F5344CB8AC3E}">
        <p14:creationId xmlns:p14="http://schemas.microsoft.com/office/powerpoint/2010/main" val="3969143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FD90258C-E4B0-33E9-104F-F735B745AD3B}"/>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60832E9F-09E2-C7FB-1D7C-5D2EEA73DAD9}"/>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C0EE974-06CD-614A-123B-AC8B76C619F3}"/>
              </a:ext>
            </a:extLst>
          </p:cNvPr>
          <p:cNvSpPr>
            <a:spLocks noGrp="1"/>
          </p:cNvSpPr>
          <p:nvPr>
            <p:ph type="dt" sz="half" idx="10"/>
          </p:nvPr>
        </p:nvSpPr>
        <p:spPr/>
        <p:txBody>
          <a:bodyPr/>
          <a:lstStyle/>
          <a:p>
            <a:fld id="{B951DD58-A8A3-43EC-9485-27A3D5CBE07B}" type="datetimeFigureOut">
              <a:rPr lang="tr-TR" smtClean="0"/>
              <a:t>17.03.2025</a:t>
            </a:fld>
            <a:endParaRPr lang="tr-TR"/>
          </a:p>
        </p:txBody>
      </p:sp>
      <p:sp>
        <p:nvSpPr>
          <p:cNvPr id="5" name="Alt Bilgi Yer Tutucusu 4">
            <a:extLst>
              <a:ext uri="{FF2B5EF4-FFF2-40B4-BE49-F238E27FC236}">
                <a16:creationId xmlns:a16="http://schemas.microsoft.com/office/drawing/2014/main" id="{BB75102B-0CEB-AA3B-454B-0AB842B3E16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0FF35C1-D1B6-18E2-D162-5F43DEB3A682}"/>
              </a:ext>
            </a:extLst>
          </p:cNvPr>
          <p:cNvSpPr>
            <a:spLocks noGrp="1"/>
          </p:cNvSpPr>
          <p:nvPr>
            <p:ph type="sldNum" sz="quarter" idx="12"/>
          </p:nvPr>
        </p:nvSpPr>
        <p:spPr/>
        <p:txBody>
          <a:bodyPr/>
          <a:lstStyle/>
          <a:p>
            <a:fld id="{A9D6D268-175C-4974-B1AD-726B1B55FFEA}" type="slidenum">
              <a:rPr lang="tr-TR" smtClean="0"/>
              <a:t>‹#›</a:t>
            </a:fld>
            <a:endParaRPr lang="tr-TR"/>
          </a:p>
        </p:txBody>
      </p:sp>
    </p:spTree>
    <p:extLst>
      <p:ext uri="{BB962C8B-B14F-4D97-AF65-F5344CB8AC3E}">
        <p14:creationId xmlns:p14="http://schemas.microsoft.com/office/powerpoint/2010/main" val="3503328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E92EA1E0-C4F0-DCF0-0AD6-D7A3C4755D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7AE5642C-9AE5-76A3-D8E6-0ACE9C0FFC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9F687C8-2FCC-54A4-1BFE-5562A39F90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51DD58-A8A3-43EC-9485-27A3D5CBE07B}" type="datetimeFigureOut">
              <a:rPr lang="tr-TR" smtClean="0"/>
              <a:t>17.03.2025</a:t>
            </a:fld>
            <a:endParaRPr lang="tr-TR"/>
          </a:p>
        </p:txBody>
      </p:sp>
      <p:sp>
        <p:nvSpPr>
          <p:cNvPr id="5" name="Alt Bilgi Yer Tutucusu 4">
            <a:extLst>
              <a:ext uri="{FF2B5EF4-FFF2-40B4-BE49-F238E27FC236}">
                <a16:creationId xmlns:a16="http://schemas.microsoft.com/office/drawing/2014/main" id="{29072AB9-4FAF-B614-115B-9BCA8E0D8B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F4517145-5F48-0DD2-7E72-E2F5E909CE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D6D268-175C-4974-B1AD-726B1B55FFEA}" type="slidenum">
              <a:rPr lang="tr-TR" smtClean="0"/>
              <a:t>‹#›</a:t>
            </a:fld>
            <a:endParaRPr lang="tr-TR"/>
          </a:p>
        </p:txBody>
      </p:sp>
    </p:spTree>
    <p:extLst>
      <p:ext uri="{BB962C8B-B14F-4D97-AF65-F5344CB8AC3E}">
        <p14:creationId xmlns:p14="http://schemas.microsoft.com/office/powerpoint/2010/main" val="4109861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0"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1" name="Group 9">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1"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2"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3" name="Group 13">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5" name="Freeform: Shape 14">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4" name="Freeform: Shape 15">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5" name="Freeform: Shape 17">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6" name="Freeform: Shape 19">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7" name="Freeform: Shape 20">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Başlık 1">
            <a:extLst>
              <a:ext uri="{FF2B5EF4-FFF2-40B4-BE49-F238E27FC236}">
                <a16:creationId xmlns:a16="http://schemas.microsoft.com/office/drawing/2014/main" id="{49805B96-6E9F-2E04-1394-8EFA710C00FF}"/>
              </a:ext>
            </a:extLst>
          </p:cNvPr>
          <p:cNvSpPr>
            <a:spLocks noGrp="1"/>
          </p:cNvSpPr>
          <p:nvPr>
            <p:ph type="ctrTitle"/>
          </p:nvPr>
        </p:nvSpPr>
        <p:spPr>
          <a:xfrm>
            <a:off x="789708" y="666351"/>
            <a:ext cx="10558405" cy="3044335"/>
          </a:xfrm>
        </p:spPr>
        <p:txBody>
          <a:bodyPr anchor="b">
            <a:normAutofit/>
          </a:bodyPr>
          <a:lstStyle/>
          <a:p>
            <a:r>
              <a:rPr lang="tr-TR" sz="4800">
                <a:solidFill>
                  <a:schemeClr val="bg1"/>
                </a:solidFill>
              </a:rPr>
              <a:t>İşletme Bilimine Giriş</a:t>
            </a:r>
          </a:p>
        </p:txBody>
      </p:sp>
      <p:sp>
        <p:nvSpPr>
          <p:cNvPr id="3" name="Alt Başlık 2">
            <a:extLst>
              <a:ext uri="{FF2B5EF4-FFF2-40B4-BE49-F238E27FC236}">
                <a16:creationId xmlns:a16="http://schemas.microsoft.com/office/drawing/2014/main" id="{FC6E9C0E-649E-D9AA-0877-4DABD146639A}"/>
              </a:ext>
            </a:extLst>
          </p:cNvPr>
          <p:cNvSpPr>
            <a:spLocks noGrp="1"/>
          </p:cNvSpPr>
          <p:nvPr>
            <p:ph type="subTitle" idx="1"/>
          </p:nvPr>
        </p:nvSpPr>
        <p:spPr>
          <a:xfrm>
            <a:off x="789708" y="3866064"/>
            <a:ext cx="10558405" cy="2234485"/>
          </a:xfrm>
        </p:spPr>
        <p:txBody>
          <a:bodyPr anchor="t">
            <a:normAutofit/>
          </a:bodyPr>
          <a:lstStyle/>
          <a:p>
            <a:r>
              <a:rPr lang="tr-TR">
                <a:solidFill>
                  <a:schemeClr val="bg1"/>
                </a:solidFill>
              </a:rPr>
              <a:t>4.Hafta</a:t>
            </a:r>
          </a:p>
          <a:p>
            <a:r>
              <a:rPr lang="tr-TR">
                <a:solidFill>
                  <a:schemeClr val="bg1"/>
                </a:solidFill>
              </a:rPr>
              <a:t>Fatih ÇALLI</a:t>
            </a:r>
          </a:p>
        </p:txBody>
      </p:sp>
    </p:spTree>
    <p:extLst>
      <p:ext uri="{BB962C8B-B14F-4D97-AF65-F5344CB8AC3E}">
        <p14:creationId xmlns:p14="http://schemas.microsoft.com/office/powerpoint/2010/main" val="1629761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Slide Background Fill">
            <a:extLst>
              <a:ext uri="{FF2B5EF4-FFF2-40B4-BE49-F238E27FC236}">
                <a16:creationId xmlns:a16="http://schemas.microsoft.com/office/drawing/2014/main" id="{907E470A-25F4-47D0-8FEC-EE9FD606B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9">
            <a:extLst>
              <a:ext uri="{FF2B5EF4-FFF2-40B4-BE49-F238E27FC236}">
                <a16:creationId xmlns:a16="http://schemas.microsoft.com/office/drawing/2014/main" id="{66220E63-99E1-482A-A0A6-B47EB4BF87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1" name="Color Cover">
              <a:extLst>
                <a:ext uri="{FF2B5EF4-FFF2-40B4-BE49-F238E27FC236}">
                  <a16:creationId xmlns:a16="http://schemas.microsoft.com/office/drawing/2014/main" id="{F8610896-EA5E-4BE8-8398-C1AFC049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Color Cover">
              <a:extLst>
                <a:ext uri="{FF2B5EF4-FFF2-40B4-BE49-F238E27FC236}">
                  <a16:creationId xmlns:a16="http://schemas.microsoft.com/office/drawing/2014/main" id="{F44E9794-9C4B-427F-BB50-89D893347D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8618EE54-271A-4FE8-B6B3-D0FCF55A7A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15" name="Color">
              <a:extLst>
                <a:ext uri="{FF2B5EF4-FFF2-40B4-BE49-F238E27FC236}">
                  <a16:creationId xmlns:a16="http://schemas.microsoft.com/office/drawing/2014/main" id="{ECA6F781-4382-4525-9DA8-9D66605F8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209C186B-2883-498E-A176-6B60F8B51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Başlık 1">
            <a:extLst>
              <a:ext uri="{FF2B5EF4-FFF2-40B4-BE49-F238E27FC236}">
                <a16:creationId xmlns:a16="http://schemas.microsoft.com/office/drawing/2014/main" id="{DAB86645-5229-DF72-5359-7436ABBEA1C6}"/>
              </a:ext>
            </a:extLst>
          </p:cNvPr>
          <p:cNvSpPr>
            <a:spLocks noGrp="1"/>
          </p:cNvSpPr>
          <p:nvPr>
            <p:ph type="title"/>
          </p:nvPr>
        </p:nvSpPr>
        <p:spPr>
          <a:xfrm>
            <a:off x="1014984" y="891712"/>
            <a:ext cx="5309616" cy="5160789"/>
          </a:xfrm>
        </p:spPr>
        <p:txBody>
          <a:bodyPr anchor="ctr">
            <a:normAutofit/>
          </a:bodyPr>
          <a:lstStyle/>
          <a:p>
            <a:r>
              <a:rPr lang="tr-TR" sz="4800" dirty="0">
                <a:solidFill>
                  <a:schemeClr val="bg1"/>
                </a:solidFill>
              </a:rPr>
              <a:t>İşletmelerin Kuruluşu ve Büyümesi</a:t>
            </a:r>
          </a:p>
        </p:txBody>
      </p:sp>
      <p:sp>
        <p:nvSpPr>
          <p:cNvPr id="30" name="İçerik Yer Tutucusu 2">
            <a:extLst>
              <a:ext uri="{FF2B5EF4-FFF2-40B4-BE49-F238E27FC236}">
                <a16:creationId xmlns:a16="http://schemas.microsoft.com/office/drawing/2014/main" id="{60BB42E4-A336-67D7-F46D-8C63F619BAF8}"/>
              </a:ext>
            </a:extLst>
          </p:cNvPr>
          <p:cNvSpPr>
            <a:spLocks noGrp="1"/>
          </p:cNvSpPr>
          <p:nvPr>
            <p:ph idx="1"/>
          </p:nvPr>
        </p:nvSpPr>
        <p:spPr>
          <a:xfrm>
            <a:off x="5603549" y="1343767"/>
            <a:ext cx="5393635" cy="4708736"/>
          </a:xfrm>
        </p:spPr>
        <p:txBody>
          <a:bodyPr anchor="ctr">
            <a:normAutofit/>
          </a:bodyPr>
          <a:lstStyle/>
          <a:p>
            <a:pPr marL="0" indent="0">
              <a:buNone/>
            </a:pPr>
            <a:r>
              <a:rPr lang="tr-TR" sz="1800" dirty="0">
                <a:solidFill>
                  <a:schemeClr val="bg1"/>
                </a:solidFill>
              </a:rPr>
              <a:t>Kâr elde etme ve kazanç sağlama, girişimcilerin işletmeyi kurup çalışmaya başlama nedenlerinin başında gelmektedir. Ancak girişimciler sadece kazanç elde etmek için değil, ayrıca başka sebeplerle de işletme kurmak isterler. </a:t>
            </a:r>
          </a:p>
          <a:p>
            <a:pPr marL="0" indent="0">
              <a:buNone/>
            </a:pPr>
            <a:r>
              <a:rPr lang="tr-TR" sz="1800" dirty="0">
                <a:solidFill>
                  <a:schemeClr val="bg1"/>
                </a:solidFill>
              </a:rPr>
              <a:t>Bunlardan bazıları şöyle sıralanabilir (Can, Tuncer ve Ayhan, 2009, s.20):</a:t>
            </a:r>
          </a:p>
          <a:p>
            <a:pPr marL="0" indent="0">
              <a:buNone/>
            </a:pPr>
            <a:r>
              <a:rPr lang="tr-TR" sz="1800" dirty="0">
                <a:solidFill>
                  <a:schemeClr val="bg1"/>
                </a:solidFill>
              </a:rPr>
              <a:t>• Toplumda saygınlık ve sosyal statü elde etmek isteğiyle,</a:t>
            </a:r>
          </a:p>
          <a:p>
            <a:pPr marL="0" indent="0">
              <a:buNone/>
            </a:pPr>
            <a:r>
              <a:rPr lang="tr-TR" sz="1800" dirty="0">
                <a:solidFill>
                  <a:schemeClr val="bg1"/>
                </a:solidFill>
              </a:rPr>
              <a:t>• Kendi işini kurarak, kendi işinin patronu olmak isteğiyle,</a:t>
            </a:r>
          </a:p>
          <a:p>
            <a:pPr marL="0" indent="0">
              <a:buNone/>
            </a:pPr>
            <a:r>
              <a:rPr lang="tr-TR" sz="1800" dirty="0">
                <a:solidFill>
                  <a:schemeClr val="bg1"/>
                </a:solidFill>
              </a:rPr>
              <a:t>• Çok fazla ürünün yer aldığı pazarda, üretilen ürün ve hizmetlerle, tüketici-</a:t>
            </a:r>
            <a:r>
              <a:rPr lang="tr-TR" sz="1800" dirty="0" err="1">
                <a:solidFill>
                  <a:schemeClr val="bg1"/>
                </a:solidFill>
              </a:rPr>
              <a:t>lerin</a:t>
            </a:r>
            <a:r>
              <a:rPr lang="tr-TR" sz="1800" dirty="0">
                <a:solidFill>
                  <a:schemeClr val="bg1"/>
                </a:solidFill>
              </a:rPr>
              <a:t> ihtiyaçlarına cevap vermek isteğiyle,</a:t>
            </a:r>
          </a:p>
          <a:p>
            <a:pPr marL="0" indent="0">
              <a:buNone/>
            </a:pPr>
            <a:r>
              <a:rPr lang="tr-TR" sz="1800" dirty="0">
                <a:solidFill>
                  <a:schemeClr val="bg1"/>
                </a:solidFill>
              </a:rPr>
              <a:t>• İş arayanlara iş yaratma isteğiyle girişimci işletme kurmak ister.</a:t>
            </a:r>
          </a:p>
        </p:txBody>
      </p:sp>
    </p:spTree>
    <p:extLst>
      <p:ext uri="{BB962C8B-B14F-4D97-AF65-F5344CB8AC3E}">
        <p14:creationId xmlns:p14="http://schemas.microsoft.com/office/powerpoint/2010/main" val="3260134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A10608-641D-0912-9582-1859DC24438C}"/>
            </a:ext>
          </a:extLst>
        </p:cNvPr>
        <p:cNvGrpSpPr/>
        <p:nvPr/>
      </p:nvGrpSpPr>
      <p:grpSpPr>
        <a:xfrm>
          <a:off x="0" y="0"/>
          <a:ext cx="0" cy="0"/>
          <a:chOff x="0" y="0"/>
          <a:chExt cx="0" cy="0"/>
        </a:xfrm>
      </p:grpSpPr>
      <p:sp useBgFill="1">
        <p:nvSpPr>
          <p:cNvPr id="19" name="Slide Background Fill">
            <a:extLst>
              <a:ext uri="{FF2B5EF4-FFF2-40B4-BE49-F238E27FC236}">
                <a16:creationId xmlns:a16="http://schemas.microsoft.com/office/drawing/2014/main" id="{03AF1C04-3FEF-41BD-BB84-2F263765B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0">
            <a:extLst>
              <a:ext uri="{FF2B5EF4-FFF2-40B4-BE49-F238E27FC236}">
                <a16:creationId xmlns:a16="http://schemas.microsoft.com/office/drawing/2014/main" id="{E56E71F1-5A87-4A96-B42F-2DFA1B766B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22" name="Color Cover">
              <a:extLst>
                <a:ext uri="{FF2B5EF4-FFF2-40B4-BE49-F238E27FC236}">
                  <a16:creationId xmlns:a16="http://schemas.microsoft.com/office/drawing/2014/main" id="{CF5215DD-02E8-49F2-8F73-D509B6A02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Color Cover">
              <a:extLst>
                <a:ext uri="{FF2B5EF4-FFF2-40B4-BE49-F238E27FC236}">
                  <a16:creationId xmlns:a16="http://schemas.microsoft.com/office/drawing/2014/main" id="{8E743EB7-3A15-4D51-A603-1F3C290AAD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a:extLst>
              <a:ext uri="{FF2B5EF4-FFF2-40B4-BE49-F238E27FC236}">
                <a16:creationId xmlns:a16="http://schemas.microsoft.com/office/drawing/2014/main" id="{C733FE3C-12C4-4FA2-A795-87D2F6776A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26" name="Color">
              <a:extLst>
                <a:ext uri="{FF2B5EF4-FFF2-40B4-BE49-F238E27FC236}">
                  <a16:creationId xmlns:a16="http://schemas.microsoft.com/office/drawing/2014/main" id="{66F1E4BF-D491-4254-81A6-5119D1672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lor">
              <a:extLst>
                <a:ext uri="{FF2B5EF4-FFF2-40B4-BE49-F238E27FC236}">
                  <a16:creationId xmlns:a16="http://schemas.microsoft.com/office/drawing/2014/main" id="{98C6C0CF-E3BD-4627-9DDF-246EAF2D4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4" name="Picture 4" descr="Mavi dijital ekranda üst üste yerleştirilmiş grafikler ve çizimler">
            <a:extLst>
              <a:ext uri="{FF2B5EF4-FFF2-40B4-BE49-F238E27FC236}">
                <a16:creationId xmlns:a16="http://schemas.microsoft.com/office/drawing/2014/main" id="{CDB41548-83EC-435F-E5FE-64C6D0831A8A}"/>
              </a:ext>
            </a:extLst>
          </p:cNvPr>
          <p:cNvPicPr>
            <a:picLocks noChangeAspect="1"/>
          </p:cNvPicPr>
          <p:nvPr/>
        </p:nvPicPr>
        <p:blipFill>
          <a:blip r:embed="rId3"/>
          <a:srcRect l="18462" r="21285" b="-2"/>
          <a:stretch/>
        </p:blipFill>
        <p:spPr>
          <a:xfrm>
            <a:off x="7082810" y="841663"/>
            <a:ext cx="4166151" cy="5185923"/>
          </a:xfrm>
          <a:prstGeom prst="rect">
            <a:avLst/>
          </a:prstGeom>
        </p:spPr>
      </p:pic>
      <p:grpSp>
        <p:nvGrpSpPr>
          <p:cNvPr id="29" name="Group 28">
            <a:extLst>
              <a:ext uri="{FF2B5EF4-FFF2-40B4-BE49-F238E27FC236}">
                <a16:creationId xmlns:a16="http://schemas.microsoft.com/office/drawing/2014/main" id="{0C2B5F12-8A82-4A59-9400-3164CBF47F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52" cy="6858000"/>
            <a:chOff x="0" y="0"/>
            <a:chExt cx="12188952" cy="6858000"/>
          </a:xfrm>
        </p:grpSpPr>
        <p:sp>
          <p:nvSpPr>
            <p:cNvPr id="30" name="Freeform: Shape 29">
              <a:extLst>
                <a:ext uri="{FF2B5EF4-FFF2-40B4-BE49-F238E27FC236}">
                  <a16:creationId xmlns:a16="http://schemas.microsoft.com/office/drawing/2014/main" id="{574BC7CB-EC69-421D-B286-57CAFE86DC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82D86EA2-D090-4E0C-B153-3ECE91311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4AC29764-D054-4F76-9FE5-49811EDB6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D9BB18B-7B57-4D1E-B87E-D2A7214F7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C0A98EF1-1185-4EFF-A3C0-25DEBE8CD9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ACDA8723-DE3F-48D0-8822-0269EE207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22B072E5-03AC-4D0A-A767-43EFB55BED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Başlık 1">
            <a:extLst>
              <a:ext uri="{FF2B5EF4-FFF2-40B4-BE49-F238E27FC236}">
                <a16:creationId xmlns:a16="http://schemas.microsoft.com/office/drawing/2014/main" id="{CB8E9E71-CAD1-BC5F-459D-008DD9E5129F}"/>
              </a:ext>
            </a:extLst>
          </p:cNvPr>
          <p:cNvSpPr>
            <a:spLocks noGrp="1"/>
          </p:cNvSpPr>
          <p:nvPr>
            <p:ph type="title"/>
          </p:nvPr>
        </p:nvSpPr>
        <p:spPr>
          <a:xfrm>
            <a:off x="1014984" y="819015"/>
            <a:ext cx="5821537" cy="2353362"/>
          </a:xfrm>
        </p:spPr>
        <p:txBody>
          <a:bodyPr anchor="b">
            <a:normAutofit/>
          </a:bodyPr>
          <a:lstStyle/>
          <a:p>
            <a:r>
              <a:rPr lang="tr-TR" sz="4800">
                <a:solidFill>
                  <a:schemeClr val="bg1"/>
                </a:solidFill>
              </a:rPr>
              <a:t>İşletmelerin Kuruluşu ve Büyümesi</a:t>
            </a:r>
          </a:p>
        </p:txBody>
      </p:sp>
      <p:sp>
        <p:nvSpPr>
          <p:cNvPr id="3" name="İçerik Yer Tutucusu 2">
            <a:extLst>
              <a:ext uri="{FF2B5EF4-FFF2-40B4-BE49-F238E27FC236}">
                <a16:creationId xmlns:a16="http://schemas.microsoft.com/office/drawing/2014/main" id="{DD123A87-052F-29A7-EE9C-2D50A01A83A2}"/>
              </a:ext>
            </a:extLst>
          </p:cNvPr>
          <p:cNvSpPr>
            <a:spLocks noGrp="1"/>
          </p:cNvSpPr>
          <p:nvPr>
            <p:ph idx="1"/>
          </p:nvPr>
        </p:nvSpPr>
        <p:spPr>
          <a:xfrm>
            <a:off x="1014984" y="3442089"/>
            <a:ext cx="5821537" cy="2596896"/>
          </a:xfrm>
        </p:spPr>
        <p:txBody>
          <a:bodyPr anchor="t">
            <a:normAutofit/>
          </a:bodyPr>
          <a:lstStyle/>
          <a:p>
            <a:r>
              <a:rPr lang="tr-TR" sz="1700" b="1" dirty="0">
                <a:solidFill>
                  <a:schemeClr val="bg1"/>
                </a:solidFill>
              </a:rPr>
              <a:t>Yatırım</a:t>
            </a:r>
            <a:r>
              <a:rPr lang="tr-TR" sz="1700" dirty="0">
                <a:solidFill>
                  <a:schemeClr val="bg1"/>
                </a:solidFill>
              </a:rPr>
              <a:t>: İşletmeye kâr sağlamak veya gelir getirmek amacıyla yapılan her türlü harcamadır. Örneğin, kurulacak bir araba fabrikası için yatırım, kurulacağı arazi, bina, montaj hattı, teknoloji gibi unsurlardır. Ancak yatırımdan bahsedildiğinde sadece, mal üreten ve/veya hizmet veren işletmeler akla gelmemelidir. Ülkelerde ulaşım için yapılan her türlü düzenlemeler, hastanelerin daha iyi hizmet verebilmesi için yapılan değişiklikler ve eğitimin daha iyi bir düzeyde olabilmesi için yapılan harcamaların hepsi de yatırıma birer örnektir.</a:t>
            </a:r>
          </a:p>
        </p:txBody>
      </p:sp>
    </p:spTree>
    <p:extLst>
      <p:ext uri="{BB962C8B-B14F-4D97-AF65-F5344CB8AC3E}">
        <p14:creationId xmlns:p14="http://schemas.microsoft.com/office/powerpoint/2010/main" val="998544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E37B55-2796-600E-348B-877AB0B8C46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5FB135C-5E9C-296F-2158-2AE8422AD55E}"/>
              </a:ext>
            </a:extLst>
          </p:cNvPr>
          <p:cNvSpPr>
            <a:spLocks noGrp="1"/>
          </p:cNvSpPr>
          <p:nvPr>
            <p:ph type="title"/>
          </p:nvPr>
        </p:nvSpPr>
        <p:spPr>
          <a:xfrm>
            <a:off x="1043631" y="809898"/>
            <a:ext cx="10173010" cy="1554480"/>
          </a:xfrm>
        </p:spPr>
        <p:txBody>
          <a:bodyPr anchor="ctr">
            <a:normAutofit/>
          </a:bodyPr>
          <a:lstStyle/>
          <a:p>
            <a:r>
              <a:rPr lang="tr-TR" sz="4800"/>
              <a:t>İşletmelerin Kuruluşu ve Büyümesi</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İçerik Yer Tutucusu 2">
            <a:extLst>
              <a:ext uri="{FF2B5EF4-FFF2-40B4-BE49-F238E27FC236}">
                <a16:creationId xmlns:a16="http://schemas.microsoft.com/office/drawing/2014/main" id="{F645B485-E2C5-3F76-08A9-ECA55E1A1DD4}"/>
              </a:ext>
            </a:extLst>
          </p:cNvPr>
          <p:cNvGraphicFramePr>
            <a:graphicFrameLocks noGrp="1"/>
          </p:cNvGraphicFramePr>
          <p:nvPr>
            <p:ph idx="1"/>
            <p:extLst>
              <p:ext uri="{D42A27DB-BD31-4B8C-83A1-F6EECF244321}">
                <p14:modId xmlns:p14="http://schemas.microsoft.com/office/powerpoint/2010/main" val="3103413894"/>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64469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2D242E-DBC1-BF3F-1CB1-B62C3FC5036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4C4C600-D1A3-CB31-624E-388D59818EAC}"/>
              </a:ext>
            </a:extLst>
          </p:cNvPr>
          <p:cNvSpPr>
            <a:spLocks noGrp="1"/>
          </p:cNvSpPr>
          <p:nvPr>
            <p:ph type="title"/>
          </p:nvPr>
        </p:nvSpPr>
        <p:spPr>
          <a:xfrm>
            <a:off x="808638" y="386930"/>
            <a:ext cx="9236700" cy="1188950"/>
          </a:xfrm>
        </p:spPr>
        <p:txBody>
          <a:bodyPr anchor="b">
            <a:normAutofit/>
          </a:bodyPr>
          <a:lstStyle/>
          <a:p>
            <a:r>
              <a:rPr lang="tr-TR" sz="5000"/>
              <a:t>İşletmelerin Kuruluşu ve Büyümesi</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7FF80133-261A-EB48-EFF3-CBF4A9465154}"/>
              </a:ext>
            </a:extLst>
          </p:cNvPr>
          <p:cNvSpPr>
            <a:spLocks noGrp="1"/>
          </p:cNvSpPr>
          <p:nvPr>
            <p:ph idx="1"/>
          </p:nvPr>
        </p:nvSpPr>
        <p:spPr>
          <a:xfrm>
            <a:off x="793660" y="2599509"/>
            <a:ext cx="10143668" cy="3435531"/>
          </a:xfrm>
        </p:spPr>
        <p:txBody>
          <a:bodyPr anchor="ctr">
            <a:normAutofit/>
          </a:bodyPr>
          <a:lstStyle/>
          <a:p>
            <a:r>
              <a:rPr lang="tr-TR" sz="2400" b="1" dirty="0"/>
              <a:t>Fizibilite Çalışmaları: </a:t>
            </a:r>
            <a:r>
              <a:rPr lang="tr-TR" sz="2400" dirty="0"/>
              <a:t>İşletme kurma faaliyeti için belirlenen planın en son aşaması fizibilitedir. Fizibilite çalışması, kuruluş aşaması için en önemli ve en kapsamlı çalışmadır. Bu çalışmada, kurulmak istenen işletmenin üreteceği malın maliyeti, satış fiyatı, müşteri beklentileri, kurulacağı yer ile ilgili araştırmalar yapılır (Tutar, 2005, s.107). Fizibilite çalışmaları bazı kapsamlı çalışmaları içerir. Bu kapsamlı çalışmalar, ekonomik, teknik, finansal, hukuk ve örgütsel araştırmalardır. Araştırmaların yapılmasının sebebi, kurulacak yerin en iyi olması, en iyi işletme büyüklüğünün saptanması ve en uygun işletme konusunu belirlemek içindir.</a:t>
            </a:r>
          </a:p>
        </p:txBody>
      </p:sp>
    </p:spTree>
    <p:extLst>
      <p:ext uri="{BB962C8B-B14F-4D97-AF65-F5344CB8AC3E}">
        <p14:creationId xmlns:p14="http://schemas.microsoft.com/office/powerpoint/2010/main" val="663581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5C49D2-524A-5DD1-1DD8-4ADF1DD1A911}"/>
            </a:ext>
          </a:extLst>
        </p:cNvPr>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9"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BA9706A-6896-AD2D-F86E-1ED840DE3088}"/>
              </a:ext>
            </a:extLst>
          </p:cNvPr>
          <p:cNvSpPr>
            <a:spLocks noGrp="1"/>
          </p:cNvSpPr>
          <p:nvPr>
            <p:ph type="title"/>
          </p:nvPr>
        </p:nvSpPr>
        <p:spPr>
          <a:xfrm>
            <a:off x="1043631" y="809898"/>
            <a:ext cx="9942716" cy="1554480"/>
          </a:xfrm>
        </p:spPr>
        <p:txBody>
          <a:bodyPr anchor="ctr">
            <a:normAutofit/>
          </a:bodyPr>
          <a:lstStyle/>
          <a:p>
            <a:r>
              <a:rPr lang="tr-TR" sz="4800"/>
              <a:t>Ekonomik Araştırmalar</a:t>
            </a:r>
          </a:p>
        </p:txBody>
      </p:sp>
      <p:sp>
        <p:nvSpPr>
          <p:cNvPr id="3" name="İçerik Yer Tutucusu 2">
            <a:extLst>
              <a:ext uri="{FF2B5EF4-FFF2-40B4-BE49-F238E27FC236}">
                <a16:creationId xmlns:a16="http://schemas.microsoft.com/office/drawing/2014/main" id="{26DE1DB4-AA0F-6B98-7048-52AEFCD25FCD}"/>
              </a:ext>
            </a:extLst>
          </p:cNvPr>
          <p:cNvSpPr>
            <a:spLocks noGrp="1"/>
          </p:cNvSpPr>
          <p:nvPr>
            <p:ph idx="1"/>
          </p:nvPr>
        </p:nvSpPr>
        <p:spPr>
          <a:xfrm>
            <a:off x="1045028" y="3017522"/>
            <a:ext cx="9941319" cy="3124658"/>
          </a:xfrm>
        </p:spPr>
        <p:txBody>
          <a:bodyPr anchor="ctr">
            <a:normAutofit/>
          </a:bodyPr>
          <a:lstStyle/>
          <a:p>
            <a:pPr marL="0" indent="0">
              <a:buNone/>
            </a:pPr>
            <a:r>
              <a:rPr lang="tr-TR" sz="2400" b="1" dirty="0"/>
              <a:t>Ekonomik Araştırmalar: </a:t>
            </a:r>
            <a:r>
              <a:rPr lang="tr-TR" sz="2400" dirty="0"/>
              <a:t>Ekonomik araştırmalarda, yapılacak yatırımın verimli, kârlı ve rasyonel olup olmayacağı ekonomik açıdan incelenir (Tenglimoğlu,2009, s.53). Ayrıca, araştırmada, işletmenin hangi ürünü, ne kadar ve hangi müşteriye hangi miktarda üreteceği belirlenir. Ekonomik araştırmalar:</a:t>
            </a:r>
          </a:p>
          <a:p>
            <a:pPr marL="0" indent="0">
              <a:buNone/>
            </a:pPr>
            <a:r>
              <a:rPr lang="tr-TR" sz="2400" dirty="0"/>
              <a:t>• Piyasa araştırması ve talep tahmini</a:t>
            </a:r>
          </a:p>
          <a:p>
            <a:pPr marL="0" indent="0">
              <a:buNone/>
            </a:pPr>
            <a:r>
              <a:rPr lang="tr-TR" sz="2400" dirty="0"/>
              <a:t>• Kuruluş yerinin seçimi,</a:t>
            </a:r>
          </a:p>
          <a:p>
            <a:pPr marL="0" indent="0">
              <a:buNone/>
            </a:pPr>
            <a:r>
              <a:rPr lang="tr-TR" sz="2400" dirty="0"/>
              <a:t>• Büyüklük ve kapasite seçimi konuları gibi konuları kapsar.</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023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6A8708-36AD-58ED-8241-372EEE58219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D203992-A95F-06DD-8705-D48CB32FA1BF}"/>
              </a:ext>
            </a:extLst>
          </p:cNvPr>
          <p:cNvSpPr>
            <a:spLocks noGrp="1"/>
          </p:cNvSpPr>
          <p:nvPr>
            <p:ph type="title"/>
          </p:nvPr>
        </p:nvSpPr>
        <p:spPr>
          <a:xfrm>
            <a:off x="4553733" y="548464"/>
            <a:ext cx="6798541" cy="1675623"/>
          </a:xfrm>
        </p:spPr>
        <p:txBody>
          <a:bodyPr anchor="b">
            <a:normAutofit/>
          </a:bodyPr>
          <a:lstStyle/>
          <a:p>
            <a:r>
              <a:rPr lang="tr-TR" sz="4000"/>
              <a:t>Ekonomik Araştırmalar</a:t>
            </a:r>
          </a:p>
        </p:txBody>
      </p:sp>
      <p:pic>
        <p:nvPicPr>
          <p:cNvPr id="5" name="Picture 4">
            <a:extLst>
              <a:ext uri="{FF2B5EF4-FFF2-40B4-BE49-F238E27FC236}">
                <a16:creationId xmlns:a16="http://schemas.microsoft.com/office/drawing/2014/main" id="{F12A47CA-60DF-CD75-D4B3-3A70F4CC347E}"/>
              </a:ext>
            </a:extLst>
          </p:cNvPr>
          <p:cNvPicPr>
            <a:picLocks noChangeAspect="1"/>
          </p:cNvPicPr>
          <p:nvPr/>
        </p:nvPicPr>
        <p:blipFill>
          <a:blip r:embed="rId3"/>
          <a:srcRect l="21811" r="43769"/>
          <a:stretch/>
        </p:blipFill>
        <p:spPr>
          <a:xfrm>
            <a:off x="1" y="10"/>
            <a:ext cx="4196496" cy="6857990"/>
          </a:xfrm>
          <a:prstGeom prst="rect">
            <a:avLst/>
          </a:prstGeom>
          <a:effectLst/>
        </p:spPr>
      </p:pic>
      <p:sp>
        <p:nvSpPr>
          <p:cNvPr id="3" name="İçerik Yer Tutucusu 2">
            <a:extLst>
              <a:ext uri="{FF2B5EF4-FFF2-40B4-BE49-F238E27FC236}">
                <a16:creationId xmlns:a16="http://schemas.microsoft.com/office/drawing/2014/main" id="{1BF4C9F4-1A2C-C09B-77C1-0D56CF40CA88}"/>
              </a:ext>
            </a:extLst>
          </p:cNvPr>
          <p:cNvSpPr>
            <a:spLocks noGrp="1"/>
          </p:cNvSpPr>
          <p:nvPr>
            <p:ph idx="1"/>
          </p:nvPr>
        </p:nvSpPr>
        <p:spPr>
          <a:xfrm>
            <a:off x="4553734" y="2409830"/>
            <a:ext cx="6798539" cy="3705217"/>
          </a:xfrm>
        </p:spPr>
        <p:txBody>
          <a:bodyPr>
            <a:normAutofit/>
          </a:bodyPr>
          <a:lstStyle/>
          <a:p>
            <a:r>
              <a:rPr lang="tr-TR" sz="1900" b="1" dirty="0"/>
              <a:t>Piyasa Araştırması ve Talep Tahmini: </a:t>
            </a:r>
            <a:r>
              <a:rPr lang="tr-TR" sz="1900" dirty="0"/>
              <a:t>Bir işletme kurulurken yapılan piyasa araştırması, işletmenin üreteceği veya pazarlayacağı ürün veya hizmetlerin üretim miktarının ne kadar olacağını ve nasıl üretileceğini saptamak için yapılır. Ayrıca, piyasada bulunan müşteri profili, talep düzeyi ve satın alma gücü gibi konularda girişimciye karar alma sürecinde bilgi sağlar. Piyasa araştırmasında, bilgiler toplanırken iki tür veriden yararlanılır (Tutar, 2005, s.110). Bu veriler, birinci ve ikinci elden verilerdir. Birinci elden veriler, piyasada o işi yapan ya da araştırma işletmeleri tarafından hazırlanan verilerdir. İkincil elden veriler ise daha önce yapılan araştırmalardan elde edilen verilerdir. Birinci ve ikinci elden veriler, talep tahmini yapabilmek için önemlidir. </a:t>
            </a:r>
          </a:p>
        </p:txBody>
      </p:sp>
    </p:spTree>
    <p:extLst>
      <p:ext uri="{BB962C8B-B14F-4D97-AF65-F5344CB8AC3E}">
        <p14:creationId xmlns:p14="http://schemas.microsoft.com/office/powerpoint/2010/main" val="269608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D74C9-C0AD-7595-3743-0857CB0DF5E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816B3DE-CB8B-79BF-4C3F-92CAEDDFEC8D}"/>
              </a:ext>
            </a:extLst>
          </p:cNvPr>
          <p:cNvSpPr>
            <a:spLocks noGrp="1"/>
          </p:cNvSpPr>
          <p:nvPr>
            <p:ph type="title"/>
          </p:nvPr>
        </p:nvSpPr>
        <p:spPr/>
        <p:txBody>
          <a:bodyPr/>
          <a:lstStyle/>
          <a:p>
            <a:r>
              <a:rPr lang="tr-TR"/>
              <a:t>Ekonomik Araştırmalar</a:t>
            </a:r>
          </a:p>
        </p:txBody>
      </p:sp>
      <p:graphicFrame>
        <p:nvGraphicFramePr>
          <p:cNvPr id="5" name="İçerik Yer Tutucusu 2">
            <a:extLst>
              <a:ext uri="{FF2B5EF4-FFF2-40B4-BE49-F238E27FC236}">
                <a16:creationId xmlns:a16="http://schemas.microsoft.com/office/drawing/2014/main" id="{41799AFF-C733-5133-0B11-41EE25527B6B}"/>
              </a:ext>
            </a:extLst>
          </p:cNvPr>
          <p:cNvGraphicFramePr>
            <a:graphicFrameLocks noGrp="1"/>
          </p:cNvGraphicFramePr>
          <p:nvPr>
            <p:ph idx="1"/>
          </p:nvPr>
        </p:nvGraphicFramePr>
        <p:xfrm>
          <a:off x="648182" y="1825625"/>
          <a:ext cx="10705618"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6556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CF20E50-C405-AB65-DB43-2B13DC9D27B7}"/>
              </a:ext>
            </a:extLst>
          </p:cNvPr>
          <p:cNvSpPr>
            <a:spLocks noGrp="1"/>
          </p:cNvSpPr>
          <p:nvPr>
            <p:ph type="title"/>
          </p:nvPr>
        </p:nvSpPr>
        <p:spPr>
          <a:xfrm>
            <a:off x="1156851" y="637762"/>
            <a:ext cx="9888496" cy="900131"/>
          </a:xfrm>
        </p:spPr>
        <p:txBody>
          <a:bodyPr anchor="t">
            <a:normAutofit/>
          </a:bodyPr>
          <a:lstStyle/>
          <a:p>
            <a:r>
              <a:rPr lang="tr-TR" sz="4000">
                <a:solidFill>
                  <a:schemeClr val="bg1"/>
                </a:solidFill>
              </a:rPr>
              <a:t>Diğer Araştırma Yöntemleri</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AD3B3979-203B-59EE-7D6D-F2E763019A48}"/>
              </a:ext>
            </a:extLst>
          </p:cNvPr>
          <p:cNvSpPr>
            <a:spLocks noGrp="1"/>
          </p:cNvSpPr>
          <p:nvPr>
            <p:ph idx="1"/>
          </p:nvPr>
        </p:nvSpPr>
        <p:spPr>
          <a:xfrm>
            <a:off x="1155548" y="2217343"/>
            <a:ext cx="9880893" cy="3959619"/>
          </a:xfrm>
        </p:spPr>
        <p:txBody>
          <a:bodyPr>
            <a:normAutofit/>
          </a:bodyPr>
          <a:lstStyle/>
          <a:p>
            <a:r>
              <a:rPr lang="tr-TR" sz="1700" b="1" dirty="0"/>
              <a:t>Teknik Araştırmalar: </a:t>
            </a:r>
            <a:r>
              <a:rPr lang="tr-TR" sz="1700" dirty="0"/>
              <a:t>Ekonomik araştırma tamamlandıktan sonra, işletmeler teknik araştırmaya yönelirler. Teknik araştırma, projenin teknik olarak yapılabilirliğini araştırmak için, teknik elemanlar tarafından yapılan analizdir. İşletme kurulmasına karar verilirken hangi üretim teknolojisinin kullanılacağı, iş akış şemaları, makineleri, yerleşim planı, fabrika binasının inşaatı gibi konular teknik elemanlarca incelenir (Sabuncuoğlu, 1997, s.91).</a:t>
            </a:r>
          </a:p>
          <a:p>
            <a:r>
              <a:rPr lang="tr-TR" sz="1700" b="1" dirty="0"/>
              <a:t>Finansal Araştırmalar: </a:t>
            </a:r>
            <a:r>
              <a:rPr lang="tr-TR" sz="1700" dirty="0"/>
              <a:t>Finansal araştırma, gerçekleştirilmesi düşünülen projenin hayata geçirilebilmesi için gerekli finansal kaynakların miktarı, nereden ve nasıl sağlanacağına ilişkin konuları kapsar. Araştırmada, işletmenin kurulacağı arsa, inşaat, taşıtlar, makine alımıyla ilgili giderler hesaplanır. Bu süreçte, proje yatırım tutarı da hesaplanır.</a:t>
            </a:r>
          </a:p>
          <a:p>
            <a:r>
              <a:rPr lang="tr-TR" sz="1700" b="1" dirty="0"/>
              <a:t>Hukuki Araştırmalar: </a:t>
            </a:r>
            <a:r>
              <a:rPr lang="tr-TR" sz="1700" dirty="0"/>
              <a:t>İşletmelerin kurulacağı yerin seçimi, kurulması ve üretim için gerekli izinlerin (ruhsatların) alınması, sermaye ihtiyacı, vergi tahakkuku, kredi sağlama olanakları gibi konular hukuksal araştırma yapılarak sağlanır .Örgütsel Araştırmalar: Tüm araştırmalar tamamlandıktan sonra, işletmenin içinde çalışacak insan gücünün belirlenmesine karar verilir. Örgütsel araştırmalar sürecinde, işletmede kimlerin çalışacağı, hangi yetki ve sorumluluklarla görev yapacakları, işletmenin nasıl işgücüne ve bölümlendirmeye sahip olması gerektiği gibi konulara karar verilir.</a:t>
            </a:r>
          </a:p>
        </p:txBody>
      </p:sp>
    </p:spTree>
    <p:extLst>
      <p:ext uri="{BB962C8B-B14F-4D97-AF65-F5344CB8AC3E}">
        <p14:creationId xmlns:p14="http://schemas.microsoft.com/office/powerpoint/2010/main" val="2288538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6D34257-2791-FC7B-D3BD-4392F8B55B05}"/>
              </a:ext>
            </a:extLst>
          </p:cNvPr>
          <p:cNvSpPr>
            <a:spLocks noGrp="1"/>
          </p:cNvSpPr>
          <p:nvPr>
            <p:ph type="title"/>
          </p:nvPr>
        </p:nvSpPr>
        <p:spPr>
          <a:xfrm>
            <a:off x="1371599" y="294538"/>
            <a:ext cx="9895951" cy="1033669"/>
          </a:xfrm>
        </p:spPr>
        <p:txBody>
          <a:bodyPr>
            <a:normAutofit/>
          </a:bodyPr>
          <a:lstStyle/>
          <a:p>
            <a:r>
              <a:rPr lang="tr-TR" sz="3400">
                <a:solidFill>
                  <a:srgbClr val="FFFFFF"/>
                </a:solidFill>
              </a:rPr>
              <a:t>Kuruluş Çalışmalarının Değerlendirilmesi ve Yatırım Kararı</a:t>
            </a:r>
          </a:p>
        </p:txBody>
      </p:sp>
      <p:sp>
        <p:nvSpPr>
          <p:cNvPr id="3" name="İçerik Yer Tutucusu 2">
            <a:extLst>
              <a:ext uri="{FF2B5EF4-FFF2-40B4-BE49-F238E27FC236}">
                <a16:creationId xmlns:a16="http://schemas.microsoft.com/office/drawing/2014/main" id="{11F8F7F6-828E-04A1-8350-A47F84EB4D77}"/>
              </a:ext>
            </a:extLst>
          </p:cNvPr>
          <p:cNvSpPr>
            <a:spLocks noGrp="1"/>
          </p:cNvSpPr>
          <p:nvPr>
            <p:ph idx="1"/>
          </p:nvPr>
        </p:nvSpPr>
        <p:spPr>
          <a:xfrm>
            <a:off x="1371599" y="2318197"/>
            <a:ext cx="9724031" cy="3683358"/>
          </a:xfrm>
        </p:spPr>
        <p:txBody>
          <a:bodyPr anchor="ctr">
            <a:normAutofit/>
          </a:bodyPr>
          <a:lstStyle/>
          <a:p>
            <a:r>
              <a:rPr lang="tr-TR" sz="2000" dirty="0"/>
              <a:t>Yatırım kararı bir işletme için çok büyük önem taşımaktadır. Tüm yapılan araştırmalar adım adım tekrar incelenerek girişimci yatırıma karar verir. Yapılan araştırmaların raporları değerlendirilirken girişimcinin bazı ölçütlere dikkat etmesi gerekir. Raporlarda göz önünde tutulması gereken ölçütler; </a:t>
            </a:r>
            <a:r>
              <a:rPr lang="tr-TR" sz="2000" b="1" dirty="0"/>
              <a:t>verimlilik, iktisadilik ve kârlılıktır</a:t>
            </a:r>
            <a:r>
              <a:rPr lang="tr-TR" sz="2000" dirty="0"/>
              <a:t>. Verimlilik, çeşitli ürün ve hizmetlerin üretimindeki kaynakların emek, sermaye, arazi, malzeme, enerji ve bilginin etkin kullanımıdır diye tanımlanır. İktisadilik, kurulacak işletmelerin ne kadar verimli çalışacağı, mal üretiminde maliyetlerin nasıl belirleneceği ve en düşük maliyetle nasıl üretim gerçekleştirileceğidir. Kârlılık, işletmenin belirli bir dönemde elde ettiği kârın, aynı dönemde kullanılan sermayeye oranıdır. Bu oranın en yüksek çıkacağı coğrafik alanı işletmenin kuruluş yeri olarak seçmek uygun olacaktır. Maliyet, gelir ve faiz oranlarındaki değişmeler kârlılık oranının önceden kesin olarak hesaplanmasında önemli engellerdir (</a:t>
            </a:r>
            <a:r>
              <a:rPr lang="tr-TR" sz="2000" dirty="0" err="1"/>
              <a:t>Tengilimoğlu</a:t>
            </a:r>
            <a:r>
              <a:rPr lang="tr-TR" sz="2000" dirty="0"/>
              <a:t>, 2009, s.62).</a:t>
            </a:r>
          </a:p>
        </p:txBody>
      </p:sp>
    </p:spTree>
    <p:extLst>
      <p:ext uri="{BB962C8B-B14F-4D97-AF65-F5344CB8AC3E}">
        <p14:creationId xmlns:p14="http://schemas.microsoft.com/office/powerpoint/2010/main" val="925112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9BEF6A-BABA-CA9C-8866-0EAD8C9852E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8CA3E82-5EBC-8105-1320-3243456427EF}"/>
              </a:ext>
            </a:extLst>
          </p:cNvPr>
          <p:cNvSpPr>
            <a:spLocks noGrp="1"/>
          </p:cNvSpPr>
          <p:nvPr>
            <p:ph type="title"/>
          </p:nvPr>
        </p:nvSpPr>
        <p:spPr>
          <a:xfrm>
            <a:off x="466722" y="586855"/>
            <a:ext cx="3201366" cy="3387497"/>
          </a:xfrm>
        </p:spPr>
        <p:txBody>
          <a:bodyPr anchor="b">
            <a:normAutofit/>
          </a:bodyPr>
          <a:lstStyle/>
          <a:p>
            <a:pPr algn="r"/>
            <a:r>
              <a:rPr lang="tr-TR" sz="3100">
                <a:solidFill>
                  <a:srgbClr val="FFFFFF"/>
                </a:solidFill>
              </a:rPr>
              <a:t>Kuruluş Çalışmalarının Değerlendirilmesi ve Yatırım Kararı</a:t>
            </a:r>
          </a:p>
        </p:txBody>
      </p:sp>
      <p:sp>
        <p:nvSpPr>
          <p:cNvPr id="3" name="İçerik Yer Tutucusu 2">
            <a:extLst>
              <a:ext uri="{FF2B5EF4-FFF2-40B4-BE49-F238E27FC236}">
                <a16:creationId xmlns:a16="http://schemas.microsoft.com/office/drawing/2014/main" id="{5170D940-9854-31A5-A044-39ADE77C8028}"/>
              </a:ext>
            </a:extLst>
          </p:cNvPr>
          <p:cNvSpPr>
            <a:spLocks noGrp="1"/>
          </p:cNvSpPr>
          <p:nvPr>
            <p:ph idx="1"/>
          </p:nvPr>
        </p:nvSpPr>
        <p:spPr>
          <a:xfrm>
            <a:off x="4810259" y="649480"/>
            <a:ext cx="6555347" cy="5546047"/>
          </a:xfrm>
        </p:spPr>
        <p:txBody>
          <a:bodyPr anchor="ctr">
            <a:normAutofit/>
          </a:bodyPr>
          <a:lstStyle/>
          <a:p>
            <a:r>
              <a:rPr lang="tr-TR" sz="1900" b="1" dirty="0"/>
              <a:t>Kesin Proje: </a:t>
            </a:r>
            <a:r>
              <a:rPr lang="tr-TR" sz="1900" dirty="0"/>
              <a:t>Kesin projede, proje kapsamında işletmenin kuruluşunda hangi unsurlar gerekiyorsa örneğin, işletmenin kurulacağı yer, kapasitesi, büyüklüğü, insan kaynakları gibi ayrıntılı bilgiler kesinleştirilir.</a:t>
            </a:r>
          </a:p>
          <a:p>
            <a:r>
              <a:rPr lang="tr-TR" sz="1900" b="1" dirty="0"/>
              <a:t>Projenin Uygulanması: </a:t>
            </a:r>
            <a:r>
              <a:rPr lang="tr-TR" sz="1900" dirty="0"/>
              <a:t>Kesin proje kesinleştirildikten sonra, projede yer alan tüm unsurların gerçekleştirildiği aşamadır. Bu aşamada, siparişler verilir ve fiziksel yatırımlar başlar. İşletmenin kurulacağı yerin alımı, işletmenin inşaatı, elektrik, su gibi </a:t>
            </a:r>
            <a:r>
              <a:rPr lang="tr-TR" sz="1900" dirty="0" err="1"/>
              <a:t>tesisatların</a:t>
            </a:r>
            <a:r>
              <a:rPr lang="tr-TR" sz="1900" dirty="0"/>
              <a:t> döşenmesi, üretim için gerekli donanım ve makinenin alınması gibi unsurlar bu aşamada tamamlanır. Tamamlandıktan sonra da işletme üretime hazır hâle getirilir.</a:t>
            </a:r>
          </a:p>
          <a:p>
            <a:r>
              <a:rPr lang="tr-TR" sz="1900" b="1" dirty="0"/>
              <a:t>Deneme Üretimi: </a:t>
            </a:r>
            <a:r>
              <a:rPr lang="tr-TR" sz="1900" dirty="0"/>
              <a:t>Projenin uygulanma aşaması tamamlandıktan sonra işletme, kuruluş aşamasını tamamlar. Ancak, üretime geçmeden önce, girişimci üretimde karşılaşabileceği aksaklıkları belirlemek için, deneme üretimine geçer. Son kontroller yapıldıktan ve sorunlar çözüldükten sonra, işletme kesin üretime geçer.</a:t>
            </a:r>
          </a:p>
        </p:txBody>
      </p:sp>
    </p:spTree>
    <p:extLst>
      <p:ext uri="{BB962C8B-B14F-4D97-AF65-F5344CB8AC3E}">
        <p14:creationId xmlns:p14="http://schemas.microsoft.com/office/powerpoint/2010/main" val="185215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Başlık 1">
            <a:extLst>
              <a:ext uri="{FF2B5EF4-FFF2-40B4-BE49-F238E27FC236}">
                <a16:creationId xmlns:a16="http://schemas.microsoft.com/office/drawing/2014/main" id="{172A89AE-5434-6EBD-4DB9-F33EA23960E3}"/>
              </a:ext>
            </a:extLst>
          </p:cNvPr>
          <p:cNvSpPr>
            <a:spLocks noGrp="1"/>
          </p:cNvSpPr>
          <p:nvPr>
            <p:ph type="title"/>
          </p:nvPr>
        </p:nvSpPr>
        <p:spPr>
          <a:xfrm>
            <a:off x="841246" y="673770"/>
            <a:ext cx="3644489" cy="2414488"/>
          </a:xfrm>
        </p:spPr>
        <p:txBody>
          <a:bodyPr anchor="t">
            <a:normAutofit/>
          </a:bodyPr>
          <a:lstStyle/>
          <a:p>
            <a:r>
              <a:rPr lang="tr-TR" sz="5000">
                <a:solidFill>
                  <a:srgbClr val="FFFFFF"/>
                </a:solidFill>
              </a:rPr>
              <a:t>Kuruluş Yerinin Belirlenmesi</a:t>
            </a:r>
          </a:p>
        </p:txBody>
      </p:sp>
      <p:sp>
        <p:nvSpPr>
          <p:cNvPr id="3" name="İçerik Yer Tutucusu 2">
            <a:extLst>
              <a:ext uri="{FF2B5EF4-FFF2-40B4-BE49-F238E27FC236}">
                <a16:creationId xmlns:a16="http://schemas.microsoft.com/office/drawing/2014/main" id="{A58A312A-680E-127D-B0B4-A7579A270643}"/>
              </a:ext>
            </a:extLst>
          </p:cNvPr>
          <p:cNvSpPr>
            <a:spLocks noGrp="1"/>
          </p:cNvSpPr>
          <p:nvPr>
            <p:ph idx="1"/>
          </p:nvPr>
        </p:nvSpPr>
        <p:spPr>
          <a:xfrm>
            <a:off x="6095999" y="882315"/>
            <a:ext cx="5254754" cy="5294647"/>
          </a:xfrm>
        </p:spPr>
        <p:txBody>
          <a:bodyPr>
            <a:normAutofit/>
          </a:bodyPr>
          <a:lstStyle/>
          <a:p>
            <a:r>
              <a:rPr lang="tr-TR" sz="2200" dirty="0"/>
              <a:t>İşletmelerin belirledikleri amaçlara ulaşmaları için faaliyetlerini sürdürecekleri yer, kuruluş yeridir. Ancak girişimci, işletmenin amaçlarına en verimli, etkin ve kârlı şekilde ulaşmasına olanak sağlayacak bir kuruluş yeri seçmelidir. İşletme kurulduktan sonra, uzun bir süre faaliyetlerini kurulduğu yerde sürdürmek zorunda kalacağı için, yer seçimi çok önemlidir. İşletme kurulurken kuruluş yeri belirleme aşamasında, girişimcinin kuruluş dosyası hazırlama, işletmenin faaliyete geçmesi için yasal izinler gibi süreçleri de tamamlaması gereklidir.</a:t>
            </a:r>
          </a:p>
        </p:txBody>
      </p:sp>
    </p:spTree>
    <p:extLst>
      <p:ext uri="{BB962C8B-B14F-4D97-AF65-F5344CB8AC3E}">
        <p14:creationId xmlns:p14="http://schemas.microsoft.com/office/powerpoint/2010/main" val="3247776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DA2A65-8CFF-D2D3-82C5-BBC4CD94B23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Başlık 1">
            <a:extLst>
              <a:ext uri="{FF2B5EF4-FFF2-40B4-BE49-F238E27FC236}">
                <a16:creationId xmlns:a16="http://schemas.microsoft.com/office/drawing/2014/main" id="{3802B7A4-38D4-2EB1-B453-6B6CC7BA7550}"/>
              </a:ext>
            </a:extLst>
          </p:cNvPr>
          <p:cNvSpPr>
            <a:spLocks noGrp="1"/>
          </p:cNvSpPr>
          <p:nvPr>
            <p:ph type="title"/>
          </p:nvPr>
        </p:nvSpPr>
        <p:spPr>
          <a:xfrm>
            <a:off x="841246" y="673770"/>
            <a:ext cx="3644489" cy="2414488"/>
          </a:xfrm>
        </p:spPr>
        <p:txBody>
          <a:bodyPr anchor="t">
            <a:normAutofit/>
          </a:bodyPr>
          <a:lstStyle/>
          <a:p>
            <a:r>
              <a:rPr lang="tr-TR" sz="5000">
                <a:solidFill>
                  <a:srgbClr val="FFFFFF"/>
                </a:solidFill>
              </a:rPr>
              <a:t>Kuruluş Yerinin Belirlenmesi</a:t>
            </a:r>
          </a:p>
        </p:txBody>
      </p:sp>
      <p:sp>
        <p:nvSpPr>
          <p:cNvPr id="3" name="İçerik Yer Tutucusu 2">
            <a:extLst>
              <a:ext uri="{FF2B5EF4-FFF2-40B4-BE49-F238E27FC236}">
                <a16:creationId xmlns:a16="http://schemas.microsoft.com/office/drawing/2014/main" id="{30A2B275-7EF2-8976-AB7A-4C610E4622E0}"/>
              </a:ext>
            </a:extLst>
          </p:cNvPr>
          <p:cNvSpPr>
            <a:spLocks noGrp="1"/>
          </p:cNvSpPr>
          <p:nvPr>
            <p:ph idx="1"/>
          </p:nvPr>
        </p:nvSpPr>
        <p:spPr>
          <a:xfrm>
            <a:off x="6095999" y="882315"/>
            <a:ext cx="5254754" cy="5294647"/>
          </a:xfrm>
        </p:spPr>
        <p:txBody>
          <a:bodyPr>
            <a:normAutofit/>
          </a:bodyPr>
          <a:lstStyle/>
          <a:p>
            <a:pPr marL="0" indent="0">
              <a:buNone/>
            </a:pPr>
            <a:r>
              <a:rPr lang="tr-TR" sz="1400" dirty="0"/>
              <a:t>Kuruluş Sırasında Yapılacak İşlemler Girişimci, işletme kurarken bazı yasa ve yönetmeliklerden kaynaklanan zorunlulukları yerine getirmekle yükümlüdür. İşletme, kuruluş yeri belirleme sürecinde yapılacak işlemler şunlardır (Tutar, 2005, s.120):</a:t>
            </a:r>
          </a:p>
          <a:p>
            <a:pPr marL="0" indent="0">
              <a:buNone/>
            </a:pPr>
            <a:r>
              <a:rPr lang="tr-TR" sz="1400" dirty="0"/>
              <a:t>• Sanayi ve Ticaret Bakanlığından (Sanayi ve Ticaret İl Müdürlüğü) işletmenin kurulması ile ilgili iznin alınması,</a:t>
            </a:r>
          </a:p>
          <a:p>
            <a:pPr marL="0" indent="0">
              <a:buNone/>
            </a:pPr>
            <a:r>
              <a:rPr lang="tr-TR" sz="1400" dirty="0"/>
              <a:t>• Ticaret Sicil Memurluğuna yeni kuruluş tescili için gerekli belgelerin verilmesi ve kuruluş ilanı,</a:t>
            </a:r>
          </a:p>
          <a:p>
            <a:pPr marL="0" indent="0">
              <a:buNone/>
            </a:pPr>
            <a:r>
              <a:rPr lang="tr-TR" sz="1400" dirty="0"/>
              <a:t>• Esnaf ve Sanatkârlar Sicil </a:t>
            </a:r>
            <a:r>
              <a:rPr lang="tr-TR" sz="1400" dirty="0" err="1"/>
              <a:t>Memurluğu’ndan</a:t>
            </a:r>
            <a:r>
              <a:rPr lang="tr-TR" sz="1400" dirty="0"/>
              <a:t> tescil ve ilan işlemleri,</a:t>
            </a:r>
          </a:p>
          <a:p>
            <a:pPr marL="0" indent="0">
              <a:buNone/>
            </a:pPr>
            <a:r>
              <a:rPr lang="tr-TR" sz="1400" dirty="0"/>
              <a:t>• Tutulması zorunlu olan defterlerin kırtasiyeden alınması ve notere onaylattırma,</a:t>
            </a:r>
          </a:p>
          <a:p>
            <a:pPr marL="0" indent="0">
              <a:buNone/>
            </a:pPr>
            <a:r>
              <a:rPr lang="tr-TR" sz="1400" dirty="0"/>
              <a:t>• Vergi dairesine vergi mükellefiyetinin tescili, vergi levhası, yazar kasa levhasının onayı ve damga vergisinin yatırılması,</a:t>
            </a:r>
          </a:p>
          <a:p>
            <a:pPr marL="0" indent="0">
              <a:buNone/>
            </a:pPr>
            <a:r>
              <a:rPr lang="tr-TR" sz="1400" dirty="0"/>
              <a:t>• Maliye Bakanlığı’nın anlaşmalı olduğu matbaa işletmelerine gerekli belgelerin bastırılması,</a:t>
            </a:r>
          </a:p>
          <a:p>
            <a:pPr marL="0" indent="0">
              <a:buNone/>
            </a:pPr>
            <a:r>
              <a:rPr lang="tr-TR" sz="1400" dirty="0"/>
              <a:t>• Sanayi Odası ya da Ticaret Odasına kayıt işlemleri,</a:t>
            </a:r>
          </a:p>
          <a:p>
            <a:pPr marL="0" indent="0">
              <a:buNone/>
            </a:pPr>
            <a:r>
              <a:rPr lang="tr-TR" sz="1400" dirty="0"/>
              <a:t>• Belediyelerden işyeri açma ve çalışma ruhsatı alınması,</a:t>
            </a:r>
          </a:p>
          <a:p>
            <a:pPr marL="0" indent="0">
              <a:buNone/>
            </a:pPr>
            <a:r>
              <a:rPr lang="tr-TR" sz="1400" dirty="0"/>
              <a:t>• Sosyal Güvenlik Kurumu işlemleri (İş yeri sicil numarasının alınması ve işe giriş bildirgelerinin verilmesi).</a:t>
            </a:r>
          </a:p>
        </p:txBody>
      </p:sp>
    </p:spTree>
    <p:extLst>
      <p:ext uri="{BB962C8B-B14F-4D97-AF65-F5344CB8AC3E}">
        <p14:creationId xmlns:p14="http://schemas.microsoft.com/office/powerpoint/2010/main" val="384445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95C4A8-40B1-5A11-17A4-BB8B17C605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Başlık 1">
            <a:extLst>
              <a:ext uri="{FF2B5EF4-FFF2-40B4-BE49-F238E27FC236}">
                <a16:creationId xmlns:a16="http://schemas.microsoft.com/office/drawing/2014/main" id="{8D1704C9-C78F-1F25-F817-9674724CE90F}"/>
              </a:ext>
            </a:extLst>
          </p:cNvPr>
          <p:cNvSpPr>
            <a:spLocks noGrp="1"/>
          </p:cNvSpPr>
          <p:nvPr>
            <p:ph type="title"/>
          </p:nvPr>
        </p:nvSpPr>
        <p:spPr>
          <a:xfrm>
            <a:off x="838200" y="401221"/>
            <a:ext cx="10515600" cy="1348065"/>
          </a:xfrm>
        </p:spPr>
        <p:txBody>
          <a:bodyPr>
            <a:normAutofit/>
          </a:bodyPr>
          <a:lstStyle/>
          <a:p>
            <a:r>
              <a:rPr lang="tr-TR" sz="5400">
                <a:solidFill>
                  <a:srgbClr val="FFFFFF"/>
                </a:solidFill>
              </a:rPr>
              <a:t>Kuruluş Yerinin Belirlenmesi</a:t>
            </a:r>
          </a:p>
        </p:txBody>
      </p:sp>
      <p:sp>
        <p:nvSpPr>
          <p:cNvPr id="3" name="İçerik Yer Tutucusu 2">
            <a:extLst>
              <a:ext uri="{FF2B5EF4-FFF2-40B4-BE49-F238E27FC236}">
                <a16:creationId xmlns:a16="http://schemas.microsoft.com/office/drawing/2014/main" id="{67F9171E-DFD6-E98C-05F5-8F58F045D8FB}"/>
              </a:ext>
            </a:extLst>
          </p:cNvPr>
          <p:cNvSpPr>
            <a:spLocks noGrp="1"/>
          </p:cNvSpPr>
          <p:nvPr>
            <p:ph idx="1"/>
          </p:nvPr>
        </p:nvSpPr>
        <p:spPr>
          <a:xfrm>
            <a:off x="838200" y="2586789"/>
            <a:ext cx="10515600" cy="3590174"/>
          </a:xfrm>
        </p:spPr>
        <p:txBody>
          <a:bodyPr>
            <a:normAutofit lnSpcReduction="10000"/>
          </a:bodyPr>
          <a:lstStyle/>
          <a:p>
            <a:r>
              <a:rPr lang="tr-TR" sz="2200" b="1" dirty="0"/>
              <a:t>Kuruluş Dosyası Hazırlama</a:t>
            </a:r>
            <a:r>
              <a:rPr lang="tr-TR" sz="2200" dirty="0"/>
              <a:t>: Girişimci, kuruluş dosyası hazırlama sürecinde, noterden ticaret unvan tasdiknamesi alarak işlemlere başlar. Daha sonra iş yerinin bulunduğu belediye başkanlığından, işe başlama belgesi alır. Bu belgeyi alabilmek için dilekçe, ticari unvan tasdikname si, nüfus cüzdanı sureti, ikametgâh belgesi, noter tasdikli iş yeri tapusu veya kira kontratını belediye başkanlığına vermesi gereklidir.</a:t>
            </a:r>
          </a:p>
          <a:p>
            <a:r>
              <a:rPr lang="tr-TR" sz="2200" dirty="0"/>
              <a:t> Bu belgelerin aynıları, Ticaret Sicil Memurluğuna verilerek, işletmenin kuruluşunun tescil edilmesi istenir. Tescil, işletmelerin ticari faaliyetlerini gerçekleştirebilmeleri için kuruluşundan kapanışına kadar yapısında meydana gelen değişikliklerin yasalara uygun olmasıdır. İşletme Kurmada Yasal izinler Ticaret ve Sanayi Odasına üye olmak, bölge sanayi müdürlüğüne başvurmak, belediyeden izin almak, vergi dairesine kayıt, sağlık izinleri ve Sosyal Güvenlik Kurumuna bildirimleri içerir.</a:t>
            </a:r>
          </a:p>
        </p:txBody>
      </p:sp>
    </p:spTree>
    <p:extLst>
      <p:ext uri="{BB962C8B-B14F-4D97-AF65-F5344CB8AC3E}">
        <p14:creationId xmlns:p14="http://schemas.microsoft.com/office/powerpoint/2010/main" val="1810704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499FAC3-9441-CDA1-230F-DD4DA61EA896}"/>
              </a:ext>
            </a:extLst>
          </p:cNvPr>
          <p:cNvSpPr>
            <a:spLocks noGrp="1"/>
          </p:cNvSpPr>
          <p:nvPr>
            <p:ph type="title"/>
          </p:nvPr>
        </p:nvSpPr>
        <p:spPr>
          <a:xfrm>
            <a:off x="838200" y="365125"/>
            <a:ext cx="10515600" cy="1325563"/>
          </a:xfrm>
        </p:spPr>
        <p:txBody>
          <a:bodyPr>
            <a:normAutofit/>
          </a:bodyPr>
          <a:lstStyle/>
          <a:p>
            <a:r>
              <a:rPr lang="tr-TR" sz="5000"/>
              <a:t>Kuruluş Yeri Seçimini Etkileyen Faktörler</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94EB31BC-F2F3-9D4E-1888-A128E2410FB8}"/>
              </a:ext>
            </a:extLst>
          </p:cNvPr>
          <p:cNvSpPr>
            <a:spLocks noGrp="1"/>
          </p:cNvSpPr>
          <p:nvPr>
            <p:ph idx="1"/>
          </p:nvPr>
        </p:nvSpPr>
        <p:spPr>
          <a:xfrm>
            <a:off x="838200" y="1929384"/>
            <a:ext cx="10515600" cy="4251960"/>
          </a:xfrm>
        </p:spPr>
        <p:txBody>
          <a:bodyPr>
            <a:normAutofit/>
          </a:bodyPr>
          <a:lstStyle/>
          <a:p>
            <a:r>
              <a:rPr lang="tr-TR" sz="2000" b="1" dirty="0"/>
              <a:t>Hammadde:</a:t>
            </a:r>
            <a:r>
              <a:rPr lang="tr-TR" sz="2000" dirty="0"/>
              <a:t> Hammadde, üretim işletmelerinde üretilecek ürünün temel kaynağıdır. Örneğin, yoğurt fabrikasında üretilecek yoğurdun hammaddesi, başka bir deyişle temel kaynağı süttür. Kurulacak işletme, üreteceği ürüne göre, hammadde kaynağına yakın bir yerde kurulmalıdır. Yakın yerde kurulmasının avantajları şöyle açıklanabilir: Hammaddenin yoğun olarak bulunduğu yerde kurulması, hammadde maliyetlerini düşürecek ve işletmeye maliyet açısından avantaj sağlayacaktır. Ayrıca bazı hammaddeler, çabuk bozulma özelliğine sahiptir, örneğin; süt veya tarımsal ürünler çabuk bozulabilirler. Bu yüzden özellikle gıda sektöründe kurulacak olan işletmeler, hammaddelere yakın yerlerde kurulmalıdır. Dikkat edilecek diğer bir nokta, bazı hammaddelerin taşınmasının pahalı olmasıdır. Bazı </a:t>
            </a:r>
            <a:r>
              <a:rPr lang="tr-TR" sz="2000" dirty="0" err="1"/>
              <a:t>hammadelerin</a:t>
            </a:r>
            <a:r>
              <a:rPr lang="tr-TR" sz="2000" dirty="0"/>
              <a:t> özel ambalaj ya da özel taşıma araçlarında taşınması gerekmektedir. Özel taşıma araçlarıyla taşınması gereken et, süt, meyve ve sebze işleyen işletmeler hammaddeye yakın olmalıdır. İşletmelerin, hammaddeye yakın olmaları hem hammaddelerin bozulmalarını önleyecek hem de taşıma maliyetlerinin yüksek olmasını engelleyecektir.</a:t>
            </a:r>
          </a:p>
        </p:txBody>
      </p:sp>
    </p:spTree>
    <p:extLst>
      <p:ext uri="{BB962C8B-B14F-4D97-AF65-F5344CB8AC3E}">
        <p14:creationId xmlns:p14="http://schemas.microsoft.com/office/powerpoint/2010/main" val="1577577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E8FA20-8C54-B352-9FB7-9CB9E672A9F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48514EA-CD69-1C0B-84AA-2B649C3E8326}"/>
              </a:ext>
            </a:extLst>
          </p:cNvPr>
          <p:cNvSpPr>
            <a:spLocks noGrp="1"/>
          </p:cNvSpPr>
          <p:nvPr>
            <p:ph type="title"/>
          </p:nvPr>
        </p:nvSpPr>
        <p:spPr>
          <a:xfrm>
            <a:off x="838200" y="365125"/>
            <a:ext cx="10515600" cy="1325563"/>
          </a:xfrm>
        </p:spPr>
        <p:txBody>
          <a:bodyPr>
            <a:normAutofit/>
          </a:bodyPr>
          <a:lstStyle/>
          <a:p>
            <a:r>
              <a:rPr lang="tr-TR" sz="5000"/>
              <a:t>Kuruluş Yeri Seçimini Etkileyen Faktörler</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86D6A710-4563-BFF5-9C51-B2559C5EC10A}"/>
              </a:ext>
            </a:extLst>
          </p:cNvPr>
          <p:cNvSpPr>
            <a:spLocks noGrp="1"/>
          </p:cNvSpPr>
          <p:nvPr>
            <p:ph idx="1"/>
          </p:nvPr>
        </p:nvSpPr>
        <p:spPr>
          <a:xfrm>
            <a:off x="838200" y="1929384"/>
            <a:ext cx="10515600" cy="4251960"/>
          </a:xfrm>
        </p:spPr>
        <p:txBody>
          <a:bodyPr>
            <a:normAutofit/>
          </a:bodyPr>
          <a:lstStyle/>
          <a:p>
            <a:r>
              <a:rPr lang="tr-TR" sz="2200" b="1" dirty="0"/>
              <a:t>Pazara Yakınlık: </a:t>
            </a:r>
            <a:r>
              <a:rPr lang="tr-TR" sz="2200" dirty="0"/>
              <a:t>Üretim öncesi hammaddeye yakınlık, işletme için maliyet bakımından ne kadar önemliyse üretim sonrası pazara yakınlık da pazarlama maliyetleri için o kadar önemlidir. İşletmeler kurulurken hedef pazarlarını veya mevcut pazar durumunu dikkate alarak kurulmalıdır. İşletmenin ürettiği ürünleri kısa zamanda müşterilere sunması, müşteri memnuniyetini arttıracaktır. Kısa zamanda ve istediği zaman ürüne ulaşan müşterilerin beklentileri karşılanmış olacaktır.</a:t>
            </a:r>
          </a:p>
          <a:p>
            <a:r>
              <a:rPr lang="tr-TR" sz="2200" b="1" dirty="0"/>
              <a:t>Ulaştırma: </a:t>
            </a:r>
            <a:r>
              <a:rPr lang="tr-TR" sz="2200" dirty="0"/>
              <a:t>İşletmeler için girdilerin üretim sürecine zamanında ulaştırılması, çıktıların müşteriye zamanında ulaştırılması açısından önemlidir. İşletmenin kullanacağı girdilerin, istenen kalite, istenen zaman ve istenen yerde bulundurulması, ulaştırma faaliyeti ile sağlanmaktadır. Ayrıca işletmenin ürün fiyatı ulaşımla doğru orantılıdır. Çünkü işletme ürün fiyatına ulaşım bedelini bir miktar da olsa yansıtmaktadır. Olumsuz ulaşım koşulları, işletmelerin maliyetlerini arttıracağı için işletmeler, ulaşım bakımından kolay ulaşılabilir bir yere kurulmalıdır.</a:t>
            </a:r>
          </a:p>
        </p:txBody>
      </p:sp>
    </p:spTree>
    <p:extLst>
      <p:ext uri="{BB962C8B-B14F-4D97-AF65-F5344CB8AC3E}">
        <p14:creationId xmlns:p14="http://schemas.microsoft.com/office/powerpoint/2010/main" val="65534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9683AA-A8C6-471E-845A-E70720C7A33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54A1166-3216-3C06-966D-DC1EB3638E9B}"/>
              </a:ext>
            </a:extLst>
          </p:cNvPr>
          <p:cNvSpPr>
            <a:spLocks noGrp="1"/>
          </p:cNvSpPr>
          <p:nvPr>
            <p:ph type="title"/>
          </p:nvPr>
        </p:nvSpPr>
        <p:spPr>
          <a:xfrm>
            <a:off x="838200" y="365125"/>
            <a:ext cx="10515600" cy="1325563"/>
          </a:xfrm>
        </p:spPr>
        <p:txBody>
          <a:bodyPr>
            <a:normAutofit/>
          </a:bodyPr>
          <a:lstStyle/>
          <a:p>
            <a:r>
              <a:rPr lang="tr-TR" sz="5000"/>
              <a:t>Kuruluş Yeri Seçimini Etkileyen Faktörler</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9F07BD34-CB08-7D95-6B08-57D7C1917567}"/>
              </a:ext>
            </a:extLst>
          </p:cNvPr>
          <p:cNvSpPr>
            <a:spLocks noGrp="1"/>
          </p:cNvSpPr>
          <p:nvPr>
            <p:ph idx="1"/>
          </p:nvPr>
        </p:nvSpPr>
        <p:spPr>
          <a:xfrm>
            <a:off x="838200" y="1929384"/>
            <a:ext cx="10515600" cy="4251960"/>
          </a:xfrm>
        </p:spPr>
        <p:txBody>
          <a:bodyPr>
            <a:normAutofit/>
          </a:bodyPr>
          <a:lstStyle/>
          <a:p>
            <a:r>
              <a:rPr lang="tr-TR" sz="2000" b="1" dirty="0"/>
              <a:t>İşgücü: </a:t>
            </a:r>
            <a:r>
              <a:rPr lang="tr-TR" sz="2000" dirty="0"/>
              <a:t>Günümüzde işletmeler için en önemli unsur, nitelikli işgücü (çalışanları) bulmaktır. İster üretim işletmesi isterse hizmet işletmesi olsun, her iki işletme türünde de işgücü olmadan üretim veya hizmet yapılamaz. İşletmelerde teknolojiyi, makineleri kullanmak için işgücüne gereksinim vardır. Girişimci, bu sebeplerden dolayı, işletme kuracağı yerde, çalışacak kişiler (işgücü) olup olmadığına da dikkat etmelidir. Eğer işletmenin dış çevresinde ihtiyaç duyulandan daha çok işgücü varsa işletme için gerekli işgücünü bulmak daha kolay olacaktır. Genellikle, işletmeler kârını arttırmayı planladıkları için, işgücünün çok ve ucuz olduğu yerleri tercih etmeye çalışırlar.</a:t>
            </a:r>
          </a:p>
          <a:p>
            <a:r>
              <a:rPr lang="tr-TR" sz="2000" b="1" dirty="0"/>
              <a:t>Enerji ve Su Kaynakları: </a:t>
            </a:r>
            <a:r>
              <a:rPr lang="tr-TR" sz="2000" dirty="0"/>
              <a:t>İşletmelerin kuruluş yerinin seçiminde diğer bir faktör enerji kaynağına yakınlıktır. Özellikle üretim işletmelerinde, üretim için kullanılacak enerji türünün, elektrik, kömür, petrol veya yeşil enerjinin belirlenmesi ve bu karara göre işletmenin yerinin enerji kaynağına yakın kurulması, işletmeye maliyet avantajı sağlayacaktır. İşletme petrol enerjisini kullanacaksa rafinerilere yakın, kömür enerjisini kullanacaksa kömür ocaklarına yakın kurulmalıdır. Böylece, işletmeler enerji taşıma maliyetinden kurtulmuş olurlar.</a:t>
            </a:r>
          </a:p>
        </p:txBody>
      </p:sp>
    </p:spTree>
    <p:extLst>
      <p:ext uri="{BB962C8B-B14F-4D97-AF65-F5344CB8AC3E}">
        <p14:creationId xmlns:p14="http://schemas.microsoft.com/office/powerpoint/2010/main" val="893942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398FBF-CC64-1AF4-E2B6-64BB2E27C28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C7B95BC-3EB6-3A58-33A1-68B8789D65CD}"/>
              </a:ext>
            </a:extLst>
          </p:cNvPr>
          <p:cNvSpPr>
            <a:spLocks noGrp="1"/>
          </p:cNvSpPr>
          <p:nvPr>
            <p:ph type="title"/>
          </p:nvPr>
        </p:nvSpPr>
        <p:spPr>
          <a:xfrm>
            <a:off x="838200" y="365125"/>
            <a:ext cx="10515600" cy="1325563"/>
          </a:xfrm>
        </p:spPr>
        <p:txBody>
          <a:bodyPr>
            <a:normAutofit/>
          </a:bodyPr>
          <a:lstStyle/>
          <a:p>
            <a:r>
              <a:rPr lang="tr-TR" sz="5000"/>
              <a:t>Kuruluş Yeri Seçimini Etkileyen Faktörler</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F4C6298F-9C7C-9EBF-A71C-438065DA922E}"/>
              </a:ext>
            </a:extLst>
          </p:cNvPr>
          <p:cNvSpPr>
            <a:spLocks noGrp="1"/>
          </p:cNvSpPr>
          <p:nvPr>
            <p:ph idx="1"/>
          </p:nvPr>
        </p:nvSpPr>
        <p:spPr>
          <a:xfrm>
            <a:off x="838200" y="1929384"/>
            <a:ext cx="10515600" cy="4251960"/>
          </a:xfrm>
        </p:spPr>
        <p:txBody>
          <a:bodyPr>
            <a:normAutofit/>
          </a:bodyPr>
          <a:lstStyle/>
          <a:p>
            <a:r>
              <a:rPr lang="tr-TR" sz="2000" b="1" dirty="0"/>
              <a:t>İklim Koşulları: </a:t>
            </a:r>
            <a:r>
              <a:rPr lang="tr-TR" sz="2000" dirty="0"/>
              <a:t>İklim koşulları, üretilecek veya işlenecek ürünler üzerinde etkilidir, bu durum özellikle turizm sektöründe yer alan işletmeler için geçerlidir. Örneğin, meyve ve sebzelerin aşırı yağış yüzünden bozulması, olgunlaşmaması, bu ürünleri hammadde olarak kullanan işletmeleri zora sokacaktır. Ya da turistik işletmenin yine iklim değişiklikleri yüzünden, müşterileri azalacaktır. Bu yüzden girişimci kuruluş yeri olarak nemli, sıcak ve çok soğuk bölgeler yerine, iklim koşullarının çalışmalarını pek etkilemeyeceği bölgeleri seçmelidir. Ayrıca, iklimin olumsuz etkilerini gidermek için bir dizi önlem de almak mümkündür. Ancak, alınacak her önlem maliyetleri arttıracaktır.</a:t>
            </a:r>
          </a:p>
          <a:p>
            <a:r>
              <a:rPr lang="tr-TR" sz="2000" b="1" dirty="0"/>
              <a:t>Teşvik ve Sınırlamaları: </a:t>
            </a:r>
            <a:r>
              <a:rPr lang="tr-TR" sz="2000" dirty="0"/>
              <a:t>Her ülkenin geçerli kanunları, kuruluş yeri seçimini doğrudan veya dolaylı olarak etkiler. Hükümetler, ülkenin bölgelerine göre farklı teşvik veya sınırlamalar uygulayabilirler. Hükümetlerin uyguladığı vergi ve harçlar, işletme yeri seçimini etkiler. Bazı bölgeler fazla gelişmediği için devlet tarafından verilen teşvik primleri fazladır. Bu yüzden, girişimci karar vermeden önce fayda maliyet analizi yaparak avantajlı olan yeri tercih etmelidir.</a:t>
            </a:r>
          </a:p>
        </p:txBody>
      </p:sp>
    </p:spTree>
    <p:extLst>
      <p:ext uri="{BB962C8B-B14F-4D97-AF65-F5344CB8AC3E}">
        <p14:creationId xmlns:p14="http://schemas.microsoft.com/office/powerpoint/2010/main" val="673487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6AA0654-0BF5-5206-C7FF-D4BFF3CB9E2D}"/>
              </a:ext>
            </a:extLst>
          </p:cNvPr>
          <p:cNvSpPr>
            <a:spLocks noGrp="1"/>
          </p:cNvSpPr>
          <p:nvPr>
            <p:ph type="title"/>
          </p:nvPr>
        </p:nvSpPr>
        <p:spPr>
          <a:xfrm>
            <a:off x="1156851" y="637762"/>
            <a:ext cx="9888496" cy="900131"/>
          </a:xfrm>
        </p:spPr>
        <p:txBody>
          <a:bodyPr anchor="t">
            <a:normAutofit/>
          </a:bodyPr>
          <a:lstStyle/>
          <a:p>
            <a:r>
              <a:rPr lang="tr-TR" sz="4000">
                <a:solidFill>
                  <a:schemeClr val="bg1"/>
                </a:solidFill>
              </a:rPr>
              <a:t>İŞLETMELERDE BÜYÜME</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a:extLst>
              <a:ext uri="{FF2B5EF4-FFF2-40B4-BE49-F238E27FC236}">
                <a16:creationId xmlns:a16="http://schemas.microsoft.com/office/drawing/2014/main" id="{2459BB9D-A0E0-38D5-0AF4-779133F0622E}"/>
              </a:ext>
            </a:extLst>
          </p:cNvPr>
          <p:cNvSpPr>
            <a:spLocks noGrp="1"/>
          </p:cNvSpPr>
          <p:nvPr>
            <p:ph idx="1"/>
          </p:nvPr>
        </p:nvSpPr>
        <p:spPr>
          <a:xfrm>
            <a:off x="1155548" y="2217343"/>
            <a:ext cx="9880893" cy="3959619"/>
          </a:xfrm>
        </p:spPr>
        <p:txBody>
          <a:bodyPr>
            <a:normAutofit/>
          </a:bodyPr>
          <a:lstStyle/>
          <a:p>
            <a:pPr marL="0" indent="0">
              <a:buNone/>
            </a:pPr>
            <a:r>
              <a:rPr lang="tr-TR" sz="1500" dirty="0"/>
              <a:t>İşletmelerde büyüme, işletmenin kuruluşundan itibaren, yapısını oluşturan maddi ve beşeri unsurlarda oluşan gözlenen ve ölçülebilir değişmeler ve gelişmelerdir. Örneğin, işletmenin çalışanlarının sayısının artması, satışlarının yükselmesi, yeni şubelerinin veya fabrikalarının kurulması, üretim miktarının artması, net kârının yükselmesi, işletmenin büyüdüğünü gösteren göstergelerdir.</a:t>
            </a:r>
          </a:p>
          <a:p>
            <a:pPr marL="0" indent="0">
              <a:buNone/>
            </a:pPr>
            <a:r>
              <a:rPr lang="tr-TR" sz="1500" dirty="0"/>
              <a:t>İşletmelerin Büyüme Nedenleri</a:t>
            </a:r>
          </a:p>
          <a:p>
            <a:r>
              <a:rPr lang="tr-TR" sz="1500" dirty="0"/>
              <a:t>İşletmenin büyüme nedenleri aşağıda belirtilmiştir (Karalar, 2010, s.159):</a:t>
            </a:r>
          </a:p>
          <a:p>
            <a:r>
              <a:rPr lang="tr-TR" sz="1500" dirty="0"/>
              <a:t>İşletmelerin kârlarını arttırmak istemeleri</a:t>
            </a:r>
          </a:p>
          <a:p>
            <a:r>
              <a:rPr lang="tr-TR" sz="1500" dirty="0"/>
              <a:t>Piyasada iyi bir yer edinerek hammaddeye daha kolay ve uygun şartlarda ulaşmak istemeleri</a:t>
            </a:r>
          </a:p>
          <a:p>
            <a:r>
              <a:rPr lang="tr-TR" sz="1500" dirty="0"/>
              <a:t>Büyük işletmelerin yenilikleri takip etmesi ve satın almasının daha kolay olması</a:t>
            </a:r>
          </a:p>
          <a:p>
            <a:r>
              <a:rPr lang="tr-TR" sz="1500" dirty="0"/>
              <a:t>İşletmeler büyüdükçe, iş arayanların veya yöneticilerin de çalışmak istediği, daha fazla tercih edilen işletmeler olmaları</a:t>
            </a:r>
          </a:p>
          <a:p>
            <a:r>
              <a:rPr lang="tr-TR" sz="1500" dirty="0"/>
              <a:t>Büyük işletmelerin, diğer işletmelerle, yerel yönetimle, resmî dairelerle ve medyayla da ilişkilerinin iyi olmasıdır.</a:t>
            </a:r>
          </a:p>
        </p:txBody>
      </p:sp>
    </p:spTree>
    <p:extLst>
      <p:ext uri="{BB962C8B-B14F-4D97-AF65-F5344CB8AC3E}">
        <p14:creationId xmlns:p14="http://schemas.microsoft.com/office/powerpoint/2010/main" val="443453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A7ACD64-6B13-0195-F58C-7CC38BA56113}"/>
              </a:ext>
            </a:extLst>
          </p:cNvPr>
          <p:cNvSpPr>
            <a:spLocks noGrp="1"/>
          </p:cNvSpPr>
          <p:nvPr>
            <p:ph type="title"/>
          </p:nvPr>
        </p:nvSpPr>
        <p:spPr>
          <a:xfrm>
            <a:off x="1371599" y="294538"/>
            <a:ext cx="9895951" cy="1033669"/>
          </a:xfrm>
        </p:spPr>
        <p:txBody>
          <a:bodyPr>
            <a:normAutofit/>
          </a:bodyPr>
          <a:lstStyle/>
          <a:p>
            <a:r>
              <a:rPr lang="tr-TR" sz="4000">
                <a:solidFill>
                  <a:srgbClr val="FFFFFF"/>
                </a:solidFill>
              </a:rPr>
              <a:t>İşletmelerin Büyüme Şekilleri</a:t>
            </a:r>
          </a:p>
        </p:txBody>
      </p:sp>
      <p:sp>
        <p:nvSpPr>
          <p:cNvPr id="3" name="İçerik Yer Tutucusu 2">
            <a:extLst>
              <a:ext uri="{FF2B5EF4-FFF2-40B4-BE49-F238E27FC236}">
                <a16:creationId xmlns:a16="http://schemas.microsoft.com/office/drawing/2014/main" id="{F3C75029-DD19-6414-DF6A-DCBDAC648AA8}"/>
              </a:ext>
            </a:extLst>
          </p:cNvPr>
          <p:cNvSpPr>
            <a:spLocks noGrp="1"/>
          </p:cNvSpPr>
          <p:nvPr>
            <p:ph idx="1"/>
          </p:nvPr>
        </p:nvSpPr>
        <p:spPr>
          <a:xfrm>
            <a:off x="1371599" y="2318197"/>
            <a:ext cx="9724031" cy="3683358"/>
          </a:xfrm>
        </p:spPr>
        <p:txBody>
          <a:bodyPr anchor="ctr">
            <a:normAutofit/>
          </a:bodyPr>
          <a:lstStyle/>
          <a:p>
            <a:r>
              <a:rPr lang="tr-TR" sz="1700" b="1" dirty="0"/>
              <a:t>İçsel Büyüme: </a:t>
            </a:r>
            <a:r>
              <a:rPr lang="tr-TR" sz="1700" dirty="0"/>
              <a:t>İşletmelerin sahip olduğu kaynaklarını kullanarak büyümesidir. İç büyüme borçlanma, yeni sermaye bulma yoluyla gerçekleşir. İşletmelerin borçlanma veya yeni sermaye bulmaları uzun zaman alacağı ve zor olacağı için, dışsal büyümeye göre daha yavaş bir büyümedir. İçsel büyüme yatay veya dikey olmak üzere iki türlü bir büyümedir.</a:t>
            </a:r>
          </a:p>
          <a:p>
            <a:r>
              <a:rPr lang="tr-TR" sz="1700" b="1" dirty="0"/>
              <a:t>Yatay Büyüme: </a:t>
            </a:r>
            <a:r>
              <a:rPr lang="tr-TR" sz="1700" dirty="0"/>
              <a:t>İşletme, kendi pazarı içinde nüfuz ve etkililiğini artırarak genişler. İşletme, genişlemeyi fabrika sayısını arttırarak, yeni şubelerini farklı yerlere açarak gerçekleştirir. Yatay büyüme, pazara nüfuz etme, ürün farklılaştırma ve pazarı farklılaştırma olmak üzere üç farklı strateji ile sağlanabilir.</a:t>
            </a:r>
          </a:p>
          <a:p>
            <a:r>
              <a:rPr lang="tr-TR" sz="1700" b="1" dirty="0"/>
              <a:t>Pazara Nüfuz Etme: </a:t>
            </a:r>
            <a:r>
              <a:rPr lang="tr-TR" sz="1700" dirty="0"/>
              <a:t>Mevcut ürün üretiminde herhangi bir değişiklik yapmadan, mevcut pazarda daha çok satış yapmaya yönelik bir stratejidir. Pazara nüfuz etme, mevcut müşterilerin satın alma miktarını, üretilen ürünün eskime oranını arttırarak ve müşterilere diğer kullanım alanlarını belirterek gerçekleşir. Ayrıca, artan satın almalar için fiyat indirimleri uygulamak suretiyle de pazara nüfuz etme sağlanır. Böylece, işletme yatay büyüme yoluna girmiş olur.</a:t>
            </a:r>
          </a:p>
        </p:txBody>
      </p:sp>
    </p:spTree>
    <p:extLst>
      <p:ext uri="{BB962C8B-B14F-4D97-AF65-F5344CB8AC3E}">
        <p14:creationId xmlns:p14="http://schemas.microsoft.com/office/powerpoint/2010/main" val="3906297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4C5F00-FE64-F62B-DB14-658DEA7A752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731A337-40A0-0F2A-3C47-59AF977DC668}"/>
              </a:ext>
            </a:extLst>
          </p:cNvPr>
          <p:cNvSpPr>
            <a:spLocks noGrp="1"/>
          </p:cNvSpPr>
          <p:nvPr>
            <p:ph type="title"/>
          </p:nvPr>
        </p:nvSpPr>
        <p:spPr>
          <a:xfrm>
            <a:off x="1371599" y="294538"/>
            <a:ext cx="9895951" cy="1033669"/>
          </a:xfrm>
        </p:spPr>
        <p:txBody>
          <a:bodyPr>
            <a:normAutofit/>
          </a:bodyPr>
          <a:lstStyle/>
          <a:p>
            <a:r>
              <a:rPr lang="tr-TR" sz="4000">
                <a:solidFill>
                  <a:srgbClr val="FFFFFF"/>
                </a:solidFill>
              </a:rPr>
              <a:t>İşletmelerin Büyüme Şekilleri</a:t>
            </a:r>
          </a:p>
        </p:txBody>
      </p:sp>
      <p:sp>
        <p:nvSpPr>
          <p:cNvPr id="3" name="İçerik Yer Tutucusu 2">
            <a:extLst>
              <a:ext uri="{FF2B5EF4-FFF2-40B4-BE49-F238E27FC236}">
                <a16:creationId xmlns:a16="http://schemas.microsoft.com/office/drawing/2014/main" id="{CFC86853-5CB5-2C8A-9F88-CEDFE3EE955B}"/>
              </a:ext>
            </a:extLst>
          </p:cNvPr>
          <p:cNvSpPr>
            <a:spLocks noGrp="1"/>
          </p:cNvSpPr>
          <p:nvPr>
            <p:ph idx="1"/>
          </p:nvPr>
        </p:nvSpPr>
        <p:spPr>
          <a:xfrm>
            <a:off x="1371599" y="2318197"/>
            <a:ext cx="9724031" cy="3683358"/>
          </a:xfrm>
        </p:spPr>
        <p:txBody>
          <a:bodyPr anchor="ctr">
            <a:normAutofit/>
          </a:bodyPr>
          <a:lstStyle/>
          <a:p>
            <a:r>
              <a:rPr lang="tr-TR" sz="1700" b="1" dirty="0"/>
              <a:t>Dikey Büyüme: </a:t>
            </a:r>
            <a:r>
              <a:rPr lang="tr-TR" sz="1700" dirty="0"/>
              <a:t>Birbirlerini bütünleyen fakat farklı faaliyetler gerçekleştiren işletmelerin birleşmeleri veya ortak iş yapmalarıdır. Patates cipsi üreten bir işletmenin, patates üreticisiyle anlaşması, dikey büyümeye bir örnektir. Dikey büyümede üretici, ya tedarikçiyle ya da müşteriyle birleşerek büyür. Dikey büyüme, ileri doğru dikey büyüme ve geriye doğru dikey büyüme olmak üzere iki türlüdür.</a:t>
            </a:r>
          </a:p>
          <a:p>
            <a:r>
              <a:rPr lang="tr-TR" sz="1700" b="1" dirty="0"/>
              <a:t>İleri Doğru Dikey Büyüme: </a:t>
            </a:r>
            <a:r>
              <a:rPr lang="tr-TR" sz="1700" dirty="0"/>
              <a:t>İşletmenin, ürünlerinin tüketicilere veya müşterilere ulaştırılmasını sağlamak için pazarlama ve dağıtım kanallarıyla birleşmesidir. El işi yapan birinin, yaptıklarını satmak için dükkân açması; yoğurt, peynir yapan birinin şarküteri açması ileri doğru dikey büyümeye örnektir.</a:t>
            </a:r>
          </a:p>
          <a:p>
            <a:r>
              <a:rPr lang="tr-TR" sz="1700" b="1" dirty="0"/>
              <a:t>Geriye Doğru Dikey Büyüme: </a:t>
            </a:r>
            <a:r>
              <a:rPr lang="tr-TR" sz="1700" dirty="0"/>
              <a:t>İşletmenin ürünlerini başka işletmelerin ürettikleri girdilere bağlı kalmadan, kendisinin üretmeye başlamasıdır. Salça üretimi yapan bir işletmenin, salça üretiminde kullandığı domatesi yetiştirip, salça üretiminde kullanması geriye doğru dikey büyümeye örnektir.</a:t>
            </a:r>
          </a:p>
        </p:txBody>
      </p:sp>
    </p:spTree>
    <p:extLst>
      <p:ext uri="{BB962C8B-B14F-4D97-AF65-F5344CB8AC3E}">
        <p14:creationId xmlns:p14="http://schemas.microsoft.com/office/powerpoint/2010/main" val="3922456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BC532E-37C5-97C7-1853-C14B8B6A3DE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B3A5243-CB35-3E27-4B61-DE5F3A89EBD2}"/>
              </a:ext>
            </a:extLst>
          </p:cNvPr>
          <p:cNvSpPr>
            <a:spLocks noGrp="1"/>
          </p:cNvSpPr>
          <p:nvPr>
            <p:ph type="title"/>
          </p:nvPr>
        </p:nvSpPr>
        <p:spPr>
          <a:xfrm>
            <a:off x="1371599" y="294538"/>
            <a:ext cx="9895951" cy="1033669"/>
          </a:xfrm>
        </p:spPr>
        <p:txBody>
          <a:bodyPr>
            <a:normAutofit/>
          </a:bodyPr>
          <a:lstStyle/>
          <a:p>
            <a:r>
              <a:rPr lang="tr-TR" sz="4000">
                <a:solidFill>
                  <a:srgbClr val="FFFFFF"/>
                </a:solidFill>
              </a:rPr>
              <a:t>İşletmelerin Büyüme Şekilleri</a:t>
            </a:r>
          </a:p>
        </p:txBody>
      </p:sp>
      <p:sp>
        <p:nvSpPr>
          <p:cNvPr id="3" name="İçerik Yer Tutucusu 2">
            <a:extLst>
              <a:ext uri="{FF2B5EF4-FFF2-40B4-BE49-F238E27FC236}">
                <a16:creationId xmlns:a16="http://schemas.microsoft.com/office/drawing/2014/main" id="{EED634CB-42B6-90B7-F424-0E5BD1699A1A}"/>
              </a:ext>
            </a:extLst>
          </p:cNvPr>
          <p:cNvSpPr>
            <a:spLocks noGrp="1"/>
          </p:cNvSpPr>
          <p:nvPr>
            <p:ph idx="1"/>
          </p:nvPr>
        </p:nvSpPr>
        <p:spPr>
          <a:xfrm>
            <a:off x="1371599" y="2318197"/>
            <a:ext cx="9724031" cy="3683358"/>
          </a:xfrm>
        </p:spPr>
        <p:txBody>
          <a:bodyPr anchor="ctr">
            <a:normAutofit/>
          </a:bodyPr>
          <a:lstStyle/>
          <a:p>
            <a:r>
              <a:rPr lang="tr-TR" sz="2000" b="1" dirty="0"/>
              <a:t>Ürün Farklılaştırma: </a:t>
            </a:r>
            <a:r>
              <a:rPr lang="tr-TR" sz="2000" dirty="0"/>
              <a:t>İşletmelerin, mevcut ürünleri üzerinde değişiklikler yaparak, hem rakip ürünlerden daha iyi duruma gelmelerine hem de pazardaki etkililiklerini arttırmalarına yönelik bir stratejidir. İşletme, ürünün kalitesini, tadını, kokusunu, tasarımını veya ambalajını değiştirerek ürünlerini daha cazip hâle getirebilir. İşletme ürün farklılaştırmayla, daha iyi bir marka imajı oluşturur. Bu da işletmenin büyümesine ve pazar payını arttırmasına sebep olur.</a:t>
            </a:r>
          </a:p>
          <a:p>
            <a:r>
              <a:rPr lang="tr-TR" sz="2000" b="1" dirty="0"/>
              <a:t>Pazar Farklılaştırma: </a:t>
            </a:r>
            <a:r>
              <a:rPr lang="tr-TR" sz="2000" dirty="0"/>
              <a:t>Ürünün yeni kullanım alanını bulmak veya müşteri üzerindeki etkisini arttırarak müşteri bağımlılığını sağlamak için tercih edilen müşterileri, ürünü kullanmaya teşvik etmektir.</a:t>
            </a:r>
          </a:p>
        </p:txBody>
      </p:sp>
    </p:spTree>
    <p:extLst>
      <p:ext uri="{BB962C8B-B14F-4D97-AF65-F5344CB8AC3E}">
        <p14:creationId xmlns:p14="http://schemas.microsoft.com/office/powerpoint/2010/main" val="34989364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C22277-73F8-28FC-7686-A8AD4DC40E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50FD2DB-6EB6-0F38-5AFC-FD28D0B9DD7E}"/>
              </a:ext>
            </a:extLst>
          </p:cNvPr>
          <p:cNvSpPr>
            <a:spLocks noGrp="1"/>
          </p:cNvSpPr>
          <p:nvPr>
            <p:ph type="title"/>
          </p:nvPr>
        </p:nvSpPr>
        <p:spPr>
          <a:xfrm>
            <a:off x="1371599" y="294538"/>
            <a:ext cx="9895951" cy="1033669"/>
          </a:xfrm>
        </p:spPr>
        <p:txBody>
          <a:bodyPr>
            <a:normAutofit/>
          </a:bodyPr>
          <a:lstStyle/>
          <a:p>
            <a:r>
              <a:rPr lang="tr-TR" sz="4000">
                <a:solidFill>
                  <a:srgbClr val="FFFFFF"/>
                </a:solidFill>
              </a:rPr>
              <a:t>İşletmelerin Büyüme Şekilleri</a:t>
            </a:r>
          </a:p>
        </p:txBody>
      </p:sp>
      <p:sp>
        <p:nvSpPr>
          <p:cNvPr id="3" name="İçerik Yer Tutucusu 2">
            <a:extLst>
              <a:ext uri="{FF2B5EF4-FFF2-40B4-BE49-F238E27FC236}">
                <a16:creationId xmlns:a16="http://schemas.microsoft.com/office/drawing/2014/main" id="{AF5DA2C0-D2A3-1918-7876-646B9CED61D8}"/>
              </a:ext>
            </a:extLst>
          </p:cNvPr>
          <p:cNvSpPr>
            <a:spLocks noGrp="1"/>
          </p:cNvSpPr>
          <p:nvPr>
            <p:ph idx="1"/>
          </p:nvPr>
        </p:nvSpPr>
        <p:spPr>
          <a:xfrm>
            <a:off x="1371599" y="2318197"/>
            <a:ext cx="9724031" cy="3683358"/>
          </a:xfrm>
        </p:spPr>
        <p:txBody>
          <a:bodyPr anchor="ctr">
            <a:normAutofit/>
          </a:bodyPr>
          <a:lstStyle/>
          <a:p>
            <a:pPr marL="0" indent="0">
              <a:buNone/>
            </a:pPr>
            <a:r>
              <a:rPr lang="tr-TR" sz="2000" b="1" dirty="0"/>
              <a:t>Dışsal Büyüme:</a:t>
            </a:r>
          </a:p>
          <a:p>
            <a:r>
              <a:rPr lang="tr-TR" sz="2000" dirty="0"/>
              <a:t>Dışsal büyüme; işletmelerin, başka işletmelerin tamamını veya bir bölümünü ele geçirerek ya da yönetimlerini kontrol altına alarak büyümeleridir. İşletmelerin kendi kaynakları büyümek için yeterli olmadığında, dış büyüme yoluna giderler. Dışsal büyüme, dikey birleşme, yatay birleşme ve çapraz birleşme olmak üzere üç şekilde gerçekleşir.</a:t>
            </a:r>
          </a:p>
        </p:txBody>
      </p:sp>
    </p:spTree>
    <p:extLst>
      <p:ext uri="{BB962C8B-B14F-4D97-AF65-F5344CB8AC3E}">
        <p14:creationId xmlns:p14="http://schemas.microsoft.com/office/powerpoint/2010/main" val="2208685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08E6BE-1F02-B156-1468-33E0D22C58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F0C5F4D-B58E-2562-F694-4FF576B8DD8C}"/>
              </a:ext>
            </a:extLst>
          </p:cNvPr>
          <p:cNvSpPr>
            <a:spLocks noGrp="1"/>
          </p:cNvSpPr>
          <p:nvPr>
            <p:ph type="title"/>
          </p:nvPr>
        </p:nvSpPr>
        <p:spPr>
          <a:xfrm>
            <a:off x="1371599" y="294538"/>
            <a:ext cx="9895951" cy="1033669"/>
          </a:xfrm>
        </p:spPr>
        <p:txBody>
          <a:bodyPr>
            <a:normAutofit/>
          </a:bodyPr>
          <a:lstStyle/>
          <a:p>
            <a:r>
              <a:rPr lang="tr-TR" sz="4000">
                <a:solidFill>
                  <a:srgbClr val="FFFFFF"/>
                </a:solidFill>
              </a:rPr>
              <a:t>İşletmelerin Büyüme Şekilleri</a:t>
            </a:r>
          </a:p>
        </p:txBody>
      </p:sp>
      <p:sp>
        <p:nvSpPr>
          <p:cNvPr id="3" name="İçerik Yer Tutucusu 2">
            <a:extLst>
              <a:ext uri="{FF2B5EF4-FFF2-40B4-BE49-F238E27FC236}">
                <a16:creationId xmlns:a16="http://schemas.microsoft.com/office/drawing/2014/main" id="{0BB78566-8E43-442D-ECD0-483178B01872}"/>
              </a:ext>
            </a:extLst>
          </p:cNvPr>
          <p:cNvSpPr>
            <a:spLocks noGrp="1"/>
          </p:cNvSpPr>
          <p:nvPr>
            <p:ph idx="1"/>
          </p:nvPr>
        </p:nvSpPr>
        <p:spPr>
          <a:xfrm>
            <a:off x="1371599" y="2318197"/>
            <a:ext cx="9724031" cy="3683358"/>
          </a:xfrm>
        </p:spPr>
        <p:txBody>
          <a:bodyPr anchor="ctr">
            <a:normAutofit/>
          </a:bodyPr>
          <a:lstStyle/>
          <a:p>
            <a:r>
              <a:rPr lang="tr-TR" sz="1600" b="1" dirty="0"/>
              <a:t>Dikey Birleşme:</a:t>
            </a:r>
            <a:r>
              <a:rPr lang="tr-TR" sz="1600" dirty="0"/>
              <a:t> İşletmeler rekabet güçlerini arttırmak amacıyla dikey birleşme yoluna giderler. Günümüzde işletmeler ürünlerini üretirken ürünlerin müşterilere dağıtılması veya pazarlama işlerini başka işletmeler yerine getirmektedir. Dikey birleşmede, işletme dağıtım veya pazarlama işletmesiyle birleşir. Böylece dağıtım veya pazarlama maliyetlerinde de azalma olur. Hazır giyim üreticisi işletmenin, kumaş işletmesiyle birleşmesi veya mobilya yapan bir işletmenin, bir mobilya mağazasıyla birleşmesi dikey birleşmeye örnektir.</a:t>
            </a:r>
          </a:p>
          <a:p>
            <a:r>
              <a:rPr lang="tr-TR" sz="1600" b="1" dirty="0"/>
              <a:t>Yatay Birleşme: </a:t>
            </a:r>
            <a:r>
              <a:rPr lang="tr-TR" sz="1600" dirty="0"/>
              <a:t>İşletmelerin, kendileriyle aynı sektörde yer alan işletmelerle birleşmesi yatay birleşme olarak tanımlanır. Bu tür birleşmede, birleşen işletmeden birinin kontrolü diğer işletmeye geçer. İşletmeler rekabet ortamında hayatta kalabilmek, maliyetlerini azaltabilmek, üretimi arttırabilmek için yatay birleşme yolunu tercih ederler. İki bankanın birleşmesi yatay birleşmeye örnektir.</a:t>
            </a:r>
          </a:p>
          <a:p>
            <a:r>
              <a:rPr lang="tr-TR" sz="1600" b="1" dirty="0"/>
              <a:t>Çapraz Birleşme: </a:t>
            </a:r>
            <a:r>
              <a:rPr lang="tr-TR" sz="1600" dirty="0"/>
              <a:t>Dikey ve yatay birleşmeler aynı sektördeki işletmelerle gerçekleştirilirken çapraz birleşmede farklı sektördeki işletmelerle birleşme olmaktadır. Otomobil üretimi yapan işletmenin, yemek fabrikasıyla birleşmesi çapraz birleşmeye örnektir. Çapraz birleşmeler farklı alanlarda işlerin birleşmesi olduğu için, rekabet ortamında işletmeye farklılık katar. Sadece kendi sektöründe üretim yapmakla kalmaz, ayrıca başka sektörlerde de üretim yaparak kendini diğer işletmelerden farklı hâle getirir.</a:t>
            </a:r>
          </a:p>
        </p:txBody>
      </p:sp>
    </p:spTree>
    <p:extLst>
      <p:ext uri="{BB962C8B-B14F-4D97-AF65-F5344CB8AC3E}">
        <p14:creationId xmlns:p14="http://schemas.microsoft.com/office/powerpoint/2010/main" val="2229250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596C16-B2CC-04C9-1DBA-37A779E092B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8904485E-2CDA-55E3-345E-28C8D6E185DE}"/>
              </a:ext>
            </a:extLst>
          </p:cNvPr>
          <p:cNvSpPr>
            <a:spLocks noGrp="1"/>
          </p:cNvSpPr>
          <p:nvPr>
            <p:ph type="title"/>
          </p:nvPr>
        </p:nvSpPr>
        <p:spPr>
          <a:xfrm>
            <a:off x="826396" y="586855"/>
            <a:ext cx="4230100" cy="3387497"/>
          </a:xfrm>
        </p:spPr>
        <p:txBody>
          <a:bodyPr anchor="b">
            <a:normAutofit/>
          </a:bodyPr>
          <a:lstStyle/>
          <a:p>
            <a:pPr algn="r"/>
            <a:r>
              <a:rPr lang="tr-TR" sz="4000">
                <a:solidFill>
                  <a:srgbClr val="FFFFFF"/>
                </a:solidFill>
              </a:rPr>
              <a:t>BÜYÜMENİN GETİRDİĞİ YARARLAR VE SAKINCALAR</a:t>
            </a:r>
          </a:p>
        </p:txBody>
      </p:sp>
      <p:sp>
        <p:nvSpPr>
          <p:cNvPr id="3" name="İçerik Yer Tutucusu 2">
            <a:extLst>
              <a:ext uri="{FF2B5EF4-FFF2-40B4-BE49-F238E27FC236}">
                <a16:creationId xmlns:a16="http://schemas.microsoft.com/office/drawing/2014/main" id="{BED1895D-974F-1C12-437E-DFA962920E44}"/>
              </a:ext>
            </a:extLst>
          </p:cNvPr>
          <p:cNvSpPr>
            <a:spLocks noGrp="1"/>
          </p:cNvSpPr>
          <p:nvPr>
            <p:ph idx="1"/>
          </p:nvPr>
        </p:nvSpPr>
        <p:spPr>
          <a:xfrm>
            <a:off x="6503158" y="649480"/>
            <a:ext cx="4862447" cy="5546047"/>
          </a:xfrm>
        </p:spPr>
        <p:txBody>
          <a:bodyPr anchor="ctr">
            <a:normAutofit/>
          </a:bodyPr>
          <a:lstStyle/>
          <a:p>
            <a:pPr marL="0" indent="0">
              <a:buNone/>
            </a:pPr>
            <a:r>
              <a:rPr lang="tr-TR" sz="1700" b="1" dirty="0"/>
              <a:t>Büyümenin Yararları: </a:t>
            </a:r>
            <a:r>
              <a:rPr lang="tr-TR" sz="1700" dirty="0"/>
              <a:t>Büyümenin işletmeye kazandırdığı yararlar, pazarda yer edinme, tanınmak ve marka olmak, Ar-Ge farkı, uluslararası ilişkiler ve uzmanlıktır.</a:t>
            </a:r>
          </a:p>
          <a:p>
            <a:r>
              <a:rPr lang="tr-TR" sz="1700" b="1" dirty="0"/>
              <a:t>Pazarda Yer Edinme: </a:t>
            </a:r>
            <a:r>
              <a:rPr lang="tr-TR" sz="1700" dirty="0"/>
              <a:t>Özellikle büyük işletmelerin yüksek pazar payına sahip oldukları bir gerçektir. Yüksek pazar payına sahip olan işletmelerin de birçok avantajları vardır. Büyük işletmeler, pazarda iyi bir yerde oldukları için, tedarikçiler büyük ölçekli işletmeleri diğer ölçekteki işletmelere göre daha çok tercih ederler. Tercih sebepleriyse büyük ölçekli işletmelerin, yüksek oranda malzeme alışverişi yapmalarıdır. Bu da tedarikçilerin daha büyük miktarda satış yapması demektir. Bu durum iki yönlü bir yarar sağlar, tedarikçilerin satışları artarken, büyük işletmeler de tek bir tedarikçiden büyük miktarda malzeme satın aldıkları için, fiyat indirimi alabilirler. Buda başlı başına bir rekabet unsurudur. Büyük işletmeler, fiyatı belirleyici özelliğe sahip olduğu için pazarda egemenlik sağlamaları çok kolay olur.</a:t>
            </a:r>
          </a:p>
        </p:txBody>
      </p:sp>
    </p:spTree>
    <p:extLst>
      <p:ext uri="{BB962C8B-B14F-4D97-AF65-F5344CB8AC3E}">
        <p14:creationId xmlns:p14="http://schemas.microsoft.com/office/powerpoint/2010/main" val="3553663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7F4E72F7-8BFB-A440-87AB-034343664626}"/>
              </a:ext>
            </a:extLst>
          </p:cNvPr>
          <p:cNvSpPr>
            <a:spLocks noGrp="1"/>
          </p:cNvSpPr>
          <p:nvPr>
            <p:ph type="title"/>
          </p:nvPr>
        </p:nvSpPr>
        <p:spPr>
          <a:xfrm>
            <a:off x="826396" y="586855"/>
            <a:ext cx="4230100" cy="3387497"/>
          </a:xfrm>
        </p:spPr>
        <p:txBody>
          <a:bodyPr anchor="b">
            <a:normAutofit/>
          </a:bodyPr>
          <a:lstStyle/>
          <a:p>
            <a:pPr algn="r"/>
            <a:r>
              <a:rPr lang="tr-TR" sz="4000">
                <a:solidFill>
                  <a:srgbClr val="FFFFFF"/>
                </a:solidFill>
              </a:rPr>
              <a:t>BÜYÜMENİN GETİRDİĞİ YARARLAR VE SAKINCALAR</a:t>
            </a:r>
          </a:p>
        </p:txBody>
      </p:sp>
      <p:sp>
        <p:nvSpPr>
          <p:cNvPr id="3" name="İçerik Yer Tutucusu 2">
            <a:extLst>
              <a:ext uri="{FF2B5EF4-FFF2-40B4-BE49-F238E27FC236}">
                <a16:creationId xmlns:a16="http://schemas.microsoft.com/office/drawing/2014/main" id="{7CC4AF49-BD0A-CFC7-5AEC-E17147C56812}"/>
              </a:ext>
            </a:extLst>
          </p:cNvPr>
          <p:cNvSpPr>
            <a:spLocks noGrp="1"/>
          </p:cNvSpPr>
          <p:nvPr>
            <p:ph idx="1"/>
          </p:nvPr>
        </p:nvSpPr>
        <p:spPr>
          <a:xfrm>
            <a:off x="6503158" y="649480"/>
            <a:ext cx="4862447" cy="5546047"/>
          </a:xfrm>
        </p:spPr>
        <p:txBody>
          <a:bodyPr anchor="ctr">
            <a:normAutofit/>
          </a:bodyPr>
          <a:lstStyle/>
          <a:p>
            <a:r>
              <a:rPr lang="tr-TR" sz="1700" b="1" dirty="0"/>
              <a:t>Tanınmak ve Marka Olmak: </a:t>
            </a:r>
            <a:r>
              <a:rPr lang="tr-TR" sz="1700" dirty="0"/>
              <a:t>Günümüzde marka olmak, tanınmak, bir işletme için çok önemli bir rekabet unsurudur. Tanınan ve marka olan işletmenin ürününün satışları daha yüksek olacağı için, kârı artacaktır. Ancak, tanınan ve marka olan bir işletme olabilmek için, işletmenin büyük bir işletme olması gereklidir çünkü büyük işletmelerin tanınması ve pazarda isim yapması daha kolay olmaktadır.</a:t>
            </a:r>
          </a:p>
          <a:p>
            <a:r>
              <a:rPr lang="tr-TR" sz="1700" b="1" dirty="0"/>
              <a:t>Ar-ge Farkı: </a:t>
            </a:r>
            <a:r>
              <a:rPr lang="tr-TR" sz="1700" dirty="0"/>
              <a:t>İşletmeler, rakiplerinden farklı olabilmek ve böylece pazarda iyi bir yer edinebilmek için, araştırma ve geliştirme (Ar-ge) faaliyetlerine önem verirler. Ancak, küçük işletmeler araştırma ve geliştirme maliyetlerinin yüksek olması yüzünden, bu tür faaliyetleri yapmazlar. Genellikle büyük işletmeler, bu tür faaliyetler için dönem başında belli bir bütçe ayırırlar. Ar-ge sayesinde işletmeler hem piyasayı ellerinde tutmayı başarırlar hem de tüketiciler için ürün geliştirebilirler.</a:t>
            </a:r>
          </a:p>
        </p:txBody>
      </p:sp>
    </p:spTree>
    <p:extLst>
      <p:ext uri="{BB962C8B-B14F-4D97-AF65-F5344CB8AC3E}">
        <p14:creationId xmlns:p14="http://schemas.microsoft.com/office/powerpoint/2010/main" val="1795557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205CD6-4645-84BD-3239-1C22A61D5B2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3ACDF77C-07E0-95B2-25CB-AD2D3C0A3F6B}"/>
              </a:ext>
            </a:extLst>
          </p:cNvPr>
          <p:cNvSpPr>
            <a:spLocks noGrp="1"/>
          </p:cNvSpPr>
          <p:nvPr>
            <p:ph type="title"/>
          </p:nvPr>
        </p:nvSpPr>
        <p:spPr>
          <a:xfrm>
            <a:off x="826396" y="586855"/>
            <a:ext cx="4230100" cy="3387497"/>
          </a:xfrm>
        </p:spPr>
        <p:txBody>
          <a:bodyPr anchor="b">
            <a:normAutofit/>
          </a:bodyPr>
          <a:lstStyle/>
          <a:p>
            <a:pPr algn="r"/>
            <a:r>
              <a:rPr lang="tr-TR" sz="4000">
                <a:solidFill>
                  <a:srgbClr val="FFFFFF"/>
                </a:solidFill>
              </a:rPr>
              <a:t>BÜYÜMENİN GETİRDİĞİ YARARLAR VE SAKINCALAR</a:t>
            </a:r>
          </a:p>
        </p:txBody>
      </p:sp>
      <p:sp>
        <p:nvSpPr>
          <p:cNvPr id="3" name="İçerik Yer Tutucusu 2">
            <a:extLst>
              <a:ext uri="{FF2B5EF4-FFF2-40B4-BE49-F238E27FC236}">
                <a16:creationId xmlns:a16="http://schemas.microsoft.com/office/drawing/2014/main" id="{A62A83A9-79B2-B892-5B86-E7F34E99760F}"/>
              </a:ext>
            </a:extLst>
          </p:cNvPr>
          <p:cNvSpPr>
            <a:spLocks noGrp="1"/>
          </p:cNvSpPr>
          <p:nvPr>
            <p:ph idx="1"/>
          </p:nvPr>
        </p:nvSpPr>
        <p:spPr>
          <a:xfrm>
            <a:off x="6503158" y="649480"/>
            <a:ext cx="4862447" cy="5546047"/>
          </a:xfrm>
        </p:spPr>
        <p:txBody>
          <a:bodyPr anchor="ctr">
            <a:normAutofit/>
          </a:bodyPr>
          <a:lstStyle/>
          <a:p>
            <a:r>
              <a:rPr lang="tr-TR" sz="1400" b="1" dirty="0"/>
              <a:t>Uluslararası Bağlantılar: </a:t>
            </a:r>
            <a:r>
              <a:rPr lang="tr-TR" sz="1400" dirty="0"/>
              <a:t>Büyük işletmeler hem sermaye hem de tanınma bakımından küçük işletmelere göre daha üstündür. Bu yüzden, bir işletmeyle iş ortaklığı yapmak isteyen yabancı sermayeli işletmeler, büyük işletmelerle iş ortaklığı kurmayı tercih edecektir. Çünkü büyük işletmeler, küçük işletmelere göre daha başarılı şekilde, uluslararası işletmelerin ürünlerini üretebilir veya satabilirler ve uluslararası bağlantıları da küçük işletmelere göre daha kolay şekilde ve çok sayıda kurabilirler. Bu yüzden ortaklıklar daha çok büyük işletmelerle yapılır.</a:t>
            </a:r>
          </a:p>
          <a:p>
            <a:r>
              <a:rPr lang="tr-TR" sz="1400" b="1" dirty="0"/>
              <a:t>Uzmanlık:</a:t>
            </a:r>
            <a:r>
              <a:rPr lang="tr-TR" sz="1400" dirty="0"/>
              <a:t> Büyük işletmelerde, her faaliyete ait ayrı bir birim yer alır. İşletmenin bütün faaliyetleri bu birimlerce yerine getirilmektedir. Üretim birimi, üretim konularıyla ilgilenirken insan kaynakları birimi, işe alma, işten çıkarma, terfi gibi faaliyetleri gerçekleştirmektedir. Bu birimlerde alanında uzman kişiler görev almaktadır. Çalışanlar işe alınırken uzmanlık alanına göre bu birimlerde görevlendirilmektedir. Küçük işletmelerde her iş için ayrı uzmanlar çalıştırmak yerine, var olan çalışanlar çok farklı nitelikteki işleri yerine getirmektedir. Bu yüzden de küçük işletmelerde bazen işler zamanında ve doğru bir şekilde gerçekleşmemektedir.</a:t>
            </a:r>
          </a:p>
        </p:txBody>
      </p:sp>
    </p:spTree>
    <p:extLst>
      <p:ext uri="{BB962C8B-B14F-4D97-AF65-F5344CB8AC3E}">
        <p14:creationId xmlns:p14="http://schemas.microsoft.com/office/powerpoint/2010/main" val="3038420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D41495-86C9-3651-1634-6CED8CAE905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35C109F4-EB93-5A3E-9D44-7CEE1F608F58}"/>
              </a:ext>
            </a:extLst>
          </p:cNvPr>
          <p:cNvSpPr>
            <a:spLocks noGrp="1"/>
          </p:cNvSpPr>
          <p:nvPr>
            <p:ph type="title"/>
          </p:nvPr>
        </p:nvSpPr>
        <p:spPr>
          <a:xfrm>
            <a:off x="826396" y="586855"/>
            <a:ext cx="4230100" cy="3387497"/>
          </a:xfrm>
        </p:spPr>
        <p:txBody>
          <a:bodyPr anchor="b">
            <a:normAutofit/>
          </a:bodyPr>
          <a:lstStyle/>
          <a:p>
            <a:pPr algn="r"/>
            <a:r>
              <a:rPr lang="tr-TR" sz="4000">
                <a:solidFill>
                  <a:srgbClr val="FFFFFF"/>
                </a:solidFill>
              </a:rPr>
              <a:t>BÜYÜMENİN GETİRDİĞİ YARARLAR VE SAKINCALAR</a:t>
            </a:r>
          </a:p>
        </p:txBody>
      </p:sp>
      <p:sp>
        <p:nvSpPr>
          <p:cNvPr id="3" name="İçerik Yer Tutucusu 2">
            <a:extLst>
              <a:ext uri="{FF2B5EF4-FFF2-40B4-BE49-F238E27FC236}">
                <a16:creationId xmlns:a16="http://schemas.microsoft.com/office/drawing/2014/main" id="{C584CA8F-5F8E-0024-C467-C6C5A3A42DAD}"/>
              </a:ext>
            </a:extLst>
          </p:cNvPr>
          <p:cNvSpPr>
            <a:spLocks noGrp="1"/>
          </p:cNvSpPr>
          <p:nvPr>
            <p:ph idx="1"/>
          </p:nvPr>
        </p:nvSpPr>
        <p:spPr>
          <a:xfrm>
            <a:off x="6503158" y="649480"/>
            <a:ext cx="4862447" cy="5546047"/>
          </a:xfrm>
        </p:spPr>
        <p:txBody>
          <a:bodyPr anchor="ctr">
            <a:normAutofit/>
          </a:bodyPr>
          <a:lstStyle/>
          <a:p>
            <a:pPr marL="0" indent="0">
              <a:buNone/>
            </a:pPr>
            <a:r>
              <a:rPr lang="tr-TR" sz="2000" b="1" dirty="0"/>
              <a:t>Büyümenin Sakıncaları: </a:t>
            </a:r>
            <a:r>
              <a:rPr lang="tr-TR" sz="2000" dirty="0"/>
              <a:t>Büyümenin sakıncaları, bürokrasi, çalışanların olumsuz etkilenmesi ve koordinasyon sorunudur.</a:t>
            </a:r>
          </a:p>
          <a:p>
            <a:r>
              <a:rPr lang="tr-TR" sz="2000" b="1" dirty="0"/>
              <a:t>Bürokrasi:</a:t>
            </a:r>
            <a:r>
              <a:rPr lang="tr-TR" sz="2000" dirty="0"/>
              <a:t> İşletmeler büyüdükçe yapılacak işler ve bürokrasi artar. Bürokrasi, bir toplumda tabandan yukarıya çıktıkça daralan bir yapı içinde örgütlenmiş olan, kişisel olmayan genel kurallar ve işleyiş ilkelerine göre çalışan sistem ve kurallar grubudur(Türk Dil Kurumu web sitesi). </a:t>
            </a:r>
          </a:p>
        </p:txBody>
      </p:sp>
    </p:spTree>
    <p:extLst>
      <p:ext uri="{BB962C8B-B14F-4D97-AF65-F5344CB8AC3E}">
        <p14:creationId xmlns:p14="http://schemas.microsoft.com/office/powerpoint/2010/main" val="5137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A2F5A9-3D84-DBD7-16A9-3BA97F71607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58EF63C0-9F76-3670-778C-023649BAED55}"/>
              </a:ext>
            </a:extLst>
          </p:cNvPr>
          <p:cNvSpPr>
            <a:spLocks noGrp="1"/>
          </p:cNvSpPr>
          <p:nvPr>
            <p:ph type="title"/>
          </p:nvPr>
        </p:nvSpPr>
        <p:spPr>
          <a:xfrm>
            <a:off x="826396" y="586855"/>
            <a:ext cx="4230100" cy="3387497"/>
          </a:xfrm>
        </p:spPr>
        <p:txBody>
          <a:bodyPr anchor="b">
            <a:normAutofit/>
          </a:bodyPr>
          <a:lstStyle/>
          <a:p>
            <a:pPr algn="r"/>
            <a:r>
              <a:rPr lang="tr-TR" sz="4000">
                <a:solidFill>
                  <a:srgbClr val="FFFFFF"/>
                </a:solidFill>
              </a:rPr>
              <a:t>BÜYÜMENİN GETİRDİĞİ YARARLAR VE SAKINCALAR</a:t>
            </a:r>
          </a:p>
        </p:txBody>
      </p:sp>
      <p:sp>
        <p:nvSpPr>
          <p:cNvPr id="3" name="İçerik Yer Tutucusu 2">
            <a:extLst>
              <a:ext uri="{FF2B5EF4-FFF2-40B4-BE49-F238E27FC236}">
                <a16:creationId xmlns:a16="http://schemas.microsoft.com/office/drawing/2014/main" id="{251C03A9-D7F7-1E2E-E835-2064FE9925C0}"/>
              </a:ext>
            </a:extLst>
          </p:cNvPr>
          <p:cNvSpPr>
            <a:spLocks noGrp="1"/>
          </p:cNvSpPr>
          <p:nvPr>
            <p:ph idx="1"/>
          </p:nvPr>
        </p:nvSpPr>
        <p:spPr>
          <a:xfrm>
            <a:off x="6503158" y="649480"/>
            <a:ext cx="4862447" cy="5546047"/>
          </a:xfrm>
        </p:spPr>
        <p:txBody>
          <a:bodyPr anchor="ctr">
            <a:normAutofit/>
          </a:bodyPr>
          <a:lstStyle/>
          <a:p>
            <a:r>
              <a:rPr lang="tr-TR" sz="1700" b="1"/>
              <a:t>Çalışanların Olumsuz Etkilenmesi: </a:t>
            </a:r>
            <a:r>
              <a:rPr lang="tr-TR" sz="1700"/>
              <a:t>İşletme büyüdükçe çalışan sayısı da artar. İşletmede aynı işi yapan veya aynı statüde olan çalışan sayısı arttıkça işi yerine getirmeme veya sonuçlandırmamalarartar. Yeni çalışanlar işe alındıkça eski çalışanlar işten çıkartılacaklarını ya da yeteneklerinin göz ardı edileceğini düşünmeye başlarlar. Bu olumsuz düşünceler,çalışanların motivasyonunu azaltır, işletme faaliyetleri aksamaya başlar ve genelanlamda verim düşer.</a:t>
            </a:r>
          </a:p>
          <a:p>
            <a:r>
              <a:rPr lang="tr-TR" sz="1700" b="1"/>
              <a:t>Koordinasyon Sorunu: </a:t>
            </a:r>
            <a:r>
              <a:rPr lang="tr-TR" sz="1700"/>
              <a:t>İşletmenin büyümesiyle, müşteri ve çalışan sayısı artacaktır. Dış yapıya ve müşterilere gösterilen önem ile işletme çalışanlarına verilen değer birbirini dengelemelidir.Çalışanlar ile çevrenin iletişimi kopmadan sürmelidir. Çalışanlar çevre ile süreklietkileşim içerisinde olursa değişim ihtiyacını daha kolay fark edecek ve anlayacaktır</a:t>
            </a:r>
          </a:p>
        </p:txBody>
      </p:sp>
    </p:spTree>
    <p:extLst>
      <p:ext uri="{BB962C8B-B14F-4D97-AF65-F5344CB8AC3E}">
        <p14:creationId xmlns:p14="http://schemas.microsoft.com/office/powerpoint/2010/main" val="15556808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3E7DF55C-ED86-537F-C5F1-85521343CF6C}"/>
              </a:ext>
            </a:extLst>
          </p:cNvPr>
          <p:cNvSpPr>
            <a:spLocks noGrp="1"/>
          </p:cNvSpPr>
          <p:nvPr>
            <p:ph type="title"/>
          </p:nvPr>
        </p:nvSpPr>
        <p:spPr>
          <a:xfrm>
            <a:off x="1383564" y="348865"/>
            <a:ext cx="9718111" cy="1576446"/>
          </a:xfrm>
        </p:spPr>
        <p:txBody>
          <a:bodyPr anchor="ctr">
            <a:normAutofit/>
          </a:bodyPr>
          <a:lstStyle/>
          <a:p>
            <a:r>
              <a:rPr lang="tr-TR" sz="4000">
                <a:solidFill>
                  <a:srgbClr val="FFFFFF"/>
                </a:solidFill>
              </a:rPr>
              <a:t>Büyümenin Sakıncaları ile Başa Çıkma Yöntemleri</a:t>
            </a:r>
          </a:p>
        </p:txBody>
      </p:sp>
      <p:graphicFrame>
        <p:nvGraphicFramePr>
          <p:cNvPr id="25" name="İçerik Yer Tutucusu 2">
            <a:extLst>
              <a:ext uri="{FF2B5EF4-FFF2-40B4-BE49-F238E27FC236}">
                <a16:creationId xmlns:a16="http://schemas.microsoft.com/office/drawing/2014/main" id="{B82A2E5E-F2F2-E019-6F49-172A2A7743E7}"/>
              </a:ext>
            </a:extLst>
          </p:cNvPr>
          <p:cNvGraphicFramePr>
            <a:graphicFrameLocks noGrp="1"/>
          </p:cNvGraphicFramePr>
          <p:nvPr>
            <p:ph idx="1"/>
            <p:extLst>
              <p:ext uri="{D42A27DB-BD31-4B8C-83A1-F6EECF244321}">
                <p14:modId xmlns:p14="http://schemas.microsoft.com/office/powerpoint/2010/main" val="329940301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71538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Başlık 1">
            <a:extLst>
              <a:ext uri="{FF2B5EF4-FFF2-40B4-BE49-F238E27FC236}">
                <a16:creationId xmlns:a16="http://schemas.microsoft.com/office/drawing/2014/main" id="{A1453374-F9F2-2A31-F1DD-544E99E50B94}"/>
              </a:ext>
            </a:extLst>
          </p:cNvPr>
          <p:cNvSpPr>
            <a:spLocks noGrp="1"/>
          </p:cNvSpPr>
          <p:nvPr>
            <p:ph type="title"/>
          </p:nvPr>
        </p:nvSpPr>
        <p:spPr>
          <a:xfrm>
            <a:off x="786385" y="841248"/>
            <a:ext cx="5129600" cy="5340097"/>
          </a:xfrm>
        </p:spPr>
        <p:txBody>
          <a:bodyPr anchor="ctr">
            <a:normAutofit/>
          </a:bodyPr>
          <a:lstStyle/>
          <a:p>
            <a:r>
              <a:rPr lang="tr-TR" sz="4800">
                <a:solidFill>
                  <a:schemeClr val="bg1"/>
                </a:solidFill>
              </a:rPr>
              <a:t>HUKUKİ VE EKONOMİK AÇIDAN BİRLEŞMELER</a:t>
            </a:r>
          </a:p>
        </p:txBody>
      </p:sp>
      <p:sp>
        <p:nvSpPr>
          <p:cNvPr id="3" name="İçerik Yer Tutucusu 2">
            <a:extLst>
              <a:ext uri="{FF2B5EF4-FFF2-40B4-BE49-F238E27FC236}">
                <a16:creationId xmlns:a16="http://schemas.microsoft.com/office/drawing/2014/main" id="{CFA0FBAF-58C3-DB94-245F-979B3369383A}"/>
              </a:ext>
            </a:extLst>
          </p:cNvPr>
          <p:cNvSpPr>
            <a:spLocks noGrp="1"/>
          </p:cNvSpPr>
          <p:nvPr>
            <p:ph idx="1"/>
          </p:nvPr>
        </p:nvSpPr>
        <p:spPr>
          <a:xfrm>
            <a:off x="6464410" y="841247"/>
            <a:ext cx="5086048" cy="5839772"/>
          </a:xfrm>
        </p:spPr>
        <p:txBody>
          <a:bodyPr anchor="ctr">
            <a:normAutofit/>
          </a:bodyPr>
          <a:lstStyle/>
          <a:p>
            <a:r>
              <a:rPr lang="tr-TR" sz="1400" b="1" dirty="0">
                <a:solidFill>
                  <a:schemeClr val="tx2"/>
                </a:solidFill>
              </a:rPr>
              <a:t>Centilmenlik Anlaşması: </a:t>
            </a:r>
            <a:r>
              <a:rPr lang="tr-TR" sz="1400" dirty="0">
                <a:solidFill>
                  <a:schemeClr val="tx2"/>
                </a:solidFill>
              </a:rPr>
              <a:t>Birkaç işletmenin aralarında iş birliği kurmak, rekabeti sınırlandırmak ve sektördeki durumlarını güçlendirmek amacıyla yaptıkları anlaşmadır. Bu anlaşma türünde, işletmenin hukuki yapısı korunur. Genellikle sözlü bir anlaşmadır ve yazıya dökülmez. Örneğin, günümüzde bankalar arasında yoğun bir rekabet yaşanmaktadır. Ancak, bankalar aralarında faizi oranlarını belirli düzeyde tutacaklarına dair bir centilmenlik anlaşması yapabilirler.</a:t>
            </a:r>
          </a:p>
          <a:p>
            <a:r>
              <a:rPr lang="tr-TR" sz="1400" b="1" dirty="0">
                <a:solidFill>
                  <a:schemeClr val="tx2"/>
                </a:solidFill>
              </a:rPr>
              <a:t>Konsorsiyum:</a:t>
            </a:r>
            <a:r>
              <a:rPr lang="tr-TR" sz="1400" dirty="0">
                <a:solidFill>
                  <a:schemeClr val="tx2"/>
                </a:solidFill>
              </a:rPr>
              <a:t> Belirli bir işin yapılması için kurulan birlik veya ortaklık anlamına gelmektedir. Bu ortaklıklar farklı veya aynı sektörde yer alan ulusal veya uluslararası işletmelerle kurulabilir. Bu tür birleşmede, yeni işletme kurma zorunluluğu yoktur. İşletmeler genellikle proje için konsorsiyuma giderler. Yasal ve ekonomik bağımsızlığını zedelemeksizin işletmeler belirli bir işi gerçekleştirmek için anlaşarak geçici bir süre iş birliği yaparlar. Büyük ölçekli köprü, yol, baraj, büyük sanayi kuruluşları gibi önemli yatırımları gerçekleştirmek için, birden çok işletme yada banka aralarında anlaşarak bir konsorsiyum oluşturarak, teknik ve finansal olanaklarını birleştirirler. Söz konusu yatırımlar tamamlandığında konsorsiyum adı verilen anlaşma da kendiliğinden sona erer.</a:t>
            </a:r>
          </a:p>
        </p:txBody>
      </p:sp>
    </p:spTree>
    <p:extLst>
      <p:ext uri="{BB962C8B-B14F-4D97-AF65-F5344CB8AC3E}">
        <p14:creationId xmlns:p14="http://schemas.microsoft.com/office/powerpoint/2010/main" val="1598971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91410E-E20B-EF9B-D82C-A0B5853271CB}"/>
            </a:ext>
          </a:extLst>
        </p:cNvPr>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Başlık 1">
            <a:extLst>
              <a:ext uri="{FF2B5EF4-FFF2-40B4-BE49-F238E27FC236}">
                <a16:creationId xmlns:a16="http://schemas.microsoft.com/office/drawing/2014/main" id="{C828427F-6E49-D768-E98E-93513624D869}"/>
              </a:ext>
            </a:extLst>
          </p:cNvPr>
          <p:cNvSpPr>
            <a:spLocks noGrp="1"/>
          </p:cNvSpPr>
          <p:nvPr>
            <p:ph type="title"/>
          </p:nvPr>
        </p:nvSpPr>
        <p:spPr>
          <a:xfrm>
            <a:off x="786385" y="841248"/>
            <a:ext cx="5129600" cy="5340097"/>
          </a:xfrm>
        </p:spPr>
        <p:txBody>
          <a:bodyPr anchor="ctr">
            <a:normAutofit/>
          </a:bodyPr>
          <a:lstStyle/>
          <a:p>
            <a:r>
              <a:rPr lang="tr-TR" sz="4800">
                <a:solidFill>
                  <a:schemeClr val="bg1"/>
                </a:solidFill>
              </a:rPr>
              <a:t>HUKUKİ VE EKONOMİK AÇIDAN BİRLEŞMELER</a:t>
            </a:r>
          </a:p>
        </p:txBody>
      </p:sp>
      <p:sp>
        <p:nvSpPr>
          <p:cNvPr id="3" name="İçerik Yer Tutucusu 2">
            <a:extLst>
              <a:ext uri="{FF2B5EF4-FFF2-40B4-BE49-F238E27FC236}">
                <a16:creationId xmlns:a16="http://schemas.microsoft.com/office/drawing/2014/main" id="{005EE2EB-A3A5-1ED3-077D-930EC470AB3A}"/>
              </a:ext>
            </a:extLst>
          </p:cNvPr>
          <p:cNvSpPr>
            <a:spLocks noGrp="1"/>
          </p:cNvSpPr>
          <p:nvPr>
            <p:ph idx="1"/>
          </p:nvPr>
        </p:nvSpPr>
        <p:spPr>
          <a:xfrm>
            <a:off x="6464410" y="841247"/>
            <a:ext cx="4484536" cy="5340097"/>
          </a:xfrm>
        </p:spPr>
        <p:txBody>
          <a:bodyPr anchor="ctr">
            <a:normAutofit/>
          </a:bodyPr>
          <a:lstStyle/>
          <a:p>
            <a:r>
              <a:rPr lang="tr-TR" sz="1500" b="1" dirty="0">
                <a:solidFill>
                  <a:schemeClr val="tx2"/>
                </a:solidFill>
              </a:rPr>
              <a:t>Kartel:</a:t>
            </a:r>
            <a:r>
              <a:rPr lang="tr-TR" sz="1500" dirty="0">
                <a:solidFill>
                  <a:schemeClr val="tx2"/>
                </a:solidFill>
              </a:rPr>
              <a:t> Kartel, aynı sektörde ve aynı işi yapan iki veya daha fazla işletmenin, hukuki bağımsızlıklarını yitirmeden yaptıkları anlaşmalardır. İşletmeler bu tür anlaşmayı, rekabeti azaltmak veya ortadan kaldırmak için yaparlar. Kartel anlaşması; miktar, fiyat, pazarlama ve satın alma kartelleri olmak üzere dört türlüdür.</a:t>
            </a:r>
          </a:p>
          <a:p>
            <a:r>
              <a:rPr lang="tr-TR" sz="1500" b="1" dirty="0">
                <a:solidFill>
                  <a:schemeClr val="tx2"/>
                </a:solidFill>
              </a:rPr>
              <a:t>Miktar Kartelleri:</a:t>
            </a:r>
            <a:r>
              <a:rPr lang="tr-TR" sz="1500" dirty="0">
                <a:solidFill>
                  <a:schemeClr val="tx2"/>
                </a:solidFill>
              </a:rPr>
              <a:t> Kartel anlaşması yapan işletmeler ürettikleri ürünün fiyatının düşmesini engellemek için, üretim miktarına karar verirler ve belirledikleri miktarda üretim yaparlar.</a:t>
            </a:r>
          </a:p>
          <a:p>
            <a:r>
              <a:rPr lang="tr-TR" sz="1500" b="1" dirty="0">
                <a:solidFill>
                  <a:schemeClr val="tx2"/>
                </a:solidFill>
              </a:rPr>
              <a:t>Fiyat Kartelleri: </a:t>
            </a:r>
            <a:r>
              <a:rPr lang="tr-TR" sz="1500" dirty="0">
                <a:solidFill>
                  <a:schemeClr val="tx2"/>
                </a:solidFill>
              </a:rPr>
              <a:t>Serbest piyasada, ürünlerin fiyatları farklı farklı olabilmektedir. Bu yüzden işletmeler fiyat kartel anlaşması yaparak ürün fiyatını belirler ve böylece haksız rekabeti önlerler. </a:t>
            </a:r>
            <a:r>
              <a:rPr lang="tr-TR" sz="1500" dirty="0" err="1">
                <a:solidFill>
                  <a:schemeClr val="tx2"/>
                </a:solidFill>
              </a:rPr>
              <a:t>Demirçelik</a:t>
            </a:r>
            <a:r>
              <a:rPr lang="tr-TR" sz="1500" dirty="0">
                <a:solidFill>
                  <a:schemeClr val="tx2"/>
                </a:solidFill>
              </a:rPr>
              <a:t> fabrikalarının kendi aralarında anlaşarak ürettikleri demir veya çeliğin satış fiyatlarında anlaşmaları ve piyasaya tek fiyattan sürmeleri fiyat kartel anlaşmasına bir örnektir.</a:t>
            </a:r>
          </a:p>
        </p:txBody>
      </p:sp>
    </p:spTree>
    <p:extLst>
      <p:ext uri="{BB962C8B-B14F-4D97-AF65-F5344CB8AC3E}">
        <p14:creationId xmlns:p14="http://schemas.microsoft.com/office/powerpoint/2010/main" val="432752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6DD6A4-1E6C-A1EE-C16B-1C87F44014BB}"/>
            </a:ext>
          </a:extLst>
        </p:cNvPr>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Başlık 1">
            <a:extLst>
              <a:ext uri="{FF2B5EF4-FFF2-40B4-BE49-F238E27FC236}">
                <a16:creationId xmlns:a16="http://schemas.microsoft.com/office/drawing/2014/main" id="{0C0EA9C2-FEDD-9A7A-33F5-05383AE0202A}"/>
              </a:ext>
            </a:extLst>
          </p:cNvPr>
          <p:cNvSpPr>
            <a:spLocks noGrp="1"/>
          </p:cNvSpPr>
          <p:nvPr>
            <p:ph type="title"/>
          </p:nvPr>
        </p:nvSpPr>
        <p:spPr>
          <a:xfrm>
            <a:off x="786385" y="841248"/>
            <a:ext cx="5129600" cy="5340097"/>
          </a:xfrm>
        </p:spPr>
        <p:txBody>
          <a:bodyPr anchor="ctr">
            <a:normAutofit/>
          </a:bodyPr>
          <a:lstStyle/>
          <a:p>
            <a:r>
              <a:rPr lang="tr-TR" sz="4800">
                <a:solidFill>
                  <a:schemeClr val="bg1"/>
                </a:solidFill>
              </a:rPr>
              <a:t>HUKUKİ VE EKONOMİK AÇIDAN BİRLEŞMELER</a:t>
            </a:r>
          </a:p>
        </p:txBody>
      </p:sp>
      <p:sp>
        <p:nvSpPr>
          <p:cNvPr id="3" name="İçerik Yer Tutucusu 2">
            <a:extLst>
              <a:ext uri="{FF2B5EF4-FFF2-40B4-BE49-F238E27FC236}">
                <a16:creationId xmlns:a16="http://schemas.microsoft.com/office/drawing/2014/main" id="{7012148B-9B7B-259D-B853-DA5CB9F4E7FB}"/>
              </a:ext>
            </a:extLst>
          </p:cNvPr>
          <p:cNvSpPr>
            <a:spLocks noGrp="1"/>
          </p:cNvSpPr>
          <p:nvPr>
            <p:ph idx="1"/>
          </p:nvPr>
        </p:nvSpPr>
        <p:spPr>
          <a:xfrm>
            <a:off x="6464410" y="841247"/>
            <a:ext cx="5086048" cy="5574301"/>
          </a:xfrm>
        </p:spPr>
        <p:txBody>
          <a:bodyPr anchor="ctr">
            <a:normAutofit/>
          </a:bodyPr>
          <a:lstStyle/>
          <a:p>
            <a:r>
              <a:rPr lang="tr-TR" sz="1300" b="1" dirty="0">
                <a:solidFill>
                  <a:schemeClr val="tx2"/>
                </a:solidFill>
              </a:rPr>
              <a:t>Pazarlama Kartelleri: </a:t>
            </a:r>
            <a:r>
              <a:rPr lang="tr-TR" sz="1300" dirty="0">
                <a:solidFill>
                  <a:schemeClr val="tx2"/>
                </a:solidFill>
              </a:rPr>
              <a:t>Günümüzde pazarlama, işletmelerin ürün tanıtmaları ve satışları için büyük önem taşımaktadır. Bu yüzden işletmeler pazarlamaya yönelirler. Bazen pazarlama işini işletmeler kendi imkânlarıyla yapamazlar ve dışarıdan bir işletmeyle anlaşırlar. Ancak, piyasada pazarlama alanında çok fazla uzman işletme bulunmaktadır. Bu pazarlama işletmeleri arasından hem güvenilir hem de iyi olanı seçmek, işletme için önemlidir. Yanlış bir seçim, işletmenin mevcut durumunu daha da kötü bir duruma getirecektir. Pazarlama kartelinde, işletmeler ürünlerini bir tek işletme aracılığıyla satmak için anlaşırlar. Bu anlaşmayla, işletmeler hem sektörde satış işini gerçekleştirecek güvenli bir işletmeye kavuşurlar hem de ürünlerinin pazarlamasını gerçekleştirerek satışlarında artış sağlarlar. Pazarlama kartelleri içinde, pazarlama bölgesi kartelleri yer almaktadır. Günümüzde birçok işletme, piyasada kendine yer edinebilmek veya bulunduğu konumu koruyabilmek için çaba sarf etmektedir. Ancak, bu günden güne zor hâle gelmektedir. Çünkü ürettikleri ürünün aynısı ya da benzeri piyasada yer almaktadır. Bu sebepten dolayı, işletmeler pazarlama bölgesi karteli anlaşması yaparak ürünlerinin satılacağı pazarı aralarında belirlerler. Böylece işletmeler ürünlerini daha kolay ve istedikleri fiyattan satabilirler. Anlaşma yapan işletmeler, belirlenen bölgelerden başka bölgelere satış yapamazlar.</a:t>
            </a:r>
          </a:p>
        </p:txBody>
      </p:sp>
    </p:spTree>
    <p:extLst>
      <p:ext uri="{BB962C8B-B14F-4D97-AF65-F5344CB8AC3E}">
        <p14:creationId xmlns:p14="http://schemas.microsoft.com/office/powerpoint/2010/main" val="1862678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F6CE52-0406-2BC3-3C99-1BFFD9BD5B93}"/>
            </a:ext>
          </a:extLst>
        </p:cNvPr>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Başlık 1">
            <a:extLst>
              <a:ext uri="{FF2B5EF4-FFF2-40B4-BE49-F238E27FC236}">
                <a16:creationId xmlns:a16="http://schemas.microsoft.com/office/drawing/2014/main" id="{6E4B08BE-7F79-B1EC-6670-1C3D467B03F8}"/>
              </a:ext>
            </a:extLst>
          </p:cNvPr>
          <p:cNvSpPr>
            <a:spLocks noGrp="1"/>
          </p:cNvSpPr>
          <p:nvPr>
            <p:ph type="title"/>
          </p:nvPr>
        </p:nvSpPr>
        <p:spPr>
          <a:xfrm>
            <a:off x="786385" y="841248"/>
            <a:ext cx="5129600" cy="5340097"/>
          </a:xfrm>
        </p:spPr>
        <p:txBody>
          <a:bodyPr anchor="ctr">
            <a:normAutofit/>
          </a:bodyPr>
          <a:lstStyle/>
          <a:p>
            <a:r>
              <a:rPr lang="tr-TR" sz="4800">
                <a:solidFill>
                  <a:schemeClr val="bg1"/>
                </a:solidFill>
              </a:rPr>
              <a:t>HUKUKİ VE EKONOMİK AÇIDAN BİRLEŞMELER</a:t>
            </a:r>
          </a:p>
        </p:txBody>
      </p:sp>
      <p:sp>
        <p:nvSpPr>
          <p:cNvPr id="3" name="İçerik Yer Tutucusu 2">
            <a:extLst>
              <a:ext uri="{FF2B5EF4-FFF2-40B4-BE49-F238E27FC236}">
                <a16:creationId xmlns:a16="http://schemas.microsoft.com/office/drawing/2014/main" id="{9E8B9428-0613-23BA-CB84-3D2EF85A9BF1}"/>
              </a:ext>
            </a:extLst>
          </p:cNvPr>
          <p:cNvSpPr>
            <a:spLocks noGrp="1"/>
          </p:cNvSpPr>
          <p:nvPr>
            <p:ph idx="1"/>
          </p:nvPr>
        </p:nvSpPr>
        <p:spPr>
          <a:xfrm>
            <a:off x="6464410" y="841247"/>
            <a:ext cx="4484536" cy="5340097"/>
          </a:xfrm>
        </p:spPr>
        <p:txBody>
          <a:bodyPr anchor="ctr">
            <a:normAutofit/>
          </a:bodyPr>
          <a:lstStyle/>
          <a:p>
            <a:r>
              <a:rPr lang="tr-TR" sz="1300" b="1" dirty="0">
                <a:solidFill>
                  <a:schemeClr val="tx2"/>
                </a:solidFill>
              </a:rPr>
              <a:t>Satın Alma Kartelleri: </a:t>
            </a:r>
            <a:r>
              <a:rPr lang="tr-TR" sz="1300" dirty="0">
                <a:solidFill>
                  <a:schemeClr val="tx2"/>
                </a:solidFill>
              </a:rPr>
              <a:t>Bu tür karteller, aynı hammaddeyi kullanan işletmeler arasında yapılır. Burada amaç, işletmeler arasında satın almadaki rekabeti önlemek ve üretim girdilerini tek elden satın almaktır. Satın alma kartelleri, üreticilerin mallarını düşük fiyatla almak amacını güttüklerinden, kartel türleri arasında en zararlı olanıdır.</a:t>
            </a:r>
          </a:p>
          <a:p>
            <a:r>
              <a:rPr lang="tr-TR" sz="1300" b="1" dirty="0" err="1">
                <a:solidFill>
                  <a:schemeClr val="tx2"/>
                </a:solidFill>
              </a:rPr>
              <a:t>Konsern</a:t>
            </a:r>
            <a:r>
              <a:rPr lang="tr-TR" sz="1300" b="1" dirty="0">
                <a:solidFill>
                  <a:schemeClr val="tx2"/>
                </a:solidFill>
              </a:rPr>
              <a:t>:</a:t>
            </a:r>
            <a:r>
              <a:rPr lang="tr-TR" sz="1300" dirty="0">
                <a:solidFill>
                  <a:schemeClr val="tx2"/>
                </a:solidFill>
              </a:rPr>
              <a:t>  </a:t>
            </a:r>
            <a:r>
              <a:rPr lang="tr-TR" sz="1300" dirty="0" err="1">
                <a:solidFill>
                  <a:schemeClr val="tx2"/>
                </a:solidFill>
              </a:rPr>
              <a:t>Konsern</a:t>
            </a:r>
            <a:r>
              <a:rPr lang="tr-TR" sz="1300" dirty="0">
                <a:solidFill>
                  <a:schemeClr val="tx2"/>
                </a:solidFill>
              </a:rPr>
              <a:t>, aynı iş kolunda çalışan az sayıda işletmenin bir araya gelmesinden oluşur ve işletmeler karteldeki gibi kârlarını artırmayı amaçlar. Ancak buradaki işletmelerin sayısı, kartele girenlerden daha az olur ve birbirleriyle çok daha sıkı işbirliğine girerler. </a:t>
            </a:r>
            <a:r>
              <a:rPr lang="tr-TR" sz="1300" dirty="0" err="1">
                <a:solidFill>
                  <a:schemeClr val="tx2"/>
                </a:solidFill>
              </a:rPr>
              <a:t>Konserne</a:t>
            </a:r>
            <a:r>
              <a:rPr lang="tr-TR" sz="1300" dirty="0">
                <a:solidFill>
                  <a:schemeClr val="tx2"/>
                </a:solidFill>
              </a:rPr>
              <a:t> giren işletmelerin finansal ve örgüt yapılarında değişiklikler yapılarak rekabete daha elverişli duruma getirilir. </a:t>
            </a:r>
            <a:r>
              <a:rPr lang="tr-TR" sz="1300" dirty="0" err="1">
                <a:solidFill>
                  <a:schemeClr val="tx2"/>
                </a:solidFill>
              </a:rPr>
              <a:t>Konsern</a:t>
            </a:r>
            <a:r>
              <a:rPr lang="tr-TR" sz="1300" dirty="0">
                <a:solidFill>
                  <a:schemeClr val="tx2"/>
                </a:solidFill>
              </a:rPr>
              <a:t> üyeleri arasında bir iş birliği yapılır ve işletmeler ekonomik bağımsızlıklarını büyük ölçüde kaybederler ancak yasal bağımsızlıklarını korurlar.</a:t>
            </a:r>
          </a:p>
          <a:p>
            <a:r>
              <a:rPr lang="tr-TR" sz="1300" b="1" dirty="0">
                <a:solidFill>
                  <a:schemeClr val="tx2"/>
                </a:solidFill>
              </a:rPr>
              <a:t>Tröst: </a:t>
            </a:r>
            <a:r>
              <a:rPr lang="tr-TR" sz="1300" dirty="0">
                <a:solidFill>
                  <a:schemeClr val="tx2"/>
                </a:solidFill>
              </a:rPr>
              <a:t>İşletmeler, bu birleşme türünde gerek yasal gerekse ekonomik özgürlüklerini kaybederler. İlk kez ABD’de ortaya çıkıp gelişmiştir, günümüzde az kullanılan işlet-meler arası bir birleşme şeklidir. Tröst, iki veya daha fazla işletmenin tekelci güç oluşturmak amacıyla hukuki bağımsızlıklarını yitirerek sermaye ve yönetimlerini birleştirmeleridir. Bu tür birleşmeler tekelleşmeye yol açtığı için birçok ülkede yasaklanmıştır.</a:t>
            </a:r>
          </a:p>
        </p:txBody>
      </p:sp>
    </p:spTree>
    <p:extLst>
      <p:ext uri="{BB962C8B-B14F-4D97-AF65-F5344CB8AC3E}">
        <p14:creationId xmlns:p14="http://schemas.microsoft.com/office/powerpoint/2010/main" val="3459228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462064-DEE8-B06D-A97B-A39D8C1FCA96}"/>
            </a:ext>
          </a:extLst>
        </p:cNvPr>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Başlık 1">
            <a:extLst>
              <a:ext uri="{FF2B5EF4-FFF2-40B4-BE49-F238E27FC236}">
                <a16:creationId xmlns:a16="http://schemas.microsoft.com/office/drawing/2014/main" id="{2367ABD8-B049-BA75-7E1F-08551880E685}"/>
              </a:ext>
            </a:extLst>
          </p:cNvPr>
          <p:cNvSpPr>
            <a:spLocks noGrp="1"/>
          </p:cNvSpPr>
          <p:nvPr>
            <p:ph type="title"/>
          </p:nvPr>
        </p:nvSpPr>
        <p:spPr>
          <a:xfrm>
            <a:off x="786385" y="841248"/>
            <a:ext cx="5129600" cy="5340097"/>
          </a:xfrm>
        </p:spPr>
        <p:txBody>
          <a:bodyPr anchor="ctr">
            <a:normAutofit/>
          </a:bodyPr>
          <a:lstStyle/>
          <a:p>
            <a:r>
              <a:rPr lang="tr-TR" sz="4800">
                <a:solidFill>
                  <a:schemeClr val="bg1"/>
                </a:solidFill>
              </a:rPr>
              <a:t>HUKUKİ VE EKONOMİK AÇIDAN BİRLEŞMELER</a:t>
            </a:r>
          </a:p>
        </p:txBody>
      </p:sp>
      <p:sp>
        <p:nvSpPr>
          <p:cNvPr id="3" name="İçerik Yer Tutucusu 2">
            <a:extLst>
              <a:ext uri="{FF2B5EF4-FFF2-40B4-BE49-F238E27FC236}">
                <a16:creationId xmlns:a16="http://schemas.microsoft.com/office/drawing/2014/main" id="{A07B9A0D-70E1-0142-CD01-02624B66729D}"/>
              </a:ext>
            </a:extLst>
          </p:cNvPr>
          <p:cNvSpPr>
            <a:spLocks noGrp="1"/>
          </p:cNvSpPr>
          <p:nvPr>
            <p:ph idx="1"/>
          </p:nvPr>
        </p:nvSpPr>
        <p:spPr>
          <a:xfrm>
            <a:off x="6464410" y="841247"/>
            <a:ext cx="5086048" cy="5686553"/>
          </a:xfrm>
        </p:spPr>
        <p:txBody>
          <a:bodyPr anchor="ctr">
            <a:normAutofit/>
          </a:bodyPr>
          <a:lstStyle/>
          <a:p>
            <a:pPr marL="0" indent="0">
              <a:buNone/>
            </a:pPr>
            <a:r>
              <a:rPr lang="tr-TR" sz="1600" b="1" dirty="0">
                <a:solidFill>
                  <a:schemeClr val="tx2"/>
                </a:solidFill>
              </a:rPr>
              <a:t>Holding</a:t>
            </a:r>
            <a:r>
              <a:rPr lang="tr-TR" sz="1600" dirty="0">
                <a:solidFill>
                  <a:schemeClr val="tx2"/>
                </a:solidFill>
              </a:rPr>
              <a:t>:</a:t>
            </a:r>
          </a:p>
          <a:p>
            <a:r>
              <a:rPr lang="tr-TR" sz="1600" dirty="0">
                <a:solidFill>
                  <a:schemeClr val="tx2"/>
                </a:solidFill>
              </a:rPr>
              <a:t>Holding, bir şirketin başka şirketlerin hisse (pay) senetlerinin büyük bir bölümü-nü (% 50’den fazlasını) satın alarak onların yönetim ve denetimini ele geçirmesiyle oluşan şirketler grubudur. Örneğin bir A şirketi B, C, D ve E gibi şirketlerin sahip oldukları hisse senetlerinin büyük bir bölümünü satın almakla bu şirketlerin yönetimini ele geçirir. Bu durumda A, B, C, D, ve E gibi tüm şirketlerin oluşturduğu topluluğa “holding” yada “grup” adı verilir. Burada A şirketine holdingin “ana şirketi”, diğerlerine ise “bağlı şirketler” denir. Holdingler anonim şirket biçimlerinde oluşmaktadırlar. Holdingi oluşturan tüm şirket veya işletmeler yasal açıdan varlıklarını ve görünüşlerini korurlar. Fakat ekonomik bağımsızlıklarını zayıflatmış veya yitirmiş sayılırlar. Zira ana şirket, bağlı şirketlerin yönetimini ele geçirdiğinden bu şirketlerin her türlü politika ve stratejilerini saptar ve yönlendirir. Holdingler, genellikle, aynı üretim dalında veya birbirleriyle ilişkisi olan konularda çalışan işletmelerin hisse senetlerinin büyük bir bölümünü ele geçirerek piyasada tekel yaratmak amacıyla kurulurlar. </a:t>
            </a:r>
          </a:p>
        </p:txBody>
      </p:sp>
    </p:spTree>
    <p:extLst>
      <p:ext uri="{BB962C8B-B14F-4D97-AF65-F5344CB8AC3E}">
        <p14:creationId xmlns:p14="http://schemas.microsoft.com/office/powerpoint/2010/main" val="2175159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C44AA9-CB36-FFD3-B6DD-6E87BB2AAEB6}"/>
            </a:ext>
          </a:extLst>
        </p:cNvPr>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Başlık 1">
            <a:extLst>
              <a:ext uri="{FF2B5EF4-FFF2-40B4-BE49-F238E27FC236}">
                <a16:creationId xmlns:a16="http://schemas.microsoft.com/office/drawing/2014/main" id="{08A64D05-BC11-E5A4-94E7-E12787F146EE}"/>
              </a:ext>
            </a:extLst>
          </p:cNvPr>
          <p:cNvSpPr>
            <a:spLocks noGrp="1"/>
          </p:cNvSpPr>
          <p:nvPr>
            <p:ph type="title"/>
          </p:nvPr>
        </p:nvSpPr>
        <p:spPr>
          <a:xfrm>
            <a:off x="786385" y="841248"/>
            <a:ext cx="5129600" cy="5340097"/>
          </a:xfrm>
        </p:spPr>
        <p:txBody>
          <a:bodyPr anchor="ctr">
            <a:normAutofit/>
          </a:bodyPr>
          <a:lstStyle/>
          <a:p>
            <a:r>
              <a:rPr lang="tr-TR" sz="4800">
                <a:solidFill>
                  <a:schemeClr val="bg1"/>
                </a:solidFill>
              </a:rPr>
              <a:t>HUKUKİ VE EKONOMİK AÇIDAN BİRLEŞMELER</a:t>
            </a:r>
          </a:p>
        </p:txBody>
      </p:sp>
      <p:sp>
        <p:nvSpPr>
          <p:cNvPr id="3" name="İçerik Yer Tutucusu 2">
            <a:extLst>
              <a:ext uri="{FF2B5EF4-FFF2-40B4-BE49-F238E27FC236}">
                <a16:creationId xmlns:a16="http://schemas.microsoft.com/office/drawing/2014/main" id="{B6D95698-591E-157E-A6E2-74A2D20E83CF}"/>
              </a:ext>
            </a:extLst>
          </p:cNvPr>
          <p:cNvSpPr>
            <a:spLocks noGrp="1"/>
          </p:cNvSpPr>
          <p:nvPr>
            <p:ph idx="1"/>
          </p:nvPr>
        </p:nvSpPr>
        <p:spPr>
          <a:xfrm>
            <a:off x="6464410" y="841247"/>
            <a:ext cx="4484536" cy="5340097"/>
          </a:xfrm>
        </p:spPr>
        <p:txBody>
          <a:bodyPr anchor="ctr">
            <a:normAutofit/>
          </a:bodyPr>
          <a:lstStyle/>
          <a:p>
            <a:r>
              <a:rPr lang="tr-TR" sz="1800" b="1" dirty="0" err="1">
                <a:solidFill>
                  <a:schemeClr val="tx2"/>
                </a:solidFill>
              </a:rPr>
              <a:t>Merger</a:t>
            </a:r>
            <a:r>
              <a:rPr lang="tr-TR" sz="1800" b="1" dirty="0">
                <a:solidFill>
                  <a:schemeClr val="tx2"/>
                </a:solidFill>
              </a:rPr>
              <a:t> (Tam Birleşme):</a:t>
            </a:r>
          </a:p>
          <a:p>
            <a:r>
              <a:rPr lang="tr-TR" sz="1800" dirty="0">
                <a:solidFill>
                  <a:schemeClr val="tx2"/>
                </a:solidFill>
              </a:rPr>
              <a:t>Tam birleşme (İngilizce </a:t>
            </a:r>
            <a:r>
              <a:rPr lang="tr-TR" sz="1800" dirty="0" err="1">
                <a:solidFill>
                  <a:schemeClr val="tx2"/>
                </a:solidFill>
              </a:rPr>
              <a:t>Merger</a:t>
            </a:r>
            <a:r>
              <a:rPr lang="tr-TR" sz="1800" dirty="0">
                <a:solidFill>
                  <a:schemeClr val="tx2"/>
                </a:solidFill>
              </a:rPr>
              <a:t>), iki veya daha fazla işletmenin tek işletme hâline gelmesi durumudur. Bir işletme, başka bir işletmeyi satın alıp kendi bünyesine katabileceği gibi, her iki işletmenin yeni bir işletme olarak ortaya çıkması da olasıdır. İki küçük işletmenin birleşip, tek büyük işletme olması veya iki büyük işletmenin birleşerek dev bir işletme hâline gelmesi iş yaşamında sık rastlanan bir durumdur. Bu tür birleşmede satın alan işletme, satın aldığı işletmenin tüm borçlarını öder. Satın alınan işletmenin tüm hukuki varlığı sona erer ve yönetim artık satın alındığı işletmeye geçer.</a:t>
            </a:r>
          </a:p>
        </p:txBody>
      </p:sp>
    </p:spTree>
    <p:extLst>
      <p:ext uri="{BB962C8B-B14F-4D97-AF65-F5344CB8AC3E}">
        <p14:creationId xmlns:p14="http://schemas.microsoft.com/office/powerpoint/2010/main" val="15583211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Başlık 1">
            <a:extLst>
              <a:ext uri="{FF2B5EF4-FFF2-40B4-BE49-F238E27FC236}">
                <a16:creationId xmlns:a16="http://schemas.microsoft.com/office/drawing/2014/main" id="{786ED5CF-E258-C5B3-DCD3-115299D3F77C}"/>
              </a:ext>
            </a:extLst>
          </p:cNvPr>
          <p:cNvSpPr>
            <a:spLocks noGrp="1"/>
          </p:cNvSpPr>
          <p:nvPr>
            <p:ph type="title"/>
          </p:nvPr>
        </p:nvSpPr>
        <p:spPr>
          <a:xfrm>
            <a:off x="1188069" y="381935"/>
            <a:ext cx="4008583" cy="5974414"/>
          </a:xfrm>
        </p:spPr>
        <p:txBody>
          <a:bodyPr anchor="ctr">
            <a:normAutofit/>
          </a:bodyPr>
          <a:lstStyle/>
          <a:p>
            <a:r>
              <a:rPr lang="tr-TR" sz="5600">
                <a:solidFill>
                  <a:srgbClr val="FFFFFF"/>
                </a:solidFill>
              </a:rPr>
              <a:t>İşletmelerde Küçülme</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İçerik Yer Tutucusu 2">
            <a:extLst>
              <a:ext uri="{FF2B5EF4-FFF2-40B4-BE49-F238E27FC236}">
                <a16:creationId xmlns:a16="http://schemas.microsoft.com/office/drawing/2014/main" id="{5CA04E2B-6E8D-D59C-C0D3-509134618EFF}"/>
              </a:ext>
            </a:extLst>
          </p:cNvPr>
          <p:cNvSpPr>
            <a:spLocks noGrp="1"/>
          </p:cNvSpPr>
          <p:nvPr>
            <p:ph idx="1"/>
          </p:nvPr>
        </p:nvSpPr>
        <p:spPr>
          <a:xfrm>
            <a:off x="6297233" y="518400"/>
            <a:ext cx="4771607" cy="5837949"/>
          </a:xfrm>
        </p:spPr>
        <p:txBody>
          <a:bodyPr anchor="ctr">
            <a:normAutofit/>
          </a:bodyPr>
          <a:lstStyle/>
          <a:p>
            <a:pPr marL="0" indent="0">
              <a:buNone/>
            </a:pPr>
            <a:r>
              <a:rPr lang="tr-TR" sz="1800" dirty="0">
                <a:solidFill>
                  <a:schemeClr val="tx1">
                    <a:alpha val="80000"/>
                  </a:schemeClr>
                </a:solidFill>
              </a:rPr>
              <a:t>Günümüzde işletmeler, küreselleşme ve hızlı teknolojik gelişmelere ayak uydurabilmek için, az hiyerarşiye sahip ve değişime kolay uyum sağlayan yapılara yönelmektedir. İşletmeler küçülmeye bazı nedenler yüzünden karar verir. Bu nedenler şunlardır:</a:t>
            </a:r>
          </a:p>
          <a:p>
            <a:pPr marL="0" indent="0">
              <a:buNone/>
            </a:pPr>
            <a:r>
              <a:rPr lang="tr-TR" sz="1800" dirty="0">
                <a:solidFill>
                  <a:schemeClr val="tx1">
                    <a:alpha val="80000"/>
                  </a:schemeClr>
                </a:solidFill>
              </a:rPr>
              <a:t>• İşletmedeki maliyetleri düşürmek</a:t>
            </a:r>
          </a:p>
          <a:p>
            <a:pPr marL="0" indent="0">
              <a:buNone/>
            </a:pPr>
            <a:r>
              <a:rPr lang="tr-TR" sz="1800" dirty="0">
                <a:solidFill>
                  <a:schemeClr val="tx1">
                    <a:alpha val="80000"/>
                  </a:schemeClr>
                </a:solidFill>
              </a:rPr>
              <a:t>• İşletmedeki karar sürecini hızlandırmak</a:t>
            </a:r>
          </a:p>
          <a:p>
            <a:pPr marL="0" indent="0">
              <a:buNone/>
            </a:pPr>
            <a:r>
              <a:rPr lang="tr-TR" sz="1800" dirty="0">
                <a:solidFill>
                  <a:schemeClr val="tx1">
                    <a:alpha val="80000"/>
                  </a:schemeClr>
                </a:solidFill>
              </a:rPr>
              <a:t>• Rakiplerin yaptıklarına daha kısa sürede cevap verebilmek</a:t>
            </a:r>
          </a:p>
          <a:p>
            <a:pPr marL="0" indent="0">
              <a:buNone/>
            </a:pPr>
            <a:r>
              <a:rPr lang="tr-TR" sz="1800" dirty="0">
                <a:solidFill>
                  <a:schemeClr val="tx1">
                    <a:alpha val="80000"/>
                  </a:schemeClr>
                </a:solidFill>
              </a:rPr>
              <a:t>• İşletmenin iç ve dış çevresinde yaşanan iletişimle ilgili sorunları azaltabilmek</a:t>
            </a:r>
          </a:p>
          <a:p>
            <a:pPr marL="0" indent="0">
              <a:buNone/>
            </a:pPr>
            <a:r>
              <a:rPr lang="tr-TR" sz="1800" dirty="0">
                <a:solidFill>
                  <a:schemeClr val="tx1">
                    <a:alpha val="80000"/>
                  </a:schemeClr>
                </a:solidFill>
              </a:rPr>
              <a:t>• Sonuç odaklı bir işletme hâline gelebilmek</a:t>
            </a:r>
          </a:p>
          <a:p>
            <a:pPr marL="0" indent="0">
              <a:buNone/>
            </a:pPr>
            <a:r>
              <a:rPr lang="tr-TR" sz="1800" dirty="0">
                <a:solidFill>
                  <a:schemeClr val="tx1">
                    <a:alpha val="80000"/>
                  </a:schemeClr>
                </a:solidFill>
              </a:rPr>
              <a:t>• Müşteri odaklı bir işletme olabilmek</a:t>
            </a:r>
          </a:p>
          <a:p>
            <a:pPr marL="0" indent="0">
              <a:buNone/>
            </a:pPr>
            <a:r>
              <a:rPr lang="tr-TR" sz="1800" dirty="0">
                <a:solidFill>
                  <a:schemeClr val="tx1">
                    <a:alpha val="80000"/>
                  </a:schemeClr>
                </a:solidFill>
              </a:rPr>
              <a:t>• Verimliliği arttırmak</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4542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7B93BC45-B9A5-E3B4-BDF2-DCFA43F8667A}"/>
              </a:ext>
            </a:extLst>
          </p:cNvPr>
          <p:cNvSpPr>
            <a:spLocks noGrp="1"/>
          </p:cNvSpPr>
          <p:nvPr>
            <p:ph type="title"/>
          </p:nvPr>
        </p:nvSpPr>
        <p:spPr>
          <a:xfrm>
            <a:off x="826396" y="586855"/>
            <a:ext cx="4230100" cy="3387497"/>
          </a:xfrm>
        </p:spPr>
        <p:txBody>
          <a:bodyPr anchor="b">
            <a:normAutofit/>
          </a:bodyPr>
          <a:lstStyle/>
          <a:p>
            <a:pPr algn="r"/>
            <a:endParaRPr lang="tr-TR" sz="4000">
              <a:solidFill>
                <a:srgbClr val="FFFFFF"/>
              </a:solidFill>
            </a:endParaRPr>
          </a:p>
        </p:txBody>
      </p:sp>
      <p:sp>
        <p:nvSpPr>
          <p:cNvPr id="3" name="İçerik Yer Tutucusu 2">
            <a:extLst>
              <a:ext uri="{FF2B5EF4-FFF2-40B4-BE49-F238E27FC236}">
                <a16:creationId xmlns:a16="http://schemas.microsoft.com/office/drawing/2014/main" id="{4CE9DB49-8E5E-10D7-50B8-75E155F2C5F0}"/>
              </a:ext>
            </a:extLst>
          </p:cNvPr>
          <p:cNvSpPr>
            <a:spLocks noGrp="1"/>
          </p:cNvSpPr>
          <p:nvPr>
            <p:ph idx="1"/>
          </p:nvPr>
        </p:nvSpPr>
        <p:spPr>
          <a:xfrm>
            <a:off x="6503158" y="649480"/>
            <a:ext cx="4862447" cy="5546047"/>
          </a:xfrm>
        </p:spPr>
        <p:txBody>
          <a:bodyPr anchor="ctr">
            <a:normAutofit/>
          </a:bodyPr>
          <a:lstStyle/>
          <a:p>
            <a:r>
              <a:rPr lang="tr-TR" sz="2000"/>
              <a:t>TEŞEKKÜRLER </a:t>
            </a:r>
            <a:r>
              <a:rPr lang="tr-TR" sz="2000">
                <a:sym typeface="Wingdings" panose="05000000000000000000" pitchFamily="2" charset="2"/>
              </a:rPr>
              <a:t></a:t>
            </a:r>
            <a:endParaRPr lang="tr-TR" sz="2000"/>
          </a:p>
        </p:txBody>
      </p:sp>
    </p:spTree>
    <p:extLst>
      <p:ext uri="{BB962C8B-B14F-4D97-AF65-F5344CB8AC3E}">
        <p14:creationId xmlns:p14="http://schemas.microsoft.com/office/powerpoint/2010/main" val="1661791951"/>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1477</TotalTime>
  <Words>5051</Words>
  <Application>Microsoft Macintosh PowerPoint</Application>
  <PresentationFormat>Geniş ekran</PresentationFormat>
  <Paragraphs>187</Paragraphs>
  <Slides>38</Slides>
  <Notes>37</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38</vt:i4>
      </vt:variant>
    </vt:vector>
  </HeadingPairs>
  <TitlesOfParts>
    <vt:vector size="42" baseType="lpstr">
      <vt:lpstr>Aptos</vt:lpstr>
      <vt:lpstr>Aptos Display</vt:lpstr>
      <vt:lpstr>Arial</vt:lpstr>
      <vt:lpstr>Office Teması</vt:lpstr>
      <vt:lpstr>İşletme Bilimine Giriş</vt:lpstr>
      <vt:lpstr>İşletmelerin Kuruluşu ve Büyümesi</vt:lpstr>
      <vt:lpstr>İşletmelerin Kuruluşu ve Büyümesi</vt:lpstr>
      <vt:lpstr>İşletmelerin Kuruluşu ve Büyümesi</vt:lpstr>
      <vt:lpstr>İşletmelerin Kuruluşu ve Büyümesi</vt:lpstr>
      <vt:lpstr>Ekonomik Araştırmalar</vt:lpstr>
      <vt:lpstr>Ekonomik Araştırmalar</vt:lpstr>
      <vt:lpstr>Ekonomik Araştırmalar</vt:lpstr>
      <vt:lpstr>Diğer Araştırma Yöntemleri</vt:lpstr>
      <vt:lpstr>Kuruluş Çalışmalarının Değerlendirilmesi ve Yatırım Kararı</vt:lpstr>
      <vt:lpstr>Kuruluş Çalışmalarının Değerlendirilmesi ve Yatırım Kararı</vt:lpstr>
      <vt:lpstr>Kuruluş Yerinin Belirlenmesi</vt:lpstr>
      <vt:lpstr>Kuruluş Yerinin Belirlenmesi</vt:lpstr>
      <vt:lpstr>Kuruluş Yerinin Belirlenmesi</vt:lpstr>
      <vt:lpstr>Kuruluş Yeri Seçimini Etkileyen Faktörler</vt:lpstr>
      <vt:lpstr>Kuruluş Yeri Seçimini Etkileyen Faktörler</vt:lpstr>
      <vt:lpstr>Kuruluş Yeri Seçimini Etkileyen Faktörler</vt:lpstr>
      <vt:lpstr>Kuruluş Yeri Seçimini Etkileyen Faktörler</vt:lpstr>
      <vt:lpstr>İŞLETMELERDE BÜYÜME</vt:lpstr>
      <vt:lpstr>İşletmelerin Büyüme Şekilleri</vt:lpstr>
      <vt:lpstr>İşletmelerin Büyüme Şekilleri</vt:lpstr>
      <vt:lpstr>İşletmelerin Büyüme Şekilleri</vt:lpstr>
      <vt:lpstr>İşletmelerin Büyüme Şekilleri</vt:lpstr>
      <vt:lpstr>İşletmelerin Büyüme Şekilleri</vt:lpstr>
      <vt:lpstr>BÜYÜMENİN GETİRDİĞİ YARARLAR VE SAKINCALAR</vt:lpstr>
      <vt:lpstr>BÜYÜMENİN GETİRDİĞİ YARARLAR VE SAKINCALAR</vt:lpstr>
      <vt:lpstr>BÜYÜMENİN GETİRDİĞİ YARARLAR VE SAKINCALAR</vt:lpstr>
      <vt:lpstr>BÜYÜMENİN GETİRDİĞİ YARARLAR VE SAKINCALAR</vt:lpstr>
      <vt:lpstr>BÜYÜMENİN GETİRDİĞİ YARARLAR VE SAKINCALAR</vt:lpstr>
      <vt:lpstr>Büyümenin Sakıncaları ile Başa Çıkma Yöntemleri</vt:lpstr>
      <vt:lpstr>HUKUKİ VE EKONOMİK AÇIDAN BİRLEŞMELER</vt:lpstr>
      <vt:lpstr>HUKUKİ VE EKONOMİK AÇIDAN BİRLEŞMELER</vt:lpstr>
      <vt:lpstr>HUKUKİ VE EKONOMİK AÇIDAN BİRLEŞMELER</vt:lpstr>
      <vt:lpstr>HUKUKİ VE EKONOMİK AÇIDAN BİRLEŞMELER</vt:lpstr>
      <vt:lpstr>HUKUKİ VE EKONOMİK AÇIDAN BİRLEŞMELER</vt:lpstr>
      <vt:lpstr>HUKUKİ VE EKONOMİK AÇIDAN BİRLEŞMELER</vt:lpstr>
      <vt:lpstr>İşletmelerde Küçülme</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İşletme Bilimine Giriş</dc:title>
  <dc:creator>Fatih Çallı</dc:creator>
  <cp:lastModifiedBy>Fatih Çallı</cp:lastModifiedBy>
  <cp:revision>9</cp:revision>
  <dcterms:created xsi:type="dcterms:W3CDTF">2025-03-10T08:01:30Z</dcterms:created>
  <dcterms:modified xsi:type="dcterms:W3CDTF">2025-03-17T20:15:39Z</dcterms:modified>
</cp:coreProperties>
</file>