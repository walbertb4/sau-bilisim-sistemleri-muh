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7561"/>
    <p:restoredTop sz="70898" autoAdjust="0"/>
  </p:normalViewPr>
  <p:slideViewPr>
    <p:cSldViewPr snapToGrid="0">
      <p:cViewPr varScale="1">
        <p:scale>
          <a:sx n="77" d="100"/>
          <a:sy n="77" d="100"/>
        </p:scale>
        <p:origin x="1800" y="184"/>
      </p:cViewPr>
      <p:guideLst/>
    </p:cSldViewPr>
  </p:slideViewPr>
  <p:notesTextViewPr>
    <p:cViewPr>
      <p:scale>
        <a:sx n="1" d="1"/>
        <a:sy n="1" d="1"/>
      </p:scale>
      <p:origin x="0" y="0"/>
    </p:cViewPr>
  </p:notesTextViewPr>
  <p:notesViewPr>
    <p:cSldViewPr snapToGrid="0">
      <p:cViewPr varScale="1">
        <p:scale>
          <a:sx n="84" d="100"/>
          <a:sy n="84" d="100"/>
        </p:scale>
        <p:origin x="396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ata6.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4" Type="http://schemas.openxmlformats.org/officeDocument/2006/relationships/image" Target="../media/image11.svg"/></Relationships>
</file>

<file path=ppt/diagrams/_rels/drawing6.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3AE0A9-9DAA-46B3-ACF8-6EB557DA29CD}"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B4FDB575-517F-42C0-80EA-0AE8EB23CFFE}">
      <dgm:prSet/>
      <dgm:spPr/>
      <dgm:t>
        <a:bodyPr/>
        <a:lstStyle/>
        <a:p>
          <a:r>
            <a:rPr lang="tr-TR" b="1"/>
            <a:t>25.000 üniversite öğrencisiyle yapılan bir araştırma, öğrencilerin %62’sinin en az bir kez kopya çektiğini ortaya çıkarmıştır. </a:t>
          </a:r>
          <a:endParaRPr lang="en-US"/>
        </a:p>
      </dgm:t>
    </dgm:pt>
    <dgm:pt modelId="{EA03D3D3-F7D4-4B8C-AF9F-9C95BE13DC21}" type="parTrans" cxnId="{2C52805B-31B2-4077-B906-B1F605727C1B}">
      <dgm:prSet/>
      <dgm:spPr/>
      <dgm:t>
        <a:bodyPr/>
        <a:lstStyle/>
        <a:p>
          <a:endParaRPr lang="en-US"/>
        </a:p>
      </dgm:t>
    </dgm:pt>
    <dgm:pt modelId="{3230F61B-0789-4C0F-9A53-2AC489EDFB4D}" type="sibTrans" cxnId="{2C52805B-31B2-4077-B906-B1F605727C1B}">
      <dgm:prSet/>
      <dgm:spPr/>
      <dgm:t>
        <a:bodyPr/>
        <a:lstStyle/>
        <a:p>
          <a:endParaRPr lang="en-US"/>
        </a:p>
      </dgm:t>
    </dgm:pt>
    <dgm:pt modelId="{7107A2F5-C246-460C-93D4-DF7540694886}">
      <dgm:prSet/>
      <dgm:spPr/>
      <dgm:t>
        <a:bodyPr/>
        <a:lstStyle/>
        <a:p>
          <a:r>
            <a:rPr lang="tr-TR" b="1"/>
            <a:t>Başka bir araştırma ise öğrencilerin İnternetten ödev amaçlı içerik ya da müzik indirmeyi veya başka bir öğrencinin cevaplarını kopyalamayı, hilekârlık olarak tanımlamadıklarını ortaya koymuştur (Ferrell vd., 2008: 5). </a:t>
          </a:r>
          <a:endParaRPr lang="en-US"/>
        </a:p>
      </dgm:t>
    </dgm:pt>
    <dgm:pt modelId="{B82E19F3-13AA-49DF-9008-98847CB8529A}" type="parTrans" cxnId="{AAA31A68-645D-4907-9738-FD44B785D285}">
      <dgm:prSet/>
      <dgm:spPr/>
      <dgm:t>
        <a:bodyPr/>
        <a:lstStyle/>
        <a:p>
          <a:endParaRPr lang="en-US"/>
        </a:p>
      </dgm:t>
    </dgm:pt>
    <dgm:pt modelId="{A3689068-E1F3-440B-9460-47F587CD931E}" type="sibTrans" cxnId="{AAA31A68-645D-4907-9738-FD44B785D285}">
      <dgm:prSet/>
      <dgm:spPr/>
      <dgm:t>
        <a:bodyPr/>
        <a:lstStyle/>
        <a:p>
          <a:endParaRPr lang="en-US"/>
        </a:p>
      </dgm:t>
    </dgm:pt>
    <dgm:pt modelId="{06B70F24-A02D-4EA3-827B-A0AA074B5CD4}">
      <dgm:prSet/>
      <dgm:spPr/>
      <dgm:t>
        <a:bodyPr/>
        <a:lstStyle/>
        <a:p>
          <a:r>
            <a:rPr lang="tr-TR" b="1"/>
            <a:t>Sınavda kopya çekme veya arkadaşınızın ödevinden kopya çekme konusunda siz ne düşünüyorsunuz? Çevrenizdeki arkadaşlarınız ne düşünüyor? Tek bir doğru üzerinde anlaşabiliyor musunuz?</a:t>
          </a:r>
          <a:endParaRPr lang="en-US"/>
        </a:p>
      </dgm:t>
    </dgm:pt>
    <dgm:pt modelId="{F6EFB3BE-E55A-485A-B43F-AB49499794F0}" type="parTrans" cxnId="{86CA4AD3-7197-40A1-BFBE-94330D29F17F}">
      <dgm:prSet/>
      <dgm:spPr/>
      <dgm:t>
        <a:bodyPr/>
        <a:lstStyle/>
        <a:p>
          <a:endParaRPr lang="en-US"/>
        </a:p>
      </dgm:t>
    </dgm:pt>
    <dgm:pt modelId="{58FA7DB2-5EA0-46DE-BD98-0E278F351573}" type="sibTrans" cxnId="{86CA4AD3-7197-40A1-BFBE-94330D29F17F}">
      <dgm:prSet/>
      <dgm:spPr/>
      <dgm:t>
        <a:bodyPr/>
        <a:lstStyle/>
        <a:p>
          <a:endParaRPr lang="en-US"/>
        </a:p>
      </dgm:t>
    </dgm:pt>
    <dgm:pt modelId="{7325A138-5656-47F9-B7E8-6C1916DAE4B4}" type="pres">
      <dgm:prSet presAssocID="{463AE0A9-9DAA-46B3-ACF8-6EB557DA29CD}" presName="vert0" presStyleCnt="0">
        <dgm:presLayoutVars>
          <dgm:dir/>
          <dgm:animOne val="branch"/>
          <dgm:animLvl val="lvl"/>
        </dgm:presLayoutVars>
      </dgm:prSet>
      <dgm:spPr/>
    </dgm:pt>
    <dgm:pt modelId="{356DB7F6-3FF3-48F5-B238-5B1951C72059}" type="pres">
      <dgm:prSet presAssocID="{B4FDB575-517F-42C0-80EA-0AE8EB23CFFE}" presName="thickLine" presStyleLbl="alignNode1" presStyleIdx="0" presStyleCnt="3"/>
      <dgm:spPr/>
    </dgm:pt>
    <dgm:pt modelId="{81ED2CD9-30A4-4150-9B6F-505FA9D5B91A}" type="pres">
      <dgm:prSet presAssocID="{B4FDB575-517F-42C0-80EA-0AE8EB23CFFE}" presName="horz1" presStyleCnt="0"/>
      <dgm:spPr/>
    </dgm:pt>
    <dgm:pt modelId="{D54EBAEC-2B75-4520-AF4D-083EB0A7462E}" type="pres">
      <dgm:prSet presAssocID="{B4FDB575-517F-42C0-80EA-0AE8EB23CFFE}" presName="tx1" presStyleLbl="revTx" presStyleIdx="0" presStyleCnt="3"/>
      <dgm:spPr/>
    </dgm:pt>
    <dgm:pt modelId="{CD67EE10-BCE5-45EE-84D0-5B6A395DE8D0}" type="pres">
      <dgm:prSet presAssocID="{B4FDB575-517F-42C0-80EA-0AE8EB23CFFE}" presName="vert1" presStyleCnt="0"/>
      <dgm:spPr/>
    </dgm:pt>
    <dgm:pt modelId="{5DD3B6A3-5D5B-4EC9-AB67-546E5BBF7F9A}" type="pres">
      <dgm:prSet presAssocID="{7107A2F5-C246-460C-93D4-DF7540694886}" presName="thickLine" presStyleLbl="alignNode1" presStyleIdx="1" presStyleCnt="3"/>
      <dgm:spPr/>
    </dgm:pt>
    <dgm:pt modelId="{DA6BF77B-CA05-43DF-AEF1-025B3752EA79}" type="pres">
      <dgm:prSet presAssocID="{7107A2F5-C246-460C-93D4-DF7540694886}" presName="horz1" presStyleCnt="0"/>
      <dgm:spPr/>
    </dgm:pt>
    <dgm:pt modelId="{506E511E-8D51-49AE-8D49-E720C6BFF518}" type="pres">
      <dgm:prSet presAssocID="{7107A2F5-C246-460C-93D4-DF7540694886}" presName="tx1" presStyleLbl="revTx" presStyleIdx="1" presStyleCnt="3"/>
      <dgm:spPr/>
    </dgm:pt>
    <dgm:pt modelId="{5FA3CE8F-0228-4630-B2ED-89F89512CD63}" type="pres">
      <dgm:prSet presAssocID="{7107A2F5-C246-460C-93D4-DF7540694886}" presName="vert1" presStyleCnt="0"/>
      <dgm:spPr/>
    </dgm:pt>
    <dgm:pt modelId="{40CCF3C3-51B4-407A-B1A5-FDB977464257}" type="pres">
      <dgm:prSet presAssocID="{06B70F24-A02D-4EA3-827B-A0AA074B5CD4}" presName="thickLine" presStyleLbl="alignNode1" presStyleIdx="2" presStyleCnt="3"/>
      <dgm:spPr/>
    </dgm:pt>
    <dgm:pt modelId="{7A3FC38E-DABC-4D5D-B067-6C0F078D3086}" type="pres">
      <dgm:prSet presAssocID="{06B70F24-A02D-4EA3-827B-A0AA074B5CD4}" presName="horz1" presStyleCnt="0"/>
      <dgm:spPr/>
    </dgm:pt>
    <dgm:pt modelId="{274CE279-A218-42AD-A4F1-37C91D561192}" type="pres">
      <dgm:prSet presAssocID="{06B70F24-A02D-4EA3-827B-A0AA074B5CD4}" presName="tx1" presStyleLbl="revTx" presStyleIdx="2" presStyleCnt="3"/>
      <dgm:spPr/>
    </dgm:pt>
    <dgm:pt modelId="{1CABCAD2-8370-46E7-9929-B3CA044E10DC}" type="pres">
      <dgm:prSet presAssocID="{06B70F24-A02D-4EA3-827B-A0AA074B5CD4}" presName="vert1" presStyleCnt="0"/>
      <dgm:spPr/>
    </dgm:pt>
  </dgm:ptLst>
  <dgm:cxnLst>
    <dgm:cxn modelId="{8B49EE56-CBF6-4505-8BF8-3B314AA0F1F6}" type="presOf" srcId="{B4FDB575-517F-42C0-80EA-0AE8EB23CFFE}" destId="{D54EBAEC-2B75-4520-AF4D-083EB0A7462E}" srcOrd="0" destOrd="0" presId="urn:microsoft.com/office/officeart/2008/layout/LinedList"/>
    <dgm:cxn modelId="{2C52805B-31B2-4077-B906-B1F605727C1B}" srcId="{463AE0A9-9DAA-46B3-ACF8-6EB557DA29CD}" destId="{B4FDB575-517F-42C0-80EA-0AE8EB23CFFE}" srcOrd="0" destOrd="0" parTransId="{EA03D3D3-F7D4-4B8C-AF9F-9C95BE13DC21}" sibTransId="{3230F61B-0789-4C0F-9A53-2AC489EDFB4D}"/>
    <dgm:cxn modelId="{AAA31A68-645D-4907-9738-FD44B785D285}" srcId="{463AE0A9-9DAA-46B3-ACF8-6EB557DA29CD}" destId="{7107A2F5-C246-460C-93D4-DF7540694886}" srcOrd="1" destOrd="0" parTransId="{B82E19F3-13AA-49DF-9008-98847CB8529A}" sibTransId="{A3689068-E1F3-440B-9460-47F587CD931E}"/>
    <dgm:cxn modelId="{B7787E73-4543-4314-B775-5DA23B012121}" type="presOf" srcId="{7107A2F5-C246-460C-93D4-DF7540694886}" destId="{506E511E-8D51-49AE-8D49-E720C6BFF518}" srcOrd="0" destOrd="0" presId="urn:microsoft.com/office/officeart/2008/layout/LinedList"/>
    <dgm:cxn modelId="{750500A1-50DF-4E67-9A7A-EF85EAD748FF}" type="presOf" srcId="{06B70F24-A02D-4EA3-827B-A0AA074B5CD4}" destId="{274CE279-A218-42AD-A4F1-37C91D561192}" srcOrd="0" destOrd="0" presId="urn:microsoft.com/office/officeart/2008/layout/LinedList"/>
    <dgm:cxn modelId="{E40323C7-2C24-48DB-9E65-FB7502A476D5}" type="presOf" srcId="{463AE0A9-9DAA-46B3-ACF8-6EB557DA29CD}" destId="{7325A138-5656-47F9-B7E8-6C1916DAE4B4}" srcOrd="0" destOrd="0" presId="urn:microsoft.com/office/officeart/2008/layout/LinedList"/>
    <dgm:cxn modelId="{86CA4AD3-7197-40A1-BFBE-94330D29F17F}" srcId="{463AE0A9-9DAA-46B3-ACF8-6EB557DA29CD}" destId="{06B70F24-A02D-4EA3-827B-A0AA074B5CD4}" srcOrd="2" destOrd="0" parTransId="{F6EFB3BE-E55A-485A-B43F-AB49499794F0}" sibTransId="{58FA7DB2-5EA0-46DE-BD98-0E278F351573}"/>
    <dgm:cxn modelId="{236D5C18-9272-41E1-B626-01BE0C8E2DA7}" type="presParOf" srcId="{7325A138-5656-47F9-B7E8-6C1916DAE4B4}" destId="{356DB7F6-3FF3-48F5-B238-5B1951C72059}" srcOrd="0" destOrd="0" presId="urn:microsoft.com/office/officeart/2008/layout/LinedList"/>
    <dgm:cxn modelId="{D423D3DB-037A-4E33-A8B3-00FF926DE0DB}" type="presParOf" srcId="{7325A138-5656-47F9-B7E8-6C1916DAE4B4}" destId="{81ED2CD9-30A4-4150-9B6F-505FA9D5B91A}" srcOrd="1" destOrd="0" presId="urn:microsoft.com/office/officeart/2008/layout/LinedList"/>
    <dgm:cxn modelId="{FAC14180-0670-4261-94F0-5015D4780314}" type="presParOf" srcId="{81ED2CD9-30A4-4150-9B6F-505FA9D5B91A}" destId="{D54EBAEC-2B75-4520-AF4D-083EB0A7462E}" srcOrd="0" destOrd="0" presId="urn:microsoft.com/office/officeart/2008/layout/LinedList"/>
    <dgm:cxn modelId="{BE71525D-B566-4BA7-8AED-CE83FD0A56C5}" type="presParOf" srcId="{81ED2CD9-30A4-4150-9B6F-505FA9D5B91A}" destId="{CD67EE10-BCE5-45EE-84D0-5B6A395DE8D0}" srcOrd="1" destOrd="0" presId="urn:microsoft.com/office/officeart/2008/layout/LinedList"/>
    <dgm:cxn modelId="{A238644E-799B-4D5D-8E7A-7703374140F9}" type="presParOf" srcId="{7325A138-5656-47F9-B7E8-6C1916DAE4B4}" destId="{5DD3B6A3-5D5B-4EC9-AB67-546E5BBF7F9A}" srcOrd="2" destOrd="0" presId="urn:microsoft.com/office/officeart/2008/layout/LinedList"/>
    <dgm:cxn modelId="{FA5DECAF-E355-44EA-83E8-D94698B93723}" type="presParOf" srcId="{7325A138-5656-47F9-B7E8-6C1916DAE4B4}" destId="{DA6BF77B-CA05-43DF-AEF1-025B3752EA79}" srcOrd="3" destOrd="0" presId="urn:microsoft.com/office/officeart/2008/layout/LinedList"/>
    <dgm:cxn modelId="{6776358D-ED5C-485C-B68D-9D7BBD6687FD}" type="presParOf" srcId="{DA6BF77B-CA05-43DF-AEF1-025B3752EA79}" destId="{506E511E-8D51-49AE-8D49-E720C6BFF518}" srcOrd="0" destOrd="0" presId="urn:microsoft.com/office/officeart/2008/layout/LinedList"/>
    <dgm:cxn modelId="{DD9DACF0-BA7A-4814-BC10-19471351E3CD}" type="presParOf" srcId="{DA6BF77B-CA05-43DF-AEF1-025B3752EA79}" destId="{5FA3CE8F-0228-4630-B2ED-89F89512CD63}" srcOrd="1" destOrd="0" presId="urn:microsoft.com/office/officeart/2008/layout/LinedList"/>
    <dgm:cxn modelId="{0D3468E8-D8B5-42B4-8350-F157DFEC7C13}" type="presParOf" srcId="{7325A138-5656-47F9-B7E8-6C1916DAE4B4}" destId="{40CCF3C3-51B4-407A-B1A5-FDB977464257}" srcOrd="4" destOrd="0" presId="urn:microsoft.com/office/officeart/2008/layout/LinedList"/>
    <dgm:cxn modelId="{A029544C-F7E3-4282-B27A-B59BA6608B1E}" type="presParOf" srcId="{7325A138-5656-47F9-B7E8-6C1916DAE4B4}" destId="{7A3FC38E-DABC-4D5D-B067-6C0F078D3086}" srcOrd="5" destOrd="0" presId="urn:microsoft.com/office/officeart/2008/layout/LinedList"/>
    <dgm:cxn modelId="{6159A1D8-BFCA-460E-BE33-51D73463B1DE}" type="presParOf" srcId="{7A3FC38E-DABC-4D5D-B067-6C0F078D3086}" destId="{274CE279-A218-42AD-A4F1-37C91D561192}" srcOrd="0" destOrd="0" presId="urn:microsoft.com/office/officeart/2008/layout/LinedList"/>
    <dgm:cxn modelId="{A04FE252-18F7-4462-B4C0-4008521C02F8}" type="presParOf" srcId="{7A3FC38E-DABC-4D5D-B067-6C0F078D3086}" destId="{1CABCAD2-8370-46E7-9929-B3CA044E10D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8A2DA8-1AF2-48E2-AEC5-3B9C25BA5DEE}"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F9FB890-A923-49B5-B7CE-3572585397DD}">
      <dgm:prSet/>
      <dgm:spPr/>
      <dgm:t>
        <a:bodyPr/>
        <a:lstStyle/>
        <a:p>
          <a:r>
            <a:rPr lang="tr-TR" b="0" i="0" baseline="0"/>
            <a:t>Bazı davranışlar, etik açıdan net bir şekilde kusurlu olarak nitelenebilir. Etik kusur, bireyin aldığı kararın, ahlaki açıdan yanlış, yasa dışı veya etik dışı olması durumudur. Bazı davranışlarda ise bu konuda kolayca bir karara varılamaz. Etik standartlar resmî, yazılı, toplumun tüm bireylerinin kabul ettiği, üzerinde uzlaşılmış maddeler olmadığı için etik bir meselede en uygun davranışın ne olduğu hakkında anlaşmazlık ve ikilemler ortaya çıkabilir. </a:t>
          </a:r>
          <a:endParaRPr lang="en-US"/>
        </a:p>
      </dgm:t>
    </dgm:pt>
    <dgm:pt modelId="{0C556C7E-D53E-4909-AE54-FBFA487FA5B1}" type="parTrans" cxnId="{598099ED-E841-4A95-AACD-9B52EFA5AE37}">
      <dgm:prSet/>
      <dgm:spPr/>
      <dgm:t>
        <a:bodyPr/>
        <a:lstStyle/>
        <a:p>
          <a:endParaRPr lang="en-US"/>
        </a:p>
      </dgm:t>
    </dgm:pt>
    <dgm:pt modelId="{711FEC65-B39F-4B8E-916A-DB4D6E0A3474}" type="sibTrans" cxnId="{598099ED-E841-4A95-AACD-9B52EFA5AE37}">
      <dgm:prSet/>
      <dgm:spPr/>
      <dgm:t>
        <a:bodyPr/>
        <a:lstStyle/>
        <a:p>
          <a:endParaRPr lang="en-US"/>
        </a:p>
      </dgm:t>
    </dgm:pt>
    <dgm:pt modelId="{942BA9EF-C443-42C7-ADFB-E3105B67BBED}">
      <dgm:prSet/>
      <dgm:spPr/>
      <dgm:t>
        <a:bodyPr/>
        <a:lstStyle/>
        <a:p>
          <a:r>
            <a:rPr lang="tr-TR" b="1" i="0" baseline="0"/>
            <a:t>Etik ikilem, </a:t>
          </a:r>
          <a:r>
            <a:rPr lang="tr-TR" b="0" i="0" baseline="0"/>
            <a:t>hem bir seçimin hem de davranış alternatifinin potansiyel zararlı etik sonuçları nedeniyle istenmediği durumlarda ortaya çıkar. Yanlış ve doğru net olarak belirlenemeyebilir. Burada Nasrettin Hoca, oğlu ve eşeği ile ilgili yol hikâyesini hatırlayınız.</a:t>
          </a:r>
          <a:endParaRPr lang="en-US"/>
        </a:p>
      </dgm:t>
    </dgm:pt>
    <dgm:pt modelId="{D292AEDB-10C0-43CD-A7AD-A995356216C0}" type="parTrans" cxnId="{1393E17E-A6A8-494D-832D-11FCAFAA4BB3}">
      <dgm:prSet/>
      <dgm:spPr/>
      <dgm:t>
        <a:bodyPr/>
        <a:lstStyle/>
        <a:p>
          <a:endParaRPr lang="en-US"/>
        </a:p>
      </dgm:t>
    </dgm:pt>
    <dgm:pt modelId="{EEA27929-3962-4A85-8588-4A8E43A8793D}" type="sibTrans" cxnId="{1393E17E-A6A8-494D-832D-11FCAFAA4BB3}">
      <dgm:prSet/>
      <dgm:spPr/>
      <dgm:t>
        <a:bodyPr/>
        <a:lstStyle/>
        <a:p>
          <a:endParaRPr lang="en-US"/>
        </a:p>
      </dgm:t>
    </dgm:pt>
    <dgm:pt modelId="{40C838DF-5645-4FBD-80FA-052AFA113D9D}" type="pres">
      <dgm:prSet presAssocID="{3B8A2DA8-1AF2-48E2-AEC5-3B9C25BA5DEE}" presName="root" presStyleCnt="0">
        <dgm:presLayoutVars>
          <dgm:dir/>
          <dgm:resizeHandles val="exact"/>
        </dgm:presLayoutVars>
      </dgm:prSet>
      <dgm:spPr/>
    </dgm:pt>
    <dgm:pt modelId="{4C0D871D-86DF-4DCF-8288-81ABDCFE1E3D}" type="pres">
      <dgm:prSet presAssocID="{CF9FB890-A923-49B5-B7CE-3572585397DD}" presName="compNode" presStyleCnt="0"/>
      <dgm:spPr/>
    </dgm:pt>
    <dgm:pt modelId="{70AA6A79-151F-450F-9647-8E7BFD5DA7B3}" type="pres">
      <dgm:prSet presAssocID="{CF9FB890-A923-49B5-B7CE-3572585397DD}" presName="bgRect" presStyleLbl="bgShp" presStyleIdx="0" presStyleCnt="2"/>
      <dgm:spPr/>
    </dgm:pt>
    <dgm:pt modelId="{8780952A-9BA7-4E33-B4E3-A403C0D11598}" type="pres">
      <dgm:prSet presAssocID="{CF9FB890-A923-49B5-B7CE-3572585397D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834F29C9-5F51-4311-BAD9-48ED0154729A}" type="pres">
      <dgm:prSet presAssocID="{CF9FB890-A923-49B5-B7CE-3572585397DD}" presName="spaceRect" presStyleCnt="0"/>
      <dgm:spPr/>
    </dgm:pt>
    <dgm:pt modelId="{408BAA10-1263-4B28-A429-2D93B19A5757}" type="pres">
      <dgm:prSet presAssocID="{CF9FB890-A923-49B5-B7CE-3572585397DD}" presName="parTx" presStyleLbl="revTx" presStyleIdx="0" presStyleCnt="2">
        <dgm:presLayoutVars>
          <dgm:chMax val="0"/>
          <dgm:chPref val="0"/>
        </dgm:presLayoutVars>
      </dgm:prSet>
      <dgm:spPr/>
    </dgm:pt>
    <dgm:pt modelId="{2ED4C51C-C8F0-4C36-AE51-E2D1AECE916C}" type="pres">
      <dgm:prSet presAssocID="{711FEC65-B39F-4B8E-916A-DB4D6E0A3474}" presName="sibTrans" presStyleCnt="0"/>
      <dgm:spPr/>
    </dgm:pt>
    <dgm:pt modelId="{8A950323-61C5-4AB8-B760-CB9AF854E493}" type="pres">
      <dgm:prSet presAssocID="{942BA9EF-C443-42C7-ADFB-E3105B67BBED}" presName="compNode" presStyleCnt="0"/>
      <dgm:spPr/>
    </dgm:pt>
    <dgm:pt modelId="{2DE516B9-9351-406D-B7D7-99F797F3F407}" type="pres">
      <dgm:prSet presAssocID="{942BA9EF-C443-42C7-ADFB-E3105B67BBED}" presName="bgRect" presStyleLbl="bgShp" presStyleIdx="1" presStyleCnt="2"/>
      <dgm:spPr/>
    </dgm:pt>
    <dgm:pt modelId="{614BA8A7-5AFB-4CE6-BCE2-3C65257FB91F}" type="pres">
      <dgm:prSet presAssocID="{942BA9EF-C443-42C7-ADFB-E3105B67BBE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nay işareti"/>
        </a:ext>
      </dgm:extLst>
    </dgm:pt>
    <dgm:pt modelId="{AD321D65-7456-425C-B9CC-BB2FF18E00B4}" type="pres">
      <dgm:prSet presAssocID="{942BA9EF-C443-42C7-ADFB-E3105B67BBED}" presName="spaceRect" presStyleCnt="0"/>
      <dgm:spPr/>
    </dgm:pt>
    <dgm:pt modelId="{B1C3C129-720F-42D0-BB28-FFFB7969FB8B}" type="pres">
      <dgm:prSet presAssocID="{942BA9EF-C443-42C7-ADFB-E3105B67BBED}" presName="parTx" presStyleLbl="revTx" presStyleIdx="1" presStyleCnt="2">
        <dgm:presLayoutVars>
          <dgm:chMax val="0"/>
          <dgm:chPref val="0"/>
        </dgm:presLayoutVars>
      </dgm:prSet>
      <dgm:spPr/>
    </dgm:pt>
  </dgm:ptLst>
  <dgm:cxnLst>
    <dgm:cxn modelId="{5006780D-9D86-4A99-93D8-F46E75389D8A}" type="presOf" srcId="{942BA9EF-C443-42C7-ADFB-E3105B67BBED}" destId="{B1C3C129-720F-42D0-BB28-FFFB7969FB8B}" srcOrd="0" destOrd="0" presId="urn:microsoft.com/office/officeart/2018/2/layout/IconVerticalSolidList"/>
    <dgm:cxn modelId="{1393E17E-A6A8-494D-832D-11FCAFAA4BB3}" srcId="{3B8A2DA8-1AF2-48E2-AEC5-3B9C25BA5DEE}" destId="{942BA9EF-C443-42C7-ADFB-E3105B67BBED}" srcOrd="1" destOrd="0" parTransId="{D292AEDB-10C0-43CD-A7AD-A995356216C0}" sibTransId="{EEA27929-3962-4A85-8588-4A8E43A8793D}"/>
    <dgm:cxn modelId="{0B63CDC8-3FF2-49A4-9A68-6FFD0D031DC2}" type="presOf" srcId="{CF9FB890-A923-49B5-B7CE-3572585397DD}" destId="{408BAA10-1263-4B28-A429-2D93B19A5757}" srcOrd="0" destOrd="0" presId="urn:microsoft.com/office/officeart/2018/2/layout/IconVerticalSolidList"/>
    <dgm:cxn modelId="{598099ED-E841-4A95-AACD-9B52EFA5AE37}" srcId="{3B8A2DA8-1AF2-48E2-AEC5-3B9C25BA5DEE}" destId="{CF9FB890-A923-49B5-B7CE-3572585397DD}" srcOrd="0" destOrd="0" parTransId="{0C556C7E-D53E-4909-AE54-FBFA487FA5B1}" sibTransId="{711FEC65-B39F-4B8E-916A-DB4D6E0A3474}"/>
    <dgm:cxn modelId="{81F71EF8-89C3-48C6-8B73-78507204380A}" type="presOf" srcId="{3B8A2DA8-1AF2-48E2-AEC5-3B9C25BA5DEE}" destId="{40C838DF-5645-4FBD-80FA-052AFA113D9D}" srcOrd="0" destOrd="0" presId="urn:microsoft.com/office/officeart/2018/2/layout/IconVerticalSolidList"/>
    <dgm:cxn modelId="{17ED69AB-916E-441B-9EB9-D5F4C521A92F}" type="presParOf" srcId="{40C838DF-5645-4FBD-80FA-052AFA113D9D}" destId="{4C0D871D-86DF-4DCF-8288-81ABDCFE1E3D}" srcOrd="0" destOrd="0" presId="urn:microsoft.com/office/officeart/2018/2/layout/IconVerticalSolidList"/>
    <dgm:cxn modelId="{31F07B2A-0AE1-49F2-B9F6-5ED6D36F0AD5}" type="presParOf" srcId="{4C0D871D-86DF-4DCF-8288-81ABDCFE1E3D}" destId="{70AA6A79-151F-450F-9647-8E7BFD5DA7B3}" srcOrd="0" destOrd="0" presId="urn:microsoft.com/office/officeart/2018/2/layout/IconVerticalSolidList"/>
    <dgm:cxn modelId="{CD122092-BFE0-4A7B-8B64-14FC23F23706}" type="presParOf" srcId="{4C0D871D-86DF-4DCF-8288-81ABDCFE1E3D}" destId="{8780952A-9BA7-4E33-B4E3-A403C0D11598}" srcOrd="1" destOrd="0" presId="urn:microsoft.com/office/officeart/2018/2/layout/IconVerticalSolidList"/>
    <dgm:cxn modelId="{AA6BA3B6-6BDD-45EC-ACB4-40DCC67B912D}" type="presParOf" srcId="{4C0D871D-86DF-4DCF-8288-81ABDCFE1E3D}" destId="{834F29C9-5F51-4311-BAD9-48ED0154729A}" srcOrd="2" destOrd="0" presId="urn:microsoft.com/office/officeart/2018/2/layout/IconVerticalSolidList"/>
    <dgm:cxn modelId="{457F595F-3C5B-4A03-99FB-FB3D6ECFFAB8}" type="presParOf" srcId="{4C0D871D-86DF-4DCF-8288-81ABDCFE1E3D}" destId="{408BAA10-1263-4B28-A429-2D93B19A5757}" srcOrd="3" destOrd="0" presId="urn:microsoft.com/office/officeart/2018/2/layout/IconVerticalSolidList"/>
    <dgm:cxn modelId="{C72C3831-5EB0-4DD0-BD76-C2C1F5C9F890}" type="presParOf" srcId="{40C838DF-5645-4FBD-80FA-052AFA113D9D}" destId="{2ED4C51C-C8F0-4C36-AE51-E2D1AECE916C}" srcOrd="1" destOrd="0" presId="urn:microsoft.com/office/officeart/2018/2/layout/IconVerticalSolidList"/>
    <dgm:cxn modelId="{F76AF699-FB08-41D0-9604-683D904ABC58}" type="presParOf" srcId="{40C838DF-5645-4FBD-80FA-052AFA113D9D}" destId="{8A950323-61C5-4AB8-B760-CB9AF854E493}" srcOrd="2" destOrd="0" presId="urn:microsoft.com/office/officeart/2018/2/layout/IconVerticalSolidList"/>
    <dgm:cxn modelId="{7E8DB8E4-86F3-47C7-AF96-26084706F865}" type="presParOf" srcId="{8A950323-61C5-4AB8-B760-CB9AF854E493}" destId="{2DE516B9-9351-406D-B7D7-99F797F3F407}" srcOrd="0" destOrd="0" presId="urn:microsoft.com/office/officeart/2018/2/layout/IconVerticalSolidList"/>
    <dgm:cxn modelId="{17425EDA-676C-4D8C-9028-FE685AB323F3}" type="presParOf" srcId="{8A950323-61C5-4AB8-B760-CB9AF854E493}" destId="{614BA8A7-5AFB-4CE6-BCE2-3C65257FB91F}" srcOrd="1" destOrd="0" presId="urn:microsoft.com/office/officeart/2018/2/layout/IconVerticalSolidList"/>
    <dgm:cxn modelId="{64333738-1A6B-45C8-8859-0F450E653466}" type="presParOf" srcId="{8A950323-61C5-4AB8-B760-CB9AF854E493}" destId="{AD321D65-7456-425C-B9CC-BB2FF18E00B4}" srcOrd="2" destOrd="0" presId="urn:microsoft.com/office/officeart/2018/2/layout/IconVerticalSolidList"/>
    <dgm:cxn modelId="{646FE77F-DB2A-4BF7-A833-068A8B1EC18E}" type="presParOf" srcId="{8A950323-61C5-4AB8-B760-CB9AF854E493}" destId="{B1C3C129-720F-42D0-BB28-FFFB7969FB8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AF3DB6-24F2-4615-82ED-11DE3D0E45B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FB6E504-0606-4F35-8A96-03644F73F397}">
      <dgm:prSet/>
      <dgm:spPr/>
      <dgm:t>
        <a:bodyPr/>
        <a:lstStyle/>
        <a:p>
          <a:r>
            <a:rPr lang="tr-TR" b="0" i="0" baseline="0" dirty="0"/>
            <a:t>Yönetici ya da çalışanın şirkete menfaat sağlamak için birilerine rüşvet vermesi, etik bir davranış mıdır? Ekonomik durgunluk döneminde üniversite mezunu olmanın işe alınmak için olumsuzluk oluşturduğunu </a:t>
          </a:r>
          <a:r>
            <a:rPr lang="tr-TR" b="0" i="0" baseline="0" dirty="0" err="1"/>
            <a:t>farkeden</a:t>
          </a:r>
          <a:r>
            <a:rPr lang="tr-TR" b="0" i="0" baseline="0" dirty="0"/>
            <a:t> bir kişinin, bilinçli olarak kendini lise mezunu olarak tanıtması etik midir? Birinin şirket olanaklarını, kendi özel ihtiyaçları için kullanması etik midir? Kat sekreterine özel işlerimizi yaptırmak ya da iş yeri telefonunu yurt dışında oturan akrabamızı aramak için kullanmak etik midir? Bu sorular daha da çoğaltılabilir. Yukarıda sıralanan sorulara verdiğiniz yanıtlar, sizin etiğe ilişkin yaklaşımınızı yansıtır. Birisine “yanlış yapıyorsun” ya da “doğru yapıyorsun” dediğinizde, aslında bu görüşünüzün arkasında doğruyu ya da yanlışı tanımlamakta kullandığınız birtakım kurallar ya da ilkelere bağlı olarak bu yorumları yaptığınızı hatırınızda tutun.</a:t>
          </a:r>
          <a:endParaRPr lang="en-US" dirty="0"/>
        </a:p>
      </dgm:t>
    </dgm:pt>
    <dgm:pt modelId="{210B56EF-326D-4F03-87A3-EAB5FBDFFA6A}" type="parTrans" cxnId="{494D6117-B484-4217-94CB-8F1DEF703DCC}">
      <dgm:prSet/>
      <dgm:spPr/>
      <dgm:t>
        <a:bodyPr/>
        <a:lstStyle/>
        <a:p>
          <a:endParaRPr lang="en-US"/>
        </a:p>
      </dgm:t>
    </dgm:pt>
    <dgm:pt modelId="{5D858C7D-839B-4162-9762-903503C6A511}" type="sibTrans" cxnId="{494D6117-B484-4217-94CB-8F1DEF703DCC}">
      <dgm:prSet/>
      <dgm:spPr/>
      <dgm:t>
        <a:bodyPr/>
        <a:lstStyle/>
        <a:p>
          <a:endParaRPr lang="en-US"/>
        </a:p>
      </dgm:t>
    </dgm:pt>
    <dgm:pt modelId="{7AB70314-1663-4A2E-869B-7C8906AA7EC0}">
      <dgm:prSet/>
      <dgm:spPr/>
      <dgm:t>
        <a:bodyPr/>
        <a:lstStyle/>
        <a:p>
          <a:r>
            <a:rPr lang="tr-TR" b="0" i="0" baseline="0" dirty="0"/>
            <a:t>İşletme yöneticilerinin rasyonel karar almaları beklenir. Ancak bu kararların bir de etik yönü vardır. Yöneticilerin aldığı pek çok karar, hem süreç içerisinde hem de sonuçta bu karardan kimlerin etkileneceğinin göz </a:t>
          </a:r>
          <a:r>
            <a:rPr lang="tr-TR" b="0" i="0" baseline="0" dirty="0" err="1"/>
            <a:t>önünd</a:t>
          </a:r>
          <a:r>
            <a:rPr lang="tr-TR" b="0" i="0" baseline="0" dirty="0"/>
            <a:t> bulundurulmasını gerektirir. Etik karar almada, farklı perspektifler farklı kararlara yol açar. Sorun, genellikle alınan kararların mükemmelinin bulunamamasıdır. Özellikle etik ikilemlerde yaratıcı seçeneklere ihtiyaç duyulur.</a:t>
          </a:r>
          <a:endParaRPr lang="en-US" dirty="0"/>
        </a:p>
      </dgm:t>
    </dgm:pt>
    <dgm:pt modelId="{2FF31BE3-A5CA-4729-AE39-277E05CA5E92}" type="parTrans" cxnId="{DF0351D7-EBB9-40DF-B628-341B4B4EC5BE}">
      <dgm:prSet/>
      <dgm:spPr/>
      <dgm:t>
        <a:bodyPr/>
        <a:lstStyle/>
        <a:p>
          <a:endParaRPr lang="en-US"/>
        </a:p>
      </dgm:t>
    </dgm:pt>
    <dgm:pt modelId="{01EA7EB2-EC82-4C39-A6B1-334FFA401E29}" type="sibTrans" cxnId="{DF0351D7-EBB9-40DF-B628-341B4B4EC5BE}">
      <dgm:prSet/>
      <dgm:spPr/>
      <dgm:t>
        <a:bodyPr/>
        <a:lstStyle/>
        <a:p>
          <a:endParaRPr lang="en-US"/>
        </a:p>
      </dgm:t>
    </dgm:pt>
    <dgm:pt modelId="{A5965F46-B8AB-499B-8033-27EAA584A3E3}" type="pres">
      <dgm:prSet presAssocID="{51AF3DB6-24F2-4615-82ED-11DE3D0E45B2}" presName="root" presStyleCnt="0">
        <dgm:presLayoutVars>
          <dgm:dir/>
          <dgm:resizeHandles val="exact"/>
        </dgm:presLayoutVars>
      </dgm:prSet>
      <dgm:spPr/>
    </dgm:pt>
    <dgm:pt modelId="{5A7C1934-3800-419A-8D01-F75D611C84A9}" type="pres">
      <dgm:prSet presAssocID="{3FB6E504-0606-4F35-8A96-03644F73F397}" presName="compNode" presStyleCnt="0"/>
      <dgm:spPr/>
    </dgm:pt>
    <dgm:pt modelId="{54E64D74-05F4-45C5-B85E-119C239F2EC1}" type="pres">
      <dgm:prSet presAssocID="{3FB6E504-0606-4F35-8A96-03644F73F397}" presName="bgRect" presStyleLbl="bgShp" presStyleIdx="0" presStyleCnt="2"/>
      <dgm:spPr/>
    </dgm:pt>
    <dgm:pt modelId="{3398F6EA-554A-4FA5-B4C4-6EEA43F27D79}" type="pres">
      <dgm:prSet presAssocID="{3FB6E504-0606-4F35-8A96-03644F73F39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ullanıcı"/>
        </a:ext>
      </dgm:extLst>
    </dgm:pt>
    <dgm:pt modelId="{DB9745A0-3069-45DA-B482-8D819F13C91F}" type="pres">
      <dgm:prSet presAssocID="{3FB6E504-0606-4F35-8A96-03644F73F397}" presName="spaceRect" presStyleCnt="0"/>
      <dgm:spPr/>
    </dgm:pt>
    <dgm:pt modelId="{0E3CF440-59E7-4D6F-BBDC-86FA3D961B32}" type="pres">
      <dgm:prSet presAssocID="{3FB6E504-0606-4F35-8A96-03644F73F397}" presName="parTx" presStyleLbl="revTx" presStyleIdx="0" presStyleCnt="2">
        <dgm:presLayoutVars>
          <dgm:chMax val="0"/>
          <dgm:chPref val="0"/>
        </dgm:presLayoutVars>
      </dgm:prSet>
      <dgm:spPr/>
    </dgm:pt>
    <dgm:pt modelId="{C2B38248-A6FD-4057-AFDD-4D2D5ACCADCC}" type="pres">
      <dgm:prSet presAssocID="{5D858C7D-839B-4162-9762-903503C6A511}" presName="sibTrans" presStyleCnt="0"/>
      <dgm:spPr/>
    </dgm:pt>
    <dgm:pt modelId="{98535E54-D3A2-4095-B827-0D0FA8C41262}" type="pres">
      <dgm:prSet presAssocID="{7AB70314-1663-4A2E-869B-7C8906AA7EC0}" presName="compNode" presStyleCnt="0"/>
      <dgm:spPr/>
    </dgm:pt>
    <dgm:pt modelId="{387F7885-2649-4B16-A988-BFCFBC354F80}" type="pres">
      <dgm:prSet presAssocID="{7AB70314-1663-4A2E-869B-7C8906AA7EC0}" presName="bgRect" presStyleLbl="bgShp" presStyleIdx="1" presStyleCnt="2"/>
      <dgm:spPr/>
    </dgm:pt>
    <dgm:pt modelId="{C7DF2F7E-A06A-4508-B0C6-44F07958007E}" type="pres">
      <dgm:prSet presAssocID="{7AB70314-1663-4A2E-869B-7C8906AA7EC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EB03AD80-AF1C-4A9B-9459-5B9D76244EA7}" type="pres">
      <dgm:prSet presAssocID="{7AB70314-1663-4A2E-869B-7C8906AA7EC0}" presName="spaceRect" presStyleCnt="0"/>
      <dgm:spPr/>
    </dgm:pt>
    <dgm:pt modelId="{248A638C-ECAF-4376-90E4-920D0281C3F8}" type="pres">
      <dgm:prSet presAssocID="{7AB70314-1663-4A2E-869B-7C8906AA7EC0}" presName="parTx" presStyleLbl="revTx" presStyleIdx="1" presStyleCnt="2">
        <dgm:presLayoutVars>
          <dgm:chMax val="0"/>
          <dgm:chPref val="0"/>
        </dgm:presLayoutVars>
      </dgm:prSet>
      <dgm:spPr/>
    </dgm:pt>
  </dgm:ptLst>
  <dgm:cxnLst>
    <dgm:cxn modelId="{494D6117-B484-4217-94CB-8F1DEF703DCC}" srcId="{51AF3DB6-24F2-4615-82ED-11DE3D0E45B2}" destId="{3FB6E504-0606-4F35-8A96-03644F73F397}" srcOrd="0" destOrd="0" parTransId="{210B56EF-326D-4F03-87A3-EAB5FBDFFA6A}" sibTransId="{5D858C7D-839B-4162-9762-903503C6A511}"/>
    <dgm:cxn modelId="{4EF9B17A-4F44-40B7-BC46-56F4BF760DAD}" type="presOf" srcId="{3FB6E504-0606-4F35-8A96-03644F73F397}" destId="{0E3CF440-59E7-4D6F-BBDC-86FA3D961B32}" srcOrd="0" destOrd="0" presId="urn:microsoft.com/office/officeart/2018/2/layout/IconVerticalSolidList"/>
    <dgm:cxn modelId="{784F928D-CAE7-4334-8591-92412D0E0441}" type="presOf" srcId="{51AF3DB6-24F2-4615-82ED-11DE3D0E45B2}" destId="{A5965F46-B8AB-499B-8033-27EAA584A3E3}" srcOrd="0" destOrd="0" presId="urn:microsoft.com/office/officeart/2018/2/layout/IconVerticalSolidList"/>
    <dgm:cxn modelId="{3631B0CC-1103-4F6E-B65B-2CF4E33F709B}" type="presOf" srcId="{7AB70314-1663-4A2E-869B-7C8906AA7EC0}" destId="{248A638C-ECAF-4376-90E4-920D0281C3F8}" srcOrd="0" destOrd="0" presId="urn:microsoft.com/office/officeart/2018/2/layout/IconVerticalSolidList"/>
    <dgm:cxn modelId="{DF0351D7-EBB9-40DF-B628-341B4B4EC5BE}" srcId="{51AF3DB6-24F2-4615-82ED-11DE3D0E45B2}" destId="{7AB70314-1663-4A2E-869B-7C8906AA7EC0}" srcOrd="1" destOrd="0" parTransId="{2FF31BE3-A5CA-4729-AE39-277E05CA5E92}" sibTransId="{01EA7EB2-EC82-4C39-A6B1-334FFA401E29}"/>
    <dgm:cxn modelId="{BA3D8073-F420-452B-95C9-C099F189C172}" type="presParOf" srcId="{A5965F46-B8AB-499B-8033-27EAA584A3E3}" destId="{5A7C1934-3800-419A-8D01-F75D611C84A9}" srcOrd="0" destOrd="0" presId="urn:microsoft.com/office/officeart/2018/2/layout/IconVerticalSolidList"/>
    <dgm:cxn modelId="{D562F961-40CA-414A-8985-0BD18C4D21ED}" type="presParOf" srcId="{5A7C1934-3800-419A-8D01-F75D611C84A9}" destId="{54E64D74-05F4-45C5-B85E-119C239F2EC1}" srcOrd="0" destOrd="0" presId="urn:microsoft.com/office/officeart/2018/2/layout/IconVerticalSolidList"/>
    <dgm:cxn modelId="{20B0B17D-B0E0-44C3-9677-675515537A71}" type="presParOf" srcId="{5A7C1934-3800-419A-8D01-F75D611C84A9}" destId="{3398F6EA-554A-4FA5-B4C4-6EEA43F27D79}" srcOrd="1" destOrd="0" presId="urn:microsoft.com/office/officeart/2018/2/layout/IconVerticalSolidList"/>
    <dgm:cxn modelId="{2519764C-30D6-45EB-BE00-469F9CD50569}" type="presParOf" srcId="{5A7C1934-3800-419A-8D01-F75D611C84A9}" destId="{DB9745A0-3069-45DA-B482-8D819F13C91F}" srcOrd="2" destOrd="0" presId="urn:microsoft.com/office/officeart/2018/2/layout/IconVerticalSolidList"/>
    <dgm:cxn modelId="{F7BD6A25-4F11-4EE2-A5A4-2727582BBA11}" type="presParOf" srcId="{5A7C1934-3800-419A-8D01-F75D611C84A9}" destId="{0E3CF440-59E7-4D6F-BBDC-86FA3D961B32}" srcOrd="3" destOrd="0" presId="urn:microsoft.com/office/officeart/2018/2/layout/IconVerticalSolidList"/>
    <dgm:cxn modelId="{A8BE4AFF-2B75-446A-9F0C-A8DA1632245E}" type="presParOf" srcId="{A5965F46-B8AB-499B-8033-27EAA584A3E3}" destId="{C2B38248-A6FD-4057-AFDD-4D2D5ACCADCC}" srcOrd="1" destOrd="0" presId="urn:microsoft.com/office/officeart/2018/2/layout/IconVerticalSolidList"/>
    <dgm:cxn modelId="{B9C20A40-55F6-48D4-9108-C7B849F80BF8}" type="presParOf" srcId="{A5965F46-B8AB-499B-8033-27EAA584A3E3}" destId="{98535E54-D3A2-4095-B827-0D0FA8C41262}" srcOrd="2" destOrd="0" presId="urn:microsoft.com/office/officeart/2018/2/layout/IconVerticalSolidList"/>
    <dgm:cxn modelId="{62C4AA0A-D8A2-4497-8ABA-95ECCD90DB33}" type="presParOf" srcId="{98535E54-D3A2-4095-B827-0D0FA8C41262}" destId="{387F7885-2649-4B16-A988-BFCFBC354F80}" srcOrd="0" destOrd="0" presId="urn:microsoft.com/office/officeart/2018/2/layout/IconVerticalSolidList"/>
    <dgm:cxn modelId="{9322A63B-816D-424C-91C3-B1CE73EC3FF3}" type="presParOf" srcId="{98535E54-D3A2-4095-B827-0D0FA8C41262}" destId="{C7DF2F7E-A06A-4508-B0C6-44F07958007E}" srcOrd="1" destOrd="0" presId="urn:microsoft.com/office/officeart/2018/2/layout/IconVerticalSolidList"/>
    <dgm:cxn modelId="{4AF42441-7EFF-41E1-AADB-941292B0D295}" type="presParOf" srcId="{98535E54-D3A2-4095-B827-0D0FA8C41262}" destId="{EB03AD80-AF1C-4A9B-9459-5B9D76244EA7}" srcOrd="2" destOrd="0" presId="urn:microsoft.com/office/officeart/2018/2/layout/IconVerticalSolidList"/>
    <dgm:cxn modelId="{03F880E6-2868-4F6E-895D-C27886135C49}" type="presParOf" srcId="{98535E54-D3A2-4095-B827-0D0FA8C41262}" destId="{248A638C-ECAF-4376-90E4-920D0281C3F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FC05DED-0CBD-43E8-8F42-3F8306432B5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26D27C5-EDF5-4649-9470-D54FAB96514C}">
      <dgm:prSet/>
      <dgm:spPr/>
      <dgm:t>
        <a:bodyPr/>
        <a:lstStyle/>
        <a:p>
          <a:r>
            <a:rPr lang="tr-TR" b="0" i="0" baseline="0"/>
            <a:t>Aşağıda iş etiği konusuna yaklaşımlardan dördüne yer verilmiştir. Bunlar:</a:t>
          </a:r>
          <a:endParaRPr lang="en-US"/>
        </a:p>
      </dgm:t>
    </dgm:pt>
    <dgm:pt modelId="{E40A8EDF-55AC-405A-BED1-2517860DC57A}" type="parTrans" cxnId="{E9665B7C-75BD-4877-A446-A1526786BEDC}">
      <dgm:prSet/>
      <dgm:spPr/>
      <dgm:t>
        <a:bodyPr/>
        <a:lstStyle/>
        <a:p>
          <a:endParaRPr lang="en-US"/>
        </a:p>
      </dgm:t>
    </dgm:pt>
    <dgm:pt modelId="{FA5BDF86-3532-45B4-A9C9-702C1E453FC8}" type="sibTrans" cxnId="{E9665B7C-75BD-4877-A446-A1526786BEDC}">
      <dgm:prSet/>
      <dgm:spPr/>
      <dgm:t>
        <a:bodyPr/>
        <a:lstStyle/>
        <a:p>
          <a:endParaRPr lang="en-US"/>
        </a:p>
      </dgm:t>
    </dgm:pt>
    <dgm:pt modelId="{D3DDD9C8-79C6-42BC-A3AD-8E8114FF5A8B}">
      <dgm:prSet/>
      <dgm:spPr/>
      <dgm:t>
        <a:bodyPr/>
        <a:lstStyle/>
        <a:p>
          <a:r>
            <a:rPr lang="tr-TR" b="0" i="0" baseline="0"/>
            <a:t>1. Faydacılık yaklaşımı</a:t>
          </a:r>
          <a:endParaRPr lang="en-US"/>
        </a:p>
      </dgm:t>
    </dgm:pt>
    <dgm:pt modelId="{1A901487-CDB3-4D62-B4DB-FADF7C05C43E}" type="parTrans" cxnId="{93134D9E-887D-48A1-A152-2804675EF8C4}">
      <dgm:prSet/>
      <dgm:spPr/>
      <dgm:t>
        <a:bodyPr/>
        <a:lstStyle/>
        <a:p>
          <a:endParaRPr lang="en-US"/>
        </a:p>
      </dgm:t>
    </dgm:pt>
    <dgm:pt modelId="{FA81E411-063D-48AF-A19C-63721CF6DEF1}" type="sibTrans" cxnId="{93134D9E-887D-48A1-A152-2804675EF8C4}">
      <dgm:prSet/>
      <dgm:spPr/>
      <dgm:t>
        <a:bodyPr/>
        <a:lstStyle/>
        <a:p>
          <a:endParaRPr lang="en-US"/>
        </a:p>
      </dgm:t>
    </dgm:pt>
    <dgm:pt modelId="{27AF7480-C201-40C3-AD2E-1C85104FBF95}">
      <dgm:prSet/>
      <dgm:spPr/>
      <dgm:t>
        <a:bodyPr/>
        <a:lstStyle/>
        <a:p>
          <a:r>
            <a:rPr lang="tr-TR" b="0" i="0" baseline="0"/>
            <a:t>2. Haklar yaklaşımı</a:t>
          </a:r>
          <a:endParaRPr lang="en-US"/>
        </a:p>
      </dgm:t>
    </dgm:pt>
    <dgm:pt modelId="{98611F90-3095-4AE2-B97D-AEA4A8CF0BE2}" type="parTrans" cxnId="{1698C568-A5BF-4760-9795-285DC09EACC5}">
      <dgm:prSet/>
      <dgm:spPr/>
      <dgm:t>
        <a:bodyPr/>
        <a:lstStyle/>
        <a:p>
          <a:endParaRPr lang="en-US"/>
        </a:p>
      </dgm:t>
    </dgm:pt>
    <dgm:pt modelId="{80D76230-1BD5-4CA6-B5D2-2FBABF51118C}" type="sibTrans" cxnId="{1698C568-A5BF-4760-9795-285DC09EACC5}">
      <dgm:prSet/>
      <dgm:spPr/>
      <dgm:t>
        <a:bodyPr/>
        <a:lstStyle/>
        <a:p>
          <a:endParaRPr lang="en-US"/>
        </a:p>
      </dgm:t>
    </dgm:pt>
    <dgm:pt modelId="{DA7DF5B8-5B65-4034-8132-F3136CD581B9}">
      <dgm:prSet/>
      <dgm:spPr/>
      <dgm:t>
        <a:bodyPr/>
        <a:lstStyle/>
        <a:p>
          <a:r>
            <a:rPr lang="tr-TR" b="0" i="0" baseline="0"/>
            <a:t>3. Adalet kuramı yaklaşımı</a:t>
          </a:r>
          <a:endParaRPr lang="en-US"/>
        </a:p>
      </dgm:t>
    </dgm:pt>
    <dgm:pt modelId="{F4DBF85E-673F-452B-BEDC-3C96716BC3D9}" type="parTrans" cxnId="{CAE9DB1D-774D-469F-9955-D5EB617C4106}">
      <dgm:prSet/>
      <dgm:spPr/>
      <dgm:t>
        <a:bodyPr/>
        <a:lstStyle/>
        <a:p>
          <a:endParaRPr lang="en-US"/>
        </a:p>
      </dgm:t>
    </dgm:pt>
    <dgm:pt modelId="{1FDAFD7A-F13C-432E-91DB-8DEA1CF2F994}" type="sibTrans" cxnId="{CAE9DB1D-774D-469F-9955-D5EB617C4106}">
      <dgm:prSet/>
      <dgm:spPr/>
      <dgm:t>
        <a:bodyPr/>
        <a:lstStyle/>
        <a:p>
          <a:endParaRPr lang="en-US"/>
        </a:p>
      </dgm:t>
    </dgm:pt>
    <dgm:pt modelId="{F13E0E9D-A344-42D8-A8A4-1A1E7DA0C649}">
      <dgm:prSet/>
      <dgm:spPr/>
      <dgm:t>
        <a:bodyPr/>
        <a:lstStyle/>
        <a:p>
          <a:r>
            <a:rPr lang="tr-TR" b="0" i="0" baseline="0"/>
            <a:t>4. Bütünleştirici sosyal sözleşme kuramıdır.</a:t>
          </a:r>
          <a:endParaRPr lang="en-US"/>
        </a:p>
      </dgm:t>
    </dgm:pt>
    <dgm:pt modelId="{2886DAFD-5E1F-4C88-9D8D-4E615F358B5F}" type="parTrans" cxnId="{B6152383-80B7-45B2-860A-8C2D4E8946CE}">
      <dgm:prSet/>
      <dgm:spPr/>
      <dgm:t>
        <a:bodyPr/>
        <a:lstStyle/>
        <a:p>
          <a:endParaRPr lang="en-US"/>
        </a:p>
      </dgm:t>
    </dgm:pt>
    <dgm:pt modelId="{1F29B26E-BCAF-4B88-85E4-1ADA8085EBBA}" type="sibTrans" cxnId="{B6152383-80B7-45B2-860A-8C2D4E8946CE}">
      <dgm:prSet/>
      <dgm:spPr/>
      <dgm:t>
        <a:bodyPr/>
        <a:lstStyle/>
        <a:p>
          <a:endParaRPr lang="en-US"/>
        </a:p>
      </dgm:t>
    </dgm:pt>
    <dgm:pt modelId="{C746DB34-8E91-4A05-90E2-871E9F16519A}" type="pres">
      <dgm:prSet presAssocID="{0FC05DED-0CBD-43E8-8F42-3F8306432B59}" presName="linear" presStyleCnt="0">
        <dgm:presLayoutVars>
          <dgm:animLvl val="lvl"/>
          <dgm:resizeHandles val="exact"/>
        </dgm:presLayoutVars>
      </dgm:prSet>
      <dgm:spPr/>
    </dgm:pt>
    <dgm:pt modelId="{68B756CB-5744-4EF5-A952-35B347CB03F2}" type="pres">
      <dgm:prSet presAssocID="{226D27C5-EDF5-4649-9470-D54FAB96514C}" presName="parentText" presStyleLbl="node1" presStyleIdx="0" presStyleCnt="5">
        <dgm:presLayoutVars>
          <dgm:chMax val="0"/>
          <dgm:bulletEnabled val="1"/>
        </dgm:presLayoutVars>
      </dgm:prSet>
      <dgm:spPr/>
    </dgm:pt>
    <dgm:pt modelId="{113AA5DA-6C29-499D-A8A2-B4CC9640205F}" type="pres">
      <dgm:prSet presAssocID="{FA5BDF86-3532-45B4-A9C9-702C1E453FC8}" presName="spacer" presStyleCnt="0"/>
      <dgm:spPr/>
    </dgm:pt>
    <dgm:pt modelId="{1F602C83-BF65-443B-89D4-CA776FEB4A3F}" type="pres">
      <dgm:prSet presAssocID="{D3DDD9C8-79C6-42BC-A3AD-8E8114FF5A8B}" presName="parentText" presStyleLbl="node1" presStyleIdx="1" presStyleCnt="5">
        <dgm:presLayoutVars>
          <dgm:chMax val="0"/>
          <dgm:bulletEnabled val="1"/>
        </dgm:presLayoutVars>
      </dgm:prSet>
      <dgm:spPr/>
    </dgm:pt>
    <dgm:pt modelId="{9D376438-112A-4AAC-8E03-AC362BD498CD}" type="pres">
      <dgm:prSet presAssocID="{FA81E411-063D-48AF-A19C-63721CF6DEF1}" presName="spacer" presStyleCnt="0"/>
      <dgm:spPr/>
    </dgm:pt>
    <dgm:pt modelId="{3257A747-8B87-4B71-96FC-68C738DB9FB9}" type="pres">
      <dgm:prSet presAssocID="{27AF7480-C201-40C3-AD2E-1C85104FBF95}" presName="parentText" presStyleLbl="node1" presStyleIdx="2" presStyleCnt="5">
        <dgm:presLayoutVars>
          <dgm:chMax val="0"/>
          <dgm:bulletEnabled val="1"/>
        </dgm:presLayoutVars>
      </dgm:prSet>
      <dgm:spPr/>
    </dgm:pt>
    <dgm:pt modelId="{6F8CCBBD-2EC5-442F-B929-510161C18800}" type="pres">
      <dgm:prSet presAssocID="{80D76230-1BD5-4CA6-B5D2-2FBABF51118C}" presName="spacer" presStyleCnt="0"/>
      <dgm:spPr/>
    </dgm:pt>
    <dgm:pt modelId="{9A04D5AE-2193-470E-8877-4525D2DAB556}" type="pres">
      <dgm:prSet presAssocID="{DA7DF5B8-5B65-4034-8132-F3136CD581B9}" presName="parentText" presStyleLbl="node1" presStyleIdx="3" presStyleCnt="5">
        <dgm:presLayoutVars>
          <dgm:chMax val="0"/>
          <dgm:bulletEnabled val="1"/>
        </dgm:presLayoutVars>
      </dgm:prSet>
      <dgm:spPr/>
    </dgm:pt>
    <dgm:pt modelId="{E224C046-0B55-46C2-81DE-BBA60844DFD2}" type="pres">
      <dgm:prSet presAssocID="{1FDAFD7A-F13C-432E-91DB-8DEA1CF2F994}" presName="spacer" presStyleCnt="0"/>
      <dgm:spPr/>
    </dgm:pt>
    <dgm:pt modelId="{D09545AC-7DB0-4589-AFD8-E322966281A4}" type="pres">
      <dgm:prSet presAssocID="{F13E0E9D-A344-42D8-A8A4-1A1E7DA0C649}" presName="parentText" presStyleLbl="node1" presStyleIdx="4" presStyleCnt="5">
        <dgm:presLayoutVars>
          <dgm:chMax val="0"/>
          <dgm:bulletEnabled val="1"/>
        </dgm:presLayoutVars>
      </dgm:prSet>
      <dgm:spPr/>
    </dgm:pt>
  </dgm:ptLst>
  <dgm:cxnLst>
    <dgm:cxn modelId="{CAE9DB1D-774D-469F-9955-D5EB617C4106}" srcId="{0FC05DED-0CBD-43E8-8F42-3F8306432B59}" destId="{DA7DF5B8-5B65-4034-8132-F3136CD581B9}" srcOrd="3" destOrd="0" parTransId="{F4DBF85E-673F-452B-BEDC-3C96716BC3D9}" sibTransId="{1FDAFD7A-F13C-432E-91DB-8DEA1CF2F994}"/>
    <dgm:cxn modelId="{1E358E5F-DF23-452C-8419-1CB1C663E449}" type="presOf" srcId="{DA7DF5B8-5B65-4034-8132-F3136CD581B9}" destId="{9A04D5AE-2193-470E-8877-4525D2DAB556}" srcOrd="0" destOrd="0" presId="urn:microsoft.com/office/officeart/2005/8/layout/vList2"/>
    <dgm:cxn modelId="{1698C568-A5BF-4760-9795-285DC09EACC5}" srcId="{0FC05DED-0CBD-43E8-8F42-3F8306432B59}" destId="{27AF7480-C201-40C3-AD2E-1C85104FBF95}" srcOrd="2" destOrd="0" parTransId="{98611F90-3095-4AE2-B97D-AEA4A8CF0BE2}" sibTransId="{80D76230-1BD5-4CA6-B5D2-2FBABF51118C}"/>
    <dgm:cxn modelId="{2D8A3A70-2AE5-4323-BA75-78337745E714}" type="presOf" srcId="{D3DDD9C8-79C6-42BC-A3AD-8E8114FF5A8B}" destId="{1F602C83-BF65-443B-89D4-CA776FEB4A3F}" srcOrd="0" destOrd="0" presId="urn:microsoft.com/office/officeart/2005/8/layout/vList2"/>
    <dgm:cxn modelId="{B8815379-0897-405A-AD34-3A2CED91503D}" type="presOf" srcId="{0FC05DED-0CBD-43E8-8F42-3F8306432B59}" destId="{C746DB34-8E91-4A05-90E2-871E9F16519A}" srcOrd="0" destOrd="0" presId="urn:microsoft.com/office/officeart/2005/8/layout/vList2"/>
    <dgm:cxn modelId="{E9665B7C-75BD-4877-A446-A1526786BEDC}" srcId="{0FC05DED-0CBD-43E8-8F42-3F8306432B59}" destId="{226D27C5-EDF5-4649-9470-D54FAB96514C}" srcOrd="0" destOrd="0" parTransId="{E40A8EDF-55AC-405A-BED1-2517860DC57A}" sibTransId="{FA5BDF86-3532-45B4-A9C9-702C1E453FC8}"/>
    <dgm:cxn modelId="{B6152383-80B7-45B2-860A-8C2D4E8946CE}" srcId="{0FC05DED-0CBD-43E8-8F42-3F8306432B59}" destId="{F13E0E9D-A344-42D8-A8A4-1A1E7DA0C649}" srcOrd="4" destOrd="0" parTransId="{2886DAFD-5E1F-4C88-9D8D-4E615F358B5F}" sibTransId="{1F29B26E-BCAF-4B88-85E4-1ADA8085EBBA}"/>
    <dgm:cxn modelId="{93134D9E-887D-48A1-A152-2804675EF8C4}" srcId="{0FC05DED-0CBD-43E8-8F42-3F8306432B59}" destId="{D3DDD9C8-79C6-42BC-A3AD-8E8114FF5A8B}" srcOrd="1" destOrd="0" parTransId="{1A901487-CDB3-4D62-B4DB-FADF7C05C43E}" sibTransId="{FA81E411-063D-48AF-A19C-63721CF6DEF1}"/>
    <dgm:cxn modelId="{25C371A4-ECD2-4968-9BDB-08CB78613805}" type="presOf" srcId="{226D27C5-EDF5-4649-9470-D54FAB96514C}" destId="{68B756CB-5744-4EF5-A952-35B347CB03F2}" srcOrd="0" destOrd="0" presId="urn:microsoft.com/office/officeart/2005/8/layout/vList2"/>
    <dgm:cxn modelId="{15D453B1-B464-4BC1-BFC4-5C8F9D21A815}" type="presOf" srcId="{F13E0E9D-A344-42D8-A8A4-1A1E7DA0C649}" destId="{D09545AC-7DB0-4589-AFD8-E322966281A4}" srcOrd="0" destOrd="0" presId="urn:microsoft.com/office/officeart/2005/8/layout/vList2"/>
    <dgm:cxn modelId="{4CD706E1-55A2-4B23-8192-67BA4B6A3E86}" type="presOf" srcId="{27AF7480-C201-40C3-AD2E-1C85104FBF95}" destId="{3257A747-8B87-4B71-96FC-68C738DB9FB9}" srcOrd="0" destOrd="0" presId="urn:microsoft.com/office/officeart/2005/8/layout/vList2"/>
    <dgm:cxn modelId="{103E28AE-2CC2-4073-B8F3-69232B907712}" type="presParOf" srcId="{C746DB34-8E91-4A05-90E2-871E9F16519A}" destId="{68B756CB-5744-4EF5-A952-35B347CB03F2}" srcOrd="0" destOrd="0" presId="urn:microsoft.com/office/officeart/2005/8/layout/vList2"/>
    <dgm:cxn modelId="{0DFBF84E-2BD1-4A3C-8F5F-5E6F6D02F16C}" type="presParOf" srcId="{C746DB34-8E91-4A05-90E2-871E9F16519A}" destId="{113AA5DA-6C29-499D-A8A2-B4CC9640205F}" srcOrd="1" destOrd="0" presId="urn:microsoft.com/office/officeart/2005/8/layout/vList2"/>
    <dgm:cxn modelId="{03699413-229A-4518-997B-544A2A25FFD4}" type="presParOf" srcId="{C746DB34-8E91-4A05-90E2-871E9F16519A}" destId="{1F602C83-BF65-443B-89D4-CA776FEB4A3F}" srcOrd="2" destOrd="0" presId="urn:microsoft.com/office/officeart/2005/8/layout/vList2"/>
    <dgm:cxn modelId="{50A0D266-48D4-4C8B-B497-3C22E70B4BE3}" type="presParOf" srcId="{C746DB34-8E91-4A05-90E2-871E9F16519A}" destId="{9D376438-112A-4AAC-8E03-AC362BD498CD}" srcOrd="3" destOrd="0" presId="urn:microsoft.com/office/officeart/2005/8/layout/vList2"/>
    <dgm:cxn modelId="{8A4DF357-108D-49BA-B0D1-D0AA63E68BAC}" type="presParOf" srcId="{C746DB34-8E91-4A05-90E2-871E9F16519A}" destId="{3257A747-8B87-4B71-96FC-68C738DB9FB9}" srcOrd="4" destOrd="0" presId="urn:microsoft.com/office/officeart/2005/8/layout/vList2"/>
    <dgm:cxn modelId="{C76D0917-2F16-48B9-AE79-199122D26944}" type="presParOf" srcId="{C746DB34-8E91-4A05-90E2-871E9F16519A}" destId="{6F8CCBBD-2EC5-442F-B929-510161C18800}" srcOrd="5" destOrd="0" presId="urn:microsoft.com/office/officeart/2005/8/layout/vList2"/>
    <dgm:cxn modelId="{1987A84D-E697-413B-90E0-BA128A6EA705}" type="presParOf" srcId="{C746DB34-8E91-4A05-90E2-871E9F16519A}" destId="{9A04D5AE-2193-470E-8877-4525D2DAB556}" srcOrd="6" destOrd="0" presId="urn:microsoft.com/office/officeart/2005/8/layout/vList2"/>
    <dgm:cxn modelId="{E5AC45B3-FC50-4086-929E-A211788BFD55}" type="presParOf" srcId="{C746DB34-8E91-4A05-90E2-871E9F16519A}" destId="{E224C046-0B55-46C2-81DE-BBA60844DFD2}" srcOrd="7" destOrd="0" presId="urn:microsoft.com/office/officeart/2005/8/layout/vList2"/>
    <dgm:cxn modelId="{AFEF48F3-55FE-4D84-A5B1-18B98B5A56DA}" type="presParOf" srcId="{C746DB34-8E91-4A05-90E2-871E9F16519A}" destId="{D09545AC-7DB0-4589-AFD8-E322966281A4}"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F3E4A6-564E-4B50-A091-231D06B7B8C3}"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FC6DA65A-7997-4CDB-A13A-AE07E50CF228}">
      <dgm:prSet/>
      <dgm:spPr/>
      <dgm:t>
        <a:bodyPr/>
        <a:lstStyle/>
        <a:p>
          <a:r>
            <a:rPr lang="tr-TR" b="1" i="0" baseline="0"/>
            <a:t>Bireysel Özellikler: </a:t>
          </a:r>
          <a:r>
            <a:rPr lang="tr-TR" b="0" i="0" baseline="0"/>
            <a:t>Herkes çalıştığı örgüte nispeten yerleşik değerleriyle birlikte gelir. Bireyin erken yaşlarda ailesinden, arkadaşlarından, öğretmenlerinden ve diğerlerinden öğrendiği ve geliştirdiği bu değerler, neyin doğru neyin yanlış olduğu konusunda temel muhakemelerini belirler. İşletme yöneticilerinin birbirinden çok farklı bireysel değerlere sahip çalışanlarla karşı karşıya olduklarının farkında olmaları gerekir.</a:t>
          </a:r>
          <a:endParaRPr lang="en-US"/>
        </a:p>
      </dgm:t>
    </dgm:pt>
    <dgm:pt modelId="{4E20FE9D-1717-4142-A0AF-EF798C088B32}" type="parTrans" cxnId="{13527C26-01DE-45CF-B4EB-B8A70AE179B2}">
      <dgm:prSet/>
      <dgm:spPr/>
      <dgm:t>
        <a:bodyPr/>
        <a:lstStyle/>
        <a:p>
          <a:endParaRPr lang="en-US"/>
        </a:p>
      </dgm:t>
    </dgm:pt>
    <dgm:pt modelId="{D5A65318-53ED-4410-A198-E3A0FC503297}" type="sibTrans" cxnId="{13527C26-01DE-45CF-B4EB-B8A70AE179B2}">
      <dgm:prSet/>
      <dgm:spPr/>
      <dgm:t>
        <a:bodyPr/>
        <a:lstStyle/>
        <a:p>
          <a:endParaRPr lang="en-US"/>
        </a:p>
      </dgm:t>
    </dgm:pt>
    <dgm:pt modelId="{899CF1A3-A82A-4B8A-A3BE-C0DB23A8DB04}">
      <dgm:prSet/>
      <dgm:spPr/>
      <dgm:t>
        <a:bodyPr/>
        <a:lstStyle/>
        <a:p>
          <a:r>
            <a:rPr lang="tr-TR" b="1" i="0" baseline="0"/>
            <a:t>Yapısal Değişkenler: </a:t>
          </a:r>
          <a:r>
            <a:rPr lang="tr-TR" b="0" i="0" baseline="0"/>
            <a:t>Örgütün yapısal tasarımı, örgüt üyelerinin etik davranışlarının oluşmasında yardımcı olur. Bazı yapılar belirsizliği yaratırken bazıları çalışanlar güçlü bir şekilde yol gösterir. Resmî kurallar ve düzenlemeler, iş tanımları, etik kodlar, örgüt içinde etik davranışı teşvik eden ve tutarlı davranmayı yerleştiren önemli unsurlardır. Bu unsurlar, aynı zamanda örgüt içindeki belirsizliği ve yanlış anlamayı da önemli ölçüde azaltırlar.</a:t>
          </a:r>
          <a:endParaRPr lang="en-US"/>
        </a:p>
      </dgm:t>
    </dgm:pt>
    <dgm:pt modelId="{33705A0C-9CA5-422D-B86F-CF1F4B8C7763}" type="parTrans" cxnId="{168FEF93-D365-4CE9-B7E6-D0AEFFEE69E8}">
      <dgm:prSet/>
      <dgm:spPr/>
      <dgm:t>
        <a:bodyPr/>
        <a:lstStyle/>
        <a:p>
          <a:endParaRPr lang="en-US"/>
        </a:p>
      </dgm:t>
    </dgm:pt>
    <dgm:pt modelId="{E0E07380-8FF8-4FA1-B851-7CF3138A25F1}" type="sibTrans" cxnId="{168FEF93-D365-4CE9-B7E6-D0AEFFEE69E8}">
      <dgm:prSet/>
      <dgm:spPr/>
      <dgm:t>
        <a:bodyPr/>
        <a:lstStyle/>
        <a:p>
          <a:endParaRPr lang="en-US"/>
        </a:p>
      </dgm:t>
    </dgm:pt>
    <dgm:pt modelId="{06763294-1030-45D8-9852-752AB2D0AAC4}" type="pres">
      <dgm:prSet presAssocID="{16F3E4A6-564E-4B50-A091-231D06B7B8C3}" presName="hierChild1" presStyleCnt="0">
        <dgm:presLayoutVars>
          <dgm:chPref val="1"/>
          <dgm:dir/>
          <dgm:animOne val="branch"/>
          <dgm:animLvl val="lvl"/>
          <dgm:resizeHandles/>
        </dgm:presLayoutVars>
      </dgm:prSet>
      <dgm:spPr/>
    </dgm:pt>
    <dgm:pt modelId="{C476B8D4-98F3-46CB-A747-6B3A28A8AE94}" type="pres">
      <dgm:prSet presAssocID="{FC6DA65A-7997-4CDB-A13A-AE07E50CF228}" presName="hierRoot1" presStyleCnt="0"/>
      <dgm:spPr/>
    </dgm:pt>
    <dgm:pt modelId="{77DD818B-9B13-41FC-9736-C2354D0ADFBB}" type="pres">
      <dgm:prSet presAssocID="{FC6DA65A-7997-4CDB-A13A-AE07E50CF228}" presName="composite" presStyleCnt="0"/>
      <dgm:spPr/>
    </dgm:pt>
    <dgm:pt modelId="{0D273902-8B8F-4CE2-9632-D72AD56D6669}" type="pres">
      <dgm:prSet presAssocID="{FC6DA65A-7997-4CDB-A13A-AE07E50CF228}" presName="background" presStyleLbl="node0" presStyleIdx="0" presStyleCnt="2"/>
      <dgm:spPr/>
    </dgm:pt>
    <dgm:pt modelId="{184470F3-4E01-4855-B4A0-CD70A0C5884A}" type="pres">
      <dgm:prSet presAssocID="{FC6DA65A-7997-4CDB-A13A-AE07E50CF228}" presName="text" presStyleLbl="fgAcc0" presStyleIdx="0" presStyleCnt="2">
        <dgm:presLayoutVars>
          <dgm:chPref val="3"/>
        </dgm:presLayoutVars>
      </dgm:prSet>
      <dgm:spPr/>
    </dgm:pt>
    <dgm:pt modelId="{B08C986E-653D-4B53-950B-C1B00F680F77}" type="pres">
      <dgm:prSet presAssocID="{FC6DA65A-7997-4CDB-A13A-AE07E50CF228}" presName="hierChild2" presStyleCnt="0"/>
      <dgm:spPr/>
    </dgm:pt>
    <dgm:pt modelId="{A1FEA71B-63A8-4E4F-BF2B-7C05C49BC0FD}" type="pres">
      <dgm:prSet presAssocID="{899CF1A3-A82A-4B8A-A3BE-C0DB23A8DB04}" presName="hierRoot1" presStyleCnt="0"/>
      <dgm:spPr/>
    </dgm:pt>
    <dgm:pt modelId="{FAD2CC8A-7F56-43FE-85D4-9667D31E8CED}" type="pres">
      <dgm:prSet presAssocID="{899CF1A3-A82A-4B8A-A3BE-C0DB23A8DB04}" presName="composite" presStyleCnt="0"/>
      <dgm:spPr/>
    </dgm:pt>
    <dgm:pt modelId="{1CE693F1-ED68-4AC8-9A95-E3056FCD3F88}" type="pres">
      <dgm:prSet presAssocID="{899CF1A3-A82A-4B8A-A3BE-C0DB23A8DB04}" presName="background" presStyleLbl="node0" presStyleIdx="1" presStyleCnt="2"/>
      <dgm:spPr/>
    </dgm:pt>
    <dgm:pt modelId="{1B8EBC69-6CA1-48A2-B389-4793FB6CF695}" type="pres">
      <dgm:prSet presAssocID="{899CF1A3-A82A-4B8A-A3BE-C0DB23A8DB04}" presName="text" presStyleLbl="fgAcc0" presStyleIdx="1" presStyleCnt="2">
        <dgm:presLayoutVars>
          <dgm:chPref val="3"/>
        </dgm:presLayoutVars>
      </dgm:prSet>
      <dgm:spPr/>
    </dgm:pt>
    <dgm:pt modelId="{5509CB93-FB89-4207-934C-0518F81B8D75}" type="pres">
      <dgm:prSet presAssocID="{899CF1A3-A82A-4B8A-A3BE-C0DB23A8DB04}" presName="hierChild2" presStyleCnt="0"/>
      <dgm:spPr/>
    </dgm:pt>
  </dgm:ptLst>
  <dgm:cxnLst>
    <dgm:cxn modelId="{13527C26-01DE-45CF-B4EB-B8A70AE179B2}" srcId="{16F3E4A6-564E-4B50-A091-231D06B7B8C3}" destId="{FC6DA65A-7997-4CDB-A13A-AE07E50CF228}" srcOrd="0" destOrd="0" parTransId="{4E20FE9D-1717-4142-A0AF-EF798C088B32}" sibTransId="{D5A65318-53ED-4410-A198-E3A0FC503297}"/>
    <dgm:cxn modelId="{FA087652-DD78-4C83-AD8E-60DCABFAD938}" type="presOf" srcId="{899CF1A3-A82A-4B8A-A3BE-C0DB23A8DB04}" destId="{1B8EBC69-6CA1-48A2-B389-4793FB6CF695}" srcOrd="0" destOrd="0" presId="urn:microsoft.com/office/officeart/2005/8/layout/hierarchy1"/>
    <dgm:cxn modelId="{A742EA78-BD66-447E-9FC4-3F917BFB9D1D}" type="presOf" srcId="{FC6DA65A-7997-4CDB-A13A-AE07E50CF228}" destId="{184470F3-4E01-4855-B4A0-CD70A0C5884A}" srcOrd="0" destOrd="0" presId="urn:microsoft.com/office/officeart/2005/8/layout/hierarchy1"/>
    <dgm:cxn modelId="{168FEF93-D365-4CE9-B7E6-D0AEFFEE69E8}" srcId="{16F3E4A6-564E-4B50-A091-231D06B7B8C3}" destId="{899CF1A3-A82A-4B8A-A3BE-C0DB23A8DB04}" srcOrd="1" destOrd="0" parTransId="{33705A0C-9CA5-422D-B86F-CF1F4B8C7763}" sibTransId="{E0E07380-8FF8-4FA1-B851-7CF3138A25F1}"/>
    <dgm:cxn modelId="{7B2B48F0-0806-472A-9A30-0296D57A0116}" type="presOf" srcId="{16F3E4A6-564E-4B50-A091-231D06B7B8C3}" destId="{06763294-1030-45D8-9852-752AB2D0AAC4}" srcOrd="0" destOrd="0" presId="urn:microsoft.com/office/officeart/2005/8/layout/hierarchy1"/>
    <dgm:cxn modelId="{DA06D7BF-5B2B-48E3-BACB-931E9FF4F943}" type="presParOf" srcId="{06763294-1030-45D8-9852-752AB2D0AAC4}" destId="{C476B8D4-98F3-46CB-A747-6B3A28A8AE94}" srcOrd="0" destOrd="0" presId="urn:microsoft.com/office/officeart/2005/8/layout/hierarchy1"/>
    <dgm:cxn modelId="{F648CEDD-2637-4FCC-A0C9-9119EB98E7D2}" type="presParOf" srcId="{C476B8D4-98F3-46CB-A747-6B3A28A8AE94}" destId="{77DD818B-9B13-41FC-9736-C2354D0ADFBB}" srcOrd="0" destOrd="0" presId="urn:microsoft.com/office/officeart/2005/8/layout/hierarchy1"/>
    <dgm:cxn modelId="{282ECECA-0BC2-461F-8D14-F1DA516950DA}" type="presParOf" srcId="{77DD818B-9B13-41FC-9736-C2354D0ADFBB}" destId="{0D273902-8B8F-4CE2-9632-D72AD56D6669}" srcOrd="0" destOrd="0" presId="urn:microsoft.com/office/officeart/2005/8/layout/hierarchy1"/>
    <dgm:cxn modelId="{3B9BB090-1D3E-4F41-9446-7F2772358B66}" type="presParOf" srcId="{77DD818B-9B13-41FC-9736-C2354D0ADFBB}" destId="{184470F3-4E01-4855-B4A0-CD70A0C5884A}" srcOrd="1" destOrd="0" presId="urn:microsoft.com/office/officeart/2005/8/layout/hierarchy1"/>
    <dgm:cxn modelId="{DE3D0F26-2E44-4D32-B599-9740A6BAAAF9}" type="presParOf" srcId="{C476B8D4-98F3-46CB-A747-6B3A28A8AE94}" destId="{B08C986E-653D-4B53-950B-C1B00F680F77}" srcOrd="1" destOrd="0" presId="urn:microsoft.com/office/officeart/2005/8/layout/hierarchy1"/>
    <dgm:cxn modelId="{D46A2AC3-7033-4A8E-98C1-A8BBFDA6323D}" type="presParOf" srcId="{06763294-1030-45D8-9852-752AB2D0AAC4}" destId="{A1FEA71B-63A8-4E4F-BF2B-7C05C49BC0FD}" srcOrd="1" destOrd="0" presId="urn:microsoft.com/office/officeart/2005/8/layout/hierarchy1"/>
    <dgm:cxn modelId="{B5F082A0-726C-44D1-8605-ECC4890664A6}" type="presParOf" srcId="{A1FEA71B-63A8-4E4F-BF2B-7C05C49BC0FD}" destId="{FAD2CC8A-7F56-43FE-85D4-9667D31E8CED}" srcOrd="0" destOrd="0" presId="urn:microsoft.com/office/officeart/2005/8/layout/hierarchy1"/>
    <dgm:cxn modelId="{C26B4EBE-14BB-4F84-8D98-892E6D0B15E1}" type="presParOf" srcId="{FAD2CC8A-7F56-43FE-85D4-9667D31E8CED}" destId="{1CE693F1-ED68-4AC8-9A95-E3056FCD3F88}" srcOrd="0" destOrd="0" presId="urn:microsoft.com/office/officeart/2005/8/layout/hierarchy1"/>
    <dgm:cxn modelId="{7BDBF4D4-3393-4E1B-80AC-237F2C72FC2D}" type="presParOf" srcId="{FAD2CC8A-7F56-43FE-85D4-9667D31E8CED}" destId="{1B8EBC69-6CA1-48A2-B389-4793FB6CF695}" srcOrd="1" destOrd="0" presId="urn:microsoft.com/office/officeart/2005/8/layout/hierarchy1"/>
    <dgm:cxn modelId="{23AD9DF6-D65D-420C-8004-CA895A9C0276}" type="presParOf" srcId="{A1FEA71B-63A8-4E4F-BF2B-7C05C49BC0FD}" destId="{5509CB93-FB89-4207-934C-0518F81B8D75}"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E34D14F-A176-440B-A554-6E2B7EFB8DA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79AF0E4-4229-4B6A-BD28-1253571C01ED}">
      <dgm:prSet/>
      <dgm:spPr/>
      <dgm:t>
        <a:bodyPr/>
        <a:lstStyle/>
        <a:p>
          <a:r>
            <a:rPr lang="en-US" b="1" i="0" baseline="0"/>
            <a:t>Etik Yöneticisi, Etik Sorumlusu, Komiteler</a:t>
          </a:r>
          <a:endParaRPr lang="en-US"/>
        </a:p>
      </dgm:t>
    </dgm:pt>
    <dgm:pt modelId="{FC0B3F98-F6C6-461C-BC5F-2985D316A638}" type="parTrans" cxnId="{D2B281C2-C82E-491A-B261-0E4005E28683}">
      <dgm:prSet/>
      <dgm:spPr/>
      <dgm:t>
        <a:bodyPr/>
        <a:lstStyle/>
        <a:p>
          <a:endParaRPr lang="en-US"/>
        </a:p>
      </dgm:t>
    </dgm:pt>
    <dgm:pt modelId="{AD9A4942-1259-4C51-993D-50038CBE803C}" type="sibTrans" cxnId="{D2B281C2-C82E-491A-B261-0E4005E28683}">
      <dgm:prSet/>
      <dgm:spPr/>
      <dgm:t>
        <a:bodyPr/>
        <a:lstStyle/>
        <a:p>
          <a:endParaRPr lang="en-US"/>
        </a:p>
      </dgm:t>
    </dgm:pt>
    <dgm:pt modelId="{7C56FD81-30F7-45FB-8E7A-BC56E6BE0DC4}">
      <dgm:prSet/>
      <dgm:spPr/>
      <dgm:t>
        <a:bodyPr/>
        <a:lstStyle/>
        <a:p>
          <a:r>
            <a:rPr lang="tr-TR" b="0" i="0" baseline="0"/>
            <a:t>Bazı işletmelerde, işletme tarafından tayin edilen yöneticiler aracılığı ile etik konuların değerlendirildiği birtakım komiteler oluşturulabilmektedir. Günümüzde işletmelerin etik konularına daha çok ilgi gösterdikleri, çalışanlarının da iş etiği ve toplumun beklentileri konusunda bilinçlenmesine yönelik politikalar izledikleri söylenebilir. İşletmelerin kuruculuğunu üstlendiği etik komitelerine de rastlanmaktadır.</a:t>
          </a:r>
          <a:endParaRPr lang="en-US"/>
        </a:p>
      </dgm:t>
    </dgm:pt>
    <dgm:pt modelId="{65C001C5-CAA3-444B-A4E0-6648779EB64A}" type="parTrans" cxnId="{CA84BBBC-BC7B-4720-B402-0B8F8532CBA4}">
      <dgm:prSet/>
      <dgm:spPr/>
      <dgm:t>
        <a:bodyPr/>
        <a:lstStyle/>
        <a:p>
          <a:endParaRPr lang="en-US"/>
        </a:p>
      </dgm:t>
    </dgm:pt>
    <dgm:pt modelId="{D7CBDF8F-3E2C-487D-9FF4-48BEF4800078}" type="sibTrans" cxnId="{CA84BBBC-BC7B-4720-B402-0B8F8532CBA4}">
      <dgm:prSet/>
      <dgm:spPr/>
      <dgm:t>
        <a:bodyPr/>
        <a:lstStyle/>
        <a:p>
          <a:endParaRPr lang="en-US"/>
        </a:p>
      </dgm:t>
    </dgm:pt>
    <dgm:pt modelId="{2B099936-AC7C-4ACE-BB8B-33C61EE6D973}">
      <dgm:prSet/>
      <dgm:spPr/>
      <dgm:t>
        <a:bodyPr/>
        <a:lstStyle/>
        <a:p>
          <a:r>
            <a:rPr lang="tr-TR" b="0" i="0" baseline="0"/>
            <a:t>Bu komiteler işletme içerisinde bir departman gibi çalışarak kurumsal sorumluluk alanında tepe yönetimine iletilmek üzere tavsiye kararları almaktadırlar.</a:t>
          </a:r>
          <a:endParaRPr lang="en-US"/>
        </a:p>
      </dgm:t>
    </dgm:pt>
    <dgm:pt modelId="{8EB3D1E4-50CC-4329-AA39-243DCED88EA3}" type="parTrans" cxnId="{DCC8EE3D-4CDD-49E8-B668-265176671F2B}">
      <dgm:prSet/>
      <dgm:spPr/>
      <dgm:t>
        <a:bodyPr/>
        <a:lstStyle/>
        <a:p>
          <a:endParaRPr lang="en-US"/>
        </a:p>
      </dgm:t>
    </dgm:pt>
    <dgm:pt modelId="{3A9DBD51-5E5B-4357-8484-ACAC6E722B08}" type="sibTrans" cxnId="{DCC8EE3D-4CDD-49E8-B668-265176671F2B}">
      <dgm:prSet/>
      <dgm:spPr/>
      <dgm:t>
        <a:bodyPr/>
        <a:lstStyle/>
        <a:p>
          <a:endParaRPr lang="en-US"/>
        </a:p>
      </dgm:t>
    </dgm:pt>
    <dgm:pt modelId="{AE4F5ED8-899A-4D2F-959B-16E9C67E999A}">
      <dgm:prSet/>
      <dgm:spPr/>
      <dgm:t>
        <a:bodyPr/>
        <a:lstStyle/>
        <a:p>
          <a:r>
            <a:rPr lang="tr-TR" b="0" i="0" baseline="0"/>
            <a:t>Ayrıca kurum içinde iletişim kanallarını açık tutarak etik olmayan uygulamaları önlemek için adımlar atılabilir. Ücretsiz telefon hatlarıyla, etik komitelerine ya da danışmanlarına ulaşabilmesi, çalışanları etikle bağdaşmayan uygulamaları bildirmeye yöneltmek için yararlı olabilir.</a:t>
          </a:r>
          <a:endParaRPr lang="en-US"/>
        </a:p>
      </dgm:t>
    </dgm:pt>
    <dgm:pt modelId="{697A595B-AD91-4D9E-8CC4-CFC8552345C9}" type="parTrans" cxnId="{E004D1DE-EDEF-49E8-8519-F9BAC9739D97}">
      <dgm:prSet/>
      <dgm:spPr/>
      <dgm:t>
        <a:bodyPr/>
        <a:lstStyle/>
        <a:p>
          <a:endParaRPr lang="en-US"/>
        </a:p>
      </dgm:t>
    </dgm:pt>
    <dgm:pt modelId="{4228768C-B0FE-4996-B84F-F2F84CCB2D3C}" type="sibTrans" cxnId="{E004D1DE-EDEF-49E8-8519-F9BAC9739D97}">
      <dgm:prSet/>
      <dgm:spPr/>
      <dgm:t>
        <a:bodyPr/>
        <a:lstStyle/>
        <a:p>
          <a:endParaRPr lang="en-US"/>
        </a:p>
      </dgm:t>
    </dgm:pt>
    <dgm:pt modelId="{E79ED683-BFF6-4261-94FB-B6A74E5D304F}" type="pres">
      <dgm:prSet presAssocID="{4E34D14F-A176-440B-A554-6E2B7EFB8DAA}" presName="root" presStyleCnt="0">
        <dgm:presLayoutVars>
          <dgm:dir/>
          <dgm:resizeHandles val="exact"/>
        </dgm:presLayoutVars>
      </dgm:prSet>
      <dgm:spPr/>
    </dgm:pt>
    <dgm:pt modelId="{4D5AD8A2-2282-4272-97CA-DE4D6E0BE978}" type="pres">
      <dgm:prSet presAssocID="{279AF0E4-4229-4B6A-BD28-1253571C01ED}" presName="compNode" presStyleCnt="0"/>
      <dgm:spPr/>
    </dgm:pt>
    <dgm:pt modelId="{541B4A34-574B-4E09-AE73-1C371DE9F95B}" type="pres">
      <dgm:prSet presAssocID="{279AF0E4-4229-4B6A-BD28-1253571C01ED}" presName="bgRect" presStyleLbl="bgShp" presStyleIdx="0" presStyleCnt="4"/>
      <dgm:spPr/>
    </dgm:pt>
    <dgm:pt modelId="{824E4202-06B4-4298-8374-18E8F6F5AA2E}" type="pres">
      <dgm:prSet presAssocID="{279AF0E4-4229-4B6A-BD28-1253571C01E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yerarşi"/>
        </a:ext>
      </dgm:extLst>
    </dgm:pt>
    <dgm:pt modelId="{17045FF5-2A59-4E0C-AF7D-2FBE67D1A663}" type="pres">
      <dgm:prSet presAssocID="{279AF0E4-4229-4B6A-BD28-1253571C01ED}" presName="spaceRect" presStyleCnt="0"/>
      <dgm:spPr/>
    </dgm:pt>
    <dgm:pt modelId="{7B91B9A4-6E34-437A-A243-15013B9E574D}" type="pres">
      <dgm:prSet presAssocID="{279AF0E4-4229-4B6A-BD28-1253571C01ED}" presName="parTx" presStyleLbl="revTx" presStyleIdx="0" presStyleCnt="4">
        <dgm:presLayoutVars>
          <dgm:chMax val="0"/>
          <dgm:chPref val="0"/>
        </dgm:presLayoutVars>
      </dgm:prSet>
      <dgm:spPr/>
    </dgm:pt>
    <dgm:pt modelId="{C7CFD294-A092-46AC-BEC1-C107916B5FAD}" type="pres">
      <dgm:prSet presAssocID="{AD9A4942-1259-4C51-993D-50038CBE803C}" presName="sibTrans" presStyleCnt="0"/>
      <dgm:spPr/>
    </dgm:pt>
    <dgm:pt modelId="{F0E05B85-733E-4B5B-A9A3-99A7BFA75309}" type="pres">
      <dgm:prSet presAssocID="{7C56FD81-30F7-45FB-8E7A-BC56E6BE0DC4}" presName="compNode" presStyleCnt="0"/>
      <dgm:spPr/>
    </dgm:pt>
    <dgm:pt modelId="{F8481ED3-4521-4D53-A58A-644E5F571E8D}" type="pres">
      <dgm:prSet presAssocID="{7C56FD81-30F7-45FB-8E7A-BC56E6BE0DC4}" presName="bgRect" presStyleLbl="bgShp" presStyleIdx="1" presStyleCnt="4"/>
      <dgm:spPr/>
    </dgm:pt>
    <dgm:pt modelId="{CF1DB67E-444D-4E71-B0D4-AD8F5D7C5CCE}" type="pres">
      <dgm:prSet presAssocID="{7C56FD81-30F7-45FB-8E7A-BC56E6BE0DC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36AA9A35-71A2-42D2-84C1-76F746296954}" type="pres">
      <dgm:prSet presAssocID="{7C56FD81-30F7-45FB-8E7A-BC56E6BE0DC4}" presName="spaceRect" presStyleCnt="0"/>
      <dgm:spPr/>
    </dgm:pt>
    <dgm:pt modelId="{46F88975-B49B-4087-9F4A-F8B9AB4C7063}" type="pres">
      <dgm:prSet presAssocID="{7C56FD81-30F7-45FB-8E7A-BC56E6BE0DC4}" presName="parTx" presStyleLbl="revTx" presStyleIdx="1" presStyleCnt="4">
        <dgm:presLayoutVars>
          <dgm:chMax val="0"/>
          <dgm:chPref val="0"/>
        </dgm:presLayoutVars>
      </dgm:prSet>
      <dgm:spPr/>
    </dgm:pt>
    <dgm:pt modelId="{86D325F8-37F6-4EFE-B26F-180615FFE56C}" type="pres">
      <dgm:prSet presAssocID="{D7CBDF8F-3E2C-487D-9FF4-48BEF4800078}" presName="sibTrans" presStyleCnt="0"/>
      <dgm:spPr/>
    </dgm:pt>
    <dgm:pt modelId="{AC9AF16B-3BB5-4B3F-9B2C-50F783156686}" type="pres">
      <dgm:prSet presAssocID="{2B099936-AC7C-4ACE-BB8B-33C61EE6D973}" presName="compNode" presStyleCnt="0"/>
      <dgm:spPr/>
    </dgm:pt>
    <dgm:pt modelId="{B7029883-4391-4116-A257-23B4287AC4ED}" type="pres">
      <dgm:prSet presAssocID="{2B099936-AC7C-4ACE-BB8B-33C61EE6D973}" presName="bgRect" presStyleLbl="bgShp" presStyleIdx="2" presStyleCnt="4"/>
      <dgm:spPr/>
    </dgm:pt>
    <dgm:pt modelId="{9FFBF5D2-8FE4-49A4-A225-4109F8CE0600}" type="pres">
      <dgm:prSet presAssocID="{2B099936-AC7C-4ACE-BB8B-33C61EE6D97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oplantı"/>
        </a:ext>
      </dgm:extLst>
    </dgm:pt>
    <dgm:pt modelId="{62A382AE-CF6D-429D-98A8-95E2AC2CD38A}" type="pres">
      <dgm:prSet presAssocID="{2B099936-AC7C-4ACE-BB8B-33C61EE6D973}" presName="spaceRect" presStyleCnt="0"/>
      <dgm:spPr/>
    </dgm:pt>
    <dgm:pt modelId="{4FB04481-A076-4C2F-85E3-0139692A83DF}" type="pres">
      <dgm:prSet presAssocID="{2B099936-AC7C-4ACE-BB8B-33C61EE6D973}" presName="parTx" presStyleLbl="revTx" presStyleIdx="2" presStyleCnt="4">
        <dgm:presLayoutVars>
          <dgm:chMax val="0"/>
          <dgm:chPref val="0"/>
        </dgm:presLayoutVars>
      </dgm:prSet>
      <dgm:spPr/>
    </dgm:pt>
    <dgm:pt modelId="{11FD34C6-E524-4600-9B1C-C7CA7D7D8F16}" type="pres">
      <dgm:prSet presAssocID="{3A9DBD51-5E5B-4357-8484-ACAC6E722B08}" presName="sibTrans" presStyleCnt="0"/>
      <dgm:spPr/>
    </dgm:pt>
    <dgm:pt modelId="{DECD4ADC-E048-43E1-952E-E6C9AF968D05}" type="pres">
      <dgm:prSet presAssocID="{AE4F5ED8-899A-4D2F-959B-16E9C67E999A}" presName="compNode" presStyleCnt="0"/>
      <dgm:spPr/>
    </dgm:pt>
    <dgm:pt modelId="{FE101EAD-4800-4616-A2C3-57EB20338FB3}" type="pres">
      <dgm:prSet presAssocID="{AE4F5ED8-899A-4D2F-959B-16E9C67E999A}" presName="bgRect" presStyleLbl="bgShp" presStyleIdx="3" presStyleCnt="4"/>
      <dgm:spPr/>
    </dgm:pt>
    <dgm:pt modelId="{BC573E25-840F-4C6C-B12B-135A694A080D}" type="pres">
      <dgm:prSet presAssocID="{AE4F5ED8-899A-4D2F-959B-16E9C67E999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hriş edici"/>
        </a:ext>
      </dgm:extLst>
    </dgm:pt>
    <dgm:pt modelId="{90A0B340-9FA0-410A-B228-C7E3E9E10B42}" type="pres">
      <dgm:prSet presAssocID="{AE4F5ED8-899A-4D2F-959B-16E9C67E999A}" presName="spaceRect" presStyleCnt="0"/>
      <dgm:spPr/>
    </dgm:pt>
    <dgm:pt modelId="{E10CEE14-D920-4D21-A35E-1A75C8D4F050}" type="pres">
      <dgm:prSet presAssocID="{AE4F5ED8-899A-4D2F-959B-16E9C67E999A}" presName="parTx" presStyleLbl="revTx" presStyleIdx="3" presStyleCnt="4">
        <dgm:presLayoutVars>
          <dgm:chMax val="0"/>
          <dgm:chPref val="0"/>
        </dgm:presLayoutVars>
      </dgm:prSet>
      <dgm:spPr/>
    </dgm:pt>
  </dgm:ptLst>
  <dgm:cxnLst>
    <dgm:cxn modelId="{DCC8EE3D-4CDD-49E8-B668-265176671F2B}" srcId="{4E34D14F-A176-440B-A554-6E2B7EFB8DAA}" destId="{2B099936-AC7C-4ACE-BB8B-33C61EE6D973}" srcOrd="2" destOrd="0" parTransId="{8EB3D1E4-50CC-4329-AA39-243DCED88EA3}" sibTransId="{3A9DBD51-5E5B-4357-8484-ACAC6E722B08}"/>
    <dgm:cxn modelId="{B3DEA945-9B89-48DD-ACCF-3DFDDAE336BA}" type="presOf" srcId="{279AF0E4-4229-4B6A-BD28-1253571C01ED}" destId="{7B91B9A4-6E34-437A-A243-15013B9E574D}" srcOrd="0" destOrd="0" presId="urn:microsoft.com/office/officeart/2018/2/layout/IconVerticalSolidList"/>
    <dgm:cxn modelId="{06767369-B047-43E4-83DC-D47934D9BD43}" type="presOf" srcId="{7C56FD81-30F7-45FB-8E7A-BC56E6BE0DC4}" destId="{46F88975-B49B-4087-9F4A-F8B9AB4C7063}" srcOrd="0" destOrd="0" presId="urn:microsoft.com/office/officeart/2018/2/layout/IconVerticalSolidList"/>
    <dgm:cxn modelId="{01D4777E-59C2-4C73-8D21-A4A4DABC3BBF}" type="presOf" srcId="{AE4F5ED8-899A-4D2F-959B-16E9C67E999A}" destId="{E10CEE14-D920-4D21-A35E-1A75C8D4F050}" srcOrd="0" destOrd="0" presId="urn:microsoft.com/office/officeart/2018/2/layout/IconVerticalSolidList"/>
    <dgm:cxn modelId="{CA84BBBC-BC7B-4720-B402-0B8F8532CBA4}" srcId="{4E34D14F-A176-440B-A554-6E2B7EFB8DAA}" destId="{7C56FD81-30F7-45FB-8E7A-BC56E6BE0DC4}" srcOrd="1" destOrd="0" parTransId="{65C001C5-CAA3-444B-A4E0-6648779EB64A}" sibTransId="{D7CBDF8F-3E2C-487D-9FF4-48BEF4800078}"/>
    <dgm:cxn modelId="{D2B281C2-C82E-491A-B261-0E4005E28683}" srcId="{4E34D14F-A176-440B-A554-6E2B7EFB8DAA}" destId="{279AF0E4-4229-4B6A-BD28-1253571C01ED}" srcOrd="0" destOrd="0" parTransId="{FC0B3F98-F6C6-461C-BC5F-2985D316A638}" sibTransId="{AD9A4942-1259-4C51-993D-50038CBE803C}"/>
    <dgm:cxn modelId="{4D7054D0-F032-4D12-985F-F88C101E08B2}" type="presOf" srcId="{4E34D14F-A176-440B-A554-6E2B7EFB8DAA}" destId="{E79ED683-BFF6-4261-94FB-B6A74E5D304F}" srcOrd="0" destOrd="0" presId="urn:microsoft.com/office/officeart/2018/2/layout/IconVerticalSolidList"/>
    <dgm:cxn modelId="{82F23EDD-7F6E-4DC2-9486-B98F1ED1F6C4}" type="presOf" srcId="{2B099936-AC7C-4ACE-BB8B-33C61EE6D973}" destId="{4FB04481-A076-4C2F-85E3-0139692A83DF}" srcOrd="0" destOrd="0" presId="urn:microsoft.com/office/officeart/2018/2/layout/IconVerticalSolidList"/>
    <dgm:cxn modelId="{E004D1DE-EDEF-49E8-8519-F9BAC9739D97}" srcId="{4E34D14F-A176-440B-A554-6E2B7EFB8DAA}" destId="{AE4F5ED8-899A-4D2F-959B-16E9C67E999A}" srcOrd="3" destOrd="0" parTransId="{697A595B-AD91-4D9E-8CC4-CFC8552345C9}" sibTransId="{4228768C-B0FE-4996-B84F-F2F84CCB2D3C}"/>
    <dgm:cxn modelId="{3BF65B0A-9FE0-49C8-8256-1C6B5AF6344A}" type="presParOf" srcId="{E79ED683-BFF6-4261-94FB-B6A74E5D304F}" destId="{4D5AD8A2-2282-4272-97CA-DE4D6E0BE978}" srcOrd="0" destOrd="0" presId="urn:microsoft.com/office/officeart/2018/2/layout/IconVerticalSolidList"/>
    <dgm:cxn modelId="{90E00448-F395-4F6A-ABC3-34F755A5D005}" type="presParOf" srcId="{4D5AD8A2-2282-4272-97CA-DE4D6E0BE978}" destId="{541B4A34-574B-4E09-AE73-1C371DE9F95B}" srcOrd="0" destOrd="0" presId="urn:microsoft.com/office/officeart/2018/2/layout/IconVerticalSolidList"/>
    <dgm:cxn modelId="{540CE5DB-CA2C-487C-B2A0-55DB46F4B57D}" type="presParOf" srcId="{4D5AD8A2-2282-4272-97CA-DE4D6E0BE978}" destId="{824E4202-06B4-4298-8374-18E8F6F5AA2E}" srcOrd="1" destOrd="0" presId="urn:microsoft.com/office/officeart/2018/2/layout/IconVerticalSolidList"/>
    <dgm:cxn modelId="{207E8341-C74A-409D-9070-7B8A0588444D}" type="presParOf" srcId="{4D5AD8A2-2282-4272-97CA-DE4D6E0BE978}" destId="{17045FF5-2A59-4E0C-AF7D-2FBE67D1A663}" srcOrd="2" destOrd="0" presId="urn:microsoft.com/office/officeart/2018/2/layout/IconVerticalSolidList"/>
    <dgm:cxn modelId="{00075D4F-4693-4BD4-83A5-8B7E7C45A84C}" type="presParOf" srcId="{4D5AD8A2-2282-4272-97CA-DE4D6E0BE978}" destId="{7B91B9A4-6E34-437A-A243-15013B9E574D}" srcOrd="3" destOrd="0" presId="urn:microsoft.com/office/officeart/2018/2/layout/IconVerticalSolidList"/>
    <dgm:cxn modelId="{1769A6B8-4AA5-4D1D-8315-3381068780BE}" type="presParOf" srcId="{E79ED683-BFF6-4261-94FB-B6A74E5D304F}" destId="{C7CFD294-A092-46AC-BEC1-C107916B5FAD}" srcOrd="1" destOrd="0" presId="urn:microsoft.com/office/officeart/2018/2/layout/IconVerticalSolidList"/>
    <dgm:cxn modelId="{2E6CAAF0-0B5A-4166-A434-713BA2EFDAED}" type="presParOf" srcId="{E79ED683-BFF6-4261-94FB-B6A74E5D304F}" destId="{F0E05B85-733E-4B5B-A9A3-99A7BFA75309}" srcOrd="2" destOrd="0" presId="urn:microsoft.com/office/officeart/2018/2/layout/IconVerticalSolidList"/>
    <dgm:cxn modelId="{1C56B884-91F6-484A-8457-BB0F807C01F2}" type="presParOf" srcId="{F0E05B85-733E-4B5B-A9A3-99A7BFA75309}" destId="{F8481ED3-4521-4D53-A58A-644E5F571E8D}" srcOrd="0" destOrd="0" presId="urn:microsoft.com/office/officeart/2018/2/layout/IconVerticalSolidList"/>
    <dgm:cxn modelId="{62CFAA34-3A2E-4F95-98B5-6410D58AFEC5}" type="presParOf" srcId="{F0E05B85-733E-4B5B-A9A3-99A7BFA75309}" destId="{CF1DB67E-444D-4E71-B0D4-AD8F5D7C5CCE}" srcOrd="1" destOrd="0" presId="urn:microsoft.com/office/officeart/2018/2/layout/IconVerticalSolidList"/>
    <dgm:cxn modelId="{F518B87D-CE1A-4BC5-AA0E-D0105B10BB46}" type="presParOf" srcId="{F0E05B85-733E-4B5B-A9A3-99A7BFA75309}" destId="{36AA9A35-71A2-42D2-84C1-76F746296954}" srcOrd="2" destOrd="0" presId="urn:microsoft.com/office/officeart/2018/2/layout/IconVerticalSolidList"/>
    <dgm:cxn modelId="{E2EDF251-46CE-4F2B-9834-FD988BDE4BD3}" type="presParOf" srcId="{F0E05B85-733E-4B5B-A9A3-99A7BFA75309}" destId="{46F88975-B49B-4087-9F4A-F8B9AB4C7063}" srcOrd="3" destOrd="0" presId="urn:microsoft.com/office/officeart/2018/2/layout/IconVerticalSolidList"/>
    <dgm:cxn modelId="{D9B66A17-BA0B-49BD-AF11-D80EA55306E7}" type="presParOf" srcId="{E79ED683-BFF6-4261-94FB-B6A74E5D304F}" destId="{86D325F8-37F6-4EFE-B26F-180615FFE56C}" srcOrd="3" destOrd="0" presId="urn:microsoft.com/office/officeart/2018/2/layout/IconVerticalSolidList"/>
    <dgm:cxn modelId="{EEA5057F-FBBB-4909-AAC7-85272D725444}" type="presParOf" srcId="{E79ED683-BFF6-4261-94FB-B6A74E5D304F}" destId="{AC9AF16B-3BB5-4B3F-9B2C-50F783156686}" srcOrd="4" destOrd="0" presId="urn:microsoft.com/office/officeart/2018/2/layout/IconVerticalSolidList"/>
    <dgm:cxn modelId="{43DB8DEF-F4C9-48C6-B5D2-1BAAC6BE4F3C}" type="presParOf" srcId="{AC9AF16B-3BB5-4B3F-9B2C-50F783156686}" destId="{B7029883-4391-4116-A257-23B4287AC4ED}" srcOrd="0" destOrd="0" presId="urn:microsoft.com/office/officeart/2018/2/layout/IconVerticalSolidList"/>
    <dgm:cxn modelId="{7068FD8F-624D-489F-B57F-C3D55119D147}" type="presParOf" srcId="{AC9AF16B-3BB5-4B3F-9B2C-50F783156686}" destId="{9FFBF5D2-8FE4-49A4-A225-4109F8CE0600}" srcOrd="1" destOrd="0" presId="urn:microsoft.com/office/officeart/2018/2/layout/IconVerticalSolidList"/>
    <dgm:cxn modelId="{3AECEC78-83CF-4134-9301-94DE4223150E}" type="presParOf" srcId="{AC9AF16B-3BB5-4B3F-9B2C-50F783156686}" destId="{62A382AE-CF6D-429D-98A8-95E2AC2CD38A}" srcOrd="2" destOrd="0" presId="urn:microsoft.com/office/officeart/2018/2/layout/IconVerticalSolidList"/>
    <dgm:cxn modelId="{C7C3F676-5CC1-491A-96A8-D2D8DAF0AFCA}" type="presParOf" srcId="{AC9AF16B-3BB5-4B3F-9B2C-50F783156686}" destId="{4FB04481-A076-4C2F-85E3-0139692A83DF}" srcOrd="3" destOrd="0" presId="urn:microsoft.com/office/officeart/2018/2/layout/IconVerticalSolidList"/>
    <dgm:cxn modelId="{5403E0A4-A338-41FD-8DBB-E83B81C24D57}" type="presParOf" srcId="{E79ED683-BFF6-4261-94FB-B6A74E5D304F}" destId="{11FD34C6-E524-4600-9B1C-C7CA7D7D8F16}" srcOrd="5" destOrd="0" presId="urn:microsoft.com/office/officeart/2018/2/layout/IconVerticalSolidList"/>
    <dgm:cxn modelId="{E6FED759-C918-4D5C-816F-4EA8C1040CAD}" type="presParOf" srcId="{E79ED683-BFF6-4261-94FB-B6A74E5D304F}" destId="{DECD4ADC-E048-43E1-952E-E6C9AF968D05}" srcOrd="6" destOrd="0" presId="urn:microsoft.com/office/officeart/2018/2/layout/IconVerticalSolidList"/>
    <dgm:cxn modelId="{3579A518-BF87-4F21-8678-BC36241ECB41}" type="presParOf" srcId="{DECD4ADC-E048-43E1-952E-E6C9AF968D05}" destId="{FE101EAD-4800-4616-A2C3-57EB20338FB3}" srcOrd="0" destOrd="0" presId="urn:microsoft.com/office/officeart/2018/2/layout/IconVerticalSolidList"/>
    <dgm:cxn modelId="{0814CC43-CC89-447A-9A54-3611B67AEF6E}" type="presParOf" srcId="{DECD4ADC-E048-43E1-952E-E6C9AF968D05}" destId="{BC573E25-840F-4C6C-B12B-135A694A080D}" srcOrd="1" destOrd="0" presId="urn:microsoft.com/office/officeart/2018/2/layout/IconVerticalSolidList"/>
    <dgm:cxn modelId="{4FF200A7-ED59-4318-9755-BA0FE40373F5}" type="presParOf" srcId="{DECD4ADC-E048-43E1-952E-E6C9AF968D05}" destId="{90A0B340-9FA0-410A-B228-C7E3E9E10B42}" srcOrd="2" destOrd="0" presId="urn:microsoft.com/office/officeart/2018/2/layout/IconVerticalSolidList"/>
    <dgm:cxn modelId="{E22BD417-6272-412B-BA66-5CCA933957EE}" type="presParOf" srcId="{DECD4ADC-E048-43E1-952E-E6C9AF968D05}" destId="{E10CEE14-D920-4D21-A35E-1A75C8D4F05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B7E4A6C-9C67-4D62-8068-D47C6961974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F97A509-FF22-4A05-9CF2-C3BE902E16D3}">
      <dgm:prSet/>
      <dgm:spPr/>
      <dgm:t>
        <a:bodyPr/>
        <a:lstStyle/>
        <a:p>
          <a:r>
            <a:rPr lang="tr-TR" b="1" i="0" baseline="0"/>
            <a:t>Denetim, Hesap Verme, Raporlama</a:t>
          </a:r>
          <a:endParaRPr lang="en-US"/>
        </a:p>
      </dgm:t>
    </dgm:pt>
    <dgm:pt modelId="{994E7F9F-E565-47AD-A150-93783C7FB80E}" type="parTrans" cxnId="{8E28CD3F-6FA8-4E18-91CF-9BC1AA5A2667}">
      <dgm:prSet/>
      <dgm:spPr/>
      <dgm:t>
        <a:bodyPr/>
        <a:lstStyle/>
        <a:p>
          <a:endParaRPr lang="en-US"/>
        </a:p>
      </dgm:t>
    </dgm:pt>
    <dgm:pt modelId="{E37A5879-1915-4587-859E-D2945429B40C}" type="sibTrans" cxnId="{8E28CD3F-6FA8-4E18-91CF-9BC1AA5A2667}">
      <dgm:prSet/>
      <dgm:spPr/>
      <dgm:t>
        <a:bodyPr/>
        <a:lstStyle/>
        <a:p>
          <a:endParaRPr lang="en-US"/>
        </a:p>
      </dgm:t>
    </dgm:pt>
    <dgm:pt modelId="{A6B43381-557F-4715-BAD8-C4FDB0CBCDDD}">
      <dgm:prSet/>
      <dgm:spPr/>
      <dgm:t>
        <a:bodyPr/>
        <a:lstStyle/>
        <a:p>
          <a:r>
            <a:rPr lang="tr-TR" b="0" i="0" baseline="0"/>
            <a:t>İşletmelerin hesap verme, değerlendirme ve iletişim alanlarında iş etiğine günümüzde daha çok önem verdiğini söyleyebiliriz. Ayrıca, günümüz işletmeleri ve özellikle ilk 250 içerisinde yer alan büyük işletmeler, kurumsal sorumluluk raporları yayımlamaktadır. Yapılan bir araştırma sonucunda kurumsal rapor yayınlama oranı, %90’lık oranla en çok Japonya’da, %20’lik oranla en az Meksika’da görülmektedir.</a:t>
          </a:r>
          <a:endParaRPr lang="en-US"/>
        </a:p>
      </dgm:t>
    </dgm:pt>
    <dgm:pt modelId="{A3A65FF2-B997-4937-8AF2-EE0F9856DE1E}" type="parTrans" cxnId="{6A3A8D06-216C-4424-8513-9131CB528638}">
      <dgm:prSet/>
      <dgm:spPr/>
      <dgm:t>
        <a:bodyPr/>
        <a:lstStyle/>
        <a:p>
          <a:endParaRPr lang="en-US"/>
        </a:p>
      </dgm:t>
    </dgm:pt>
    <dgm:pt modelId="{C4033D1D-834C-494B-BBE8-9BD32BD499D6}" type="sibTrans" cxnId="{6A3A8D06-216C-4424-8513-9131CB528638}">
      <dgm:prSet/>
      <dgm:spPr/>
      <dgm:t>
        <a:bodyPr/>
        <a:lstStyle/>
        <a:p>
          <a:endParaRPr lang="en-US"/>
        </a:p>
      </dgm:t>
    </dgm:pt>
    <dgm:pt modelId="{8E959225-7018-4B34-9760-C6567406CA54}">
      <dgm:prSet/>
      <dgm:spPr/>
      <dgm:t>
        <a:bodyPr/>
        <a:lstStyle/>
        <a:p>
          <a:r>
            <a:rPr lang="tr-TR" b="0" i="0" baseline="0"/>
            <a:t>Uluslararası ekonomik kuruluşlar, küresel rekabetin arttığı günümüz ortamında kurumsal ve sosyal sorumluluk alanında yapılacak çalışmaların önemine dikkati çekmektedirler.</a:t>
          </a:r>
          <a:endParaRPr lang="en-US"/>
        </a:p>
      </dgm:t>
    </dgm:pt>
    <dgm:pt modelId="{29FBE4B8-5D4F-40E1-BA4A-F6178DA0B646}" type="parTrans" cxnId="{C9245060-234D-44C5-9F65-83E7D1A1978B}">
      <dgm:prSet/>
      <dgm:spPr/>
      <dgm:t>
        <a:bodyPr/>
        <a:lstStyle/>
        <a:p>
          <a:endParaRPr lang="en-US"/>
        </a:p>
      </dgm:t>
    </dgm:pt>
    <dgm:pt modelId="{D3E4A5E9-A51B-4FBE-9DE3-D75256415262}" type="sibTrans" cxnId="{C9245060-234D-44C5-9F65-83E7D1A1978B}">
      <dgm:prSet/>
      <dgm:spPr/>
      <dgm:t>
        <a:bodyPr/>
        <a:lstStyle/>
        <a:p>
          <a:endParaRPr lang="en-US"/>
        </a:p>
      </dgm:t>
    </dgm:pt>
    <dgm:pt modelId="{49295A4D-5ED5-4091-980F-6C80E08D5703}" type="pres">
      <dgm:prSet presAssocID="{AB7E4A6C-9C67-4D62-8068-D47C69619746}" presName="linear" presStyleCnt="0">
        <dgm:presLayoutVars>
          <dgm:animLvl val="lvl"/>
          <dgm:resizeHandles val="exact"/>
        </dgm:presLayoutVars>
      </dgm:prSet>
      <dgm:spPr/>
    </dgm:pt>
    <dgm:pt modelId="{7235C78A-D095-4042-B222-48F72D0146F4}" type="pres">
      <dgm:prSet presAssocID="{4F97A509-FF22-4A05-9CF2-C3BE902E16D3}" presName="parentText" presStyleLbl="node1" presStyleIdx="0" presStyleCnt="3">
        <dgm:presLayoutVars>
          <dgm:chMax val="0"/>
          <dgm:bulletEnabled val="1"/>
        </dgm:presLayoutVars>
      </dgm:prSet>
      <dgm:spPr/>
    </dgm:pt>
    <dgm:pt modelId="{6EDC5929-735D-497D-8F8D-460B15385875}" type="pres">
      <dgm:prSet presAssocID="{E37A5879-1915-4587-859E-D2945429B40C}" presName="spacer" presStyleCnt="0"/>
      <dgm:spPr/>
    </dgm:pt>
    <dgm:pt modelId="{0F9E3EC8-E0B3-4F4A-B34C-DE1F18CE4339}" type="pres">
      <dgm:prSet presAssocID="{A6B43381-557F-4715-BAD8-C4FDB0CBCDDD}" presName="parentText" presStyleLbl="node1" presStyleIdx="1" presStyleCnt="3">
        <dgm:presLayoutVars>
          <dgm:chMax val="0"/>
          <dgm:bulletEnabled val="1"/>
        </dgm:presLayoutVars>
      </dgm:prSet>
      <dgm:spPr/>
    </dgm:pt>
    <dgm:pt modelId="{294169A7-370B-4FCC-AB66-054058FBC7CD}" type="pres">
      <dgm:prSet presAssocID="{C4033D1D-834C-494B-BBE8-9BD32BD499D6}" presName="spacer" presStyleCnt="0"/>
      <dgm:spPr/>
    </dgm:pt>
    <dgm:pt modelId="{62160339-7B34-45B0-AA1D-1C797749C877}" type="pres">
      <dgm:prSet presAssocID="{8E959225-7018-4B34-9760-C6567406CA54}" presName="parentText" presStyleLbl="node1" presStyleIdx="2" presStyleCnt="3">
        <dgm:presLayoutVars>
          <dgm:chMax val="0"/>
          <dgm:bulletEnabled val="1"/>
        </dgm:presLayoutVars>
      </dgm:prSet>
      <dgm:spPr/>
    </dgm:pt>
  </dgm:ptLst>
  <dgm:cxnLst>
    <dgm:cxn modelId="{6A3A8D06-216C-4424-8513-9131CB528638}" srcId="{AB7E4A6C-9C67-4D62-8068-D47C69619746}" destId="{A6B43381-557F-4715-BAD8-C4FDB0CBCDDD}" srcOrd="1" destOrd="0" parTransId="{A3A65FF2-B997-4937-8AF2-EE0F9856DE1E}" sibTransId="{C4033D1D-834C-494B-BBE8-9BD32BD499D6}"/>
    <dgm:cxn modelId="{8E28CD3F-6FA8-4E18-91CF-9BC1AA5A2667}" srcId="{AB7E4A6C-9C67-4D62-8068-D47C69619746}" destId="{4F97A509-FF22-4A05-9CF2-C3BE902E16D3}" srcOrd="0" destOrd="0" parTransId="{994E7F9F-E565-47AD-A150-93783C7FB80E}" sibTransId="{E37A5879-1915-4587-859E-D2945429B40C}"/>
    <dgm:cxn modelId="{23E63A44-D74F-488F-86E7-1949D8E89225}" type="presOf" srcId="{4F97A509-FF22-4A05-9CF2-C3BE902E16D3}" destId="{7235C78A-D095-4042-B222-48F72D0146F4}" srcOrd="0" destOrd="0" presId="urn:microsoft.com/office/officeart/2005/8/layout/vList2"/>
    <dgm:cxn modelId="{C9245060-234D-44C5-9F65-83E7D1A1978B}" srcId="{AB7E4A6C-9C67-4D62-8068-D47C69619746}" destId="{8E959225-7018-4B34-9760-C6567406CA54}" srcOrd="2" destOrd="0" parTransId="{29FBE4B8-5D4F-40E1-BA4A-F6178DA0B646}" sibTransId="{D3E4A5E9-A51B-4FBE-9DE3-D75256415262}"/>
    <dgm:cxn modelId="{CBBF796A-E03E-4DC5-85C6-E2854D566859}" type="presOf" srcId="{A6B43381-557F-4715-BAD8-C4FDB0CBCDDD}" destId="{0F9E3EC8-E0B3-4F4A-B34C-DE1F18CE4339}" srcOrd="0" destOrd="0" presId="urn:microsoft.com/office/officeart/2005/8/layout/vList2"/>
    <dgm:cxn modelId="{AD911693-2A00-4B97-A465-0B27C86028D8}" type="presOf" srcId="{8E959225-7018-4B34-9760-C6567406CA54}" destId="{62160339-7B34-45B0-AA1D-1C797749C877}" srcOrd="0" destOrd="0" presId="urn:microsoft.com/office/officeart/2005/8/layout/vList2"/>
    <dgm:cxn modelId="{3BE0FAC4-2A17-4345-A806-D1FF5282E565}" type="presOf" srcId="{AB7E4A6C-9C67-4D62-8068-D47C69619746}" destId="{49295A4D-5ED5-4091-980F-6C80E08D5703}" srcOrd="0" destOrd="0" presId="urn:microsoft.com/office/officeart/2005/8/layout/vList2"/>
    <dgm:cxn modelId="{D7C9E67C-F457-4B6E-93A4-F69CC590F942}" type="presParOf" srcId="{49295A4D-5ED5-4091-980F-6C80E08D5703}" destId="{7235C78A-D095-4042-B222-48F72D0146F4}" srcOrd="0" destOrd="0" presId="urn:microsoft.com/office/officeart/2005/8/layout/vList2"/>
    <dgm:cxn modelId="{EEB87CCC-69E4-46EB-B7F5-205CB1FA53D6}" type="presParOf" srcId="{49295A4D-5ED5-4091-980F-6C80E08D5703}" destId="{6EDC5929-735D-497D-8F8D-460B15385875}" srcOrd="1" destOrd="0" presId="urn:microsoft.com/office/officeart/2005/8/layout/vList2"/>
    <dgm:cxn modelId="{7C249599-4793-415C-8982-5FD67D3E3E91}" type="presParOf" srcId="{49295A4D-5ED5-4091-980F-6C80E08D5703}" destId="{0F9E3EC8-E0B3-4F4A-B34C-DE1F18CE4339}" srcOrd="2" destOrd="0" presId="urn:microsoft.com/office/officeart/2005/8/layout/vList2"/>
    <dgm:cxn modelId="{EA344C74-A23B-4052-9960-53186FD5083B}" type="presParOf" srcId="{49295A4D-5ED5-4091-980F-6C80E08D5703}" destId="{294169A7-370B-4FCC-AB66-054058FBC7CD}" srcOrd="3" destOrd="0" presId="urn:microsoft.com/office/officeart/2005/8/layout/vList2"/>
    <dgm:cxn modelId="{491D1204-34B7-4C85-B007-18DA7E53D6BA}" type="presParOf" srcId="{49295A4D-5ED5-4091-980F-6C80E08D5703}" destId="{62160339-7B34-45B0-AA1D-1C797749C87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FF2C25F-EA22-4030-9976-F0BE5619FF9D}" type="doc">
      <dgm:prSet loTypeId="urn:microsoft.com/office/officeart/2005/8/layout/hierarchy1" loCatId="hierarchy" qsTypeId="urn:microsoft.com/office/officeart/2005/8/quickstyle/simple1" qsCatId="simple" csTypeId="urn:microsoft.com/office/officeart/2005/8/colors/colorful5" csCatId="colorful"/>
      <dgm:spPr/>
      <dgm:t>
        <a:bodyPr/>
        <a:lstStyle/>
        <a:p>
          <a:endParaRPr lang="en-US"/>
        </a:p>
      </dgm:t>
    </dgm:pt>
    <dgm:pt modelId="{9D766548-70E1-4B8A-A799-12D3CFE3215B}">
      <dgm:prSet/>
      <dgm:spPr/>
      <dgm:t>
        <a:bodyPr/>
        <a:lstStyle/>
        <a:p>
          <a:r>
            <a:rPr lang="tr-TR" b="0" i="0" baseline="0"/>
            <a:t>İşletmeler açısından sosyal sorumluluk dört bölümde incelenebilir (Şekil 3.2).</a:t>
          </a:r>
          <a:endParaRPr lang="en-US"/>
        </a:p>
      </dgm:t>
    </dgm:pt>
    <dgm:pt modelId="{CBCDFD0F-D9BE-4C24-BA78-26F2010FAB6B}" type="parTrans" cxnId="{6C170435-D281-41E2-BF32-17CDE9CF60BA}">
      <dgm:prSet/>
      <dgm:spPr/>
      <dgm:t>
        <a:bodyPr/>
        <a:lstStyle/>
        <a:p>
          <a:endParaRPr lang="en-US"/>
        </a:p>
      </dgm:t>
    </dgm:pt>
    <dgm:pt modelId="{084F04F7-BA59-4AE3-A19D-0F7369E63DC9}" type="sibTrans" cxnId="{6C170435-D281-41E2-BF32-17CDE9CF60BA}">
      <dgm:prSet/>
      <dgm:spPr/>
      <dgm:t>
        <a:bodyPr/>
        <a:lstStyle/>
        <a:p>
          <a:endParaRPr lang="en-US"/>
        </a:p>
      </dgm:t>
    </dgm:pt>
    <dgm:pt modelId="{33C15A48-76AF-40E7-8548-D4BD3FAC5FC5}">
      <dgm:prSet/>
      <dgm:spPr/>
      <dgm:t>
        <a:bodyPr/>
        <a:lstStyle/>
        <a:p>
          <a:r>
            <a:rPr lang="tr-TR" b="0" i="0" baseline="0"/>
            <a:t>Bunlar sosyal sorumluluğun birbiriyle ilişkili ve ayırt edilebilir dört yüzünü ifadeetmektedir. Ekonomik, yasal, etik ve hayırseverlik sorumluluklar başlıkları altında toplanan bu sorumluluklar ardışık katmanlardan oluşmaktadır. Sorumluluk açısından katmanların hepsi önemlidir. Ancak en alt basamaktan üst basamaklara doğru çıkıldıkça işletmelerin toplumun daha geniş kesimine karşı duyarlılık gösterdiği ve mevcut sorunlara çözüm üretmede katkı sağladığı görülür.</a:t>
          </a:r>
          <a:endParaRPr lang="en-US"/>
        </a:p>
      </dgm:t>
    </dgm:pt>
    <dgm:pt modelId="{3F5FD631-F872-4E10-983E-73B77DC0C0B0}" type="parTrans" cxnId="{55F9ACA8-CBC7-4BFC-A9B4-3F51C6AD359A}">
      <dgm:prSet/>
      <dgm:spPr/>
      <dgm:t>
        <a:bodyPr/>
        <a:lstStyle/>
        <a:p>
          <a:endParaRPr lang="en-US"/>
        </a:p>
      </dgm:t>
    </dgm:pt>
    <dgm:pt modelId="{38F99FAC-9524-4712-A487-2581E9127FAC}" type="sibTrans" cxnId="{55F9ACA8-CBC7-4BFC-A9B4-3F51C6AD359A}">
      <dgm:prSet/>
      <dgm:spPr/>
      <dgm:t>
        <a:bodyPr/>
        <a:lstStyle/>
        <a:p>
          <a:endParaRPr lang="en-US"/>
        </a:p>
      </dgm:t>
    </dgm:pt>
    <dgm:pt modelId="{67E27508-2F9D-49F9-B68F-9CAC59794BAF}" type="pres">
      <dgm:prSet presAssocID="{DFF2C25F-EA22-4030-9976-F0BE5619FF9D}" presName="hierChild1" presStyleCnt="0">
        <dgm:presLayoutVars>
          <dgm:chPref val="1"/>
          <dgm:dir/>
          <dgm:animOne val="branch"/>
          <dgm:animLvl val="lvl"/>
          <dgm:resizeHandles/>
        </dgm:presLayoutVars>
      </dgm:prSet>
      <dgm:spPr/>
    </dgm:pt>
    <dgm:pt modelId="{C86D3FD3-6549-4F42-B3FA-E48E8D3DF960}" type="pres">
      <dgm:prSet presAssocID="{9D766548-70E1-4B8A-A799-12D3CFE3215B}" presName="hierRoot1" presStyleCnt="0"/>
      <dgm:spPr/>
    </dgm:pt>
    <dgm:pt modelId="{EDF07B6F-DC6F-4821-BCFE-2D15E93C0B29}" type="pres">
      <dgm:prSet presAssocID="{9D766548-70E1-4B8A-A799-12D3CFE3215B}" presName="composite" presStyleCnt="0"/>
      <dgm:spPr/>
    </dgm:pt>
    <dgm:pt modelId="{C928881D-1D59-4346-A325-66BA011A0324}" type="pres">
      <dgm:prSet presAssocID="{9D766548-70E1-4B8A-A799-12D3CFE3215B}" presName="background" presStyleLbl="node0" presStyleIdx="0" presStyleCnt="2"/>
      <dgm:spPr/>
    </dgm:pt>
    <dgm:pt modelId="{39919EDF-1E46-49A9-89BF-DFAFA0BA8EC6}" type="pres">
      <dgm:prSet presAssocID="{9D766548-70E1-4B8A-A799-12D3CFE3215B}" presName="text" presStyleLbl="fgAcc0" presStyleIdx="0" presStyleCnt="2">
        <dgm:presLayoutVars>
          <dgm:chPref val="3"/>
        </dgm:presLayoutVars>
      </dgm:prSet>
      <dgm:spPr/>
    </dgm:pt>
    <dgm:pt modelId="{8DD42E94-EA81-493B-B9A0-9B1CE8FD2D04}" type="pres">
      <dgm:prSet presAssocID="{9D766548-70E1-4B8A-A799-12D3CFE3215B}" presName="hierChild2" presStyleCnt="0"/>
      <dgm:spPr/>
    </dgm:pt>
    <dgm:pt modelId="{4DA84F57-6252-40C3-A9BC-F53A1C57784C}" type="pres">
      <dgm:prSet presAssocID="{33C15A48-76AF-40E7-8548-D4BD3FAC5FC5}" presName="hierRoot1" presStyleCnt="0"/>
      <dgm:spPr/>
    </dgm:pt>
    <dgm:pt modelId="{0F99BF22-DEBB-4E14-9BC1-5D8DD027BE7D}" type="pres">
      <dgm:prSet presAssocID="{33C15A48-76AF-40E7-8548-D4BD3FAC5FC5}" presName="composite" presStyleCnt="0"/>
      <dgm:spPr/>
    </dgm:pt>
    <dgm:pt modelId="{0D2CC454-255D-494F-B08D-668CF65D8D36}" type="pres">
      <dgm:prSet presAssocID="{33C15A48-76AF-40E7-8548-D4BD3FAC5FC5}" presName="background" presStyleLbl="node0" presStyleIdx="1" presStyleCnt="2"/>
      <dgm:spPr/>
    </dgm:pt>
    <dgm:pt modelId="{15AF1077-AB5B-4849-91BD-6B7E8FFEAADA}" type="pres">
      <dgm:prSet presAssocID="{33C15A48-76AF-40E7-8548-D4BD3FAC5FC5}" presName="text" presStyleLbl="fgAcc0" presStyleIdx="1" presStyleCnt="2">
        <dgm:presLayoutVars>
          <dgm:chPref val="3"/>
        </dgm:presLayoutVars>
      </dgm:prSet>
      <dgm:spPr/>
    </dgm:pt>
    <dgm:pt modelId="{20FEB6EA-9504-4114-8438-4E7591EB344C}" type="pres">
      <dgm:prSet presAssocID="{33C15A48-76AF-40E7-8548-D4BD3FAC5FC5}" presName="hierChild2" presStyleCnt="0"/>
      <dgm:spPr/>
    </dgm:pt>
  </dgm:ptLst>
  <dgm:cxnLst>
    <dgm:cxn modelId="{B6F6271B-4C91-4BB9-9585-F66A3D6D583C}" type="presOf" srcId="{9D766548-70E1-4B8A-A799-12D3CFE3215B}" destId="{39919EDF-1E46-49A9-89BF-DFAFA0BA8EC6}" srcOrd="0" destOrd="0" presId="urn:microsoft.com/office/officeart/2005/8/layout/hierarchy1"/>
    <dgm:cxn modelId="{6C170435-D281-41E2-BF32-17CDE9CF60BA}" srcId="{DFF2C25F-EA22-4030-9976-F0BE5619FF9D}" destId="{9D766548-70E1-4B8A-A799-12D3CFE3215B}" srcOrd="0" destOrd="0" parTransId="{CBCDFD0F-D9BE-4C24-BA78-26F2010FAB6B}" sibTransId="{084F04F7-BA59-4AE3-A19D-0F7369E63DC9}"/>
    <dgm:cxn modelId="{55F9ACA8-CBC7-4BFC-A9B4-3F51C6AD359A}" srcId="{DFF2C25F-EA22-4030-9976-F0BE5619FF9D}" destId="{33C15A48-76AF-40E7-8548-D4BD3FAC5FC5}" srcOrd="1" destOrd="0" parTransId="{3F5FD631-F872-4E10-983E-73B77DC0C0B0}" sibTransId="{38F99FAC-9524-4712-A487-2581E9127FAC}"/>
    <dgm:cxn modelId="{6F7528E9-6A07-49F3-9E39-D3BD18451A06}" type="presOf" srcId="{DFF2C25F-EA22-4030-9976-F0BE5619FF9D}" destId="{67E27508-2F9D-49F9-B68F-9CAC59794BAF}" srcOrd="0" destOrd="0" presId="urn:microsoft.com/office/officeart/2005/8/layout/hierarchy1"/>
    <dgm:cxn modelId="{7BAD1EF1-EE48-42DC-9505-BB377F5325E2}" type="presOf" srcId="{33C15A48-76AF-40E7-8548-D4BD3FAC5FC5}" destId="{15AF1077-AB5B-4849-91BD-6B7E8FFEAADA}" srcOrd="0" destOrd="0" presId="urn:microsoft.com/office/officeart/2005/8/layout/hierarchy1"/>
    <dgm:cxn modelId="{E098053B-195D-4352-9C9E-545DB1120F10}" type="presParOf" srcId="{67E27508-2F9D-49F9-B68F-9CAC59794BAF}" destId="{C86D3FD3-6549-4F42-B3FA-E48E8D3DF960}" srcOrd="0" destOrd="0" presId="urn:microsoft.com/office/officeart/2005/8/layout/hierarchy1"/>
    <dgm:cxn modelId="{52211FED-3CEF-4E12-B5E0-D2FA71178DAC}" type="presParOf" srcId="{C86D3FD3-6549-4F42-B3FA-E48E8D3DF960}" destId="{EDF07B6F-DC6F-4821-BCFE-2D15E93C0B29}" srcOrd="0" destOrd="0" presId="urn:microsoft.com/office/officeart/2005/8/layout/hierarchy1"/>
    <dgm:cxn modelId="{A390A116-0926-4FDA-B255-7A596CB0D65A}" type="presParOf" srcId="{EDF07B6F-DC6F-4821-BCFE-2D15E93C0B29}" destId="{C928881D-1D59-4346-A325-66BA011A0324}" srcOrd="0" destOrd="0" presId="urn:microsoft.com/office/officeart/2005/8/layout/hierarchy1"/>
    <dgm:cxn modelId="{0B023DF6-D3B3-44D6-ADF7-B343E41089CE}" type="presParOf" srcId="{EDF07B6F-DC6F-4821-BCFE-2D15E93C0B29}" destId="{39919EDF-1E46-49A9-89BF-DFAFA0BA8EC6}" srcOrd="1" destOrd="0" presId="urn:microsoft.com/office/officeart/2005/8/layout/hierarchy1"/>
    <dgm:cxn modelId="{34AFF233-DC94-4CD5-85AD-3FFF1CC1D39E}" type="presParOf" srcId="{C86D3FD3-6549-4F42-B3FA-E48E8D3DF960}" destId="{8DD42E94-EA81-493B-B9A0-9B1CE8FD2D04}" srcOrd="1" destOrd="0" presId="urn:microsoft.com/office/officeart/2005/8/layout/hierarchy1"/>
    <dgm:cxn modelId="{101AFDB6-4044-44F5-BB7F-842AAE5636B0}" type="presParOf" srcId="{67E27508-2F9D-49F9-B68F-9CAC59794BAF}" destId="{4DA84F57-6252-40C3-A9BC-F53A1C57784C}" srcOrd="1" destOrd="0" presId="urn:microsoft.com/office/officeart/2005/8/layout/hierarchy1"/>
    <dgm:cxn modelId="{5152CF45-CDA0-41C7-8451-235F719363AC}" type="presParOf" srcId="{4DA84F57-6252-40C3-A9BC-F53A1C57784C}" destId="{0F99BF22-DEBB-4E14-9BC1-5D8DD027BE7D}" srcOrd="0" destOrd="0" presId="urn:microsoft.com/office/officeart/2005/8/layout/hierarchy1"/>
    <dgm:cxn modelId="{528230CC-B68B-4DD5-9C36-B75F71B38849}" type="presParOf" srcId="{0F99BF22-DEBB-4E14-9BC1-5D8DD027BE7D}" destId="{0D2CC454-255D-494F-B08D-668CF65D8D36}" srcOrd="0" destOrd="0" presId="urn:microsoft.com/office/officeart/2005/8/layout/hierarchy1"/>
    <dgm:cxn modelId="{7F7883DB-97FD-4BA7-A29F-14FA8688A7E0}" type="presParOf" srcId="{0F99BF22-DEBB-4E14-9BC1-5D8DD027BE7D}" destId="{15AF1077-AB5B-4849-91BD-6B7E8FFEAADA}" srcOrd="1" destOrd="0" presId="urn:microsoft.com/office/officeart/2005/8/layout/hierarchy1"/>
    <dgm:cxn modelId="{5C19D754-D7C9-4C99-A5C5-56D897EC5BD5}" type="presParOf" srcId="{4DA84F57-6252-40C3-A9BC-F53A1C57784C}" destId="{20FEB6EA-9504-4114-8438-4E7591EB344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6DB7F6-3FF3-48F5-B238-5B1951C72059}">
      <dsp:nvSpPr>
        <dsp:cNvPr id="0" name=""/>
        <dsp:cNvSpPr/>
      </dsp:nvSpPr>
      <dsp:spPr>
        <a:xfrm>
          <a:off x="0" y="2825"/>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4EBAEC-2B75-4520-AF4D-083EB0A7462E}">
      <dsp:nvSpPr>
        <dsp:cNvPr id="0" name=""/>
        <dsp:cNvSpPr/>
      </dsp:nvSpPr>
      <dsp:spPr>
        <a:xfrm>
          <a:off x="0" y="2825"/>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tr-TR" sz="2300" b="1" kern="1200"/>
            <a:t>25.000 üniversite öğrencisiyle yapılan bir araştırma, öğrencilerin %62’sinin en az bir kez kopya çektiğini ortaya çıkarmıştır. </a:t>
          </a:r>
          <a:endParaRPr lang="en-US" sz="2300" kern="1200"/>
        </a:p>
      </dsp:txBody>
      <dsp:txXfrm>
        <a:off x="0" y="2825"/>
        <a:ext cx="6949440" cy="1926995"/>
      </dsp:txXfrm>
    </dsp:sp>
    <dsp:sp modelId="{5DD3B6A3-5D5B-4EC9-AB67-546E5BBF7F9A}">
      <dsp:nvSpPr>
        <dsp:cNvPr id="0" name=""/>
        <dsp:cNvSpPr/>
      </dsp:nvSpPr>
      <dsp:spPr>
        <a:xfrm>
          <a:off x="0" y="1929821"/>
          <a:ext cx="6949440" cy="0"/>
        </a:xfrm>
        <a:prstGeom prst="line">
          <a:avLst/>
        </a:prstGeom>
        <a:solidFill>
          <a:schemeClr val="accent2">
            <a:hueOff val="-520665"/>
            <a:satOff val="-10816"/>
            <a:lumOff val="-2941"/>
            <a:alphaOff val="0"/>
          </a:schemeClr>
        </a:solidFill>
        <a:ln w="12700" cap="flat" cmpd="sng" algn="ctr">
          <a:solidFill>
            <a:schemeClr val="accent2">
              <a:hueOff val="-520665"/>
              <a:satOff val="-10816"/>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6E511E-8D51-49AE-8D49-E720C6BFF518}">
      <dsp:nvSpPr>
        <dsp:cNvPr id="0" name=""/>
        <dsp:cNvSpPr/>
      </dsp:nvSpPr>
      <dsp:spPr>
        <a:xfrm>
          <a:off x="0" y="1929821"/>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tr-TR" sz="2300" b="1" kern="1200"/>
            <a:t>Başka bir araştırma ise öğrencilerin İnternetten ödev amaçlı içerik ya da müzik indirmeyi veya başka bir öğrencinin cevaplarını kopyalamayı, hilekârlık olarak tanımlamadıklarını ortaya koymuştur (Ferrell vd., 2008: 5). </a:t>
          </a:r>
          <a:endParaRPr lang="en-US" sz="2300" kern="1200"/>
        </a:p>
      </dsp:txBody>
      <dsp:txXfrm>
        <a:off x="0" y="1929821"/>
        <a:ext cx="6949440" cy="1926995"/>
      </dsp:txXfrm>
    </dsp:sp>
    <dsp:sp modelId="{40CCF3C3-51B4-407A-B1A5-FDB977464257}">
      <dsp:nvSpPr>
        <dsp:cNvPr id="0" name=""/>
        <dsp:cNvSpPr/>
      </dsp:nvSpPr>
      <dsp:spPr>
        <a:xfrm>
          <a:off x="0" y="3856816"/>
          <a:ext cx="6949440" cy="0"/>
        </a:xfrm>
        <a:prstGeom prst="line">
          <a:avLst/>
        </a:prstGeom>
        <a:solidFill>
          <a:schemeClr val="accent2">
            <a:hueOff val="-1041329"/>
            <a:satOff val="-21631"/>
            <a:lumOff val="-5882"/>
            <a:alphaOff val="0"/>
          </a:schemeClr>
        </a:solidFill>
        <a:ln w="12700" cap="flat" cmpd="sng" algn="ctr">
          <a:solidFill>
            <a:schemeClr val="accent2">
              <a:hueOff val="-1041329"/>
              <a:satOff val="-21631"/>
              <a:lumOff val="-58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4CE279-A218-42AD-A4F1-37C91D561192}">
      <dsp:nvSpPr>
        <dsp:cNvPr id="0" name=""/>
        <dsp:cNvSpPr/>
      </dsp:nvSpPr>
      <dsp:spPr>
        <a:xfrm>
          <a:off x="0" y="3856816"/>
          <a:ext cx="6949440" cy="1926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tr-TR" sz="2300" b="1" kern="1200"/>
            <a:t>Sınavda kopya çekme veya arkadaşınızın ödevinden kopya çekme konusunda siz ne düşünüyorsunuz? Çevrenizdeki arkadaşlarınız ne düşünüyor? Tek bir doğru üzerinde anlaşabiliyor musunuz?</a:t>
          </a:r>
          <a:endParaRPr lang="en-US" sz="2300" kern="1200"/>
        </a:p>
      </dsp:txBody>
      <dsp:txXfrm>
        <a:off x="0" y="3856816"/>
        <a:ext cx="6949440" cy="19269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A6A79-151F-450F-9647-8E7BFD5DA7B3}">
      <dsp:nvSpPr>
        <dsp:cNvPr id="0" name=""/>
        <dsp:cNvSpPr/>
      </dsp:nvSpPr>
      <dsp:spPr>
        <a:xfrm>
          <a:off x="0" y="400268"/>
          <a:ext cx="6949440" cy="18677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80952A-9BA7-4E33-B4E3-A403C0D11598}">
      <dsp:nvSpPr>
        <dsp:cNvPr id="0" name=""/>
        <dsp:cNvSpPr/>
      </dsp:nvSpPr>
      <dsp:spPr>
        <a:xfrm>
          <a:off x="564980" y="820501"/>
          <a:ext cx="1027236" cy="1027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08BAA10-1263-4B28-A429-2D93B19A5757}">
      <dsp:nvSpPr>
        <dsp:cNvPr id="0" name=""/>
        <dsp:cNvSpPr/>
      </dsp:nvSpPr>
      <dsp:spPr>
        <a:xfrm>
          <a:off x="2157197" y="400268"/>
          <a:ext cx="4566310" cy="2276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905" tIns="240905" rIns="240905" bIns="240905" numCol="1" spcCol="1270" anchor="ctr" anchorCtr="0">
          <a:noAutofit/>
        </a:bodyPr>
        <a:lstStyle/>
        <a:p>
          <a:pPr marL="0" lvl="0" indent="0" algn="l" defTabSz="622300">
            <a:lnSpc>
              <a:spcPct val="90000"/>
            </a:lnSpc>
            <a:spcBef>
              <a:spcPct val="0"/>
            </a:spcBef>
            <a:spcAft>
              <a:spcPct val="35000"/>
            </a:spcAft>
            <a:buNone/>
          </a:pPr>
          <a:r>
            <a:rPr lang="tr-TR" sz="1400" b="0" i="0" kern="1200" baseline="0"/>
            <a:t>Bazı davranışlar, etik açıdan net bir şekilde kusurlu olarak nitelenebilir. Etik kusur, bireyin aldığı kararın, ahlaki açıdan yanlış, yasa dışı veya etik dışı olması durumudur. Bazı davranışlarda ise bu konuda kolayca bir karara varılamaz. Etik standartlar resmî, yazılı, toplumun tüm bireylerinin kabul ettiği, üzerinde uzlaşılmış maddeler olmadığı için etik bir meselede en uygun davranışın ne olduğu hakkında anlaşmazlık ve ikilemler ortaya çıkabilir. </a:t>
          </a:r>
          <a:endParaRPr lang="en-US" sz="1400" kern="1200"/>
        </a:p>
      </dsp:txBody>
      <dsp:txXfrm>
        <a:off x="2157197" y="400268"/>
        <a:ext cx="4566310" cy="2276263"/>
      </dsp:txXfrm>
    </dsp:sp>
    <dsp:sp modelId="{2DE516B9-9351-406D-B7D7-99F797F3F407}">
      <dsp:nvSpPr>
        <dsp:cNvPr id="0" name=""/>
        <dsp:cNvSpPr/>
      </dsp:nvSpPr>
      <dsp:spPr>
        <a:xfrm>
          <a:off x="0" y="3110106"/>
          <a:ext cx="6949440" cy="186770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4BA8A7-5AFB-4CE6-BCE2-3C65257FB91F}">
      <dsp:nvSpPr>
        <dsp:cNvPr id="0" name=""/>
        <dsp:cNvSpPr/>
      </dsp:nvSpPr>
      <dsp:spPr>
        <a:xfrm>
          <a:off x="564980" y="3530339"/>
          <a:ext cx="1027236" cy="1027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C3C129-720F-42D0-BB28-FFFB7969FB8B}">
      <dsp:nvSpPr>
        <dsp:cNvPr id="0" name=""/>
        <dsp:cNvSpPr/>
      </dsp:nvSpPr>
      <dsp:spPr>
        <a:xfrm>
          <a:off x="2157197" y="3110106"/>
          <a:ext cx="4566310" cy="22762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905" tIns="240905" rIns="240905" bIns="240905" numCol="1" spcCol="1270" anchor="ctr" anchorCtr="0">
          <a:noAutofit/>
        </a:bodyPr>
        <a:lstStyle/>
        <a:p>
          <a:pPr marL="0" lvl="0" indent="0" algn="l" defTabSz="622300">
            <a:lnSpc>
              <a:spcPct val="90000"/>
            </a:lnSpc>
            <a:spcBef>
              <a:spcPct val="0"/>
            </a:spcBef>
            <a:spcAft>
              <a:spcPct val="35000"/>
            </a:spcAft>
            <a:buNone/>
          </a:pPr>
          <a:r>
            <a:rPr lang="tr-TR" sz="1400" b="1" i="0" kern="1200" baseline="0"/>
            <a:t>Etik ikilem, </a:t>
          </a:r>
          <a:r>
            <a:rPr lang="tr-TR" sz="1400" b="0" i="0" kern="1200" baseline="0"/>
            <a:t>hem bir seçimin hem de davranış alternatifinin potansiyel zararlı etik sonuçları nedeniyle istenmediği durumlarda ortaya çıkar. Yanlış ve doğru net olarak belirlenemeyebilir. Burada Nasrettin Hoca, oğlu ve eşeği ile ilgili yol hikâyesini hatırlayınız.</a:t>
          </a:r>
          <a:endParaRPr lang="en-US" sz="1400" kern="1200"/>
        </a:p>
      </dsp:txBody>
      <dsp:txXfrm>
        <a:off x="2157197" y="3110106"/>
        <a:ext cx="4566310" cy="22762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E64D74-05F4-45C5-B85E-119C239F2EC1}">
      <dsp:nvSpPr>
        <dsp:cNvPr id="0" name=""/>
        <dsp:cNvSpPr/>
      </dsp:nvSpPr>
      <dsp:spPr>
        <a:xfrm>
          <a:off x="0" y="57280"/>
          <a:ext cx="10945037" cy="17640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98F6EA-554A-4FA5-B4C4-6EEA43F27D79}">
      <dsp:nvSpPr>
        <dsp:cNvPr id="0" name=""/>
        <dsp:cNvSpPr/>
      </dsp:nvSpPr>
      <dsp:spPr>
        <a:xfrm>
          <a:off x="533615" y="454184"/>
          <a:ext cx="970209" cy="9702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3CF440-59E7-4D6F-BBDC-86FA3D961B32}">
      <dsp:nvSpPr>
        <dsp:cNvPr id="0" name=""/>
        <dsp:cNvSpPr/>
      </dsp:nvSpPr>
      <dsp:spPr>
        <a:xfrm>
          <a:off x="2037439" y="57280"/>
          <a:ext cx="8785253" cy="198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0028" tIns="210028" rIns="210028" bIns="210028" numCol="1" spcCol="1270" anchor="ctr" anchorCtr="0">
          <a:noAutofit/>
        </a:bodyPr>
        <a:lstStyle/>
        <a:p>
          <a:pPr marL="0" lvl="0" indent="0" algn="l" defTabSz="622300">
            <a:lnSpc>
              <a:spcPct val="90000"/>
            </a:lnSpc>
            <a:spcBef>
              <a:spcPct val="0"/>
            </a:spcBef>
            <a:spcAft>
              <a:spcPct val="35000"/>
            </a:spcAft>
            <a:buNone/>
          </a:pPr>
          <a:r>
            <a:rPr lang="tr-TR" sz="1400" b="0" i="0" kern="1200" baseline="0" dirty="0"/>
            <a:t>Yönetici ya da çalışanın şirkete menfaat sağlamak için birilerine rüşvet vermesi, etik bir davranış mıdır? Ekonomik durgunluk döneminde üniversite mezunu olmanın işe alınmak için olumsuzluk oluşturduğunu </a:t>
          </a:r>
          <a:r>
            <a:rPr lang="tr-TR" sz="1400" b="0" i="0" kern="1200" baseline="0" dirty="0" err="1"/>
            <a:t>farkeden</a:t>
          </a:r>
          <a:r>
            <a:rPr lang="tr-TR" sz="1400" b="0" i="0" kern="1200" baseline="0" dirty="0"/>
            <a:t> bir kişinin, bilinçli olarak kendini lise mezunu olarak tanıtması etik midir? Birinin şirket olanaklarını, kendi özel ihtiyaçları için kullanması etik midir? Kat sekreterine özel işlerimizi yaptırmak ya da iş yeri telefonunu yurt dışında oturan akrabamızı aramak için kullanmak etik midir? Bu sorular daha da çoğaltılabilir. Yukarıda sıralanan sorulara verdiğiniz yanıtlar, sizin etiğe ilişkin yaklaşımınızı yansıtır. Birisine “yanlış yapıyorsun” ya da “doğru yapıyorsun” dediğinizde, aslında bu görüşünüzün arkasında doğruyu ya da yanlışı tanımlamakta kullandığınız birtakım kurallar ya da ilkelere bağlı olarak bu yorumları yaptığınızı hatırınızda tutun.</a:t>
          </a:r>
          <a:endParaRPr lang="en-US" sz="1400" kern="1200" dirty="0"/>
        </a:p>
      </dsp:txBody>
      <dsp:txXfrm>
        <a:off x="2037439" y="57280"/>
        <a:ext cx="8785253" cy="1984519"/>
      </dsp:txXfrm>
    </dsp:sp>
    <dsp:sp modelId="{387F7885-2649-4B16-A988-BFCFBC354F80}">
      <dsp:nvSpPr>
        <dsp:cNvPr id="0" name=""/>
        <dsp:cNvSpPr/>
      </dsp:nvSpPr>
      <dsp:spPr>
        <a:xfrm>
          <a:off x="0" y="2372553"/>
          <a:ext cx="10945037" cy="1764017"/>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DF2F7E-A06A-4508-B0C6-44F07958007E}">
      <dsp:nvSpPr>
        <dsp:cNvPr id="0" name=""/>
        <dsp:cNvSpPr/>
      </dsp:nvSpPr>
      <dsp:spPr>
        <a:xfrm>
          <a:off x="533615" y="2769457"/>
          <a:ext cx="970209" cy="9702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48A638C-ECAF-4376-90E4-920D0281C3F8}">
      <dsp:nvSpPr>
        <dsp:cNvPr id="0" name=""/>
        <dsp:cNvSpPr/>
      </dsp:nvSpPr>
      <dsp:spPr>
        <a:xfrm>
          <a:off x="2037439" y="2372553"/>
          <a:ext cx="8785253" cy="1984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0028" tIns="210028" rIns="210028" bIns="210028" numCol="1" spcCol="1270" anchor="ctr" anchorCtr="0">
          <a:noAutofit/>
        </a:bodyPr>
        <a:lstStyle/>
        <a:p>
          <a:pPr marL="0" lvl="0" indent="0" algn="l" defTabSz="622300">
            <a:lnSpc>
              <a:spcPct val="90000"/>
            </a:lnSpc>
            <a:spcBef>
              <a:spcPct val="0"/>
            </a:spcBef>
            <a:spcAft>
              <a:spcPct val="35000"/>
            </a:spcAft>
            <a:buNone/>
          </a:pPr>
          <a:r>
            <a:rPr lang="tr-TR" sz="1400" b="0" i="0" kern="1200" baseline="0" dirty="0"/>
            <a:t>İşletme yöneticilerinin rasyonel karar almaları beklenir. Ancak bu kararların bir de etik yönü vardır. Yöneticilerin aldığı pek çok karar, hem süreç içerisinde hem de sonuçta bu karardan kimlerin etkileneceğinin göz </a:t>
          </a:r>
          <a:r>
            <a:rPr lang="tr-TR" sz="1400" b="0" i="0" kern="1200" baseline="0" dirty="0" err="1"/>
            <a:t>önünd</a:t>
          </a:r>
          <a:r>
            <a:rPr lang="tr-TR" sz="1400" b="0" i="0" kern="1200" baseline="0" dirty="0"/>
            <a:t> bulundurulmasını gerektirir. Etik karar almada, farklı perspektifler farklı kararlara yol açar. Sorun, genellikle alınan kararların mükemmelinin bulunamamasıdır. Özellikle etik ikilemlerde yaratıcı seçeneklere ihtiyaç duyulur.</a:t>
          </a:r>
          <a:endParaRPr lang="en-US" sz="1400" kern="1200" dirty="0"/>
        </a:p>
      </dsp:txBody>
      <dsp:txXfrm>
        <a:off x="2037439" y="2372553"/>
        <a:ext cx="8785253" cy="19845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756CB-5744-4EF5-A952-35B347CB03F2}">
      <dsp:nvSpPr>
        <dsp:cNvPr id="0" name=""/>
        <dsp:cNvSpPr/>
      </dsp:nvSpPr>
      <dsp:spPr>
        <a:xfrm>
          <a:off x="0" y="52648"/>
          <a:ext cx="6949440" cy="10740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tr-TR" sz="2700" b="0" i="0" kern="1200" baseline="0"/>
            <a:t>Aşağıda iş etiği konusuna yaklaşımlardan dördüne yer verilmiştir. Bunlar:</a:t>
          </a:r>
          <a:endParaRPr lang="en-US" sz="2700" kern="1200"/>
        </a:p>
      </dsp:txBody>
      <dsp:txXfrm>
        <a:off x="52431" y="105079"/>
        <a:ext cx="6844578" cy="969198"/>
      </dsp:txXfrm>
    </dsp:sp>
    <dsp:sp modelId="{1F602C83-BF65-443B-89D4-CA776FEB4A3F}">
      <dsp:nvSpPr>
        <dsp:cNvPr id="0" name=""/>
        <dsp:cNvSpPr/>
      </dsp:nvSpPr>
      <dsp:spPr>
        <a:xfrm>
          <a:off x="0" y="1204469"/>
          <a:ext cx="6949440" cy="1074060"/>
        </a:xfrm>
        <a:prstGeom prst="roundRect">
          <a:avLst/>
        </a:prstGeom>
        <a:solidFill>
          <a:schemeClr val="accent2">
            <a:hueOff val="-260332"/>
            <a:satOff val="-5408"/>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tr-TR" sz="2700" b="0" i="0" kern="1200" baseline="0"/>
            <a:t>1. Faydacılık yaklaşımı</a:t>
          </a:r>
          <a:endParaRPr lang="en-US" sz="2700" kern="1200"/>
        </a:p>
      </dsp:txBody>
      <dsp:txXfrm>
        <a:off x="52431" y="1256900"/>
        <a:ext cx="6844578" cy="969198"/>
      </dsp:txXfrm>
    </dsp:sp>
    <dsp:sp modelId="{3257A747-8B87-4B71-96FC-68C738DB9FB9}">
      <dsp:nvSpPr>
        <dsp:cNvPr id="0" name=""/>
        <dsp:cNvSpPr/>
      </dsp:nvSpPr>
      <dsp:spPr>
        <a:xfrm>
          <a:off x="0" y="2356288"/>
          <a:ext cx="6949440" cy="1074060"/>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tr-TR" sz="2700" b="0" i="0" kern="1200" baseline="0"/>
            <a:t>2. Haklar yaklaşımı</a:t>
          </a:r>
          <a:endParaRPr lang="en-US" sz="2700" kern="1200"/>
        </a:p>
      </dsp:txBody>
      <dsp:txXfrm>
        <a:off x="52431" y="2408719"/>
        <a:ext cx="6844578" cy="969198"/>
      </dsp:txXfrm>
    </dsp:sp>
    <dsp:sp modelId="{9A04D5AE-2193-470E-8877-4525D2DAB556}">
      <dsp:nvSpPr>
        <dsp:cNvPr id="0" name=""/>
        <dsp:cNvSpPr/>
      </dsp:nvSpPr>
      <dsp:spPr>
        <a:xfrm>
          <a:off x="0" y="3508108"/>
          <a:ext cx="6949440" cy="1074060"/>
        </a:xfrm>
        <a:prstGeom prst="roundRect">
          <a:avLst/>
        </a:prstGeom>
        <a:solidFill>
          <a:schemeClr val="accent2">
            <a:hueOff val="-780997"/>
            <a:satOff val="-16223"/>
            <a:lumOff val="-4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tr-TR" sz="2700" b="0" i="0" kern="1200" baseline="0"/>
            <a:t>3. Adalet kuramı yaklaşımı</a:t>
          </a:r>
          <a:endParaRPr lang="en-US" sz="2700" kern="1200"/>
        </a:p>
      </dsp:txBody>
      <dsp:txXfrm>
        <a:off x="52431" y="3560539"/>
        <a:ext cx="6844578" cy="969198"/>
      </dsp:txXfrm>
    </dsp:sp>
    <dsp:sp modelId="{D09545AC-7DB0-4589-AFD8-E322966281A4}">
      <dsp:nvSpPr>
        <dsp:cNvPr id="0" name=""/>
        <dsp:cNvSpPr/>
      </dsp:nvSpPr>
      <dsp:spPr>
        <a:xfrm>
          <a:off x="0" y="4659928"/>
          <a:ext cx="6949440" cy="1074060"/>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tr-TR" sz="2700" b="0" i="0" kern="1200" baseline="0"/>
            <a:t>4. Bütünleştirici sosyal sözleşme kuramıdır.</a:t>
          </a:r>
          <a:endParaRPr lang="en-US" sz="2700" kern="1200"/>
        </a:p>
      </dsp:txBody>
      <dsp:txXfrm>
        <a:off x="52431" y="4712359"/>
        <a:ext cx="6844578" cy="9691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273902-8B8F-4CE2-9632-D72AD56D6669}">
      <dsp:nvSpPr>
        <dsp:cNvPr id="0" name=""/>
        <dsp:cNvSpPr/>
      </dsp:nvSpPr>
      <dsp:spPr>
        <a:xfrm>
          <a:off x="1261" y="393494"/>
          <a:ext cx="4428354" cy="28120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4470F3-4E01-4855-B4A0-CD70A0C5884A}">
      <dsp:nvSpPr>
        <dsp:cNvPr id="0" name=""/>
        <dsp:cNvSpPr/>
      </dsp:nvSpPr>
      <dsp:spPr>
        <a:xfrm>
          <a:off x="493301" y="860931"/>
          <a:ext cx="4428354" cy="28120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tr-TR" sz="1600" b="1" i="0" kern="1200" baseline="0"/>
            <a:t>Bireysel Özellikler: </a:t>
          </a:r>
          <a:r>
            <a:rPr lang="tr-TR" sz="1600" b="0" i="0" kern="1200" baseline="0"/>
            <a:t>Herkes çalıştığı örgüte nispeten yerleşik değerleriyle birlikte gelir. Bireyin erken yaşlarda ailesinden, arkadaşlarından, öğretmenlerinden ve diğerlerinden öğrendiği ve geliştirdiği bu değerler, neyin doğru neyin yanlış olduğu konusunda temel muhakemelerini belirler. İşletme yöneticilerinin birbirinden çok farklı bireysel değerlere sahip çalışanlarla karşı karşıya olduklarının farkında olmaları gerekir.</a:t>
          </a:r>
          <a:endParaRPr lang="en-US" sz="1600" kern="1200"/>
        </a:p>
      </dsp:txBody>
      <dsp:txXfrm>
        <a:off x="575662" y="943292"/>
        <a:ext cx="4263632" cy="2647282"/>
      </dsp:txXfrm>
    </dsp:sp>
    <dsp:sp modelId="{1CE693F1-ED68-4AC8-9A95-E3056FCD3F88}">
      <dsp:nvSpPr>
        <dsp:cNvPr id="0" name=""/>
        <dsp:cNvSpPr/>
      </dsp:nvSpPr>
      <dsp:spPr>
        <a:xfrm>
          <a:off x="5413694" y="393494"/>
          <a:ext cx="4428354" cy="28120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8EBC69-6CA1-48A2-B389-4793FB6CF695}">
      <dsp:nvSpPr>
        <dsp:cNvPr id="0" name=""/>
        <dsp:cNvSpPr/>
      </dsp:nvSpPr>
      <dsp:spPr>
        <a:xfrm>
          <a:off x="5905734" y="860931"/>
          <a:ext cx="4428354" cy="28120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tr-TR" sz="1600" b="1" i="0" kern="1200" baseline="0"/>
            <a:t>Yapısal Değişkenler: </a:t>
          </a:r>
          <a:r>
            <a:rPr lang="tr-TR" sz="1600" b="0" i="0" kern="1200" baseline="0"/>
            <a:t>Örgütün yapısal tasarımı, örgüt üyelerinin etik davranışlarının oluşmasında yardımcı olur. Bazı yapılar belirsizliği yaratırken bazıları çalışanlar güçlü bir şekilde yol gösterir. Resmî kurallar ve düzenlemeler, iş tanımları, etik kodlar, örgüt içinde etik davranışı teşvik eden ve tutarlı davranmayı yerleştiren önemli unsurlardır. Bu unsurlar, aynı zamanda örgüt içindeki belirsizliği ve yanlış anlamayı da önemli ölçüde azaltırlar.</a:t>
          </a:r>
          <a:endParaRPr lang="en-US" sz="1600" kern="1200"/>
        </a:p>
      </dsp:txBody>
      <dsp:txXfrm>
        <a:off x="5988095" y="943292"/>
        <a:ext cx="4263632" cy="26472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1B4A34-574B-4E09-AE73-1C371DE9F95B}">
      <dsp:nvSpPr>
        <dsp:cNvPr id="0" name=""/>
        <dsp:cNvSpPr/>
      </dsp:nvSpPr>
      <dsp:spPr>
        <a:xfrm>
          <a:off x="0" y="3985"/>
          <a:ext cx="10945037" cy="8481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4E4202-06B4-4298-8374-18E8F6F5AA2E}">
      <dsp:nvSpPr>
        <dsp:cNvPr id="0" name=""/>
        <dsp:cNvSpPr/>
      </dsp:nvSpPr>
      <dsp:spPr>
        <a:xfrm>
          <a:off x="256564" y="194818"/>
          <a:ext cx="466936" cy="4664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91B9A4-6E34-437A-A243-15013B9E574D}">
      <dsp:nvSpPr>
        <dsp:cNvPr id="0" name=""/>
        <dsp:cNvSpPr/>
      </dsp:nvSpPr>
      <dsp:spPr>
        <a:xfrm>
          <a:off x="980064" y="3985"/>
          <a:ext cx="9920695" cy="927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77" tIns="98177" rIns="98177" bIns="98177" numCol="1" spcCol="1270" anchor="ctr" anchorCtr="0">
          <a:noAutofit/>
        </a:bodyPr>
        <a:lstStyle/>
        <a:p>
          <a:pPr marL="0" lvl="0" indent="0" algn="l" defTabSz="622300">
            <a:lnSpc>
              <a:spcPct val="90000"/>
            </a:lnSpc>
            <a:spcBef>
              <a:spcPct val="0"/>
            </a:spcBef>
            <a:spcAft>
              <a:spcPct val="35000"/>
            </a:spcAft>
            <a:buNone/>
          </a:pPr>
          <a:r>
            <a:rPr lang="en-US" sz="1400" b="1" i="0" kern="1200" baseline="0"/>
            <a:t>Etik Yöneticisi, Etik Sorumlusu, Komiteler</a:t>
          </a:r>
          <a:endParaRPr lang="en-US" sz="1400" kern="1200"/>
        </a:p>
      </dsp:txBody>
      <dsp:txXfrm>
        <a:off x="980064" y="3985"/>
        <a:ext cx="9920695" cy="927659"/>
      </dsp:txXfrm>
    </dsp:sp>
    <dsp:sp modelId="{F8481ED3-4521-4D53-A58A-644E5F571E8D}">
      <dsp:nvSpPr>
        <dsp:cNvPr id="0" name=""/>
        <dsp:cNvSpPr/>
      </dsp:nvSpPr>
      <dsp:spPr>
        <a:xfrm>
          <a:off x="0" y="1163560"/>
          <a:ext cx="10945037" cy="8481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1DB67E-444D-4E71-B0D4-AD8F5D7C5CCE}">
      <dsp:nvSpPr>
        <dsp:cNvPr id="0" name=""/>
        <dsp:cNvSpPr/>
      </dsp:nvSpPr>
      <dsp:spPr>
        <a:xfrm>
          <a:off x="256564" y="1354392"/>
          <a:ext cx="466936" cy="4664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F88975-B49B-4087-9F4A-F8B9AB4C7063}">
      <dsp:nvSpPr>
        <dsp:cNvPr id="0" name=""/>
        <dsp:cNvSpPr/>
      </dsp:nvSpPr>
      <dsp:spPr>
        <a:xfrm>
          <a:off x="980064" y="1163560"/>
          <a:ext cx="9920695" cy="927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77" tIns="98177" rIns="98177" bIns="98177" numCol="1" spcCol="1270" anchor="ctr" anchorCtr="0">
          <a:noAutofit/>
        </a:bodyPr>
        <a:lstStyle/>
        <a:p>
          <a:pPr marL="0" lvl="0" indent="0" algn="l" defTabSz="622300">
            <a:lnSpc>
              <a:spcPct val="90000"/>
            </a:lnSpc>
            <a:spcBef>
              <a:spcPct val="0"/>
            </a:spcBef>
            <a:spcAft>
              <a:spcPct val="35000"/>
            </a:spcAft>
            <a:buNone/>
          </a:pPr>
          <a:r>
            <a:rPr lang="tr-TR" sz="1400" b="0" i="0" kern="1200" baseline="0"/>
            <a:t>Bazı işletmelerde, işletme tarafından tayin edilen yöneticiler aracılığı ile etik konuların değerlendirildiği birtakım komiteler oluşturulabilmektedir. Günümüzde işletmelerin etik konularına daha çok ilgi gösterdikleri, çalışanlarının da iş etiği ve toplumun beklentileri konusunda bilinçlenmesine yönelik politikalar izledikleri söylenebilir. İşletmelerin kuruculuğunu üstlendiği etik komitelerine de rastlanmaktadır.</a:t>
          </a:r>
          <a:endParaRPr lang="en-US" sz="1400" kern="1200"/>
        </a:p>
      </dsp:txBody>
      <dsp:txXfrm>
        <a:off x="980064" y="1163560"/>
        <a:ext cx="9920695" cy="927659"/>
      </dsp:txXfrm>
    </dsp:sp>
    <dsp:sp modelId="{B7029883-4391-4116-A257-23B4287AC4ED}">
      <dsp:nvSpPr>
        <dsp:cNvPr id="0" name=""/>
        <dsp:cNvSpPr/>
      </dsp:nvSpPr>
      <dsp:spPr>
        <a:xfrm>
          <a:off x="0" y="2323134"/>
          <a:ext cx="10945037" cy="8481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FBF5D2-8FE4-49A4-A225-4109F8CE0600}">
      <dsp:nvSpPr>
        <dsp:cNvPr id="0" name=""/>
        <dsp:cNvSpPr/>
      </dsp:nvSpPr>
      <dsp:spPr>
        <a:xfrm>
          <a:off x="256564" y="2513967"/>
          <a:ext cx="466936" cy="4664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B04481-A076-4C2F-85E3-0139692A83DF}">
      <dsp:nvSpPr>
        <dsp:cNvPr id="0" name=""/>
        <dsp:cNvSpPr/>
      </dsp:nvSpPr>
      <dsp:spPr>
        <a:xfrm>
          <a:off x="980064" y="2323134"/>
          <a:ext cx="9920695" cy="927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77" tIns="98177" rIns="98177" bIns="98177" numCol="1" spcCol="1270" anchor="ctr" anchorCtr="0">
          <a:noAutofit/>
        </a:bodyPr>
        <a:lstStyle/>
        <a:p>
          <a:pPr marL="0" lvl="0" indent="0" algn="l" defTabSz="622300">
            <a:lnSpc>
              <a:spcPct val="90000"/>
            </a:lnSpc>
            <a:spcBef>
              <a:spcPct val="0"/>
            </a:spcBef>
            <a:spcAft>
              <a:spcPct val="35000"/>
            </a:spcAft>
            <a:buNone/>
          </a:pPr>
          <a:r>
            <a:rPr lang="tr-TR" sz="1400" b="0" i="0" kern="1200" baseline="0"/>
            <a:t>Bu komiteler işletme içerisinde bir departman gibi çalışarak kurumsal sorumluluk alanında tepe yönetimine iletilmek üzere tavsiye kararları almaktadırlar.</a:t>
          </a:r>
          <a:endParaRPr lang="en-US" sz="1400" kern="1200"/>
        </a:p>
      </dsp:txBody>
      <dsp:txXfrm>
        <a:off x="980064" y="2323134"/>
        <a:ext cx="9920695" cy="927659"/>
      </dsp:txXfrm>
    </dsp:sp>
    <dsp:sp modelId="{FE101EAD-4800-4616-A2C3-57EB20338FB3}">
      <dsp:nvSpPr>
        <dsp:cNvPr id="0" name=""/>
        <dsp:cNvSpPr/>
      </dsp:nvSpPr>
      <dsp:spPr>
        <a:xfrm>
          <a:off x="0" y="3482708"/>
          <a:ext cx="10945037" cy="8481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573E25-840F-4C6C-B12B-135A694A080D}">
      <dsp:nvSpPr>
        <dsp:cNvPr id="0" name=""/>
        <dsp:cNvSpPr/>
      </dsp:nvSpPr>
      <dsp:spPr>
        <a:xfrm>
          <a:off x="256564" y="3673541"/>
          <a:ext cx="466936" cy="4664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0CEE14-D920-4D21-A35E-1A75C8D4F050}">
      <dsp:nvSpPr>
        <dsp:cNvPr id="0" name=""/>
        <dsp:cNvSpPr/>
      </dsp:nvSpPr>
      <dsp:spPr>
        <a:xfrm>
          <a:off x="980064" y="3482708"/>
          <a:ext cx="9920695" cy="9276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177" tIns="98177" rIns="98177" bIns="98177" numCol="1" spcCol="1270" anchor="ctr" anchorCtr="0">
          <a:noAutofit/>
        </a:bodyPr>
        <a:lstStyle/>
        <a:p>
          <a:pPr marL="0" lvl="0" indent="0" algn="l" defTabSz="622300">
            <a:lnSpc>
              <a:spcPct val="90000"/>
            </a:lnSpc>
            <a:spcBef>
              <a:spcPct val="0"/>
            </a:spcBef>
            <a:spcAft>
              <a:spcPct val="35000"/>
            </a:spcAft>
            <a:buNone/>
          </a:pPr>
          <a:r>
            <a:rPr lang="tr-TR" sz="1400" b="0" i="0" kern="1200" baseline="0"/>
            <a:t>Ayrıca kurum içinde iletişim kanallarını açık tutarak etik olmayan uygulamaları önlemek için adımlar atılabilir. Ücretsiz telefon hatlarıyla, etik komitelerine ya da danışmanlarına ulaşabilmesi, çalışanları etikle bağdaşmayan uygulamaları bildirmeye yöneltmek için yararlı olabilir.</a:t>
          </a:r>
          <a:endParaRPr lang="en-US" sz="1400" kern="1200"/>
        </a:p>
      </dsp:txBody>
      <dsp:txXfrm>
        <a:off x="980064" y="3482708"/>
        <a:ext cx="9920695" cy="9276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35C78A-D095-4042-B222-48F72D0146F4}">
      <dsp:nvSpPr>
        <dsp:cNvPr id="0" name=""/>
        <dsp:cNvSpPr/>
      </dsp:nvSpPr>
      <dsp:spPr>
        <a:xfrm>
          <a:off x="0" y="341098"/>
          <a:ext cx="6949440" cy="16707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b="1" i="0" kern="1200" baseline="0"/>
            <a:t>Denetim, Hesap Verme, Raporlama</a:t>
          </a:r>
          <a:endParaRPr lang="en-US" sz="1600" kern="1200"/>
        </a:p>
      </dsp:txBody>
      <dsp:txXfrm>
        <a:off x="81560" y="422658"/>
        <a:ext cx="6786320" cy="1507640"/>
      </dsp:txXfrm>
    </dsp:sp>
    <dsp:sp modelId="{0F9E3EC8-E0B3-4F4A-B34C-DE1F18CE4339}">
      <dsp:nvSpPr>
        <dsp:cNvPr id="0" name=""/>
        <dsp:cNvSpPr/>
      </dsp:nvSpPr>
      <dsp:spPr>
        <a:xfrm>
          <a:off x="0" y="2057939"/>
          <a:ext cx="6949440" cy="1670760"/>
        </a:xfrm>
        <a:prstGeom prst="roundRect">
          <a:avLst/>
        </a:prstGeom>
        <a:solidFill>
          <a:schemeClr val="accent2">
            <a:hueOff val="-520665"/>
            <a:satOff val="-10816"/>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b="0" i="0" kern="1200" baseline="0"/>
            <a:t>İşletmelerin hesap verme, değerlendirme ve iletişim alanlarında iş etiğine günümüzde daha çok önem verdiğini söyleyebiliriz. Ayrıca, günümüz işletmeleri ve özellikle ilk 250 içerisinde yer alan büyük işletmeler, kurumsal sorumluluk raporları yayımlamaktadır. Yapılan bir araştırma sonucunda kurumsal rapor yayınlama oranı, %90’lık oranla en çok Japonya’da, %20’lik oranla en az Meksika’da görülmektedir.</a:t>
          </a:r>
          <a:endParaRPr lang="en-US" sz="1600" kern="1200"/>
        </a:p>
      </dsp:txBody>
      <dsp:txXfrm>
        <a:off x="81560" y="2139499"/>
        <a:ext cx="6786320" cy="1507640"/>
      </dsp:txXfrm>
    </dsp:sp>
    <dsp:sp modelId="{62160339-7B34-45B0-AA1D-1C797749C877}">
      <dsp:nvSpPr>
        <dsp:cNvPr id="0" name=""/>
        <dsp:cNvSpPr/>
      </dsp:nvSpPr>
      <dsp:spPr>
        <a:xfrm>
          <a:off x="0" y="3774779"/>
          <a:ext cx="6949440" cy="1670760"/>
        </a:xfrm>
        <a:prstGeom prst="roundRect">
          <a:avLst/>
        </a:prstGeom>
        <a:solidFill>
          <a:schemeClr val="accent2">
            <a:hueOff val="-1041329"/>
            <a:satOff val="-21631"/>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tr-TR" sz="1600" b="0" i="0" kern="1200" baseline="0"/>
            <a:t>Uluslararası ekonomik kuruluşlar, küresel rekabetin arttığı günümüz ortamında kurumsal ve sosyal sorumluluk alanında yapılacak çalışmaların önemine dikkati çekmektedirler.</a:t>
          </a:r>
          <a:endParaRPr lang="en-US" sz="1600" kern="1200"/>
        </a:p>
      </dsp:txBody>
      <dsp:txXfrm>
        <a:off x="81560" y="3856339"/>
        <a:ext cx="6786320" cy="15076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8881D-1D59-4346-A325-66BA011A0324}">
      <dsp:nvSpPr>
        <dsp:cNvPr id="0" name=""/>
        <dsp:cNvSpPr/>
      </dsp:nvSpPr>
      <dsp:spPr>
        <a:xfrm>
          <a:off x="1261" y="393494"/>
          <a:ext cx="4428354" cy="28120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919EDF-1E46-49A9-89BF-DFAFA0BA8EC6}">
      <dsp:nvSpPr>
        <dsp:cNvPr id="0" name=""/>
        <dsp:cNvSpPr/>
      </dsp:nvSpPr>
      <dsp:spPr>
        <a:xfrm>
          <a:off x="493301" y="860931"/>
          <a:ext cx="4428354" cy="28120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tr-TR" sz="1500" b="0" i="0" kern="1200" baseline="0"/>
            <a:t>İşletmeler açısından sosyal sorumluluk dört bölümde incelenebilir (Şekil 3.2).</a:t>
          </a:r>
          <a:endParaRPr lang="en-US" sz="1500" kern="1200"/>
        </a:p>
      </dsp:txBody>
      <dsp:txXfrm>
        <a:off x="575662" y="943292"/>
        <a:ext cx="4263632" cy="2647282"/>
      </dsp:txXfrm>
    </dsp:sp>
    <dsp:sp modelId="{0D2CC454-255D-494F-B08D-668CF65D8D36}">
      <dsp:nvSpPr>
        <dsp:cNvPr id="0" name=""/>
        <dsp:cNvSpPr/>
      </dsp:nvSpPr>
      <dsp:spPr>
        <a:xfrm>
          <a:off x="5413694" y="393494"/>
          <a:ext cx="4428354" cy="2812004"/>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AF1077-AB5B-4849-91BD-6B7E8FFEAADA}">
      <dsp:nvSpPr>
        <dsp:cNvPr id="0" name=""/>
        <dsp:cNvSpPr/>
      </dsp:nvSpPr>
      <dsp:spPr>
        <a:xfrm>
          <a:off x="5905734" y="860931"/>
          <a:ext cx="4428354" cy="2812004"/>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tr-TR" sz="1500" b="0" i="0" kern="1200" baseline="0"/>
            <a:t>Bunlar sosyal sorumluluğun birbiriyle ilişkili ve ayırt edilebilir dört yüzünü ifadeetmektedir. Ekonomik, yasal, etik ve hayırseverlik sorumluluklar başlıkları altında toplanan bu sorumluluklar ardışık katmanlardan oluşmaktadır. Sorumluluk açısından katmanların hepsi önemlidir. Ancak en alt basamaktan üst basamaklara doğru çıkıldıkça işletmelerin toplumun daha geniş kesimine karşı duyarlılık gösterdiği ve mevcut sorunlara çözüm üretmede katkı sağladığı görülür.</a:t>
          </a:r>
          <a:endParaRPr lang="en-US" sz="1500" kern="1200"/>
        </a:p>
      </dsp:txBody>
      <dsp:txXfrm>
        <a:off x="5988095" y="943292"/>
        <a:ext cx="4263632" cy="264728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6D4621-FD1B-4B25-A7C4-80C269F26D2E}" type="datetimeFigureOut">
              <a:rPr lang="tr-TR" smtClean="0"/>
              <a:t>5.03.2025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BF7D62-1F8E-42FC-A120-9A4516BFB514}" type="slidenum">
              <a:rPr lang="tr-TR" smtClean="0"/>
              <a:t>‹#›</a:t>
            </a:fld>
            <a:endParaRPr lang="tr-TR"/>
          </a:p>
        </p:txBody>
      </p:sp>
    </p:spTree>
    <p:extLst>
      <p:ext uri="{BB962C8B-B14F-4D97-AF65-F5344CB8AC3E}">
        <p14:creationId xmlns:p14="http://schemas.microsoft.com/office/powerpoint/2010/main" val="2045156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1</a:t>
            </a:fld>
            <a:endParaRPr lang="tr-TR"/>
          </a:p>
        </p:txBody>
      </p:sp>
    </p:spTree>
    <p:extLst>
      <p:ext uri="{BB962C8B-B14F-4D97-AF65-F5344CB8AC3E}">
        <p14:creationId xmlns:p14="http://schemas.microsoft.com/office/powerpoint/2010/main" val="37721955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2</a:t>
            </a:fld>
            <a:endParaRPr lang="tr-TR"/>
          </a:p>
        </p:txBody>
      </p:sp>
    </p:spTree>
    <p:extLst>
      <p:ext uri="{BB962C8B-B14F-4D97-AF65-F5344CB8AC3E}">
        <p14:creationId xmlns:p14="http://schemas.microsoft.com/office/powerpoint/2010/main" val="3717772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C85D-191A-603D-6A43-F9BFCC86A98B}"/>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A52EDE4-0625-0D25-BAA0-A75EF354EA9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803F58F5-DD60-F29D-9B54-D3D1D24B0C82}"/>
              </a:ext>
            </a:extLst>
          </p:cNvPr>
          <p:cNvSpPr>
            <a:spLocks noGrp="1"/>
          </p:cNvSpPr>
          <p:nvPr>
            <p:ph type="body" idx="1"/>
          </p:nvPr>
        </p:nvSpPr>
        <p:spPr/>
        <p:txBody>
          <a:bodyPr/>
          <a:lstStyle/>
          <a:p>
            <a:pPr algn="l"/>
            <a:r>
              <a:rPr lang="tr-TR" sz="1800" b="1" i="0" u="none" strike="noStrike" baseline="0" dirty="0">
                <a:latin typeface="MyriadPro-BoldCond"/>
              </a:rPr>
              <a:t>Etik, </a:t>
            </a:r>
            <a:r>
              <a:rPr lang="tr-TR" sz="1800" b="0" i="0" u="none" strike="noStrike" baseline="0" dirty="0">
                <a:latin typeface="MyriadPro-Cond"/>
              </a:rPr>
              <a:t>bir kişi veya grubun</a:t>
            </a:r>
          </a:p>
          <a:p>
            <a:pPr algn="l"/>
            <a:r>
              <a:rPr lang="tr-TR" sz="1800" b="0" i="0" u="none" strike="noStrike" baseline="0" dirty="0">
                <a:latin typeface="MyriadPro-Cond"/>
              </a:rPr>
              <a:t>davranışlarının doğruluğunu</a:t>
            </a:r>
          </a:p>
          <a:p>
            <a:pPr algn="l"/>
            <a:r>
              <a:rPr lang="tr-TR" sz="1800" b="0" i="0" u="none" strike="noStrike" baseline="0" dirty="0">
                <a:latin typeface="MyriadPro-Cond"/>
              </a:rPr>
              <a:t>ve yanlışlığını belirleyen</a:t>
            </a:r>
          </a:p>
          <a:p>
            <a:pPr algn="l"/>
            <a:r>
              <a:rPr lang="tr-TR" sz="1800" b="0" i="0" u="none" strike="noStrike" baseline="0" dirty="0">
                <a:latin typeface="MyriadPro-Cond"/>
              </a:rPr>
              <a:t>kurallar ve ilkelerdir.</a:t>
            </a:r>
          </a:p>
          <a:p>
            <a:pPr algn="l"/>
            <a:endParaRPr lang="tr-TR" dirty="0"/>
          </a:p>
        </p:txBody>
      </p:sp>
      <p:sp>
        <p:nvSpPr>
          <p:cNvPr id="4" name="Slayt Numarası Yer Tutucusu 3">
            <a:extLst>
              <a:ext uri="{FF2B5EF4-FFF2-40B4-BE49-F238E27FC236}">
                <a16:creationId xmlns:a16="http://schemas.microsoft.com/office/drawing/2014/main" id="{4D5E7DF4-20FE-C8E0-E9BA-918524B2EBC3}"/>
              </a:ext>
            </a:extLst>
          </p:cNvPr>
          <p:cNvSpPr>
            <a:spLocks noGrp="1"/>
          </p:cNvSpPr>
          <p:nvPr>
            <p:ph type="sldNum" sz="quarter" idx="5"/>
          </p:nvPr>
        </p:nvSpPr>
        <p:spPr/>
        <p:txBody>
          <a:bodyPr/>
          <a:lstStyle/>
          <a:p>
            <a:fld id="{2DBF7D62-1F8E-42FC-A120-9A4516BFB514}" type="slidenum">
              <a:rPr lang="tr-TR" smtClean="0"/>
              <a:t>3</a:t>
            </a:fld>
            <a:endParaRPr lang="tr-TR"/>
          </a:p>
        </p:txBody>
      </p:sp>
    </p:spTree>
    <p:extLst>
      <p:ext uri="{BB962C8B-B14F-4D97-AF65-F5344CB8AC3E}">
        <p14:creationId xmlns:p14="http://schemas.microsoft.com/office/powerpoint/2010/main" val="2454359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4</a:t>
            </a:fld>
            <a:endParaRPr lang="tr-TR"/>
          </a:p>
        </p:txBody>
      </p:sp>
    </p:spTree>
    <p:extLst>
      <p:ext uri="{BB962C8B-B14F-4D97-AF65-F5344CB8AC3E}">
        <p14:creationId xmlns:p14="http://schemas.microsoft.com/office/powerpoint/2010/main" val="1581266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C7520-1FEE-4A36-B395-3A01B262D94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F5E9223-5D26-1096-4BFB-2494C812986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0455D43D-9275-CED3-A14F-EF1E0F9A76EB}"/>
              </a:ext>
            </a:extLst>
          </p:cNvPr>
          <p:cNvSpPr>
            <a:spLocks noGrp="1"/>
          </p:cNvSpPr>
          <p:nvPr>
            <p:ph type="body" idx="1"/>
          </p:nvPr>
        </p:nvSpPr>
        <p:spPr/>
        <p:txBody>
          <a:bodyPr/>
          <a:lstStyle/>
          <a:p>
            <a:pPr algn="l"/>
            <a:endParaRPr lang="tr-TR" dirty="0"/>
          </a:p>
        </p:txBody>
      </p:sp>
      <p:sp>
        <p:nvSpPr>
          <p:cNvPr id="4" name="Slayt Numarası Yer Tutucusu 3">
            <a:extLst>
              <a:ext uri="{FF2B5EF4-FFF2-40B4-BE49-F238E27FC236}">
                <a16:creationId xmlns:a16="http://schemas.microsoft.com/office/drawing/2014/main" id="{3B26004E-9405-53AF-7E9D-C0DF98EBC554}"/>
              </a:ext>
            </a:extLst>
          </p:cNvPr>
          <p:cNvSpPr>
            <a:spLocks noGrp="1"/>
          </p:cNvSpPr>
          <p:nvPr>
            <p:ph type="sldNum" sz="quarter" idx="5"/>
          </p:nvPr>
        </p:nvSpPr>
        <p:spPr/>
        <p:txBody>
          <a:bodyPr/>
          <a:lstStyle/>
          <a:p>
            <a:fld id="{2DBF7D62-1F8E-42FC-A120-9A4516BFB514}" type="slidenum">
              <a:rPr lang="tr-TR" smtClean="0"/>
              <a:t>5</a:t>
            </a:fld>
            <a:endParaRPr lang="tr-TR"/>
          </a:p>
        </p:txBody>
      </p:sp>
    </p:spTree>
    <p:extLst>
      <p:ext uri="{BB962C8B-B14F-4D97-AF65-F5344CB8AC3E}">
        <p14:creationId xmlns:p14="http://schemas.microsoft.com/office/powerpoint/2010/main" val="486971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6</a:t>
            </a:fld>
            <a:endParaRPr lang="tr-TR"/>
          </a:p>
        </p:txBody>
      </p:sp>
    </p:spTree>
    <p:extLst>
      <p:ext uri="{BB962C8B-B14F-4D97-AF65-F5344CB8AC3E}">
        <p14:creationId xmlns:p14="http://schemas.microsoft.com/office/powerpoint/2010/main" val="2173070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7</a:t>
            </a:fld>
            <a:endParaRPr lang="tr-TR"/>
          </a:p>
        </p:txBody>
      </p:sp>
    </p:spTree>
    <p:extLst>
      <p:ext uri="{BB962C8B-B14F-4D97-AF65-F5344CB8AC3E}">
        <p14:creationId xmlns:p14="http://schemas.microsoft.com/office/powerpoint/2010/main" val="1495702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8</a:t>
            </a:fld>
            <a:endParaRPr lang="tr-TR"/>
          </a:p>
        </p:txBody>
      </p:sp>
    </p:spTree>
    <p:extLst>
      <p:ext uri="{BB962C8B-B14F-4D97-AF65-F5344CB8AC3E}">
        <p14:creationId xmlns:p14="http://schemas.microsoft.com/office/powerpoint/2010/main" val="2949098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05E92-C016-3BEA-99B8-ADE2CFFFA31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F57D3A3-FB01-8580-7983-3200B2AF7EF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E307EE9-1A6D-DBAE-0CA1-406DE980F484}"/>
              </a:ext>
            </a:extLst>
          </p:cNvPr>
          <p:cNvSpPr>
            <a:spLocks noGrp="1"/>
          </p:cNvSpPr>
          <p:nvPr>
            <p:ph type="body" idx="1"/>
          </p:nvPr>
        </p:nvSpPr>
        <p:spPr/>
        <p:txBody>
          <a:bodyPr/>
          <a:lstStyle/>
          <a:p>
            <a:pPr algn="l"/>
            <a:endParaRPr lang="tr-TR" dirty="0"/>
          </a:p>
        </p:txBody>
      </p:sp>
      <p:sp>
        <p:nvSpPr>
          <p:cNvPr id="4" name="Slayt Numarası Yer Tutucusu 3">
            <a:extLst>
              <a:ext uri="{FF2B5EF4-FFF2-40B4-BE49-F238E27FC236}">
                <a16:creationId xmlns:a16="http://schemas.microsoft.com/office/drawing/2014/main" id="{C69B4D4A-6BEC-3265-8A9C-C9087B75DF00}"/>
              </a:ext>
            </a:extLst>
          </p:cNvPr>
          <p:cNvSpPr>
            <a:spLocks noGrp="1"/>
          </p:cNvSpPr>
          <p:nvPr>
            <p:ph type="sldNum" sz="quarter" idx="5"/>
          </p:nvPr>
        </p:nvSpPr>
        <p:spPr/>
        <p:txBody>
          <a:bodyPr/>
          <a:lstStyle/>
          <a:p>
            <a:fld id="{2DBF7D62-1F8E-42FC-A120-9A4516BFB514}" type="slidenum">
              <a:rPr lang="tr-TR" smtClean="0"/>
              <a:t>9</a:t>
            </a:fld>
            <a:endParaRPr lang="tr-TR"/>
          </a:p>
        </p:txBody>
      </p:sp>
    </p:spTree>
    <p:extLst>
      <p:ext uri="{BB962C8B-B14F-4D97-AF65-F5344CB8AC3E}">
        <p14:creationId xmlns:p14="http://schemas.microsoft.com/office/powerpoint/2010/main" val="417351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44BAD-1879-965E-A7C2-CB5F04B36D1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C98071F8-3A07-C18D-7BB3-1233BF4BD6A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6AFDF929-718F-8D0F-6628-FE3FC5F735FF}"/>
              </a:ext>
            </a:extLst>
          </p:cNvPr>
          <p:cNvSpPr>
            <a:spLocks noGrp="1"/>
          </p:cNvSpPr>
          <p:nvPr>
            <p:ph type="body" idx="1"/>
          </p:nvPr>
        </p:nvSpPr>
        <p:spPr/>
        <p:txBody>
          <a:bodyPr/>
          <a:lstStyle/>
          <a:p>
            <a:pPr algn="l"/>
            <a:endParaRPr lang="tr-TR" dirty="0"/>
          </a:p>
        </p:txBody>
      </p:sp>
      <p:sp>
        <p:nvSpPr>
          <p:cNvPr id="4" name="Slayt Numarası Yer Tutucusu 3">
            <a:extLst>
              <a:ext uri="{FF2B5EF4-FFF2-40B4-BE49-F238E27FC236}">
                <a16:creationId xmlns:a16="http://schemas.microsoft.com/office/drawing/2014/main" id="{2713CAF0-FE5D-49DA-E4A9-F01DFDC4304F}"/>
              </a:ext>
            </a:extLst>
          </p:cNvPr>
          <p:cNvSpPr>
            <a:spLocks noGrp="1"/>
          </p:cNvSpPr>
          <p:nvPr>
            <p:ph type="sldNum" sz="quarter" idx="5"/>
          </p:nvPr>
        </p:nvSpPr>
        <p:spPr/>
        <p:txBody>
          <a:bodyPr/>
          <a:lstStyle/>
          <a:p>
            <a:fld id="{2DBF7D62-1F8E-42FC-A120-9A4516BFB514}" type="slidenum">
              <a:rPr lang="tr-TR" smtClean="0"/>
              <a:t>10</a:t>
            </a:fld>
            <a:endParaRPr lang="tr-TR"/>
          </a:p>
        </p:txBody>
      </p:sp>
    </p:spTree>
    <p:extLst>
      <p:ext uri="{BB962C8B-B14F-4D97-AF65-F5344CB8AC3E}">
        <p14:creationId xmlns:p14="http://schemas.microsoft.com/office/powerpoint/2010/main" val="1730538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269D8-21D8-4929-E64B-DEA14F9383D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692809D-9684-92A4-3262-6946D95F770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335FA0F-A550-F43B-3215-FD31B1FA0D70}"/>
              </a:ext>
            </a:extLst>
          </p:cNvPr>
          <p:cNvSpPr>
            <a:spLocks noGrp="1"/>
          </p:cNvSpPr>
          <p:nvPr>
            <p:ph type="body" idx="1"/>
          </p:nvPr>
        </p:nvSpPr>
        <p:spPr/>
        <p:txBody>
          <a:bodyPr/>
          <a:lstStyle/>
          <a:p>
            <a:pPr algn="l"/>
            <a:endParaRPr lang="tr-TR" dirty="0"/>
          </a:p>
        </p:txBody>
      </p:sp>
      <p:sp>
        <p:nvSpPr>
          <p:cNvPr id="4" name="Slayt Numarası Yer Tutucusu 3">
            <a:extLst>
              <a:ext uri="{FF2B5EF4-FFF2-40B4-BE49-F238E27FC236}">
                <a16:creationId xmlns:a16="http://schemas.microsoft.com/office/drawing/2014/main" id="{41385348-B196-CAAF-24C3-0BB21F4971AC}"/>
              </a:ext>
            </a:extLst>
          </p:cNvPr>
          <p:cNvSpPr>
            <a:spLocks noGrp="1"/>
          </p:cNvSpPr>
          <p:nvPr>
            <p:ph type="sldNum" sz="quarter" idx="5"/>
          </p:nvPr>
        </p:nvSpPr>
        <p:spPr/>
        <p:txBody>
          <a:bodyPr/>
          <a:lstStyle/>
          <a:p>
            <a:fld id="{2DBF7D62-1F8E-42FC-A120-9A4516BFB514}" type="slidenum">
              <a:rPr lang="tr-TR" smtClean="0"/>
              <a:t>11</a:t>
            </a:fld>
            <a:endParaRPr lang="tr-TR"/>
          </a:p>
        </p:txBody>
      </p:sp>
    </p:spTree>
    <p:extLst>
      <p:ext uri="{BB962C8B-B14F-4D97-AF65-F5344CB8AC3E}">
        <p14:creationId xmlns:p14="http://schemas.microsoft.com/office/powerpoint/2010/main" val="1365271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12</a:t>
            </a:fld>
            <a:endParaRPr lang="tr-TR"/>
          </a:p>
        </p:txBody>
      </p:sp>
    </p:spTree>
    <p:extLst>
      <p:ext uri="{BB962C8B-B14F-4D97-AF65-F5344CB8AC3E}">
        <p14:creationId xmlns:p14="http://schemas.microsoft.com/office/powerpoint/2010/main" val="40825088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b="1"/>
              <a:t>Muhakeme Süreci:</a:t>
            </a:r>
            <a:r>
              <a:rPr lang="tr-TR"/>
              <a:t> Etik karar verme süreci, bireyin değerleri, inançları ve mevcut durumun gereklilikleri çerçevesinde yaptığı değerlendirmeleri içerir. Bu süreçte birey, etik ilkeler doğrultusunda hareket etmeye mi yoksa etik dışı bir yol izlemeye mi karar vereceğine yönelik bir muhakeme yapar. Kararın etik olup olmaması, sürece etki eden çeşitli faktörlere bağlıdır.</a:t>
            </a:r>
          </a:p>
          <a:p>
            <a:r>
              <a:rPr lang="tr-TR" b="1"/>
              <a:t>Bireysel ve Kurumsal Etkenler:</a:t>
            </a:r>
            <a:r>
              <a:rPr lang="tr-TR"/>
              <a:t> Bireysel karakteristikler (kişilik, değerler, ahlaki gelişmişlik düzeyi), bireyin etik kararlarını doğrudan etkileyebilir. Öte yandan, örgüt kültürü, iş ortamında etik davranışların teşvik edilip edilmediğini belirleyen en önemli unsurlardan biridir. Eğer bir kuruluş etik kurallara önem veriyorsa, çalışanların etik dışı davranışlarda bulunma olasılığı azalacaktır.</a:t>
            </a:r>
          </a:p>
          <a:p>
            <a:r>
              <a:rPr lang="tr-TR" b="1"/>
              <a:t>Gerçek Hayat Örnekleri:</a:t>
            </a:r>
            <a:r>
              <a:rPr lang="tr-TR"/>
              <a:t> İş dünyasında yolsuzluk, rüşvet, adil olmayan rekabet veya kurumsal sosyal sorumluluk örnekleri, etik karar verme sürecinin nasıl işlediğini anlamak için kullanılabilir. Örneğin, büyük şirketlerin etik ilkelere bağlı kalarak nasıl rekabet ettiğini ya da bazı şirketlerin etik ihlaller nedeniyle nasıl itibar kaybına uğradığını tartışabilirsiniz.</a:t>
            </a:r>
          </a:p>
          <a:p>
            <a:r>
              <a:rPr lang="tr-TR" b="1"/>
              <a:t>Etik İkilemler:</a:t>
            </a:r>
            <a:r>
              <a:rPr lang="tr-TR"/>
              <a:t> Gerçek hayatta karar vericiler, çoğu zaman "doğru" ya da "yanlış" olarak net bir şekilde ayrılmış seçeneklerle değil, etik açıdan karmaşık durumlarla karşılaşır. Örneğin, bir sağlık kuruluşunun kâr amacı gütmeyen hizmetleri ile finansal sürdürülebilirlik arasındaki dengeyi nasıl kurması gerektiği bir etik ikilemdir. Bu tür senaryolar üzerinde öğrencilerin tartışmalar yapması, eleştirel düşünme becerilerini geliştirmelerine yardımcı olabilir.</a:t>
            </a:r>
          </a:p>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13</a:t>
            </a:fld>
            <a:endParaRPr lang="tr-TR"/>
          </a:p>
        </p:txBody>
      </p:sp>
    </p:spTree>
    <p:extLst>
      <p:ext uri="{BB962C8B-B14F-4D97-AF65-F5344CB8AC3E}">
        <p14:creationId xmlns:p14="http://schemas.microsoft.com/office/powerpoint/2010/main" val="792669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14</a:t>
            </a:fld>
            <a:endParaRPr lang="tr-TR"/>
          </a:p>
        </p:txBody>
      </p:sp>
    </p:spTree>
    <p:extLst>
      <p:ext uri="{BB962C8B-B14F-4D97-AF65-F5344CB8AC3E}">
        <p14:creationId xmlns:p14="http://schemas.microsoft.com/office/powerpoint/2010/main" val="28060967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15</a:t>
            </a:fld>
            <a:endParaRPr lang="tr-TR"/>
          </a:p>
        </p:txBody>
      </p:sp>
    </p:spTree>
    <p:extLst>
      <p:ext uri="{BB962C8B-B14F-4D97-AF65-F5344CB8AC3E}">
        <p14:creationId xmlns:p14="http://schemas.microsoft.com/office/powerpoint/2010/main" val="26866635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16</a:t>
            </a:fld>
            <a:endParaRPr lang="tr-TR"/>
          </a:p>
        </p:txBody>
      </p:sp>
    </p:spTree>
    <p:extLst>
      <p:ext uri="{BB962C8B-B14F-4D97-AF65-F5344CB8AC3E}">
        <p14:creationId xmlns:p14="http://schemas.microsoft.com/office/powerpoint/2010/main" val="17275640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17</a:t>
            </a:fld>
            <a:endParaRPr lang="tr-TR"/>
          </a:p>
        </p:txBody>
      </p:sp>
    </p:spTree>
    <p:extLst>
      <p:ext uri="{BB962C8B-B14F-4D97-AF65-F5344CB8AC3E}">
        <p14:creationId xmlns:p14="http://schemas.microsoft.com/office/powerpoint/2010/main" val="34911310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89844-2EB6-3C38-37A7-A81796E0DF51}"/>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D93FFD3B-5082-0376-5322-30F667854380}"/>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1305106-BFF4-A4DE-3EA3-D5B0B864C322}"/>
              </a:ext>
            </a:extLst>
          </p:cNvPr>
          <p:cNvSpPr>
            <a:spLocks noGrp="1"/>
          </p:cNvSpPr>
          <p:nvPr>
            <p:ph type="body" idx="1"/>
          </p:nvPr>
        </p:nvSpPr>
        <p:spPr/>
        <p:txBody>
          <a:bodyPr/>
          <a:lstStyle/>
          <a:p>
            <a:pPr algn="l"/>
            <a:endParaRPr lang="tr-TR" dirty="0"/>
          </a:p>
        </p:txBody>
      </p:sp>
      <p:sp>
        <p:nvSpPr>
          <p:cNvPr id="4" name="Slayt Numarası Yer Tutucusu 3">
            <a:extLst>
              <a:ext uri="{FF2B5EF4-FFF2-40B4-BE49-F238E27FC236}">
                <a16:creationId xmlns:a16="http://schemas.microsoft.com/office/drawing/2014/main" id="{8F7EEED5-5D1D-D947-3A23-6E3F2A36E68B}"/>
              </a:ext>
            </a:extLst>
          </p:cNvPr>
          <p:cNvSpPr>
            <a:spLocks noGrp="1"/>
          </p:cNvSpPr>
          <p:nvPr>
            <p:ph type="sldNum" sz="quarter" idx="5"/>
          </p:nvPr>
        </p:nvSpPr>
        <p:spPr/>
        <p:txBody>
          <a:bodyPr/>
          <a:lstStyle/>
          <a:p>
            <a:fld id="{2DBF7D62-1F8E-42FC-A120-9A4516BFB514}" type="slidenum">
              <a:rPr lang="tr-TR" smtClean="0"/>
              <a:t>18</a:t>
            </a:fld>
            <a:endParaRPr lang="tr-TR"/>
          </a:p>
        </p:txBody>
      </p:sp>
    </p:spTree>
    <p:extLst>
      <p:ext uri="{BB962C8B-B14F-4D97-AF65-F5344CB8AC3E}">
        <p14:creationId xmlns:p14="http://schemas.microsoft.com/office/powerpoint/2010/main" val="4017708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DDE11-8AF2-6ACE-3150-61F04595A388}"/>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4FF77B4C-28D4-1EB9-0CAC-7CFA003EF74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4FD2E25-6632-9757-9678-515A7988935A}"/>
              </a:ext>
            </a:extLst>
          </p:cNvPr>
          <p:cNvSpPr>
            <a:spLocks noGrp="1"/>
          </p:cNvSpPr>
          <p:nvPr>
            <p:ph type="body" idx="1"/>
          </p:nvPr>
        </p:nvSpPr>
        <p:spPr/>
        <p:txBody>
          <a:bodyPr/>
          <a:lstStyle/>
          <a:p>
            <a:pPr algn="l"/>
            <a:endParaRPr lang="tr-TR" dirty="0"/>
          </a:p>
        </p:txBody>
      </p:sp>
      <p:sp>
        <p:nvSpPr>
          <p:cNvPr id="4" name="Slayt Numarası Yer Tutucusu 3">
            <a:extLst>
              <a:ext uri="{FF2B5EF4-FFF2-40B4-BE49-F238E27FC236}">
                <a16:creationId xmlns:a16="http://schemas.microsoft.com/office/drawing/2014/main" id="{6668A610-E2C5-5EE7-8D4D-4E6CF6D08EEE}"/>
              </a:ext>
            </a:extLst>
          </p:cNvPr>
          <p:cNvSpPr>
            <a:spLocks noGrp="1"/>
          </p:cNvSpPr>
          <p:nvPr>
            <p:ph type="sldNum" sz="quarter" idx="5"/>
          </p:nvPr>
        </p:nvSpPr>
        <p:spPr/>
        <p:txBody>
          <a:bodyPr/>
          <a:lstStyle/>
          <a:p>
            <a:fld id="{2DBF7D62-1F8E-42FC-A120-9A4516BFB514}" type="slidenum">
              <a:rPr lang="tr-TR" smtClean="0"/>
              <a:t>19</a:t>
            </a:fld>
            <a:endParaRPr lang="tr-TR"/>
          </a:p>
        </p:txBody>
      </p:sp>
    </p:spTree>
    <p:extLst>
      <p:ext uri="{BB962C8B-B14F-4D97-AF65-F5344CB8AC3E}">
        <p14:creationId xmlns:p14="http://schemas.microsoft.com/office/powerpoint/2010/main" val="13743144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814A9-1921-2BAD-923C-F38C01320A8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23499B8-2066-FD77-2ADA-F95D4B6BFB0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8D4FDA6-5000-79FF-633C-36F16E4B7370}"/>
              </a:ext>
            </a:extLst>
          </p:cNvPr>
          <p:cNvSpPr>
            <a:spLocks noGrp="1"/>
          </p:cNvSpPr>
          <p:nvPr>
            <p:ph type="body" idx="1"/>
          </p:nvPr>
        </p:nvSpPr>
        <p:spPr/>
        <p:txBody>
          <a:bodyPr/>
          <a:lstStyle/>
          <a:p>
            <a:pPr algn="l"/>
            <a:r>
              <a:rPr lang="tr-TR" sz="1800" b="0" i="0" u="none" strike="noStrike" baseline="0" dirty="0">
                <a:latin typeface="MinionPro-Regular"/>
              </a:rPr>
              <a:t>.</a:t>
            </a:r>
            <a:endParaRPr lang="tr-TR" dirty="0"/>
          </a:p>
        </p:txBody>
      </p:sp>
      <p:sp>
        <p:nvSpPr>
          <p:cNvPr id="4" name="Slayt Numarası Yer Tutucusu 3">
            <a:extLst>
              <a:ext uri="{FF2B5EF4-FFF2-40B4-BE49-F238E27FC236}">
                <a16:creationId xmlns:a16="http://schemas.microsoft.com/office/drawing/2014/main" id="{8EB7E065-5976-7076-033F-BA372BF34B01}"/>
              </a:ext>
            </a:extLst>
          </p:cNvPr>
          <p:cNvSpPr>
            <a:spLocks noGrp="1"/>
          </p:cNvSpPr>
          <p:nvPr>
            <p:ph type="sldNum" sz="quarter" idx="5"/>
          </p:nvPr>
        </p:nvSpPr>
        <p:spPr/>
        <p:txBody>
          <a:bodyPr/>
          <a:lstStyle/>
          <a:p>
            <a:fld id="{2DBF7D62-1F8E-42FC-A120-9A4516BFB514}" type="slidenum">
              <a:rPr lang="tr-TR" smtClean="0"/>
              <a:t>20</a:t>
            </a:fld>
            <a:endParaRPr lang="tr-TR"/>
          </a:p>
        </p:txBody>
      </p:sp>
    </p:spTree>
    <p:extLst>
      <p:ext uri="{BB962C8B-B14F-4D97-AF65-F5344CB8AC3E}">
        <p14:creationId xmlns:p14="http://schemas.microsoft.com/office/powerpoint/2010/main" val="1345729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2447C-0A86-4A4B-8554-6CEDDE52EB32}"/>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0AEDEDC-6DB7-32F6-9857-26F448BFC40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EB03F65-16F2-059B-EB60-780CE6F2092C}"/>
              </a:ext>
            </a:extLst>
          </p:cNvPr>
          <p:cNvSpPr>
            <a:spLocks noGrp="1"/>
          </p:cNvSpPr>
          <p:nvPr>
            <p:ph type="body" idx="1"/>
          </p:nvPr>
        </p:nvSpPr>
        <p:spPr/>
        <p:txBody>
          <a:bodyPr/>
          <a:lstStyle/>
          <a:p>
            <a:pPr algn="l"/>
            <a:r>
              <a:rPr lang="tr-TR" sz="1800" b="0" i="0" u="none" strike="noStrike" baseline="0">
                <a:latin typeface="MinionPro-Regular"/>
              </a:rPr>
              <a:t>.</a:t>
            </a:r>
            <a:endParaRPr lang="tr-TR"/>
          </a:p>
        </p:txBody>
      </p:sp>
      <p:sp>
        <p:nvSpPr>
          <p:cNvPr id="4" name="Slayt Numarası Yer Tutucusu 3">
            <a:extLst>
              <a:ext uri="{FF2B5EF4-FFF2-40B4-BE49-F238E27FC236}">
                <a16:creationId xmlns:a16="http://schemas.microsoft.com/office/drawing/2014/main" id="{366387C0-93CE-A381-85CB-FAF9497A4F12}"/>
              </a:ext>
            </a:extLst>
          </p:cNvPr>
          <p:cNvSpPr>
            <a:spLocks noGrp="1"/>
          </p:cNvSpPr>
          <p:nvPr>
            <p:ph type="sldNum" sz="quarter" idx="5"/>
          </p:nvPr>
        </p:nvSpPr>
        <p:spPr/>
        <p:txBody>
          <a:bodyPr/>
          <a:lstStyle/>
          <a:p>
            <a:fld id="{2DBF7D62-1F8E-42FC-A120-9A4516BFB514}" type="slidenum">
              <a:rPr lang="tr-TR" smtClean="0"/>
              <a:t>21</a:t>
            </a:fld>
            <a:endParaRPr lang="tr-TR"/>
          </a:p>
        </p:txBody>
      </p:sp>
    </p:spTree>
    <p:extLst>
      <p:ext uri="{BB962C8B-B14F-4D97-AF65-F5344CB8AC3E}">
        <p14:creationId xmlns:p14="http://schemas.microsoft.com/office/powerpoint/2010/main" val="10546233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22</a:t>
            </a:fld>
            <a:endParaRPr lang="tr-TR"/>
          </a:p>
        </p:txBody>
      </p:sp>
    </p:spTree>
    <p:extLst>
      <p:ext uri="{BB962C8B-B14F-4D97-AF65-F5344CB8AC3E}">
        <p14:creationId xmlns:p14="http://schemas.microsoft.com/office/powerpoint/2010/main" val="34765839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23</a:t>
            </a:fld>
            <a:endParaRPr lang="tr-TR"/>
          </a:p>
        </p:txBody>
      </p:sp>
    </p:spTree>
    <p:extLst>
      <p:ext uri="{BB962C8B-B14F-4D97-AF65-F5344CB8AC3E}">
        <p14:creationId xmlns:p14="http://schemas.microsoft.com/office/powerpoint/2010/main" val="14083929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24</a:t>
            </a:fld>
            <a:endParaRPr lang="tr-TR"/>
          </a:p>
        </p:txBody>
      </p:sp>
    </p:spTree>
    <p:extLst>
      <p:ext uri="{BB962C8B-B14F-4D97-AF65-F5344CB8AC3E}">
        <p14:creationId xmlns:p14="http://schemas.microsoft.com/office/powerpoint/2010/main" val="143290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25</a:t>
            </a:fld>
            <a:endParaRPr lang="tr-TR"/>
          </a:p>
        </p:txBody>
      </p:sp>
    </p:spTree>
    <p:extLst>
      <p:ext uri="{BB962C8B-B14F-4D97-AF65-F5344CB8AC3E}">
        <p14:creationId xmlns:p14="http://schemas.microsoft.com/office/powerpoint/2010/main" val="1371757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26</a:t>
            </a:fld>
            <a:endParaRPr lang="tr-TR"/>
          </a:p>
        </p:txBody>
      </p:sp>
    </p:spTree>
    <p:extLst>
      <p:ext uri="{BB962C8B-B14F-4D97-AF65-F5344CB8AC3E}">
        <p14:creationId xmlns:p14="http://schemas.microsoft.com/office/powerpoint/2010/main" val="13525158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27</a:t>
            </a:fld>
            <a:endParaRPr lang="tr-TR"/>
          </a:p>
        </p:txBody>
      </p:sp>
    </p:spTree>
    <p:extLst>
      <p:ext uri="{BB962C8B-B14F-4D97-AF65-F5344CB8AC3E}">
        <p14:creationId xmlns:p14="http://schemas.microsoft.com/office/powerpoint/2010/main" val="1526623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28</a:t>
            </a:fld>
            <a:endParaRPr lang="tr-TR"/>
          </a:p>
        </p:txBody>
      </p:sp>
    </p:spTree>
    <p:extLst>
      <p:ext uri="{BB962C8B-B14F-4D97-AF65-F5344CB8AC3E}">
        <p14:creationId xmlns:p14="http://schemas.microsoft.com/office/powerpoint/2010/main" val="30556188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29</a:t>
            </a:fld>
            <a:endParaRPr lang="tr-TR"/>
          </a:p>
        </p:txBody>
      </p:sp>
    </p:spTree>
    <p:extLst>
      <p:ext uri="{BB962C8B-B14F-4D97-AF65-F5344CB8AC3E}">
        <p14:creationId xmlns:p14="http://schemas.microsoft.com/office/powerpoint/2010/main" val="12062253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r>
              <a:rPr lang="tr-TR" sz="1800" b="0" i="0" u="none" strike="noStrike" baseline="0" dirty="0">
                <a:latin typeface="MinionPro-Regular"/>
              </a:rPr>
              <a:t>116 ülkeden 4200 yöneticiyle yapılan araştırma sonucu, bu görüş</a:t>
            </a:r>
          </a:p>
          <a:p>
            <a:pPr algn="l"/>
            <a:r>
              <a:rPr lang="tr-TR" sz="1800" b="0" i="0" u="none" strike="noStrike" baseline="0" dirty="0">
                <a:latin typeface="MinionPro-Regular"/>
              </a:rPr>
              <a:t>desteklenmektedir. Katılımcıların büyük çoğunluğu, toplum içinde şirketlerin</a:t>
            </a:r>
          </a:p>
          <a:p>
            <a:pPr algn="l"/>
            <a:r>
              <a:rPr lang="tr-TR" sz="1800" b="0" i="0" u="none" strike="noStrike" baseline="0" dirty="0">
                <a:latin typeface="MinionPro-Regular"/>
              </a:rPr>
              <a:t>rolünün, ortakların çıkarlarını korumanın ötesini kapsadığı konusunda hemfikirdirler.</a:t>
            </a:r>
          </a:p>
          <a:p>
            <a:pPr algn="l"/>
            <a:r>
              <a:rPr lang="tr-TR" sz="1800" b="0" i="0" u="none" strike="noStrike" baseline="0" dirty="0">
                <a:latin typeface="MinionPro-Regular"/>
              </a:rPr>
              <a:t>Bu noktada yatırımcılar cephesinde ortaya çıkan yeni bir eğilimden de</a:t>
            </a:r>
          </a:p>
          <a:p>
            <a:pPr algn="l"/>
            <a:r>
              <a:rPr lang="tr-TR" sz="1800" b="0" i="0" u="none" strike="noStrike" baseline="0" dirty="0">
                <a:latin typeface="MinionPro-Regular"/>
              </a:rPr>
              <a:t>söz etmek gerekir. Kimi potansiyel şirket hissesi yatırımcıları, sosyal sorumlu şirketleri</a:t>
            </a:r>
          </a:p>
          <a:p>
            <a:pPr algn="l"/>
            <a:r>
              <a:rPr lang="tr-TR" sz="1800" b="0" i="0" u="none" strike="noStrike" baseline="0" dirty="0">
                <a:latin typeface="MinionPro-Regular"/>
              </a:rPr>
              <a:t>tercih etmekte ya da aracı kurumlarına bu yönde talimat vermektedirler.</a:t>
            </a:r>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30</a:t>
            </a:fld>
            <a:endParaRPr lang="tr-TR"/>
          </a:p>
        </p:txBody>
      </p:sp>
    </p:spTree>
    <p:extLst>
      <p:ext uri="{BB962C8B-B14F-4D97-AF65-F5344CB8AC3E}">
        <p14:creationId xmlns:p14="http://schemas.microsoft.com/office/powerpoint/2010/main" val="1050868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55495-8134-F999-FAA9-9E803931D36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204C310E-5485-819E-1047-04933A274222}"/>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1D6FFE6B-5780-BA76-5544-B2523D6E0901}"/>
              </a:ext>
            </a:extLst>
          </p:cNvPr>
          <p:cNvSpPr>
            <a:spLocks noGrp="1"/>
          </p:cNvSpPr>
          <p:nvPr>
            <p:ph type="body" idx="1"/>
          </p:nvPr>
        </p:nvSpPr>
        <p:spPr/>
        <p:txBody>
          <a:bodyPr/>
          <a:lstStyle/>
          <a:p>
            <a:pPr algn="l"/>
            <a:endParaRPr lang="tr-TR" dirty="0"/>
          </a:p>
        </p:txBody>
      </p:sp>
      <p:sp>
        <p:nvSpPr>
          <p:cNvPr id="4" name="Slayt Numarası Yer Tutucusu 3">
            <a:extLst>
              <a:ext uri="{FF2B5EF4-FFF2-40B4-BE49-F238E27FC236}">
                <a16:creationId xmlns:a16="http://schemas.microsoft.com/office/drawing/2014/main" id="{C85F4B35-EA05-9456-5C5F-645BB7A45EB4}"/>
              </a:ext>
            </a:extLst>
          </p:cNvPr>
          <p:cNvSpPr>
            <a:spLocks noGrp="1"/>
          </p:cNvSpPr>
          <p:nvPr>
            <p:ph type="sldNum" sz="quarter" idx="5"/>
          </p:nvPr>
        </p:nvSpPr>
        <p:spPr/>
        <p:txBody>
          <a:bodyPr/>
          <a:lstStyle/>
          <a:p>
            <a:fld id="{2DBF7D62-1F8E-42FC-A120-9A4516BFB514}" type="slidenum">
              <a:rPr lang="tr-TR" smtClean="0"/>
              <a:t>31</a:t>
            </a:fld>
            <a:endParaRPr lang="tr-TR"/>
          </a:p>
        </p:txBody>
      </p:sp>
    </p:spTree>
    <p:extLst>
      <p:ext uri="{BB962C8B-B14F-4D97-AF65-F5344CB8AC3E}">
        <p14:creationId xmlns:p14="http://schemas.microsoft.com/office/powerpoint/2010/main" val="35980731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87400-A7E5-C657-5FAA-74A4A3C661E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0B9F672-216A-9611-4ECB-3636236BC20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781BD65-71A4-271A-1287-A2EA5A7D10A8}"/>
              </a:ext>
            </a:extLst>
          </p:cNvPr>
          <p:cNvSpPr>
            <a:spLocks noGrp="1"/>
          </p:cNvSpPr>
          <p:nvPr>
            <p:ph type="body" idx="1"/>
          </p:nvPr>
        </p:nvSpPr>
        <p:spPr/>
        <p:txBody>
          <a:bodyPr/>
          <a:lstStyle/>
          <a:p>
            <a:pPr algn="l"/>
            <a:endParaRPr lang="tr-TR" dirty="0"/>
          </a:p>
        </p:txBody>
      </p:sp>
      <p:sp>
        <p:nvSpPr>
          <p:cNvPr id="4" name="Slayt Numarası Yer Tutucusu 3">
            <a:extLst>
              <a:ext uri="{FF2B5EF4-FFF2-40B4-BE49-F238E27FC236}">
                <a16:creationId xmlns:a16="http://schemas.microsoft.com/office/drawing/2014/main" id="{5D1BD4A2-BC7F-61C9-0A98-6D213CC8C658}"/>
              </a:ext>
            </a:extLst>
          </p:cNvPr>
          <p:cNvSpPr>
            <a:spLocks noGrp="1"/>
          </p:cNvSpPr>
          <p:nvPr>
            <p:ph type="sldNum" sz="quarter" idx="5"/>
          </p:nvPr>
        </p:nvSpPr>
        <p:spPr/>
        <p:txBody>
          <a:bodyPr/>
          <a:lstStyle/>
          <a:p>
            <a:fld id="{2DBF7D62-1F8E-42FC-A120-9A4516BFB514}" type="slidenum">
              <a:rPr lang="tr-TR" smtClean="0"/>
              <a:t>32</a:t>
            </a:fld>
            <a:endParaRPr lang="tr-TR"/>
          </a:p>
        </p:txBody>
      </p:sp>
    </p:spTree>
    <p:extLst>
      <p:ext uri="{BB962C8B-B14F-4D97-AF65-F5344CB8AC3E}">
        <p14:creationId xmlns:p14="http://schemas.microsoft.com/office/powerpoint/2010/main" val="26875415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33</a:t>
            </a:fld>
            <a:endParaRPr lang="tr-TR"/>
          </a:p>
        </p:txBody>
      </p:sp>
    </p:spTree>
    <p:extLst>
      <p:ext uri="{BB962C8B-B14F-4D97-AF65-F5344CB8AC3E}">
        <p14:creationId xmlns:p14="http://schemas.microsoft.com/office/powerpoint/2010/main" val="21037102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34</a:t>
            </a:fld>
            <a:endParaRPr lang="tr-TR"/>
          </a:p>
        </p:txBody>
      </p:sp>
    </p:spTree>
    <p:extLst>
      <p:ext uri="{BB962C8B-B14F-4D97-AF65-F5344CB8AC3E}">
        <p14:creationId xmlns:p14="http://schemas.microsoft.com/office/powerpoint/2010/main" val="389114589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BBE2D-669C-2506-F5B5-5F28855F633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86FE6BC-CBDB-E246-EB18-A9296F12898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95AB80D-624C-2CA0-93C7-83421DDD6005}"/>
              </a:ext>
            </a:extLst>
          </p:cNvPr>
          <p:cNvSpPr>
            <a:spLocks noGrp="1"/>
          </p:cNvSpPr>
          <p:nvPr>
            <p:ph type="body" idx="1"/>
          </p:nvPr>
        </p:nvSpPr>
        <p:spPr/>
        <p:txBody>
          <a:bodyPr/>
          <a:lstStyle/>
          <a:p>
            <a:r>
              <a:rPr lang="tr-TR" dirty="0"/>
              <a:t>Sürdürülebilirlik kavramı üç temel boyutta ele alınmaktadır:</a:t>
            </a:r>
          </a:p>
          <a:p>
            <a:pPr>
              <a:buFont typeface="Arial" panose="020B0604020202020204" pitchFamily="34" charset="0"/>
              <a:buChar char="•"/>
            </a:pPr>
            <a:r>
              <a:rPr lang="tr-TR" b="1" dirty="0"/>
              <a:t>Çevresel Sürdürülebilirlik</a:t>
            </a:r>
            <a:r>
              <a:rPr lang="tr-TR" dirty="0"/>
              <a:t>: İşletmelerin doğal kaynakları koruma, karbon emisyonlarını azaltma, geri dönüştürülebilir malzeme kullanımı gibi çevresel etkilerini yönetmesi. (</a:t>
            </a:r>
            <a:r>
              <a:rPr lang="tr-TR" dirty="0" err="1"/>
              <a:t>Örn</a:t>
            </a:r>
            <a:r>
              <a:rPr lang="tr-TR" dirty="0"/>
              <a:t>: </a:t>
            </a:r>
            <a:r>
              <a:rPr lang="tr-TR" dirty="0" err="1"/>
              <a:t>Tesla’nın</a:t>
            </a:r>
            <a:r>
              <a:rPr lang="tr-TR" dirty="0"/>
              <a:t> elektrikli araçları fosil yakıt kullanımını azaltmayı hedefler.)</a:t>
            </a:r>
          </a:p>
          <a:p>
            <a:pPr>
              <a:buFont typeface="Arial" panose="020B0604020202020204" pitchFamily="34" charset="0"/>
              <a:buChar char="•"/>
            </a:pPr>
            <a:r>
              <a:rPr lang="tr-TR" b="1" dirty="0"/>
              <a:t>Ekonomik Sürdürülebilirlik</a:t>
            </a:r>
            <a:r>
              <a:rPr lang="tr-TR" dirty="0"/>
              <a:t>: İşletmelerin uzun vadeli büyümesini sağlamaya yönelik etik uygulamalar geliştirmesi. (</a:t>
            </a:r>
            <a:r>
              <a:rPr lang="tr-TR" dirty="0" err="1"/>
              <a:t>Örn</a:t>
            </a:r>
            <a:r>
              <a:rPr lang="tr-TR" dirty="0"/>
              <a:t>: </a:t>
            </a:r>
            <a:r>
              <a:rPr lang="tr-TR" dirty="0" err="1"/>
              <a:t>Fair</a:t>
            </a:r>
            <a:r>
              <a:rPr lang="tr-TR" dirty="0"/>
              <a:t> </a:t>
            </a:r>
            <a:r>
              <a:rPr lang="tr-TR" dirty="0" err="1"/>
              <a:t>Trade</a:t>
            </a:r>
            <a:r>
              <a:rPr lang="tr-TR" dirty="0"/>
              <a:t> sertifikalı ürünlerin etik tedarik zincirleri ile satılması.)</a:t>
            </a:r>
          </a:p>
          <a:p>
            <a:pPr>
              <a:buFont typeface="Arial" panose="020B0604020202020204" pitchFamily="34" charset="0"/>
              <a:buChar char="•"/>
            </a:pPr>
            <a:r>
              <a:rPr lang="tr-TR" b="1" dirty="0"/>
              <a:t>Sosyal Sürdürülebilirlik</a:t>
            </a:r>
            <a:r>
              <a:rPr lang="tr-TR" dirty="0"/>
              <a:t>: Çalışan haklarının korunması, toplumun refahına katkı sağlayan projelerin desteklenmesi. (</a:t>
            </a:r>
            <a:r>
              <a:rPr lang="tr-TR" dirty="0" err="1"/>
              <a:t>Örn</a:t>
            </a:r>
            <a:r>
              <a:rPr lang="tr-TR" dirty="0"/>
              <a:t>: Google’ın yenilenebilir enerjiye yatırım yaparak sürdürülebilir iş modelleri geliştirmesi.)</a:t>
            </a:r>
          </a:p>
          <a:p>
            <a:pPr algn="l"/>
            <a:endParaRPr lang="tr-TR" dirty="0"/>
          </a:p>
        </p:txBody>
      </p:sp>
      <p:sp>
        <p:nvSpPr>
          <p:cNvPr id="4" name="Slayt Numarası Yer Tutucusu 3">
            <a:extLst>
              <a:ext uri="{FF2B5EF4-FFF2-40B4-BE49-F238E27FC236}">
                <a16:creationId xmlns:a16="http://schemas.microsoft.com/office/drawing/2014/main" id="{A9A6AFCA-2FFE-4946-9408-310B56704AC1}"/>
              </a:ext>
            </a:extLst>
          </p:cNvPr>
          <p:cNvSpPr>
            <a:spLocks noGrp="1"/>
          </p:cNvSpPr>
          <p:nvPr>
            <p:ph type="sldNum" sz="quarter" idx="5"/>
          </p:nvPr>
        </p:nvSpPr>
        <p:spPr/>
        <p:txBody>
          <a:bodyPr/>
          <a:lstStyle/>
          <a:p>
            <a:fld id="{2DBF7D62-1F8E-42FC-A120-9A4516BFB514}" type="slidenum">
              <a:rPr lang="tr-TR" smtClean="0"/>
              <a:t>35</a:t>
            </a:fld>
            <a:endParaRPr lang="tr-TR"/>
          </a:p>
        </p:txBody>
      </p:sp>
    </p:spTree>
    <p:extLst>
      <p:ext uri="{BB962C8B-B14F-4D97-AF65-F5344CB8AC3E}">
        <p14:creationId xmlns:p14="http://schemas.microsoft.com/office/powerpoint/2010/main" val="37282027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ABB88-7D85-2795-C1F6-0A311EF0577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92E3D691-2EFD-AD46-7B4E-EE6A84F2DE5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33849BB-2310-B365-BEAD-F2B0F5367D95}"/>
              </a:ext>
            </a:extLst>
          </p:cNvPr>
          <p:cNvSpPr>
            <a:spLocks noGrp="1"/>
          </p:cNvSpPr>
          <p:nvPr>
            <p:ph type="body" idx="1"/>
          </p:nvPr>
        </p:nvSpPr>
        <p:spPr/>
        <p:txBody>
          <a:bodyPr/>
          <a:lstStyle/>
          <a:p>
            <a:pPr algn="l"/>
            <a:r>
              <a:rPr lang="tr-TR" sz="1800" b="1" i="0" u="none" strike="noStrike" baseline="0" dirty="0">
                <a:solidFill>
                  <a:srgbClr val="00FFFF"/>
                </a:solidFill>
                <a:latin typeface="MinionPro-BoldCn"/>
              </a:rPr>
              <a:t>.</a:t>
            </a:r>
            <a:endParaRPr lang="tr-TR" dirty="0"/>
          </a:p>
        </p:txBody>
      </p:sp>
      <p:sp>
        <p:nvSpPr>
          <p:cNvPr id="4" name="Slayt Numarası Yer Tutucusu 3">
            <a:extLst>
              <a:ext uri="{FF2B5EF4-FFF2-40B4-BE49-F238E27FC236}">
                <a16:creationId xmlns:a16="http://schemas.microsoft.com/office/drawing/2014/main" id="{7596F0A8-8A4C-CCA6-1BD0-370A4F0CFF16}"/>
              </a:ext>
            </a:extLst>
          </p:cNvPr>
          <p:cNvSpPr>
            <a:spLocks noGrp="1"/>
          </p:cNvSpPr>
          <p:nvPr>
            <p:ph type="sldNum" sz="quarter" idx="5"/>
          </p:nvPr>
        </p:nvSpPr>
        <p:spPr/>
        <p:txBody>
          <a:bodyPr/>
          <a:lstStyle/>
          <a:p>
            <a:fld id="{2DBF7D62-1F8E-42FC-A120-9A4516BFB514}" type="slidenum">
              <a:rPr lang="tr-TR" smtClean="0"/>
              <a:t>36</a:t>
            </a:fld>
            <a:endParaRPr lang="tr-TR"/>
          </a:p>
        </p:txBody>
      </p:sp>
    </p:spTree>
    <p:extLst>
      <p:ext uri="{BB962C8B-B14F-4D97-AF65-F5344CB8AC3E}">
        <p14:creationId xmlns:p14="http://schemas.microsoft.com/office/powerpoint/2010/main" val="25437361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37</a:t>
            </a:fld>
            <a:endParaRPr lang="tr-TR"/>
          </a:p>
        </p:txBody>
      </p:sp>
    </p:spTree>
    <p:extLst>
      <p:ext uri="{BB962C8B-B14F-4D97-AF65-F5344CB8AC3E}">
        <p14:creationId xmlns:p14="http://schemas.microsoft.com/office/powerpoint/2010/main" val="15299396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38</a:t>
            </a:fld>
            <a:endParaRPr lang="tr-TR"/>
          </a:p>
        </p:txBody>
      </p:sp>
    </p:spTree>
    <p:extLst>
      <p:ext uri="{BB962C8B-B14F-4D97-AF65-F5344CB8AC3E}">
        <p14:creationId xmlns:p14="http://schemas.microsoft.com/office/powerpoint/2010/main" val="16914032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endParaRPr lang="tr-TR" dirty="0"/>
          </a:p>
        </p:txBody>
      </p:sp>
      <p:sp>
        <p:nvSpPr>
          <p:cNvPr id="4" name="Slayt Numarası Yer Tutucusu 3"/>
          <p:cNvSpPr>
            <a:spLocks noGrp="1"/>
          </p:cNvSpPr>
          <p:nvPr>
            <p:ph type="sldNum" sz="quarter" idx="5"/>
          </p:nvPr>
        </p:nvSpPr>
        <p:spPr/>
        <p:txBody>
          <a:bodyPr/>
          <a:lstStyle/>
          <a:p>
            <a:fld id="{2DBF7D62-1F8E-42FC-A120-9A4516BFB514}" type="slidenum">
              <a:rPr lang="tr-TR" smtClean="0"/>
              <a:t>39</a:t>
            </a:fld>
            <a:endParaRPr lang="tr-TR"/>
          </a:p>
        </p:txBody>
      </p:sp>
    </p:spTree>
    <p:extLst>
      <p:ext uri="{BB962C8B-B14F-4D97-AF65-F5344CB8AC3E}">
        <p14:creationId xmlns:p14="http://schemas.microsoft.com/office/powerpoint/2010/main" val="29584111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8F5D0-9097-555A-EAA5-69BC4F7664D6}"/>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B47B9FD-287C-90BA-A92B-4D33AFAE65A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4156C4D7-BCAC-0E02-D7F1-35870471795C}"/>
              </a:ext>
            </a:extLst>
          </p:cNvPr>
          <p:cNvSpPr>
            <a:spLocks noGrp="1"/>
          </p:cNvSpPr>
          <p:nvPr>
            <p:ph type="body" idx="1"/>
          </p:nvPr>
        </p:nvSpPr>
        <p:spPr/>
        <p:txBody>
          <a:bodyPr/>
          <a:lstStyle/>
          <a:p>
            <a:pPr algn="l"/>
            <a:endParaRPr lang="tr-TR"/>
          </a:p>
        </p:txBody>
      </p:sp>
      <p:sp>
        <p:nvSpPr>
          <p:cNvPr id="4" name="Slayt Numarası Yer Tutucusu 3">
            <a:extLst>
              <a:ext uri="{FF2B5EF4-FFF2-40B4-BE49-F238E27FC236}">
                <a16:creationId xmlns:a16="http://schemas.microsoft.com/office/drawing/2014/main" id="{A9C66DA3-EB19-E1B4-FC19-F6582C75DBBD}"/>
              </a:ext>
            </a:extLst>
          </p:cNvPr>
          <p:cNvSpPr>
            <a:spLocks noGrp="1"/>
          </p:cNvSpPr>
          <p:nvPr>
            <p:ph type="sldNum" sz="quarter" idx="5"/>
          </p:nvPr>
        </p:nvSpPr>
        <p:spPr/>
        <p:txBody>
          <a:bodyPr/>
          <a:lstStyle/>
          <a:p>
            <a:fld id="{2DBF7D62-1F8E-42FC-A120-9A4516BFB514}" type="slidenum">
              <a:rPr lang="tr-TR" smtClean="0"/>
              <a:t>40</a:t>
            </a:fld>
            <a:endParaRPr lang="tr-TR"/>
          </a:p>
        </p:txBody>
      </p:sp>
    </p:spTree>
    <p:extLst>
      <p:ext uri="{BB962C8B-B14F-4D97-AF65-F5344CB8AC3E}">
        <p14:creationId xmlns:p14="http://schemas.microsoft.com/office/powerpoint/2010/main" val="29232201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41</a:t>
            </a:fld>
            <a:endParaRPr lang="tr-TR"/>
          </a:p>
        </p:txBody>
      </p:sp>
    </p:spTree>
    <p:extLst>
      <p:ext uri="{BB962C8B-B14F-4D97-AF65-F5344CB8AC3E}">
        <p14:creationId xmlns:p14="http://schemas.microsoft.com/office/powerpoint/2010/main" val="37045005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60199-8A38-9665-E239-1B1D03EAA857}"/>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A991B96-C46B-8AE2-2477-05F9029DAE2C}"/>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65133A0-6AC9-419C-FC73-0A109D827C3B}"/>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1043BDD0-7CF5-3B1C-8BFC-6DF230557E5E}"/>
              </a:ext>
            </a:extLst>
          </p:cNvPr>
          <p:cNvSpPr>
            <a:spLocks noGrp="1"/>
          </p:cNvSpPr>
          <p:nvPr>
            <p:ph type="sldNum" sz="quarter" idx="5"/>
          </p:nvPr>
        </p:nvSpPr>
        <p:spPr/>
        <p:txBody>
          <a:bodyPr/>
          <a:lstStyle/>
          <a:p>
            <a:fld id="{2DBF7D62-1F8E-42FC-A120-9A4516BFB514}" type="slidenum">
              <a:rPr lang="tr-TR" smtClean="0"/>
              <a:t>42</a:t>
            </a:fld>
            <a:endParaRPr lang="tr-TR"/>
          </a:p>
        </p:txBody>
      </p:sp>
    </p:spTree>
    <p:extLst>
      <p:ext uri="{BB962C8B-B14F-4D97-AF65-F5344CB8AC3E}">
        <p14:creationId xmlns:p14="http://schemas.microsoft.com/office/powerpoint/2010/main" val="27775037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07135-6468-50D4-6273-67F591FAC94A}"/>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EA541E0A-D860-47E8-5558-B37FC36FB8C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98FDB66-B046-527A-4C05-89CE8097E90D}"/>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6B7F386B-609C-1FFF-BA84-9142C50471DE}"/>
              </a:ext>
            </a:extLst>
          </p:cNvPr>
          <p:cNvSpPr>
            <a:spLocks noGrp="1"/>
          </p:cNvSpPr>
          <p:nvPr>
            <p:ph type="sldNum" sz="quarter" idx="5"/>
          </p:nvPr>
        </p:nvSpPr>
        <p:spPr/>
        <p:txBody>
          <a:bodyPr/>
          <a:lstStyle/>
          <a:p>
            <a:fld id="{2DBF7D62-1F8E-42FC-A120-9A4516BFB514}" type="slidenum">
              <a:rPr lang="tr-TR" smtClean="0"/>
              <a:t>43</a:t>
            </a:fld>
            <a:endParaRPr lang="tr-TR"/>
          </a:p>
        </p:txBody>
      </p:sp>
    </p:spTree>
    <p:extLst>
      <p:ext uri="{BB962C8B-B14F-4D97-AF65-F5344CB8AC3E}">
        <p14:creationId xmlns:p14="http://schemas.microsoft.com/office/powerpoint/2010/main" val="30155906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67BD-6397-174F-E307-BD9CB935D29E}"/>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2AB8CF1-1E77-0724-E3C2-40D6CCFC8F5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B1525543-E4FC-03D7-6AF0-14C202F64307}"/>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2E7BD6B8-C32F-A63C-298F-BDC91572B75F}"/>
              </a:ext>
            </a:extLst>
          </p:cNvPr>
          <p:cNvSpPr>
            <a:spLocks noGrp="1"/>
          </p:cNvSpPr>
          <p:nvPr>
            <p:ph type="sldNum" sz="quarter" idx="5"/>
          </p:nvPr>
        </p:nvSpPr>
        <p:spPr/>
        <p:txBody>
          <a:bodyPr/>
          <a:lstStyle/>
          <a:p>
            <a:fld id="{2DBF7D62-1F8E-42FC-A120-9A4516BFB514}" type="slidenum">
              <a:rPr lang="tr-TR" smtClean="0"/>
              <a:t>44</a:t>
            </a:fld>
            <a:endParaRPr lang="tr-TR"/>
          </a:p>
        </p:txBody>
      </p:sp>
    </p:spTree>
    <p:extLst>
      <p:ext uri="{BB962C8B-B14F-4D97-AF65-F5344CB8AC3E}">
        <p14:creationId xmlns:p14="http://schemas.microsoft.com/office/powerpoint/2010/main" val="25053044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325B4-A304-1398-27C6-8EC2A2A58A4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6B846E1F-74A4-5F7E-691B-BF0B15F34531}"/>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E756123-5F4A-62D5-C57F-4EC09AD6155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200" b="0" i="0" u="none" strike="noStrike" baseline="0" dirty="0">
                <a:latin typeface="MinionPro-Regular"/>
              </a:rPr>
              <a:t>Bugün belirli büyüklükteki işletmelerin web sayfalarına girdiğinizde, genellikle “kurumsal” başlığı altında o işletmenin sosyal sorumluluk anlayışları, uygulamaları hakkında bilgiye ulaşabilirsiniz. Örneğin kahve satışı yapan bir işletmenin çevreyi korumaya yönelik geliştirdiği projelerle birlikte, kahvenin bir sosyalleşme aracı olduğu planına bağlı olarak destek verdiği toplumsal programlar, işletmenin sosyal sorumluluk projeleri olarak topluma yansımaktadır.</a:t>
            </a:r>
            <a:endParaRPr lang="tr-TR" sz="1200" dirty="0"/>
          </a:p>
          <a:p>
            <a:endParaRPr lang="tr-TR" dirty="0"/>
          </a:p>
        </p:txBody>
      </p:sp>
      <p:sp>
        <p:nvSpPr>
          <p:cNvPr id="4" name="Slayt Numarası Yer Tutucusu 3">
            <a:extLst>
              <a:ext uri="{FF2B5EF4-FFF2-40B4-BE49-F238E27FC236}">
                <a16:creationId xmlns:a16="http://schemas.microsoft.com/office/drawing/2014/main" id="{1D66EAD4-E99A-B0A4-068A-1F65BA4851A7}"/>
              </a:ext>
            </a:extLst>
          </p:cNvPr>
          <p:cNvSpPr>
            <a:spLocks noGrp="1"/>
          </p:cNvSpPr>
          <p:nvPr>
            <p:ph type="sldNum" sz="quarter" idx="5"/>
          </p:nvPr>
        </p:nvSpPr>
        <p:spPr/>
        <p:txBody>
          <a:bodyPr/>
          <a:lstStyle/>
          <a:p>
            <a:fld id="{2DBF7D62-1F8E-42FC-A120-9A4516BFB514}" type="slidenum">
              <a:rPr lang="tr-TR" smtClean="0"/>
              <a:t>45</a:t>
            </a:fld>
            <a:endParaRPr lang="tr-TR"/>
          </a:p>
        </p:txBody>
      </p:sp>
    </p:spTree>
    <p:extLst>
      <p:ext uri="{BB962C8B-B14F-4D97-AF65-F5344CB8AC3E}">
        <p14:creationId xmlns:p14="http://schemas.microsoft.com/office/powerpoint/2010/main" val="33020646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5307B-C564-F8CB-6DF7-99A4EEC4FD4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33C81938-4C69-32B7-1118-FEB5B6E3314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C696E3DD-FAE5-0121-2B16-F7B3FE08E3E9}"/>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5670676C-4F43-B815-E596-0E64C26D73DB}"/>
              </a:ext>
            </a:extLst>
          </p:cNvPr>
          <p:cNvSpPr>
            <a:spLocks noGrp="1"/>
          </p:cNvSpPr>
          <p:nvPr>
            <p:ph type="sldNum" sz="quarter" idx="5"/>
          </p:nvPr>
        </p:nvSpPr>
        <p:spPr/>
        <p:txBody>
          <a:bodyPr/>
          <a:lstStyle/>
          <a:p>
            <a:fld id="{2DBF7D62-1F8E-42FC-A120-9A4516BFB514}" type="slidenum">
              <a:rPr lang="tr-TR" smtClean="0"/>
              <a:t>46</a:t>
            </a:fld>
            <a:endParaRPr lang="tr-TR"/>
          </a:p>
        </p:txBody>
      </p:sp>
    </p:spTree>
    <p:extLst>
      <p:ext uri="{BB962C8B-B14F-4D97-AF65-F5344CB8AC3E}">
        <p14:creationId xmlns:p14="http://schemas.microsoft.com/office/powerpoint/2010/main" val="285172393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FAC19-6034-DB74-AD01-57EF711873F9}"/>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1318E58D-FACE-EEEF-83E0-704C23EB719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E7ABC64E-347E-B862-EAAA-30A08F8C03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sz="1200" b="0" i="0" u="none" strike="noStrike" baseline="0" dirty="0">
                <a:latin typeface="MinionPro-Regular"/>
              </a:rPr>
              <a:t>Bu kanalla örneğin müşterilerden gelen yoğun baskılar, işletmelerin iş yapma yöntemlerini değiştirmeleri ile sonuçlanabilir. Geri bildirim hangi kanalla gelirse gelsin, hangi yöntemle toplanırsa toplansın işletme eylemlerinde göz önüne alınmadığı sürece beklenen işlevini yerine getiremez.</a:t>
            </a:r>
            <a:endParaRPr lang="tr-TR" sz="1200" dirty="0"/>
          </a:p>
          <a:p>
            <a:endParaRPr lang="tr-TR" dirty="0"/>
          </a:p>
        </p:txBody>
      </p:sp>
      <p:sp>
        <p:nvSpPr>
          <p:cNvPr id="4" name="Slayt Numarası Yer Tutucusu 3">
            <a:extLst>
              <a:ext uri="{FF2B5EF4-FFF2-40B4-BE49-F238E27FC236}">
                <a16:creationId xmlns:a16="http://schemas.microsoft.com/office/drawing/2014/main" id="{444695A9-8E35-E4C3-287B-D58E3937DFB0}"/>
              </a:ext>
            </a:extLst>
          </p:cNvPr>
          <p:cNvSpPr>
            <a:spLocks noGrp="1"/>
          </p:cNvSpPr>
          <p:nvPr>
            <p:ph type="sldNum" sz="quarter" idx="5"/>
          </p:nvPr>
        </p:nvSpPr>
        <p:spPr/>
        <p:txBody>
          <a:bodyPr/>
          <a:lstStyle/>
          <a:p>
            <a:fld id="{2DBF7D62-1F8E-42FC-A120-9A4516BFB514}" type="slidenum">
              <a:rPr lang="tr-TR" smtClean="0"/>
              <a:t>47</a:t>
            </a:fld>
            <a:endParaRPr lang="tr-TR"/>
          </a:p>
        </p:txBody>
      </p:sp>
    </p:spTree>
    <p:extLst>
      <p:ext uri="{BB962C8B-B14F-4D97-AF65-F5344CB8AC3E}">
        <p14:creationId xmlns:p14="http://schemas.microsoft.com/office/powerpoint/2010/main" val="13170234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48</a:t>
            </a:fld>
            <a:endParaRPr lang="tr-TR"/>
          </a:p>
        </p:txBody>
      </p:sp>
    </p:spTree>
    <p:extLst>
      <p:ext uri="{BB962C8B-B14F-4D97-AF65-F5344CB8AC3E}">
        <p14:creationId xmlns:p14="http://schemas.microsoft.com/office/powerpoint/2010/main" val="2929135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49</a:t>
            </a:fld>
            <a:endParaRPr lang="tr-TR"/>
          </a:p>
        </p:txBody>
      </p:sp>
    </p:spTree>
    <p:extLst>
      <p:ext uri="{BB962C8B-B14F-4D97-AF65-F5344CB8AC3E}">
        <p14:creationId xmlns:p14="http://schemas.microsoft.com/office/powerpoint/2010/main" val="10919850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algn="l"/>
            <a:r>
              <a:rPr lang="tr-TR" sz="1800" b="0" i="0" u="none" strike="noStrike" baseline="0">
                <a:latin typeface="MinionPro-Regular"/>
              </a:rPr>
              <a:t>Yukarıda sıralanan ilkeler, küresel ilkelerdir. Yerel, sektörel ve mesleki anlamda,</a:t>
            </a:r>
          </a:p>
          <a:p>
            <a:pPr algn="l"/>
            <a:r>
              <a:rPr lang="tr-TR" sz="1800" b="0" i="0" u="none" strike="noStrike" baseline="0">
                <a:latin typeface="MinionPro-Regular"/>
              </a:rPr>
              <a:t>o alanda çalışanlara rehberlik edecek ilkeler de bulunmaktadır. Örneğin yayın</a:t>
            </a:r>
          </a:p>
          <a:p>
            <a:pPr algn="l"/>
            <a:r>
              <a:rPr lang="tr-TR" sz="1800" b="0" i="0" u="none" strike="noStrike" baseline="0">
                <a:latin typeface="MinionPro-Regular"/>
              </a:rPr>
              <a:t>kuruluşlarının belirlediği yayın ilkeleri, muhasebe uzmanlarının uyması gereken</a:t>
            </a:r>
          </a:p>
          <a:p>
            <a:pPr algn="l"/>
            <a:r>
              <a:rPr lang="tr-TR" sz="1800" b="0" i="0" u="none" strike="noStrike" baseline="0">
                <a:latin typeface="MinionPro-Regular"/>
              </a:rPr>
              <a:t>meslek ilkeleri, sivil toplum kuruluşlarının belirlediği etik ilkeler söz konusudur.</a:t>
            </a:r>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50</a:t>
            </a:fld>
            <a:endParaRPr lang="tr-TR"/>
          </a:p>
        </p:txBody>
      </p:sp>
    </p:spTree>
    <p:extLst>
      <p:ext uri="{BB962C8B-B14F-4D97-AF65-F5344CB8AC3E}">
        <p14:creationId xmlns:p14="http://schemas.microsoft.com/office/powerpoint/2010/main" val="12979039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7DFC1-26F4-7EA8-B415-4F33D7CFFF5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448FC6B-EAC0-4926-22A5-F56D6341090E}"/>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D0120996-8ABA-CF74-9CCE-E800782EFB7E}"/>
              </a:ext>
            </a:extLst>
          </p:cNvPr>
          <p:cNvSpPr>
            <a:spLocks noGrp="1"/>
          </p:cNvSpPr>
          <p:nvPr>
            <p:ph type="body" idx="1"/>
          </p:nvPr>
        </p:nvSpPr>
        <p:spPr/>
        <p:txBody>
          <a:bodyPr/>
          <a:lstStyle/>
          <a:p>
            <a:pPr algn="l"/>
            <a:endParaRPr lang="tr-TR"/>
          </a:p>
        </p:txBody>
      </p:sp>
      <p:sp>
        <p:nvSpPr>
          <p:cNvPr id="4" name="Slayt Numarası Yer Tutucusu 3">
            <a:extLst>
              <a:ext uri="{FF2B5EF4-FFF2-40B4-BE49-F238E27FC236}">
                <a16:creationId xmlns:a16="http://schemas.microsoft.com/office/drawing/2014/main" id="{A4B64147-4FB4-3E04-8398-0DDB2EA82415}"/>
              </a:ext>
            </a:extLst>
          </p:cNvPr>
          <p:cNvSpPr>
            <a:spLocks noGrp="1"/>
          </p:cNvSpPr>
          <p:nvPr>
            <p:ph type="sldNum" sz="quarter" idx="5"/>
          </p:nvPr>
        </p:nvSpPr>
        <p:spPr/>
        <p:txBody>
          <a:bodyPr/>
          <a:lstStyle/>
          <a:p>
            <a:fld id="{2DBF7D62-1F8E-42FC-A120-9A4516BFB514}" type="slidenum">
              <a:rPr lang="tr-TR" smtClean="0"/>
              <a:t>51</a:t>
            </a:fld>
            <a:endParaRPr lang="tr-TR"/>
          </a:p>
        </p:txBody>
      </p:sp>
    </p:spTree>
    <p:extLst>
      <p:ext uri="{BB962C8B-B14F-4D97-AF65-F5344CB8AC3E}">
        <p14:creationId xmlns:p14="http://schemas.microsoft.com/office/powerpoint/2010/main" val="4055864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C4324-E27F-B7F3-86C3-7882E7DFC2E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83C4057D-944C-F1E4-C33A-ECC9E9E203C4}"/>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ADBB6952-D412-6CBF-3222-7914C1512964}"/>
              </a:ext>
            </a:extLst>
          </p:cNvPr>
          <p:cNvSpPr>
            <a:spLocks noGrp="1"/>
          </p:cNvSpPr>
          <p:nvPr>
            <p:ph type="body" idx="1"/>
          </p:nvPr>
        </p:nvSpPr>
        <p:spPr/>
        <p:txBody>
          <a:bodyPr/>
          <a:lstStyle/>
          <a:p>
            <a:pPr algn="l"/>
            <a:endParaRPr lang="tr-TR"/>
          </a:p>
        </p:txBody>
      </p:sp>
      <p:sp>
        <p:nvSpPr>
          <p:cNvPr id="4" name="Slayt Numarası Yer Tutucusu 3">
            <a:extLst>
              <a:ext uri="{FF2B5EF4-FFF2-40B4-BE49-F238E27FC236}">
                <a16:creationId xmlns:a16="http://schemas.microsoft.com/office/drawing/2014/main" id="{A39EF19C-2F75-6DEB-7E1D-F655E9638B77}"/>
              </a:ext>
            </a:extLst>
          </p:cNvPr>
          <p:cNvSpPr>
            <a:spLocks noGrp="1"/>
          </p:cNvSpPr>
          <p:nvPr>
            <p:ph type="sldNum" sz="quarter" idx="5"/>
          </p:nvPr>
        </p:nvSpPr>
        <p:spPr/>
        <p:txBody>
          <a:bodyPr/>
          <a:lstStyle/>
          <a:p>
            <a:fld id="{2DBF7D62-1F8E-42FC-A120-9A4516BFB514}" type="slidenum">
              <a:rPr lang="tr-TR" smtClean="0"/>
              <a:t>52</a:t>
            </a:fld>
            <a:endParaRPr lang="tr-TR"/>
          </a:p>
        </p:txBody>
      </p:sp>
    </p:spTree>
    <p:extLst>
      <p:ext uri="{BB962C8B-B14F-4D97-AF65-F5344CB8AC3E}">
        <p14:creationId xmlns:p14="http://schemas.microsoft.com/office/powerpoint/2010/main" val="15423912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BA2F2-CF41-FABE-A80C-53783859F64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2B1BD1D-CDD1-92F9-E0BB-DC98285CE213}"/>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3B4906C8-5604-13E8-8DE6-42E9B0A2A435}"/>
              </a:ext>
            </a:extLst>
          </p:cNvPr>
          <p:cNvSpPr>
            <a:spLocks noGrp="1"/>
          </p:cNvSpPr>
          <p:nvPr>
            <p:ph type="body" idx="1"/>
          </p:nvPr>
        </p:nvSpPr>
        <p:spPr/>
        <p:txBody>
          <a:bodyPr/>
          <a:lstStyle/>
          <a:p>
            <a:pPr algn="l"/>
            <a:endParaRPr lang="tr-TR"/>
          </a:p>
        </p:txBody>
      </p:sp>
      <p:sp>
        <p:nvSpPr>
          <p:cNvPr id="4" name="Slayt Numarası Yer Tutucusu 3">
            <a:extLst>
              <a:ext uri="{FF2B5EF4-FFF2-40B4-BE49-F238E27FC236}">
                <a16:creationId xmlns:a16="http://schemas.microsoft.com/office/drawing/2014/main" id="{51F23A4C-5B87-0E81-1945-D6D36F6946EE}"/>
              </a:ext>
            </a:extLst>
          </p:cNvPr>
          <p:cNvSpPr>
            <a:spLocks noGrp="1"/>
          </p:cNvSpPr>
          <p:nvPr>
            <p:ph type="sldNum" sz="quarter" idx="5"/>
          </p:nvPr>
        </p:nvSpPr>
        <p:spPr/>
        <p:txBody>
          <a:bodyPr/>
          <a:lstStyle/>
          <a:p>
            <a:fld id="{2DBF7D62-1F8E-42FC-A120-9A4516BFB514}" type="slidenum">
              <a:rPr lang="tr-TR" smtClean="0"/>
              <a:t>53</a:t>
            </a:fld>
            <a:endParaRPr lang="tr-TR"/>
          </a:p>
        </p:txBody>
      </p:sp>
    </p:spTree>
    <p:extLst>
      <p:ext uri="{BB962C8B-B14F-4D97-AF65-F5344CB8AC3E}">
        <p14:creationId xmlns:p14="http://schemas.microsoft.com/office/powerpoint/2010/main" val="383597668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2DBF7D62-1F8E-42FC-A120-9A4516BFB514}" type="slidenum">
              <a:rPr lang="tr-TR" smtClean="0"/>
              <a:t>54</a:t>
            </a:fld>
            <a:endParaRPr lang="tr-TR"/>
          </a:p>
        </p:txBody>
      </p:sp>
    </p:spTree>
    <p:extLst>
      <p:ext uri="{BB962C8B-B14F-4D97-AF65-F5344CB8AC3E}">
        <p14:creationId xmlns:p14="http://schemas.microsoft.com/office/powerpoint/2010/main" val="3265684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3/5/25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39084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3/5/25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68780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3/5/25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634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3/5/25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41405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3/5/25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1376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3/5/25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686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3/5/25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10495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3/5/25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44236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3/5/25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81947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3/5/25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94371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3/5/25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91084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3/5/25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99391287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svg"/></Relationships>
</file>

<file path=ppt/slides/_rels/slide13.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tmp"/><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tmp"/><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8.tmp"/><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5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62.jpeg"/></Relationships>
</file>

<file path=ppt/slides/_rels/slide5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7603572E-A92D-DBCA-B4EE-A20A6EC65DC3}"/>
              </a:ext>
            </a:extLst>
          </p:cNvPr>
          <p:cNvPicPr>
            <a:picLocks noChangeAspect="1"/>
          </p:cNvPicPr>
          <p:nvPr/>
        </p:nvPicPr>
        <p:blipFill>
          <a:blip r:embed="rId3"/>
          <a:srcRect t="226" b="26958"/>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Başlık 1">
            <a:extLst>
              <a:ext uri="{FF2B5EF4-FFF2-40B4-BE49-F238E27FC236}">
                <a16:creationId xmlns:a16="http://schemas.microsoft.com/office/drawing/2014/main" id="{7AC059A0-B71B-764F-DCC4-920D936E4301}"/>
              </a:ext>
            </a:extLst>
          </p:cNvPr>
          <p:cNvSpPr>
            <a:spLocks noGrp="1"/>
          </p:cNvSpPr>
          <p:nvPr>
            <p:ph type="ctrTitle"/>
          </p:nvPr>
        </p:nvSpPr>
        <p:spPr>
          <a:xfrm>
            <a:off x="7473219" y="898373"/>
            <a:ext cx="4470544" cy="3474720"/>
          </a:xfrm>
        </p:spPr>
        <p:txBody>
          <a:bodyPr anchor="b">
            <a:normAutofit/>
          </a:bodyPr>
          <a:lstStyle/>
          <a:p>
            <a:pPr algn="l"/>
            <a:r>
              <a:rPr lang="tr-TR" sz="5800"/>
              <a:t>İŞLETME BİLİMİNE GİRİŞ</a:t>
            </a:r>
          </a:p>
        </p:txBody>
      </p:sp>
      <p:sp>
        <p:nvSpPr>
          <p:cNvPr id="3" name="Alt Başlık 2">
            <a:extLst>
              <a:ext uri="{FF2B5EF4-FFF2-40B4-BE49-F238E27FC236}">
                <a16:creationId xmlns:a16="http://schemas.microsoft.com/office/drawing/2014/main" id="{45013BBE-A956-50B8-8694-B23CC1851C93}"/>
              </a:ext>
            </a:extLst>
          </p:cNvPr>
          <p:cNvSpPr>
            <a:spLocks noGrp="1"/>
          </p:cNvSpPr>
          <p:nvPr>
            <p:ph type="subTitle" idx="1"/>
          </p:nvPr>
        </p:nvSpPr>
        <p:spPr>
          <a:xfrm>
            <a:off x="7482646" y="4495013"/>
            <a:ext cx="4116410" cy="1386840"/>
          </a:xfrm>
        </p:spPr>
        <p:txBody>
          <a:bodyPr anchor="t">
            <a:normAutofit/>
          </a:bodyPr>
          <a:lstStyle/>
          <a:p>
            <a:pPr algn="l"/>
            <a:r>
              <a:rPr lang="tr-TR" sz="2200"/>
              <a:t>3.HAFTA</a:t>
            </a:r>
          </a:p>
          <a:p>
            <a:pPr algn="l"/>
            <a:r>
              <a:rPr lang="tr-TR" sz="2200"/>
              <a:t>DR.FATİH ÇALLI</a:t>
            </a:r>
          </a:p>
        </p:txBody>
      </p:sp>
    </p:spTree>
    <p:extLst>
      <p:ext uri="{BB962C8B-B14F-4D97-AF65-F5344CB8AC3E}">
        <p14:creationId xmlns:p14="http://schemas.microsoft.com/office/powerpoint/2010/main" val="210002975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4ED0219-5FBD-7E2C-66CC-8EB9B1414020}"/>
              </a:ext>
            </a:extLst>
          </p:cNvPr>
          <p:cNvSpPr>
            <a:spLocks noGrp="1"/>
          </p:cNvSpPr>
          <p:nvPr>
            <p:ph type="title"/>
          </p:nvPr>
        </p:nvSpPr>
        <p:spPr>
          <a:xfrm>
            <a:off x="612649" y="548638"/>
            <a:ext cx="3493008" cy="5788152"/>
          </a:xfrm>
        </p:spPr>
        <p:txBody>
          <a:bodyPr anchor="ctr">
            <a:normAutofit/>
          </a:bodyPr>
          <a:lstStyle/>
          <a:p>
            <a:r>
              <a:rPr lang="tr-TR" sz="4000" b="1" i="0" u="none" strike="noStrike" baseline="0">
                <a:latin typeface="MyriadPro-Bold"/>
              </a:rPr>
              <a:t>Etik ve Sosyal Sorumluluk</a:t>
            </a:r>
            <a:endParaRPr lang="tr-TR" sz="4000"/>
          </a:p>
        </p:txBody>
      </p:sp>
      <p:graphicFrame>
        <p:nvGraphicFramePr>
          <p:cNvPr id="5" name="İçerik Yer Tutucusu 2">
            <a:extLst>
              <a:ext uri="{FF2B5EF4-FFF2-40B4-BE49-F238E27FC236}">
                <a16:creationId xmlns:a16="http://schemas.microsoft.com/office/drawing/2014/main" id="{E849CB25-85C1-9A13-2C3E-58EE543E893D}"/>
              </a:ext>
            </a:extLst>
          </p:cNvPr>
          <p:cNvGraphicFramePr>
            <a:graphicFrameLocks noGrp="1"/>
          </p:cNvGraphicFramePr>
          <p:nvPr>
            <p:ph idx="1"/>
            <p:extLst>
              <p:ext uri="{D42A27DB-BD31-4B8C-83A1-F6EECF244321}">
                <p14:modId xmlns:p14="http://schemas.microsoft.com/office/powerpoint/2010/main" val="473224278"/>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16508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59E819-508E-8EC3-9E28-77365DB41EC5}"/>
            </a:ext>
          </a:extLst>
        </p:cNvPr>
        <p:cNvGrpSpPr/>
        <p:nvPr/>
      </p:nvGrpSpPr>
      <p:grpSpPr>
        <a:xfrm>
          <a:off x="0" y="0"/>
          <a:ext cx="0" cy="0"/>
          <a:chOff x="0" y="0"/>
          <a:chExt cx="0" cy="0"/>
        </a:xfrm>
      </p:grpSpPr>
      <p:sp useBgFill="1">
        <p:nvSpPr>
          <p:cNvPr id="11"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4" descr="Kalabalığın içinde tek biri">
            <a:extLst>
              <a:ext uri="{FF2B5EF4-FFF2-40B4-BE49-F238E27FC236}">
                <a16:creationId xmlns:a16="http://schemas.microsoft.com/office/drawing/2014/main" id="{1EBF4652-120D-D367-EF76-960CF454D866}"/>
              </a:ext>
            </a:extLst>
          </p:cNvPr>
          <p:cNvPicPr>
            <a:picLocks noChangeAspect="1"/>
          </p:cNvPicPr>
          <p:nvPr/>
        </p:nvPicPr>
        <p:blipFill>
          <a:blip r:embed="rId3"/>
          <a:srcRect l="27595" r="19405"/>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BA53E442-51D4-3FCB-6DBF-064232C6B86F}"/>
              </a:ext>
            </a:extLst>
          </p:cNvPr>
          <p:cNvSpPr>
            <a:spLocks noGrp="1"/>
          </p:cNvSpPr>
          <p:nvPr>
            <p:ph type="title"/>
          </p:nvPr>
        </p:nvSpPr>
        <p:spPr>
          <a:xfrm>
            <a:off x="612648" y="600075"/>
            <a:ext cx="6035040" cy="1529932"/>
          </a:xfrm>
        </p:spPr>
        <p:txBody>
          <a:bodyPr anchor="b">
            <a:normAutofit/>
          </a:bodyPr>
          <a:lstStyle/>
          <a:p>
            <a:r>
              <a:rPr lang="tr-TR" b="1" i="0" u="none" strike="noStrike" baseline="0">
                <a:latin typeface="MyriadPro-Bold"/>
              </a:rPr>
              <a:t>Etik ve Sosyal Sorumluluk</a:t>
            </a:r>
            <a:endParaRPr lang="tr-TR"/>
          </a:p>
        </p:txBody>
      </p:sp>
      <p:sp>
        <p:nvSpPr>
          <p:cNvPr id="3" name="İçerik Yer Tutucusu 2">
            <a:extLst>
              <a:ext uri="{FF2B5EF4-FFF2-40B4-BE49-F238E27FC236}">
                <a16:creationId xmlns:a16="http://schemas.microsoft.com/office/drawing/2014/main" id="{4670FABA-94E4-8D7B-1DFD-094132BF9275}"/>
              </a:ext>
            </a:extLst>
          </p:cNvPr>
          <p:cNvSpPr>
            <a:spLocks noGrp="1"/>
          </p:cNvSpPr>
          <p:nvPr>
            <p:ph idx="1"/>
          </p:nvPr>
        </p:nvSpPr>
        <p:spPr>
          <a:xfrm>
            <a:off x="612648" y="2212848"/>
            <a:ext cx="6035040" cy="4096512"/>
          </a:xfrm>
        </p:spPr>
        <p:txBody>
          <a:bodyPr>
            <a:normAutofit/>
          </a:bodyPr>
          <a:lstStyle/>
          <a:p>
            <a:pPr marL="0" indent="0">
              <a:lnSpc>
                <a:spcPct val="110000"/>
              </a:lnSpc>
              <a:buNone/>
            </a:pPr>
            <a:r>
              <a:rPr lang="tr-TR" sz="1100" dirty="0"/>
              <a:t>ETİK KAVRAMI</a:t>
            </a:r>
          </a:p>
          <a:p>
            <a:pPr marL="0" indent="0">
              <a:lnSpc>
                <a:spcPct val="110000"/>
              </a:lnSpc>
              <a:buNone/>
            </a:pPr>
            <a:r>
              <a:rPr lang="tr-TR" sz="1100" b="1" dirty="0"/>
              <a:t>Ahlak</a:t>
            </a:r>
            <a:r>
              <a:rPr lang="tr-TR" sz="1100" dirty="0"/>
              <a:t>, bir toplumda birey ya da grupların uymak zorunda oldukları davranış biçimleri ve kurallardır. Ahlak bilimi olan etik ise birey veya grubun davranışlarının doğruluğu ya da yanlışlığı hakkında hüküm vermeyi sağlayan ahlaki ilkeler ve değerler toplamıdır. Kurumların toplumla etkileşimi sonucu oluşan kararlarında ve eylemlerinde geçerli olan ahlaki ilkeler, değerler ve standartlar ise iş etiğini oluşturur. Bu bağlamda iş etiği ahlak norm ve kurallarının iş hayatında işletmelerde, şirketlerde ve kuruluşlarda uygulanması ile ilgilidir. </a:t>
            </a:r>
          </a:p>
          <a:p>
            <a:pPr marL="0" indent="0">
              <a:lnSpc>
                <a:spcPct val="110000"/>
              </a:lnSpc>
              <a:buNone/>
            </a:pPr>
            <a:r>
              <a:rPr lang="tr-TR" sz="1100" b="1" dirty="0"/>
              <a:t>Etik</a:t>
            </a:r>
            <a:r>
              <a:rPr lang="tr-TR" sz="1100" dirty="0"/>
              <a:t>, karar alma ve uygulamada neyin iyi, neyin kötü olduğuna ilişkin standartları ortaya koyar. İşletmeler açısından etik meseleler kurum kültürünün bir parçası olan kurum içi değerlerle doğrudan ilişkilidir. Değerler işletmelerin iç ve dış çevreye karşı sorumlulukları konusundaki kararlarını etkiler. Çalışanlar iç çevre, müşteriler ve yatırımcılar dış çevre unsurlarına örnektir. Etik bir mesele, örgütün veya bireyin eylemlerinin diğerlerine yarar sağlayabileceği veya zararlı olabileceği bir durumda ortaya çıkar. Bizler bulunduğumuz noktadan meselenin etik ve etik olmayan çözümleri konusunda görüş bildiririz.</a:t>
            </a:r>
          </a:p>
        </p:txBody>
      </p:sp>
    </p:spTree>
    <p:extLst>
      <p:ext uri="{BB962C8B-B14F-4D97-AF65-F5344CB8AC3E}">
        <p14:creationId xmlns:p14="http://schemas.microsoft.com/office/powerpoint/2010/main" val="4145167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ticky notes on a wall">
            <a:extLst>
              <a:ext uri="{FF2B5EF4-FFF2-40B4-BE49-F238E27FC236}">
                <a16:creationId xmlns:a16="http://schemas.microsoft.com/office/drawing/2014/main" id="{67027874-5702-2036-825D-90EE7AF2BE89}"/>
              </a:ext>
            </a:extLst>
          </p:cNvPr>
          <p:cNvPicPr>
            <a:picLocks noChangeAspect="1"/>
          </p:cNvPicPr>
          <p:nvPr/>
        </p:nvPicPr>
        <p:blipFill>
          <a:blip r:embed="rId3"/>
          <a:srcRect l="25224" r="25487" b="2"/>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EFD80CB4-DF73-1DA5-21BD-C9FF5BA0ECD1}"/>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i="0" u="none" strike="noStrike" kern="1200" baseline="0">
                <a:solidFill>
                  <a:schemeClr val="tx1"/>
                </a:solidFill>
                <a:latin typeface="+mj-lt"/>
                <a:ea typeface="+mj-ea"/>
                <a:cs typeface="+mj-cs"/>
              </a:rPr>
              <a:t>ETİK VE YASA İLİŞKİSİ</a:t>
            </a:r>
            <a:endParaRPr lang="en-US" b="1" kern="1200">
              <a:solidFill>
                <a:schemeClr val="tx1"/>
              </a:solidFill>
              <a:latin typeface="+mj-lt"/>
              <a:ea typeface="+mj-ea"/>
              <a:cs typeface="+mj-cs"/>
            </a:endParaRPr>
          </a:p>
        </p:txBody>
      </p:sp>
      <p:sp>
        <p:nvSpPr>
          <p:cNvPr id="4" name="Metin kutusu 3">
            <a:extLst>
              <a:ext uri="{FF2B5EF4-FFF2-40B4-BE49-F238E27FC236}">
                <a16:creationId xmlns:a16="http://schemas.microsoft.com/office/drawing/2014/main" id="{9867083A-283C-A234-6A56-4768C306588B}"/>
              </a:ext>
            </a:extLst>
          </p:cNvPr>
          <p:cNvSpPr txBox="1"/>
          <p:nvPr/>
        </p:nvSpPr>
        <p:spPr>
          <a:xfrm>
            <a:off x="612648" y="2212848"/>
            <a:ext cx="6035040" cy="4096512"/>
          </a:xfrm>
          <a:prstGeom prst="rect">
            <a:avLst/>
          </a:prstGeom>
        </p:spPr>
        <p:txBody>
          <a:bodyPr vert="horz" lIns="91440" tIns="45720" rIns="91440" bIns="45720" rtlCol="0">
            <a:normAutofit/>
          </a:bodyPr>
          <a:lstStyle/>
          <a:p>
            <a:pPr indent="-228600" algn="just">
              <a:lnSpc>
                <a:spcPct val="110000"/>
              </a:lnSpc>
              <a:spcAft>
                <a:spcPts val="600"/>
              </a:spcAft>
              <a:buFont typeface="Arial" panose="020B0604020202020204" pitchFamily="34" charset="0"/>
              <a:buChar char="•"/>
            </a:pPr>
            <a:r>
              <a:rPr lang="en-US" sz="1400" b="0" i="0" u="none" strike="noStrike" baseline="0"/>
              <a:t>İşletmelerde bazı kararlar için ulusal ya da uluslararası yasal çerçeve söz konusudur. Bazı kararlar ise örgütün ya da örgüt içindeki bireyin özgür seçimlerine bağlıdır. Etik, özgür seçimlerin hükmettiği davranışlarla, yasaların hükmettiği davranışlar karşılaştırıldığında daha net bir şekilde anlaşılabilir. İnsan davranışları, dışsal kontrolün yoğunluğu açısından üç kategoriden birine denk düşer. Bunlardan ilki bir hukuk sistemi içinde değerler ve standartların yazılı hâlde bulunduğu yasalarla tanımlanmış davranışlardır. Bu alanda kanun yapıcılar, insanların ve şirketlerin nasıl davranmaları gerektiğine ilişkin kuralları net olarak belirlerler.</a:t>
            </a:r>
          </a:p>
          <a:p>
            <a:pPr indent="-228600" algn="just">
              <a:lnSpc>
                <a:spcPct val="110000"/>
              </a:lnSpc>
              <a:spcAft>
                <a:spcPts val="600"/>
              </a:spcAft>
              <a:buFont typeface="Arial" panose="020B0604020202020204" pitchFamily="34" charset="0"/>
              <a:buChar char="•"/>
            </a:pPr>
            <a:r>
              <a:rPr lang="en-US" sz="1400" b="0" i="0" u="none" strike="noStrike" baseline="0"/>
              <a:t>Örneğin, motosiklet sürücüsü olmanın şartları ya da şirketler için vergi ödeme yükümlülükleri yasalarla belirlenmiştir. Dışsal kontrolün en yoğun olduğu alan, bu alandır. Diğer uçta ise özgür seçim alanı yer alır. Burası yasalarda hiçbir şekilde yer almayan davranışlara aittir. Bireylerin neye yatırım yapacakları ya da şirketlerin ne kadar mamul üretecekleri onların özgür seçimlerine bağlıdır.</a:t>
            </a:r>
            <a:endParaRPr lang="en-US" sz="1400"/>
          </a:p>
        </p:txBody>
      </p:sp>
    </p:spTree>
    <p:extLst>
      <p:ext uri="{BB962C8B-B14F-4D97-AF65-F5344CB8AC3E}">
        <p14:creationId xmlns:p14="http://schemas.microsoft.com/office/powerpoint/2010/main" val="2904902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69B777-DAC5-4193-80FE-BC34987A396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1A2D151-9C2C-6166-EF44-FCEBDC2125FE}"/>
              </a:ext>
            </a:extLst>
          </p:cNvPr>
          <p:cNvSpPr>
            <a:spLocks noGrp="1"/>
          </p:cNvSpPr>
          <p:nvPr>
            <p:ph type="title"/>
          </p:nvPr>
        </p:nvSpPr>
        <p:spPr>
          <a:xfrm>
            <a:off x="612649" y="548638"/>
            <a:ext cx="3493008" cy="5788152"/>
          </a:xfrm>
        </p:spPr>
        <p:txBody>
          <a:bodyPr vert="horz" lIns="91440" tIns="45720" rIns="91440" bIns="45720" rtlCol="0" anchor="ctr">
            <a:normAutofit/>
          </a:bodyPr>
          <a:lstStyle/>
          <a:p>
            <a:r>
              <a:rPr lang="en-US" sz="4000" b="1" i="0" u="none" strike="noStrike" kern="1200" baseline="0">
                <a:solidFill>
                  <a:schemeClr val="tx1"/>
                </a:solidFill>
                <a:latin typeface="+mj-lt"/>
                <a:ea typeface="+mj-ea"/>
                <a:cs typeface="+mj-cs"/>
              </a:rPr>
              <a:t>ETİK VE YASA İLİŞKİSİ</a:t>
            </a:r>
            <a:endParaRPr lang="en-US" sz="4000" b="1" kern="1200">
              <a:solidFill>
                <a:schemeClr val="tx1"/>
              </a:solidFill>
              <a:latin typeface="+mj-lt"/>
              <a:ea typeface="+mj-ea"/>
              <a:cs typeface="+mj-cs"/>
            </a:endParaRPr>
          </a:p>
        </p:txBody>
      </p:sp>
      <p:graphicFrame>
        <p:nvGraphicFramePr>
          <p:cNvPr id="5" name="Metin kutusu 2">
            <a:extLst>
              <a:ext uri="{FF2B5EF4-FFF2-40B4-BE49-F238E27FC236}">
                <a16:creationId xmlns:a16="http://schemas.microsoft.com/office/drawing/2014/main" id="{8E8B9359-83B6-EA32-581F-641C3C6D4AC1}"/>
              </a:ext>
            </a:extLst>
          </p:cNvPr>
          <p:cNvGraphicFramePr/>
          <p:nvPr>
            <p:extLst>
              <p:ext uri="{D42A27DB-BD31-4B8C-83A1-F6EECF244321}">
                <p14:modId xmlns:p14="http://schemas.microsoft.com/office/powerpoint/2010/main" val="1381859524"/>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87684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EB1CDD2-A41C-D612-DD7A-BBD9C01B9FB2}"/>
              </a:ext>
            </a:extLst>
          </p:cNvPr>
          <p:cNvSpPr>
            <a:spLocks noGrp="1"/>
          </p:cNvSpPr>
          <p:nvPr>
            <p:ph type="title"/>
          </p:nvPr>
        </p:nvSpPr>
        <p:spPr>
          <a:xfrm>
            <a:off x="612648" y="548640"/>
            <a:ext cx="10945037" cy="1133856"/>
          </a:xfrm>
        </p:spPr>
        <p:txBody>
          <a:bodyPr anchor="t">
            <a:normAutofit/>
          </a:bodyPr>
          <a:lstStyle/>
          <a:p>
            <a:r>
              <a:rPr lang="tr-TR" b="1" i="0" u="none" strike="noStrike" baseline="0">
                <a:latin typeface="MyriadPro-Bold"/>
              </a:rPr>
              <a:t>ETİK KARAR ALMA YAKLAŞIMLARI</a:t>
            </a:r>
            <a:endParaRPr lang="tr-TR"/>
          </a:p>
        </p:txBody>
      </p:sp>
      <p:graphicFrame>
        <p:nvGraphicFramePr>
          <p:cNvPr id="5" name="İçerik Yer Tutucusu 2">
            <a:extLst>
              <a:ext uri="{FF2B5EF4-FFF2-40B4-BE49-F238E27FC236}">
                <a16:creationId xmlns:a16="http://schemas.microsoft.com/office/drawing/2014/main" id="{A7D1B1EF-97CA-3C5E-B091-A9AC4C561106}"/>
              </a:ext>
            </a:extLst>
          </p:cNvPr>
          <p:cNvGraphicFramePr>
            <a:graphicFrameLocks noGrp="1"/>
          </p:cNvGraphicFramePr>
          <p:nvPr>
            <p:ph idx="1"/>
            <p:extLst>
              <p:ext uri="{D42A27DB-BD31-4B8C-83A1-F6EECF244321}">
                <p14:modId xmlns:p14="http://schemas.microsoft.com/office/powerpoint/2010/main" val="3483512472"/>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6170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6DF2DC-F181-489A-A5E5-C9DEF78DC8C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8DC0807-4B90-16EC-7B3B-8ABB3088AD29}"/>
              </a:ext>
            </a:extLst>
          </p:cNvPr>
          <p:cNvSpPr>
            <a:spLocks noGrp="1"/>
          </p:cNvSpPr>
          <p:nvPr>
            <p:ph type="title"/>
          </p:nvPr>
        </p:nvSpPr>
        <p:spPr>
          <a:xfrm>
            <a:off x="612649" y="548638"/>
            <a:ext cx="3493008" cy="5788152"/>
          </a:xfrm>
        </p:spPr>
        <p:txBody>
          <a:bodyPr anchor="ctr">
            <a:normAutofit/>
          </a:bodyPr>
          <a:lstStyle/>
          <a:p>
            <a:r>
              <a:rPr lang="tr-TR" sz="4000" b="1" i="0" u="none" strike="noStrike" baseline="0">
                <a:latin typeface="MyriadPro-Bold"/>
              </a:rPr>
              <a:t>ETİK KARAR ALMA YAKLAŞIMLARI</a:t>
            </a:r>
            <a:endParaRPr lang="tr-TR" sz="4000"/>
          </a:p>
        </p:txBody>
      </p:sp>
      <p:graphicFrame>
        <p:nvGraphicFramePr>
          <p:cNvPr id="5" name="İçerik Yer Tutucusu 2">
            <a:extLst>
              <a:ext uri="{FF2B5EF4-FFF2-40B4-BE49-F238E27FC236}">
                <a16:creationId xmlns:a16="http://schemas.microsoft.com/office/drawing/2014/main" id="{74E2835A-16B0-B05B-9496-7E8B0A9E6B6F}"/>
              </a:ext>
            </a:extLst>
          </p:cNvPr>
          <p:cNvGraphicFramePr>
            <a:graphicFrameLocks noGrp="1"/>
          </p:cNvGraphicFramePr>
          <p:nvPr>
            <p:ph idx="1"/>
            <p:extLst>
              <p:ext uri="{D42A27DB-BD31-4B8C-83A1-F6EECF244321}">
                <p14:modId xmlns:p14="http://schemas.microsoft.com/office/powerpoint/2010/main" val="1113628252"/>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15146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095AB0-06F7-51F2-3831-147C2DB7C8EE}"/>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Ethics: The Missing Link to a Better Society">
            <a:extLst>
              <a:ext uri="{FF2B5EF4-FFF2-40B4-BE49-F238E27FC236}">
                <a16:creationId xmlns:a16="http://schemas.microsoft.com/office/drawing/2014/main" id="{EB8B346F-0AF3-521D-0658-94DC13AAE3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92" r="-3" b="-3"/>
          <a:stretch/>
        </p:blipFill>
        <p:spPr bwMode="auto">
          <a:xfrm>
            <a:off x="713615" y="681318"/>
            <a:ext cx="4680637" cy="3083858"/>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DB177478-2BAF-27C2-32CC-5BE889441CC2}"/>
              </a:ext>
            </a:extLst>
          </p:cNvPr>
          <p:cNvSpPr>
            <a:spLocks noGrp="1"/>
          </p:cNvSpPr>
          <p:nvPr>
            <p:ph type="title"/>
          </p:nvPr>
        </p:nvSpPr>
        <p:spPr>
          <a:xfrm>
            <a:off x="612646" y="4012142"/>
            <a:ext cx="4781605" cy="2332799"/>
          </a:xfrm>
        </p:spPr>
        <p:txBody>
          <a:bodyPr anchor="t">
            <a:normAutofit/>
          </a:bodyPr>
          <a:lstStyle/>
          <a:p>
            <a:r>
              <a:rPr lang="tr-TR" b="1" i="0" u="none" strike="noStrike" baseline="0">
                <a:latin typeface="MyriadPro-Bold"/>
              </a:rPr>
              <a:t>ETİK KARAR ALMA YAKLAŞIMLARI</a:t>
            </a:r>
            <a:endParaRPr lang="tr-TR"/>
          </a:p>
        </p:txBody>
      </p:sp>
      <p:sp>
        <p:nvSpPr>
          <p:cNvPr id="3" name="İçerik Yer Tutucusu 2">
            <a:extLst>
              <a:ext uri="{FF2B5EF4-FFF2-40B4-BE49-F238E27FC236}">
                <a16:creationId xmlns:a16="http://schemas.microsoft.com/office/drawing/2014/main" id="{9025F5B6-CED7-27AC-BF66-C550521D7B01}"/>
              </a:ext>
            </a:extLst>
          </p:cNvPr>
          <p:cNvSpPr>
            <a:spLocks noGrp="1"/>
          </p:cNvSpPr>
          <p:nvPr>
            <p:ph idx="1"/>
          </p:nvPr>
        </p:nvSpPr>
        <p:spPr>
          <a:xfrm>
            <a:off x="6030551" y="548639"/>
            <a:ext cx="5548803" cy="5796302"/>
          </a:xfrm>
        </p:spPr>
        <p:txBody>
          <a:bodyPr>
            <a:normAutofit/>
          </a:bodyPr>
          <a:lstStyle/>
          <a:p>
            <a:r>
              <a:rPr lang="tr-TR" sz="1800" b="1" i="0" u="none" strike="noStrike" baseline="0">
                <a:latin typeface="MinionPro-Bold"/>
              </a:rPr>
              <a:t>Faydacılık Yaklaşımı: </a:t>
            </a:r>
            <a:r>
              <a:rPr lang="tr-TR" sz="1800" b="0" i="0" u="none" strike="noStrike" baseline="0">
                <a:latin typeface="MinionPro-Regular"/>
              </a:rPr>
              <a:t>19. yy filozofları Jeremy Bentham ve John Stuart Mill tarafından desteklenen bu yaklaşım, çoğunluğun iyiliğini üreten kararın etik karar olduğunu savunur. Bu yaklaşıma göre karar vericiden beklenen, her karar seçeneğinin tüm kesimler üzerindeki etkisini göz önüne alması ve çoğunluğun en yüksek tatmini için uygun olanı seçmesidir. Bu yaklaşımda karmaşık hesaplamalar yerine basitleştirme tercih edilir. Örneğin ekonomik referans çerçevesi olarak maliyet fayda hesaplaması kullanılabilir. Ayrıca karar sadece alınacak karardan doğrudan etkilenenleri göz önüne alınarak verilmeli, dolaylı etkilenenler hesaba katılmamalıdır. Büyük ölçekli bir otomotiv firmasının yöneticileri, bir şehirdeki fabrikayı kapatıp başka bir şehirde operasyonlarına devam etme kararını, şirketin bütünü için en büyük yararı ürettiği gerekçesine dayandırmışlardır.</a:t>
            </a:r>
            <a:endParaRPr lang="tr-TR" sz="1800"/>
          </a:p>
        </p:txBody>
      </p:sp>
    </p:spTree>
    <p:extLst>
      <p:ext uri="{BB962C8B-B14F-4D97-AF65-F5344CB8AC3E}">
        <p14:creationId xmlns:p14="http://schemas.microsoft.com/office/powerpoint/2010/main" val="3806240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50AFEF-5F36-36DA-CE38-2992A54762FE}"/>
            </a:ext>
          </a:extLst>
        </p:cNvPr>
        <p:cNvGrpSpPr/>
        <p:nvPr/>
      </p:nvGrpSpPr>
      <p:grpSpPr>
        <a:xfrm>
          <a:off x="0" y="0"/>
          <a:ext cx="0" cy="0"/>
          <a:chOff x="0" y="0"/>
          <a:chExt cx="0" cy="0"/>
        </a:xfrm>
      </p:grpSpPr>
      <p:sp>
        <p:nvSpPr>
          <p:cNvPr id="2055" name="Rectangle 205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E0E74F8-216F-59FC-5CF6-1255F74708F6}"/>
              </a:ext>
            </a:extLst>
          </p:cNvPr>
          <p:cNvSpPr>
            <a:spLocks noGrp="1"/>
          </p:cNvSpPr>
          <p:nvPr>
            <p:ph type="title"/>
          </p:nvPr>
        </p:nvSpPr>
        <p:spPr>
          <a:xfrm>
            <a:off x="614679" y="548640"/>
            <a:ext cx="4779572" cy="2067705"/>
          </a:xfrm>
        </p:spPr>
        <p:txBody>
          <a:bodyPr anchor="t">
            <a:normAutofit/>
          </a:bodyPr>
          <a:lstStyle/>
          <a:p>
            <a:r>
              <a:rPr lang="tr-TR" b="1" i="0" u="none" strike="noStrike" baseline="0">
                <a:latin typeface="MyriadPro-Bold"/>
              </a:rPr>
              <a:t>ETİK KARAR ALMA YAKLAŞIMLARI</a:t>
            </a:r>
            <a:endParaRPr lang="tr-TR"/>
          </a:p>
        </p:txBody>
      </p:sp>
      <p:sp>
        <p:nvSpPr>
          <p:cNvPr id="3" name="İçerik Yer Tutucusu 2">
            <a:extLst>
              <a:ext uri="{FF2B5EF4-FFF2-40B4-BE49-F238E27FC236}">
                <a16:creationId xmlns:a16="http://schemas.microsoft.com/office/drawing/2014/main" id="{BEDDBAD4-7806-FC07-61DA-70D9B5BAEF52}"/>
              </a:ext>
            </a:extLst>
          </p:cNvPr>
          <p:cNvSpPr>
            <a:spLocks noGrp="1"/>
          </p:cNvSpPr>
          <p:nvPr>
            <p:ph idx="1"/>
          </p:nvPr>
        </p:nvSpPr>
        <p:spPr>
          <a:xfrm>
            <a:off x="6030551" y="548638"/>
            <a:ext cx="5546770" cy="5760721"/>
          </a:xfrm>
        </p:spPr>
        <p:txBody>
          <a:bodyPr anchor="t">
            <a:normAutofit/>
          </a:bodyPr>
          <a:lstStyle/>
          <a:p>
            <a:pPr marL="0" indent="0">
              <a:buNone/>
            </a:pPr>
            <a:r>
              <a:rPr lang="tr-TR" sz="1800" b="1" i="0" u="none" strike="noStrike" baseline="0">
                <a:latin typeface="MinionPro-Bold"/>
              </a:rPr>
              <a:t>Haklar Yaklaşımı: </a:t>
            </a:r>
            <a:r>
              <a:rPr lang="tr-TR" sz="1800" b="0" i="0" u="none" strike="noStrike" baseline="0">
                <a:latin typeface="MinionPro-Regular"/>
              </a:rPr>
              <a:t>Bireyselcilik yaklaşımı olarak da anılan bu yaklaşımın temel sorusu, “nelere hakkım var?”dır. İnsanların sahip oldukları haklar kapsamında; özgürlük hakları ve refah haklarından söz edilir. İfade özgürlüğü, seyahat özgürlüğü ilk gruba; mülkiyet, beslenme hakkı, sağlık hizmeti-sağlığı koruma hakkı ikinci gruba örnek olarak verilebilir. İlk grupta söz konusu haklara, toplumun öteki bireylerinin müdahale etmemeleri beklenirken diğerinde ise toplumun öteki bireylerinin katılımı ve çabası gereklidir.</a:t>
            </a:r>
            <a:endParaRPr lang="tr-TR" sz="1800"/>
          </a:p>
        </p:txBody>
      </p:sp>
      <p:pic>
        <p:nvPicPr>
          <p:cNvPr id="2050" name="Picture 2" descr="Section 1.7: Ethics &amp; Human Rights in Global Health – PUBH 110">
            <a:extLst>
              <a:ext uri="{FF2B5EF4-FFF2-40B4-BE49-F238E27FC236}">
                <a16:creationId xmlns:a16="http://schemas.microsoft.com/office/drawing/2014/main" id="{E1E4F25A-8798-D184-616B-9E8E964702A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2976281"/>
            <a:ext cx="4606975" cy="3333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5563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4BD380-57E5-EF3C-5D73-2A80FC8AF15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5D9FCD7-81BD-B14D-B369-B6E382B284DF}"/>
              </a:ext>
            </a:extLst>
          </p:cNvPr>
          <p:cNvSpPr>
            <a:spLocks noGrp="1"/>
          </p:cNvSpPr>
          <p:nvPr>
            <p:ph type="title"/>
          </p:nvPr>
        </p:nvSpPr>
        <p:spPr>
          <a:xfrm>
            <a:off x="5906802" y="603504"/>
            <a:ext cx="5577902" cy="1527048"/>
          </a:xfrm>
        </p:spPr>
        <p:txBody>
          <a:bodyPr anchor="b">
            <a:normAutofit/>
          </a:bodyPr>
          <a:lstStyle/>
          <a:p>
            <a:r>
              <a:rPr lang="tr-TR" b="1" i="0" u="none" strike="noStrike" baseline="0">
                <a:latin typeface="MyriadPro-Bold"/>
              </a:rPr>
              <a:t>ETİK KARAR ALMA YAKLAŞIMLARI</a:t>
            </a:r>
            <a:endParaRPr lang="tr-TR"/>
          </a:p>
        </p:txBody>
      </p:sp>
      <p:sp>
        <p:nvSpPr>
          <p:cNvPr id="3" name="İçerik Yer Tutucusu 2">
            <a:extLst>
              <a:ext uri="{FF2B5EF4-FFF2-40B4-BE49-F238E27FC236}">
                <a16:creationId xmlns:a16="http://schemas.microsoft.com/office/drawing/2014/main" id="{EE644729-C359-3D44-EDCD-A21ACE1E9AA2}"/>
              </a:ext>
            </a:extLst>
          </p:cNvPr>
          <p:cNvSpPr>
            <a:spLocks noGrp="1"/>
          </p:cNvSpPr>
          <p:nvPr>
            <p:ph idx="1"/>
          </p:nvPr>
        </p:nvSpPr>
        <p:spPr>
          <a:xfrm>
            <a:off x="5906802" y="2212848"/>
            <a:ext cx="5577902" cy="4096512"/>
          </a:xfrm>
        </p:spPr>
        <p:txBody>
          <a:bodyPr>
            <a:normAutofit/>
          </a:bodyPr>
          <a:lstStyle/>
          <a:p>
            <a:pPr marL="0" indent="0">
              <a:lnSpc>
                <a:spcPct val="110000"/>
              </a:lnSpc>
              <a:buNone/>
            </a:pPr>
            <a:r>
              <a:rPr lang="tr-TR" sz="1100" b="1"/>
              <a:t>Adalet Kuramı Yaklaşımı</a:t>
            </a:r>
            <a:r>
              <a:rPr lang="tr-TR" sz="1100"/>
              <a:t>: Bu yaklaşım, etik kararların eşitlik, doğruluk ve tarafsızlık standartlarına dayalı olmasını savunur. İşletmelerde üç tür adalet gözetilmelidir.</a:t>
            </a:r>
          </a:p>
          <a:p>
            <a:pPr marL="0" indent="0">
              <a:lnSpc>
                <a:spcPct val="110000"/>
              </a:lnSpc>
              <a:buNone/>
            </a:pPr>
            <a:r>
              <a:rPr lang="tr-TR" sz="1100"/>
              <a:t>Bunlar; dağıtım adaleti, prosedürel/işlemsel adalet ve etkileşimsel adalettir. Dağıtım adaleti, insanlara keyfiyete göre farklı davranılmamasını gerektirir.</a:t>
            </a:r>
          </a:p>
          <a:p>
            <a:pPr marL="0" indent="0">
              <a:lnSpc>
                <a:spcPct val="110000"/>
              </a:lnSpc>
              <a:buNone/>
            </a:pPr>
            <a:r>
              <a:rPr lang="tr-TR" sz="1100"/>
              <a:t>Bir kararla ilgili tüm kişilere aynı şekilde davranılmalıdır. Örneğin aynı işi gerçekleştiren kadın ve erkeklere farklı ücret verilmemelidir. Ancak çalışanlar işle ilgili beceri ve sorumluluklar gibi alanlarda farklılaştığında, bu farklılıklar oranında ücretlerinde farklılık olabilir. Ancak bu farklılığın örgütsel amaç ve görevlerle net bir biçimde ilişkili olması gerekir. Prosedürel adalet kuralların adil bir şekilde uygulanmasını gerektirir. Kurallar açık bir şekilde ortaya konmalı, tarafsız ve tutarlı bir şekilde yürürlülüğü sağlanmalıdır. Etkileşimsel adalet, örgüt içindeki bireyler arası davranışlara ilişkin bir kavramdır. Bireylerin birbirlerine karşı davranışlarında algılanan dürüstlük düzeyiyle yorumlanır. Etkileşimsel adalet, prosedürel adaletin aksine ilişkilerin formal olmayan yönüne ilişkindir. Örneğin yöneticilerin astları ile ilişkilerinde gösterdikleri açık yüreklilik, duyarlılık ve saygıya göre yorumlanır.</a:t>
            </a:r>
          </a:p>
        </p:txBody>
      </p:sp>
      <p:pic>
        <p:nvPicPr>
          <p:cNvPr id="7" name="Graphic 6" descr="Scales of Justice">
            <a:extLst>
              <a:ext uri="{FF2B5EF4-FFF2-40B4-BE49-F238E27FC236}">
                <a16:creationId xmlns:a16="http://schemas.microsoft.com/office/drawing/2014/main" id="{5D40FD6D-66B4-DBFD-86B9-368758A223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648" y="1102440"/>
            <a:ext cx="4681506" cy="4681506"/>
          </a:xfrm>
          <a:prstGeom prst="rect">
            <a:avLst/>
          </a:prstGeom>
        </p:spPr>
      </p:pic>
    </p:spTree>
    <p:extLst>
      <p:ext uri="{BB962C8B-B14F-4D97-AF65-F5344CB8AC3E}">
        <p14:creationId xmlns:p14="http://schemas.microsoft.com/office/powerpoint/2010/main" val="4182042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37F17-1DA1-9FB4-3DA5-FEB2C81A710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4022E80-49D5-B0AE-D326-44F524D66ADA}"/>
              </a:ext>
            </a:extLst>
          </p:cNvPr>
          <p:cNvSpPr>
            <a:spLocks noGrp="1"/>
          </p:cNvSpPr>
          <p:nvPr>
            <p:ph type="title"/>
          </p:nvPr>
        </p:nvSpPr>
        <p:spPr/>
        <p:txBody>
          <a:bodyPr/>
          <a:lstStyle/>
          <a:p>
            <a:r>
              <a:rPr lang="tr-TR" sz="1800" b="1" i="0" u="none" strike="noStrike" baseline="0">
                <a:latin typeface="MyriadPro-Bold"/>
              </a:rPr>
              <a:t>ETİK KARAR ALMA YAKLAŞIMLARI</a:t>
            </a:r>
            <a:endParaRPr lang="tr-TR"/>
          </a:p>
        </p:txBody>
      </p:sp>
      <p:sp>
        <p:nvSpPr>
          <p:cNvPr id="3" name="İçerik Yer Tutucusu 2">
            <a:extLst>
              <a:ext uri="{FF2B5EF4-FFF2-40B4-BE49-F238E27FC236}">
                <a16:creationId xmlns:a16="http://schemas.microsoft.com/office/drawing/2014/main" id="{9B003BB6-9BDF-B7BA-59AF-8F2FFDA60507}"/>
              </a:ext>
            </a:extLst>
          </p:cNvPr>
          <p:cNvSpPr>
            <a:spLocks noGrp="1"/>
          </p:cNvSpPr>
          <p:nvPr>
            <p:ph idx="1"/>
          </p:nvPr>
        </p:nvSpPr>
        <p:spPr/>
        <p:txBody>
          <a:bodyPr>
            <a:normAutofit/>
          </a:bodyPr>
          <a:lstStyle/>
          <a:p>
            <a:pPr marL="0" indent="0" algn="l">
              <a:buNone/>
            </a:pPr>
            <a:r>
              <a:rPr lang="tr-TR" sz="1800" b="1" i="0" u="none" strike="noStrike" baseline="0">
                <a:latin typeface="MinionPro-Bold"/>
              </a:rPr>
              <a:t>Bütünleşik Sosyal Sözleşme Kuramı: </a:t>
            </a:r>
            <a:r>
              <a:rPr lang="tr-TR" sz="1800" b="0" i="0" u="none" strike="noStrike" baseline="0">
                <a:latin typeface="MinionPro-Regular"/>
              </a:rPr>
              <a:t>Nispeten yeni olan bu yaklaşım, iş etiğine deneysel/görgül/ampirik (ne) ve normatif (ne olmalı) yaklaşımların birleştirilmesini önerir. Bu görüş, iki “sözleşme”nin entegrasyonuna dayanır. Bunlardan ilki, iktisadi birimler ya da üyeler arasındaki genel sosyal sözleşmedir. Diğeri ise bir topluluğun üyeleri arasındaki daha spesifik bir sosyal sözleşmedir. Genel sosyal sözleşme, iş yapmanın temel kurallarını belirler. Spesifik bir topluluğa ait sosyal sözleşme ise kabul edilebilir davranış biçimlerini kapsar. Örneğin, Türkiye’den bir işletmenin Romanya’nın bir şehrinde yeni bir fabrika kurduğunu varsayalım.</a:t>
            </a:r>
          </a:p>
          <a:p>
            <a:pPr marL="0" indent="0" algn="l">
              <a:buNone/>
            </a:pPr>
            <a:r>
              <a:rPr lang="tr-TR" sz="1800" b="0" i="0" u="none" strike="noStrike" baseline="0">
                <a:latin typeface="MinionPro-Regular"/>
              </a:rPr>
              <a:t>Bu fabrikadaki çalışanlara ne kadar ücret ödeneceği kararı, bütünleşik sosyal sözleşme kuramına göre, orada yaşayanların mevcut ücret düzeyleri baz alınarak verilmelidir. İş etiğine bu tarz yaklaşımın diğer üç yaklaşımdan farkı, yöneticilere hangi karar ve eylemlerin doğru, hangi karar ve eylemlerin yanlış olduğunu ayırt etmede endüstriler ve şirketler içinde var olan etik normları dikkate almalarını önermesidir.</a:t>
            </a:r>
            <a:endParaRPr lang="tr-TR"/>
          </a:p>
        </p:txBody>
      </p:sp>
    </p:spTree>
    <p:extLst>
      <p:ext uri="{BB962C8B-B14F-4D97-AF65-F5344CB8AC3E}">
        <p14:creationId xmlns:p14="http://schemas.microsoft.com/office/powerpoint/2010/main" val="3541262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9532A3B-C3FA-B8A5-3F16-9D0CB423B9B7}"/>
              </a:ext>
            </a:extLst>
          </p:cNvPr>
          <p:cNvSpPr>
            <a:spLocks noGrp="1"/>
          </p:cNvSpPr>
          <p:nvPr>
            <p:ph type="title"/>
          </p:nvPr>
        </p:nvSpPr>
        <p:spPr>
          <a:xfrm>
            <a:off x="5906802" y="603504"/>
            <a:ext cx="5577902" cy="1527048"/>
          </a:xfrm>
        </p:spPr>
        <p:txBody>
          <a:bodyPr anchor="b">
            <a:normAutofit/>
          </a:bodyPr>
          <a:lstStyle/>
          <a:p>
            <a:r>
              <a:rPr lang="tr-TR" b="1" i="0" u="none" strike="noStrike" baseline="0">
                <a:latin typeface="MyriadPro-Bold"/>
              </a:rPr>
              <a:t>ETİK DAVRANIŞI ETKİLEYEN FAKTÖRLER</a:t>
            </a:r>
            <a:endParaRPr lang="tr-TR"/>
          </a:p>
        </p:txBody>
      </p:sp>
      <p:sp>
        <p:nvSpPr>
          <p:cNvPr id="3" name="İçerik Yer Tutucusu 2">
            <a:extLst>
              <a:ext uri="{FF2B5EF4-FFF2-40B4-BE49-F238E27FC236}">
                <a16:creationId xmlns:a16="http://schemas.microsoft.com/office/drawing/2014/main" id="{F4B0BE41-1015-9DA3-770B-4CFAACA07B26}"/>
              </a:ext>
            </a:extLst>
          </p:cNvPr>
          <p:cNvSpPr>
            <a:spLocks noGrp="1"/>
          </p:cNvSpPr>
          <p:nvPr>
            <p:ph idx="1"/>
          </p:nvPr>
        </p:nvSpPr>
        <p:spPr>
          <a:xfrm>
            <a:off x="5906802" y="2212848"/>
            <a:ext cx="5577902" cy="4096512"/>
          </a:xfrm>
        </p:spPr>
        <p:txBody>
          <a:bodyPr>
            <a:normAutofit/>
          </a:bodyPr>
          <a:lstStyle/>
          <a:p>
            <a:pPr marL="0" indent="0">
              <a:lnSpc>
                <a:spcPct val="110000"/>
              </a:lnSpc>
              <a:buNone/>
            </a:pPr>
            <a:r>
              <a:rPr lang="tr-TR" sz="1300" b="0" i="0" u="none" strike="noStrike" baseline="0" dirty="0">
                <a:latin typeface="MinionPro-Regular"/>
              </a:rPr>
              <a:t>Yöneticiler de dâhil olmak üzere örgüt içindeki bireylerin, etik davranışta bulunup bulunmayacağı bireyin ahlaki gelişmişlik düzeyi ile pek çok faktör arasındaki karmaşık etkileşim sonucu oluşur. Bireyin ahlaki gelişmişlik düzeyi başta olmak üzere bu faktörleri Şekil 3.1’de görebilirsiniz.</a:t>
            </a:r>
          </a:p>
          <a:p>
            <a:pPr marL="0" indent="0">
              <a:lnSpc>
                <a:spcPct val="110000"/>
              </a:lnSpc>
              <a:buNone/>
            </a:pPr>
            <a:r>
              <a:rPr lang="tr-TR" sz="1300" b="1" i="0" u="none" strike="noStrike" baseline="0" dirty="0">
                <a:latin typeface="MinionPro-Bold"/>
              </a:rPr>
              <a:t>Bireyin Ahlaki Gelişim Seviyesi: </a:t>
            </a:r>
            <a:r>
              <a:rPr lang="tr-TR" sz="1300" b="0" i="0" u="none" strike="noStrike" baseline="0" dirty="0">
                <a:latin typeface="MinionPro-Regular"/>
              </a:rPr>
              <a:t>Bireyin ahlaki gelişmişlik düzeyini belirlemek </a:t>
            </a:r>
            <a:r>
              <a:rPr lang="tr-TR" sz="1300" b="0" i="0" u="none" strike="noStrike" baseline="0" dirty="0" err="1">
                <a:latin typeface="MinionPro-Regular"/>
              </a:rPr>
              <a:t>çin</a:t>
            </a:r>
            <a:r>
              <a:rPr lang="tr-TR" sz="1300" b="0" i="0" u="none" strike="noStrike" baseline="0" dirty="0">
                <a:latin typeface="MinionPro-Regular"/>
              </a:rPr>
              <a:t> kullanılan göstergelerden biri olan üç aşamalı gelişim basamağı, </a:t>
            </a:r>
            <a:r>
              <a:rPr lang="tr-TR" sz="1300" b="0" i="0" u="none" strike="noStrike" baseline="0" dirty="0" err="1">
                <a:latin typeface="MinionPro-Regular"/>
              </a:rPr>
              <a:t>Kohlberg</a:t>
            </a:r>
            <a:r>
              <a:rPr lang="tr-TR" sz="1300" b="0" i="0" u="none" strike="noStrike" baseline="0" dirty="0">
                <a:latin typeface="MinionPro-Regular"/>
              </a:rPr>
              <a:t> (1976: 34-35.) tarafından bilişsel gelişim yaklaşımına göre oluşturulmuştur.</a:t>
            </a:r>
          </a:p>
          <a:p>
            <a:pPr marL="0" indent="0">
              <a:lnSpc>
                <a:spcPct val="110000"/>
              </a:lnSpc>
              <a:buNone/>
            </a:pPr>
            <a:r>
              <a:rPr lang="tr-TR" sz="1300" b="0" i="0" u="none" strike="noStrike" baseline="0" dirty="0">
                <a:latin typeface="MinionPro-Regular"/>
              </a:rPr>
              <a:t>İlk aşamadaki bireyler sadece kendi çıkarlarına uygun olduğu durumlarda ve/ veya fiziksel cezalandırılmadan kaçınmak için kurallara uyarlar. İkinci gelişmişlik düzeyi ise bireylerin kendisine yakın olan kişilerin beklentileri doğrultusunda yaşadığı ve kendisinin de onayladığı yükümlülükleri yerine getirmek suretiyle var olan düzeni koruduğu bir düzeydir. En üst basamak ise ilkelere dayalı davranışın söz konusu olduğu bir düzeydir. Bu gelişmişlik düzeyindeki bireyler, çoğunluğun fikrine aldırmaksızın diğerlerinin haklarına saygı ve etik değerlere sıkı sıkıya bağlılık gösterir. Kanuna aykırı olsa bile kendi seçimi olan etik ilkelere uygun olarak kararını verir.</a:t>
            </a:r>
            <a:endParaRPr lang="tr-TR" sz="1300" dirty="0"/>
          </a:p>
        </p:txBody>
      </p:sp>
      <p:pic>
        <p:nvPicPr>
          <p:cNvPr id="7" name="Graphic 6" descr="Sorular">
            <a:extLst>
              <a:ext uri="{FF2B5EF4-FFF2-40B4-BE49-F238E27FC236}">
                <a16:creationId xmlns:a16="http://schemas.microsoft.com/office/drawing/2014/main" id="{1C7F7D4F-DA52-E662-7388-8E8136C409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2648" y="1102440"/>
            <a:ext cx="4681506" cy="4681506"/>
          </a:xfrm>
          <a:prstGeom prst="rect">
            <a:avLst/>
          </a:prstGeom>
        </p:spPr>
      </p:pic>
    </p:spTree>
    <p:extLst>
      <p:ext uri="{BB962C8B-B14F-4D97-AF65-F5344CB8AC3E}">
        <p14:creationId xmlns:p14="http://schemas.microsoft.com/office/powerpoint/2010/main" val="3698427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F98E0-7BC4-C6FD-24A9-6280C5692B0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E049299-0A90-88FC-37E3-227AAC8AD9D5}"/>
              </a:ext>
            </a:extLst>
          </p:cNvPr>
          <p:cNvSpPr>
            <a:spLocks noGrp="1"/>
          </p:cNvSpPr>
          <p:nvPr>
            <p:ph type="title"/>
          </p:nvPr>
        </p:nvSpPr>
        <p:spPr/>
        <p:txBody>
          <a:bodyPr/>
          <a:lstStyle/>
          <a:p>
            <a:r>
              <a:rPr lang="tr-TR" sz="1800" b="1" i="0" u="none" strike="noStrike" baseline="0">
                <a:latin typeface="MyriadPro-Bold"/>
              </a:rPr>
              <a:t>ETİK DAVRANIŞI ETKİLEYEN FAKTÖRLER</a:t>
            </a:r>
            <a:endParaRPr lang="tr-TR"/>
          </a:p>
        </p:txBody>
      </p:sp>
      <p:pic>
        <p:nvPicPr>
          <p:cNvPr id="7" name="İçerik Yer Tutucusu 6" descr="metin, ekran görüntüsü, diyagram, yazı tipi içeren bir resim&#10;&#10;Yapay zeka tarafından oluşturulan içerik yanlış olabilir.">
            <a:extLst>
              <a:ext uri="{FF2B5EF4-FFF2-40B4-BE49-F238E27FC236}">
                <a16:creationId xmlns:a16="http://schemas.microsoft.com/office/drawing/2014/main" id="{70AFC789-0581-7C02-496C-32D4DC973EC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11400" y="1813405"/>
            <a:ext cx="8969200" cy="4177961"/>
          </a:xfrm>
        </p:spPr>
      </p:pic>
    </p:spTree>
    <p:extLst>
      <p:ext uri="{BB962C8B-B14F-4D97-AF65-F5344CB8AC3E}">
        <p14:creationId xmlns:p14="http://schemas.microsoft.com/office/powerpoint/2010/main" val="4201596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C1316E-4452-7F96-B7CA-AA0CC841267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E0A442B-D507-6BA2-E42C-2D30095A9B2F}"/>
              </a:ext>
            </a:extLst>
          </p:cNvPr>
          <p:cNvSpPr>
            <a:spLocks noGrp="1"/>
          </p:cNvSpPr>
          <p:nvPr>
            <p:ph type="title"/>
          </p:nvPr>
        </p:nvSpPr>
        <p:spPr>
          <a:xfrm>
            <a:off x="1524000" y="548640"/>
            <a:ext cx="9160475" cy="1132258"/>
          </a:xfrm>
        </p:spPr>
        <p:txBody>
          <a:bodyPr anchor="ctr">
            <a:normAutofit/>
          </a:bodyPr>
          <a:lstStyle/>
          <a:p>
            <a:pPr algn="ctr"/>
            <a:r>
              <a:rPr lang="tr-TR" b="1" i="0" u="none" strike="noStrike" baseline="0">
                <a:latin typeface="MyriadPro-Bold"/>
              </a:rPr>
              <a:t>ETİK DAVRANIŞI ETKİLEYEN FAKTÖRLER</a:t>
            </a:r>
            <a:endParaRPr lang="tr-TR"/>
          </a:p>
        </p:txBody>
      </p:sp>
      <p:graphicFrame>
        <p:nvGraphicFramePr>
          <p:cNvPr id="6" name="İçerik Yer Tutucusu 3">
            <a:extLst>
              <a:ext uri="{FF2B5EF4-FFF2-40B4-BE49-F238E27FC236}">
                <a16:creationId xmlns:a16="http://schemas.microsoft.com/office/drawing/2014/main" id="{030B9436-CA27-C482-E0FC-C5AFD0C2FAD7}"/>
              </a:ext>
            </a:extLst>
          </p:cNvPr>
          <p:cNvGraphicFramePr>
            <a:graphicFrameLocks noGrp="1"/>
          </p:cNvGraphicFramePr>
          <p:nvPr>
            <p:ph idx="1"/>
            <p:extLst>
              <p:ext uri="{D42A27DB-BD31-4B8C-83A1-F6EECF244321}">
                <p14:modId xmlns:p14="http://schemas.microsoft.com/office/powerpoint/2010/main" val="854509761"/>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8406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446B4A-C046-DE61-6A37-756CE950F401}"/>
            </a:ext>
          </a:extLst>
        </p:cNvPr>
        <p:cNvGrpSpPr/>
        <p:nvPr/>
      </p:nvGrpSpPr>
      <p:grpSpPr>
        <a:xfrm>
          <a:off x="0" y="0"/>
          <a:ext cx="0" cy="0"/>
          <a:chOff x="0" y="0"/>
          <a:chExt cx="0" cy="0"/>
        </a:xfrm>
      </p:grpSpPr>
      <p:sp>
        <p:nvSpPr>
          <p:cNvPr id="3079" name="Rectangle 3078">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B2C7D23-CCF2-55AB-3261-DA14C1542D72}"/>
              </a:ext>
            </a:extLst>
          </p:cNvPr>
          <p:cNvSpPr>
            <a:spLocks noGrp="1"/>
          </p:cNvSpPr>
          <p:nvPr>
            <p:ph type="title"/>
          </p:nvPr>
        </p:nvSpPr>
        <p:spPr>
          <a:xfrm>
            <a:off x="614677" y="603504"/>
            <a:ext cx="10872216" cy="1527048"/>
          </a:xfrm>
        </p:spPr>
        <p:txBody>
          <a:bodyPr anchor="b">
            <a:normAutofit/>
          </a:bodyPr>
          <a:lstStyle/>
          <a:p>
            <a:r>
              <a:rPr lang="tr-TR" b="1" i="0" u="none" strike="noStrike" baseline="0">
                <a:latin typeface="MyriadPro-Bold"/>
              </a:rPr>
              <a:t>ETİK DAVRANIŞI ETKİLEYEN FAKTÖRLER</a:t>
            </a:r>
            <a:endParaRPr lang="tr-TR"/>
          </a:p>
        </p:txBody>
      </p:sp>
      <p:sp>
        <p:nvSpPr>
          <p:cNvPr id="4" name="İçerik Yer Tutucusu 3">
            <a:extLst>
              <a:ext uri="{FF2B5EF4-FFF2-40B4-BE49-F238E27FC236}">
                <a16:creationId xmlns:a16="http://schemas.microsoft.com/office/drawing/2014/main" id="{35AF5A06-9D75-B457-D8A0-EECCDC73F221}"/>
              </a:ext>
            </a:extLst>
          </p:cNvPr>
          <p:cNvSpPr>
            <a:spLocks noGrp="1"/>
          </p:cNvSpPr>
          <p:nvPr>
            <p:ph idx="1"/>
          </p:nvPr>
        </p:nvSpPr>
        <p:spPr>
          <a:xfrm>
            <a:off x="6096000" y="2441273"/>
            <a:ext cx="5385816" cy="3817942"/>
          </a:xfrm>
        </p:spPr>
        <p:txBody>
          <a:bodyPr anchor="t">
            <a:normAutofit/>
          </a:bodyPr>
          <a:lstStyle/>
          <a:p>
            <a:pPr marL="0" indent="0">
              <a:lnSpc>
                <a:spcPct val="110000"/>
              </a:lnSpc>
              <a:buNone/>
            </a:pPr>
            <a:r>
              <a:rPr lang="tr-TR" sz="1300" b="1" i="0" u="none" strike="noStrike" baseline="0" dirty="0">
                <a:latin typeface="MinionPro-Bold"/>
              </a:rPr>
              <a:t>Örgüt Kültürü: </a:t>
            </a:r>
            <a:r>
              <a:rPr lang="tr-TR" sz="1300" b="0" i="0" u="none" strike="noStrike" baseline="0" dirty="0">
                <a:latin typeface="MinionPro-Regular"/>
              </a:rPr>
              <a:t>Örgüt kültürünün özellikleri ve güçlülüğü etik davranışı etkiler. Güçlü kültürlerin bireyler üzerinde çok etkisi vardır. Güçlü ve yüksek etik standartların desteklendiği bir kültürün, etik davranışlar üzerinde olumlu etkisi olacaktır. Zayıf örgütsel kültürlerde bireyler, büyük olasılıkla </a:t>
            </a:r>
            <a:r>
              <a:rPr lang="tr-TR" sz="1300" b="0" i="0" u="none" strike="noStrike" baseline="0" dirty="0" err="1">
                <a:latin typeface="MinionPro-Regular"/>
              </a:rPr>
              <a:t>altkültürün</a:t>
            </a:r>
            <a:r>
              <a:rPr lang="tr-TR" sz="1300" b="0" i="0" u="none" strike="noStrike" baseline="0" dirty="0">
                <a:latin typeface="MinionPro-Regular"/>
              </a:rPr>
              <a:t> normlarına uygun olarak davranacaklardır. Çalışma grupları ve bölüm standartları, örgüt içindeki davranışı güçlü bir şekilde etkileyebilecektir.</a:t>
            </a:r>
          </a:p>
          <a:p>
            <a:pPr marL="0" indent="0">
              <a:lnSpc>
                <a:spcPct val="110000"/>
              </a:lnSpc>
              <a:buNone/>
            </a:pPr>
            <a:r>
              <a:rPr lang="tr-TR" sz="1300" b="1" i="0" u="none" strike="noStrike" baseline="0" dirty="0">
                <a:latin typeface="MinionPro-Bold"/>
              </a:rPr>
              <a:t>Sorunun Etki Gücü: </a:t>
            </a:r>
            <a:r>
              <a:rPr lang="tr-TR" sz="1300" b="0" i="0" u="none" strike="noStrike" baseline="0" dirty="0">
                <a:latin typeface="MinionPro-Regular"/>
              </a:rPr>
              <a:t>Herhangi bir çalışan, iş yerinden birkaç malzemeyi evine götürmekte tereddüt etmezken şirketin parasını zimmete geçirme konusunda son derece duyarlılık gösterebilir. Bu da göstermektedir ki etik meselenin özellikleri etik davranışı etkilemektedir. Sorunun etki gücünü belirlemek için kullanılan birtakım ölçüler vardır. Örneğin sorgulanan davranış, taraflarına ne büyüklükte zarar ya da yarar sağlamaktadır, davranışın iyi olduğu ya da kötü olduğu konusunda bir uzlaşma var mıdır, öngörülen zarar ya da faydanın gerçekleşme olasılığı nedir gibi sorulara verilen yanıtlar, etik meselenin ne kadar önemli olduğu konusunda belirleyici olacaktır. Çalışanlar önemli olduğu düşünülen konularda etik davranmaya daha özenli yaklaşabilirler.</a:t>
            </a:r>
            <a:endParaRPr lang="tr-TR" sz="1300" dirty="0"/>
          </a:p>
        </p:txBody>
      </p:sp>
      <p:pic>
        <p:nvPicPr>
          <p:cNvPr id="3074" name="Picture 2" descr="12 Types of Organizational Culture You Should Know - AIHR">
            <a:extLst>
              <a:ext uri="{FF2B5EF4-FFF2-40B4-BE49-F238E27FC236}">
                <a16:creationId xmlns:a16="http://schemas.microsoft.com/office/drawing/2014/main" id="{EE732D68-3237-BFA0-7A77-E8566DE9522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4678" y="2441274"/>
            <a:ext cx="5173647" cy="2860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943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EB92835-6D64-45DB-7748-F36D529E49A3}"/>
              </a:ext>
            </a:extLst>
          </p:cNvPr>
          <p:cNvSpPr>
            <a:spLocks noGrp="1"/>
          </p:cNvSpPr>
          <p:nvPr>
            <p:ph type="title"/>
          </p:nvPr>
        </p:nvSpPr>
        <p:spPr>
          <a:xfrm>
            <a:off x="614677" y="603504"/>
            <a:ext cx="10872216" cy="1527048"/>
          </a:xfrm>
        </p:spPr>
        <p:txBody>
          <a:bodyPr anchor="b">
            <a:normAutofit/>
          </a:bodyPr>
          <a:lstStyle/>
          <a:p>
            <a:r>
              <a:rPr lang="tr-TR" b="1" i="0" u="none" strike="noStrike" baseline="0">
                <a:latin typeface="MyriadPro-Bold"/>
              </a:rPr>
              <a:t>ETİK YÖNETİMİ VE ETİK YÖNETİMİNİN UNSURLARI</a:t>
            </a:r>
            <a:endParaRPr lang="tr-TR"/>
          </a:p>
        </p:txBody>
      </p:sp>
      <p:sp>
        <p:nvSpPr>
          <p:cNvPr id="11" name="İçerik Yer Tutucusu 2">
            <a:extLst>
              <a:ext uri="{FF2B5EF4-FFF2-40B4-BE49-F238E27FC236}">
                <a16:creationId xmlns:a16="http://schemas.microsoft.com/office/drawing/2014/main" id="{96299F97-5E6A-7F73-763B-FD326E518CE3}"/>
              </a:ext>
            </a:extLst>
          </p:cNvPr>
          <p:cNvSpPr>
            <a:spLocks noGrp="1"/>
          </p:cNvSpPr>
          <p:nvPr>
            <p:ph idx="1"/>
          </p:nvPr>
        </p:nvSpPr>
        <p:spPr>
          <a:xfrm>
            <a:off x="6096000" y="2441273"/>
            <a:ext cx="5385816" cy="3817942"/>
          </a:xfrm>
        </p:spPr>
        <p:txBody>
          <a:bodyPr anchor="t">
            <a:normAutofit/>
          </a:bodyPr>
          <a:lstStyle/>
          <a:p>
            <a:pPr marL="0" indent="0">
              <a:lnSpc>
                <a:spcPct val="110000"/>
              </a:lnSpc>
              <a:buNone/>
            </a:pPr>
            <a:r>
              <a:rPr lang="tr-TR" sz="1100" b="0" i="0" u="none" strike="noStrike" baseline="0" dirty="0">
                <a:latin typeface="MinionPro-Regular"/>
              </a:rPr>
              <a:t>İş etiği yönetimi spesifik politikalar, pratikler ve programlar aracılığı ile etik konuların ya da sorunlarının </a:t>
            </a:r>
            <a:r>
              <a:rPr lang="tr-TR" sz="1100" b="0" i="0" u="none" strike="noStrike" baseline="0" dirty="0" err="1">
                <a:latin typeface="MinionPro-Regular"/>
              </a:rPr>
              <a:t>formal</a:t>
            </a:r>
            <a:r>
              <a:rPr lang="tr-TR" sz="1100" b="0" i="0" u="none" strike="noStrike" baseline="0" dirty="0">
                <a:latin typeface="MinionPro-Regular"/>
              </a:rPr>
              <a:t> ya da </a:t>
            </a:r>
            <a:r>
              <a:rPr lang="tr-TR" sz="1100" b="0" i="0" u="none" strike="noStrike" baseline="0" dirty="0" err="1">
                <a:latin typeface="MinionPro-Regular"/>
              </a:rPr>
              <a:t>informal</a:t>
            </a:r>
            <a:r>
              <a:rPr lang="tr-TR" sz="1100" b="0" i="0" u="none" strike="noStrike" baseline="0" dirty="0">
                <a:latin typeface="MinionPro-Regular"/>
              </a:rPr>
              <a:t> yönetilmesine yönelik doğrudan girişimlerdir. Bu girişimler etik olmayan davranışları azaltmada etkilidirler. </a:t>
            </a:r>
            <a:r>
              <a:rPr lang="tr-TR" sz="1100" b="0" i="0" u="none" strike="noStrike" baseline="0" dirty="0" err="1">
                <a:latin typeface="MinionPro-Regular"/>
              </a:rPr>
              <a:t>Bunedenle</a:t>
            </a:r>
            <a:r>
              <a:rPr lang="tr-TR" sz="1100" b="0" i="0" u="none" strike="noStrike" baseline="0" dirty="0">
                <a:latin typeface="MinionPro-Regular"/>
              </a:rPr>
              <a:t> de değerlidirler. Özellikle belirli büyüklükteki şirketlerin iş etiği yönetiminde daha çok kullandıkları güncel yaklaşımlar ve araçlar aşağıda sıralanmıştır </a:t>
            </a:r>
            <a:r>
              <a:rPr lang="nn-NO" sz="1100" b="0" i="0" u="none" strike="noStrike" baseline="0" dirty="0">
                <a:latin typeface="MinionPro-Regular"/>
              </a:rPr>
              <a:t>(Crane ve Matten, 2010: 185).</a:t>
            </a:r>
          </a:p>
          <a:p>
            <a:pPr marL="0" indent="0">
              <a:lnSpc>
                <a:spcPct val="110000"/>
              </a:lnSpc>
              <a:buNone/>
            </a:pPr>
            <a:r>
              <a:rPr lang="tr-TR" sz="1100" b="0" i="0" u="none" strike="noStrike" baseline="0" dirty="0">
                <a:latin typeface="MinionPro-Regular"/>
              </a:rPr>
              <a:t>• Misyon ve/veya değerler bildirgesi</a:t>
            </a:r>
          </a:p>
          <a:p>
            <a:pPr marL="0" indent="0">
              <a:lnSpc>
                <a:spcPct val="110000"/>
              </a:lnSpc>
              <a:buNone/>
            </a:pPr>
            <a:r>
              <a:rPr lang="tr-TR" sz="1100" b="0" i="0" u="none" strike="noStrike" baseline="0" dirty="0">
                <a:latin typeface="MinionPro-Regular"/>
              </a:rPr>
              <a:t>• Etik kodlar</a:t>
            </a:r>
          </a:p>
          <a:p>
            <a:pPr marL="0" indent="0">
              <a:lnSpc>
                <a:spcPct val="110000"/>
              </a:lnSpc>
              <a:buNone/>
            </a:pPr>
            <a:r>
              <a:rPr lang="tr-TR" sz="1100" b="0" i="0" u="none" strike="noStrike" baseline="0" dirty="0">
                <a:latin typeface="MinionPro-Regular"/>
              </a:rPr>
              <a:t>• Raporlama/tavsiye kanalları</a:t>
            </a:r>
          </a:p>
          <a:p>
            <a:pPr marL="0" indent="0">
              <a:lnSpc>
                <a:spcPct val="110000"/>
              </a:lnSpc>
              <a:buNone/>
            </a:pPr>
            <a:r>
              <a:rPr lang="tr-TR" sz="1100" b="0" i="0" u="none" strike="noStrike" baseline="0" dirty="0">
                <a:latin typeface="MinionPro-Regular"/>
              </a:rPr>
              <a:t>• Risk analizi ve yönetimi</a:t>
            </a:r>
          </a:p>
          <a:p>
            <a:pPr marL="0" indent="0">
              <a:lnSpc>
                <a:spcPct val="110000"/>
              </a:lnSpc>
              <a:buNone/>
            </a:pPr>
            <a:r>
              <a:rPr lang="tr-TR" sz="1100" b="0" i="0" u="none" strike="noStrike" baseline="0" dirty="0">
                <a:latin typeface="MinionPro-Regular"/>
              </a:rPr>
              <a:t>• Etik yöneticisi/etik sorumlusu/etik komiteleri</a:t>
            </a:r>
          </a:p>
          <a:p>
            <a:pPr marL="0" indent="0">
              <a:lnSpc>
                <a:spcPct val="110000"/>
              </a:lnSpc>
              <a:buNone/>
            </a:pPr>
            <a:r>
              <a:rPr lang="tr-TR" sz="1100" b="0" i="0" u="none" strike="noStrike" baseline="0" dirty="0">
                <a:latin typeface="MinionPro-Regular"/>
              </a:rPr>
              <a:t>• Etik danışmanları</a:t>
            </a:r>
          </a:p>
          <a:p>
            <a:pPr marL="0" indent="0">
              <a:lnSpc>
                <a:spcPct val="110000"/>
              </a:lnSpc>
              <a:buNone/>
            </a:pPr>
            <a:r>
              <a:rPr lang="tr-TR" sz="1100" b="0" i="0" u="none" strike="noStrike" baseline="0" dirty="0">
                <a:latin typeface="MinionPro-Regular"/>
              </a:rPr>
              <a:t>• Etik eğitimi</a:t>
            </a:r>
          </a:p>
          <a:p>
            <a:pPr marL="0" indent="0">
              <a:lnSpc>
                <a:spcPct val="110000"/>
              </a:lnSpc>
              <a:buNone/>
            </a:pPr>
            <a:r>
              <a:rPr lang="tr-TR" sz="1100" b="0" i="0" u="none" strike="noStrike" baseline="0" dirty="0">
                <a:latin typeface="MinionPro-Regular"/>
              </a:rPr>
              <a:t>• Paydaşlara danışma, diyalog ve iş birliği</a:t>
            </a:r>
          </a:p>
          <a:p>
            <a:pPr marL="0" indent="0">
              <a:lnSpc>
                <a:spcPct val="110000"/>
              </a:lnSpc>
              <a:buNone/>
            </a:pPr>
            <a:r>
              <a:rPr lang="tr-TR" sz="1100" b="0" i="0" u="none" strike="noStrike" baseline="0" dirty="0">
                <a:latin typeface="MinionPro-Regular"/>
              </a:rPr>
              <a:t>• Denetim, hesap verme ve raporlama</a:t>
            </a:r>
            <a:endParaRPr lang="tr-TR" sz="1100" dirty="0"/>
          </a:p>
        </p:txBody>
      </p:sp>
      <p:pic>
        <p:nvPicPr>
          <p:cNvPr id="7" name="Graphic 6" descr="Office Worker">
            <a:extLst>
              <a:ext uri="{FF2B5EF4-FFF2-40B4-BE49-F238E27FC236}">
                <a16:creationId xmlns:a16="http://schemas.microsoft.com/office/drawing/2014/main" id="{8BD18D2E-575D-74FB-A94C-16555BD810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4678" y="2441274"/>
            <a:ext cx="3817941" cy="3817941"/>
          </a:xfrm>
          <a:prstGeom prst="rect">
            <a:avLst/>
          </a:prstGeom>
        </p:spPr>
      </p:pic>
    </p:spTree>
    <p:extLst>
      <p:ext uri="{BB962C8B-B14F-4D97-AF65-F5344CB8AC3E}">
        <p14:creationId xmlns:p14="http://schemas.microsoft.com/office/powerpoint/2010/main" val="1698089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9B50AA-7CDA-06F1-C3C7-6DF074985BB3}"/>
            </a:ext>
          </a:extLst>
        </p:cNvPr>
        <p:cNvGrpSpPr/>
        <p:nvPr/>
      </p:nvGrpSpPr>
      <p:grpSpPr>
        <a:xfrm>
          <a:off x="0" y="0"/>
          <a:ext cx="0" cy="0"/>
          <a:chOff x="0" y="0"/>
          <a:chExt cx="0" cy="0"/>
        </a:xfrm>
      </p:grpSpPr>
      <p:sp>
        <p:nvSpPr>
          <p:cNvPr id="4105" name="Rectangle 410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507C524-C74D-0399-7CC7-64359316A364}"/>
              </a:ext>
            </a:extLst>
          </p:cNvPr>
          <p:cNvSpPr>
            <a:spLocks noGrp="1"/>
          </p:cNvSpPr>
          <p:nvPr>
            <p:ph type="title"/>
          </p:nvPr>
        </p:nvSpPr>
        <p:spPr>
          <a:xfrm>
            <a:off x="614679" y="548640"/>
            <a:ext cx="4779572" cy="2067705"/>
          </a:xfrm>
        </p:spPr>
        <p:txBody>
          <a:bodyPr anchor="t">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C1DF3DD8-C2AE-A292-DA9A-BFC48D95EFE4}"/>
              </a:ext>
            </a:extLst>
          </p:cNvPr>
          <p:cNvSpPr>
            <a:spLocks noGrp="1"/>
          </p:cNvSpPr>
          <p:nvPr>
            <p:ph idx="1"/>
          </p:nvPr>
        </p:nvSpPr>
        <p:spPr>
          <a:xfrm>
            <a:off x="6030551" y="548638"/>
            <a:ext cx="5546770" cy="5760721"/>
          </a:xfrm>
        </p:spPr>
        <p:txBody>
          <a:bodyPr anchor="t">
            <a:normAutofit/>
          </a:bodyPr>
          <a:lstStyle/>
          <a:p>
            <a:r>
              <a:rPr lang="tr-TR" sz="1800" b="1" i="0" u="none" strike="noStrike" baseline="0">
                <a:latin typeface="MinionPro-Bold"/>
              </a:rPr>
              <a:t>Misyon ve değerler bildirgesi: </a:t>
            </a:r>
            <a:r>
              <a:rPr lang="tr-TR" sz="1800" b="0" i="0" u="none" strike="noStrike" baseline="0">
                <a:latin typeface="MinionPro-Regular"/>
              </a:rPr>
              <a:t>Misyon ve değer açıklamaları, işletmenin amaçları, inançları ve değerlerini kapsar. Misyon ifadeleri kısaca işletmenin varlık nedenini açıklar. İçeriğinde kurum felsefesi, iş yapma felsefesi, işletmenin kendisini nasıl gördüğü, hangi ürün veya hizmetle, hangi pazarlara ya da müşterilere ulaşacağı, teknolojisi, büyüme-kârlılık üzerindeki düşünceleri, vermek istediği imaj konularında ifadeler bulunur. Küçük ve orta ölçekli, özellikle de büyük ölçekli örgütlerin yazılı, kamuya açıklanmış misyon ifadeleri bulunur. Misyon ifadeleri işletmenin vizyonuna hangi görevi üstlenerek ulaşacağını netleştirdiği için önemli açıklamalardır.</a:t>
            </a:r>
            <a:endParaRPr lang="tr-TR" sz="1800"/>
          </a:p>
        </p:txBody>
      </p:sp>
      <p:pic>
        <p:nvPicPr>
          <p:cNvPr id="4100" name="Picture 4" descr="The Four Principles of Ethical Management">
            <a:extLst>
              <a:ext uri="{FF2B5EF4-FFF2-40B4-BE49-F238E27FC236}">
                <a16:creationId xmlns:a16="http://schemas.microsoft.com/office/drawing/2014/main" id="{3CA3A736-48CA-FAB5-0F73-47CBBA3334E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396491"/>
            <a:ext cx="4673754" cy="2912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1049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0E39D4-F6F6-B1B7-57F1-9C208E55B905}"/>
            </a:ext>
          </a:extLst>
        </p:cNvPr>
        <p:cNvGrpSpPr/>
        <p:nvPr/>
      </p:nvGrpSpPr>
      <p:grpSpPr>
        <a:xfrm>
          <a:off x="0" y="0"/>
          <a:ext cx="0" cy="0"/>
          <a:chOff x="0" y="0"/>
          <a:chExt cx="0" cy="0"/>
        </a:xfrm>
      </p:grpSpPr>
      <p:sp>
        <p:nvSpPr>
          <p:cNvPr id="5127" name="Rectangle 5126">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3BBCD20-F9BB-C4B8-9AFD-153C8A518CA6}"/>
              </a:ext>
            </a:extLst>
          </p:cNvPr>
          <p:cNvSpPr>
            <a:spLocks noGrp="1"/>
          </p:cNvSpPr>
          <p:nvPr>
            <p:ph type="title"/>
          </p:nvPr>
        </p:nvSpPr>
        <p:spPr>
          <a:xfrm>
            <a:off x="612648" y="603504"/>
            <a:ext cx="5862396" cy="1527048"/>
          </a:xfrm>
        </p:spPr>
        <p:txBody>
          <a:bodyPr anchor="b">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A4229A0D-899F-CAA8-8E86-CE7F964DC499}"/>
              </a:ext>
            </a:extLst>
          </p:cNvPr>
          <p:cNvSpPr>
            <a:spLocks noGrp="1"/>
          </p:cNvSpPr>
          <p:nvPr>
            <p:ph idx="1"/>
          </p:nvPr>
        </p:nvSpPr>
        <p:spPr>
          <a:xfrm>
            <a:off x="612648" y="2212848"/>
            <a:ext cx="5862396" cy="4096512"/>
          </a:xfrm>
        </p:spPr>
        <p:txBody>
          <a:bodyPr>
            <a:normAutofit/>
          </a:bodyPr>
          <a:lstStyle/>
          <a:p>
            <a:r>
              <a:rPr lang="tr-TR" sz="1800" b="1" i="0" u="none" strike="noStrike" baseline="0">
                <a:latin typeface="MinionPro-Bold"/>
              </a:rPr>
              <a:t>Misyon ve değerler bildirgesi: </a:t>
            </a:r>
            <a:r>
              <a:rPr lang="tr-TR" sz="1800" b="0" i="0" u="none" strike="noStrike" baseline="0">
                <a:latin typeface="MinionPro-Regular"/>
              </a:rPr>
              <a:t>İşletmelerde “misyon ve değerler” açıklamalarına sıkça rastlanır. İş yaşamında çalışanların davranışlarına yön veren pek çok değer vardır. Açıklanan değerler, öncelikli olanlardır. Değer bildirgeleri işletmede neyin öncelikli değer olduğunu ortaya koyarlar. Etik meselelerde, çalışanlara yol göstererek onları cesaretlendirip etik davranışa yönlendirirler. Değerler, hiçbir belirgin kuralın olmadığı koşullarda etik karar almaya yol açar. Kişinin kendi başına verdiği kararların kökeninde değerler yer alır</a:t>
            </a:r>
            <a:endParaRPr lang="tr-TR" sz="1800"/>
          </a:p>
        </p:txBody>
      </p:sp>
      <p:pic>
        <p:nvPicPr>
          <p:cNvPr id="5122" name="Picture 2" descr="How to develop an effective Code of Ethics - Responsible Business Project  2030">
            <a:extLst>
              <a:ext uri="{FF2B5EF4-FFF2-40B4-BE49-F238E27FC236}">
                <a16:creationId xmlns:a16="http://schemas.microsoft.com/office/drawing/2014/main" id="{B08FD146-5606-A16B-747A-FBF8D842FF8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91395" y="1102440"/>
            <a:ext cx="4681506" cy="4681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7484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4C5076-CD39-57BE-04D5-D451687A3D73}"/>
            </a:ext>
          </a:extLst>
        </p:cNvPr>
        <p:cNvGrpSpPr/>
        <p:nvPr/>
      </p:nvGrpSpPr>
      <p:grpSpPr>
        <a:xfrm>
          <a:off x="0" y="0"/>
          <a:ext cx="0" cy="0"/>
          <a:chOff x="0" y="0"/>
          <a:chExt cx="0" cy="0"/>
        </a:xfrm>
      </p:grpSpPr>
      <p:sp>
        <p:nvSpPr>
          <p:cNvPr id="6151" name="Rectangle 615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655BE0D8-F147-8767-70AD-F106B9374727}"/>
              </a:ext>
            </a:extLst>
          </p:cNvPr>
          <p:cNvSpPr>
            <a:spLocks noGrp="1"/>
          </p:cNvSpPr>
          <p:nvPr>
            <p:ph type="title"/>
          </p:nvPr>
        </p:nvSpPr>
        <p:spPr>
          <a:xfrm>
            <a:off x="612648" y="603504"/>
            <a:ext cx="5862396" cy="1527048"/>
          </a:xfrm>
        </p:spPr>
        <p:txBody>
          <a:bodyPr anchor="b">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F904551B-9D39-3D22-1517-572626C90FF9}"/>
              </a:ext>
            </a:extLst>
          </p:cNvPr>
          <p:cNvSpPr>
            <a:spLocks noGrp="1"/>
          </p:cNvSpPr>
          <p:nvPr>
            <p:ph idx="1"/>
          </p:nvPr>
        </p:nvSpPr>
        <p:spPr>
          <a:xfrm>
            <a:off x="612648" y="2212848"/>
            <a:ext cx="5862396" cy="4096512"/>
          </a:xfrm>
        </p:spPr>
        <p:txBody>
          <a:bodyPr>
            <a:normAutofit/>
          </a:bodyPr>
          <a:lstStyle/>
          <a:p>
            <a:pPr marL="0" indent="0">
              <a:lnSpc>
                <a:spcPct val="110000"/>
              </a:lnSpc>
              <a:buNone/>
            </a:pPr>
            <a:r>
              <a:rPr lang="tr-TR" sz="1500" b="1" i="0" u="none" strike="noStrike" baseline="0" dirty="0">
                <a:latin typeface="MyriadPro-Bold"/>
              </a:rPr>
              <a:t>Etik Kodlar</a:t>
            </a:r>
          </a:p>
          <a:p>
            <a:pPr marL="0" indent="0">
              <a:lnSpc>
                <a:spcPct val="110000"/>
              </a:lnSpc>
              <a:buNone/>
            </a:pPr>
            <a:r>
              <a:rPr lang="tr-TR" sz="1500" b="0" i="0" u="none" strike="noStrike" baseline="0" dirty="0">
                <a:latin typeface="MinionPro-Regular"/>
              </a:rPr>
              <a:t>Kuruluşta davranış standartları oluşturmanın ve sürekli duruma getirmenin bir başka yolu, yazılı etik ilkelerin geliştirilmesidir. Etik kodlar, belirli bir işletme, meslek grubu veya endüstri içinde </a:t>
            </a:r>
            <a:r>
              <a:rPr lang="tr-TR" sz="1500" b="0" i="0" u="none" strike="noStrike" baseline="0" dirty="0" err="1">
                <a:latin typeface="MinionPro-Regular"/>
              </a:rPr>
              <a:t>etiksel</a:t>
            </a:r>
            <a:r>
              <a:rPr lang="tr-TR" sz="1500" b="0" i="0" u="none" strike="noStrike" baseline="0" dirty="0">
                <a:latin typeface="MinionPro-Regular"/>
              </a:rPr>
              <a:t> açıdan çalışanlardan/üyelerden beklenen ve istenen davranış türlerini açıklayan bildirgelerdir. Etik yönetiminde en yaygın yaklaşım etik kodların oluşturulmasıdır. Kuruluşlar -varsa- bulundukları sektörün etik yasalarına uymayı da taahhüt edebilir. Örneğin; Türkiye Kimya Sanayicileri Derneği, üyelerinden üçlü sorumluluk anlayışına göre iş yapmalarını ve raporlamalarını bekler. Sivil toplum kuruluşları, meslek kuruluşları, dernekler (örneğin; TEDMER - Türkiye Etik Değerler Merkezi, TOBB - Türkiye Odalar ve Borsalar Birliği, İSO - İstanbul Sanayi Odası) de şirketler gibi üyeleri için etik rehberler, meslek ilkeleri hazırlar ve bunlara uyulmasını beklerler.</a:t>
            </a:r>
            <a:endParaRPr lang="tr-TR" sz="1500" dirty="0"/>
          </a:p>
        </p:txBody>
      </p:sp>
      <p:pic>
        <p:nvPicPr>
          <p:cNvPr id="6146" name="Picture 2" descr="Code of Business Condict and Ethics - karenpetroleum">
            <a:extLst>
              <a:ext uri="{FF2B5EF4-FFF2-40B4-BE49-F238E27FC236}">
                <a16:creationId xmlns:a16="http://schemas.microsoft.com/office/drawing/2014/main" id="{3392F596-192D-8B34-D087-5F4B9D22AEA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91395" y="1439585"/>
            <a:ext cx="4681506" cy="4007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48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851EC8-C7B0-49F8-59C1-388BB8DF03A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FC84D8C0-F9C6-4C5C-9846-EBC7F552BFAA}"/>
              </a:ext>
            </a:extLst>
          </p:cNvPr>
          <p:cNvSpPr>
            <a:spLocks noGrp="1"/>
          </p:cNvSpPr>
          <p:nvPr>
            <p:ph type="title"/>
          </p:nvPr>
        </p:nvSpPr>
        <p:spPr>
          <a:xfrm>
            <a:off x="612648" y="603504"/>
            <a:ext cx="5862396" cy="1527048"/>
          </a:xfrm>
        </p:spPr>
        <p:txBody>
          <a:bodyPr anchor="b">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CADAABC3-DFCB-C0AF-6CC1-4547AD355929}"/>
              </a:ext>
            </a:extLst>
          </p:cNvPr>
          <p:cNvSpPr>
            <a:spLocks noGrp="1"/>
          </p:cNvSpPr>
          <p:nvPr>
            <p:ph idx="1"/>
          </p:nvPr>
        </p:nvSpPr>
        <p:spPr>
          <a:xfrm>
            <a:off x="612647" y="2011680"/>
            <a:ext cx="7018437" cy="4846320"/>
          </a:xfrm>
        </p:spPr>
        <p:txBody>
          <a:bodyPr>
            <a:normAutofit/>
          </a:bodyPr>
          <a:lstStyle/>
          <a:p>
            <a:pPr>
              <a:lnSpc>
                <a:spcPct val="110000"/>
              </a:lnSpc>
            </a:pPr>
            <a:r>
              <a:rPr lang="tr-TR" sz="1200" dirty="0"/>
              <a:t>Etik ve İtibar Derneği (TEİD) üyeleri, sorumlu iş modelinin özünü teşkil eden 13 temel ilkeye olan inançlarını beyan eder ve bu ilkelere uymaktaki gönüllülüklerini idari yapıları ve şirket politikalarına yansıtır; iş etiğinin bir kurum kültürü hâline gelmesi için azami özeni gösterirler.</a:t>
            </a:r>
          </a:p>
          <a:p>
            <a:pPr>
              <a:lnSpc>
                <a:spcPct val="110000"/>
              </a:lnSpc>
            </a:pPr>
            <a:r>
              <a:rPr lang="tr-TR" sz="1200" dirty="0"/>
              <a:t>TEİD üyeleri olarak…</a:t>
            </a:r>
          </a:p>
          <a:p>
            <a:pPr>
              <a:lnSpc>
                <a:spcPct val="110000"/>
              </a:lnSpc>
            </a:pPr>
            <a:r>
              <a:rPr lang="tr-TR" sz="1200" dirty="0"/>
              <a:t>Tüm faaliyetlerimizde Türkiye Cumhuriyeti Anayasası başta olmak üzere tabi olduğumuz tüm ulusal mevzuata ve Türkiye Cumhuriyeti’nin taraf olduğu tüm uluslararası anlaşmalar ve düzenlemelere uyarız.</a:t>
            </a:r>
          </a:p>
          <a:p>
            <a:pPr>
              <a:lnSpc>
                <a:spcPct val="110000"/>
              </a:lnSpc>
            </a:pPr>
            <a:r>
              <a:rPr lang="tr-TR" sz="1200" dirty="0"/>
              <a:t>Açıkladığımız beyan ve sunduğumuz raporların gerçeğe uygun olması için gerekli titizliği gösterir, konu olan bilgileri doğru, anlaşılabilir biçimde ve zamanında sunarız.</a:t>
            </a:r>
          </a:p>
          <a:p>
            <a:pPr>
              <a:lnSpc>
                <a:spcPct val="110000"/>
              </a:lnSpc>
            </a:pPr>
            <a:r>
              <a:rPr lang="tr-TR" sz="1200" dirty="0"/>
              <a:t>Doğruluk ve şeffaflığı, tüm iş süreçlerimizde ve ilişkilerimizde öncelikli değerlerimiz olarak kabul ederiz.</a:t>
            </a:r>
          </a:p>
          <a:p>
            <a:pPr>
              <a:lnSpc>
                <a:spcPct val="110000"/>
              </a:lnSpc>
            </a:pPr>
            <a:r>
              <a:rPr lang="tr-TR" sz="1200" dirty="0"/>
              <a:t>İş etiğinin yazılı kurum kültürümüzün yapı taşı hâline gelmesi için azami gayret ve özeni gösteririz.</a:t>
            </a:r>
          </a:p>
          <a:p>
            <a:pPr marL="0" indent="0">
              <a:lnSpc>
                <a:spcPct val="110000"/>
              </a:lnSpc>
              <a:buNone/>
            </a:pPr>
            <a:r>
              <a:rPr lang="tr-TR" sz="1200" dirty="0"/>
              <a:t>•   Çalışanlarımızı çıkar çatışmalarından uzak tutacak bilinç, kural ve uygulamalarla donatır, mevcut görevlerinden yararlanarak kişisel çıkar sağlamalarını yasaklar ve denetleriz.</a:t>
            </a:r>
          </a:p>
          <a:p>
            <a:pPr marL="0" indent="0">
              <a:lnSpc>
                <a:spcPct val="110000"/>
              </a:lnSpc>
              <a:buNone/>
            </a:pPr>
            <a:r>
              <a:rPr lang="tr-TR" sz="1200" dirty="0"/>
              <a:t>• Çalışanlarımızın tarafsız karar ve davranışlarını etkileyecek hediyeler almasını ve aynı amaçla hediye vermelerini yasaklarız.</a:t>
            </a:r>
          </a:p>
        </p:txBody>
      </p:sp>
      <p:pic>
        <p:nvPicPr>
          <p:cNvPr id="7" name="Graphic 6" descr="Hata">
            <a:extLst>
              <a:ext uri="{FF2B5EF4-FFF2-40B4-BE49-F238E27FC236}">
                <a16:creationId xmlns:a16="http://schemas.microsoft.com/office/drawing/2014/main" id="{13F97EAC-8229-AE6E-2143-FB4B840862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91395" y="1102440"/>
            <a:ext cx="4681506" cy="4681506"/>
          </a:xfrm>
          <a:prstGeom prst="rect">
            <a:avLst/>
          </a:prstGeom>
        </p:spPr>
      </p:pic>
    </p:spTree>
    <p:extLst>
      <p:ext uri="{BB962C8B-B14F-4D97-AF65-F5344CB8AC3E}">
        <p14:creationId xmlns:p14="http://schemas.microsoft.com/office/powerpoint/2010/main" val="2532987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189D6B-CBE4-5065-3870-08A69A30CCA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EDDD37A-8EBC-06A5-7AE3-6EDD6F5D0139}"/>
              </a:ext>
            </a:extLst>
          </p:cNvPr>
          <p:cNvSpPr>
            <a:spLocks noGrp="1"/>
          </p:cNvSpPr>
          <p:nvPr>
            <p:ph type="title"/>
          </p:nvPr>
        </p:nvSpPr>
        <p:spPr>
          <a:xfrm>
            <a:off x="612648" y="603504"/>
            <a:ext cx="11019513" cy="1527048"/>
          </a:xfrm>
        </p:spPr>
        <p:txBody>
          <a:bodyPr anchor="b">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DE1F8009-EAB9-7E94-7B4C-BABFF4F0FCF0}"/>
              </a:ext>
            </a:extLst>
          </p:cNvPr>
          <p:cNvSpPr>
            <a:spLocks noGrp="1"/>
          </p:cNvSpPr>
          <p:nvPr>
            <p:ph idx="1"/>
          </p:nvPr>
        </p:nvSpPr>
        <p:spPr>
          <a:xfrm>
            <a:off x="612648" y="2212848"/>
            <a:ext cx="11019514" cy="4096512"/>
          </a:xfrm>
        </p:spPr>
        <p:txBody>
          <a:bodyPr>
            <a:normAutofit/>
          </a:bodyPr>
          <a:lstStyle/>
          <a:p>
            <a:pPr>
              <a:lnSpc>
                <a:spcPct val="110000"/>
              </a:lnSpc>
            </a:pPr>
            <a:r>
              <a:rPr lang="tr-TR" sz="1600" b="0" i="1" u="none" strike="noStrike" baseline="0" dirty="0">
                <a:latin typeface="MinionPro-It"/>
              </a:rPr>
              <a:t>Faaliyet ve işlemlerimizi yürütürken, her türlü kamu kurum ve kuruluşu, idari oluşum, sivil toplum örgütü ve siyasi partiler ile herhangi bir menfaat beklentisi olmaksızın eşit mesafede yer alırız.</a:t>
            </a:r>
          </a:p>
          <a:p>
            <a:pPr marL="0" indent="0">
              <a:lnSpc>
                <a:spcPct val="110000"/>
              </a:lnSpc>
              <a:buNone/>
            </a:pPr>
            <a:r>
              <a:rPr lang="tr-TR" sz="1600" b="0" i="1" u="none" strike="noStrike" baseline="0" dirty="0">
                <a:latin typeface="MinionPro-It"/>
              </a:rPr>
              <a:t>• İşlemlerimizde yolsuzluklara yol açmayız, göz yummayız ve yolsuzluğa karşı mücadele ederiz.</a:t>
            </a:r>
          </a:p>
          <a:p>
            <a:pPr marL="0" indent="0">
              <a:lnSpc>
                <a:spcPct val="110000"/>
              </a:lnSpc>
              <a:buNone/>
            </a:pPr>
            <a:r>
              <a:rPr lang="tr-TR" sz="1600" b="0" i="1" u="none" strike="noStrike" baseline="0" dirty="0">
                <a:latin typeface="MinionPro-It"/>
              </a:rPr>
              <a:t>• Haksız rekabette bulunmaz, adil rekabetin ve tüketici haklarının korunmasını gözetir, tüm uygulamalarımızı bu yönde geliştiririz.</a:t>
            </a:r>
          </a:p>
          <a:p>
            <a:pPr marL="0" indent="0">
              <a:lnSpc>
                <a:spcPct val="110000"/>
              </a:lnSpc>
              <a:buNone/>
            </a:pPr>
            <a:r>
              <a:rPr lang="tr-TR" sz="1600" b="0" i="1" u="none" strike="noStrike" baseline="0" dirty="0">
                <a:latin typeface="MinionPro-It"/>
              </a:rPr>
              <a:t>• Kayıt dışı istihdamda bulunmayız; işçi sağlığı ve güvenliğini gözetir, gençlerin, kadınların ve engellilerin adil istihdamını destekleriz.</a:t>
            </a:r>
          </a:p>
          <a:p>
            <a:pPr marL="0" indent="0">
              <a:lnSpc>
                <a:spcPct val="110000"/>
              </a:lnSpc>
              <a:buNone/>
            </a:pPr>
            <a:r>
              <a:rPr lang="tr-TR" sz="1600" b="0" i="1" u="none" strike="noStrike" baseline="0" dirty="0">
                <a:latin typeface="MinionPro-It"/>
              </a:rPr>
              <a:t>• Ekonomik ve sosyal kalkınmaya katkıda bulunacak çalışmaları destekleriz.</a:t>
            </a:r>
          </a:p>
          <a:p>
            <a:pPr marL="0" indent="0">
              <a:lnSpc>
                <a:spcPct val="110000"/>
              </a:lnSpc>
              <a:buNone/>
            </a:pPr>
            <a:r>
              <a:rPr lang="tr-TR" sz="1600" b="0" i="1" u="none" strike="noStrike" baseline="0" dirty="0">
                <a:latin typeface="MinionPro-It"/>
              </a:rPr>
              <a:t>• Bütün bu iş etiği ilke, anlayış ve uygulamalarımızın iş ortaklarımız ve tedarikçilerimiz dâhil tüm etki alanlarımıza yayılmasını sağlayacak uygulamalar geliştiririz.</a:t>
            </a:r>
          </a:p>
          <a:p>
            <a:pPr marL="0" indent="0">
              <a:lnSpc>
                <a:spcPct val="110000"/>
              </a:lnSpc>
              <a:buNone/>
            </a:pPr>
            <a:r>
              <a:rPr lang="tr-TR" sz="1600" b="0" i="1" u="none" strike="noStrike" baseline="0" dirty="0">
                <a:latin typeface="MinionPro-It"/>
              </a:rPr>
              <a:t>• Birleşmiş Milletler Küresel İlkeler Sözleşmesi’nin de özünü oluşturan 10 temel ilkeye olan desteğimizi beyan eder, bu ilkelere uymaktaki gönüllülüğümüzü idari yapımız ve şirket politikalarımıza yansıtırız.</a:t>
            </a:r>
            <a:endParaRPr lang="tr-TR" sz="1600" dirty="0"/>
          </a:p>
        </p:txBody>
      </p:sp>
    </p:spTree>
    <p:extLst>
      <p:ext uri="{BB962C8B-B14F-4D97-AF65-F5344CB8AC3E}">
        <p14:creationId xmlns:p14="http://schemas.microsoft.com/office/powerpoint/2010/main" val="14630800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7" name="Rectangle 7174">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7170" name="Picture 2" descr="Everyday Ethics: When Should I Self-Report?">
            <a:extLst>
              <a:ext uri="{FF2B5EF4-FFF2-40B4-BE49-F238E27FC236}">
                <a16:creationId xmlns:a16="http://schemas.microsoft.com/office/drawing/2014/main" id="{839877B7-4DF3-7395-C4C5-16809735C2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437" r="13031" b="2"/>
          <a:stretch/>
        </p:blipFill>
        <p:spPr bwMode="auto">
          <a:xfrm>
            <a:off x="731521" y="2011679"/>
            <a:ext cx="4684352" cy="4297680"/>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61B4BA93-2A0E-6A30-473B-F09BA4B75C9A}"/>
              </a:ext>
            </a:extLst>
          </p:cNvPr>
          <p:cNvSpPr>
            <a:spLocks noGrp="1"/>
          </p:cNvSpPr>
          <p:nvPr>
            <p:ph type="title"/>
          </p:nvPr>
        </p:nvSpPr>
        <p:spPr>
          <a:xfrm>
            <a:off x="614679" y="548641"/>
            <a:ext cx="4779572" cy="1298448"/>
          </a:xfrm>
        </p:spPr>
        <p:txBody>
          <a:bodyPr anchor="t">
            <a:normAutofit/>
          </a:bodyPr>
          <a:lstStyle/>
          <a:p>
            <a:r>
              <a:rPr lang="tr-TR" sz="3300" b="1" i="0" u="none" strike="noStrike" baseline="0">
                <a:latin typeface="MyriadPro-Bold"/>
              </a:rPr>
              <a:t>ETİK YÖNETİMİ VE ETİK YÖNETİMİNİN UNSURLARI</a:t>
            </a:r>
            <a:endParaRPr lang="tr-TR" sz="3300"/>
          </a:p>
        </p:txBody>
      </p:sp>
      <p:sp>
        <p:nvSpPr>
          <p:cNvPr id="3" name="İçerik Yer Tutucusu 2">
            <a:extLst>
              <a:ext uri="{FF2B5EF4-FFF2-40B4-BE49-F238E27FC236}">
                <a16:creationId xmlns:a16="http://schemas.microsoft.com/office/drawing/2014/main" id="{9611271D-EBBF-69D1-ACF8-258FFBDE45AA}"/>
              </a:ext>
            </a:extLst>
          </p:cNvPr>
          <p:cNvSpPr>
            <a:spLocks noGrp="1"/>
          </p:cNvSpPr>
          <p:nvPr>
            <p:ph idx="1"/>
          </p:nvPr>
        </p:nvSpPr>
        <p:spPr>
          <a:xfrm>
            <a:off x="6030551" y="548638"/>
            <a:ext cx="5546770" cy="5760721"/>
          </a:xfrm>
        </p:spPr>
        <p:txBody>
          <a:bodyPr anchor="t">
            <a:normAutofit/>
          </a:bodyPr>
          <a:lstStyle/>
          <a:p>
            <a:pPr marL="0" indent="0">
              <a:buNone/>
            </a:pPr>
            <a:r>
              <a:rPr lang="tr-TR" sz="1800" b="1" i="0" u="none" strike="noStrike" baseline="0" dirty="0">
                <a:latin typeface="MyriadPro-Bold"/>
              </a:rPr>
              <a:t>Raporlama/Tavsiye Kanalları</a:t>
            </a:r>
            <a:endParaRPr lang="tr-TR" sz="1800" dirty="0">
              <a:latin typeface="MinionPro-Regular"/>
            </a:endParaRPr>
          </a:p>
          <a:p>
            <a:r>
              <a:rPr lang="tr-TR" sz="1800" b="0" i="0" u="none" strike="noStrike" baseline="0" dirty="0">
                <a:latin typeface="MinionPro-Regular"/>
              </a:rPr>
              <a:t>Etik değerler açısından, bilgi toplanması işlemi, önemli bir bilgi birikiminin yanı sıra efektif yönetim uygulamaları açısından da fayda sağlamaktadır. İşletme çalışanlarından gelecek bilgi ve geri bildirimler, geri bildirim kanalı ne olursa olsun, etik değerlerin korunmasını sağlamakta ve tüketicilere yansıyabilecek potansiyel etik ihlallerinin önüne geçilmesi için gereken önemli bir bilgi kanalı vazifesi görebilmektedir.</a:t>
            </a:r>
          </a:p>
          <a:p>
            <a:r>
              <a:rPr lang="tr-TR" sz="1800" b="0" i="0" u="none" strike="noStrike" baseline="0" dirty="0">
                <a:latin typeface="MinionPro-Regular"/>
              </a:rPr>
              <a:t>Çeşitli sektörlerde faaliyet gösteren işletmeler de önceden yayımladıkları ve duyurusunu yaptıkları etik değer bildirileri ile çalışanlarına iş süresi boyunca dikkat etmeleri gereken etik konuları hakkında bilgilendirmede bulunmaktadırlar.</a:t>
            </a:r>
            <a:endParaRPr lang="tr-TR" sz="1800" dirty="0"/>
          </a:p>
        </p:txBody>
      </p:sp>
    </p:spTree>
    <p:extLst>
      <p:ext uri="{BB962C8B-B14F-4D97-AF65-F5344CB8AC3E}">
        <p14:creationId xmlns:p14="http://schemas.microsoft.com/office/powerpoint/2010/main" val="1302657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43867147-1C83-BF71-39B0-B590EE7F3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58ABB29A-A9AB-67DA-DFAE-1EF01C34468A}"/>
              </a:ext>
            </a:extLst>
          </p:cNvPr>
          <p:cNvSpPr>
            <a:spLocks noGrp="1"/>
          </p:cNvSpPr>
          <p:nvPr>
            <p:ph type="title"/>
          </p:nvPr>
        </p:nvSpPr>
        <p:spPr>
          <a:xfrm>
            <a:off x="614678" y="548640"/>
            <a:ext cx="10872216" cy="1133856"/>
          </a:xfrm>
        </p:spPr>
        <p:txBody>
          <a:bodyPr anchor="t">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5FECF561-B7D3-5F08-3449-81959644FEEB}"/>
              </a:ext>
            </a:extLst>
          </p:cNvPr>
          <p:cNvSpPr>
            <a:spLocks noGrp="1"/>
          </p:cNvSpPr>
          <p:nvPr>
            <p:ph idx="1"/>
          </p:nvPr>
        </p:nvSpPr>
        <p:spPr>
          <a:xfrm>
            <a:off x="4882551" y="1792224"/>
            <a:ext cx="6602154" cy="4517136"/>
          </a:xfrm>
        </p:spPr>
        <p:txBody>
          <a:bodyPr anchor="t">
            <a:normAutofit/>
          </a:bodyPr>
          <a:lstStyle/>
          <a:p>
            <a:pPr>
              <a:lnSpc>
                <a:spcPct val="110000"/>
              </a:lnSpc>
            </a:pPr>
            <a:r>
              <a:rPr lang="tr-TR" sz="1500" b="1" i="0" u="none" strike="noStrike" baseline="0" dirty="0">
                <a:latin typeface="MyriadPro-Bold"/>
              </a:rPr>
              <a:t>Risk Analizi ve Yönetimi</a:t>
            </a:r>
          </a:p>
          <a:p>
            <a:pPr>
              <a:lnSpc>
                <a:spcPct val="110000"/>
              </a:lnSpc>
            </a:pPr>
            <a:r>
              <a:rPr lang="tr-TR" sz="1500" b="0" i="0" u="none" strike="noStrike" baseline="0" dirty="0">
                <a:latin typeface="MinionPro-Regular"/>
              </a:rPr>
              <a:t>Risk yönetimi ve risklerin azaltılması yaklaşımları günümüzde işletmelerin en çok üzerinde durdukları konulardır. Finansal getiri, iyi intiba ve başarı üzerinde sıklıkla etkili olmakla birlikte, risk yönetimi iş etiğinin de ilgi alanlarından biridir. İşletmelerin basında, halkla ilişkiler çalışmalarında ve diğer bütün ilişkilerinde kullandıkları dil, işlenen konu ne olursa olsun, faaliyette bulunan coğrafyanın değerleriyle çatışmamalı, etiği dışlamadan ve genel kabul gören bir üslupla yürütülen çalışmalar bütünü olmalıdır. Risk yönetimi teknikleri ile birlikte geliştirilecek iş etiği uygulamaları, çevre kirliliği ve ürünün çevre dostu materyallerden yapılması gibi iş etiği konularını ilgilendiren pek çok konuda işletme adına olumlu bir imaj yaratabilecektir. İş etiği konusu, durağan olmayan, işletmeler gibi dinamik ve içeriğine sürekli yeni konu başlıkları eklenen bir yapıya sahiptir. Günümüzde iş etiği açısından değerlendirilmeye alınan en önemli konular insan hakları ihlalleri, yolsuzluklar, küresel ısınma olmakla birlikte, bu konular birçok işletmeyi ilgilendiren konular hâline dönüşmüştür.</a:t>
            </a:r>
            <a:endParaRPr lang="tr-TR" sz="1500" dirty="0"/>
          </a:p>
        </p:txBody>
      </p:sp>
      <p:pic>
        <p:nvPicPr>
          <p:cNvPr id="8194" name="Picture 2" descr="Human Subjects Research Risk &amp; Benefits Analysis | 2023 | IRB Blog |  Institutional Review Board | Teachers College, Columbia University">
            <a:extLst>
              <a:ext uri="{FF2B5EF4-FFF2-40B4-BE49-F238E27FC236}">
                <a16:creationId xmlns:a16="http://schemas.microsoft.com/office/drawing/2014/main" id="{2E40FE88-0EEC-0277-8F8A-D2D99B127FD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1792223"/>
            <a:ext cx="3698530" cy="2461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6061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C0F846-6E26-392F-1FC0-DC1918C57B36}"/>
            </a:ext>
          </a:extLst>
        </p:cNvPr>
        <p:cNvGrpSpPr/>
        <p:nvPr/>
      </p:nvGrpSpPr>
      <p:grpSpPr>
        <a:xfrm>
          <a:off x="0" y="0"/>
          <a:ext cx="0" cy="0"/>
          <a:chOff x="0" y="0"/>
          <a:chExt cx="0" cy="0"/>
        </a:xfrm>
      </p:grpSpPr>
      <p:sp>
        <p:nvSpPr>
          <p:cNvPr id="11" name="Rectangle 8">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2F92B9E-8210-27DD-C379-57415425294F}"/>
              </a:ext>
            </a:extLst>
          </p:cNvPr>
          <p:cNvSpPr>
            <a:spLocks noGrp="1"/>
          </p:cNvSpPr>
          <p:nvPr>
            <p:ph type="title"/>
          </p:nvPr>
        </p:nvSpPr>
        <p:spPr>
          <a:xfrm>
            <a:off x="612648" y="548640"/>
            <a:ext cx="10945037" cy="1133856"/>
          </a:xfrm>
        </p:spPr>
        <p:txBody>
          <a:bodyPr anchor="t">
            <a:normAutofit/>
          </a:bodyPr>
          <a:lstStyle/>
          <a:p>
            <a:r>
              <a:rPr lang="tr-TR" b="1" i="0" u="none" strike="noStrike" baseline="0">
                <a:latin typeface="MyriadPro-Bold"/>
              </a:rPr>
              <a:t>ETİK YÖNETİMİ VE ETİK YÖNETİMİNİN UNSURLARI</a:t>
            </a:r>
            <a:endParaRPr lang="tr-TR"/>
          </a:p>
        </p:txBody>
      </p:sp>
      <p:graphicFrame>
        <p:nvGraphicFramePr>
          <p:cNvPr id="12" name="İçerik Yer Tutucusu 2">
            <a:extLst>
              <a:ext uri="{FF2B5EF4-FFF2-40B4-BE49-F238E27FC236}">
                <a16:creationId xmlns:a16="http://schemas.microsoft.com/office/drawing/2014/main" id="{48BB9690-62A5-1475-2150-861BCA223018}"/>
              </a:ext>
            </a:extLst>
          </p:cNvPr>
          <p:cNvGraphicFramePr>
            <a:graphicFrameLocks noGrp="1"/>
          </p:cNvGraphicFramePr>
          <p:nvPr>
            <p:ph idx="1"/>
            <p:extLst>
              <p:ext uri="{D42A27DB-BD31-4B8C-83A1-F6EECF244321}">
                <p14:modId xmlns:p14="http://schemas.microsoft.com/office/powerpoint/2010/main" val="1482201084"/>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99188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AA45DE-9D3E-66CB-F89A-AA8D6932F1A9}"/>
            </a:ext>
          </a:extLst>
        </p:cNvPr>
        <p:cNvGrpSpPr/>
        <p:nvPr/>
      </p:nvGrpSpPr>
      <p:grpSpPr>
        <a:xfrm>
          <a:off x="0" y="0"/>
          <a:ext cx="0" cy="0"/>
          <a:chOff x="0" y="0"/>
          <a:chExt cx="0" cy="0"/>
        </a:xfrm>
      </p:grpSpPr>
      <p:sp>
        <p:nvSpPr>
          <p:cNvPr id="9223" name="Rectangle 9222">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D074980-48EA-0B9D-1D2B-06F9E750D430}"/>
              </a:ext>
            </a:extLst>
          </p:cNvPr>
          <p:cNvSpPr>
            <a:spLocks noGrp="1"/>
          </p:cNvSpPr>
          <p:nvPr>
            <p:ph type="title"/>
          </p:nvPr>
        </p:nvSpPr>
        <p:spPr>
          <a:xfrm>
            <a:off x="614679" y="548640"/>
            <a:ext cx="4779572" cy="2067705"/>
          </a:xfrm>
        </p:spPr>
        <p:txBody>
          <a:bodyPr anchor="t">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7F569A54-1A87-4984-21DD-9CF924B2202F}"/>
              </a:ext>
            </a:extLst>
          </p:cNvPr>
          <p:cNvSpPr>
            <a:spLocks noGrp="1"/>
          </p:cNvSpPr>
          <p:nvPr>
            <p:ph idx="1"/>
          </p:nvPr>
        </p:nvSpPr>
        <p:spPr>
          <a:xfrm>
            <a:off x="6030551" y="548638"/>
            <a:ext cx="5546770" cy="5760721"/>
          </a:xfrm>
        </p:spPr>
        <p:txBody>
          <a:bodyPr anchor="t">
            <a:normAutofit/>
          </a:bodyPr>
          <a:lstStyle/>
          <a:p>
            <a:r>
              <a:rPr lang="tr-TR" sz="1800" b="1" i="0" u="none" strike="noStrike" baseline="0">
                <a:latin typeface="MyriadPro-Bold"/>
              </a:rPr>
              <a:t>Etik Danışmanları</a:t>
            </a:r>
          </a:p>
          <a:p>
            <a:r>
              <a:rPr lang="tr-TR" sz="1800" b="0" i="0" u="none" strike="noStrike" baseline="0">
                <a:latin typeface="MinionPro-Regular"/>
              </a:rPr>
              <a:t>İş etiği danışmanları, günümüzde kurumsal bir yapıya bürünerek, işletmeler tarafından tercih edilen ve işletmenin yer aldığı sektörle ilgili etik konularda işletmeye danışmanlık hizmeti veren çalışanlar olarak istihdam edilebilmektedir. Özellikle içerisinde yaşadığımız çevre ile ilgili, çevre mühendislerinin, işletmelerin uyması gereken kurallar ve yasal zorunluluklar konusunda yaptığı danışmanlık çalışmaları, işletmenin iş etiği konusunda diğer kuruluşlar ve tüzel kişilerle olan ilişkilerini yönetmesine yardımcı olmaktadır.</a:t>
            </a:r>
            <a:endParaRPr lang="tr-TR" sz="1800"/>
          </a:p>
        </p:txBody>
      </p:sp>
      <p:pic>
        <p:nvPicPr>
          <p:cNvPr id="9218" name="Picture 2" descr="How to Set Up an Ethics Advisory Board">
            <a:extLst>
              <a:ext uri="{FF2B5EF4-FFF2-40B4-BE49-F238E27FC236}">
                <a16:creationId xmlns:a16="http://schemas.microsoft.com/office/drawing/2014/main" id="{AB5EE63D-1089-F174-AD9C-D4840D906D9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680371"/>
            <a:ext cx="4673754" cy="2628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97573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9CBCB1-83F3-B45C-4E91-961C90A76A8C}"/>
            </a:ext>
          </a:extLst>
        </p:cNvPr>
        <p:cNvGrpSpPr/>
        <p:nvPr/>
      </p:nvGrpSpPr>
      <p:grpSpPr>
        <a:xfrm>
          <a:off x="0" y="0"/>
          <a:ext cx="0" cy="0"/>
          <a:chOff x="0" y="0"/>
          <a:chExt cx="0" cy="0"/>
        </a:xfrm>
      </p:grpSpPr>
      <p:sp>
        <p:nvSpPr>
          <p:cNvPr id="10247" name="Rectangle 10246">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00161CE-00D5-11B4-9388-33F5654D2C6B}"/>
              </a:ext>
            </a:extLst>
          </p:cNvPr>
          <p:cNvSpPr>
            <a:spLocks noGrp="1"/>
          </p:cNvSpPr>
          <p:nvPr>
            <p:ph type="title"/>
          </p:nvPr>
        </p:nvSpPr>
        <p:spPr>
          <a:xfrm>
            <a:off x="614679" y="548640"/>
            <a:ext cx="4779572" cy="2067705"/>
          </a:xfrm>
        </p:spPr>
        <p:txBody>
          <a:bodyPr anchor="t">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C448AAA6-BAB4-47E0-2A52-2C74ACFF7394}"/>
              </a:ext>
            </a:extLst>
          </p:cNvPr>
          <p:cNvSpPr>
            <a:spLocks noGrp="1"/>
          </p:cNvSpPr>
          <p:nvPr>
            <p:ph idx="1"/>
          </p:nvPr>
        </p:nvSpPr>
        <p:spPr>
          <a:xfrm>
            <a:off x="6030551" y="548638"/>
            <a:ext cx="5546770" cy="5760721"/>
          </a:xfrm>
        </p:spPr>
        <p:txBody>
          <a:bodyPr anchor="t">
            <a:normAutofit/>
          </a:bodyPr>
          <a:lstStyle/>
          <a:p>
            <a:pPr>
              <a:lnSpc>
                <a:spcPct val="110000"/>
              </a:lnSpc>
            </a:pPr>
            <a:r>
              <a:rPr lang="tr-TR" sz="1500" b="1" i="0" u="none" strike="noStrike" baseline="0">
                <a:latin typeface="MyriadPro-Bold"/>
              </a:rPr>
              <a:t>Etik Eğitimi</a:t>
            </a:r>
          </a:p>
          <a:p>
            <a:pPr>
              <a:lnSpc>
                <a:spcPct val="110000"/>
              </a:lnSpc>
            </a:pPr>
            <a:r>
              <a:rPr lang="tr-TR" sz="1500" b="0" i="0" u="none" strike="noStrike" baseline="0">
                <a:latin typeface="MinionPro-Regular"/>
              </a:rPr>
              <a:t>İş etiğine ilginin artmasıyla birlikte, iş etiği eğitimi konusu da önemli hâle gelmiştir. Eğitimin içeriği ve hangi konuların etik kapsamına gireceği konusunda üniversiteler, danışmanlar ve diğer birimler çalışmalar yapmaktadırlar. Gelişmiş ve gelişmekte olan ülkelerin çoğunda etik kurallara ilişkin eğitimler giderek yaygınlık kazanmaktadır. Aslında etik eğitiminin profesyonel yaşamdan önce akademik ortamlardan başlanarak verilmesi önerilmektedir. Hem yönetici adaylarının hem de ileride kurumsal işletmelerde görev alacak adayların, işe başlamadan önce bu tip eğitimleri almaları daha uygun bir yaklaşımdır. Çalışan sayısının yüksek olduğu kuruluşlar, eğitimde teknolojiden de yararlanmaktadır. Bu uygulamaya İsveçli bir ilaç firmasının kullandığı ve işletmenin etik yaklaşımını öğretme amaçlı simülasyon oyunu örnek olarak verilebilir. Söz konusu oyunda, işletme çalışanlarının, tüketicilerle kurduğu diyaloglar daha sonra etik açıdan değerlendirilmektedir. Böylece çalışanların etik kodları öğrenmeleri sağlanmaktadır.</a:t>
            </a:r>
            <a:endParaRPr lang="tr-TR" sz="1500"/>
          </a:p>
        </p:txBody>
      </p:sp>
      <p:pic>
        <p:nvPicPr>
          <p:cNvPr id="10242" name="Picture 2" descr="Fostering Student Ethical Development as Part of the Curriculum | Faculty  Focus">
            <a:extLst>
              <a:ext uri="{FF2B5EF4-FFF2-40B4-BE49-F238E27FC236}">
                <a16:creationId xmlns:a16="http://schemas.microsoft.com/office/drawing/2014/main" id="{2550A448-ED01-D8C8-2E56-1FA2C4BA68B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835911"/>
            <a:ext cx="4673754" cy="2473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576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B6429A-596B-B465-3FA6-9C84B2EC3214}"/>
            </a:ext>
          </a:extLst>
        </p:cNvPr>
        <p:cNvGrpSpPr/>
        <p:nvPr/>
      </p:nvGrpSpPr>
      <p:grpSpPr>
        <a:xfrm>
          <a:off x="0" y="0"/>
          <a:ext cx="0" cy="0"/>
          <a:chOff x="0" y="0"/>
          <a:chExt cx="0" cy="0"/>
        </a:xfrm>
      </p:grpSpPr>
      <p:sp>
        <p:nvSpPr>
          <p:cNvPr id="11271" name="Rectangle 1127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893DE04-2A0E-2BE7-5819-30227E6F4C65}"/>
              </a:ext>
            </a:extLst>
          </p:cNvPr>
          <p:cNvSpPr>
            <a:spLocks noGrp="1"/>
          </p:cNvSpPr>
          <p:nvPr>
            <p:ph type="title"/>
          </p:nvPr>
        </p:nvSpPr>
        <p:spPr>
          <a:xfrm>
            <a:off x="5906802" y="603504"/>
            <a:ext cx="5577902" cy="1527048"/>
          </a:xfrm>
        </p:spPr>
        <p:txBody>
          <a:bodyPr anchor="b">
            <a:normAutofit/>
          </a:bodyPr>
          <a:lstStyle/>
          <a:p>
            <a:r>
              <a:rPr lang="tr-TR" b="1" i="0" u="none" strike="noStrike" baseline="0">
                <a:latin typeface="MyriadPro-Bold"/>
              </a:rPr>
              <a:t>ETİK YÖNETİMİ VE ETİK YÖNETİMİNİN UNSURLARI</a:t>
            </a:r>
            <a:endParaRPr lang="tr-TR"/>
          </a:p>
        </p:txBody>
      </p:sp>
      <p:sp>
        <p:nvSpPr>
          <p:cNvPr id="3" name="İçerik Yer Tutucusu 2">
            <a:extLst>
              <a:ext uri="{FF2B5EF4-FFF2-40B4-BE49-F238E27FC236}">
                <a16:creationId xmlns:a16="http://schemas.microsoft.com/office/drawing/2014/main" id="{24FD09A2-0618-5EC5-ECAC-B64FF565CFF3}"/>
              </a:ext>
            </a:extLst>
          </p:cNvPr>
          <p:cNvSpPr>
            <a:spLocks noGrp="1"/>
          </p:cNvSpPr>
          <p:nvPr>
            <p:ph idx="1"/>
          </p:nvPr>
        </p:nvSpPr>
        <p:spPr>
          <a:xfrm>
            <a:off x="5906802" y="2212848"/>
            <a:ext cx="5577902" cy="4096512"/>
          </a:xfrm>
        </p:spPr>
        <p:txBody>
          <a:bodyPr>
            <a:normAutofit/>
          </a:bodyPr>
          <a:lstStyle/>
          <a:p>
            <a:pPr>
              <a:lnSpc>
                <a:spcPct val="110000"/>
              </a:lnSpc>
            </a:pPr>
            <a:r>
              <a:rPr lang="tr-TR" sz="1500" b="1" i="0" u="none" strike="noStrike" baseline="0" dirty="0">
                <a:latin typeface="MyriadPro-Bold"/>
              </a:rPr>
              <a:t>Paydaşların Görüşlerini Alma, Diyalog ve İş Birliği Programları</a:t>
            </a:r>
          </a:p>
          <a:p>
            <a:pPr>
              <a:lnSpc>
                <a:spcPct val="110000"/>
              </a:lnSpc>
            </a:pPr>
            <a:r>
              <a:rPr lang="tr-TR" sz="1500" b="0" i="0" u="none" strike="noStrike" baseline="0" dirty="0">
                <a:latin typeface="MinionPro-Regular"/>
              </a:rPr>
              <a:t>İşletmelerin hisselerini halka arz etmesi, işletmelerin alacağı kararları doğrudan etkileyen ve kararlardan doğrudan etkilenen kişi sayısını artırıcı etki yapmaktadır. Etik değerler de karar verme sürecinde söz konusu etkiler içerisinde bir faktör olarak yer almaktadır. Tutundurma çalışmalarına yönelik kararlarda, etik değerlerin dikkate alınması daha da önem kazanabilmektedir. İşletme için doğru kararı almış olmak, etik değerlerin de dikkate alındığı kararlar olarak algılanmalıdır. İşletmenin birçok paydaşının olması, paydaşların kişisel özellikleri, profesyonel hayata bakışları, alınan tüm kararlarla birlikte etik yaklaşımını da etkileyebilecektir. Bu bağlamda kurumsal iletişim çabaları, kurumsal sorumluluk alanında diyalog ve tartışmaların sergilendiği önemli bir platform olarak değerlendirilmektedir.</a:t>
            </a:r>
            <a:endParaRPr lang="tr-TR" sz="1500" dirty="0"/>
          </a:p>
        </p:txBody>
      </p:sp>
      <p:pic>
        <p:nvPicPr>
          <p:cNvPr id="11266" name="Picture 2" descr="Ethical Communication: The Basic Principles">
            <a:extLst>
              <a:ext uri="{FF2B5EF4-FFF2-40B4-BE49-F238E27FC236}">
                <a16:creationId xmlns:a16="http://schemas.microsoft.com/office/drawing/2014/main" id="{A82FD9A3-BB79-CD67-C016-8CBF6B15EFE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2648" y="1749694"/>
            <a:ext cx="4681506" cy="3386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528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D6FEE0-85E6-EA24-2748-5242D45BA47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00DC1B0-7E1A-BD02-3F93-19E6B1B75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D5DAB22-013D-0F56-B94C-EBDE37C04A3A}"/>
              </a:ext>
            </a:extLst>
          </p:cNvPr>
          <p:cNvSpPr>
            <a:spLocks noGrp="1"/>
          </p:cNvSpPr>
          <p:nvPr>
            <p:ph type="title"/>
          </p:nvPr>
        </p:nvSpPr>
        <p:spPr>
          <a:xfrm>
            <a:off x="612649" y="548638"/>
            <a:ext cx="3493008" cy="5788152"/>
          </a:xfrm>
        </p:spPr>
        <p:txBody>
          <a:bodyPr anchor="ctr">
            <a:normAutofit/>
          </a:bodyPr>
          <a:lstStyle/>
          <a:p>
            <a:r>
              <a:rPr lang="tr-TR" sz="4000" b="1" i="0" u="none" strike="noStrike" baseline="0">
                <a:latin typeface="MyriadPro-Bold"/>
              </a:rPr>
              <a:t>ETİK YÖNETİMİ VE ETİK YÖNETİMİNİN UNSURLARI</a:t>
            </a:r>
            <a:endParaRPr lang="tr-TR" sz="4000"/>
          </a:p>
        </p:txBody>
      </p:sp>
      <p:graphicFrame>
        <p:nvGraphicFramePr>
          <p:cNvPr id="5" name="İçerik Yer Tutucusu 2">
            <a:extLst>
              <a:ext uri="{FF2B5EF4-FFF2-40B4-BE49-F238E27FC236}">
                <a16:creationId xmlns:a16="http://schemas.microsoft.com/office/drawing/2014/main" id="{38F75902-5CA0-703D-1E29-CC622DDFCBBB}"/>
              </a:ext>
            </a:extLst>
          </p:cNvPr>
          <p:cNvGraphicFramePr>
            <a:graphicFrameLocks noGrp="1"/>
          </p:cNvGraphicFramePr>
          <p:nvPr>
            <p:ph idx="1"/>
            <p:extLst>
              <p:ext uri="{D42A27DB-BD31-4B8C-83A1-F6EECF244321}">
                <p14:modId xmlns:p14="http://schemas.microsoft.com/office/powerpoint/2010/main" val="4285607837"/>
              </p:ext>
            </p:extLst>
          </p:nvPr>
        </p:nvGraphicFramePr>
        <p:xfrm>
          <a:off x="4608246" y="548640"/>
          <a:ext cx="6949440" cy="5786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62330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eçmiş arka plan kırmızı yeşil ve kahverengi çizgiler">
            <a:extLst>
              <a:ext uri="{FF2B5EF4-FFF2-40B4-BE49-F238E27FC236}">
                <a16:creationId xmlns:a16="http://schemas.microsoft.com/office/drawing/2014/main" id="{E5B30984-669A-4B16-006C-168837AC5B20}"/>
              </a:ext>
            </a:extLst>
          </p:cNvPr>
          <p:cNvPicPr>
            <a:picLocks noChangeAspect="1"/>
          </p:cNvPicPr>
          <p:nvPr/>
        </p:nvPicPr>
        <p:blipFill>
          <a:blip r:embed="rId3"/>
          <a:srcRect l="27355" r="26181"/>
          <a:stretch/>
        </p:blipFill>
        <p:spPr>
          <a:xfrm>
            <a:off x="7345680" y="10"/>
            <a:ext cx="4846320" cy="6857990"/>
          </a:xfrm>
          <a:prstGeom prst="rect">
            <a:avLst/>
          </a:prstGeom>
        </p:spPr>
      </p:pic>
      <p:sp>
        <p:nvSpPr>
          <p:cNvPr id="2" name="Başlık 1">
            <a:extLst>
              <a:ext uri="{FF2B5EF4-FFF2-40B4-BE49-F238E27FC236}">
                <a16:creationId xmlns:a16="http://schemas.microsoft.com/office/drawing/2014/main" id="{B2D7A870-1238-3F70-87A6-3CE09E187CE1}"/>
              </a:ext>
            </a:extLst>
          </p:cNvPr>
          <p:cNvSpPr>
            <a:spLocks noGrp="1"/>
          </p:cNvSpPr>
          <p:nvPr>
            <p:ph type="title"/>
          </p:nvPr>
        </p:nvSpPr>
        <p:spPr>
          <a:xfrm>
            <a:off x="612648" y="313323"/>
            <a:ext cx="6035040" cy="1529932"/>
          </a:xfrm>
        </p:spPr>
        <p:txBody>
          <a:bodyPr anchor="b">
            <a:normAutofit/>
          </a:bodyPr>
          <a:lstStyle/>
          <a:p>
            <a:r>
              <a:rPr lang="tr-TR" sz="2800" b="1" i="0" u="none" strike="noStrike" baseline="0">
                <a:latin typeface="MyriadPro-Bold"/>
              </a:rPr>
              <a:t>SOSYAL SORUMLULUK KAVRAMI VE TEMEL</a:t>
            </a:r>
            <a:br>
              <a:rPr lang="tr-TR" sz="2800" b="1" i="0" u="none" strike="noStrike" baseline="0">
                <a:latin typeface="MyriadPro-Bold"/>
              </a:rPr>
            </a:br>
            <a:r>
              <a:rPr lang="tr-TR" sz="2800" b="1" i="0" u="none" strike="noStrike" baseline="0">
                <a:latin typeface="MyriadPro-Bold"/>
              </a:rPr>
              <a:t>YAKLAŞIMLAR</a:t>
            </a:r>
            <a:endParaRPr lang="tr-TR" sz="2800"/>
          </a:p>
        </p:txBody>
      </p:sp>
      <p:sp>
        <p:nvSpPr>
          <p:cNvPr id="3" name="İçerik Yer Tutucusu 2">
            <a:extLst>
              <a:ext uri="{FF2B5EF4-FFF2-40B4-BE49-F238E27FC236}">
                <a16:creationId xmlns:a16="http://schemas.microsoft.com/office/drawing/2014/main" id="{309A03E3-2652-9CFA-82D8-227CC6FE8394}"/>
              </a:ext>
            </a:extLst>
          </p:cNvPr>
          <p:cNvSpPr>
            <a:spLocks noGrp="1"/>
          </p:cNvSpPr>
          <p:nvPr>
            <p:ph idx="1"/>
          </p:nvPr>
        </p:nvSpPr>
        <p:spPr>
          <a:xfrm>
            <a:off x="612647" y="1843255"/>
            <a:ext cx="6308657" cy="5014745"/>
          </a:xfrm>
        </p:spPr>
        <p:txBody>
          <a:bodyPr>
            <a:normAutofit fontScale="92500"/>
          </a:bodyPr>
          <a:lstStyle/>
          <a:p>
            <a:pPr>
              <a:lnSpc>
                <a:spcPct val="110000"/>
              </a:lnSpc>
            </a:pPr>
            <a:r>
              <a:rPr lang="tr-TR" sz="1600" dirty="0"/>
              <a:t>Bir organizasyonun sosyal sorumlu olması ne anlama gelir? Bu konuda iki farklı görüş vardır. Bir uçta tamamıyla klasik/ekonomik görüş; diğer uçta ise sosyoekonomik görüş yer almaktadır.</a:t>
            </a:r>
          </a:p>
          <a:p>
            <a:pPr>
              <a:lnSpc>
                <a:spcPct val="110000"/>
              </a:lnSpc>
            </a:pPr>
            <a:r>
              <a:rPr lang="tr-TR" sz="1600" dirty="0"/>
              <a:t>Klasik görüş, işletme yönetimlerinin tek sosyal sorumluluğunun kâr maksimizasyonu olduğunu söyler. Bu yaklaşımın en hararetli savunucusu ekonomist ve Nobel ödülü sahibi </a:t>
            </a:r>
            <a:r>
              <a:rPr lang="tr-TR" sz="1600" dirty="0" err="1"/>
              <a:t>Milton</a:t>
            </a:r>
            <a:r>
              <a:rPr lang="tr-TR" sz="1600" dirty="0"/>
              <a:t> </a:t>
            </a:r>
            <a:r>
              <a:rPr lang="tr-TR" sz="1600" dirty="0" err="1"/>
              <a:t>Friedman’dır</a:t>
            </a:r>
            <a:r>
              <a:rPr lang="tr-TR" sz="1600" dirty="0"/>
              <a:t>. </a:t>
            </a:r>
            <a:r>
              <a:rPr lang="tr-TR" sz="1600" dirty="0" err="1"/>
              <a:t>Friedman</a:t>
            </a:r>
            <a:r>
              <a:rPr lang="tr-TR" sz="1600" dirty="0"/>
              <a:t>, yöneticilerin temel sorumluluğunun hissedarların ya da şirket sahiplerinin çıkarlarını en iyi koruyacak şekilde işi yürütmek olduğunu iddia eder. Bu çıkarlar nelerdir? </a:t>
            </a:r>
            <a:r>
              <a:rPr lang="tr-TR" sz="1600" dirty="0" err="1"/>
              <a:t>Friedman</a:t>
            </a:r>
            <a:r>
              <a:rPr lang="tr-TR" sz="1600" dirty="0"/>
              <a:t>, şirket sahiplerinin tek şeyle ilgilendiklerini ileri sürer: Finansal kazanç. O, aynı zamanda yöneticilerin hiçbir zaman organizasyonun kaynaklarını “toplumun iyiliği” için harcama kararı alamayacağını, bunun işletmeye ilave maliyet getireceğini savunur. </a:t>
            </a:r>
            <a:r>
              <a:rPr lang="tr-TR" sz="1600" dirty="0" err="1"/>
              <a:t>Friedman’a</a:t>
            </a:r>
            <a:r>
              <a:rPr lang="tr-TR" sz="1600" dirty="0"/>
              <a:t> göre işletmelerin temel faaliyet konusu dışındaki bu harcamalar, ya ürün fiyatına ya da işletme sahiplerinin kâr paylarına yansıtılacaktır. Diğer bir deyişle bu harcamalara yüksek fiyattan mal alan müşteriler ya da daha az kâr payı almaya razı olan işletme sahipleri katlanacaktır</a:t>
            </a:r>
            <a:endParaRPr lang="tr-TR" sz="1400" dirty="0"/>
          </a:p>
        </p:txBody>
      </p:sp>
    </p:spTree>
    <p:extLst>
      <p:ext uri="{BB962C8B-B14F-4D97-AF65-F5344CB8AC3E}">
        <p14:creationId xmlns:p14="http://schemas.microsoft.com/office/powerpoint/2010/main" val="682037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A4E3F0-850C-4F36-37C0-5E1C3756EC35}"/>
            </a:ext>
          </a:extLst>
        </p:cNvPr>
        <p:cNvGrpSpPr/>
        <p:nvPr/>
      </p:nvGrpSpPr>
      <p:grpSpPr>
        <a:xfrm>
          <a:off x="0" y="0"/>
          <a:ext cx="0" cy="0"/>
          <a:chOff x="0" y="0"/>
          <a:chExt cx="0" cy="0"/>
        </a:xfrm>
      </p:grpSpPr>
      <p:sp useBgFill="1">
        <p:nvSpPr>
          <p:cNvPr id="12295" name="Rectangle 12294">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290" name="Picture 2" descr="Socioeconomic Status – BestColleges.com">
            <a:extLst>
              <a:ext uri="{FF2B5EF4-FFF2-40B4-BE49-F238E27FC236}">
                <a16:creationId xmlns:a16="http://schemas.microsoft.com/office/drawing/2014/main" id="{C260778A-188D-D306-5458-96690B3049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985" r="25432" b="2"/>
          <a:stretch/>
        </p:blipFill>
        <p:spPr bwMode="auto">
          <a:xfrm>
            <a:off x="713615" y="681318"/>
            <a:ext cx="4680637" cy="3083858"/>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9A63FDE7-4B3D-478C-6353-A7DC2BA927ED}"/>
              </a:ext>
            </a:extLst>
          </p:cNvPr>
          <p:cNvSpPr>
            <a:spLocks noGrp="1"/>
          </p:cNvSpPr>
          <p:nvPr>
            <p:ph type="title"/>
          </p:nvPr>
        </p:nvSpPr>
        <p:spPr>
          <a:xfrm>
            <a:off x="612646" y="4012142"/>
            <a:ext cx="4781605" cy="2332799"/>
          </a:xfrm>
        </p:spPr>
        <p:txBody>
          <a:bodyPr anchor="t">
            <a:normAutofit/>
          </a:bodyPr>
          <a:lstStyle/>
          <a:p>
            <a:r>
              <a:rPr lang="tr-TR" b="1" i="0" u="none" strike="noStrike" baseline="0">
                <a:latin typeface="MyriadPro-Bold"/>
              </a:rPr>
              <a:t>SOSYAL SORUMLULUK KAVRAMI VE TEMEL</a:t>
            </a:r>
            <a:br>
              <a:rPr lang="tr-TR" b="1" i="0" u="none" strike="noStrike" baseline="0">
                <a:latin typeface="MyriadPro-Bold"/>
              </a:rPr>
            </a:br>
            <a:r>
              <a:rPr lang="tr-TR" b="1" i="0" u="none" strike="noStrike" baseline="0">
                <a:latin typeface="MyriadPro-Bold"/>
              </a:rPr>
              <a:t>YAKLAŞIMLAR</a:t>
            </a:r>
            <a:endParaRPr lang="tr-TR"/>
          </a:p>
        </p:txBody>
      </p:sp>
      <p:sp>
        <p:nvSpPr>
          <p:cNvPr id="3" name="İçerik Yer Tutucusu 2">
            <a:extLst>
              <a:ext uri="{FF2B5EF4-FFF2-40B4-BE49-F238E27FC236}">
                <a16:creationId xmlns:a16="http://schemas.microsoft.com/office/drawing/2014/main" id="{9569EA47-1110-6145-ABCD-8F523678C68E}"/>
              </a:ext>
            </a:extLst>
          </p:cNvPr>
          <p:cNvSpPr>
            <a:spLocks noGrp="1"/>
          </p:cNvSpPr>
          <p:nvPr>
            <p:ph idx="1"/>
          </p:nvPr>
        </p:nvSpPr>
        <p:spPr>
          <a:xfrm>
            <a:off x="6030551" y="548639"/>
            <a:ext cx="5548803" cy="5796302"/>
          </a:xfrm>
        </p:spPr>
        <p:txBody>
          <a:bodyPr>
            <a:normAutofit/>
          </a:bodyPr>
          <a:lstStyle/>
          <a:p>
            <a:r>
              <a:rPr lang="tr-TR" sz="1800" b="0" i="1" u="none" strike="noStrike" baseline="0">
                <a:latin typeface="MinionPro-It"/>
              </a:rPr>
              <a:t>Sosyoekonomik görüş </a:t>
            </a:r>
            <a:r>
              <a:rPr lang="tr-TR" sz="1800" b="0" i="0" u="none" strike="noStrike" baseline="0">
                <a:latin typeface="MinionPro-Regular"/>
              </a:rPr>
              <a:t>ise yönetimin sosyal sorumluluğunun kâr elde etmenin ötesinde, toplumun refahını korumayı ve iyileştirmeyi de kapsadığını savunur. Bu duruş, şirketlerin sadece patronlarına karşı sorumlu, bağımsız varlıklar olmadığı inancına dayanır. Onlar, aynı zamanda çeşitli kanunlar ve düzenlemelerle yapılarını oluşturan; onların ürünlerini ve hizmetlerini satın alarak destekleyen toplumun daha büyük bir kesimine karşı da sorumludur. Bu görüşün taraftarları işletme örgütlerinin sadece tümüyle ekonomik kurumlar olmadıklarına inanırlar. Toplum işletmelerin sosyal, politik, yasal, doğal çevre ile ilgili meselelerle uğraşmasını bekler hatta bu konuda onları teşvik eder. Dünyanın dört bir yanında sayıları gittikçe artan, çok sayıda organizasyon, sosyoekonomik görüşü benimsemektedir.</a:t>
            </a:r>
            <a:endParaRPr lang="tr-TR" sz="1800"/>
          </a:p>
        </p:txBody>
      </p:sp>
    </p:spTree>
    <p:extLst>
      <p:ext uri="{BB962C8B-B14F-4D97-AF65-F5344CB8AC3E}">
        <p14:creationId xmlns:p14="http://schemas.microsoft.com/office/powerpoint/2010/main" val="3254955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DB7F67-8A51-3359-A835-BA7C1C43B3D4}"/>
            </a:ext>
          </a:extLst>
        </p:cNvPr>
        <p:cNvGrpSpPr/>
        <p:nvPr/>
      </p:nvGrpSpPr>
      <p:grpSpPr>
        <a:xfrm>
          <a:off x="0" y="0"/>
          <a:ext cx="0" cy="0"/>
          <a:chOff x="0" y="0"/>
          <a:chExt cx="0" cy="0"/>
        </a:xfrm>
      </p:grpSpPr>
      <p:sp>
        <p:nvSpPr>
          <p:cNvPr id="13319" name="Rectangle 13318">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3B33B8F-2C85-8603-DA59-5B65F69AA0D4}"/>
              </a:ext>
            </a:extLst>
          </p:cNvPr>
          <p:cNvSpPr>
            <a:spLocks noGrp="1"/>
          </p:cNvSpPr>
          <p:nvPr>
            <p:ph type="title"/>
          </p:nvPr>
        </p:nvSpPr>
        <p:spPr>
          <a:xfrm>
            <a:off x="614679" y="548640"/>
            <a:ext cx="4779572" cy="2067705"/>
          </a:xfrm>
        </p:spPr>
        <p:txBody>
          <a:bodyPr anchor="t">
            <a:normAutofit/>
          </a:bodyPr>
          <a:lstStyle/>
          <a:p>
            <a:r>
              <a:rPr lang="tr-TR" b="1" i="0" u="none" strike="noStrike" baseline="0">
                <a:latin typeface="MyriadPro-Bold"/>
              </a:rPr>
              <a:t>SOSYAL SORUMLULUK KAVRAMI VE TEMEL</a:t>
            </a:r>
            <a:br>
              <a:rPr lang="tr-TR" b="1" i="0" u="none" strike="noStrike" baseline="0">
                <a:latin typeface="MyriadPro-Bold"/>
              </a:rPr>
            </a:br>
            <a:r>
              <a:rPr lang="tr-TR" b="1" i="0" u="none" strike="noStrike" baseline="0">
                <a:latin typeface="MyriadPro-Bold"/>
              </a:rPr>
              <a:t>YAKLAŞIMLAR</a:t>
            </a:r>
            <a:endParaRPr lang="tr-TR"/>
          </a:p>
        </p:txBody>
      </p:sp>
      <p:sp>
        <p:nvSpPr>
          <p:cNvPr id="3" name="İçerik Yer Tutucusu 2">
            <a:extLst>
              <a:ext uri="{FF2B5EF4-FFF2-40B4-BE49-F238E27FC236}">
                <a16:creationId xmlns:a16="http://schemas.microsoft.com/office/drawing/2014/main" id="{3AD57AFD-BD89-EE73-EE6A-FEBBFE160BAB}"/>
              </a:ext>
            </a:extLst>
          </p:cNvPr>
          <p:cNvSpPr>
            <a:spLocks noGrp="1"/>
          </p:cNvSpPr>
          <p:nvPr>
            <p:ph idx="1"/>
          </p:nvPr>
        </p:nvSpPr>
        <p:spPr>
          <a:xfrm>
            <a:off x="6030551" y="548638"/>
            <a:ext cx="5546770" cy="5760721"/>
          </a:xfrm>
        </p:spPr>
        <p:txBody>
          <a:bodyPr anchor="t">
            <a:normAutofit/>
          </a:bodyPr>
          <a:lstStyle/>
          <a:p>
            <a:pPr>
              <a:lnSpc>
                <a:spcPct val="110000"/>
              </a:lnSpc>
            </a:pPr>
            <a:r>
              <a:rPr lang="tr-TR" sz="1800" b="0" i="0" u="none" strike="noStrike" baseline="0">
                <a:latin typeface="MinionPro-Regular"/>
              </a:rPr>
              <a:t>Günümüzde bu iki uç görüşten, ikincisi ağırlıklı olarak kabul görmektedir.</a:t>
            </a:r>
          </a:p>
          <a:p>
            <a:pPr>
              <a:lnSpc>
                <a:spcPct val="110000"/>
              </a:lnSpc>
            </a:pPr>
            <a:r>
              <a:rPr lang="tr-TR" sz="1800" b="0" i="0" u="none" strike="noStrike" baseline="0">
                <a:latin typeface="MinionPro-Regular"/>
              </a:rPr>
              <a:t>Çünkü işletmelerin aşırı büyümesi, büyük çaplı kaynak kullanımı, toplumun sağlığı üzerinde oynadıkları rol, doğal çevreye etkileri gibi konular açısından ele alındığında sorumluluklarının sadece hissedarlara ya da ortaklara karşı olması beklenemez. Ayrıca tüketici ve yatırımcı tercihleri sosyal sorumlu kurumlara, markalara ya da ürünlere kaymaktadır. Yüksek nitelikli işgücünün, çalışacakları işletme tercihlerinde şirketin bu konudaki kurumsal itibarı önemli bir faktör olarak karşımıza çıkmaktadır. Topluma olumlu katkıda bulunmak, işletmeler açısından daha güvenli, daha eğitimli, daha adil bir toplum için uzun dönemli bir yatırım olarak da değerlendirilebilir. Böylece gelişmiş ve sağlıklı rekabet koşullarının yaratılmasından işletmeler de yarar sağlayacaklardır.</a:t>
            </a:r>
            <a:endParaRPr lang="tr-TR" sz="1800"/>
          </a:p>
        </p:txBody>
      </p:sp>
      <p:pic>
        <p:nvPicPr>
          <p:cNvPr id="13314" name="Picture 2" descr="Social Responsibilities of a Business and its Need - GeeksforGeeks">
            <a:extLst>
              <a:ext uri="{FF2B5EF4-FFF2-40B4-BE49-F238E27FC236}">
                <a16:creationId xmlns:a16="http://schemas.microsoft.com/office/drawing/2014/main" id="{4683D40F-3060-E7EA-DE0C-F7E05F23C10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590951"/>
            <a:ext cx="4673754" cy="2718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711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53F276-FE8E-DC2D-B35F-45E5B6931FC3}"/>
            </a:ext>
          </a:extLst>
        </p:cNvPr>
        <p:cNvGrpSpPr/>
        <p:nvPr/>
      </p:nvGrpSpPr>
      <p:grpSpPr>
        <a:xfrm>
          <a:off x="0" y="0"/>
          <a:ext cx="0" cy="0"/>
          <a:chOff x="0" y="0"/>
          <a:chExt cx="0" cy="0"/>
        </a:xfrm>
      </p:grpSpPr>
      <p:sp>
        <p:nvSpPr>
          <p:cNvPr id="14343" name="Rectangle 14342">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15DCBF4A-C4AA-D97E-BFF3-0ED50DB6CD1D}"/>
              </a:ext>
            </a:extLst>
          </p:cNvPr>
          <p:cNvSpPr>
            <a:spLocks noGrp="1"/>
          </p:cNvSpPr>
          <p:nvPr>
            <p:ph type="title"/>
          </p:nvPr>
        </p:nvSpPr>
        <p:spPr>
          <a:xfrm>
            <a:off x="5906802" y="603504"/>
            <a:ext cx="5577902" cy="1527048"/>
          </a:xfrm>
        </p:spPr>
        <p:txBody>
          <a:bodyPr anchor="b">
            <a:normAutofit/>
          </a:bodyPr>
          <a:lstStyle/>
          <a:p>
            <a:r>
              <a:rPr lang="tr-TR" sz="3300" b="1" i="0" u="none" strike="noStrike" baseline="0">
                <a:latin typeface="MyriadPro-Bold"/>
              </a:rPr>
              <a:t>SOSYAL SORUMLULUK KAVRAMI VE TEMEL</a:t>
            </a:r>
            <a:br>
              <a:rPr lang="tr-TR" sz="3300" b="1" i="0" u="none" strike="noStrike" baseline="0">
                <a:latin typeface="MyriadPro-Bold"/>
              </a:rPr>
            </a:br>
            <a:r>
              <a:rPr lang="tr-TR" sz="3300" b="1" i="0" u="none" strike="noStrike" baseline="0">
                <a:latin typeface="MyriadPro-Bold"/>
              </a:rPr>
              <a:t>YAKLAŞIMLAR</a:t>
            </a:r>
            <a:endParaRPr lang="tr-TR" sz="3300"/>
          </a:p>
        </p:txBody>
      </p:sp>
      <p:sp>
        <p:nvSpPr>
          <p:cNvPr id="3" name="İçerik Yer Tutucusu 2">
            <a:extLst>
              <a:ext uri="{FF2B5EF4-FFF2-40B4-BE49-F238E27FC236}">
                <a16:creationId xmlns:a16="http://schemas.microsoft.com/office/drawing/2014/main" id="{0CCD965D-9688-677B-8995-6C81699A3509}"/>
              </a:ext>
            </a:extLst>
          </p:cNvPr>
          <p:cNvSpPr>
            <a:spLocks noGrp="1"/>
          </p:cNvSpPr>
          <p:nvPr>
            <p:ph idx="1"/>
          </p:nvPr>
        </p:nvSpPr>
        <p:spPr>
          <a:xfrm>
            <a:off x="5906802" y="2212848"/>
            <a:ext cx="5577902" cy="4096512"/>
          </a:xfrm>
        </p:spPr>
        <p:txBody>
          <a:bodyPr>
            <a:normAutofit/>
          </a:bodyPr>
          <a:lstStyle/>
          <a:p>
            <a:pPr>
              <a:lnSpc>
                <a:spcPct val="110000"/>
              </a:lnSpc>
            </a:pPr>
            <a:r>
              <a:rPr lang="tr-TR" sz="1500" b="1" i="0" u="none" strike="noStrike" baseline="0">
                <a:latin typeface="MinionPro-Bold"/>
              </a:rPr>
              <a:t>Sosyal Sorumluluk ve Etik: </a:t>
            </a:r>
            <a:r>
              <a:rPr lang="tr-TR" sz="1500" b="0" i="0" u="none" strike="noStrike" baseline="0">
                <a:latin typeface="MinionPro-Regular"/>
              </a:rPr>
              <a:t>Her ikisinin farklı anlamları olmasına rağmen etik ve sosyal sorumluluk kavramı birbiri yerine kullanılabilmektedir. Sosyal sorumluluk, organizasyonun paydaşları üzerindeki olumsuz etkisini minimize, olumlu etkisini maksimize etme yükümlülüğüdür. Pek çok işletme kendisi ile çeşitli paydaşları arasında uygun ilişkiler, yükümlülükler ve görev belirleme çabası içindedir.</a:t>
            </a:r>
          </a:p>
          <a:p>
            <a:pPr>
              <a:lnSpc>
                <a:spcPct val="110000"/>
              </a:lnSpc>
            </a:pPr>
            <a:r>
              <a:rPr lang="tr-TR" sz="1500" b="0" i="0" u="none" strike="noStrike" baseline="0">
                <a:latin typeface="MinionPro-Regular"/>
              </a:rPr>
              <a:t>İş etiği karar almaya rehberlik eden, dikkatli bir şekilde oluşturulmuş kuralları veya keşfedilmiş iş yapma biçimlerini içerirken sosyal sorumluluk toplumla yapılmış bir sözleşme olarak görülebilir. Bu sözleşmeye göre toplum işletmelerden sorumlu ve etik davranışlar bekler. Sosyal sorumlu davranış, etik kavramına dayanan ve toplumun beklentilerini karşılayan eyleme dönüşmüş davranış biçimidir.</a:t>
            </a:r>
            <a:endParaRPr lang="tr-TR" sz="1500"/>
          </a:p>
        </p:txBody>
      </p:sp>
      <p:pic>
        <p:nvPicPr>
          <p:cNvPr id="14338" name="Picture 2" descr="Corporate Social Responsibility and Environmental, Social, and Governance -  A Simple Guide | TheGivingMachine">
            <a:extLst>
              <a:ext uri="{FF2B5EF4-FFF2-40B4-BE49-F238E27FC236}">
                <a16:creationId xmlns:a16="http://schemas.microsoft.com/office/drawing/2014/main" id="{41DF18F1-D41E-C43B-CAF7-F80B08EACFB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2648" y="1658027"/>
            <a:ext cx="4681506" cy="3570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21085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BDA9E68-7995-899A-2AA1-12440B2A1D71}"/>
              </a:ext>
            </a:extLst>
          </p:cNvPr>
          <p:cNvSpPr>
            <a:spLocks noGrp="1"/>
          </p:cNvSpPr>
          <p:nvPr>
            <p:ph type="title"/>
          </p:nvPr>
        </p:nvSpPr>
        <p:spPr>
          <a:xfrm>
            <a:off x="1524000" y="548640"/>
            <a:ext cx="9160475" cy="1132258"/>
          </a:xfrm>
        </p:spPr>
        <p:txBody>
          <a:bodyPr anchor="ctr">
            <a:normAutofit/>
          </a:bodyPr>
          <a:lstStyle/>
          <a:p>
            <a:pPr algn="ctr"/>
            <a:r>
              <a:rPr lang="tr-TR" b="1" i="0" u="none" strike="noStrike" baseline="0">
                <a:latin typeface="MyriadPro-Bold"/>
              </a:rPr>
              <a:t>SOSYAL SORUMLULUK DÜZEYLERİ</a:t>
            </a:r>
            <a:endParaRPr lang="tr-TR"/>
          </a:p>
        </p:txBody>
      </p:sp>
      <p:graphicFrame>
        <p:nvGraphicFramePr>
          <p:cNvPr id="5" name="İçerik Yer Tutucusu 2">
            <a:extLst>
              <a:ext uri="{FF2B5EF4-FFF2-40B4-BE49-F238E27FC236}">
                <a16:creationId xmlns:a16="http://schemas.microsoft.com/office/drawing/2014/main" id="{5A7BB148-E41B-091E-8EF9-E4ACE2BA2CC4}"/>
              </a:ext>
            </a:extLst>
          </p:cNvPr>
          <p:cNvGraphicFramePr>
            <a:graphicFrameLocks noGrp="1"/>
          </p:cNvGraphicFramePr>
          <p:nvPr>
            <p:ph idx="1"/>
            <p:extLst>
              <p:ext uri="{D42A27DB-BD31-4B8C-83A1-F6EECF244321}">
                <p14:modId xmlns:p14="http://schemas.microsoft.com/office/powerpoint/2010/main" val="2490899247"/>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73640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6DCF36-6DEE-2E0A-5AC0-B297D043B4C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C20910D2-A718-4322-8A04-17F51ECE5EB5}"/>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i="0" u="none" strike="noStrike" baseline="0"/>
              <a:t>SOSYAL SORUMLULUK DÜZEYLERİ</a:t>
            </a:r>
            <a:endParaRPr lang="en-US"/>
          </a:p>
        </p:txBody>
      </p:sp>
      <p:pic>
        <p:nvPicPr>
          <p:cNvPr id="5" name="İçerik Yer Tutucusu 4" descr="metin, ekran görüntüsü, diyagram, çizgi içeren bir resim&#10;&#10;Yapay zeka tarafından oluşturulan içerik yanlış olabilir.">
            <a:extLst>
              <a:ext uri="{FF2B5EF4-FFF2-40B4-BE49-F238E27FC236}">
                <a16:creationId xmlns:a16="http://schemas.microsoft.com/office/drawing/2014/main" id="{D1CC1DE7-7DE6-3035-2C34-CCFE95EE180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85473" y="1782115"/>
            <a:ext cx="8021053" cy="4572000"/>
          </a:xfrm>
          <a:prstGeom prst="rect">
            <a:avLst/>
          </a:prstGeom>
        </p:spPr>
      </p:pic>
    </p:spTree>
    <p:extLst>
      <p:ext uri="{BB962C8B-B14F-4D97-AF65-F5344CB8AC3E}">
        <p14:creationId xmlns:p14="http://schemas.microsoft.com/office/powerpoint/2010/main" val="18173090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B721B4-EB99-9881-BCAB-5E96A6A12EC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6A65997-EC4D-4E38-D68E-5A8D029E4712}"/>
              </a:ext>
            </a:extLst>
          </p:cNvPr>
          <p:cNvSpPr>
            <a:spLocks noGrp="1"/>
          </p:cNvSpPr>
          <p:nvPr>
            <p:ph type="title"/>
          </p:nvPr>
        </p:nvSpPr>
        <p:spPr>
          <a:xfrm>
            <a:off x="612648" y="603504"/>
            <a:ext cx="11019513" cy="1527048"/>
          </a:xfrm>
        </p:spPr>
        <p:txBody>
          <a:bodyPr anchor="b">
            <a:normAutofit/>
          </a:bodyPr>
          <a:lstStyle/>
          <a:p>
            <a:r>
              <a:rPr lang="tr-TR" b="1" i="0" u="none" strike="noStrike" baseline="0">
                <a:latin typeface="MyriadPro-Bold"/>
              </a:rPr>
              <a:t>SOSYAL SORUMLULUK DÜZEYLERİ</a:t>
            </a:r>
            <a:endParaRPr lang="tr-TR"/>
          </a:p>
        </p:txBody>
      </p:sp>
      <p:sp>
        <p:nvSpPr>
          <p:cNvPr id="4" name="İçerik Yer Tutucusu 3">
            <a:extLst>
              <a:ext uri="{FF2B5EF4-FFF2-40B4-BE49-F238E27FC236}">
                <a16:creationId xmlns:a16="http://schemas.microsoft.com/office/drawing/2014/main" id="{3A1B46E9-0122-40D4-F31F-FF83E35FFCEC}"/>
              </a:ext>
            </a:extLst>
          </p:cNvPr>
          <p:cNvSpPr>
            <a:spLocks noGrp="1"/>
          </p:cNvSpPr>
          <p:nvPr>
            <p:ph idx="1"/>
          </p:nvPr>
        </p:nvSpPr>
        <p:spPr>
          <a:xfrm>
            <a:off x="612648" y="2212848"/>
            <a:ext cx="11019514" cy="4096512"/>
          </a:xfrm>
        </p:spPr>
        <p:txBody>
          <a:bodyPr>
            <a:normAutofit/>
          </a:bodyPr>
          <a:lstStyle/>
          <a:p>
            <a:pPr>
              <a:lnSpc>
                <a:spcPct val="110000"/>
              </a:lnSpc>
            </a:pPr>
            <a:r>
              <a:rPr lang="tr-TR" sz="1600" dirty="0"/>
              <a:t>Organizasyonların sorumlulukları bağlamında iki önemli konudan da söz etmek gerekir. Bunlardan biri makro amaçlı “sürdürülebilirlik”; diğeri de bir yönetsel yaklaşım ve stratejilerin dayanağı bağlamında “paydaş </a:t>
            </a:r>
            <a:r>
              <a:rPr lang="tr-TR" sz="1600" dirty="0" err="1"/>
              <a:t>kuramı”dır</a:t>
            </a:r>
            <a:r>
              <a:rPr lang="tr-TR" sz="1600" dirty="0"/>
              <a:t>. Sürdürülebilirlik: Küreselleşmenin hızlanmasıyla birlikte, toplum içinde, şirketlerin çeşitli etkilerini düzenlemede yeni yollar geliştirmeye yönelik büyük bir ihtiyaç ortaya çıkmıştır. Zira bu etkilerin bazıları geniş kapsamlı ve derin niteliktedir.</a:t>
            </a:r>
          </a:p>
          <a:p>
            <a:pPr>
              <a:lnSpc>
                <a:spcPct val="110000"/>
              </a:lnSpc>
            </a:pPr>
            <a:r>
              <a:rPr lang="tr-TR" sz="1600" dirty="0"/>
              <a:t>Örneğin iklim değişikliği üzerinde etkili olan çevre kirliliği; “kullan at” kültürünün baskınlığı ve aşırı ürün paketleme sonucu ortaya çıkan atıkların yok edilmesi ya da yönetilmesi problemi; şirketlerin küçülmesi ya da kapanmasının yerel halk ve bireyler üzerindeki yıkıcı etkisi; yerel kültürlerin erozyonu gibi. Bu tür problemler işletmelerin amaçları ve sonuçları konusunda yeniden düşünmenin gerekliliğini görünür hâle getirmiştir. 1992’de Rio Dünya Zirvesi’nin ardından sadece işletmelerin eylemlerinden değil, daha genelde endüstrilerin ve sosyal kalkınmanın değerlendirilmesi için yeni bir çerçeve, yeni bir kavram olan “</a:t>
            </a:r>
            <a:r>
              <a:rPr lang="tr-TR" sz="1600" dirty="0" err="1"/>
              <a:t>sürdürülebilirlik”ten</a:t>
            </a:r>
            <a:r>
              <a:rPr lang="tr-TR" sz="1600" dirty="0"/>
              <a:t> çokça söz edilmeye başlanmıştır. İş etiği tartışmalarında ve şirketlerin, hükümetlerin, danışmanların, baskı gruplarının söylemlerinde yaygın olarak kullanılmaya başlanan kavram, bazı büyük ölçekli şirketlerin kamuya yönelik raporlarının da başlığına yerleşmiştir.</a:t>
            </a:r>
          </a:p>
        </p:txBody>
      </p:sp>
    </p:spTree>
    <p:extLst>
      <p:ext uri="{BB962C8B-B14F-4D97-AF65-F5344CB8AC3E}">
        <p14:creationId xmlns:p14="http://schemas.microsoft.com/office/powerpoint/2010/main" val="765164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AF9840-4E13-8290-EBDF-2F8CC308C23D}"/>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871CB50-CE66-A6C8-3DF1-5AD91BBA3731}"/>
              </a:ext>
            </a:extLst>
          </p:cNvPr>
          <p:cNvSpPr>
            <a:spLocks noGrp="1"/>
          </p:cNvSpPr>
          <p:nvPr>
            <p:ph type="title"/>
          </p:nvPr>
        </p:nvSpPr>
        <p:spPr>
          <a:xfrm>
            <a:off x="614679" y="548640"/>
            <a:ext cx="4779572" cy="2067705"/>
          </a:xfrm>
        </p:spPr>
        <p:txBody>
          <a:bodyPr anchor="t">
            <a:normAutofit/>
          </a:bodyPr>
          <a:lstStyle/>
          <a:p>
            <a:r>
              <a:rPr lang="tr-TR" b="1" i="0" u="none" strike="noStrike" baseline="0">
                <a:latin typeface="MyriadPro-Bold"/>
              </a:rPr>
              <a:t>SOSYAL SORUMLULUK DÜZEYLERİ</a:t>
            </a:r>
            <a:endParaRPr lang="tr-TR"/>
          </a:p>
        </p:txBody>
      </p:sp>
      <p:sp>
        <p:nvSpPr>
          <p:cNvPr id="4" name="İçerik Yer Tutucusu 3">
            <a:extLst>
              <a:ext uri="{FF2B5EF4-FFF2-40B4-BE49-F238E27FC236}">
                <a16:creationId xmlns:a16="http://schemas.microsoft.com/office/drawing/2014/main" id="{D9DC68D8-81FD-ACB7-EA90-087EDC38E38E}"/>
              </a:ext>
            </a:extLst>
          </p:cNvPr>
          <p:cNvSpPr>
            <a:spLocks noGrp="1"/>
          </p:cNvSpPr>
          <p:nvPr>
            <p:ph idx="1"/>
          </p:nvPr>
        </p:nvSpPr>
        <p:spPr>
          <a:xfrm>
            <a:off x="6030551" y="548638"/>
            <a:ext cx="5546770" cy="5760721"/>
          </a:xfrm>
        </p:spPr>
        <p:txBody>
          <a:bodyPr anchor="t">
            <a:normAutofit/>
          </a:bodyPr>
          <a:lstStyle/>
          <a:p>
            <a:pPr>
              <a:lnSpc>
                <a:spcPct val="110000"/>
              </a:lnSpc>
            </a:pPr>
            <a:r>
              <a:rPr lang="tr-TR" sz="1500" b="0" i="0" u="none" strike="noStrike" baseline="0">
                <a:latin typeface="MinionPro-Regular"/>
              </a:rPr>
              <a:t>Sürdürülebilir Kalkınma (Dünya Çevre ve Kalkınma Komisyonu, 1987), genel olarak “gelecek nesillerin kendi ihtiyaçlarını karşılama yeteneğine zarar vermeksizin, bugünkü nesillerin ihtiyaçlarını karşılayacak kalkınma” olarak tanımlanır. Sürdürülebilir Kalkınma ile bağlantılı bir kavram olarak sürdürülebilirlik, çevresel, ekonomik ve sosyal açıdan tüm sistemin uzun dönemli korunması anla</a:t>
            </a:r>
            <a:r>
              <a:rPr lang="tr-TR" sz="1500" b="1" i="1" u="none" strike="noStrike" baseline="0">
                <a:latin typeface="MinionPro-BoldIt"/>
              </a:rPr>
              <a:t>Şe</a:t>
            </a:r>
            <a:r>
              <a:rPr lang="tr-TR" sz="1500" b="0" i="0" u="none" strike="noStrike" baseline="0">
                <a:latin typeface="MinionPro-Regular"/>
              </a:rPr>
              <a:t>mına gelir. Sürdürülebilir kalkınma hedefi, idealist ve tartışmalı bir bakış açısı ortaya koymasına rağmen, ulaşılması </a:t>
            </a:r>
            <a:r>
              <a:rPr lang="nb-NO" sz="1500" b="0" i="0" u="none" strike="noStrike" baseline="0">
                <a:latin typeface="MinionPro-Regular"/>
              </a:rPr>
              <a:t>gereken spesifik bir amaca da</a:t>
            </a:r>
            <a:r>
              <a:rPr lang="tr-TR" sz="1500" b="0" i="0" u="none" strike="noStrike" baseline="0">
                <a:latin typeface="MinionPro-Regular"/>
              </a:rPr>
              <a:t> işaret etmektedir. İşletmelerin amacı ve sorumluluğu konusunda bir çerçeve önerisi olan sürdürülebilirlik, daha net olarak “üçlü sorumluluk – triple bottom line” olarak ifade edilmiştir.</a:t>
            </a:r>
          </a:p>
          <a:p>
            <a:pPr>
              <a:lnSpc>
                <a:spcPct val="110000"/>
              </a:lnSpc>
            </a:pPr>
            <a:r>
              <a:rPr lang="en-US" sz="1500" b="0" i="0" u="none" strike="noStrike" baseline="0">
                <a:latin typeface="MinionPro-Regular"/>
              </a:rPr>
              <a:t>John Elkington’un (1998) isim babası</a:t>
            </a:r>
            <a:r>
              <a:rPr lang="tr-TR" sz="1500" b="0" i="0" u="none" strike="noStrike" baseline="0">
                <a:latin typeface="MinionPro-Regular"/>
              </a:rPr>
              <a:t> ve hararetli savunucusu olduğu bu anlayış, işletmelerin bir tek hedefi olduğu fikrini reddeder. İşletmelerin bir amaç setine sahip olduklarını ve amaçlarının ekonomik değer, sosyal değer ve çevresel değer üretmek olduğunu savunur. Bu bağlamda sürdürülebilirlik, iş etiği için potansiyel, yeni bir hedef olarak görülmelidir. Burada bu üçlü sorumluluğun finansal sorumlulukları dışlamadığını da belirtmek gerekir. Şekil 3.3.’de yer alan üçlü sorumluluk, işletmelerden beklentilerin genişlediğini açıkça ortaya koymaktadır.</a:t>
            </a:r>
            <a:r>
              <a:rPr lang="tr-TR" sz="1500" b="1" i="1" u="none" strike="noStrike" baseline="0">
                <a:latin typeface="MinionPro-BoldIt"/>
              </a:rPr>
              <a:t>kil</a:t>
            </a:r>
            <a:endParaRPr lang="tr-TR" sz="1500"/>
          </a:p>
        </p:txBody>
      </p:sp>
      <p:pic>
        <p:nvPicPr>
          <p:cNvPr id="5" name="Resim 4" descr="metin, üçgen, çizgi, yazı tipi içeren bir resim&#10;&#10;Yapay zeka tarafından oluşturulan içerik yanlış olabilir.">
            <a:extLst>
              <a:ext uri="{FF2B5EF4-FFF2-40B4-BE49-F238E27FC236}">
                <a16:creationId xmlns:a16="http://schemas.microsoft.com/office/drawing/2014/main" id="{33C3858D-8345-BB9A-7945-BA354969F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1520" y="3420127"/>
            <a:ext cx="4673754" cy="2889230"/>
          </a:xfrm>
          <a:prstGeom prst="rect">
            <a:avLst/>
          </a:prstGeom>
        </p:spPr>
      </p:pic>
    </p:spTree>
    <p:extLst>
      <p:ext uri="{BB962C8B-B14F-4D97-AF65-F5344CB8AC3E}">
        <p14:creationId xmlns:p14="http://schemas.microsoft.com/office/powerpoint/2010/main" val="10813470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7" name="Rectangle 15366">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2" name="Picture 2" descr="Corporate Social Responsibility: A must for every business - Accario">
            <a:extLst>
              <a:ext uri="{FF2B5EF4-FFF2-40B4-BE49-F238E27FC236}">
                <a16:creationId xmlns:a16="http://schemas.microsoft.com/office/drawing/2014/main" id="{EF4ED32E-F3D2-84E3-D1F6-6B7D36DF8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295" r="3" b="3"/>
          <a:stretch/>
        </p:blipFill>
        <p:spPr bwMode="auto">
          <a:xfrm>
            <a:off x="713615" y="681318"/>
            <a:ext cx="4680637" cy="3083858"/>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5B120318-8DB1-7616-7FAF-DC152553A195}"/>
              </a:ext>
            </a:extLst>
          </p:cNvPr>
          <p:cNvSpPr>
            <a:spLocks noGrp="1"/>
          </p:cNvSpPr>
          <p:nvPr>
            <p:ph type="title"/>
          </p:nvPr>
        </p:nvSpPr>
        <p:spPr>
          <a:xfrm>
            <a:off x="612646" y="4012142"/>
            <a:ext cx="4781605" cy="2332799"/>
          </a:xfrm>
        </p:spPr>
        <p:txBody>
          <a:bodyPr anchor="t">
            <a:normAutofit/>
          </a:bodyPr>
          <a:lstStyle/>
          <a:p>
            <a:r>
              <a:rPr lang="tr-TR" b="1" i="0" u="none" strike="noStrike" baseline="0">
                <a:latin typeface="MyriadPro-Bold"/>
              </a:rPr>
              <a:t>Sosyal Sorumluluk ve Paydaş Yaklaşımı İlişkisi</a:t>
            </a:r>
            <a:endParaRPr lang="tr-TR"/>
          </a:p>
        </p:txBody>
      </p:sp>
      <p:sp>
        <p:nvSpPr>
          <p:cNvPr id="3" name="İçerik Yer Tutucusu 2">
            <a:extLst>
              <a:ext uri="{FF2B5EF4-FFF2-40B4-BE49-F238E27FC236}">
                <a16:creationId xmlns:a16="http://schemas.microsoft.com/office/drawing/2014/main" id="{55B585F3-9DB0-EF01-49DD-8E2F5EA25B20}"/>
              </a:ext>
            </a:extLst>
          </p:cNvPr>
          <p:cNvSpPr>
            <a:spLocks noGrp="1"/>
          </p:cNvSpPr>
          <p:nvPr>
            <p:ph idx="1"/>
          </p:nvPr>
        </p:nvSpPr>
        <p:spPr>
          <a:xfrm>
            <a:off x="6030551" y="548639"/>
            <a:ext cx="5548803" cy="5796302"/>
          </a:xfrm>
        </p:spPr>
        <p:txBody>
          <a:bodyPr>
            <a:normAutofit fontScale="92500" lnSpcReduction="10000"/>
          </a:bodyPr>
          <a:lstStyle/>
          <a:p>
            <a:pPr>
              <a:lnSpc>
                <a:spcPct val="110000"/>
              </a:lnSpc>
            </a:pPr>
            <a:r>
              <a:rPr lang="tr-TR" b="0" i="0" u="none" strike="noStrike" baseline="0" dirty="0">
                <a:latin typeface="MinionPro-Regular"/>
              </a:rPr>
              <a:t>İşletmelerin sorumlulukları konusunda yukarıda bahsettiğimiz dört basamaklı model (ekonomik, yasal, etik ve hayırseverlik) ve üçlü sorumluluktan (ekonomik, sosyal, çevresel) farklı olan paydaş yaklaşımı 1980’lerde Edward </a:t>
            </a:r>
            <a:r>
              <a:rPr lang="tr-TR" b="0" i="0" u="none" strike="noStrike" baseline="0" dirty="0" err="1">
                <a:latin typeface="MinionPro-Regular"/>
              </a:rPr>
              <a:t>Freeman</a:t>
            </a:r>
            <a:r>
              <a:rPr lang="tr-TR" b="0" i="0" u="none" strike="noStrike" baseline="0" dirty="0">
                <a:latin typeface="MinionPro-Regular"/>
              </a:rPr>
              <a:t> tarafından geliştirilmiştir. Kavram iş dünyasında ilk olarak 1960’larda kullanılmasına rağmen, popüler ve etkili olması daha sonraları olmuştur. Sosyal sorumluluk yaklaşımı işletmelerin sorumlulukları üzerine odaklanırken paydaş yaklaşımı, işletmelerin sorumlu olduğu çeşitli gruplara odaklanır. Temel iddiası, işletmelerin sorumluluğu konusundaki sosyoekonomik görüşle örtüşür. Paydaş yaklaşımı işletmelerin sadece hissedarların ya da sahiplerin çıkarları doğrultusunda değil, aynı zamanda işletme içinde ve etrafında bulunan önemli birçok grup veya paydaşların göz önüne alınarak yönetilmesi gerektiğini savunur. </a:t>
            </a:r>
            <a:endParaRPr lang="tr-TR" dirty="0"/>
          </a:p>
        </p:txBody>
      </p:sp>
    </p:spTree>
    <p:extLst>
      <p:ext uri="{BB962C8B-B14F-4D97-AF65-F5344CB8AC3E}">
        <p14:creationId xmlns:p14="http://schemas.microsoft.com/office/powerpoint/2010/main" val="27141501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60B894-5179-B863-E1DD-591C0F6123BB}"/>
            </a:ext>
          </a:extLst>
        </p:cNvPr>
        <p:cNvGrpSpPr/>
        <p:nvPr/>
      </p:nvGrpSpPr>
      <p:grpSpPr>
        <a:xfrm>
          <a:off x="0" y="0"/>
          <a:ext cx="0" cy="0"/>
          <a:chOff x="0" y="0"/>
          <a:chExt cx="0" cy="0"/>
        </a:xfrm>
      </p:grpSpPr>
      <p:sp useBgFill="1">
        <p:nvSpPr>
          <p:cNvPr id="16393" name="Rectangle 16390">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16386" name="Picture 2" descr="Topics Corporate Social Responsibility">
            <a:extLst>
              <a:ext uri="{FF2B5EF4-FFF2-40B4-BE49-F238E27FC236}">
                <a16:creationId xmlns:a16="http://schemas.microsoft.com/office/drawing/2014/main" id="{BED30BA2-DF5A-B2A9-38A1-F6912EF39C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340" r="11901" b="2"/>
          <a:stretch/>
        </p:blipFill>
        <p:spPr bwMode="auto">
          <a:xfrm>
            <a:off x="731521" y="2011679"/>
            <a:ext cx="4684352" cy="4297680"/>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2804A6ED-1DAA-AE60-A4C7-EC76BB281F9D}"/>
              </a:ext>
            </a:extLst>
          </p:cNvPr>
          <p:cNvSpPr>
            <a:spLocks noGrp="1"/>
          </p:cNvSpPr>
          <p:nvPr>
            <p:ph type="title"/>
          </p:nvPr>
        </p:nvSpPr>
        <p:spPr>
          <a:xfrm>
            <a:off x="614679" y="548641"/>
            <a:ext cx="4779572" cy="1298448"/>
          </a:xfrm>
        </p:spPr>
        <p:txBody>
          <a:bodyPr anchor="t">
            <a:normAutofit/>
          </a:bodyPr>
          <a:lstStyle/>
          <a:p>
            <a:r>
              <a:rPr lang="tr-TR" b="1" i="0" u="none" strike="noStrike" baseline="0">
                <a:latin typeface="MyriadPro-Bold"/>
              </a:rPr>
              <a:t>Sosyal Sorumluluk ve Paydaş Yaklaşımı İlişkisi</a:t>
            </a:r>
            <a:endParaRPr lang="tr-TR"/>
          </a:p>
        </p:txBody>
      </p:sp>
      <p:sp>
        <p:nvSpPr>
          <p:cNvPr id="3" name="İçerik Yer Tutucusu 2">
            <a:extLst>
              <a:ext uri="{FF2B5EF4-FFF2-40B4-BE49-F238E27FC236}">
                <a16:creationId xmlns:a16="http://schemas.microsoft.com/office/drawing/2014/main" id="{196B24AF-6AAB-7986-493C-EBBC97935398}"/>
              </a:ext>
            </a:extLst>
          </p:cNvPr>
          <p:cNvSpPr>
            <a:spLocks noGrp="1"/>
          </p:cNvSpPr>
          <p:nvPr>
            <p:ph idx="1"/>
          </p:nvPr>
        </p:nvSpPr>
        <p:spPr>
          <a:xfrm>
            <a:off x="6030551" y="548638"/>
            <a:ext cx="5546770" cy="5760721"/>
          </a:xfrm>
        </p:spPr>
        <p:txBody>
          <a:bodyPr anchor="t">
            <a:normAutofit/>
          </a:bodyPr>
          <a:lstStyle/>
          <a:p>
            <a:pPr>
              <a:lnSpc>
                <a:spcPct val="110000"/>
              </a:lnSpc>
            </a:pPr>
            <a:r>
              <a:rPr lang="tr-TR" sz="1800" b="0" i="0" u="none" strike="noStrike" baseline="0" dirty="0">
                <a:latin typeface="MinionPro-Regular"/>
              </a:rPr>
              <a:t>Paydaşların kimler olduğu işletmeden işletmeye değişebileceği gibi; aynı işletmenin farklı durumları, görevleri ya da projeleri için de değişebilir. Bir sonraki </a:t>
            </a:r>
            <a:r>
              <a:rPr lang="tr-TR" sz="1800" b="0" i="0" u="none" strike="noStrike" baseline="0" dirty="0" err="1">
                <a:latin typeface="MinionPro-Regular"/>
              </a:rPr>
              <a:t>slyatta</a:t>
            </a:r>
            <a:r>
              <a:rPr lang="tr-TR" sz="1800" b="0" i="0" u="none" strike="noStrike" baseline="0" dirty="0">
                <a:latin typeface="MinionPro-Regular"/>
              </a:rPr>
              <a:t> yer alan Şekil 3.4., bir işletmenin geleneksel modele ve paydaş yaklaşımına göre paydaşlarla olan ilişkilerini temsil etmektedir. Burada paydaş yaklaşımında ilişkilerin iki yönlü olduğuna dikkat edilmelidir. Birinci modelde işletme sahipleri, işletmenin faaliyetlerinde çıkarları gözetilecek baskın gruptur. İşletmeden işletmeye değişmekle birlikte bir üretim işletmesi için devlet, işletme sahipleri, tedarikçiler, çalışanlar, müşteriler, yerel toplum paydaşlar grubu içinde sıralanabilir. Özel ilgi grupları, kitlesel medya, ticari birlikler, rakipler de paydaşlar arasında yer alabilir.</a:t>
            </a:r>
          </a:p>
          <a:p>
            <a:pPr>
              <a:lnSpc>
                <a:spcPct val="110000"/>
              </a:lnSpc>
            </a:pPr>
            <a:r>
              <a:rPr lang="tr-TR" sz="1800" b="0" i="0" u="none" strike="noStrike" baseline="0" dirty="0">
                <a:latin typeface="MinionPro-Regular"/>
              </a:rPr>
              <a:t>Bu bakış açısı, işletme yönetimlerine yeni bir rol tanımlar</a:t>
            </a:r>
            <a:endParaRPr lang="tr-TR" sz="1800" dirty="0"/>
          </a:p>
        </p:txBody>
      </p:sp>
    </p:spTree>
    <p:extLst>
      <p:ext uri="{BB962C8B-B14F-4D97-AF65-F5344CB8AC3E}">
        <p14:creationId xmlns:p14="http://schemas.microsoft.com/office/powerpoint/2010/main" val="16795004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D9A82B-3779-83B1-A340-14AFD9B1687F}"/>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DA9942F-A18C-9E9D-BF08-9291C54E1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çerik Yer Tutucusu 4" descr="metin, ekran görüntüsü, diyagram, yazı tipi içeren bir resim">
            <a:extLst>
              <a:ext uri="{FF2B5EF4-FFF2-40B4-BE49-F238E27FC236}">
                <a16:creationId xmlns:a16="http://schemas.microsoft.com/office/drawing/2014/main" id="{7A9E8EA7-DAF9-43A4-FC4D-E3E44123D0C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09809" y="1984349"/>
            <a:ext cx="6572382" cy="3220467"/>
          </a:xfrm>
          <a:prstGeom prst="rect">
            <a:avLst/>
          </a:prstGeom>
        </p:spPr>
      </p:pic>
      <p:sp>
        <p:nvSpPr>
          <p:cNvPr id="2" name="Başlık 1">
            <a:extLst>
              <a:ext uri="{FF2B5EF4-FFF2-40B4-BE49-F238E27FC236}">
                <a16:creationId xmlns:a16="http://schemas.microsoft.com/office/drawing/2014/main" id="{942E053F-74CE-0F3B-C0AC-7448D7C36BAF}"/>
              </a:ext>
            </a:extLst>
          </p:cNvPr>
          <p:cNvSpPr>
            <a:spLocks noGrp="1"/>
          </p:cNvSpPr>
          <p:nvPr>
            <p:ph type="title"/>
          </p:nvPr>
        </p:nvSpPr>
        <p:spPr>
          <a:xfrm>
            <a:off x="2809809" y="353681"/>
            <a:ext cx="6572382" cy="974310"/>
          </a:xfrm>
        </p:spPr>
        <p:txBody>
          <a:bodyPr vert="horz" lIns="91440" tIns="45720" rIns="91440" bIns="45720" rtlCol="0" anchor="b">
            <a:normAutofit/>
          </a:bodyPr>
          <a:lstStyle/>
          <a:p>
            <a:pPr algn="ctr"/>
            <a:r>
              <a:rPr lang="en-US" sz="3100" i="0" u="none" strike="noStrike" baseline="0"/>
              <a:t>Sosyal Sorumluluk ve Paydaş Yaklaşımı İlişkisi</a:t>
            </a:r>
            <a:endParaRPr lang="en-US" sz="3100"/>
          </a:p>
        </p:txBody>
      </p:sp>
    </p:spTree>
    <p:extLst>
      <p:ext uri="{BB962C8B-B14F-4D97-AF65-F5344CB8AC3E}">
        <p14:creationId xmlns:p14="http://schemas.microsoft.com/office/powerpoint/2010/main" val="29375586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CFFC76-6697-BFE2-D346-C84549A74AC4}"/>
            </a:ext>
          </a:extLst>
        </p:cNvPr>
        <p:cNvGrpSpPr/>
        <p:nvPr/>
      </p:nvGrpSpPr>
      <p:grpSpPr>
        <a:xfrm>
          <a:off x="0" y="0"/>
          <a:ext cx="0" cy="0"/>
          <a:chOff x="0" y="0"/>
          <a:chExt cx="0" cy="0"/>
        </a:xfrm>
      </p:grpSpPr>
      <p:sp>
        <p:nvSpPr>
          <p:cNvPr id="17415" name="Rectangle 17414">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634A570-FDC3-5963-8C2C-803F047CC302}"/>
              </a:ext>
            </a:extLst>
          </p:cNvPr>
          <p:cNvSpPr>
            <a:spLocks noGrp="1"/>
          </p:cNvSpPr>
          <p:nvPr>
            <p:ph type="title"/>
          </p:nvPr>
        </p:nvSpPr>
        <p:spPr>
          <a:xfrm>
            <a:off x="5906802" y="603504"/>
            <a:ext cx="5577902" cy="1527048"/>
          </a:xfrm>
        </p:spPr>
        <p:txBody>
          <a:bodyPr anchor="b">
            <a:normAutofit/>
          </a:bodyPr>
          <a:lstStyle/>
          <a:p>
            <a:r>
              <a:rPr lang="tr-TR" b="1" i="0" u="none" strike="noStrike" baseline="0">
                <a:latin typeface="MyriadPro-Bold"/>
              </a:rPr>
              <a:t>Sosyal Sorumluluk ve Paydaş Yaklaşımı İlişkisi</a:t>
            </a:r>
            <a:endParaRPr lang="tr-TR"/>
          </a:p>
        </p:txBody>
      </p:sp>
      <p:sp>
        <p:nvSpPr>
          <p:cNvPr id="4" name="İçerik Yer Tutucusu 3">
            <a:extLst>
              <a:ext uri="{FF2B5EF4-FFF2-40B4-BE49-F238E27FC236}">
                <a16:creationId xmlns:a16="http://schemas.microsoft.com/office/drawing/2014/main" id="{DE391F12-400C-57D8-13A8-E775FC0A8839}"/>
              </a:ext>
            </a:extLst>
          </p:cNvPr>
          <p:cNvSpPr>
            <a:spLocks noGrp="1"/>
          </p:cNvSpPr>
          <p:nvPr>
            <p:ph idx="1"/>
          </p:nvPr>
        </p:nvSpPr>
        <p:spPr>
          <a:xfrm>
            <a:off x="5906802" y="2212848"/>
            <a:ext cx="5577902" cy="4096512"/>
          </a:xfrm>
        </p:spPr>
        <p:txBody>
          <a:bodyPr>
            <a:normAutofit/>
          </a:bodyPr>
          <a:lstStyle/>
          <a:p>
            <a:pPr>
              <a:lnSpc>
                <a:spcPct val="110000"/>
              </a:lnSpc>
            </a:pPr>
            <a:r>
              <a:rPr lang="tr-TR" sz="1500" b="0" i="0" u="none" strike="noStrike" baseline="0" dirty="0">
                <a:latin typeface="MinionPro-Regular"/>
              </a:rPr>
              <a:t>İşletmelerin sosyal sorumluluğu ile bağlantılı iki önemli kavram vardır. Bunlar kurumsal vatandaşlık ve itibardır. Kurumsal vatandaşlık, işletmelerin çeşitli paydaş gruplarının işletmeden bekledikleri sorumlulukları stratejik kararlarında göz önünde bulundurmasını vurgulamak için kullanılan bir kavramdır. İtibar ise paydaşlar nezdinde şirketin eylemleri, seçimleri, davranışları ve sonuçlarına göre oluşan ya da değişen, işletmelerin fiziksel olmayan en değerli varlıklarından biridir. Her ikisi de şirketlerin paydaşlarına karşı sorumluluklarıyla ilgilidir; onların yaşamasında ve başarısında önemli bir paya sahiptir. En iyi kurumsal vatandaş ya da en itibarlı şirket olarak algılanmak için tek atımlık sosyal projeler yeterli değildir. Tüm düzeyleri kapsayan sosyal sorumluluk anlayışının, sistematik bir şekilde, işletmenin uygulamalarına yerleştirilmesi gerekir.</a:t>
            </a:r>
            <a:endParaRPr lang="tr-TR" sz="1500" dirty="0"/>
          </a:p>
        </p:txBody>
      </p:sp>
      <p:pic>
        <p:nvPicPr>
          <p:cNvPr id="17410" name="Picture 2" descr="Corporate Citizenship: A Modern Company's Guide to Success">
            <a:extLst>
              <a:ext uri="{FF2B5EF4-FFF2-40B4-BE49-F238E27FC236}">
                <a16:creationId xmlns:a16="http://schemas.microsoft.com/office/drawing/2014/main" id="{6CAF842C-F0F1-6287-5075-DBF8980223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2648" y="605917"/>
            <a:ext cx="4681506" cy="5674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6996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9" name="Rectangle 18438">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826CC74-71A0-0C14-3CE5-967A0135742C}"/>
              </a:ext>
            </a:extLst>
          </p:cNvPr>
          <p:cNvSpPr>
            <a:spLocks noGrp="1"/>
          </p:cNvSpPr>
          <p:nvPr>
            <p:ph type="title"/>
          </p:nvPr>
        </p:nvSpPr>
        <p:spPr>
          <a:xfrm>
            <a:off x="614679" y="548640"/>
            <a:ext cx="4779572" cy="2067705"/>
          </a:xfrm>
        </p:spPr>
        <p:txBody>
          <a:bodyPr anchor="t">
            <a:normAutofit/>
          </a:bodyPr>
          <a:lstStyle/>
          <a:p>
            <a:r>
              <a:rPr lang="tr-TR" b="1" i="0" u="none" strike="noStrike" baseline="0">
                <a:latin typeface="MyriadPro-Bold"/>
              </a:rPr>
              <a:t>SOSYAL SORUMLU İŞLETME OLMANIN YOL</a:t>
            </a:r>
            <a:br>
              <a:rPr lang="tr-TR" b="1" i="0" u="none" strike="noStrike" baseline="0">
                <a:latin typeface="MyriadPro-Bold"/>
              </a:rPr>
            </a:br>
            <a:r>
              <a:rPr lang="tr-TR" b="1" i="0" u="none" strike="noStrike" baseline="0">
                <a:latin typeface="MyriadPro-Bold"/>
              </a:rPr>
              <a:t>HARİTASI</a:t>
            </a:r>
            <a:endParaRPr lang="tr-TR"/>
          </a:p>
        </p:txBody>
      </p:sp>
      <p:sp>
        <p:nvSpPr>
          <p:cNvPr id="3" name="İçerik Yer Tutucusu 2">
            <a:extLst>
              <a:ext uri="{FF2B5EF4-FFF2-40B4-BE49-F238E27FC236}">
                <a16:creationId xmlns:a16="http://schemas.microsoft.com/office/drawing/2014/main" id="{F0B85C45-3FD7-F07C-86E4-E31FB941CD97}"/>
              </a:ext>
            </a:extLst>
          </p:cNvPr>
          <p:cNvSpPr>
            <a:spLocks noGrp="1"/>
          </p:cNvSpPr>
          <p:nvPr>
            <p:ph idx="1"/>
          </p:nvPr>
        </p:nvSpPr>
        <p:spPr>
          <a:xfrm>
            <a:off x="6030551" y="548638"/>
            <a:ext cx="5546770" cy="5760721"/>
          </a:xfrm>
        </p:spPr>
        <p:txBody>
          <a:bodyPr anchor="t">
            <a:normAutofit/>
          </a:bodyPr>
          <a:lstStyle/>
          <a:p>
            <a:pPr>
              <a:lnSpc>
                <a:spcPct val="110000"/>
              </a:lnSpc>
            </a:pPr>
            <a:r>
              <a:rPr lang="tr-TR" sz="1300" b="0" i="0" u="none" strike="noStrike" baseline="0" dirty="0">
                <a:latin typeface="MinionPro-Regular"/>
              </a:rPr>
              <a:t>Başarıya ulaşmada etik ve sosyal sorumluluğun önemini kavrayan bir işletme, bu konuda bazı süreçleri yerine getirir. Çünkü işletmenin ileriye dönük gelişiminde bu süreçlerin önemli bir rolü olacaktır. İşletmenin hedeflerini gerçekleştirmesinde mevcut karar ve eylemlerinde bir arada gözetilen birtakım ilkeler bulunmaktadır. Bu ilkeler, işletme paydaşlarının görüşlerine paralel olarak şekillendirilmekte ve hedeflere ulaşmak için devreye sokulmaktadır. İşletmelerin etik ve sosyal sorumlu işletme olması yolculuğunda kullanışlı birçok yaklaşım bulunmaktadır.</a:t>
            </a:r>
          </a:p>
          <a:p>
            <a:pPr>
              <a:lnSpc>
                <a:spcPct val="110000"/>
              </a:lnSpc>
            </a:pPr>
            <a:r>
              <a:rPr lang="tr-TR" sz="1300" b="0" i="0" u="none" strike="noStrike" baseline="0" dirty="0">
                <a:latin typeface="MinionPro-Regular"/>
              </a:rPr>
              <a:t>Bunlardan biri de etik ve sosyal sorumluluğun yönetiminde paydaş çerçevesinden yararlanmaktır. Bu yaklaşımın özelliği işletme stratejisinin oluşturulması ve uygulanmasında ilgili paydaşlardan geri bildirim alınmasını içermesidir.</a:t>
            </a:r>
          </a:p>
          <a:p>
            <a:pPr>
              <a:lnSpc>
                <a:spcPct val="110000"/>
              </a:lnSpc>
            </a:pPr>
            <a:r>
              <a:rPr lang="tr-TR" sz="1300" b="0" i="0" u="none" strike="noStrike" baseline="0" dirty="0">
                <a:latin typeface="MinionPro-Regular"/>
              </a:rPr>
              <a:t>Aşağıda sosyal sorumlu bir işletme olma yolundaki işletmeler için süreçte yer alan adımlar sıralanmıştır (</a:t>
            </a:r>
            <a:r>
              <a:rPr lang="tr-TR" sz="1300" b="0" i="0" u="none" strike="noStrike" baseline="0" dirty="0" err="1">
                <a:latin typeface="MinionPro-Regular"/>
              </a:rPr>
              <a:t>Ferrell</a:t>
            </a:r>
            <a:r>
              <a:rPr lang="tr-TR" sz="1300" b="0" i="0" u="none" strike="noStrike" baseline="0" dirty="0">
                <a:latin typeface="MinionPro-Regular"/>
              </a:rPr>
              <a:t>, </a:t>
            </a:r>
            <a:r>
              <a:rPr lang="tr-TR" sz="1300" b="0" i="0" u="none" strike="noStrike" baseline="0" dirty="0" err="1">
                <a:latin typeface="MinionPro-Regular"/>
              </a:rPr>
              <a:t>Fraedrich</a:t>
            </a:r>
            <a:r>
              <a:rPr lang="tr-TR" sz="1300" b="0" i="0" u="none" strike="noStrike" baseline="0" dirty="0">
                <a:latin typeface="MinionPro-Regular"/>
              </a:rPr>
              <a:t>, </a:t>
            </a:r>
            <a:r>
              <a:rPr lang="tr-TR" sz="1300" b="0" i="0" u="none" strike="noStrike" baseline="0" dirty="0" err="1">
                <a:latin typeface="MinionPro-Regular"/>
              </a:rPr>
              <a:t>Ferrell</a:t>
            </a:r>
            <a:r>
              <a:rPr lang="tr-TR" sz="1300" b="0" i="0" u="none" strike="noStrike" baseline="0" dirty="0">
                <a:latin typeface="MinionPro-Regular"/>
              </a:rPr>
              <a:t>, 2011: 48-49). Bunlar:</a:t>
            </a:r>
          </a:p>
          <a:p>
            <a:pPr marL="0" indent="0">
              <a:lnSpc>
                <a:spcPct val="110000"/>
              </a:lnSpc>
              <a:buNone/>
            </a:pPr>
            <a:r>
              <a:rPr lang="tr-TR" sz="1300" b="0" i="0" u="none" strike="noStrike" baseline="0" dirty="0">
                <a:latin typeface="MinionPro-Regular"/>
              </a:rPr>
              <a:t>1. Kurum kültürünün gözden geçirilmesi</a:t>
            </a:r>
          </a:p>
          <a:p>
            <a:pPr marL="0" indent="0">
              <a:lnSpc>
                <a:spcPct val="110000"/>
              </a:lnSpc>
              <a:buNone/>
            </a:pPr>
            <a:r>
              <a:rPr lang="tr-TR" sz="1300" b="0" i="0" u="none" strike="noStrike" baseline="0" dirty="0">
                <a:latin typeface="MinionPro-Regular"/>
              </a:rPr>
              <a:t>2. Paydaş gruplarının tanınması</a:t>
            </a:r>
          </a:p>
          <a:p>
            <a:pPr marL="0" indent="0">
              <a:lnSpc>
                <a:spcPct val="110000"/>
              </a:lnSpc>
              <a:buNone/>
            </a:pPr>
            <a:r>
              <a:rPr lang="tr-TR" sz="1300" b="0" i="0" u="none" strike="noStrike" baseline="0" dirty="0">
                <a:latin typeface="MinionPro-Regular"/>
              </a:rPr>
              <a:t>3. Paydaşlarla ilgili konuların belirlenmesi</a:t>
            </a:r>
          </a:p>
          <a:p>
            <a:pPr marL="0" indent="0">
              <a:lnSpc>
                <a:spcPct val="110000"/>
              </a:lnSpc>
              <a:buNone/>
            </a:pPr>
            <a:r>
              <a:rPr lang="tr-TR" sz="1300" b="0" i="0" u="none" strike="noStrike" baseline="0" dirty="0">
                <a:latin typeface="MinionPro-Regular"/>
              </a:rPr>
              <a:t>4. İşletmenin sosyal sorumluluk alanlarının tespit edilmesi</a:t>
            </a:r>
          </a:p>
          <a:p>
            <a:pPr marL="0" indent="0">
              <a:lnSpc>
                <a:spcPct val="110000"/>
              </a:lnSpc>
              <a:buNone/>
            </a:pPr>
            <a:r>
              <a:rPr lang="tr-TR" sz="1300" b="0" i="0" u="none" strike="noStrike" baseline="0" dirty="0">
                <a:latin typeface="MinionPro-Regular"/>
              </a:rPr>
              <a:t>5. Kaynaklar ve önceliklerin belirlenmesi</a:t>
            </a:r>
          </a:p>
          <a:p>
            <a:pPr marL="0" indent="0">
              <a:lnSpc>
                <a:spcPct val="110000"/>
              </a:lnSpc>
              <a:buNone/>
            </a:pPr>
            <a:r>
              <a:rPr lang="tr-TR" sz="1300" b="0" i="0" u="none" strike="noStrike" baseline="0" dirty="0">
                <a:latin typeface="MinionPro-Regular"/>
              </a:rPr>
              <a:t>6. Paydaşlardan geribildirim alınmasıdır.</a:t>
            </a:r>
            <a:endParaRPr lang="tr-TR" sz="1300" dirty="0"/>
          </a:p>
        </p:txBody>
      </p:sp>
      <p:pic>
        <p:nvPicPr>
          <p:cNvPr id="18434" name="Picture 2" descr="Social Responsibilities of a Business and its Need - GeeksforGeeks">
            <a:extLst>
              <a:ext uri="{FF2B5EF4-FFF2-40B4-BE49-F238E27FC236}">
                <a16:creationId xmlns:a16="http://schemas.microsoft.com/office/drawing/2014/main" id="{751D36CD-B48D-3808-270E-4459D633F4B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586897"/>
            <a:ext cx="4673754" cy="2722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3071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09AEC5-2FC4-E7E3-59D7-205A89CCC921}"/>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AB9B8B4-6AA0-6EC2-5180-35BA3CFC2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Kalabalığın içinde tek biri">
            <a:extLst>
              <a:ext uri="{FF2B5EF4-FFF2-40B4-BE49-F238E27FC236}">
                <a16:creationId xmlns:a16="http://schemas.microsoft.com/office/drawing/2014/main" id="{46801EA5-3D24-6CF7-561F-72BC23E7D12D}"/>
              </a:ext>
            </a:extLst>
          </p:cNvPr>
          <p:cNvPicPr>
            <a:picLocks noChangeAspect="1"/>
          </p:cNvPicPr>
          <p:nvPr/>
        </p:nvPicPr>
        <p:blipFill>
          <a:blip r:embed="rId3"/>
          <a:srcRect r="2" b="4868"/>
          <a:stretch/>
        </p:blipFill>
        <p:spPr>
          <a:xfrm>
            <a:off x="731520" y="1775012"/>
            <a:ext cx="6355080" cy="4534348"/>
          </a:xfrm>
          <a:prstGeom prst="rect">
            <a:avLst/>
          </a:prstGeom>
        </p:spPr>
      </p:pic>
      <p:sp>
        <p:nvSpPr>
          <p:cNvPr id="2" name="Başlık 1">
            <a:extLst>
              <a:ext uri="{FF2B5EF4-FFF2-40B4-BE49-F238E27FC236}">
                <a16:creationId xmlns:a16="http://schemas.microsoft.com/office/drawing/2014/main" id="{A7C1DB17-B437-2054-5071-D2EBB0014801}"/>
              </a:ext>
            </a:extLst>
          </p:cNvPr>
          <p:cNvSpPr>
            <a:spLocks noGrp="1"/>
          </p:cNvSpPr>
          <p:nvPr>
            <p:ph type="title"/>
          </p:nvPr>
        </p:nvSpPr>
        <p:spPr>
          <a:xfrm>
            <a:off x="612647" y="548640"/>
            <a:ext cx="10872216" cy="1132258"/>
          </a:xfrm>
        </p:spPr>
        <p:txBody>
          <a:bodyPr anchor="t">
            <a:normAutofit/>
          </a:bodyPr>
          <a:lstStyle/>
          <a:p>
            <a:r>
              <a:rPr lang="tr-TR" b="1" i="0" u="none" strike="noStrike" baseline="0">
                <a:latin typeface="MyriadPro-Bold"/>
              </a:rPr>
              <a:t>SOSYAL SORUMLU İŞLETME OLMANIN YOL</a:t>
            </a:r>
            <a:br>
              <a:rPr lang="tr-TR" b="1" i="0" u="none" strike="noStrike" baseline="0">
                <a:latin typeface="MyriadPro-Bold"/>
              </a:rPr>
            </a:br>
            <a:r>
              <a:rPr lang="tr-TR" b="1" i="0" u="none" strike="noStrike" baseline="0">
                <a:latin typeface="MyriadPro-Bold"/>
              </a:rPr>
              <a:t>HARİTASI</a:t>
            </a:r>
            <a:endParaRPr lang="tr-TR"/>
          </a:p>
        </p:txBody>
      </p:sp>
      <p:sp>
        <p:nvSpPr>
          <p:cNvPr id="3" name="İçerik Yer Tutucusu 2">
            <a:extLst>
              <a:ext uri="{FF2B5EF4-FFF2-40B4-BE49-F238E27FC236}">
                <a16:creationId xmlns:a16="http://schemas.microsoft.com/office/drawing/2014/main" id="{8BE80613-9E19-99F2-521B-5F2B5E8FEB64}"/>
              </a:ext>
            </a:extLst>
          </p:cNvPr>
          <p:cNvSpPr>
            <a:spLocks noGrp="1"/>
          </p:cNvSpPr>
          <p:nvPr>
            <p:ph idx="1"/>
          </p:nvPr>
        </p:nvSpPr>
        <p:spPr>
          <a:xfrm>
            <a:off x="7485529" y="1775012"/>
            <a:ext cx="3999334" cy="4534348"/>
          </a:xfrm>
        </p:spPr>
        <p:txBody>
          <a:bodyPr>
            <a:normAutofit/>
          </a:bodyPr>
          <a:lstStyle/>
          <a:p>
            <a:pPr>
              <a:lnSpc>
                <a:spcPct val="110000"/>
              </a:lnSpc>
            </a:pPr>
            <a:r>
              <a:rPr lang="tr-TR" sz="1700" b="1" i="0" u="none" strike="noStrike" baseline="0">
                <a:latin typeface="MyriadPro-Bold"/>
              </a:rPr>
              <a:t>Kurum Kültürünün Gözden Geçirilmesi</a:t>
            </a:r>
          </a:p>
          <a:p>
            <a:pPr>
              <a:lnSpc>
                <a:spcPct val="110000"/>
              </a:lnSpc>
            </a:pPr>
            <a:r>
              <a:rPr lang="tr-TR" sz="1700" b="0" i="0" u="none" strike="noStrike" baseline="0">
                <a:latin typeface="MinionPro-Regular"/>
              </a:rPr>
              <a:t>Kurum kültürü ile sosyal sorumluluk projelerinin uyumu örgüt açısından önem taşır. Öncelikle işletmenin misyonu, değerleri ve normları, sosyal sorumluluk anlayışının izlerini bulabileceğimiz alanlardır. Özellikle değerler ve normlar paydaş gruplarını belirlemede ve işletmenin önemli gördüğü konuları tespit etmede kilit rol oynarlar. Şirket değerleri ve normları, stratejik planlar, misyon açıklamaları, yıllık raporlar ve İnternet sitelerinden gözlemlenebilir.</a:t>
            </a:r>
            <a:endParaRPr lang="tr-TR" sz="1700"/>
          </a:p>
        </p:txBody>
      </p:sp>
    </p:spTree>
    <p:extLst>
      <p:ext uri="{BB962C8B-B14F-4D97-AF65-F5344CB8AC3E}">
        <p14:creationId xmlns:p14="http://schemas.microsoft.com/office/powerpoint/2010/main" val="8653051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F2DA5C-DF8E-B984-BAFA-CE5A213CA591}"/>
            </a:ext>
          </a:extLst>
        </p:cNvPr>
        <p:cNvGrpSpPr/>
        <p:nvPr/>
      </p:nvGrpSpPr>
      <p:grpSpPr>
        <a:xfrm>
          <a:off x="0" y="0"/>
          <a:ext cx="0" cy="0"/>
          <a:chOff x="0" y="0"/>
          <a:chExt cx="0" cy="0"/>
        </a:xfrm>
      </p:grpSpPr>
      <p:sp>
        <p:nvSpPr>
          <p:cNvPr id="19463" name="Rectangle 19462">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D86C13E-F384-B260-84BA-307C8403BB78}"/>
              </a:ext>
            </a:extLst>
          </p:cNvPr>
          <p:cNvSpPr>
            <a:spLocks noGrp="1"/>
          </p:cNvSpPr>
          <p:nvPr>
            <p:ph type="title"/>
          </p:nvPr>
        </p:nvSpPr>
        <p:spPr>
          <a:xfrm>
            <a:off x="614677" y="603504"/>
            <a:ext cx="10872216" cy="1527048"/>
          </a:xfrm>
        </p:spPr>
        <p:txBody>
          <a:bodyPr anchor="b">
            <a:normAutofit/>
          </a:bodyPr>
          <a:lstStyle/>
          <a:p>
            <a:r>
              <a:rPr lang="tr-TR" b="1" i="0" u="none" strike="noStrike" baseline="0">
                <a:latin typeface="MyriadPro-Bold"/>
              </a:rPr>
              <a:t>SOSYAL SORUMLU İŞLETME OLMANIN YOL</a:t>
            </a:r>
            <a:br>
              <a:rPr lang="tr-TR" b="1" i="0" u="none" strike="noStrike" baseline="0">
                <a:latin typeface="MyriadPro-Bold"/>
              </a:rPr>
            </a:br>
            <a:r>
              <a:rPr lang="tr-TR" b="1" i="0" u="none" strike="noStrike" baseline="0">
                <a:latin typeface="MyriadPro-Bold"/>
              </a:rPr>
              <a:t>HARİTASI</a:t>
            </a:r>
            <a:endParaRPr lang="tr-TR"/>
          </a:p>
        </p:txBody>
      </p:sp>
      <p:sp>
        <p:nvSpPr>
          <p:cNvPr id="3" name="İçerik Yer Tutucusu 2">
            <a:extLst>
              <a:ext uri="{FF2B5EF4-FFF2-40B4-BE49-F238E27FC236}">
                <a16:creationId xmlns:a16="http://schemas.microsoft.com/office/drawing/2014/main" id="{2B401DBF-1AF9-AFCF-48AF-F02214F4E202}"/>
              </a:ext>
            </a:extLst>
          </p:cNvPr>
          <p:cNvSpPr>
            <a:spLocks noGrp="1"/>
          </p:cNvSpPr>
          <p:nvPr>
            <p:ph idx="1"/>
          </p:nvPr>
        </p:nvSpPr>
        <p:spPr>
          <a:xfrm>
            <a:off x="6096000" y="2441273"/>
            <a:ext cx="5385816" cy="3817942"/>
          </a:xfrm>
        </p:spPr>
        <p:txBody>
          <a:bodyPr anchor="t">
            <a:normAutofit/>
          </a:bodyPr>
          <a:lstStyle/>
          <a:p>
            <a:pPr>
              <a:lnSpc>
                <a:spcPct val="110000"/>
              </a:lnSpc>
            </a:pPr>
            <a:r>
              <a:rPr lang="tr-TR" sz="1100" b="1" i="0" u="none" strike="noStrike" baseline="0">
                <a:latin typeface="MyriadPro-Bold"/>
              </a:rPr>
              <a:t>Paydaş Gruplarının Tanınması</a:t>
            </a:r>
          </a:p>
          <a:p>
            <a:pPr>
              <a:lnSpc>
                <a:spcPct val="110000"/>
              </a:lnSpc>
            </a:pPr>
            <a:r>
              <a:rPr lang="tr-TR" sz="1100" b="0" i="0" u="none" strike="noStrike" baseline="0">
                <a:latin typeface="MinionPro-Regular"/>
              </a:rPr>
              <a:t>Bu aşamada paydaşların ihtiyaçları, istekleri ve arzularının farkında olmak, oldukça önemlidir. Tüketiciler, tedarikçiler, medya gibi kilit grupların ilgilendikleri önemli meseleler böylece görünür hâle gelir. Bir konu üzerinde ortaklaşma ya da aykırılıklar olması durumunda dahi karar verme sürecine ihtiyaç vardır.</a:t>
            </a:r>
          </a:p>
          <a:p>
            <a:pPr>
              <a:lnSpc>
                <a:spcPct val="110000"/>
              </a:lnSpc>
            </a:pPr>
            <a:r>
              <a:rPr lang="tr-TR" sz="1100" b="0" i="0" u="none" strike="noStrike" baseline="0">
                <a:latin typeface="MinionPro-Regular"/>
              </a:rPr>
              <a:t>Problemin çözümünde birbiriyle çelişen yaklaşımların üstesinden gelmek için iş birliği önerilir. Yöneticiler bu aşamada örgüt politikası geliştirmede etkisi olan veya bu politikadan etkilenebilecek ilgili paydaş gruplarını tespit ederler. Her işletme üzerinde paydaşların belirli bir gücü vardır. Onlar ya örgütsel kaynakları ellerinde tutarlar ya da en azından mevcut kaynaklar için tehdit oluşturabilirler.</a:t>
            </a:r>
          </a:p>
          <a:p>
            <a:pPr>
              <a:lnSpc>
                <a:spcPct val="110000"/>
              </a:lnSpc>
            </a:pPr>
            <a:r>
              <a:rPr lang="tr-TR" sz="1100" b="0" i="0" u="none" strike="noStrike" baseline="0">
                <a:latin typeface="MinionPro-Regular"/>
              </a:rPr>
              <a:t>Örgütün başarılı olması ile onların kendi yaşamlarını sürdürmeleri arasında bir bağ olmadığı ve önemli örgütsel kaynaklara erişebildikleri durumda, paydaşlar daha çok güçlüdür. Belirli bir paydaş grubunun elinde bulundurduğu gücü değerlendirmede işletmeye baskıda bulunabilecek diğer paydaş grubuyla iş birliği yapma potansiyelini de hesaba katmak gerekir. Bu nedenle işletme politikaları belirlenirken işletmenin özelliklerine ve paydaş grubunun özelliklerine bağlı olarak politika geliştirilmelidir.</a:t>
            </a:r>
            <a:endParaRPr lang="tr-TR" sz="1100"/>
          </a:p>
        </p:txBody>
      </p:sp>
      <p:pic>
        <p:nvPicPr>
          <p:cNvPr id="19458" name="Picture 2" descr="How Do I Identify Key Stakeholders? - Simply Stakeholders">
            <a:extLst>
              <a:ext uri="{FF2B5EF4-FFF2-40B4-BE49-F238E27FC236}">
                <a16:creationId xmlns:a16="http://schemas.microsoft.com/office/drawing/2014/main" id="{8EE2AECD-A892-FB5B-2B0E-ADAB997976A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4678" y="2441274"/>
            <a:ext cx="5173647" cy="2910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8529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AE3A05-6C0A-DB82-38FD-5BB8AAE82F1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üneşe ulaşıyor">
            <a:extLst>
              <a:ext uri="{FF2B5EF4-FFF2-40B4-BE49-F238E27FC236}">
                <a16:creationId xmlns:a16="http://schemas.microsoft.com/office/drawing/2014/main" id="{EAD4D65B-8109-37C3-C5BD-3ECE6F668934}"/>
              </a:ext>
            </a:extLst>
          </p:cNvPr>
          <p:cNvPicPr>
            <a:picLocks noChangeAspect="1"/>
          </p:cNvPicPr>
          <p:nvPr/>
        </p:nvPicPr>
        <p:blipFill>
          <a:blip r:embed="rId3"/>
          <a:srcRect l="35207" r="16822" b="2"/>
          <a:stretch/>
        </p:blipFill>
        <p:spPr>
          <a:xfrm>
            <a:off x="20" y="10"/>
            <a:ext cx="4910308" cy="6857990"/>
          </a:xfrm>
          <a:prstGeom prst="rect">
            <a:avLst/>
          </a:prstGeom>
        </p:spPr>
      </p:pic>
      <p:sp>
        <p:nvSpPr>
          <p:cNvPr id="2" name="Başlık 1">
            <a:extLst>
              <a:ext uri="{FF2B5EF4-FFF2-40B4-BE49-F238E27FC236}">
                <a16:creationId xmlns:a16="http://schemas.microsoft.com/office/drawing/2014/main" id="{FC6D8BF8-C257-7617-A91D-9763A9CF1E37}"/>
              </a:ext>
            </a:extLst>
          </p:cNvPr>
          <p:cNvSpPr>
            <a:spLocks noGrp="1"/>
          </p:cNvSpPr>
          <p:nvPr>
            <p:ph type="title"/>
          </p:nvPr>
        </p:nvSpPr>
        <p:spPr>
          <a:xfrm>
            <a:off x="5568537" y="603504"/>
            <a:ext cx="5916168" cy="1527048"/>
          </a:xfrm>
        </p:spPr>
        <p:txBody>
          <a:bodyPr anchor="b">
            <a:normAutofit/>
          </a:bodyPr>
          <a:lstStyle/>
          <a:p>
            <a:r>
              <a:rPr lang="tr-TR" sz="3300" b="1" i="0" u="none" strike="noStrike" baseline="0">
                <a:latin typeface="MyriadPro-Bold"/>
              </a:rPr>
              <a:t>SOSYAL SORUMLU İŞLETME OLMANIN YOL</a:t>
            </a:r>
            <a:br>
              <a:rPr lang="tr-TR" sz="3300" b="1" i="0" u="none" strike="noStrike" baseline="0">
                <a:latin typeface="MyriadPro-Bold"/>
              </a:rPr>
            </a:br>
            <a:r>
              <a:rPr lang="tr-TR" sz="3300" b="1" i="0" u="none" strike="noStrike" baseline="0">
                <a:latin typeface="MyriadPro-Bold"/>
              </a:rPr>
              <a:t>HARİTASI</a:t>
            </a:r>
            <a:endParaRPr lang="tr-TR" sz="3300"/>
          </a:p>
        </p:txBody>
      </p:sp>
      <p:sp>
        <p:nvSpPr>
          <p:cNvPr id="3" name="İçerik Yer Tutucusu 2">
            <a:extLst>
              <a:ext uri="{FF2B5EF4-FFF2-40B4-BE49-F238E27FC236}">
                <a16:creationId xmlns:a16="http://schemas.microsoft.com/office/drawing/2014/main" id="{6A7DC992-18DB-2CCC-9C86-347F93B8731A}"/>
              </a:ext>
            </a:extLst>
          </p:cNvPr>
          <p:cNvSpPr>
            <a:spLocks noGrp="1"/>
          </p:cNvSpPr>
          <p:nvPr>
            <p:ph idx="1"/>
          </p:nvPr>
        </p:nvSpPr>
        <p:spPr>
          <a:xfrm>
            <a:off x="5568537" y="2214282"/>
            <a:ext cx="5916168" cy="4095078"/>
          </a:xfrm>
        </p:spPr>
        <p:txBody>
          <a:bodyPr>
            <a:normAutofit/>
          </a:bodyPr>
          <a:lstStyle/>
          <a:p>
            <a:pPr>
              <a:lnSpc>
                <a:spcPct val="110000"/>
              </a:lnSpc>
            </a:pPr>
            <a:r>
              <a:rPr lang="tr-TR" sz="1400" b="1" i="0" u="none" strike="noStrike" baseline="0">
                <a:latin typeface="MyriadPro-Bold"/>
              </a:rPr>
              <a:t>Paydaşlarla İlgili Konuların Belirlenmesi</a:t>
            </a:r>
          </a:p>
          <a:p>
            <a:pPr>
              <a:lnSpc>
                <a:spcPct val="110000"/>
              </a:lnSpc>
            </a:pPr>
            <a:r>
              <a:rPr lang="tr-TR" sz="1400" b="0" i="0" u="none" strike="noStrike" baseline="0">
                <a:latin typeface="MinionPro-Regular"/>
              </a:rPr>
              <a:t>Daha önceki iki adım işletmenin paydaşlarının gücü ve meşruiyeti konusunda bilgi edinilmesini sağlar. Bu güç ve meşruiyet düzeyi paydaş ihtiyaçlarını ele alırken neyin acil olduğunun anlaşılmasında önemli rol oynar. Üçüncü adım, paydaşların temel meselelerinin yapısını anlamaya yarar. Kimi problemler çok sayıda paydaş grubunu ilgilendirir. Böyle durumlarda paydaşlar arasında iş birliği koşulları oluştuğu için dikkatlerin yönü de ortaya çıkmış olur. Örneğin gıda sektöründe faaliyet gösteren bir işletme için ‘’obezite’’ konu başlığı diğer konulardan öncelikli olarak değerlendirilmeye alınabilir. Bazı bölgelerde açlık, bazı bölgelerde kadına yönelik şiddet ağırlıklı konular olarak gözlemlenebilir. Kimi bölgelerde de kültürel mirasın korunması, sosyal sorumluluk projesi olarak işletme gündemine alınabilir.</a:t>
            </a:r>
          </a:p>
          <a:p>
            <a:pPr>
              <a:lnSpc>
                <a:spcPct val="110000"/>
              </a:lnSpc>
            </a:pPr>
            <a:r>
              <a:rPr lang="tr-TR" sz="1400" b="0" i="0" u="none" strike="noStrike" baseline="0">
                <a:latin typeface="MinionPro-Regular"/>
              </a:rPr>
              <a:t>Silahsızlanma, kanserle mücadele de paydaş gruplarının öncelikli konuları arasında yer alabilir. Bu konuların tespitinde, konuların şiddeti, paydaşların gücü, işletmenin politikaları ve kaynakları önemli rol oynar.</a:t>
            </a:r>
            <a:endParaRPr lang="tr-TR" sz="1400"/>
          </a:p>
        </p:txBody>
      </p:sp>
    </p:spTree>
    <p:extLst>
      <p:ext uri="{BB962C8B-B14F-4D97-AF65-F5344CB8AC3E}">
        <p14:creationId xmlns:p14="http://schemas.microsoft.com/office/powerpoint/2010/main" val="36924710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1ABC15-98B3-58A6-4103-A9A3BC22E625}"/>
            </a:ext>
          </a:extLst>
        </p:cNvPr>
        <p:cNvGrpSpPr/>
        <p:nvPr/>
      </p:nvGrpSpPr>
      <p:grpSpPr>
        <a:xfrm>
          <a:off x="0" y="0"/>
          <a:ext cx="0" cy="0"/>
          <a:chOff x="0" y="0"/>
          <a:chExt cx="0" cy="0"/>
        </a:xfrm>
      </p:grpSpPr>
      <p:sp>
        <p:nvSpPr>
          <p:cNvPr id="20489" name="Rectangle 20486">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677475E-448A-750F-85E2-0DDF7BB6F0AD}"/>
              </a:ext>
            </a:extLst>
          </p:cNvPr>
          <p:cNvSpPr>
            <a:spLocks noGrp="1"/>
          </p:cNvSpPr>
          <p:nvPr>
            <p:ph type="title"/>
          </p:nvPr>
        </p:nvSpPr>
        <p:spPr>
          <a:xfrm>
            <a:off x="614679" y="548640"/>
            <a:ext cx="4779572" cy="2067705"/>
          </a:xfrm>
        </p:spPr>
        <p:txBody>
          <a:bodyPr anchor="t">
            <a:normAutofit/>
          </a:bodyPr>
          <a:lstStyle/>
          <a:p>
            <a:r>
              <a:rPr lang="tr-TR" b="1" i="0" u="none" strike="noStrike" baseline="0">
                <a:latin typeface="MyriadPro-Bold"/>
              </a:rPr>
              <a:t>SOSYAL SORUMLU İŞLETME OLMANIN YOL</a:t>
            </a:r>
            <a:br>
              <a:rPr lang="tr-TR" b="1" i="0" u="none" strike="noStrike" baseline="0">
                <a:latin typeface="MyriadPro-Bold"/>
              </a:rPr>
            </a:br>
            <a:r>
              <a:rPr lang="tr-TR" b="1" i="0" u="none" strike="noStrike" baseline="0">
                <a:latin typeface="MyriadPro-Bold"/>
              </a:rPr>
              <a:t>HARİTASI</a:t>
            </a:r>
            <a:endParaRPr lang="tr-TR"/>
          </a:p>
        </p:txBody>
      </p:sp>
      <p:sp>
        <p:nvSpPr>
          <p:cNvPr id="3" name="İçerik Yer Tutucusu 2">
            <a:extLst>
              <a:ext uri="{FF2B5EF4-FFF2-40B4-BE49-F238E27FC236}">
                <a16:creationId xmlns:a16="http://schemas.microsoft.com/office/drawing/2014/main" id="{A6E91CB9-00B5-EB19-B88D-867D29B8A851}"/>
              </a:ext>
            </a:extLst>
          </p:cNvPr>
          <p:cNvSpPr>
            <a:spLocks noGrp="1"/>
          </p:cNvSpPr>
          <p:nvPr>
            <p:ph idx="1"/>
          </p:nvPr>
        </p:nvSpPr>
        <p:spPr>
          <a:xfrm>
            <a:off x="6030551" y="548638"/>
            <a:ext cx="5546770" cy="5760721"/>
          </a:xfrm>
        </p:spPr>
        <p:txBody>
          <a:bodyPr anchor="t">
            <a:normAutofit lnSpcReduction="10000"/>
          </a:bodyPr>
          <a:lstStyle/>
          <a:p>
            <a:pPr>
              <a:lnSpc>
                <a:spcPct val="110000"/>
              </a:lnSpc>
            </a:pPr>
            <a:r>
              <a:rPr lang="tr-TR" sz="1800" b="1" i="0" u="none" strike="noStrike" baseline="0" dirty="0">
                <a:latin typeface="MyriadPro-Bold"/>
              </a:rPr>
              <a:t>İşletmenin Sosyal Sorumluluk Alanlarının Tespit Edilmesi</a:t>
            </a:r>
          </a:p>
          <a:p>
            <a:pPr>
              <a:lnSpc>
                <a:spcPct val="110000"/>
              </a:lnSpc>
            </a:pPr>
            <a:r>
              <a:rPr lang="tr-TR" sz="1800" b="0" i="0" u="none" strike="noStrike" baseline="0" dirty="0">
                <a:latin typeface="MinionPro-Regular"/>
              </a:rPr>
              <a:t>İlk üç adımı gerçekleştiren işletme, örgüt içinde ve dışında bulunan çok çeşitli etkileşim grupları arasındaki sosyal sorumluluğa ilişkin bilgiyi/enformasyonu ortaya çıkartmış olur. Dördüncü adım, bu ilk üç adımda elde edilenleri, özellikle işletmenin yararına uygun olan sosyal sorumluluk çerçevesini anlamak için bir araya getirir. Bu kavrayışı, işletme, hali hazırdaki uygulamalarını değerlendirmekte kullanabilir. Daha da önemlisi çeşitli sosyal sorumluluk girişimleri arasında seçim yapmada da sağlam bir temele dayanmış olur. Şirketler sosyal sorumluluk konusundaki taahhütlerini ve ilerlemelerini yıllık raporlarında, web sayfalarında, şirket tanıtım broşürlerinde açıklarlar. Bunlar resmi belgelerdir. İşletmeler açısından bağlayıcılığı vardır. Bu kanallar, kamuyu bilgilendirme amaçlı, yaygın olarak kullanılır. Bu açıklamalar pazarlama iletişimi kapsamında da değerlendirilebilir.</a:t>
            </a:r>
          </a:p>
        </p:txBody>
      </p:sp>
      <p:pic>
        <p:nvPicPr>
          <p:cNvPr id="20482" name="Picture 2" descr="Social Responsibility of a business - BBA|mantra">
            <a:extLst>
              <a:ext uri="{FF2B5EF4-FFF2-40B4-BE49-F238E27FC236}">
                <a16:creationId xmlns:a16="http://schemas.microsoft.com/office/drawing/2014/main" id="{148345B6-98C4-5797-65F5-1D7BB3BA421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3332127"/>
            <a:ext cx="4673754" cy="2977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088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879681-D376-06EB-924B-F5D4BC0216EE}"/>
            </a:ext>
          </a:extLst>
        </p:cNvPr>
        <p:cNvGrpSpPr/>
        <p:nvPr/>
      </p:nvGrpSpPr>
      <p:grpSpPr>
        <a:xfrm>
          <a:off x="0" y="0"/>
          <a:ext cx="0" cy="0"/>
          <a:chOff x="0" y="0"/>
          <a:chExt cx="0" cy="0"/>
        </a:xfrm>
      </p:grpSpPr>
      <p:sp>
        <p:nvSpPr>
          <p:cNvPr id="21511" name="Rectangle 21510">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0A7E0AC-728F-74A5-815F-D0CD2C6B5CD5}"/>
              </a:ext>
            </a:extLst>
          </p:cNvPr>
          <p:cNvSpPr>
            <a:spLocks noGrp="1"/>
          </p:cNvSpPr>
          <p:nvPr>
            <p:ph type="title"/>
          </p:nvPr>
        </p:nvSpPr>
        <p:spPr>
          <a:xfrm>
            <a:off x="614677" y="603504"/>
            <a:ext cx="10872216" cy="1527048"/>
          </a:xfrm>
        </p:spPr>
        <p:txBody>
          <a:bodyPr anchor="b">
            <a:normAutofit/>
          </a:bodyPr>
          <a:lstStyle/>
          <a:p>
            <a:r>
              <a:rPr lang="tr-TR" b="1" i="0" u="none" strike="noStrike" baseline="0">
                <a:latin typeface="MyriadPro-Bold"/>
              </a:rPr>
              <a:t>SOSYAL SORUMLU İŞLETME OLMANIN YOL</a:t>
            </a:r>
            <a:br>
              <a:rPr lang="tr-TR" b="1" i="0" u="none" strike="noStrike" baseline="0">
                <a:latin typeface="MyriadPro-Bold"/>
              </a:rPr>
            </a:br>
            <a:r>
              <a:rPr lang="tr-TR" b="1" i="0" u="none" strike="noStrike" baseline="0">
                <a:latin typeface="MyriadPro-Bold"/>
              </a:rPr>
              <a:t>HARİTASI</a:t>
            </a:r>
            <a:endParaRPr lang="tr-TR"/>
          </a:p>
        </p:txBody>
      </p:sp>
      <p:sp>
        <p:nvSpPr>
          <p:cNvPr id="3" name="İçerik Yer Tutucusu 2">
            <a:extLst>
              <a:ext uri="{FF2B5EF4-FFF2-40B4-BE49-F238E27FC236}">
                <a16:creationId xmlns:a16="http://schemas.microsoft.com/office/drawing/2014/main" id="{6677EF84-4E6A-E684-C290-76C461D3BD7A}"/>
              </a:ext>
            </a:extLst>
          </p:cNvPr>
          <p:cNvSpPr>
            <a:spLocks noGrp="1"/>
          </p:cNvSpPr>
          <p:nvPr>
            <p:ph idx="1"/>
          </p:nvPr>
        </p:nvSpPr>
        <p:spPr>
          <a:xfrm>
            <a:off x="6096000" y="1612669"/>
            <a:ext cx="5481322" cy="4646546"/>
          </a:xfrm>
        </p:spPr>
        <p:txBody>
          <a:bodyPr anchor="t">
            <a:normAutofit lnSpcReduction="10000"/>
          </a:bodyPr>
          <a:lstStyle/>
          <a:p>
            <a:pPr>
              <a:lnSpc>
                <a:spcPct val="110000"/>
              </a:lnSpc>
            </a:pPr>
            <a:r>
              <a:rPr lang="tr-TR" sz="1600" b="1" i="0" u="none" strike="noStrike" baseline="0" dirty="0">
                <a:latin typeface="MyriadPro-Bold"/>
              </a:rPr>
              <a:t>Kaynakların ve Önceliklerin Belirlenmesi</a:t>
            </a:r>
          </a:p>
          <a:p>
            <a:pPr>
              <a:lnSpc>
                <a:spcPct val="110000"/>
              </a:lnSpc>
            </a:pPr>
            <a:r>
              <a:rPr lang="tr-TR" sz="1600" b="0" i="0" u="none" strike="noStrike" baseline="0" dirty="0">
                <a:latin typeface="MinionPro-Regular"/>
              </a:rPr>
              <a:t>İşletmelerin kaynakları sınırsız değildir. Bu nedenle bu aşama kaynakların kullanımı, paylaşımı açısından önem taşır. Kaynak kullanımına ilişkin kararların alınması için paydaşların ve konuların önceliklerinin tespiti ve geçmiş uygulamaların sonuçlarının değerlendirilmesi yerinde olur. Burada kullanışlı iki kriterden söz edilebilir. Birincisi, işletmenin finansal durumu ve farklı girişim seçeneklerinin ihtiyaç duyduğu yatırım miktarı; ikincisi ise konuların </a:t>
            </a:r>
            <a:r>
              <a:rPr lang="tr-TR" sz="1600" b="0" i="0" u="none" strike="noStrike" baseline="0" dirty="0" err="1">
                <a:latin typeface="MinionPro-Regular"/>
              </a:rPr>
              <a:t>önceliklendirilmesinde</a:t>
            </a:r>
            <a:r>
              <a:rPr lang="tr-TR" sz="1600" b="0" i="0" u="none" strike="noStrike" baseline="0" dirty="0">
                <a:latin typeface="MinionPro-Regular"/>
              </a:rPr>
              <a:t> işe yarayan </a:t>
            </a:r>
            <a:r>
              <a:rPr lang="tr-TR" sz="1600" b="0" i="0" u="none" strike="noStrike" baseline="0" dirty="0" err="1">
                <a:latin typeface="MinionPro-Regular"/>
              </a:rPr>
              <a:t>aciliyet</a:t>
            </a:r>
            <a:r>
              <a:rPr lang="tr-TR" sz="1600" b="0" i="0" u="none" strike="noStrike" baseline="0" dirty="0">
                <a:latin typeface="MinionPro-Regular"/>
              </a:rPr>
              <a:t> tespitidir. Konunun önemi konusundaki gözlem ve konu hakkında paydaşlardan beklenen baskının düzeyi neyin acil olduğunun tespitinde yol gösterir. Sosyal sorumluluk projeleri hem hissedarların hem de kamunun beklentilerine uygun olmalıdır. Dolayısıyla projelerde ele alınacak ve kaynak ayrılacak konu ve iletişim mesajlarına dikkat edilmektedir. Bahsedilen tüm konu ve mesajlar işletmelerin itibarını oluşturan kaynaklar olarak tanımlanabilir.</a:t>
            </a:r>
            <a:endParaRPr lang="tr-TR" sz="1600" dirty="0"/>
          </a:p>
        </p:txBody>
      </p:sp>
      <p:pic>
        <p:nvPicPr>
          <p:cNvPr id="21506" name="Picture 2" descr="Achieving Significant Improvements with Minimal Resources: The Importance  of Prioritization in Process Improvement">
            <a:extLst>
              <a:ext uri="{FF2B5EF4-FFF2-40B4-BE49-F238E27FC236}">
                <a16:creationId xmlns:a16="http://schemas.microsoft.com/office/drawing/2014/main" id="{213AF130-5B7D-1D3A-F0C2-7A7B595172A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4678" y="2441274"/>
            <a:ext cx="5173647" cy="2716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37092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8C0A6C-3FC9-62E6-8C9D-730A3B5ADC28}"/>
            </a:ext>
          </a:extLst>
        </p:cNvPr>
        <p:cNvGrpSpPr/>
        <p:nvPr/>
      </p:nvGrpSpPr>
      <p:grpSpPr>
        <a:xfrm>
          <a:off x="0" y="0"/>
          <a:ext cx="0" cy="0"/>
          <a:chOff x="0" y="0"/>
          <a:chExt cx="0" cy="0"/>
        </a:xfrm>
      </p:grpSpPr>
      <p:sp useBgFill="1">
        <p:nvSpPr>
          <p:cNvPr id="22537" name="Rectangle 22534">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30" name="Picture 2" descr="Why Is Feedback Important in Communication">
            <a:extLst>
              <a:ext uri="{FF2B5EF4-FFF2-40B4-BE49-F238E27FC236}">
                <a16:creationId xmlns:a16="http://schemas.microsoft.com/office/drawing/2014/main" id="{AFE2B877-1485-AC0E-3B57-49EBD912C3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 b="989"/>
          <a:stretch/>
        </p:blipFill>
        <p:spPr bwMode="auto">
          <a:xfrm>
            <a:off x="713615" y="681318"/>
            <a:ext cx="4680637" cy="3083858"/>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BD545E84-EB77-F7CB-E2D4-4549E3291262}"/>
              </a:ext>
            </a:extLst>
          </p:cNvPr>
          <p:cNvSpPr>
            <a:spLocks noGrp="1"/>
          </p:cNvSpPr>
          <p:nvPr>
            <p:ph type="title"/>
          </p:nvPr>
        </p:nvSpPr>
        <p:spPr>
          <a:xfrm>
            <a:off x="612646" y="4012142"/>
            <a:ext cx="4781605" cy="2332799"/>
          </a:xfrm>
        </p:spPr>
        <p:txBody>
          <a:bodyPr anchor="t">
            <a:normAutofit/>
          </a:bodyPr>
          <a:lstStyle/>
          <a:p>
            <a:r>
              <a:rPr lang="tr-TR" b="1" i="0" u="none" strike="noStrike" baseline="0">
                <a:latin typeface="MyriadPro-Bold"/>
              </a:rPr>
              <a:t>SOSYAL SORUMLU İŞLETME OLMANIN YOL</a:t>
            </a:r>
            <a:br>
              <a:rPr lang="tr-TR" b="1" i="0" u="none" strike="noStrike" baseline="0">
                <a:latin typeface="MyriadPro-Bold"/>
              </a:rPr>
            </a:br>
            <a:r>
              <a:rPr lang="tr-TR" b="1" i="0" u="none" strike="noStrike" baseline="0">
                <a:latin typeface="MyriadPro-Bold"/>
              </a:rPr>
              <a:t>HARİTASI</a:t>
            </a:r>
            <a:endParaRPr lang="tr-TR"/>
          </a:p>
        </p:txBody>
      </p:sp>
      <p:sp>
        <p:nvSpPr>
          <p:cNvPr id="3" name="İçerik Yer Tutucusu 2">
            <a:extLst>
              <a:ext uri="{FF2B5EF4-FFF2-40B4-BE49-F238E27FC236}">
                <a16:creationId xmlns:a16="http://schemas.microsoft.com/office/drawing/2014/main" id="{08C01516-B1B6-0736-CD88-1760879F86F0}"/>
              </a:ext>
            </a:extLst>
          </p:cNvPr>
          <p:cNvSpPr>
            <a:spLocks noGrp="1"/>
          </p:cNvSpPr>
          <p:nvPr>
            <p:ph idx="1"/>
          </p:nvPr>
        </p:nvSpPr>
        <p:spPr>
          <a:xfrm>
            <a:off x="6030551" y="548639"/>
            <a:ext cx="5548803" cy="5796302"/>
          </a:xfrm>
        </p:spPr>
        <p:txBody>
          <a:bodyPr>
            <a:normAutofit/>
          </a:bodyPr>
          <a:lstStyle/>
          <a:p>
            <a:pPr>
              <a:lnSpc>
                <a:spcPct val="110000"/>
              </a:lnSpc>
            </a:pPr>
            <a:r>
              <a:rPr lang="tr-TR" b="1" i="0" u="none" strike="noStrike" baseline="0" dirty="0">
                <a:latin typeface="MyriadPro-Bold"/>
              </a:rPr>
              <a:t>Paydaşlardan Geri Bildirim Alınması</a:t>
            </a:r>
          </a:p>
          <a:p>
            <a:pPr>
              <a:lnSpc>
                <a:spcPct val="110000"/>
              </a:lnSpc>
            </a:pPr>
            <a:r>
              <a:rPr lang="tr-TR" b="0" i="0" u="none" strike="noStrike" baseline="0" dirty="0">
                <a:latin typeface="MinionPro-Regular"/>
              </a:rPr>
              <a:t>Paydaş geri bildirimleri pek çok araçla toplanabilir. Paydaşların işletme ve uygulamaları hakkındaki genel değerlendirmeleri, paydaş tatmini veya itibar araştırmalarıyla elde edilebilir. Belirli konuların çözümünde veya oluşumunda işletmenin katkısını paydaşların algılarına göre ölçmek de mümkündür. Paydaşların oluşturduğu </a:t>
            </a:r>
            <a:r>
              <a:rPr lang="tr-TR" b="0" i="0" u="none" strike="noStrike" baseline="0" dirty="0" err="1">
                <a:latin typeface="MinionPro-Regular"/>
              </a:rPr>
              <a:t>blog</a:t>
            </a:r>
            <a:r>
              <a:rPr lang="tr-TR" b="0" i="0" u="none" strike="noStrike" baseline="0" dirty="0">
                <a:latin typeface="MinionPro-Regular"/>
              </a:rPr>
              <a:t>, web sitesi, </a:t>
            </a:r>
            <a:r>
              <a:rPr lang="tr-TR" b="0" i="0" u="none" strike="noStrike" baseline="0" dirty="0" err="1">
                <a:latin typeface="MinionPro-Regular"/>
              </a:rPr>
              <a:t>podcast</a:t>
            </a:r>
            <a:r>
              <a:rPr lang="tr-TR" b="0" i="0" u="none" strike="noStrike" baseline="0" dirty="0">
                <a:latin typeface="MinionPro-Regular"/>
              </a:rPr>
              <a:t> ve haber bültenleri gibi ortamlar ölçüm amaçlı kullanılabilir.</a:t>
            </a:r>
          </a:p>
          <a:p>
            <a:pPr>
              <a:lnSpc>
                <a:spcPct val="110000"/>
              </a:lnSpc>
            </a:pPr>
            <a:r>
              <a:rPr lang="tr-TR" b="0" i="0" u="none" strike="noStrike" baseline="0" dirty="0">
                <a:latin typeface="MinionPro-Regular"/>
              </a:rPr>
              <a:t>Daha </a:t>
            </a:r>
            <a:r>
              <a:rPr lang="tr-TR" b="0" i="0" u="none" strike="noStrike" baseline="0" dirty="0" err="1">
                <a:latin typeface="MinionPro-Regular"/>
              </a:rPr>
              <a:t>formal</a:t>
            </a:r>
            <a:r>
              <a:rPr lang="tr-TR" b="0" i="0" u="none" strike="noStrike" baseline="0" dirty="0">
                <a:latin typeface="MinionPro-Regular"/>
              </a:rPr>
              <a:t> araştırma yöntemleri olarak odak grup, gözlem ve anket çalışmaları da vardır. Önemli konular ya da projeler için konuyla bağlantılı, özel olarak hazırlanmış web siteleri hem paydaşlar hem de işletme tarafından kullanılabilir.</a:t>
            </a:r>
          </a:p>
        </p:txBody>
      </p:sp>
    </p:spTree>
    <p:extLst>
      <p:ext uri="{BB962C8B-B14F-4D97-AF65-F5344CB8AC3E}">
        <p14:creationId xmlns:p14="http://schemas.microsoft.com/office/powerpoint/2010/main" val="2678981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9" name="Rectangle 23558">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21F82E7-D382-F1FC-DACB-EC267504FE6B}"/>
              </a:ext>
            </a:extLst>
          </p:cNvPr>
          <p:cNvSpPr>
            <a:spLocks noGrp="1"/>
          </p:cNvSpPr>
          <p:nvPr>
            <p:ph type="title"/>
          </p:nvPr>
        </p:nvSpPr>
        <p:spPr>
          <a:xfrm>
            <a:off x="612648" y="603504"/>
            <a:ext cx="5862396" cy="1527048"/>
          </a:xfrm>
        </p:spPr>
        <p:txBody>
          <a:bodyPr anchor="b">
            <a:normAutofit/>
          </a:bodyPr>
          <a:lstStyle/>
          <a:p>
            <a:r>
              <a:rPr lang="tr-TR" sz="3300" b="1" i="0" u="none" strike="noStrike" baseline="0">
                <a:latin typeface="MyriadPro-Bold"/>
              </a:rPr>
              <a:t>ETİK VE SOSYAL SORUMLULUK KONUSUNDA YOL GÖSTERİCİ</a:t>
            </a:r>
            <a:br>
              <a:rPr lang="tr-TR" sz="3300" b="1" i="0" u="none" strike="noStrike" baseline="0">
                <a:latin typeface="MyriadPro-Bold"/>
              </a:rPr>
            </a:br>
            <a:r>
              <a:rPr lang="tr-TR" sz="3300" b="1" i="0" u="none" strike="noStrike" baseline="0">
                <a:latin typeface="MyriadPro-Bold"/>
              </a:rPr>
              <a:t>İLKELER VE STANDARTLAR</a:t>
            </a:r>
            <a:endParaRPr lang="tr-TR" sz="3300"/>
          </a:p>
        </p:txBody>
      </p:sp>
      <p:sp>
        <p:nvSpPr>
          <p:cNvPr id="3" name="İçerik Yer Tutucusu 2">
            <a:extLst>
              <a:ext uri="{FF2B5EF4-FFF2-40B4-BE49-F238E27FC236}">
                <a16:creationId xmlns:a16="http://schemas.microsoft.com/office/drawing/2014/main" id="{44EF1596-9969-6355-FA8A-04980229C711}"/>
              </a:ext>
            </a:extLst>
          </p:cNvPr>
          <p:cNvSpPr>
            <a:spLocks noGrp="1"/>
          </p:cNvSpPr>
          <p:nvPr>
            <p:ph idx="1"/>
          </p:nvPr>
        </p:nvSpPr>
        <p:spPr>
          <a:xfrm>
            <a:off x="612648" y="2212848"/>
            <a:ext cx="5862396" cy="4096512"/>
          </a:xfrm>
        </p:spPr>
        <p:txBody>
          <a:bodyPr>
            <a:normAutofit/>
          </a:bodyPr>
          <a:lstStyle/>
          <a:p>
            <a:pPr>
              <a:lnSpc>
                <a:spcPct val="110000"/>
              </a:lnSpc>
            </a:pPr>
            <a:r>
              <a:rPr lang="tr-TR" sz="1300" b="0" i="0" u="none" strike="noStrike" baseline="0" dirty="0">
                <a:latin typeface="MinionPro-Regular"/>
              </a:rPr>
              <a:t>Günümüz küresel iş dünyasında daha yaşanabilir bir dünya yaratmak amacıyla pek çok anlayış ve yaklaşım geliştirilmektedir. Şirketlerin kâr maksimizasyonu ötesinde sorumlulukları olduğu gerçeği yaygın ve artan bir şekilde kabul görmektedir.</a:t>
            </a:r>
          </a:p>
          <a:p>
            <a:pPr>
              <a:lnSpc>
                <a:spcPct val="110000"/>
              </a:lnSpc>
            </a:pPr>
            <a:r>
              <a:rPr lang="tr-TR" sz="1300" b="0" i="0" u="none" strike="noStrike" baseline="0" dirty="0">
                <a:latin typeface="MinionPro-Regular"/>
              </a:rPr>
              <a:t>Sürdürülebilir kalkınma anlayışı, paydaş yaklaşımı, evrensel etik iş ortamı oluşturma girişimleri işletmelere yeni görevler yüklemektedir.</a:t>
            </a:r>
          </a:p>
          <a:p>
            <a:pPr marL="0" indent="0">
              <a:lnSpc>
                <a:spcPct val="110000"/>
              </a:lnSpc>
              <a:buNone/>
            </a:pPr>
            <a:r>
              <a:rPr lang="tr-TR" sz="1300" b="0" i="0" u="none" strike="noStrike" baseline="0" dirty="0">
                <a:latin typeface="MinionPro-Regular"/>
              </a:rPr>
              <a:t>Küresel iş etik kodlarının dayanacağı evrensel etik ilkeler veya temel değerler arayışı, önemli sayıda girişimin ortaya çıkmasıyla sonuçlanmıştır. Bu girişimlerden bazıları şunlardır:</a:t>
            </a:r>
          </a:p>
          <a:p>
            <a:pPr marL="0" indent="0">
              <a:lnSpc>
                <a:spcPct val="110000"/>
              </a:lnSpc>
              <a:buNone/>
            </a:pPr>
            <a:r>
              <a:rPr lang="tr-TR" sz="1300" b="1" i="0" u="none" strike="noStrike" baseline="0" dirty="0">
                <a:latin typeface="MinionPro-Bold"/>
              </a:rPr>
              <a:t>• Dinler arası Bildirge: </a:t>
            </a:r>
            <a:r>
              <a:rPr lang="tr-TR" sz="1300" b="0" i="0" u="none" strike="noStrike" baseline="0" dirty="0">
                <a:latin typeface="MinionPro-Regular"/>
              </a:rPr>
              <a:t>Hıristiyan, Müslüman ve Yahudiler için Uluslararası </a:t>
            </a:r>
            <a:r>
              <a:rPr lang="en-US" sz="1300" b="0" i="0" u="none" strike="noStrike" baseline="0" dirty="0" err="1">
                <a:latin typeface="MinionPro-Regular"/>
              </a:rPr>
              <a:t>İşletme</a:t>
            </a:r>
            <a:r>
              <a:rPr lang="en-US" sz="1300" b="0" i="0" u="none" strike="noStrike" baseline="0" dirty="0">
                <a:latin typeface="MinionPro-Regular"/>
              </a:rPr>
              <a:t> </a:t>
            </a:r>
            <a:r>
              <a:rPr lang="en-US" sz="1300" b="0" i="0" u="none" strike="noStrike" baseline="0" dirty="0" err="1">
                <a:latin typeface="MinionPro-Regular"/>
              </a:rPr>
              <a:t>Etik</a:t>
            </a:r>
            <a:r>
              <a:rPr lang="en-US" sz="1300" b="0" i="0" u="none" strike="noStrike" baseline="0" dirty="0">
                <a:latin typeface="MinionPro-Regular"/>
              </a:rPr>
              <a:t> </a:t>
            </a:r>
            <a:r>
              <a:rPr lang="en-US" sz="1300" b="0" i="0" u="none" strike="noStrike" baseline="0" dirty="0" err="1">
                <a:latin typeface="MinionPro-Regular"/>
              </a:rPr>
              <a:t>Kodları</a:t>
            </a:r>
            <a:r>
              <a:rPr lang="en-US" sz="1300" b="0" i="0" u="none" strike="noStrike" baseline="0" dirty="0">
                <a:latin typeface="MinionPro-Regular"/>
              </a:rPr>
              <a:t> (Interfaith Declaration: A Code of Ethics on International</a:t>
            </a:r>
            <a:r>
              <a:rPr lang="tr-TR" sz="1300" b="0" i="0" u="none" strike="noStrike" baseline="0" dirty="0">
                <a:latin typeface="MinionPro-Regular"/>
              </a:rPr>
              <a:t> </a:t>
            </a:r>
            <a:r>
              <a:rPr lang="en-US" sz="1300" b="0" i="0" u="none" strike="noStrike" baseline="0" dirty="0">
                <a:latin typeface="MinionPro-Regular"/>
              </a:rPr>
              <a:t>Business for Christians, Muslims and Jews) : Bu </a:t>
            </a:r>
            <a:r>
              <a:rPr lang="en-US" sz="1300" b="0" i="0" u="none" strike="noStrike" baseline="0" dirty="0" err="1">
                <a:latin typeface="MinionPro-Regular"/>
              </a:rPr>
              <a:t>bildirge</a:t>
            </a:r>
            <a:r>
              <a:rPr lang="en-US" sz="1300" b="0" i="0" u="none" strike="noStrike" baseline="0" dirty="0">
                <a:latin typeface="MinionPro-Regular"/>
              </a:rPr>
              <a:t> 1994 </a:t>
            </a:r>
            <a:r>
              <a:rPr lang="en-US" sz="1300" b="0" i="0" u="none" strike="noStrike" baseline="0" dirty="0" err="1">
                <a:latin typeface="MinionPro-Regular"/>
              </a:rPr>
              <a:t>yılında</a:t>
            </a:r>
            <a:r>
              <a:rPr lang="en-US" sz="1300" b="0" i="0" u="none" strike="noStrike" baseline="0" dirty="0">
                <a:latin typeface="MinionPro-Regular"/>
              </a:rPr>
              <a:t> </a:t>
            </a:r>
            <a:r>
              <a:rPr lang="en-US" sz="1300" b="0" i="0" u="none" strike="noStrike" baseline="0" dirty="0" err="1">
                <a:latin typeface="MinionPro-Regular"/>
              </a:rPr>
              <a:t>üç</a:t>
            </a:r>
            <a:r>
              <a:rPr lang="en-US" sz="1300" b="0" i="0" u="none" strike="noStrike" baseline="0" dirty="0">
                <a:latin typeface="MinionPro-Regular"/>
              </a:rPr>
              <a:t> </a:t>
            </a:r>
            <a:r>
              <a:rPr lang="en-US" sz="1300" b="0" i="0" u="none" strike="noStrike" baseline="0" dirty="0" err="1">
                <a:latin typeface="MinionPro-Regular"/>
              </a:rPr>
              <a:t>dini</a:t>
            </a:r>
            <a:r>
              <a:rPr lang="en-US" sz="1300" b="0" i="0" u="none" strike="noStrike" baseline="0" dirty="0">
                <a:latin typeface="MinionPro-Regular"/>
              </a:rPr>
              <a:t>,</a:t>
            </a:r>
            <a:r>
              <a:rPr lang="tr-TR" sz="1300" b="0" i="0" u="none" strike="noStrike" baseline="0" dirty="0">
                <a:latin typeface="MinionPro-Regular"/>
              </a:rPr>
              <a:t> temsilen iş ve hükümet liderleri, ilahiyatçılar ve akademisyenler tarafından tasarlamıştır. Bu temsilciler uluslararası işletmelere yol gösterecek, üç dinin temsilcilerinin ortaklaştığı temel ilkeleri belirlemiştir. Bunlar: Adalet, karşılıklı saygı, çevresel- </a:t>
            </a:r>
            <a:r>
              <a:rPr lang="sv-SE" sz="1300" b="0" i="0" u="none" strike="noStrike" baseline="0" dirty="0" err="1">
                <a:latin typeface="MinionPro-Regular"/>
              </a:rPr>
              <a:t>ekonomik-sosyal</a:t>
            </a:r>
            <a:r>
              <a:rPr lang="sv-SE" sz="1300" b="0" i="0" u="none" strike="noStrike" baseline="0" dirty="0">
                <a:latin typeface="MinionPro-Regular"/>
              </a:rPr>
              <a:t> </a:t>
            </a:r>
            <a:r>
              <a:rPr lang="sv-SE" sz="1300" b="0" i="0" u="none" strike="noStrike" baseline="0" dirty="0" err="1">
                <a:latin typeface="MinionPro-Regular"/>
              </a:rPr>
              <a:t>faktörlerin</a:t>
            </a:r>
            <a:r>
              <a:rPr lang="sv-SE" sz="1300" b="0" i="0" u="none" strike="noStrike" baseline="0" dirty="0">
                <a:latin typeface="MinionPro-Regular"/>
              </a:rPr>
              <a:t> </a:t>
            </a:r>
            <a:r>
              <a:rPr lang="sv-SE" sz="1300" b="0" i="0" u="none" strike="noStrike" baseline="0" dirty="0" err="1">
                <a:latin typeface="MinionPro-Regular"/>
              </a:rPr>
              <a:t>yönetiminden</a:t>
            </a:r>
            <a:r>
              <a:rPr lang="sv-SE" sz="1300" b="0" i="0" u="none" strike="noStrike" baseline="0" dirty="0">
                <a:latin typeface="MinionPro-Regular"/>
              </a:rPr>
              <a:t> </a:t>
            </a:r>
            <a:r>
              <a:rPr lang="sv-SE" sz="1300" b="0" i="0" u="none" strike="noStrike" baseline="0" dirty="0" err="1">
                <a:latin typeface="MinionPro-Regular"/>
              </a:rPr>
              <a:t>sorumlu</a:t>
            </a:r>
            <a:r>
              <a:rPr lang="sv-SE" sz="1300" b="0" i="0" u="none" strike="noStrike" baseline="0" dirty="0">
                <a:latin typeface="MinionPro-Regular"/>
              </a:rPr>
              <a:t> </a:t>
            </a:r>
            <a:r>
              <a:rPr lang="sv-SE" sz="1300" b="0" i="0" u="none" strike="noStrike" baseline="0" dirty="0" err="1">
                <a:latin typeface="MinionPro-Regular"/>
              </a:rPr>
              <a:t>olma</a:t>
            </a:r>
            <a:r>
              <a:rPr lang="sv-SE" sz="1300" b="0" i="0" u="none" strike="noStrike" baseline="0" dirty="0">
                <a:latin typeface="MinionPro-Regular"/>
              </a:rPr>
              <a:t> ve </a:t>
            </a:r>
            <a:r>
              <a:rPr lang="sv-SE" sz="1300" b="0" i="0" u="none" strike="noStrike" baseline="0" dirty="0" err="1">
                <a:latin typeface="MinionPro-Regular"/>
              </a:rPr>
              <a:t>dürüstlüktür</a:t>
            </a:r>
            <a:endParaRPr lang="tr-TR" sz="1300" dirty="0"/>
          </a:p>
        </p:txBody>
      </p:sp>
      <p:pic>
        <p:nvPicPr>
          <p:cNvPr id="23554" name="Picture 2" descr="World Citizen Government on X: &quot;World Interfaith Harmony Week begins today,  reminding us to celebrate diversity while working together as  #WorldCitizens toward world unity and peace. “Everyone has the right to  freedom">
            <a:extLst>
              <a:ext uri="{FF2B5EF4-FFF2-40B4-BE49-F238E27FC236}">
                <a16:creationId xmlns:a16="http://schemas.microsoft.com/office/drawing/2014/main" id="{7864D119-D21B-C479-DC31-0CEF626A2BE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91395" y="1102440"/>
            <a:ext cx="4681506" cy="4681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3070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ED91A7-736E-2B6E-41BD-B62165B55F96}"/>
            </a:ext>
          </a:extLst>
        </p:cNvPr>
        <p:cNvGrpSpPr/>
        <p:nvPr/>
      </p:nvGrpSpPr>
      <p:grpSpPr>
        <a:xfrm>
          <a:off x="0" y="0"/>
          <a:ext cx="0" cy="0"/>
          <a:chOff x="0" y="0"/>
          <a:chExt cx="0" cy="0"/>
        </a:xfrm>
      </p:grpSpPr>
      <p:sp>
        <p:nvSpPr>
          <p:cNvPr id="24583" name="Rectangle 24582">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F1298B4-A6D5-ECDB-F6E2-6BE68E632F0A}"/>
              </a:ext>
            </a:extLst>
          </p:cNvPr>
          <p:cNvSpPr>
            <a:spLocks noGrp="1"/>
          </p:cNvSpPr>
          <p:nvPr>
            <p:ph type="title"/>
          </p:nvPr>
        </p:nvSpPr>
        <p:spPr>
          <a:xfrm>
            <a:off x="612648" y="603504"/>
            <a:ext cx="5862396" cy="1527048"/>
          </a:xfrm>
        </p:spPr>
        <p:txBody>
          <a:bodyPr anchor="b">
            <a:normAutofit/>
          </a:bodyPr>
          <a:lstStyle/>
          <a:p>
            <a:r>
              <a:rPr lang="tr-TR" sz="3300" b="1" i="0" u="none" strike="noStrike" baseline="0">
                <a:latin typeface="MyriadPro-Bold"/>
              </a:rPr>
              <a:t>ETİK VE SOSYAL SORUMLULUK KONUSUNDA YOL GÖSTERİCİ</a:t>
            </a:r>
            <a:br>
              <a:rPr lang="tr-TR" sz="3300" b="1" i="0" u="none" strike="noStrike" baseline="0">
                <a:latin typeface="MyriadPro-Bold"/>
              </a:rPr>
            </a:br>
            <a:r>
              <a:rPr lang="tr-TR" sz="3300" b="1" i="0" u="none" strike="noStrike" baseline="0">
                <a:latin typeface="MyriadPro-Bold"/>
              </a:rPr>
              <a:t>İLKELER VE STANDARTLAR</a:t>
            </a:r>
            <a:endParaRPr lang="tr-TR" sz="3300"/>
          </a:p>
        </p:txBody>
      </p:sp>
      <p:sp>
        <p:nvSpPr>
          <p:cNvPr id="3" name="İçerik Yer Tutucusu 2">
            <a:extLst>
              <a:ext uri="{FF2B5EF4-FFF2-40B4-BE49-F238E27FC236}">
                <a16:creationId xmlns:a16="http://schemas.microsoft.com/office/drawing/2014/main" id="{7C775208-9165-664A-3876-06B69120FD1E}"/>
              </a:ext>
            </a:extLst>
          </p:cNvPr>
          <p:cNvSpPr>
            <a:spLocks noGrp="1"/>
          </p:cNvSpPr>
          <p:nvPr>
            <p:ph idx="1"/>
          </p:nvPr>
        </p:nvSpPr>
        <p:spPr>
          <a:xfrm>
            <a:off x="612648" y="2212848"/>
            <a:ext cx="5862396" cy="4096512"/>
          </a:xfrm>
        </p:spPr>
        <p:txBody>
          <a:bodyPr>
            <a:normAutofit/>
          </a:bodyPr>
          <a:lstStyle/>
          <a:p>
            <a:pPr>
              <a:lnSpc>
                <a:spcPct val="110000"/>
              </a:lnSpc>
            </a:pPr>
            <a:r>
              <a:rPr lang="tr-TR" sz="1100" b="1" i="0" u="none" strike="noStrike" baseline="0">
                <a:latin typeface="MinionPro-Bold"/>
              </a:rPr>
              <a:t>The CAUX Roundtable: </a:t>
            </a:r>
            <a:r>
              <a:rPr lang="tr-TR" sz="1100" b="0" i="0" u="none" strike="noStrike" baseline="0">
                <a:latin typeface="MinionPro-Regular"/>
              </a:rPr>
              <a:t>1994’te Avrupa, Amerika ve Japonya’dan iş dünyasının liderlerinin oluşturduğu uluslararası ağ, “etik ve sorumlu şirket davranışı için evrensel bir vizyon” oluşturarak kendi ilkelerini açıklamışlardır. Bu ilkeler iki etik ideale dayanır: insana saygı ve kyosei (herkesin iyiliği için birlikte yaşamaya ve çalışmaya olan inanç). 2009’da küresel finansal kriz nedeniyle yeniden düzenlenmiştir.</a:t>
            </a:r>
          </a:p>
          <a:p>
            <a:pPr marL="0" indent="0">
              <a:lnSpc>
                <a:spcPct val="110000"/>
              </a:lnSpc>
              <a:buNone/>
            </a:pPr>
            <a:r>
              <a:rPr lang="tr-TR" sz="1100" b="0" i="0" u="none" strike="noStrike" baseline="0">
                <a:latin typeface="MinionPro-Regular"/>
              </a:rPr>
              <a:t>Dünya barışı ve istikrarı için sosyal ve ekonomik tehditleri azaltmada küresel kurumsal sorumluluğun önemine vurgu yapar. Caux ilkeleri (Minnesota İlkeleri) uluslararası alanda ve çeşitli kültürlerde faaliyette bulunan işletmeler için oluşturulmuş kapsamlı bir etik kurallar setini ortaya koyar. İşletmeler için oluşturulan ilkelerle ilgili başlıklar aşağıda sıralanmıştır.</a:t>
            </a:r>
          </a:p>
          <a:p>
            <a:pPr>
              <a:lnSpc>
                <a:spcPct val="110000"/>
              </a:lnSpc>
            </a:pPr>
            <a:r>
              <a:rPr lang="tr-TR" sz="1100" b="1" i="0" u="none" strike="noStrike" baseline="0">
                <a:latin typeface="MinionPro-Bold"/>
              </a:rPr>
              <a:t>İlke 1. </a:t>
            </a:r>
            <a:r>
              <a:rPr lang="tr-TR" sz="1100" b="0" i="0" u="none" strike="noStrike" baseline="0">
                <a:latin typeface="MinionPro-Regular"/>
              </a:rPr>
              <a:t>İşletmenin sorumluluğu: Ortakların ötesine paydaşlara yönelme</a:t>
            </a:r>
          </a:p>
          <a:p>
            <a:pPr>
              <a:lnSpc>
                <a:spcPct val="110000"/>
              </a:lnSpc>
            </a:pPr>
            <a:r>
              <a:rPr lang="tr-TR" sz="1100" b="1" i="0" u="none" strike="noStrike" baseline="0">
                <a:latin typeface="MinionPro-Bold"/>
              </a:rPr>
              <a:t>İlke 2. </a:t>
            </a:r>
            <a:r>
              <a:rPr lang="tr-TR" sz="1100" b="0" i="0" u="none" strike="noStrike" baseline="0">
                <a:latin typeface="MinionPro-Regular"/>
              </a:rPr>
              <a:t>İşletmenin ekonomik ve sosyal etkisi: İnovasyon, adalet ve tüm insanlığayönelme</a:t>
            </a:r>
          </a:p>
          <a:p>
            <a:pPr>
              <a:lnSpc>
                <a:spcPct val="110000"/>
              </a:lnSpc>
            </a:pPr>
            <a:r>
              <a:rPr lang="tr-TR" sz="1100" b="1" i="0" u="none" strike="noStrike" baseline="0">
                <a:latin typeface="MinionPro-Bold"/>
              </a:rPr>
              <a:t>İlke 3. </a:t>
            </a:r>
            <a:r>
              <a:rPr lang="tr-TR" sz="1100" b="0" i="0" u="none" strike="noStrike" baseline="0">
                <a:latin typeface="MinionPro-Regular"/>
              </a:rPr>
              <a:t>İşletme davranışı: Yasaların ötesinde güven oluşturmaya yönelme</a:t>
            </a:r>
          </a:p>
          <a:p>
            <a:pPr>
              <a:lnSpc>
                <a:spcPct val="110000"/>
              </a:lnSpc>
            </a:pPr>
            <a:r>
              <a:rPr lang="tr-TR" sz="1100" b="1" i="0" u="none" strike="noStrike" baseline="0">
                <a:latin typeface="MinionPro-Bold"/>
              </a:rPr>
              <a:t>İlke 4. </a:t>
            </a:r>
            <a:r>
              <a:rPr lang="tr-TR" sz="1100" b="0" i="0" u="none" strike="noStrike" baseline="0">
                <a:latin typeface="MinionPro-Regular"/>
              </a:rPr>
              <a:t>Kurallara saygı</a:t>
            </a:r>
          </a:p>
          <a:p>
            <a:pPr>
              <a:lnSpc>
                <a:spcPct val="110000"/>
              </a:lnSpc>
            </a:pPr>
            <a:r>
              <a:rPr lang="tr-TR" sz="1100" b="1" i="0" u="none" strike="noStrike" baseline="0">
                <a:latin typeface="MinionPro-Bold"/>
              </a:rPr>
              <a:t>İlke 5. </a:t>
            </a:r>
            <a:r>
              <a:rPr lang="tr-TR" sz="1100" b="0" i="0" u="none" strike="noStrike" baseline="0">
                <a:latin typeface="MinionPro-Regular"/>
              </a:rPr>
              <a:t>Çok taraflı ticarete destek</a:t>
            </a:r>
          </a:p>
          <a:p>
            <a:pPr>
              <a:lnSpc>
                <a:spcPct val="110000"/>
              </a:lnSpc>
            </a:pPr>
            <a:r>
              <a:rPr lang="tr-TR" sz="1100" b="1" i="0" u="none" strike="noStrike" baseline="0">
                <a:latin typeface="MinionPro-Bold"/>
              </a:rPr>
              <a:t>İlke 6. </a:t>
            </a:r>
            <a:r>
              <a:rPr lang="tr-TR" sz="1100" b="0" i="0" u="none" strike="noStrike" baseline="0">
                <a:latin typeface="MinionPro-Regular"/>
              </a:rPr>
              <a:t>Doğal çevreye saygı</a:t>
            </a:r>
          </a:p>
          <a:p>
            <a:pPr>
              <a:lnSpc>
                <a:spcPct val="110000"/>
              </a:lnSpc>
            </a:pPr>
            <a:r>
              <a:rPr lang="tr-TR" sz="1100" b="1" i="0" u="none" strike="noStrike" baseline="0">
                <a:latin typeface="MinionPro-Bold"/>
              </a:rPr>
              <a:t>İlke 7 </a:t>
            </a:r>
            <a:r>
              <a:rPr lang="tr-TR" sz="1100" b="0" i="0" u="none" strike="noStrike" baseline="0">
                <a:latin typeface="MinionPro-Regular"/>
              </a:rPr>
              <a:t>Yasadışı operasyonlardan kaçınma</a:t>
            </a:r>
          </a:p>
        </p:txBody>
      </p:sp>
      <p:pic>
        <p:nvPicPr>
          <p:cNvPr id="24578" name="Picture 2" descr="1994: The Caux Round Table – Principles for Business | IofC">
            <a:extLst>
              <a:ext uri="{FF2B5EF4-FFF2-40B4-BE49-F238E27FC236}">
                <a16:creationId xmlns:a16="http://schemas.microsoft.com/office/drawing/2014/main" id="{3DFC91D7-DB84-2F79-9FD2-F9388FDA7B0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091395" y="2594670"/>
            <a:ext cx="4681506" cy="1697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45813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16141-E556-8CF4-BB4B-89031EB4E4D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198ECE1-63FF-65DD-B94F-BD021BCA63D5}"/>
              </a:ext>
            </a:extLst>
          </p:cNvPr>
          <p:cNvSpPr>
            <a:spLocks noGrp="1"/>
          </p:cNvSpPr>
          <p:nvPr>
            <p:ph type="title"/>
          </p:nvPr>
        </p:nvSpPr>
        <p:spPr/>
        <p:txBody>
          <a:bodyPr/>
          <a:lstStyle/>
          <a:p>
            <a:r>
              <a:rPr lang="tr-TR" sz="1800" b="1" i="0" u="none" strike="noStrike" baseline="0">
                <a:latin typeface="MyriadPro-Bold"/>
              </a:rPr>
              <a:t>ETİK VE SOSYAL SORUMLULUK KONUSUNDA YOL GÖSTERİCİ</a:t>
            </a:r>
            <a:br>
              <a:rPr lang="tr-TR" sz="1800" b="1" i="0" u="none" strike="noStrike" baseline="0">
                <a:latin typeface="MyriadPro-Bold"/>
              </a:rPr>
            </a:br>
            <a:r>
              <a:rPr lang="tr-TR" sz="1800" b="1" i="0" u="none" strike="noStrike" baseline="0">
                <a:latin typeface="MyriadPro-Bold"/>
              </a:rPr>
              <a:t>İLKELER VE STANDARTLAR</a:t>
            </a:r>
            <a:endParaRPr lang="tr-TR"/>
          </a:p>
        </p:txBody>
      </p:sp>
      <p:sp>
        <p:nvSpPr>
          <p:cNvPr id="3" name="İçerik Yer Tutucusu 2">
            <a:extLst>
              <a:ext uri="{FF2B5EF4-FFF2-40B4-BE49-F238E27FC236}">
                <a16:creationId xmlns:a16="http://schemas.microsoft.com/office/drawing/2014/main" id="{83CAD249-A470-59D5-B6D9-83ACA6421F29}"/>
              </a:ext>
            </a:extLst>
          </p:cNvPr>
          <p:cNvSpPr>
            <a:spLocks noGrp="1"/>
          </p:cNvSpPr>
          <p:nvPr>
            <p:ph idx="1"/>
          </p:nvPr>
        </p:nvSpPr>
        <p:spPr>
          <a:xfrm>
            <a:off x="612648" y="1718514"/>
            <a:ext cx="10653579" cy="4593828"/>
          </a:xfrm>
        </p:spPr>
        <p:txBody>
          <a:bodyPr>
            <a:normAutofit/>
          </a:bodyPr>
          <a:lstStyle/>
          <a:p>
            <a:pPr algn="l"/>
            <a:r>
              <a:rPr lang="tr-TR" sz="1800" b="1" i="0" u="none" strike="noStrike" baseline="0">
                <a:latin typeface="MinionPro-Bold"/>
              </a:rPr>
              <a:t>• UN Global Compact: </a:t>
            </a:r>
            <a:r>
              <a:rPr lang="tr-TR" sz="1800" b="0" i="0" u="none" strike="noStrike" baseline="0">
                <a:latin typeface="MinionPro-Regular"/>
              </a:rPr>
              <a:t>Birleşmiş Milletler tarafından 2000 yılında evrensel kabul edilen ilkeler seti oluşturulmuştur. Toplam on ilke insan hakları, işgücü, çevre ve yolsuzlukla mücadeleyle ilgilidir. 2009 itibariyle 120 ülkeden 4700’ü aşkın sayıda işletme, bu ilkelerin altına imza atmıştır. Aşağıda yer alan Tablo 3.1.’de bu ilkeler yer almaktadır.</a:t>
            </a:r>
            <a:endParaRPr lang="tr-TR" sz="1800"/>
          </a:p>
        </p:txBody>
      </p:sp>
      <p:pic>
        <p:nvPicPr>
          <p:cNvPr id="5" name="Resim 4" descr="metin, ekran görüntüsü, yazı tipi, sayı, numara içeren bir resim&#10;&#10;Yapay zeka tarafından oluşturulan içerik yanlış olabilir.">
            <a:extLst>
              <a:ext uri="{FF2B5EF4-FFF2-40B4-BE49-F238E27FC236}">
                <a16:creationId xmlns:a16="http://schemas.microsoft.com/office/drawing/2014/main" id="{BA016AC0-17ED-CA3C-CAAE-F05A671197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8413" y="3095516"/>
            <a:ext cx="5268060" cy="3248478"/>
          </a:xfrm>
          <a:prstGeom prst="rect">
            <a:avLst/>
          </a:prstGeom>
        </p:spPr>
      </p:pic>
      <p:pic>
        <p:nvPicPr>
          <p:cNvPr id="25602" name="Picture 2">
            <a:extLst>
              <a:ext uri="{FF2B5EF4-FFF2-40B4-BE49-F238E27FC236}">
                <a16:creationId xmlns:a16="http://schemas.microsoft.com/office/drawing/2014/main" id="{F03EB005-8286-AE2A-2CF2-9F36A7C888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8104" y="4121834"/>
            <a:ext cx="2748122" cy="949613"/>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Profile for UN Global Compact Türkiye">
            <a:extLst>
              <a:ext uri="{FF2B5EF4-FFF2-40B4-BE49-F238E27FC236}">
                <a16:creationId xmlns:a16="http://schemas.microsoft.com/office/drawing/2014/main" id="{74584303-F085-56BE-F11C-C7AFAF146E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607" y="3648192"/>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53771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64613-0CD9-9A2D-B8C2-4D9D1B4F9E3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9D4F16F-EC05-2E2A-AFF5-3B537ADE28D2}"/>
              </a:ext>
            </a:extLst>
          </p:cNvPr>
          <p:cNvSpPr>
            <a:spLocks noGrp="1"/>
          </p:cNvSpPr>
          <p:nvPr>
            <p:ph type="title"/>
          </p:nvPr>
        </p:nvSpPr>
        <p:spPr/>
        <p:txBody>
          <a:bodyPr/>
          <a:lstStyle/>
          <a:p>
            <a:r>
              <a:rPr lang="tr-TR" sz="1800" b="1" i="0" u="none" strike="noStrike" baseline="0">
                <a:latin typeface="MyriadPro-Bold"/>
              </a:rPr>
              <a:t>ETİK VE SOSYAL SORUMLULUK KONUSUNDA YOL GÖSTERİCİ</a:t>
            </a:r>
            <a:br>
              <a:rPr lang="tr-TR" sz="1800" b="1" i="0" u="none" strike="noStrike" baseline="0">
                <a:latin typeface="MyriadPro-Bold"/>
              </a:rPr>
            </a:br>
            <a:r>
              <a:rPr lang="tr-TR" sz="1800" b="1" i="0" u="none" strike="noStrike" baseline="0">
                <a:latin typeface="MyriadPro-Bold"/>
              </a:rPr>
              <a:t>İLKELER VE STANDARTLAR</a:t>
            </a:r>
            <a:endParaRPr lang="tr-TR"/>
          </a:p>
        </p:txBody>
      </p:sp>
      <p:sp>
        <p:nvSpPr>
          <p:cNvPr id="3" name="İçerik Yer Tutucusu 2">
            <a:extLst>
              <a:ext uri="{FF2B5EF4-FFF2-40B4-BE49-F238E27FC236}">
                <a16:creationId xmlns:a16="http://schemas.microsoft.com/office/drawing/2014/main" id="{0F54F351-F688-7537-ABBF-BA316626A817}"/>
              </a:ext>
            </a:extLst>
          </p:cNvPr>
          <p:cNvSpPr>
            <a:spLocks noGrp="1"/>
          </p:cNvSpPr>
          <p:nvPr>
            <p:ph idx="1"/>
          </p:nvPr>
        </p:nvSpPr>
        <p:spPr/>
        <p:txBody>
          <a:bodyPr>
            <a:normAutofit lnSpcReduction="10000"/>
          </a:bodyPr>
          <a:lstStyle/>
          <a:p>
            <a:pPr algn="l"/>
            <a:r>
              <a:rPr lang="tr-TR" sz="1800" b="0" i="1" u="none" strike="noStrike" baseline="0">
                <a:latin typeface="MinionPro-It"/>
              </a:rPr>
              <a:t>Standartlar</a:t>
            </a:r>
          </a:p>
          <a:p>
            <a:pPr algn="l"/>
            <a:r>
              <a:rPr lang="tr-TR" sz="1800" b="0" i="0" u="none" strike="noStrike" baseline="0">
                <a:latin typeface="MinionPro-Regular"/>
              </a:rPr>
              <a:t>İşletmelerin etik ve sosyal sorumlu davranış ilkelerini benimsediğini ve işletme içi süreçlerle bu konuda planlı bir iyileştirme çabası içinde olduklarını onaylayan ve bunu paydaşlarına duyurmalarını sağlayan birtakım uluslararası standartlar mevcuttur. Örneğin ISO 14000, SA 8000 ve ISO 26000 bu standartlar arasında sayılabilir.</a:t>
            </a:r>
          </a:p>
          <a:p>
            <a:pPr algn="l"/>
            <a:r>
              <a:rPr lang="tr-TR" sz="1800" b="1" i="0" u="none" strike="noStrike" baseline="0">
                <a:latin typeface="MinionPro-Bold"/>
              </a:rPr>
              <a:t>ISO 14000: </a:t>
            </a:r>
            <a:r>
              <a:rPr lang="tr-TR" sz="1800" b="0" i="0" u="none" strike="noStrike" baseline="0">
                <a:latin typeface="MinionPro-Regular"/>
              </a:rPr>
              <a:t>Bu standart, bir dizi standart serisinden oluşmaktadır. İşletmelerin doğal çevre ile etkileşimlerini yönetmede en iyi uygulamalara yönelik kuralları oluşturmada yol gösterir. Özünde işletmelerin çevre yönetim sistemlerini akredite eder. Çevre yönetimi konusunda en yaygın olarak kullanılan standarttır. Kimi çok uluslu firmalar tedarikçilerini seçerken bu standardı bir seçme kriteri olarak kullanmaktadırlar.</a:t>
            </a:r>
          </a:p>
          <a:p>
            <a:pPr algn="l"/>
            <a:r>
              <a:rPr lang="tr-TR" sz="1800" b="1" i="0" u="none" strike="noStrike" baseline="0">
                <a:latin typeface="MinionPro-Bold"/>
              </a:rPr>
              <a:t>SA 8000 (Social Accountability 8000): </a:t>
            </a:r>
            <a:r>
              <a:rPr lang="tr-TR" sz="1800" b="0" i="0" u="none" strike="noStrike" baseline="0">
                <a:latin typeface="MinionPro-Regular"/>
              </a:rPr>
              <a:t>Uluslararası Sosyal Hesapverebilirlik (SAI) Kurumu tarafından oluşturulmuş bu standart, sosyal hesap verebilirlik ve iş yeri çalışma koşulları ile ilgili bir standarttır. Tedarik zincirinde işgörenlerle ilgili konular üzerinde odaklanır ve çalışanları ve iş yeri çalışma koşullarını içerir. İnsan hakları ve iş hukuku konusundaki uluslararası anlaşmalara dayanır.</a:t>
            </a:r>
            <a:endParaRPr lang="tr-TR" sz="1800"/>
          </a:p>
        </p:txBody>
      </p:sp>
      <p:pic>
        <p:nvPicPr>
          <p:cNvPr id="26626" name="Picture 2" descr="Iso Certification Any Standard at ₹ 2999/certificate in Kolkata | ID:  2852812768062">
            <a:extLst>
              <a:ext uri="{FF2B5EF4-FFF2-40B4-BE49-F238E27FC236}">
                <a16:creationId xmlns:a16="http://schemas.microsoft.com/office/drawing/2014/main" id="{C687D5FD-4F11-1FCA-0208-84DFF76AC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7970" y="635351"/>
            <a:ext cx="1396512" cy="1396512"/>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SA 8000 Sosyal Sorumluluk Yönetim Sistemi » Atacert">
            <a:extLst>
              <a:ext uri="{FF2B5EF4-FFF2-40B4-BE49-F238E27FC236}">
                <a16:creationId xmlns:a16="http://schemas.microsoft.com/office/drawing/2014/main" id="{2E7403B1-DE83-04B2-8DE9-91A78D81E8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4704" y="692354"/>
            <a:ext cx="2565010" cy="1282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8693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362E6-F376-E4AB-73F3-CB62B43915C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F56DDA3-6D27-E969-A4A7-7CF02052171D}"/>
              </a:ext>
            </a:extLst>
          </p:cNvPr>
          <p:cNvSpPr>
            <a:spLocks noGrp="1"/>
          </p:cNvSpPr>
          <p:nvPr>
            <p:ph type="title"/>
          </p:nvPr>
        </p:nvSpPr>
        <p:spPr/>
        <p:txBody>
          <a:bodyPr/>
          <a:lstStyle/>
          <a:p>
            <a:r>
              <a:rPr lang="tr-TR" sz="1800" b="1" i="0" u="none" strike="noStrike" baseline="0">
                <a:latin typeface="MyriadPro-Bold"/>
              </a:rPr>
              <a:t>ETİK VE SOSYAL SORUMLULUK KONUSUNDA YOL GÖSTERİCİ</a:t>
            </a:r>
            <a:br>
              <a:rPr lang="tr-TR" sz="1800" b="1" i="0" u="none" strike="noStrike" baseline="0">
                <a:latin typeface="MyriadPro-Bold"/>
              </a:rPr>
            </a:br>
            <a:r>
              <a:rPr lang="tr-TR" sz="1800" b="1" i="0" u="none" strike="noStrike" baseline="0">
                <a:latin typeface="MyriadPro-Bold"/>
              </a:rPr>
              <a:t>İLKELER VE STANDARTLAR</a:t>
            </a:r>
            <a:endParaRPr lang="tr-TR"/>
          </a:p>
        </p:txBody>
      </p:sp>
      <p:sp>
        <p:nvSpPr>
          <p:cNvPr id="3" name="İçerik Yer Tutucusu 2">
            <a:extLst>
              <a:ext uri="{FF2B5EF4-FFF2-40B4-BE49-F238E27FC236}">
                <a16:creationId xmlns:a16="http://schemas.microsoft.com/office/drawing/2014/main" id="{404D7585-62B3-F08A-23AD-C0942B9E2F6C}"/>
              </a:ext>
            </a:extLst>
          </p:cNvPr>
          <p:cNvSpPr>
            <a:spLocks noGrp="1"/>
          </p:cNvSpPr>
          <p:nvPr>
            <p:ph idx="1"/>
          </p:nvPr>
        </p:nvSpPr>
        <p:spPr/>
        <p:txBody>
          <a:bodyPr>
            <a:normAutofit/>
          </a:bodyPr>
          <a:lstStyle/>
          <a:p>
            <a:pPr algn="l"/>
            <a:r>
              <a:rPr lang="tr-TR" sz="1800" b="0" i="1" u="none" strike="noStrike" baseline="0">
                <a:latin typeface="MinionPro-It"/>
              </a:rPr>
              <a:t>Standartlar</a:t>
            </a:r>
          </a:p>
          <a:p>
            <a:pPr algn="l"/>
            <a:r>
              <a:rPr lang="tr-TR" sz="1800" b="1" i="0" u="none" strike="noStrike" baseline="0">
                <a:latin typeface="MinionPro-Bold"/>
              </a:rPr>
              <a:t>ISO 26000: </a:t>
            </a:r>
            <a:r>
              <a:rPr lang="tr-TR" sz="1800" b="0" i="0" u="none" strike="noStrike" baseline="0">
                <a:latin typeface="MinionPro-Regular"/>
              </a:rPr>
              <a:t>ISO’nun en yeni girişimi şirket sosyal sorumluluğu için geliştirdikleri ISO 26000 standartıdır. İş dünyası, sanayi odaları, sendikalar, hükümetler ve sivil toplum kuruluşlarından geniş katılımlı küresel temsilciler karmaşık ve çok katmanlı sosyal sorumluluk konusunu tartışmışlardır. Bu standart daha çok bir rehber niteliği taşır. Ancak sorumluluk süreçleri açısından değerli bir yol göstericidir.</a:t>
            </a:r>
          </a:p>
          <a:p>
            <a:pPr algn="l"/>
            <a:r>
              <a:rPr lang="tr-TR" sz="1800" b="0" i="0" u="none" strike="noStrike" baseline="0">
                <a:latin typeface="MinionPro-Regular"/>
              </a:rPr>
              <a:t>Sorumlulukla ilgili kimi göstergeler, doğaları gereği daha çok nitelikseldir.</a:t>
            </a:r>
          </a:p>
          <a:p>
            <a:pPr algn="l"/>
            <a:r>
              <a:rPr lang="tr-TR" sz="1800" b="0" i="0" u="none" strike="noStrike" baseline="0">
                <a:latin typeface="MinionPro-Regular"/>
              </a:rPr>
              <a:t>Örneğin çalışan tatmini, müşteri motivasyonu, şirket değerleri, etik karar alma süreçleri gibi boyutlar algısal olarak ölçülür. Bu onların değerini eksiltmez.</a:t>
            </a:r>
            <a:endParaRPr lang="tr-TR" sz="1800"/>
          </a:p>
        </p:txBody>
      </p:sp>
      <p:pic>
        <p:nvPicPr>
          <p:cNvPr id="27650" name="Picture 2" descr="ISO 26000 Sosyal Sorumluluk Kılavuzu ve Kurumsal Sosyal Sorumluluğa Katkısı  - Kaliteaktüel">
            <a:extLst>
              <a:ext uri="{FF2B5EF4-FFF2-40B4-BE49-F238E27FC236}">
                <a16:creationId xmlns:a16="http://schemas.microsoft.com/office/drawing/2014/main" id="{A8E1795E-69F1-C7D1-F892-ADD0D99B4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8108" y="4562621"/>
            <a:ext cx="3588118" cy="2056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31578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95979B-BA2D-9774-FB47-2AE63C1ECED5}"/>
            </a:ext>
          </a:extLst>
        </p:cNvPr>
        <p:cNvGrpSpPr/>
        <p:nvPr/>
      </p:nvGrpSpPr>
      <p:grpSpPr>
        <a:xfrm>
          <a:off x="0" y="0"/>
          <a:ext cx="0" cy="0"/>
          <a:chOff x="0" y="0"/>
          <a:chExt cx="0" cy="0"/>
        </a:xfrm>
      </p:grpSpPr>
      <p:sp>
        <p:nvSpPr>
          <p:cNvPr id="28679" name="Rectangle 28678">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E2FB77C9-025F-5710-55C8-8063C902471F}"/>
              </a:ext>
            </a:extLst>
          </p:cNvPr>
          <p:cNvSpPr>
            <a:spLocks noGrp="1"/>
          </p:cNvSpPr>
          <p:nvPr>
            <p:ph type="title"/>
          </p:nvPr>
        </p:nvSpPr>
        <p:spPr>
          <a:xfrm>
            <a:off x="614679" y="548640"/>
            <a:ext cx="4779572" cy="2067705"/>
          </a:xfrm>
        </p:spPr>
        <p:txBody>
          <a:bodyPr anchor="t">
            <a:normAutofit/>
          </a:bodyPr>
          <a:lstStyle/>
          <a:p>
            <a:r>
              <a:rPr lang="tr-TR" sz="3100" b="1" i="0" u="none" strike="noStrike" baseline="0">
                <a:latin typeface="MyriadPro-Bold"/>
              </a:rPr>
              <a:t>ETİK VE SOSYAL SORUMLULUK KONUSUNDA YOL GÖSTERİCİ</a:t>
            </a:r>
            <a:br>
              <a:rPr lang="tr-TR" sz="3100" b="1" i="0" u="none" strike="noStrike" baseline="0">
                <a:latin typeface="MyriadPro-Bold"/>
              </a:rPr>
            </a:br>
            <a:r>
              <a:rPr lang="tr-TR" sz="3100" b="1" i="0" u="none" strike="noStrike" baseline="0">
                <a:latin typeface="MyriadPro-Bold"/>
              </a:rPr>
              <a:t>İLKELER VE STANDARTLAR</a:t>
            </a:r>
            <a:endParaRPr lang="tr-TR" sz="3100"/>
          </a:p>
        </p:txBody>
      </p:sp>
      <p:sp>
        <p:nvSpPr>
          <p:cNvPr id="3" name="İçerik Yer Tutucusu 2">
            <a:extLst>
              <a:ext uri="{FF2B5EF4-FFF2-40B4-BE49-F238E27FC236}">
                <a16:creationId xmlns:a16="http://schemas.microsoft.com/office/drawing/2014/main" id="{E757EF6E-C1B8-7D78-0915-90375C044BF5}"/>
              </a:ext>
            </a:extLst>
          </p:cNvPr>
          <p:cNvSpPr>
            <a:spLocks noGrp="1"/>
          </p:cNvSpPr>
          <p:nvPr>
            <p:ph idx="1"/>
          </p:nvPr>
        </p:nvSpPr>
        <p:spPr>
          <a:xfrm>
            <a:off x="6030551" y="548638"/>
            <a:ext cx="5546770" cy="5760721"/>
          </a:xfrm>
        </p:spPr>
        <p:txBody>
          <a:bodyPr anchor="t">
            <a:normAutofit/>
          </a:bodyPr>
          <a:lstStyle/>
          <a:p>
            <a:r>
              <a:rPr lang="tr-TR" sz="1800" b="1" i="0" u="none" strike="noStrike" baseline="0">
                <a:latin typeface="MyriadPro-Bold"/>
              </a:rPr>
              <a:t>Raporlama Rehberi</a:t>
            </a:r>
          </a:p>
          <a:p>
            <a:r>
              <a:rPr lang="tr-TR" sz="1800" b="1" i="0" u="none" strike="noStrike" baseline="0">
                <a:latin typeface="Garamond-Bold"/>
              </a:rPr>
              <a:t>GRI: </a:t>
            </a:r>
            <a:r>
              <a:rPr lang="tr-TR" sz="1800" b="0" i="0" u="none" strike="noStrike" baseline="0">
                <a:latin typeface="MinionPro-Regular"/>
              </a:rPr>
              <a:t>Küresel Raporlama Girişimi (Global Reporting Initiative_GRI). 1997 yılında çalışmalarına başlayan GRI, bütünleşik sorumluluk raporlaması konusunda dünya çapında en yaygın olarak kabul görmüş bir inisiyatiftir. Çevre, sosyal ve ekonomik boyutlardan oluşan üçlü sorumluluğu bütünleşik olarak ele almış, kapsamlı bir çerçeve oluşturmuş ve yayımlamıştır. İşletmelerin kendi faaliyetlerine ve ürün-hizmetlerine ilişkin çevresel, sosyal ve ekonomik sonuçlarını raporlayabilmeleri için sürdürülebilirlik raporlama rehberi oluşturmuştur.</a:t>
            </a:r>
            <a:endParaRPr lang="tr-TR" sz="1800"/>
          </a:p>
        </p:txBody>
      </p:sp>
      <p:pic>
        <p:nvPicPr>
          <p:cNvPr id="28674" name="Picture 2" descr="Küresel Raporlama Girişimi / Global Reporting Initiative - GRI">
            <a:extLst>
              <a:ext uri="{FF2B5EF4-FFF2-40B4-BE49-F238E27FC236}">
                <a16:creationId xmlns:a16="http://schemas.microsoft.com/office/drawing/2014/main" id="{D5E87A3F-6768-BE93-6A4B-1386D9F6794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1520" y="4065957"/>
            <a:ext cx="4673754" cy="224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5030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F577B10-77F2-0336-9DBD-5F0BE9838B17}"/>
              </a:ext>
            </a:extLst>
          </p:cNvPr>
          <p:cNvSpPr>
            <a:spLocks noGrp="1"/>
          </p:cNvSpPr>
          <p:nvPr>
            <p:ph idx="1"/>
          </p:nvPr>
        </p:nvSpPr>
        <p:spPr/>
        <p:txBody>
          <a:bodyPr/>
          <a:lstStyle/>
          <a:p>
            <a:r>
              <a:rPr lang="tr-TR"/>
              <a:t>TEŞEKKÜRLER</a:t>
            </a:r>
          </a:p>
        </p:txBody>
      </p:sp>
    </p:spTree>
    <p:extLst>
      <p:ext uri="{BB962C8B-B14F-4D97-AF65-F5344CB8AC3E}">
        <p14:creationId xmlns:p14="http://schemas.microsoft.com/office/powerpoint/2010/main" val="3090422451"/>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978</TotalTime>
  <Words>7077</Words>
  <Application>Microsoft Macintosh PowerPoint</Application>
  <PresentationFormat>Geniş ekran</PresentationFormat>
  <Paragraphs>281</Paragraphs>
  <Slides>54</Slides>
  <Notes>54</Notes>
  <HiddenSlides>0</HiddenSlides>
  <MMClips>0</MMClips>
  <ScaleCrop>false</ScaleCrop>
  <HeadingPairs>
    <vt:vector size="6" baseType="variant">
      <vt:variant>
        <vt:lpstr>Kullanılan Yazı Tipleri</vt:lpstr>
      </vt:variant>
      <vt:variant>
        <vt:i4>12</vt:i4>
      </vt:variant>
      <vt:variant>
        <vt:lpstr>Tema</vt:lpstr>
      </vt:variant>
      <vt:variant>
        <vt:i4>1</vt:i4>
      </vt:variant>
      <vt:variant>
        <vt:lpstr>Slayt Başlıkları</vt:lpstr>
      </vt:variant>
      <vt:variant>
        <vt:i4>54</vt:i4>
      </vt:variant>
    </vt:vector>
  </HeadingPairs>
  <TitlesOfParts>
    <vt:vector size="67" baseType="lpstr">
      <vt:lpstr>Aptos</vt:lpstr>
      <vt:lpstr>Arial</vt:lpstr>
      <vt:lpstr>Garamond-Bold</vt:lpstr>
      <vt:lpstr>MinionPro-Bold</vt:lpstr>
      <vt:lpstr>MinionPro-BoldCn</vt:lpstr>
      <vt:lpstr>MinionPro-BoldIt</vt:lpstr>
      <vt:lpstr>MinionPro-It</vt:lpstr>
      <vt:lpstr>MinionPro-Regular</vt:lpstr>
      <vt:lpstr>MyriadPro-Bold</vt:lpstr>
      <vt:lpstr>MyriadPro-BoldCond</vt:lpstr>
      <vt:lpstr>MyriadPro-Cond</vt:lpstr>
      <vt:lpstr>Neue Haas Grotesk Text Pro</vt:lpstr>
      <vt:lpstr>VanillaVTI</vt:lpstr>
      <vt:lpstr>İŞLETME BİLİMİNE GİRİŞ</vt:lpstr>
      <vt:lpstr>Etik ve Sosyal Sorumluluk</vt:lpstr>
      <vt:lpstr>Etik ve Sosyal Sorumluluk</vt:lpstr>
      <vt:lpstr>ETİK VE YASA İLİŞKİSİ</vt:lpstr>
      <vt:lpstr>ETİK VE YASA İLİŞKİSİ</vt:lpstr>
      <vt:lpstr>ETİK KARAR ALMA YAKLAŞIMLARI</vt:lpstr>
      <vt:lpstr>ETİK KARAR ALMA YAKLAŞIMLARI</vt:lpstr>
      <vt:lpstr>ETİK KARAR ALMA YAKLAŞIMLARI</vt:lpstr>
      <vt:lpstr>ETİK KARAR ALMA YAKLAŞIMLARI</vt:lpstr>
      <vt:lpstr>ETİK KARAR ALMA YAKLAŞIMLARI</vt:lpstr>
      <vt:lpstr>ETİK KARAR ALMA YAKLAŞIMLARI</vt:lpstr>
      <vt:lpstr>ETİK DAVRANIŞI ETKİLEYEN FAKTÖRLER</vt:lpstr>
      <vt:lpstr>ETİK DAVRANIŞI ETKİLEYEN FAKTÖRLER</vt:lpstr>
      <vt:lpstr>ETİK DAVRANIŞI ETKİLEYEN FAKTÖRLER</vt:lpstr>
      <vt:lpstr>ETİK DAVRANIŞI ETKİLEYEN FAKTÖRLER</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ETİK YÖNETİMİ VE ETİK YÖNETİMİNİN UNSURLARI</vt:lpstr>
      <vt:lpstr>SOSYAL SORUMLULUK KAVRAMI VE TEMEL YAKLAŞIMLAR</vt:lpstr>
      <vt:lpstr>SOSYAL SORUMLULUK KAVRAMI VE TEMEL YAKLAŞIMLAR</vt:lpstr>
      <vt:lpstr>SOSYAL SORUMLULUK KAVRAMI VE TEMEL YAKLAŞIMLAR</vt:lpstr>
      <vt:lpstr>SOSYAL SORUMLULUK KAVRAMI VE TEMEL YAKLAŞIMLAR</vt:lpstr>
      <vt:lpstr>SOSYAL SORUMLULUK DÜZEYLERİ</vt:lpstr>
      <vt:lpstr>SOSYAL SORUMLULUK DÜZEYLERİ</vt:lpstr>
      <vt:lpstr>SOSYAL SORUMLULUK DÜZEYLERİ</vt:lpstr>
      <vt:lpstr>SOSYAL SORUMLULUK DÜZEYLERİ</vt:lpstr>
      <vt:lpstr>Sosyal Sorumluluk ve Paydaş Yaklaşımı İlişkisi</vt:lpstr>
      <vt:lpstr>Sosyal Sorumluluk ve Paydaş Yaklaşımı İlişkisi</vt:lpstr>
      <vt:lpstr>Sosyal Sorumluluk ve Paydaş Yaklaşımı İlişkisi</vt:lpstr>
      <vt:lpstr>Sosyal Sorumluluk ve Paydaş Yaklaşımı İlişkisi</vt:lpstr>
      <vt:lpstr>SOSYAL SORUMLU İŞLETME OLMANIN YOL HARİTASI</vt:lpstr>
      <vt:lpstr>SOSYAL SORUMLU İŞLETME OLMANIN YOL HARİTASI</vt:lpstr>
      <vt:lpstr>SOSYAL SORUMLU İŞLETME OLMANIN YOL HARİTASI</vt:lpstr>
      <vt:lpstr>SOSYAL SORUMLU İŞLETME OLMANIN YOL HARİTASI</vt:lpstr>
      <vt:lpstr>SOSYAL SORUMLU İŞLETME OLMANIN YOL HARİTASI</vt:lpstr>
      <vt:lpstr>SOSYAL SORUMLU İŞLETME OLMANIN YOL HARİTASI</vt:lpstr>
      <vt:lpstr>SOSYAL SORUMLU İŞLETME OLMANIN YOL HARİTASI</vt:lpstr>
      <vt:lpstr>ETİK VE SOSYAL SORUMLULUK KONUSUNDA YOL GÖSTERİCİ İLKELER VE STANDARTLAR</vt:lpstr>
      <vt:lpstr>ETİK VE SOSYAL SORUMLULUK KONUSUNDA YOL GÖSTERİCİ İLKELER VE STANDARTLAR</vt:lpstr>
      <vt:lpstr>ETİK VE SOSYAL SORUMLULUK KONUSUNDA YOL GÖSTERİCİ İLKELER VE STANDARTLAR</vt:lpstr>
      <vt:lpstr>ETİK VE SOSYAL SORUMLULUK KONUSUNDA YOL GÖSTERİCİ İLKELER VE STANDARTLAR</vt:lpstr>
      <vt:lpstr>ETİK VE SOSYAL SORUMLULUK KONUSUNDA YOL GÖSTERİCİ İLKELER VE STANDARTLAR</vt:lpstr>
      <vt:lpstr>ETİK VE SOSYAL SORUMLULUK KONUSUNDA YOL GÖSTERİCİ İLKELER VE STANDARTLAR</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İŞLETME BİLİMİNE GİRİŞ</dc:title>
  <dc:creator>Fatih Çallı</dc:creator>
  <cp:lastModifiedBy>Fatih Çallı</cp:lastModifiedBy>
  <cp:revision>7</cp:revision>
  <dcterms:created xsi:type="dcterms:W3CDTF">2025-03-03T07:52:10Z</dcterms:created>
  <dcterms:modified xsi:type="dcterms:W3CDTF">2025-03-05T10:27:16Z</dcterms:modified>
</cp:coreProperties>
</file>