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88"/>
  </p:notesMasterIdLst>
  <p:sldIdLst>
    <p:sldId id="257" r:id="rId2"/>
    <p:sldId id="329" r:id="rId3"/>
    <p:sldId id="330" r:id="rId4"/>
    <p:sldId id="331" r:id="rId5"/>
    <p:sldId id="332" r:id="rId6"/>
    <p:sldId id="352" r:id="rId7"/>
    <p:sldId id="333" r:id="rId8"/>
    <p:sldId id="334" r:id="rId9"/>
    <p:sldId id="315" r:id="rId10"/>
    <p:sldId id="335" r:id="rId11"/>
    <p:sldId id="353" r:id="rId12"/>
    <p:sldId id="354" r:id="rId13"/>
    <p:sldId id="336" r:id="rId14"/>
    <p:sldId id="318" r:id="rId15"/>
    <p:sldId id="319" r:id="rId16"/>
    <p:sldId id="320" r:id="rId17"/>
    <p:sldId id="272" r:id="rId18"/>
    <p:sldId id="274" r:id="rId19"/>
    <p:sldId id="343" r:id="rId20"/>
    <p:sldId id="344" r:id="rId21"/>
    <p:sldId id="275" r:id="rId22"/>
    <p:sldId id="321" r:id="rId23"/>
    <p:sldId id="276" r:id="rId24"/>
    <p:sldId id="322" r:id="rId25"/>
    <p:sldId id="278" r:id="rId26"/>
    <p:sldId id="279" r:id="rId27"/>
    <p:sldId id="323" r:id="rId28"/>
    <p:sldId id="277" r:id="rId29"/>
    <p:sldId id="280" r:id="rId30"/>
    <p:sldId id="281" r:id="rId31"/>
    <p:sldId id="324" r:id="rId32"/>
    <p:sldId id="282" r:id="rId33"/>
    <p:sldId id="305" r:id="rId34"/>
    <p:sldId id="306" r:id="rId35"/>
    <p:sldId id="307" r:id="rId36"/>
    <p:sldId id="308" r:id="rId37"/>
    <p:sldId id="314" r:id="rId38"/>
    <p:sldId id="309" r:id="rId39"/>
    <p:sldId id="317" r:id="rId40"/>
    <p:sldId id="355" r:id="rId41"/>
    <p:sldId id="285" r:id="rId42"/>
    <p:sldId id="286" r:id="rId43"/>
    <p:sldId id="287" r:id="rId44"/>
    <p:sldId id="288" r:id="rId45"/>
    <p:sldId id="289" r:id="rId46"/>
    <p:sldId id="356" r:id="rId47"/>
    <p:sldId id="357" r:id="rId48"/>
    <p:sldId id="291" r:id="rId49"/>
    <p:sldId id="292" r:id="rId50"/>
    <p:sldId id="293" r:id="rId51"/>
    <p:sldId id="294" r:id="rId52"/>
    <p:sldId id="295" r:id="rId53"/>
    <p:sldId id="310" r:id="rId54"/>
    <p:sldId id="311" r:id="rId55"/>
    <p:sldId id="312" r:id="rId56"/>
    <p:sldId id="313" r:id="rId57"/>
    <p:sldId id="358" r:id="rId58"/>
    <p:sldId id="296" r:id="rId59"/>
    <p:sldId id="297" r:id="rId60"/>
    <p:sldId id="345" r:id="rId61"/>
    <p:sldId id="298" r:id="rId62"/>
    <p:sldId id="299" r:id="rId63"/>
    <p:sldId id="346" r:id="rId64"/>
    <p:sldId id="300" r:id="rId65"/>
    <p:sldId id="301" r:id="rId66"/>
    <p:sldId id="347" r:id="rId67"/>
    <p:sldId id="256" r:id="rId68"/>
    <p:sldId id="303" r:id="rId69"/>
    <p:sldId id="304" r:id="rId70"/>
    <p:sldId id="258" r:id="rId71"/>
    <p:sldId id="259" r:id="rId72"/>
    <p:sldId id="260" r:id="rId73"/>
    <p:sldId id="337" r:id="rId74"/>
    <p:sldId id="338" r:id="rId75"/>
    <p:sldId id="339" r:id="rId76"/>
    <p:sldId id="340" r:id="rId77"/>
    <p:sldId id="341" r:id="rId78"/>
    <p:sldId id="261" r:id="rId79"/>
    <p:sldId id="262" r:id="rId80"/>
    <p:sldId id="263" r:id="rId81"/>
    <p:sldId id="264" r:id="rId82"/>
    <p:sldId id="342" r:id="rId83"/>
    <p:sldId id="348" r:id="rId84"/>
    <p:sldId id="349" r:id="rId85"/>
    <p:sldId id="350" r:id="rId86"/>
    <p:sldId id="351" r:id="rId87"/>
  </p:sldIdLst>
  <p:sldSz cx="9144000" cy="6858000" type="screen4x3"/>
  <p:notesSz cx="6858000" cy="9144000"/>
  <p:custDataLst>
    <p:tags r:id="rId8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53" autoAdjust="0"/>
    <p:restoredTop sz="76606" autoAdjust="0"/>
  </p:normalViewPr>
  <p:slideViewPr>
    <p:cSldViewPr>
      <p:cViewPr varScale="1">
        <p:scale>
          <a:sx n="67" d="100"/>
          <a:sy n="67" d="100"/>
        </p:scale>
        <p:origin x="1866" y="66"/>
      </p:cViewPr>
      <p:guideLst>
        <p:guide orient="horz" pos="2160"/>
        <p:guide pos="2880"/>
      </p:guideLst>
    </p:cSldViewPr>
  </p:slideViewPr>
  <p:outlineViewPr>
    <p:cViewPr>
      <p:scale>
        <a:sx n="33" d="100"/>
        <a:sy n="33" d="100"/>
      </p:scale>
      <p:origin x="0" y="1033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sv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ata1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png"/><Relationship Id="rId11" Type="http://schemas.openxmlformats.org/officeDocument/2006/relationships/image" Target="../media/image67.jpeg"/><Relationship Id="rId5" Type="http://schemas.openxmlformats.org/officeDocument/2006/relationships/image" Target="../media/image61.jpeg"/><Relationship Id="rId10" Type="http://schemas.openxmlformats.org/officeDocument/2006/relationships/image" Target="../media/image66.jpeg"/><Relationship Id="rId4" Type="http://schemas.openxmlformats.org/officeDocument/2006/relationships/image" Target="../media/image60.svg"/><Relationship Id="rId9" Type="http://schemas.openxmlformats.org/officeDocument/2006/relationships/image" Target="../media/image65.svg"/></Relationships>
</file>

<file path=ppt/diagrams/_rels/data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sv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png"/><Relationship Id="rId11" Type="http://schemas.openxmlformats.org/officeDocument/2006/relationships/image" Target="../media/image67.jpeg"/><Relationship Id="rId5" Type="http://schemas.openxmlformats.org/officeDocument/2006/relationships/image" Target="../media/image61.jpeg"/><Relationship Id="rId10" Type="http://schemas.openxmlformats.org/officeDocument/2006/relationships/image" Target="../media/image66.jpeg"/><Relationship Id="rId4" Type="http://schemas.openxmlformats.org/officeDocument/2006/relationships/image" Target="../media/image60.svg"/><Relationship Id="rId9" Type="http://schemas.openxmlformats.org/officeDocument/2006/relationships/image" Target="../media/image65.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C299C-AF19-465A-82E3-6CB31CB63B11}"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1C5B1CE3-9578-454D-ACF6-5C30E61EC2D9}">
      <dgm:prSet/>
      <dgm:spPr/>
      <dgm:t>
        <a:bodyPr/>
        <a:lstStyle/>
        <a:p>
          <a:r>
            <a:rPr lang="tr-TR"/>
            <a:t>Taşımacılık</a:t>
          </a:r>
          <a:endParaRPr lang="en-US"/>
        </a:p>
      </dgm:t>
    </dgm:pt>
    <dgm:pt modelId="{15F5D360-B721-44E3-93BD-A2349794112F}" type="parTrans" cxnId="{8D812E06-DCCA-4878-A516-2E5D2594B051}">
      <dgm:prSet/>
      <dgm:spPr/>
      <dgm:t>
        <a:bodyPr/>
        <a:lstStyle/>
        <a:p>
          <a:endParaRPr lang="en-US"/>
        </a:p>
      </dgm:t>
    </dgm:pt>
    <dgm:pt modelId="{CF0A96BE-144D-4CED-9982-8B1082E1F237}" type="sibTrans" cxnId="{8D812E06-DCCA-4878-A516-2E5D2594B051}">
      <dgm:prSet/>
      <dgm:spPr/>
      <dgm:t>
        <a:bodyPr/>
        <a:lstStyle/>
        <a:p>
          <a:endParaRPr lang="en-US"/>
        </a:p>
      </dgm:t>
    </dgm:pt>
    <dgm:pt modelId="{1E6A2348-501F-4119-BCF1-E91848107877}">
      <dgm:prSet/>
      <dgm:spPr/>
      <dgm:t>
        <a:bodyPr/>
        <a:lstStyle/>
        <a:p>
          <a:r>
            <a:rPr lang="tr-TR"/>
            <a:t>Lojistik</a:t>
          </a:r>
          <a:endParaRPr lang="en-US"/>
        </a:p>
      </dgm:t>
    </dgm:pt>
    <dgm:pt modelId="{D056701C-6DB4-4734-8600-544CB61BBB67}" type="parTrans" cxnId="{311AEEB9-C008-4766-8453-8A9F5F168E96}">
      <dgm:prSet/>
      <dgm:spPr/>
      <dgm:t>
        <a:bodyPr/>
        <a:lstStyle/>
        <a:p>
          <a:endParaRPr lang="en-US"/>
        </a:p>
      </dgm:t>
    </dgm:pt>
    <dgm:pt modelId="{FB668BDB-C52A-4294-8B84-F253770B7892}" type="sibTrans" cxnId="{311AEEB9-C008-4766-8453-8A9F5F168E96}">
      <dgm:prSet/>
      <dgm:spPr/>
      <dgm:t>
        <a:bodyPr/>
        <a:lstStyle/>
        <a:p>
          <a:endParaRPr lang="en-US"/>
        </a:p>
      </dgm:t>
    </dgm:pt>
    <dgm:pt modelId="{910D7141-A789-4CB7-827D-0CFC797E90A6}">
      <dgm:prSet/>
      <dgm:spPr/>
      <dgm:t>
        <a:bodyPr/>
        <a:lstStyle/>
        <a:p>
          <a:r>
            <a:rPr lang="tr-TR"/>
            <a:t>Tedarik Zinciri</a:t>
          </a:r>
          <a:endParaRPr lang="en-US"/>
        </a:p>
      </dgm:t>
    </dgm:pt>
    <dgm:pt modelId="{9E48566E-1E18-45BA-B1AB-2F4E21BA656A}" type="parTrans" cxnId="{58D53BE8-6C4B-448D-85B6-AEFF7E1B4099}">
      <dgm:prSet/>
      <dgm:spPr/>
      <dgm:t>
        <a:bodyPr/>
        <a:lstStyle/>
        <a:p>
          <a:endParaRPr lang="en-US"/>
        </a:p>
      </dgm:t>
    </dgm:pt>
    <dgm:pt modelId="{E6E2DD43-21D9-47A5-B863-5508AAF04AFF}" type="sibTrans" cxnId="{58D53BE8-6C4B-448D-85B6-AEFF7E1B4099}">
      <dgm:prSet/>
      <dgm:spPr/>
      <dgm:t>
        <a:bodyPr/>
        <a:lstStyle/>
        <a:p>
          <a:endParaRPr lang="en-US"/>
        </a:p>
      </dgm:t>
    </dgm:pt>
    <dgm:pt modelId="{B053C920-8A90-46D5-B9CF-ECFAB4FE23C1}" type="pres">
      <dgm:prSet presAssocID="{844C299C-AF19-465A-82E3-6CB31CB63B11}" presName="linear" presStyleCnt="0">
        <dgm:presLayoutVars>
          <dgm:animLvl val="lvl"/>
          <dgm:resizeHandles val="exact"/>
        </dgm:presLayoutVars>
      </dgm:prSet>
      <dgm:spPr/>
    </dgm:pt>
    <dgm:pt modelId="{DE9743C0-2B56-41EF-8DF3-D27970514256}" type="pres">
      <dgm:prSet presAssocID="{1C5B1CE3-9578-454D-ACF6-5C30E61EC2D9}" presName="parentText" presStyleLbl="node1" presStyleIdx="0" presStyleCnt="3">
        <dgm:presLayoutVars>
          <dgm:chMax val="0"/>
          <dgm:bulletEnabled val="1"/>
        </dgm:presLayoutVars>
      </dgm:prSet>
      <dgm:spPr/>
    </dgm:pt>
    <dgm:pt modelId="{707A0327-D4E9-4174-9DD0-41190D9331BE}" type="pres">
      <dgm:prSet presAssocID="{CF0A96BE-144D-4CED-9982-8B1082E1F237}" presName="spacer" presStyleCnt="0"/>
      <dgm:spPr/>
    </dgm:pt>
    <dgm:pt modelId="{E7EC51FF-C578-4379-B273-27896A6B7F43}" type="pres">
      <dgm:prSet presAssocID="{1E6A2348-501F-4119-BCF1-E91848107877}" presName="parentText" presStyleLbl="node1" presStyleIdx="1" presStyleCnt="3">
        <dgm:presLayoutVars>
          <dgm:chMax val="0"/>
          <dgm:bulletEnabled val="1"/>
        </dgm:presLayoutVars>
      </dgm:prSet>
      <dgm:spPr/>
    </dgm:pt>
    <dgm:pt modelId="{21B71509-C6E9-4BC8-8340-9E0DDA4230DE}" type="pres">
      <dgm:prSet presAssocID="{FB668BDB-C52A-4294-8B84-F253770B7892}" presName="spacer" presStyleCnt="0"/>
      <dgm:spPr/>
    </dgm:pt>
    <dgm:pt modelId="{C7EF31D7-0EC4-484E-82FA-819D4134F9E3}" type="pres">
      <dgm:prSet presAssocID="{910D7141-A789-4CB7-827D-0CFC797E90A6}" presName="parentText" presStyleLbl="node1" presStyleIdx="2" presStyleCnt="3">
        <dgm:presLayoutVars>
          <dgm:chMax val="0"/>
          <dgm:bulletEnabled val="1"/>
        </dgm:presLayoutVars>
      </dgm:prSet>
      <dgm:spPr/>
    </dgm:pt>
  </dgm:ptLst>
  <dgm:cxnLst>
    <dgm:cxn modelId="{8D812E06-DCCA-4878-A516-2E5D2594B051}" srcId="{844C299C-AF19-465A-82E3-6CB31CB63B11}" destId="{1C5B1CE3-9578-454D-ACF6-5C30E61EC2D9}" srcOrd="0" destOrd="0" parTransId="{15F5D360-B721-44E3-93BD-A2349794112F}" sibTransId="{CF0A96BE-144D-4CED-9982-8B1082E1F237}"/>
    <dgm:cxn modelId="{A947030F-EEAD-4C8F-AA80-72A7A4B37C96}" type="presOf" srcId="{910D7141-A789-4CB7-827D-0CFC797E90A6}" destId="{C7EF31D7-0EC4-484E-82FA-819D4134F9E3}" srcOrd="0" destOrd="0" presId="urn:microsoft.com/office/officeart/2005/8/layout/vList2"/>
    <dgm:cxn modelId="{AC82672D-2200-40B3-8A83-F0135F0BD6A7}" type="presOf" srcId="{1E6A2348-501F-4119-BCF1-E91848107877}" destId="{E7EC51FF-C578-4379-B273-27896A6B7F43}" srcOrd="0" destOrd="0" presId="urn:microsoft.com/office/officeart/2005/8/layout/vList2"/>
    <dgm:cxn modelId="{B5658C68-D731-4105-9539-8506375F1436}" type="presOf" srcId="{1C5B1CE3-9578-454D-ACF6-5C30E61EC2D9}" destId="{DE9743C0-2B56-41EF-8DF3-D27970514256}" srcOrd="0" destOrd="0" presId="urn:microsoft.com/office/officeart/2005/8/layout/vList2"/>
    <dgm:cxn modelId="{311AEEB9-C008-4766-8453-8A9F5F168E96}" srcId="{844C299C-AF19-465A-82E3-6CB31CB63B11}" destId="{1E6A2348-501F-4119-BCF1-E91848107877}" srcOrd="1" destOrd="0" parTransId="{D056701C-6DB4-4734-8600-544CB61BBB67}" sibTransId="{FB668BDB-C52A-4294-8B84-F253770B7892}"/>
    <dgm:cxn modelId="{99A4E9D8-051C-4FE5-B526-383F22A79161}" type="presOf" srcId="{844C299C-AF19-465A-82E3-6CB31CB63B11}" destId="{B053C920-8A90-46D5-B9CF-ECFAB4FE23C1}" srcOrd="0" destOrd="0" presId="urn:microsoft.com/office/officeart/2005/8/layout/vList2"/>
    <dgm:cxn modelId="{58D53BE8-6C4B-448D-85B6-AEFF7E1B4099}" srcId="{844C299C-AF19-465A-82E3-6CB31CB63B11}" destId="{910D7141-A789-4CB7-827D-0CFC797E90A6}" srcOrd="2" destOrd="0" parTransId="{9E48566E-1E18-45BA-B1AB-2F4E21BA656A}" sibTransId="{E6E2DD43-21D9-47A5-B863-5508AAF04AFF}"/>
    <dgm:cxn modelId="{684A3199-828F-48D0-839F-3088A2D46CEA}" type="presParOf" srcId="{B053C920-8A90-46D5-B9CF-ECFAB4FE23C1}" destId="{DE9743C0-2B56-41EF-8DF3-D27970514256}" srcOrd="0" destOrd="0" presId="urn:microsoft.com/office/officeart/2005/8/layout/vList2"/>
    <dgm:cxn modelId="{9E9E3875-A31A-4121-83A0-6BE8BBA091F2}" type="presParOf" srcId="{B053C920-8A90-46D5-B9CF-ECFAB4FE23C1}" destId="{707A0327-D4E9-4174-9DD0-41190D9331BE}" srcOrd="1" destOrd="0" presId="urn:microsoft.com/office/officeart/2005/8/layout/vList2"/>
    <dgm:cxn modelId="{A637626E-78E0-45C1-9249-C5E9AEC5599A}" type="presParOf" srcId="{B053C920-8A90-46D5-B9CF-ECFAB4FE23C1}" destId="{E7EC51FF-C578-4379-B273-27896A6B7F43}" srcOrd="2" destOrd="0" presId="urn:microsoft.com/office/officeart/2005/8/layout/vList2"/>
    <dgm:cxn modelId="{8F0C806C-7073-4727-809C-7E5EB08A2C91}" type="presParOf" srcId="{B053C920-8A90-46D5-B9CF-ECFAB4FE23C1}" destId="{21B71509-C6E9-4BC8-8340-9E0DDA4230DE}" srcOrd="3" destOrd="0" presId="urn:microsoft.com/office/officeart/2005/8/layout/vList2"/>
    <dgm:cxn modelId="{B49529D3-7025-4ED3-B1D1-72433D33A42B}" type="presParOf" srcId="{B053C920-8A90-46D5-B9CF-ECFAB4FE23C1}" destId="{C7EF31D7-0EC4-484E-82FA-819D4134F9E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1029AB-C4A8-44AC-9330-85A725E49D7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062B2D6-7DF7-43BD-BA60-CB06ACEB52CB}">
      <dgm:prSet/>
      <dgm:spPr/>
      <dgm:t>
        <a:bodyPr/>
        <a:lstStyle/>
        <a:p>
          <a:r>
            <a:rPr lang="tr-TR"/>
            <a:t>Lojistik, Yunanca Logistikos kelimesinden türemiş olup</a:t>
          </a:r>
          <a:r>
            <a:rPr lang="en-GB"/>
            <a:t>, "</a:t>
          </a:r>
          <a:r>
            <a:rPr lang="tr-TR"/>
            <a:t>hesap</a:t>
          </a:r>
          <a:r>
            <a:rPr lang="en-GB"/>
            <a:t> </a:t>
          </a:r>
          <a:r>
            <a:rPr lang="tr-TR"/>
            <a:t>kitap yapma bilimi</a:t>
          </a:r>
          <a:r>
            <a:rPr lang="en-GB"/>
            <a:t>", "</a:t>
          </a:r>
          <a:r>
            <a:rPr lang="tr-TR"/>
            <a:t>hesapta becerikli" anlamına gelmektedir.</a:t>
          </a:r>
          <a:endParaRPr lang="en-US"/>
        </a:p>
      </dgm:t>
    </dgm:pt>
    <dgm:pt modelId="{C45920C6-7817-4108-A870-A4F7E90C5866}" type="parTrans" cxnId="{215479BA-1ABF-435C-A45E-B19C2088D715}">
      <dgm:prSet/>
      <dgm:spPr/>
      <dgm:t>
        <a:bodyPr/>
        <a:lstStyle/>
        <a:p>
          <a:endParaRPr lang="en-US"/>
        </a:p>
      </dgm:t>
    </dgm:pt>
    <dgm:pt modelId="{E8892525-C7A1-4CC3-B07E-8D68C68BE329}" type="sibTrans" cxnId="{215479BA-1ABF-435C-A45E-B19C2088D715}">
      <dgm:prSet/>
      <dgm:spPr/>
      <dgm:t>
        <a:bodyPr/>
        <a:lstStyle/>
        <a:p>
          <a:endParaRPr lang="en-US"/>
        </a:p>
      </dgm:t>
    </dgm:pt>
    <dgm:pt modelId="{165302D6-89D0-4DB4-BE52-0B62B28323CE}">
      <dgm:prSet/>
      <dgm:spPr/>
      <dgm:t>
        <a:bodyPr/>
        <a:lstStyle/>
        <a:p>
          <a:r>
            <a:rPr lang="tr-TR"/>
            <a:t>Lojistik kelime kökeni itibariyle Latin dilinde lojik (mantık) ve static (istatistik) kelimelerinin birleşmesinden meydana gelmiştir ki sözlük anlamı olarak mantıki istatistiktir.</a:t>
          </a:r>
          <a:endParaRPr lang="en-US"/>
        </a:p>
      </dgm:t>
    </dgm:pt>
    <dgm:pt modelId="{993DC9E6-8280-4B62-843A-79B237C6F10B}" type="parTrans" cxnId="{0994A4D2-7DFB-411F-86EC-47E81C0A449D}">
      <dgm:prSet/>
      <dgm:spPr/>
      <dgm:t>
        <a:bodyPr/>
        <a:lstStyle/>
        <a:p>
          <a:endParaRPr lang="en-US"/>
        </a:p>
      </dgm:t>
    </dgm:pt>
    <dgm:pt modelId="{4F1D4297-06A7-4737-AE68-A14C47911097}" type="sibTrans" cxnId="{0994A4D2-7DFB-411F-86EC-47E81C0A449D}">
      <dgm:prSet/>
      <dgm:spPr/>
      <dgm:t>
        <a:bodyPr/>
        <a:lstStyle/>
        <a:p>
          <a:endParaRPr lang="en-US"/>
        </a:p>
      </dgm:t>
    </dgm:pt>
    <dgm:pt modelId="{E1F70901-B851-49EB-8476-21A018534E2E}" type="pres">
      <dgm:prSet presAssocID="{891029AB-C4A8-44AC-9330-85A725E49D7F}" presName="root" presStyleCnt="0">
        <dgm:presLayoutVars>
          <dgm:dir/>
          <dgm:resizeHandles val="exact"/>
        </dgm:presLayoutVars>
      </dgm:prSet>
      <dgm:spPr/>
    </dgm:pt>
    <dgm:pt modelId="{61C60F7E-6D51-482A-B74D-B079637CEE6D}" type="pres">
      <dgm:prSet presAssocID="{7062B2D6-7DF7-43BD-BA60-CB06ACEB52CB}" presName="compNode" presStyleCnt="0"/>
      <dgm:spPr/>
    </dgm:pt>
    <dgm:pt modelId="{4225F4C0-8176-44F3-9C47-4D163145941F}" type="pres">
      <dgm:prSet presAssocID="{7062B2D6-7DF7-43BD-BA60-CB06ACEB52CB}" presName="bgRect" presStyleLbl="bgShp" presStyleIdx="0" presStyleCnt="2"/>
      <dgm:spPr/>
    </dgm:pt>
    <dgm:pt modelId="{1B1F9056-AFF3-4161-924E-8593655C4C5A}" type="pres">
      <dgm:prSet presAssocID="{7062B2D6-7DF7-43BD-BA60-CB06ACEB52C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statistikler"/>
        </a:ext>
      </dgm:extLst>
    </dgm:pt>
    <dgm:pt modelId="{41AF41EC-B93C-439A-9D9D-66D2FC46A914}" type="pres">
      <dgm:prSet presAssocID="{7062B2D6-7DF7-43BD-BA60-CB06ACEB52CB}" presName="spaceRect" presStyleCnt="0"/>
      <dgm:spPr/>
    </dgm:pt>
    <dgm:pt modelId="{812F84D5-6E2B-4D1E-8969-DD47245B2814}" type="pres">
      <dgm:prSet presAssocID="{7062B2D6-7DF7-43BD-BA60-CB06ACEB52CB}" presName="parTx" presStyleLbl="revTx" presStyleIdx="0" presStyleCnt="2">
        <dgm:presLayoutVars>
          <dgm:chMax val="0"/>
          <dgm:chPref val="0"/>
        </dgm:presLayoutVars>
      </dgm:prSet>
      <dgm:spPr/>
    </dgm:pt>
    <dgm:pt modelId="{DA202A27-61D6-4BED-929A-CF46215A59CA}" type="pres">
      <dgm:prSet presAssocID="{E8892525-C7A1-4CC3-B07E-8D68C68BE329}" presName="sibTrans" presStyleCnt="0"/>
      <dgm:spPr/>
    </dgm:pt>
    <dgm:pt modelId="{F3F584BA-671F-4CE6-9AAF-0FEDBB38B1A8}" type="pres">
      <dgm:prSet presAssocID="{165302D6-89D0-4DB4-BE52-0B62B28323CE}" presName="compNode" presStyleCnt="0"/>
      <dgm:spPr/>
    </dgm:pt>
    <dgm:pt modelId="{A58E2795-9285-430A-96FC-2C289685EB69}" type="pres">
      <dgm:prSet presAssocID="{165302D6-89D0-4DB4-BE52-0B62B28323CE}" presName="bgRect" presStyleLbl="bgShp" presStyleIdx="1" presStyleCnt="2"/>
      <dgm:spPr/>
    </dgm:pt>
    <dgm:pt modelId="{5E49BE5D-7108-4D2A-BDBD-521F3970E976}" type="pres">
      <dgm:prSet presAssocID="{165302D6-89D0-4DB4-BE52-0B62B28323C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taplar"/>
        </a:ext>
      </dgm:extLst>
    </dgm:pt>
    <dgm:pt modelId="{44D5AEA8-0A18-46BF-B94E-6C6FE2B33A0E}" type="pres">
      <dgm:prSet presAssocID="{165302D6-89D0-4DB4-BE52-0B62B28323CE}" presName="spaceRect" presStyleCnt="0"/>
      <dgm:spPr/>
    </dgm:pt>
    <dgm:pt modelId="{AB5251F7-7779-4027-9B29-C126DB0A9D16}" type="pres">
      <dgm:prSet presAssocID="{165302D6-89D0-4DB4-BE52-0B62B28323CE}" presName="parTx" presStyleLbl="revTx" presStyleIdx="1" presStyleCnt="2">
        <dgm:presLayoutVars>
          <dgm:chMax val="0"/>
          <dgm:chPref val="0"/>
        </dgm:presLayoutVars>
      </dgm:prSet>
      <dgm:spPr/>
    </dgm:pt>
  </dgm:ptLst>
  <dgm:cxnLst>
    <dgm:cxn modelId="{5E9D2569-4265-452A-AF71-44437E429E04}" type="presOf" srcId="{165302D6-89D0-4DB4-BE52-0B62B28323CE}" destId="{AB5251F7-7779-4027-9B29-C126DB0A9D16}" srcOrd="0" destOrd="0" presId="urn:microsoft.com/office/officeart/2018/2/layout/IconVerticalSolidList"/>
    <dgm:cxn modelId="{666BC27A-A915-4C1C-B3AE-7CB75A74DB0D}" type="presOf" srcId="{7062B2D6-7DF7-43BD-BA60-CB06ACEB52CB}" destId="{812F84D5-6E2B-4D1E-8969-DD47245B2814}" srcOrd="0" destOrd="0" presId="urn:microsoft.com/office/officeart/2018/2/layout/IconVerticalSolidList"/>
    <dgm:cxn modelId="{215479BA-1ABF-435C-A45E-B19C2088D715}" srcId="{891029AB-C4A8-44AC-9330-85A725E49D7F}" destId="{7062B2D6-7DF7-43BD-BA60-CB06ACEB52CB}" srcOrd="0" destOrd="0" parTransId="{C45920C6-7817-4108-A870-A4F7E90C5866}" sibTransId="{E8892525-C7A1-4CC3-B07E-8D68C68BE329}"/>
    <dgm:cxn modelId="{772DC1CE-C305-46D5-8305-2AD867BF7B11}" type="presOf" srcId="{891029AB-C4A8-44AC-9330-85A725E49D7F}" destId="{E1F70901-B851-49EB-8476-21A018534E2E}" srcOrd="0" destOrd="0" presId="urn:microsoft.com/office/officeart/2018/2/layout/IconVerticalSolidList"/>
    <dgm:cxn modelId="{0994A4D2-7DFB-411F-86EC-47E81C0A449D}" srcId="{891029AB-C4A8-44AC-9330-85A725E49D7F}" destId="{165302D6-89D0-4DB4-BE52-0B62B28323CE}" srcOrd="1" destOrd="0" parTransId="{993DC9E6-8280-4B62-843A-79B237C6F10B}" sibTransId="{4F1D4297-06A7-4737-AE68-A14C47911097}"/>
    <dgm:cxn modelId="{46434FA8-AACC-4BFE-912A-BE515494B824}" type="presParOf" srcId="{E1F70901-B851-49EB-8476-21A018534E2E}" destId="{61C60F7E-6D51-482A-B74D-B079637CEE6D}" srcOrd="0" destOrd="0" presId="urn:microsoft.com/office/officeart/2018/2/layout/IconVerticalSolidList"/>
    <dgm:cxn modelId="{BF9A2612-2D07-45B6-8DF1-F1291AE0E9B6}" type="presParOf" srcId="{61C60F7E-6D51-482A-B74D-B079637CEE6D}" destId="{4225F4C0-8176-44F3-9C47-4D163145941F}" srcOrd="0" destOrd="0" presId="urn:microsoft.com/office/officeart/2018/2/layout/IconVerticalSolidList"/>
    <dgm:cxn modelId="{ACF8E56F-9139-4D04-AA5F-E0DC1A77595B}" type="presParOf" srcId="{61C60F7E-6D51-482A-B74D-B079637CEE6D}" destId="{1B1F9056-AFF3-4161-924E-8593655C4C5A}" srcOrd="1" destOrd="0" presId="urn:microsoft.com/office/officeart/2018/2/layout/IconVerticalSolidList"/>
    <dgm:cxn modelId="{878576BD-EE7B-4934-B396-23CDDAB9D848}" type="presParOf" srcId="{61C60F7E-6D51-482A-B74D-B079637CEE6D}" destId="{41AF41EC-B93C-439A-9D9D-66D2FC46A914}" srcOrd="2" destOrd="0" presId="urn:microsoft.com/office/officeart/2018/2/layout/IconVerticalSolidList"/>
    <dgm:cxn modelId="{B8300049-5BF7-423B-B4EC-09D667DACBDF}" type="presParOf" srcId="{61C60F7E-6D51-482A-B74D-B079637CEE6D}" destId="{812F84D5-6E2B-4D1E-8969-DD47245B2814}" srcOrd="3" destOrd="0" presId="urn:microsoft.com/office/officeart/2018/2/layout/IconVerticalSolidList"/>
    <dgm:cxn modelId="{312405D3-1FBD-4E1C-94A3-74589AC3441A}" type="presParOf" srcId="{E1F70901-B851-49EB-8476-21A018534E2E}" destId="{DA202A27-61D6-4BED-929A-CF46215A59CA}" srcOrd="1" destOrd="0" presId="urn:microsoft.com/office/officeart/2018/2/layout/IconVerticalSolidList"/>
    <dgm:cxn modelId="{1796E29A-6BDA-49A7-8266-69BAE0B088C6}" type="presParOf" srcId="{E1F70901-B851-49EB-8476-21A018534E2E}" destId="{F3F584BA-671F-4CE6-9AAF-0FEDBB38B1A8}" srcOrd="2" destOrd="0" presId="urn:microsoft.com/office/officeart/2018/2/layout/IconVerticalSolidList"/>
    <dgm:cxn modelId="{99146B01-E5C6-4BD7-A561-1463D8C41F8A}" type="presParOf" srcId="{F3F584BA-671F-4CE6-9AAF-0FEDBB38B1A8}" destId="{A58E2795-9285-430A-96FC-2C289685EB69}" srcOrd="0" destOrd="0" presId="urn:microsoft.com/office/officeart/2018/2/layout/IconVerticalSolidList"/>
    <dgm:cxn modelId="{660AB1D7-40F3-4C62-A079-AD31F3414A1B}" type="presParOf" srcId="{F3F584BA-671F-4CE6-9AAF-0FEDBB38B1A8}" destId="{5E49BE5D-7108-4D2A-BDBD-521F3970E976}" srcOrd="1" destOrd="0" presId="urn:microsoft.com/office/officeart/2018/2/layout/IconVerticalSolidList"/>
    <dgm:cxn modelId="{61F1FE06-A03A-4CE0-9F90-189287D0F271}" type="presParOf" srcId="{F3F584BA-671F-4CE6-9AAF-0FEDBB38B1A8}" destId="{44D5AEA8-0A18-46BF-B94E-6C6FE2B33A0E}" srcOrd="2" destOrd="0" presId="urn:microsoft.com/office/officeart/2018/2/layout/IconVerticalSolidList"/>
    <dgm:cxn modelId="{AD0E9910-91DD-4BF3-A350-E45AF67CDD49}" type="presParOf" srcId="{F3F584BA-671F-4CE6-9AAF-0FEDBB38B1A8}" destId="{AB5251F7-7779-4027-9B29-C126DB0A9D1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F68670-7924-405A-97DA-3B43B57AAEC3}"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7CA5BACF-42A8-413E-B4D1-3E0F2357136F}">
      <dgm:prSet/>
      <dgm:spPr/>
      <dgm:t>
        <a:bodyPr/>
        <a:lstStyle/>
        <a:p>
          <a:r>
            <a:rPr lang="tr-TR" b="1"/>
            <a:t>Askeri Kökenler:</a:t>
          </a:r>
          <a:r>
            <a:rPr lang="tr-TR"/>
            <a:t> Lojistik terimi ilk olarak askeri alanda kullanılmıştır. Orduların erzak, mühimmat ve diğer ihtiyaçlarını sağlamak için yapılan tüm faaliyetler lojistik olarak adlandırılırdı.</a:t>
          </a:r>
          <a:endParaRPr lang="en-US"/>
        </a:p>
      </dgm:t>
    </dgm:pt>
    <dgm:pt modelId="{B1D71112-30C2-49AB-825F-25210EE7AAF9}" type="parTrans" cxnId="{A8005097-BB9E-4079-8C15-A1881C461A79}">
      <dgm:prSet/>
      <dgm:spPr/>
      <dgm:t>
        <a:bodyPr/>
        <a:lstStyle/>
        <a:p>
          <a:endParaRPr lang="en-US"/>
        </a:p>
      </dgm:t>
    </dgm:pt>
    <dgm:pt modelId="{5C4A2CDD-26C3-4DBB-B5B1-0B6BA1B03356}" type="sibTrans" cxnId="{A8005097-BB9E-4079-8C15-A1881C461A79}">
      <dgm:prSet/>
      <dgm:spPr/>
      <dgm:t>
        <a:bodyPr/>
        <a:lstStyle/>
        <a:p>
          <a:endParaRPr lang="en-US"/>
        </a:p>
      </dgm:t>
    </dgm:pt>
    <dgm:pt modelId="{C0589F6D-59D0-4AF0-A057-5DFF27F27082}">
      <dgm:prSet/>
      <dgm:spPr/>
      <dgm:t>
        <a:bodyPr/>
        <a:lstStyle/>
        <a:p>
          <a:r>
            <a:rPr lang="tr-TR" b="1"/>
            <a:t>Sivil Hayata Geçiş:</a:t>
          </a:r>
          <a:r>
            <a:rPr lang="tr-TR"/>
            <a:t> Zamanla lojistik kavramı, sadece askeri alandan çıkıp sivil hayata da geçmiştir. Günümüzde üretimden tüketime kadar birçok alanda lojistik faaliyetler gerçekleştirilmektedir.</a:t>
          </a:r>
          <a:endParaRPr lang="en-US"/>
        </a:p>
      </dgm:t>
    </dgm:pt>
    <dgm:pt modelId="{45351BBF-6833-46EF-A7C7-B727F489B4D1}" type="parTrans" cxnId="{47A50941-B2E8-41FD-B6DC-DE5246C17538}">
      <dgm:prSet/>
      <dgm:spPr/>
      <dgm:t>
        <a:bodyPr/>
        <a:lstStyle/>
        <a:p>
          <a:endParaRPr lang="en-US"/>
        </a:p>
      </dgm:t>
    </dgm:pt>
    <dgm:pt modelId="{074FE2BB-54DE-4EB4-B831-64799F398836}" type="sibTrans" cxnId="{47A50941-B2E8-41FD-B6DC-DE5246C17538}">
      <dgm:prSet/>
      <dgm:spPr/>
      <dgm:t>
        <a:bodyPr/>
        <a:lstStyle/>
        <a:p>
          <a:endParaRPr lang="en-US"/>
        </a:p>
      </dgm:t>
    </dgm:pt>
    <dgm:pt modelId="{CE2C21D3-F51F-4A85-A3FA-A81B7C8596B4}">
      <dgm:prSet/>
      <dgm:spPr/>
      <dgm:t>
        <a:bodyPr/>
        <a:lstStyle/>
        <a:p>
          <a:r>
            <a:rPr lang="tr-TR" b="1"/>
            <a:t>Modern Anlamı:</a:t>
          </a:r>
          <a:r>
            <a:rPr lang="tr-TR"/>
            <a:t> Günümüzde lojistik, bir ürünün üretim noktasından tüketiciye ulaştırılıncaya kadar geçen süreçte yapılan tüm planlama, uygulama ve kontrol faaliyetlerini kapsamaktadır.</a:t>
          </a:r>
          <a:endParaRPr lang="en-US"/>
        </a:p>
      </dgm:t>
    </dgm:pt>
    <dgm:pt modelId="{5761EAB6-8E48-4F13-B2D8-F653AEAB7075}" type="parTrans" cxnId="{3710E916-B95C-488C-9F4C-84C72D12038C}">
      <dgm:prSet/>
      <dgm:spPr/>
      <dgm:t>
        <a:bodyPr/>
        <a:lstStyle/>
        <a:p>
          <a:endParaRPr lang="en-US"/>
        </a:p>
      </dgm:t>
    </dgm:pt>
    <dgm:pt modelId="{2102A04C-72DD-492D-B5F3-49E3D43A6119}" type="sibTrans" cxnId="{3710E916-B95C-488C-9F4C-84C72D12038C}">
      <dgm:prSet/>
      <dgm:spPr/>
      <dgm:t>
        <a:bodyPr/>
        <a:lstStyle/>
        <a:p>
          <a:endParaRPr lang="en-US"/>
        </a:p>
      </dgm:t>
    </dgm:pt>
    <dgm:pt modelId="{7E50ECE5-11E7-4683-B7D1-9A279CB9F760}">
      <dgm:prSet/>
      <dgm:spPr/>
      <dgm:t>
        <a:bodyPr/>
        <a:lstStyle/>
        <a:p>
          <a:r>
            <a:rPr lang="tr-TR" b="1"/>
            <a:t>Özetle,</a:t>
          </a:r>
          <a:r>
            <a:rPr lang="tr-TR"/>
            <a:t> lojistik kelimesinin kökeni, hesaplama, planlama ve organizasyon kavramlarına dayanmaktadır. Askeri alanda ortaya çıkan bu kavram, günümüzde küresel ticaretin vazgeçilmez bir parçası haline gelmiştir.</a:t>
          </a:r>
          <a:endParaRPr lang="en-US"/>
        </a:p>
      </dgm:t>
    </dgm:pt>
    <dgm:pt modelId="{939FEBCF-FEE5-4538-9516-6C022C166CA1}" type="parTrans" cxnId="{0AB31603-0F48-4584-BC8A-E3CD73666448}">
      <dgm:prSet/>
      <dgm:spPr/>
      <dgm:t>
        <a:bodyPr/>
        <a:lstStyle/>
        <a:p>
          <a:endParaRPr lang="en-US"/>
        </a:p>
      </dgm:t>
    </dgm:pt>
    <dgm:pt modelId="{7CC3DCA9-AA81-4AC1-9152-3BE5E7AF0EA7}" type="sibTrans" cxnId="{0AB31603-0F48-4584-BC8A-E3CD73666448}">
      <dgm:prSet/>
      <dgm:spPr/>
      <dgm:t>
        <a:bodyPr/>
        <a:lstStyle/>
        <a:p>
          <a:endParaRPr lang="en-US"/>
        </a:p>
      </dgm:t>
    </dgm:pt>
    <dgm:pt modelId="{F161552E-D31B-4AEF-A5E2-28D557E4A37E}">
      <dgm:prSet/>
      <dgm:spPr/>
      <dgm:t>
        <a:bodyPr/>
        <a:lstStyle/>
        <a:p>
          <a:r>
            <a:rPr lang="tr-TR" b="1"/>
            <a:t>Lojistik kelimesinin kökenini anlamak,</a:t>
          </a:r>
          <a:r>
            <a:rPr lang="tr-TR"/>
            <a:t> bu kavramın ne anlama geldiğini daha iyi kavramamıza yardımcı olur. Ayrıca, lojistiğin tarihsel gelişimini incelemek, günümüzdeki uygulamalarının nasıl şekillendiğini anlamamızı sağlar.</a:t>
          </a:r>
          <a:endParaRPr lang="en-US"/>
        </a:p>
      </dgm:t>
    </dgm:pt>
    <dgm:pt modelId="{5327CD15-D638-4242-B328-F85866C1B4AB}" type="parTrans" cxnId="{FB4D9522-10B5-4D03-AD0C-3281F101DB31}">
      <dgm:prSet/>
      <dgm:spPr/>
      <dgm:t>
        <a:bodyPr/>
        <a:lstStyle/>
        <a:p>
          <a:endParaRPr lang="en-US"/>
        </a:p>
      </dgm:t>
    </dgm:pt>
    <dgm:pt modelId="{DF6B10AC-1862-4051-8774-75F5B5C8F714}" type="sibTrans" cxnId="{FB4D9522-10B5-4D03-AD0C-3281F101DB31}">
      <dgm:prSet/>
      <dgm:spPr/>
      <dgm:t>
        <a:bodyPr/>
        <a:lstStyle/>
        <a:p>
          <a:endParaRPr lang="en-US"/>
        </a:p>
      </dgm:t>
    </dgm:pt>
    <dgm:pt modelId="{B9909A21-643C-4861-A88E-F27DC72FB0CB}" type="pres">
      <dgm:prSet presAssocID="{8AF68670-7924-405A-97DA-3B43B57AAEC3}" presName="vert0" presStyleCnt="0">
        <dgm:presLayoutVars>
          <dgm:dir/>
          <dgm:animOne val="branch"/>
          <dgm:animLvl val="lvl"/>
        </dgm:presLayoutVars>
      </dgm:prSet>
      <dgm:spPr/>
    </dgm:pt>
    <dgm:pt modelId="{E39ED29F-8978-4D6D-8D04-3929AC5E2375}" type="pres">
      <dgm:prSet presAssocID="{7CA5BACF-42A8-413E-B4D1-3E0F2357136F}" presName="thickLine" presStyleLbl="alignNode1" presStyleIdx="0" presStyleCnt="5"/>
      <dgm:spPr/>
    </dgm:pt>
    <dgm:pt modelId="{D6E83CD2-494D-4EB7-84F6-C5627A741C02}" type="pres">
      <dgm:prSet presAssocID="{7CA5BACF-42A8-413E-B4D1-3E0F2357136F}" presName="horz1" presStyleCnt="0"/>
      <dgm:spPr/>
    </dgm:pt>
    <dgm:pt modelId="{5A80F286-92B2-4107-A8B9-ABEB009ECAC3}" type="pres">
      <dgm:prSet presAssocID="{7CA5BACF-42A8-413E-B4D1-3E0F2357136F}" presName="tx1" presStyleLbl="revTx" presStyleIdx="0" presStyleCnt="5"/>
      <dgm:spPr/>
    </dgm:pt>
    <dgm:pt modelId="{1F6E636E-FCE7-44E0-A62B-54D31CBE4EF9}" type="pres">
      <dgm:prSet presAssocID="{7CA5BACF-42A8-413E-B4D1-3E0F2357136F}" presName="vert1" presStyleCnt="0"/>
      <dgm:spPr/>
    </dgm:pt>
    <dgm:pt modelId="{3FCEE4E3-2B7B-4D7F-ADA3-3621206F4303}" type="pres">
      <dgm:prSet presAssocID="{C0589F6D-59D0-4AF0-A057-5DFF27F27082}" presName="thickLine" presStyleLbl="alignNode1" presStyleIdx="1" presStyleCnt="5"/>
      <dgm:spPr/>
    </dgm:pt>
    <dgm:pt modelId="{1596BF9F-A077-450E-B6F9-BF8F7828CC71}" type="pres">
      <dgm:prSet presAssocID="{C0589F6D-59D0-4AF0-A057-5DFF27F27082}" presName="horz1" presStyleCnt="0"/>
      <dgm:spPr/>
    </dgm:pt>
    <dgm:pt modelId="{E420CF99-ABD0-4A36-8E40-311740CC673A}" type="pres">
      <dgm:prSet presAssocID="{C0589F6D-59D0-4AF0-A057-5DFF27F27082}" presName="tx1" presStyleLbl="revTx" presStyleIdx="1" presStyleCnt="5"/>
      <dgm:spPr/>
    </dgm:pt>
    <dgm:pt modelId="{BE6EA4C3-4859-43E7-A1F5-08ACD74300C5}" type="pres">
      <dgm:prSet presAssocID="{C0589F6D-59D0-4AF0-A057-5DFF27F27082}" presName="vert1" presStyleCnt="0"/>
      <dgm:spPr/>
    </dgm:pt>
    <dgm:pt modelId="{89825794-1C9C-47E9-8449-7A8157FFE1E9}" type="pres">
      <dgm:prSet presAssocID="{CE2C21D3-F51F-4A85-A3FA-A81B7C8596B4}" presName="thickLine" presStyleLbl="alignNode1" presStyleIdx="2" presStyleCnt="5"/>
      <dgm:spPr/>
    </dgm:pt>
    <dgm:pt modelId="{DC3E09B7-4D35-4D56-9DF7-6A568145C441}" type="pres">
      <dgm:prSet presAssocID="{CE2C21D3-F51F-4A85-A3FA-A81B7C8596B4}" presName="horz1" presStyleCnt="0"/>
      <dgm:spPr/>
    </dgm:pt>
    <dgm:pt modelId="{4FA9110C-D2DF-431C-A72B-390F846E58E5}" type="pres">
      <dgm:prSet presAssocID="{CE2C21D3-F51F-4A85-A3FA-A81B7C8596B4}" presName="tx1" presStyleLbl="revTx" presStyleIdx="2" presStyleCnt="5"/>
      <dgm:spPr/>
    </dgm:pt>
    <dgm:pt modelId="{70E5F3E1-5522-481A-9A97-6F31233C3E8B}" type="pres">
      <dgm:prSet presAssocID="{CE2C21D3-F51F-4A85-A3FA-A81B7C8596B4}" presName="vert1" presStyleCnt="0"/>
      <dgm:spPr/>
    </dgm:pt>
    <dgm:pt modelId="{BC630EAF-9F3D-402B-84D6-D65CDA9519E1}" type="pres">
      <dgm:prSet presAssocID="{7E50ECE5-11E7-4683-B7D1-9A279CB9F760}" presName="thickLine" presStyleLbl="alignNode1" presStyleIdx="3" presStyleCnt="5"/>
      <dgm:spPr/>
    </dgm:pt>
    <dgm:pt modelId="{7D7FA714-62DD-4A73-9540-C3E4D03A81FA}" type="pres">
      <dgm:prSet presAssocID="{7E50ECE5-11E7-4683-B7D1-9A279CB9F760}" presName="horz1" presStyleCnt="0"/>
      <dgm:spPr/>
    </dgm:pt>
    <dgm:pt modelId="{13E744BB-54E7-48E2-BB90-A238EF53709C}" type="pres">
      <dgm:prSet presAssocID="{7E50ECE5-11E7-4683-B7D1-9A279CB9F760}" presName="tx1" presStyleLbl="revTx" presStyleIdx="3" presStyleCnt="5"/>
      <dgm:spPr/>
    </dgm:pt>
    <dgm:pt modelId="{32984FDA-7AD4-4980-82EE-3D8B2196E97C}" type="pres">
      <dgm:prSet presAssocID="{7E50ECE5-11E7-4683-B7D1-9A279CB9F760}" presName="vert1" presStyleCnt="0"/>
      <dgm:spPr/>
    </dgm:pt>
    <dgm:pt modelId="{F5DD9BEA-3F19-4E95-AEFE-2E45A08E3714}" type="pres">
      <dgm:prSet presAssocID="{F161552E-D31B-4AEF-A5E2-28D557E4A37E}" presName="thickLine" presStyleLbl="alignNode1" presStyleIdx="4" presStyleCnt="5"/>
      <dgm:spPr/>
    </dgm:pt>
    <dgm:pt modelId="{48D80076-DFFE-4260-990F-842474B89C53}" type="pres">
      <dgm:prSet presAssocID="{F161552E-D31B-4AEF-A5E2-28D557E4A37E}" presName="horz1" presStyleCnt="0"/>
      <dgm:spPr/>
    </dgm:pt>
    <dgm:pt modelId="{18478719-51DF-42EF-903A-F0F6F95F27C9}" type="pres">
      <dgm:prSet presAssocID="{F161552E-D31B-4AEF-A5E2-28D557E4A37E}" presName="tx1" presStyleLbl="revTx" presStyleIdx="4" presStyleCnt="5"/>
      <dgm:spPr/>
    </dgm:pt>
    <dgm:pt modelId="{7797697B-8AD1-4558-9E19-3FFE392A4B46}" type="pres">
      <dgm:prSet presAssocID="{F161552E-D31B-4AEF-A5E2-28D557E4A37E}" presName="vert1" presStyleCnt="0"/>
      <dgm:spPr/>
    </dgm:pt>
  </dgm:ptLst>
  <dgm:cxnLst>
    <dgm:cxn modelId="{0AB31603-0F48-4584-BC8A-E3CD73666448}" srcId="{8AF68670-7924-405A-97DA-3B43B57AAEC3}" destId="{7E50ECE5-11E7-4683-B7D1-9A279CB9F760}" srcOrd="3" destOrd="0" parTransId="{939FEBCF-FEE5-4538-9516-6C022C166CA1}" sibTransId="{7CC3DCA9-AA81-4AC1-9152-3BE5E7AF0EA7}"/>
    <dgm:cxn modelId="{3710E916-B95C-488C-9F4C-84C72D12038C}" srcId="{8AF68670-7924-405A-97DA-3B43B57AAEC3}" destId="{CE2C21D3-F51F-4A85-A3FA-A81B7C8596B4}" srcOrd="2" destOrd="0" parTransId="{5761EAB6-8E48-4F13-B2D8-F653AEAB7075}" sibTransId="{2102A04C-72DD-492D-B5F3-49E3D43A6119}"/>
    <dgm:cxn modelId="{FB4D9522-10B5-4D03-AD0C-3281F101DB31}" srcId="{8AF68670-7924-405A-97DA-3B43B57AAEC3}" destId="{F161552E-D31B-4AEF-A5E2-28D557E4A37E}" srcOrd="4" destOrd="0" parTransId="{5327CD15-D638-4242-B328-F85866C1B4AB}" sibTransId="{DF6B10AC-1862-4051-8774-75F5B5C8F714}"/>
    <dgm:cxn modelId="{1E47FC23-E047-4DD1-B591-5EC66673D28F}" type="presOf" srcId="{CE2C21D3-F51F-4A85-A3FA-A81B7C8596B4}" destId="{4FA9110C-D2DF-431C-A72B-390F846E58E5}" srcOrd="0" destOrd="0" presId="urn:microsoft.com/office/officeart/2008/layout/LinedList"/>
    <dgm:cxn modelId="{47A50941-B2E8-41FD-B6DC-DE5246C17538}" srcId="{8AF68670-7924-405A-97DA-3B43B57AAEC3}" destId="{C0589F6D-59D0-4AF0-A057-5DFF27F27082}" srcOrd="1" destOrd="0" parTransId="{45351BBF-6833-46EF-A7C7-B727F489B4D1}" sibTransId="{074FE2BB-54DE-4EB4-B831-64799F398836}"/>
    <dgm:cxn modelId="{9915BF55-52EF-4CD6-B825-8CA6C3BACD19}" type="presOf" srcId="{7CA5BACF-42A8-413E-B4D1-3E0F2357136F}" destId="{5A80F286-92B2-4107-A8B9-ABEB009ECAC3}" srcOrd="0" destOrd="0" presId="urn:microsoft.com/office/officeart/2008/layout/LinedList"/>
    <dgm:cxn modelId="{7E3D047D-2A55-44F8-A2BF-C2FB887EBD90}" type="presOf" srcId="{8AF68670-7924-405A-97DA-3B43B57AAEC3}" destId="{B9909A21-643C-4861-A88E-F27DC72FB0CB}" srcOrd="0" destOrd="0" presId="urn:microsoft.com/office/officeart/2008/layout/LinedList"/>
    <dgm:cxn modelId="{A409CC90-602D-45DE-96A2-3BCED701768D}" type="presOf" srcId="{C0589F6D-59D0-4AF0-A057-5DFF27F27082}" destId="{E420CF99-ABD0-4A36-8E40-311740CC673A}" srcOrd="0" destOrd="0" presId="urn:microsoft.com/office/officeart/2008/layout/LinedList"/>
    <dgm:cxn modelId="{A8005097-BB9E-4079-8C15-A1881C461A79}" srcId="{8AF68670-7924-405A-97DA-3B43B57AAEC3}" destId="{7CA5BACF-42A8-413E-B4D1-3E0F2357136F}" srcOrd="0" destOrd="0" parTransId="{B1D71112-30C2-49AB-825F-25210EE7AAF9}" sibTransId="{5C4A2CDD-26C3-4DBB-B5B1-0B6BA1B03356}"/>
    <dgm:cxn modelId="{8E52E3DB-8D6F-46A2-9146-4EE50BD17E42}" type="presOf" srcId="{F161552E-D31B-4AEF-A5E2-28D557E4A37E}" destId="{18478719-51DF-42EF-903A-F0F6F95F27C9}" srcOrd="0" destOrd="0" presId="urn:microsoft.com/office/officeart/2008/layout/LinedList"/>
    <dgm:cxn modelId="{1FCB30F6-851A-45AA-9DD4-C91901859169}" type="presOf" srcId="{7E50ECE5-11E7-4683-B7D1-9A279CB9F760}" destId="{13E744BB-54E7-48E2-BB90-A238EF53709C}" srcOrd="0" destOrd="0" presId="urn:microsoft.com/office/officeart/2008/layout/LinedList"/>
    <dgm:cxn modelId="{68CB8693-9128-43C7-8929-B85A9F390BBB}" type="presParOf" srcId="{B9909A21-643C-4861-A88E-F27DC72FB0CB}" destId="{E39ED29F-8978-4D6D-8D04-3929AC5E2375}" srcOrd="0" destOrd="0" presId="urn:microsoft.com/office/officeart/2008/layout/LinedList"/>
    <dgm:cxn modelId="{46FD90CC-042C-43C2-8612-7689038153F2}" type="presParOf" srcId="{B9909A21-643C-4861-A88E-F27DC72FB0CB}" destId="{D6E83CD2-494D-4EB7-84F6-C5627A741C02}" srcOrd="1" destOrd="0" presId="urn:microsoft.com/office/officeart/2008/layout/LinedList"/>
    <dgm:cxn modelId="{631271AA-B4BD-48AA-B9BF-A5AD402E302F}" type="presParOf" srcId="{D6E83CD2-494D-4EB7-84F6-C5627A741C02}" destId="{5A80F286-92B2-4107-A8B9-ABEB009ECAC3}" srcOrd="0" destOrd="0" presId="urn:microsoft.com/office/officeart/2008/layout/LinedList"/>
    <dgm:cxn modelId="{E51A105A-4206-4392-B1D0-B2087AD16B09}" type="presParOf" srcId="{D6E83CD2-494D-4EB7-84F6-C5627A741C02}" destId="{1F6E636E-FCE7-44E0-A62B-54D31CBE4EF9}" srcOrd="1" destOrd="0" presId="urn:microsoft.com/office/officeart/2008/layout/LinedList"/>
    <dgm:cxn modelId="{56BFEE6D-DE64-4CF5-871B-81C11AC49DE8}" type="presParOf" srcId="{B9909A21-643C-4861-A88E-F27DC72FB0CB}" destId="{3FCEE4E3-2B7B-4D7F-ADA3-3621206F4303}" srcOrd="2" destOrd="0" presId="urn:microsoft.com/office/officeart/2008/layout/LinedList"/>
    <dgm:cxn modelId="{7645751E-086B-4687-A8DA-FF73B91F1DB7}" type="presParOf" srcId="{B9909A21-643C-4861-A88E-F27DC72FB0CB}" destId="{1596BF9F-A077-450E-B6F9-BF8F7828CC71}" srcOrd="3" destOrd="0" presId="urn:microsoft.com/office/officeart/2008/layout/LinedList"/>
    <dgm:cxn modelId="{29AD325D-C0F1-4D96-9EA0-BD87CEDBB766}" type="presParOf" srcId="{1596BF9F-A077-450E-B6F9-BF8F7828CC71}" destId="{E420CF99-ABD0-4A36-8E40-311740CC673A}" srcOrd="0" destOrd="0" presId="urn:microsoft.com/office/officeart/2008/layout/LinedList"/>
    <dgm:cxn modelId="{2113F816-29EC-462B-9701-7FF8D88A50EA}" type="presParOf" srcId="{1596BF9F-A077-450E-B6F9-BF8F7828CC71}" destId="{BE6EA4C3-4859-43E7-A1F5-08ACD74300C5}" srcOrd="1" destOrd="0" presId="urn:microsoft.com/office/officeart/2008/layout/LinedList"/>
    <dgm:cxn modelId="{20C2DF48-3CBD-44D8-AF3D-7BCAF771E7CA}" type="presParOf" srcId="{B9909A21-643C-4861-A88E-F27DC72FB0CB}" destId="{89825794-1C9C-47E9-8449-7A8157FFE1E9}" srcOrd="4" destOrd="0" presId="urn:microsoft.com/office/officeart/2008/layout/LinedList"/>
    <dgm:cxn modelId="{28EF3F76-8009-4B8C-9117-DFEE70F2A357}" type="presParOf" srcId="{B9909A21-643C-4861-A88E-F27DC72FB0CB}" destId="{DC3E09B7-4D35-4D56-9DF7-6A568145C441}" srcOrd="5" destOrd="0" presId="urn:microsoft.com/office/officeart/2008/layout/LinedList"/>
    <dgm:cxn modelId="{C6329E3C-FBE9-48EE-9E2B-9E464B12BFE9}" type="presParOf" srcId="{DC3E09B7-4D35-4D56-9DF7-6A568145C441}" destId="{4FA9110C-D2DF-431C-A72B-390F846E58E5}" srcOrd="0" destOrd="0" presId="urn:microsoft.com/office/officeart/2008/layout/LinedList"/>
    <dgm:cxn modelId="{034C3B15-3EA2-404C-ABFD-F06234350419}" type="presParOf" srcId="{DC3E09B7-4D35-4D56-9DF7-6A568145C441}" destId="{70E5F3E1-5522-481A-9A97-6F31233C3E8B}" srcOrd="1" destOrd="0" presId="urn:microsoft.com/office/officeart/2008/layout/LinedList"/>
    <dgm:cxn modelId="{FEE10E8F-4498-480F-B71A-CCF4C1270870}" type="presParOf" srcId="{B9909A21-643C-4861-A88E-F27DC72FB0CB}" destId="{BC630EAF-9F3D-402B-84D6-D65CDA9519E1}" srcOrd="6" destOrd="0" presId="urn:microsoft.com/office/officeart/2008/layout/LinedList"/>
    <dgm:cxn modelId="{AAA42D95-6AA3-4C5E-B541-3713DA2A7DB1}" type="presParOf" srcId="{B9909A21-643C-4861-A88E-F27DC72FB0CB}" destId="{7D7FA714-62DD-4A73-9540-C3E4D03A81FA}" srcOrd="7" destOrd="0" presId="urn:microsoft.com/office/officeart/2008/layout/LinedList"/>
    <dgm:cxn modelId="{8CABC5B5-1CD8-4800-970E-330B23FE6279}" type="presParOf" srcId="{7D7FA714-62DD-4A73-9540-C3E4D03A81FA}" destId="{13E744BB-54E7-48E2-BB90-A238EF53709C}" srcOrd="0" destOrd="0" presId="urn:microsoft.com/office/officeart/2008/layout/LinedList"/>
    <dgm:cxn modelId="{7CA93153-F7C0-453C-B57A-B5A809B0289B}" type="presParOf" srcId="{7D7FA714-62DD-4A73-9540-C3E4D03A81FA}" destId="{32984FDA-7AD4-4980-82EE-3D8B2196E97C}" srcOrd="1" destOrd="0" presId="urn:microsoft.com/office/officeart/2008/layout/LinedList"/>
    <dgm:cxn modelId="{0892B433-F092-4789-B440-43FB8D97B834}" type="presParOf" srcId="{B9909A21-643C-4861-A88E-F27DC72FB0CB}" destId="{F5DD9BEA-3F19-4E95-AEFE-2E45A08E3714}" srcOrd="8" destOrd="0" presId="urn:microsoft.com/office/officeart/2008/layout/LinedList"/>
    <dgm:cxn modelId="{125C8433-C875-49E6-8D7E-2F4039248181}" type="presParOf" srcId="{B9909A21-643C-4861-A88E-F27DC72FB0CB}" destId="{48D80076-DFFE-4260-990F-842474B89C53}" srcOrd="9" destOrd="0" presId="urn:microsoft.com/office/officeart/2008/layout/LinedList"/>
    <dgm:cxn modelId="{17216C94-A8BD-4152-A4C3-FE476488A722}" type="presParOf" srcId="{48D80076-DFFE-4260-990F-842474B89C53}" destId="{18478719-51DF-42EF-903A-F0F6F95F27C9}" srcOrd="0" destOrd="0" presId="urn:microsoft.com/office/officeart/2008/layout/LinedList"/>
    <dgm:cxn modelId="{44A0536A-FBDC-4450-9C29-AE00C5A3919A}" type="presParOf" srcId="{48D80076-DFFE-4260-990F-842474B89C53}" destId="{7797697B-8AD1-4558-9E19-3FFE392A4B4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B6AF27-C7C0-4813-B4B5-2A5F93EC28B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12BDDD9-6718-4803-965F-4C05B6E483D0}">
      <dgm:prSet custT="1"/>
      <dgm:spPr/>
      <dgm:t>
        <a:bodyPr/>
        <a:lstStyle/>
        <a:p>
          <a:pPr algn="ctr"/>
          <a:r>
            <a:rPr lang="tr-TR" sz="1800"/>
            <a:t>Tedarik zinciri, müşterinin doğru ürünleri veya hizmetleri, doğru yerde, istediği zamanda elde edebilmesini sağlayan faaliyetler, sistemler ve varlıklar ağı olarak tanımlanabilir.</a:t>
          </a:r>
          <a:endParaRPr lang="en-US" sz="1800"/>
        </a:p>
      </dgm:t>
    </dgm:pt>
    <dgm:pt modelId="{71A64F84-D0C3-4ABB-9418-7263A749390C}" type="parTrans" cxnId="{E36EA767-E058-488B-BC87-C44CAB32518E}">
      <dgm:prSet/>
      <dgm:spPr/>
      <dgm:t>
        <a:bodyPr/>
        <a:lstStyle/>
        <a:p>
          <a:endParaRPr lang="en-US"/>
        </a:p>
      </dgm:t>
    </dgm:pt>
    <dgm:pt modelId="{00605408-2F31-460A-8FC6-4C6C32C03474}" type="sibTrans" cxnId="{E36EA767-E058-488B-BC87-C44CAB32518E}">
      <dgm:prSet/>
      <dgm:spPr/>
      <dgm:t>
        <a:bodyPr/>
        <a:lstStyle/>
        <a:p>
          <a:endParaRPr lang="en-US"/>
        </a:p>
      </dgm:t>
    </dgm:pt>
    <dgm:pt modelId="{A385F1DE-FDAC-44FC-913E-3AE9D766B985}">
      <dgm:prSet/>
      <dgm:spPr/>
      <dgm:t>
        <a:bodyPr/>
        <a:lstStyle/>
        <a:p>
          <a:r>
            <a:rPr lang="tr-TR"/>
            <a:t>Müşteriye, doğru ürünün, doğru zamanda, doğru yerde, doğru fiyata, tüm tedarik zinciri için mümkün olan en düşük maliyetle ulaşmasını sağlayan malzeme, bilgi ve para akışının entegre yönetimidir.</a:t>
          </a:r>
          <a:endParaRPr lang="en-US"/>
        </a:p>
      </dgm:t>
    </dgm:pt>
    <dgm:pt modelId="{A53B08F6-F136-43AA-8090-F79F9B4509FC}" type="parTrans" cxnId="{680AA9DC-A88A-4419-B3D7-95F00117B0B7}">
      <dgm:prSet/>
      <dgm:spPr/>
      <dgm:t>
        <a:bodyPr/>
        <a:lstStyle/>
        <a:p>
          <a:endParaRPr lang="en-US"/>
        </a:p>
      </dgm:t>
    </dgm:pt>
    <dgm:pt modelId="{2C8F8D9A-0080-4691-B689-241F63945094}" type="sibTrans" cxnId="{680AA9DC-A88A-4419-B3D7-95F00117B0B7}">
      <dgm:prSet/>
      <dgm:spPr/>
      <dgm:t>
        <a:bodyPr/>
        <a:lstStyle/>
        <a:p>
          <a:endParaRPr lang="en-US"/>
        </a:p>
      </dgm:t>
    </dgm:pt>
    <dgm:pt modelId="{24FF3B68-26AA-4ED3-84CB-3014F84D9034}" type="pres">
      <dgm:prSet presAssocID="{E0B6AF27-C7C0-4813-B4B5-2A5F93EC28B0}" presName="root" presStyleCnt="0">
        <dgm:presLayoutVars>
          <dgm:dir/>
          <dgm:resizeHandles val="exact"/>
        </dgm:presLayoutVars>
      </dgm:prSet>
      <dgm:spPr/>
    </dgm:pt>
    <dgm:pt modelId="{0F6F0555-B414-414D-879C-953F9856B7BC}" type="pres">
      <dgm:prSet presAssocID="{912BDDD9-6718-4803-965F-4C05B6E483D0}" presName="compNode" presStyleCnt="0"/>
      <dgm:spPr/>
    </dgm:pt>
    <dgm:pt modelId="{DF0D2045-91FE-440A-B279-79ACC4EE38C9}" type="pres">
      <dgm:prSet presAssocID="{912BDDD9-6718-4803-965F-4C05B6E483D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nay işareti"/>
        </a:ext>
      </dgm:extLst>
    </dgm:pt>
    <dgm:pt modelId="{0ED44E16-F1A0-4B7B-BBD6-450316150C0A}" type="pres">
      <dgm:prSet presAssocID="{912BDDD9-6718-4803-965F-4C05B6E483D0}" presName="spaceRect" presStyleCnt="0"/>
      <dgm:spPr/>
    </dgm:pt>
    <dgm:pt modelId="{0B17CDA8-7595-4AAB-94D0-F82EFA97A5FE}" type="pres">
      <dgm:prSet presAssocID="{912BDDD9-6718-4803-965F-4C05B6E483D0}" presName="textRect" presStyleLbl="revTx" presStyleIdx="0" presStyleCnt="2">
        <dgm:presLayoutVars>
          <dgm:chMax val="1"/>
          <dgm:chPref val="1"/>
        </dgm:presLayoutVars>
      </dgm:prSet>
      <dgm:spPr/>
    </dgm:pt>
    <dgm:pt modelId="{3B790189-2B0D-4AF7-A09A-311A268025EF}" type="pres">
      <dgm:prSet presAssocID="{00605408-2F31-460A-8FC6-4C6C32C03474}" presName="sibTrans" presStyleCnt="0"/>
      <dgm:spPr/>
    </dgm:pt>
    <dgm:pt modelId="{7AECB0A0-AC54-461D-BB02-690D172BF35B}" type="pres">
      <dgm:prSet presAssocID="{A385F1DE-FDAC-44FC-913E-3AE9D766B985}" presName="compNode" presStyleCnt="0"/>
      <dgm:spPr/>
    </dgm:pt>
    <dgm:pt modelId="{AA970B78-D4B8-498C-8F16-1C0D58392BA1}" type="pres">
      <dgm:prSet presAssocID="{A385F1DE-FDAC-44FC-913E-3AE9D766B98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def merkezi"/>
        </a:ext>
      </dgm:extLst>
    </dgm:pt>
    <dgm:pt modelId="{FAA4B472-2F3C-425E-AA3E-A26ACC4C2A54}" type="pres">
      <dgm:prSet presAssocID="{A385F1DE-FDAC-44FC-913E-3AE9D766B985}" presName="spaceRect" presStyleCnt="0"/>
      <dgm:spPr/>
    </dgm:pt>
    <dgm:pt modelId="{043B86D0-DF89-49E1-A000-80A4C4A54490}" type="pres">
      <dgm:prSet presAssocID="{A385F1DE-FDAC-44FC-913E-3AE9D766B985}" presName="textRect" presStyleLbl="revTx" presStyleIdx="1" presStyleCnt="2">
        <dgm:presLayoutVars>
          <dgm:chMax val="1"/>
          <dgm:chPref val="1"/>
        </dgm:presLayoutVars>
      </dgm:prSet>
      <dgm:spPr/>
    </dgm:pt>
  </dgm:ptLst>
  <dgm:cxnLst>
    <dgm:cxn modelId="{9C17035D-C340-46B4-AEB9-C3973484121D}" type="presOf" srcId="{E0B6AF27-C7C0-4813-B4B5-2A5F93EC28B0}" destId="{24FF3B68-26AA-4ED3-84CB-3014F84D9034}" srcOrd="0" destOrd="0" presId="urn:microsoft.com/office/officeart/2018/2/layout/IconLabelList"/>
    <dgm:cxn modelId="{E36EA767-E058-488B-BC87-C44CAB32518E}" srcId="{E0B6AF27-C7C0-4813-B4B5-2A5F93EC28B0}" destId="{912BDDD9-6718-4803-965F-4C05B6E483D0}" srcOrd="0" destOrd="0" parTransId="{71A64F84-D0C3-4ABB-9418-7263A749390C}" sibTransId="{00605408-2F31-460A-8FC6-4C6C32C03474}"/>
    <dgm:cxn modelId="{05ADC885-F5A9-422E-836E-FAD3BB08CD2C}" type="presOf" srcId="{912BDDD9-6718-4803-965F-4C05B6E483D0}" destId="{0B17CDA8-7595-4AAB-94D0-F82EFA97A5FE}" srcOrd="0" destOrd="0" presId="urn:microsoft.com/office/officeart/2018/2/layout/IconLabelList"/>
    <dgm:cxn modelId="{3F0832B6-1CA7-4387-97EA-88708145CB76}" type="presOf" srcId="{A385F1DE-FDAC-44FC-913E-3AE9D766B985}" destId="{043B86D0-DF89-49E1-A000-80A4C4A54490}" srcOrd="0" destOrd="0" presId="urn:microsoft.com/office/officeart/2018/2/layout/IconLabelList"/>
    <dgm:cxn modelId="{680AA9DC-A88A-4419-B3D7-95F00117B0B7}" srcId="{E0B6AF27-C7C0-4813-B4B5-2A5F93EC28B0}" destId="{A385F1DE-FDAC-44FC-913E-3AE9D766B985}" srcOrd="1" destOrd="0" parTransId="{A53B08F6-F136-43AA-8090-F79F9B4509FC}" sibTransId="{2C8F8D9A-0080-4691-B689-241F63945094}"/>
    <dgm:cxn modelId="{9AC1474B-AA79-4A03-9949-DF3CAB26D8EE}" type="presParOf" srcId="{24FF3B68-26AA-4ED3-84CB-3014F84D9034}" destId="{0F6F0555-B414-414D-879C-953F9856B7BC}" srcOrd="0" destOrd="0" presId="urn:microsoft.com/office/officeart/2018/2/layout/IconLabelList"/>
    <dgm:cxn modelId="{C27381CA-3906-4F8F-9B58-6AAC002D6921}" type="presParOf" srcId="{0F6F0555-B414-414D-879C-953F9856B7BC}" destId="{DF0D2045-91FE-440A-B279-79ACC4EE38C9}" srcOrd="0" destOrd="0" presId="urn:microsoft.com/office/officeart/2018/2/layout/IconLabelList"/>
    <dgm:cxn modelId="{3040D089-0EDE-4E3A-A4B3-9E1B97265483}" type="presParOf" srcId="{0F6F0555-B414-414D-879C-953F9856B7BC}" destId="{0ED44E16-F1A0-4B7B-BBD6-450316150C0A}" srcOrd="1" destOrd="0" presId="urn:microsoft.com/office/officeart/2018/2/layout/IconLabelList"/>
    <dgm:cxn modelId="{7AB1DBE5-1B0B-44AC-807D-FB12658A035F}" type="presParOf" srcId="{0F6F0555-B414-414D-879C-953F9856B7BC}" destId="{0B17CDA8-7595-4AAB-94D0-F82EFA97A5FE}" srcOrd="2" destOrd="0" presId="urn:microsoft.com/office/officeart/2018/2/layout/IconLabelList"/>
    <dgm:cxn modelId="{648C1D51-75B2-4D97-8806-C5F7E2CD9113}" type="presParOf" srcId="{24FF3B68-26AA-4ED3-84CB-3014F84D9034}" destId="{3B790189-2B0D-4AF7-A09A-311A268025EF}" srcOrd="1" destOrd="0" presId="urn:microsoft.com/office/officeart/2018/2/layout/IconLabelList"/>
    <dgm:cxn modelId="{F65EB309-6F37-4BC3-82A7-162F20A30533}" type="presParOf" srcId="{24FF3B68-26AA-4ED3-84CB-3014F84D9034}" destId="{7AECB0A0-AC54-461D-BB02-690D172BF35B}" srcOrd="2" destOrd="0" presId="urn:microsoft.com/office/officeart/2018/2/layout/IconLabelList"/>
    <dgm:cxn modelId="{6BE0B2BB-3670-4238-B904-6B816AA2C038}" type="presParOf" srcId="{7AECB0A0-AC54-461D-BB02-690D172BF35B}" destId="{AA970B78-D4B8-498C-8F16-1C0D58392BA1}" srcOrd="0" destOrd="0" presId="urn:microsoft.com/office/officeart/2018/2/layout/IconLabelList"/>
    <dgm:cxn modelId="{E0969403-028B-4B30-BC0C-A067F3BC55F7}" type="presParOf" srcId="{7AECB0A0-AC54-461D-BB02-690D172BF35B}" destId="{FAA4B472-2F3C-425E-AA3E-A26ACC4C2A54}" srcOrd="1" destOrd="0" presId="urn:microsoft.com/office/officeart/2018/2/layout/IconLabelList"/>
    <dgm:cxn modelId="{3A4545A1-4BD6-4929-B99F-7E9E56AB44B0}" type="presParOf" srcId="{7AECB0A0-AC54-461D-BB02-690D172BF35B}" destId="{043B86D0-DF89-49E1-A000-80A4C4A5449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CBC1B5-36DC-4D40-82FA-662FB9B95E7E}"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tr-TR"/>
        </a:p>
      </dgm:t>
    </dgm:pt>
    <dgm:pt modelId="{EC079BDD-29F4-4DBF-A8A6-7877FEB8ABC7}">
      <dgm:prSet phldrT="[Metin]"/>
      <dgm:spPr/>
      <dgm:t>
        <a:bodyPr/>
        <a:lstStyle/>
        <a:p>
          <a:r>
            <a:rPr lang="tr-TR" b="1"/>
            <a:t>20. Yüzyılın Başları:</a:t>
          </a:r>
        </a:p>
        <a:p>
          <a:pPr>
            <a:buFont typeface="Arial" panose="020B0604020202020204" pitchFamily="34" charset="0"/>
            <a:buChar char="•"/>
          </a:pPr>
          <a:r>
            <a:rPr lang="tr-TR" b="1"/>
            <a:t>Endüstri Devrimi'nin Etkisi:</a:t>
          </a:r>
          <a:r>
            <a:rPr lang="tr-TR"/>
            <a:t> Bu dönemde lojistik, üretim süreçleriyle doğrudan ilişkiliydi ve genellikle demiryolu ağı üzerinde gerçekleştirilirdi.</a:t>
          </a:r>
        </a:p>
        <a:p>
          <a:pPr>
            <a:buFont typeface="Arial" panose="020B0604020202020204" pitchFamily="34" charset="0"/>
            <a:buChar char="•"/>
          </a:pPr>
          <a:r>
            <a:rPr lang="tr-TR" b="1"/>
            <a:t>Depolama Odaklı Sistemler:</a:t>
          </a:r>
          <a:r>
            <a:rPr lang="tr-TR"/>
            <a:t> Büyük miktarlarda ürünlerin depolanması ve dağıtımı, lojistiğin temel faaliyetleri arasındaydı.</a:t>
          </a:r>
        </a:p>
      </dgm:t>
    </dgm:pt>
    <dgm:pt modelId="{633F7363-5B04-4D2A-8782-39D63BA63DD8}" type="parTrans" cxnId="{5042C3B2-C023-46DB-AA3E-307F6EA776A0}">
      <dgm:prSet/>
      <dgm:spPr/>
      <dgm:t>
        <a:bodyPr/>
        <a:lstStyle/>
        <a:p>
          <a:endParaRPr lang="tr-TR"/>
        </a:p>
      </dgm:t>
    </dgm:pt>
    <dgm:pt modelId="{64FCD330-6283-4817-843B-1893322C0900}" type="sibTrans" cxnId="{5042C3B2-C023-46DB-AA3E-307F6EA776A0}">
      <dgm:prSet/>
      <dgm:spPr/>
      <dgm:t>
        <a:bodyPr/>
        <a:lstStyle/>
        <a:p>
          <a:endParaRPr lang="tr-TR"/>
        </a:p>
      </dgm:t>
    </dgm:pt>
    <dgm:pt modelId="{BCC242EF-32B3-476D-98AC-765AD08EB513}">
      <dgm:prSet phldrT="[Metin]"/>
      <dgm:spPr/>
      <dgm:t>
        <a:bodyPr/>
        <a:lstStyle/>
        <a:p>
          <a:r>
            <a:rPr lang="es-ES" b="1"/>
            <a:t>20. Yüzyılın Orta ve Sonları:</a:t>
          </a:r>
        </a:p>
        <a:p>
          <a:pPr>
            <a:buFont typeface="Arial" panose="020B0604020202020204" pitchFamily="34" charset="0"/>
            <a:buChar char="•"/>
          </a:pPr>
          <a:r>
            <a:rPr lang="tr-TR" b="1"/>
            <a:t>Kamyon Taşımacılığının Yükselişi:</a:t>
          </a:r>
          <a:r>
            <a:rPr lang="tr-TR"/>
            <a:t> Karayollarının gelişmesiyle birlikte kamyon taşımacılığı, lojistikte önemli bir yer edinmeye başladı.</a:t>
          </a:r>
        </a:p>
        <a:p>
          <a:pPr>
            <a:buFont typeface="Arial" panose="020B0604020202020204" pitchFamily="34" charset="0"/>
            <a:buChar char="•"/>
          </a:pPr>
          <a:r>
            <a:rPr lang="tr-TR" b="1"/>
            <a:t>Konteynerizasyon:</a:t>
          </a:r>
          <a:r>
            <a:rPr lang="tr-TR"/>
            <a:t> Standart boyutlarda konteynerlerin kullanılması, taşıma işlemlerini kolaylaştırdı ve maliyetleri düşürdü.</a:t>
          </a:r>
        </a:p>
        <a:p>
          <a:pPr>
            <a:buFont typeface="Arial" panose="020B0604020202020204" pitchFamily="34" charset="0"/>
            <a:buChar char="•"/>
          </a:pPr>
          <a:r>
            <a:rPr lang="tr-TR" b="1"/>
            <a:t>Lojistik Yönetim Sistemlerinin Gelişimi:</a:t>
          </a:r>
          <a:r>
            <a:rPr lang="tr-TR"/>
            <a:t> Lojistik süreçlerin daha etkin yönetilmesi için ilk bilgisayar tabanlı sistemler ortaya çıktı.</a:t>
          </a:r>
        </a:p>
      </dgm:t>
    </dgm:pt>
    <dgm:pt modelId="{494775A0-AA01-42E4-9B50-2EC71A522D7B}" type="parTrans" cxnId="{23C707EE-3DFF-4ED1-B7BE-7D26D15D9478}">
      <dgm:prSet/>
      <dgm:spPr/>
      <dgm:t>
        <a:bodyPr/>
        <a:lstStyle/>
        <a:p>
          <a:endParaRPr lang="tr-TR"/>
        </a:p>
      </dgm:t>
    </dgm:pt>
    <dgm:pt modelId="{2DB642A1-16A0-48DA-B48C-D710C90A92F2}" type="sibTrans" cxnId="{23C707EE-3DFF-4ED1-B7BE-7D26D15D9478}">
      <dgm:prSet/>
      <dgm:spPr/>
      <dgm:t>
        <a:bodyPr/>
        <a:lstStyle/>
        <a:p>
          <a:endParaRPr lang="tr-TR"/>
        </a:p>
      </dgm:t>
    </dgm:pt>
    <dgm:pt modelId="{68E52BF1-E007-47EF-8EBF-6F5CB19C17C7}">
      <dgm:prSet phldrT="[Metin]"/>
      <dgm:spPr/>
      <dgm:t>
        <a:bodyPr/>
        <a:lstStyle/>
        <a:p>
          <a:r>
            <a:rPr lang="tr-TR" b="1"/>
            <a:t>21. Yüzyılın Başları:</a:t>
          </a:r>
        </a:p>
        <a:p>
          <a:pPr>
            <a:buFont typeface="Arial" panose="020B0604020202020204" pitchFamily="34" charset="0"/>
            <a:buChar char="•"/>
          </a:pPr>
          <a:r>
            <a:rPr lang="tr-TR" b="1"/>
            <a:t>Küreselleşme ve Tedarik Zinciri Yönetimi:</a:t>
          </a:r>
          <a:r>
            <a:rPr lang="tr-TR"/>
            <a:t> Küreselleşmeyle birlikte tedarik zincirleri karmaşıklaştı ve lojistik şirketleri, tüm tedarik zinciri süreçlerini yönetmek zorunda kaldı.</a:t>
          </a:r>
        </a:p>
        <a:p>
          <a:pPr>
            <a:buFont typeface="Arial" panose="020B0604020202020204" pitchFamily="34" charset="0"/>
            <a:buChar char="•"/>
          </a:pPr>
          <a:r>
            <a:rPr lang="tr-TR" b="1"/>
            <a:t>E-ticaretin Etkisi:</a:t>
          </a:r>
          <a:r>
            <a:rPr lang="tr-TR"/>
            <a:t> E-ticaretin hızlı büyümesi, son kullanıcıya yönelik lojistik hizmetlerin önemini artırdı.</a:t>
          </a:r>
        </a:p>
        <a:p>
          <a:pPr>
            <a:buFont typeface="Arial" panose="020B0604020202020204" pitchFamily="34" charset="0"/>
            <a:buChar char="•"/>
          </a:pPr>
          <a:r>
            <a:rPr lang="tr-TR" b="1"/>
            <a:t>Teknolojik Gelişmeler:</a:t>
          </a:r>
          <a:r>
            <a:rPr lang="tr-TR"/>
            <a:t> Barkod okuyucular, RFID teknolojisi gibi araçlar, lojistik süreçlerin otomasyonuna katkı sağladı.</a:t>
          </a:r>
        </a:p>
      </dgm:t>
    </dgm:pt>
    <dgm:pt modelId="{5759C258-BAB4-4A3A-8AF2-7B1ADBDF8736}" type="parTrans" cxnId="{646DA991-6FD0-42EF-94ED-AF01E388AB5E}">
      <dgm:prSet/>
      <dgm:spPr/>
      <dgm:t>
        <a:bodyPr/>
        <a:lstStyle/>
        <a:p>
          <a:endParaRPr lang="tr-TR"/>
        </a:p>
      </dgm:t>
    </dgm:pt>
    <dgm:pt modelId="{2B542DFE-117D-45E3-A03C-1802C213E229}" type="sibTrans" cxnId="{646DA991-6FD0-42EF-94ED-AF01E388AB5E}">
      <dgm:prSet/>
      <dgm:spPr/>
      <dgm:t>
        <a:bodyPr/>
        <a:lstStyle/>
        <a:p>
          <a:endParaRPr lang="tr-TR"/>
        </a:p>
      </dgm:t>
    </dgm:pt>
    <dgm:pt modelId="{C9B3B923-418A-4BFC-A353-3744856804D4}" type="pres">
      <dgm:prSet presAssocID="{FBCBC1B5-36DC-4D40-82FA-662FB9B95E7E}" presName="vert0" presStyleCnt="0">
        <dgm:presLayoutVars>
          <dgm:dir/>
          <dgm:animOne val="branch"/>
          <dgm:animLvl val="lvl"/>
        </dgm:presLayoutVars>
      </dgm:prSet>
      <dgm:spPr/>
    </dgm:pt>
    <dgm:pt modelId="{137C65E0-25FC-43E8-91BA-9D67D38CE162}" type="pres">
      <dgm:prSet presAssocID="{EC079BDD-29F4-4DBF-A8A6-7877FEB8ABC7}" presName="thickLine" presStyleLbl="alignNode1" presStyleIdx="0" presStyleCnt="3"/>
      <dgm:spPr/>
    </dgm:pt>
    <dgm:pt modelId="{B699C43B-1D82-4974-90C0-956EB55FE964}" type="pres">
      <dgm:prSet presAssocID="{EC079BDD-29F4-4DBF-A8A6-7877FEB8ABC7}" presName="horz1" presStyleCnt="0"/>
      <dgm:spPr/>
    </dgm:pt>
    <dgm:pt modelId="{F9874DD7-54E8-4D55-B2C2-7D53E6B039B7}" type="pres">
      <dgm:prSet presAssocID="{EC079BDD-29F4-4DBF-A8A6-7877FEB8ABC7}" presName="tx1" presStyleLbl="revTx" presStyleIdx="0" presStyleCnt="3"/>
      <dgm:spPr/>
    </dgm:pt>
    <dgm:pt modelId="{CBB34D27-6980-468A-9C49-7F37EBF2F498}" type="pres">
      <dgm:prSet presAssocID="{EC079BDD-29F4-4DBF-A8A6-7877FEB8ABC7}" presName="vert1" presStyleCnt="0"/>
      <dgm:spPr/>
    </dgm:pt>
    <dgm:pt modelId="{17ED16F6-261F-49F7-B2A4-E4F7064CABD6}" type="pres">
      <dgm:prSet presAssocID="{BCC242EF-32B3-476D-98AC-765AD08EB513}" presName="thickLine" presStyleLbl="alignNode1" presStyleIdx="1" presStyleCnt="3"/>
      <dgm:spPr/>
    </dgm:pt>
    <dgm:pt modelId="{71F83213-DB49-4AE8-9065-E873D67CE619}" type="pres">
      <dgm:prSet presAssocID="{BCC242EF-32B3-476D-98AC-765AD08EB513}" presName="horz1" presStyleCnt="0"/>
      <dgm:spPr/>
    </dgm:pt>
    <dgm:pt modelId="{F1417AE5-579D-4444-B505-78037F8EE7D7}" type="pres">
      <dgm:prSet presAssocID="{BCC242EF-32B3-476D-98AC-765AD08EB513}" presName="tx1" presStyleLbl="revTx" presStyleIdx="1" presStyleCnt="3"/>
      <dgm:spPr/>
    </dgm:pt>
    <dgm:pt modelId="{4C183CD3-BD53-49EE-8583-205C9E6A399C}" type="pres">
      <dgm:prSet presAssocID="{BCC242EF-32B3-476D-98AC-765AD08EB513}" presName="vert1" presStyleCnt="0"/>
      <dgm:spPr/>
    </dgm:pt>
    <dgm:pt modelId="{332F5C48-4C0E-46F9-B5DE-8407A06AE49D}" type="pres">
      <dgm:prSet presAssocID="{68E52BF1-E007-47EF-8EBF-6F5CB19C17C7}" presName="thickLine" presStyleLbl="alignNode1" presStyleIdx="2" presStyleCnt="3"/>
      <dgm:spPr/>
    </dgm:pt>
    <dgm:pt modelId="{EC1C2506-7013-4A1B-A3F1-FF0032FF7F4E}" type="pres">
      <dgm:prSet presAssocID="{68E52BF1-E007-47EF-8EBF-6F5CB19C17C7}" presName="horz1" presStyleCnt="0"/>
      <dgm:spPr/>
    </dgm:pt>
    <dgm:pt modelId="{E3118579-5D3D-4038-9EB6-82774E22AE87}" type="pres">
      <dgm:prSet presAssocID="{68E52BF1-E007-47EF-8EBF-6F5CB19C17C7}" presName="tx1" presStyleLbl="revTx" presStyleIdx="2" presStyleCnt="3"/>
      <dgm:spPr/>
    </dgm:pt>
    <dgm:pt modelId="{AFBE95CB-0F1F-4494-AB35-37567CDF77E5}" type="pres">
      <dgm:prSet presAssocID="{68E52BF1-E007-47EF-8EBF-6F5CB19C17C7}" presName="vert1" presStyleCnt="0"/>
      <dgm:spPr/>
    </dgm:pt>
  </dgm:ptLst>
  <dgm:cxnLst>
    <dgm:cxn modelId="{9872C233-D142-47DB-A4DE-939E685E679D}" type="presOf" srcId="{FBCBC1B5-36DC-4D40-82FA-662FB9B95E7E}" destId="{C9B3B923-418A-4BFC-A353-3744856804D4}" srcOrd="0" destOrd="0" presId="urn:microsoft.com/office/officeart/2008/layout/LinedList"/>
    <dgm:cxn modelId="{A7AF5640-DAC0-46B4-8E68-E44CB17A2662}" type="presOf" srcId="{68E52BF1-E007-47EF-8EBF-6F5CB19C17C7}" destId="{E3118579-5D3D-4038-9EB6-82774E22AE87}" srcOrd="0" destOrd="0" presId="urn:microsoft.com/office/officeart/2008/layout/LinedList"/>
    <dgm:cxn modelId="{4E4D8B4C-13A5-4046-B39D-4F2D0814EC70}" type="presOf" srcId="{BCC242EF-32B3-476D-98AC-765AD08EB513}" destId="{F1417AE5-579D-4444-B505-78037F8EE7D7}" srcOrd="0" destOrd="0" presId="urn:microsoft.com/office/officeart/2008/layout/LinedList"/>
    <dgm:cxn modelId="{646DA991-6FD0-42EF-94ED-AF01E388AB5E}" srcId="{FBCBC1B5-36DC-4D40-82FA-662FB9B95E7E}" destId="{68E52BF1-E007-47EF-8EBF-6F5CB19C17C7}" srcOrd="2" destOrd="0" parTransId="{5759C258-BAB4-4A3A-8AF2-7B1ADBDF8736}" sibTransId="{2B542DFE-117D-45E3-A03C-1802C213E229}"/>
    <dgm:cxn modelId="{5042C3B2-C023-46DB-AA3E-307F6EA776A0}" srcId="{FBCBC1B5-36DC-4D40-82FA-662FB9B95E7E}" destId="{EC079BDD-29F4-4DBF-A8A6-7877FEB8ABC7}" srcOrd="0" destOrd="0" parTransId="{633F7363-5B04-4D2A-8782-39D63BA63DD8}" sibTransId="{64FCD330-6283-4817-843B-1893322C0900}"/>
    <dgm:cxn modelId="{F80DE9BA-1F66-41E3-9E92-7B173341D50B}" type="presOf" srcId="{EC079BDD-29F4-4DBF-A8A6-7877FEB8ABC7}" destId="{F9874DD7-54E8-4D55-B2C2-7D53E6B039B7}" srcOrd="0" destOrd="0" presId="urn:microsoft.com/office/officeart/2008/layout/LinedList"/>
    <dgm:cxn modelId="{23C707EE-3DFF-4ED1-B7BE-7D26D15D9478}" srcId="{FBCBC1B5-36DC-4D40-82FA-662FB9B95E7E}" destId="{BCC242EF-32B3-476D-98AC-765AD08EB513}" srcOrd="1" destOrd="0" parTransId="{494775A0-AA01-42E4-9B50-2EC71A522D7B}" sibTransId="{2DB642A1-16A0-48DA-B48C-D710C90A92F2}"/>
    <dgm:cxn modelId="{F4AE8DCB-C1EE-4C30-A7C2-A6E932CD5B25}" type="presParOf" srcId="{C9B3B923-418A-4BFC-A353-3744856804D4}" destId="{137C65E0-25FC-43E8-91BA-9D67D38CE162}" srcOrd="0" destOrd="0" presId="urn:microsoft.com/office/officeart/2008/layout/LinedList"/>
    <dgm:cxn modelId="{844F5D57-72A1-47D3-9D6F-FA8267E7E2C6}" type="presParOf" srcId="{C9B3B923-418A-4BFC-A353-3744856804D4}" destId="{B699C43B-1D82-4974-90C0-956EB55FE964}" srcOrd="1" destOrd="0" presId="urn:microsoft.com/office/officeart/2008/layout/LinedList"/>
    <dgm:cxn modelId="{2E2E82FD-5CC6-426D-8DE4-3A095F0A7AFF}" type="presParOf" srcId="{B699C43B-1D82-4974-90C0-956EB55FE964}" destId="{F9874DD7-54E8-4D55-B2C2-7D53E6B039B7}" srcOrd="0" destOrd="0" presId="urn:microsoft.com/office/officeart/2008/layout/LinedList"/>
    <dgm:cxn modelId="{E1EDDE19-FD22-4A41-AB17-D4F717E5DBD3}" type="presParOf" srcId="{B699C43B-1D82-4974-90C0-956EB55FE964}" destId="{CBB34D27-6980-468A-9C49-7F37EBF2F498}" srcOrd="1" destOrd="0" presId="urn:microsoft.com/office/officeart/2008/layout/LinedList"/>
    <dgm:cxn modelId="{349C800C-12D5-4173-91D9-B911232CC3F5}" type="presParOf" srcId="{C9B3B923-418A-4BFC-A353-3744856804D4}" destId="{17ED16F6-261F-49F7-B2A4-E4F7064CABD6}" srcOrd="2" destOrd="0" presId="urn:microsoft.com/office/officeart/2008/layout/LinedList"/>
    <dgm:cxn modelId="{1D8F2F9D-1281-4498-8AE1-8B1404B1D0FD}" type="presParOf" srcId="{C9B3B923-418A-4BFC-A353-3744856804D4}" destId="{71F83213-DB49-4AE8-9065-E873D67CE619}" srcOrd="3" destOrd="0" presId="urn:microsoft.com/office/officeart/2008/layout/LinedList"/>
    <dgm:cxn modelId="{156948C2-D1B1-45BF-9109-445C8D7DC5A2}" type="presParOf" srcId="{71F83213-DB49-4AE8-9065-E873D67CE619}" destId="{F1417AE5-579D-4444-B505-78037F8EE7D7}" srcOrd="0" destOrd="0" presId="urn:microsoft.com/office/officeart/2008/layout/LinedList"/>
    <dgm:cxn modelId="{5D32576D-B054-4451-A2B1-A9066D9D0109}" type="presParOf" srcId="{71F83213-DB49-4AE8-9065-E873D67CE619}" destId="{4C183CD3-BD53-49EE-8583-205C9E6A399C}" srcOrd="1" destOrd="0" presId="urn:microsoft.com/office/officeart/2008/layout/LinedList"/>
    <dgm:cxn modelId="{DB252C15-5A6A-49E0-A659-8F9D137CD2AC}" type="presParOf" srcId="{C9B3B923-418A-4BFC-A353-3744856804D4}" destId="{332F5C48-4C0E-46F9-B5DE-8407A06AE49D}" srcOrd="4" destOrd="0" presId="urn:microsoft.com/office/officeart/2008/layout/LinedList"/>
    <dgm:cxn modelId="{63BFD7F3-43E2-442B-A973-56273575A641}" type="presParOf" srcId="{C9B3B923-418A-4BFC-A353-3744856804D4}" destId="{EC1C2506-7013-4A1B-A3F1-FF0032FF7F4E}" srcOrd="5" destOrd="0" presId="urn:microsoft.com/office/officeart/2008/layout/LinedList"/>
    <dgm:cxn modelId="{2E3B6B7A-AA68-4935-BE87-780AD1DC250F}" type="presParOf" srcId="{EC1C2506-7013-4A1B-A3F1-FF0032FF7F4E}" destId="{E3118579-5D3D-4038-9EB6-82774E22AE87}" srcOrd="0" destOrd="0" presId="urn:microsoft.com/office/officeart/2008/layout/LinedList"/>
    <dgm:cxn modelId="{B9A262E6-AA32-495E-86DB-1DE9C8848999}" type="presParOf" srcId="{EC1C2506-7013-4A1B-A3F1-FF0032FF7F4E}" destId="{AFBE95CB-0F1F-4494-AB35-37567CDF77E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2E83F34-E031-4C3E-BE17-778DC0C79A0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4118F68-EBCD-432B-B5C9-DC53F9784966}">
      <dgm:prSet/>
      <dgm:spPr/>
      <dgm:t>
        <a:bodyPr/>
        <a:lstStyle/>
        <a:p>
          <a:r>
            <a:rPr lang="tr-TR"/>
            <a:t>Taşıma (nakliye)</a:t>
          </a:r>
          <a:endParaRPr lang="en-US"/>
        </a:p>
      </dgm:t>
    </dgm:pt>
    <dgm:pt modelId="{A5CAB4B9-A8DE-434B-9E80-EABCE226D3BC}" type="parTrans" cxnId="{1749C1CA-C5B2-4D20-97B6-900BEA58123B}">
      <dgm:prSet/>
      <dgm:spPr/>
      <dgm:t>
        <a:bodyPr/>
        <a:lstStyle/>
        <a:p>
          <a:endParaRPr lang="en-US"/>
        </a:p>
      </dgm:t>
    </dgm:pt>
    <dgm:pt modelId="{1238C049-4A25-4649-A6DE-B97DAD9C68FB}" type="sibTrans" cxnId="{1749C1CA-C5B2-4D20-97B6-900BEA58123B}">
      <dgm:prSet/>
      <dgm:spPr/>
      <dgm:t>
        <a:bodyPr/>
        <a:lstStyle/>
        <a:p>
          <a:endParaRPr lang="en-US"/>
        </a:p>
      </dgm:t>
    </dgm:pt>
    <dgm:pt modelId="{9566B186-B56D-40BF-B3DB-CE8BEBBF3BAE}">
      <dgm:prSet/>
      <dgm:spPr/>
      <dgm:t>
        <a:bodyPr/>
        <a:lstStyle/>
        <a:p>
          <a:r>
            <a:rPr lang="tr-TR"/>
            <a:t>Taşıma yolunun ve aracıların seçimini yapmak</a:t>
          </a:r>
          <a:endParaRPr lang="en-US"/>
        </a:p>
      </dgm:t>
    </dgm:pt>
    <dgm:pt modelId="{BE208472-58A1-4E6F-BE6D-903A6D8DADB6}" type="parTrans" cxnId="{5D0A1C31-4CC5-4773-AC1B-FFC30661AA94}">
      <dgm:prSet/>
      <dgm:spPr/>
      <dgm:t>
        <a:bodyPr/>
        <a:lstStyle/>
        <a:p>
          <a:endParaRPr lang="en-US"/>
        </a:p>
      </dgm:t>
    </dgm:pt>
    <dgm:pt modelId="{F36EFE1D-4E18-4306-B111-75D6C95C0B4A}" type="sibTrans" cxnId="{5D0A1C31-4CC5-4773-AC1B-FFC30661AA94}">
      <dgm:prSet/>
      <dgm:spPr/>
      <dgm:t>
        <a:bodyPr/>
        <a:lstStyle/>
        <a:p>
          <a:endParaRPr lang="en-US"/>
        </a:p>
      </dgm:t>
    </dgm:pt>
    <dgm:pt modelId="{33DB6550-BE65-4453-8ECE-C65D5787BA19}">
      <dgm:prSet/>
      <dgm:spPr/>
      <dgm:t>
        <a:bodyPr/>
        <a:lstStyle/>
        <a:p>
          <a:r>
            <a:rPr lang="tr-TR"/>
            <a:t>Yük bölme‐birleştirme işlemlerini yürütmek</a:t>
          </a:r>
          <a:endParaRPr lang="en-US"/>
        </a:p>
      </dgm:t>
    </dgm:pt>
    <dgm:pt modelId="{CE949A0C-5B33-4958-A5BB-6EA6095FE3E4}" type="parTrans" cxnId="{84818D5B-2B77-4C90-957C-31402F55BEB5}">
      <dgm:prSet/>
      <dgm:spPr/>
      <dgm:t>
        <a:bodyPr/>
        <a:lstStyle/>
        <a:p>
          <a:endParaRPr lang="en-US"/>
        </a:p>
      </dgm:t>
    </dgm:pt>
    <dgm:pt modelId="{D43F5D0E-7C80-4DBF-8DA4-08DC6730C5E6}" type="sibTrans" cxnId="{84818D5B-2B77-4C90-957C-31402F55BEB5}">
      <dgm:prSet/>
      <dgm:spPr/>
      <dgm:t>
        <a:bodyPr/>
        <a:lstStyle/>
        <a:p>
          <a:endParaRPr lang="en-US"/>
        </a:p>
      </dgm:t>
    </dgm:pt>
    <dgm:pt modelId="{AD7730EB-D169-4197-9401-ECB0D161EF6B}">
      <dgm:prSet/>
      <dgm:spPr/>
      <dgm:t>
        <a:bodyPr/>
        <a:lstStyle/>
        <a:p>
          <a:r>
            <a:rPr lang="tr-TR"/>
            <a:t>Rota planlama ve çizelgeleme yapmak</a:t>
          </a:r>
          <a:endParaRPr lang="en-US"/>
        </a:p>
      </dgm:t>
    </dgm:pt>
    <dgm:pt modelId="{516F966D-A3FA-494C-8B32-D1FF0242E9BC}" type="parTrans" cxnId="{CFABB4A6-F6BA-4D26-ADD1-21DD326215F4}">
      <dgm:prSet/>
      <dgm:spPr/>
      <dgm:t>
        <a:bodyPr/>
        <a:lstStyle/>
        <a:p>
          <a:endParaRPr lang="en-US"/>
        </a:p>
      </dgm:t>
    </dgm:pt>
    <dgm:pt modelId="{4D377AF1-BB19-44FF-8F2E-7B30ECC7FB12}" type="sibTrans" cxnId="{CFABB4A6-F6BA-4D26-ADD1-21DD326215F4}">
      <dgm:prSet/>
      <dgm:spPr/>
      <dgm:t>
        <a:bodyPr/>
        <a:lstStyle/>
        <a:p>
          <a:endParaRPr lang="en-US"/>
        </a:p>
      </dgm:t>
    </dgm:pt>
    <dgm:pt modelId="{3117AE32-F9ED-4799-A03F-DEAD03E954A9}">
      <dgm:prSet/>
      <dgm:spPr/>
      <dgm:t>
        <a:bodyPr/>
        <a:lstStyle/>
        <a:p>
          <a:r>
            <a:rPr lang="tr-TR"/>
            <a:t>Ekipman seçimine karar vermek</a:t>
          </a:r>
          <a:endParaRPr lang="en-US"/>
        </a:p>
      </dgm:t>
    </dgm:pt>
    <dgm:pt modelId="{EDE6102F-C9AF-43FF-82CB-C04F269E5D01}" type="parTrans" cxnId="{2FEB8A8D-9A92-4F02-8806-0434D792DB8A}">
      <dgm:prSet/>
      <dgm:spPr/>
      <dgm:t>
        <a:bodyPr/>
        <a:lstStyle/>
        <a:p>
          <a:endParaRPr lang="en-US"/>
        </a:p>
      </dgm:t>
    </dgm:pt>
    <dgm:pt modelId="{14CB43D6-72D6-41DE-8CA4-985D788D7B20}" type="sibTrans" cxnId="{2FEB8A8D-9A92-4F02-8806-0434D792DB8A}">
      <dgm:prSet/>
      <dgm:spPr/>
      <dgm:t>
        <a:bodyPr/>
        <a:lstStyle/>
        <a:p>
          <a:endParaRPr lang="en-US"/>
        </a:p>
      </dgm:t>
    </dgm:pt>
    <dgm:pt modelId="{78B053F8-E1F9-4B56-AE49-572FB2DF6AB2}">
      <dgm:prSet/>
      <dgm:spPr/>
      <dgm:t>
        <a:bodyPr/>
        <a:lstStyle/>
        <a:p>
          <a:r>
            <a:rPr lang="tr-TR"/>
            <a:t>Taşıma maliyet kararlarını almak</a:t>
          </a:r>
          <a:endParaRPr lang="en-US"/>
        </a:p>
      </dgm:t>
    </dgm:pt>
    <dgm:pt modelId="{6C8A4EA5-74D8-4E6B-8B48-7B41B071D7FC}" type="parTrans" cxnId="{40C529D3-BE85-41B6-B3DF-943851F2D166}">
      <dgm:prSet/>
      <dgm:spPr/>
      <dgm:t>
        <a:bodyPr/>
        <a:lstStyle/>
        <a:p>
          <a:endParaRPr lang="en-US"/>
        </a:p>
      </dgm:t>
    </dgm:pt>
    <dgm:pt modelId="{62D5849C-C167-4F4D-831F-0E973A185ADB}" type="sibTrans" cxnId="{40C529D3-BE85-41B6-B3DF-943851F2D166}">
      <dgm:prSet/>
      <dgm:spPr/>
      <dgm:t>
        <a:bodyPr/>
        <a:lstStyle/>
        <a:p>
          <a:endParaRPr lang="en-US"/>
        </a:p>
      </dgm:t>
    </dgm:pt>
    <dgm:pt modelId="{D5B58927-14D2-4866-BBCD-ED86376440BD}" type="pres">
      <dgm:prSet presAssocID="{22E83F34-E031-4C3E-BE17-778DC0C79A01}" presName="root" presStyleCnt="0">
        <dgm:presLayoutVars>
          <dgm:dir/>
          <dgm:resizeHandles val="exact"/>
        </dgm:presLayoutVars>
      </dgm:prSet>
      <dgm:spPr/>
    </dgm:pt>
    <dgm:pt modelId="{988E19BC-4EA8-4DCF-8E27-5ED6013BFD2E}" type="pres">
      <dgm:prSet presAssocID="{B4118F68-EBCD-432B-B5C9-DC53F9784966}" presName="compNode" presStyleCnt="0"/>
      <dgm:spPr/>
    </dgm:pt>
    <dgm:pt modelId="{6F0FBCAE-87AF-43BE-B265-7DB3B3702318}" type="pres">
      <dgm:prSet presAssocID="{B4118F68-EBCD-432B-B5C9-DC53F9784966}" presName="bgRect" presStyleLbl="bgShp" presStyleIdx="0" presStyleCnt="6"/>
      <dgm:spPr/>
    </dgm:pt>
    <dgm:pt modelId="{3A1A5F0B-EB5D-4F9D-96E3-E3BF7BA37290}" type="pres">
      <dgm:prSet presAssocID="{B4118F68-EBCD-432B-B5C9-DC53F978496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ump truck"/>
        </a:ext>
      </dgm:extLst>
    </dgm:pt>
    <dgm:pt modelId="{BE1B29EC-81AC-4D4A-BCD0-2C1C5AFCC76E}" type="pres">
      <dgm:prSet presAssocID="{B4118F68-EBCD-432B-B5C9-DC53F9784966}" presName="spaceRect" presStyleCnt="0"/>
      <dgm:spPr/>
    </dgm:pt>
    <dgm:pt modelId="{8CDA2F43-0C53-406B-AF34-7C8530D8E13A}" type="pres">
      <dgm:prSet presAssocID="{B4118F68-EBCD-432B-B5C9-DC53F9784966}" presName="parTx" presStyleLbl="revTx" presStyleIdx="0" presStyleCnt="6">
        <dgm:presLayoutVars>
          <dgm:chMax val="0"/>
          <dgm:chPref val="0"/>
        </dgm:presLayoutVars>
      </dgm:prSet>
      <dgm:spPr/>
    </dgm:pt>
    <dgm:pt modelId="{8AED508D-AEF1-4FED-83FE-92B8D995E3C6}" type="pres">
      <dgm:prSet presAssocID="{1238C049-4A25-4649-A6DE-B97DAD9C68FB}" presName="sibTrans" presStyleCnt="0"/>
      <dgm:spPr/>
    </dgm:pt>
    <dgm:pt modelId="{8FA2BCCA-FB6F-43EA-B5EC-63B0859E645C}" type="pres">
      <dgm:prSet presAssocID="{9566B186-B56D-40BF-B3DB-CE8BEBBF3BAE}" presName="compNode" presStyleCnt="0"/>
      <dgm:spPr/>
    </dgm:pt>
    <dgm:pt modelId="{5A68D4A8-AAE6-4FDE-B635-F8171E417575}" type="pres">
      <dgm:prSet presAssocID="{9566B186-B56D-40BF-B3DB-CE8BEBBF3BAE}" presName="bgRect" presStyleLbl="bgShp" presStyleIdx="1" presStyleCnt="6"/>
      <dgm:spPr/>
    </dgm:pt>
    <dgm:pt modelId="{DD8DF3EB-E2FD-47C9-A1BD-AAFD01583074}" type="pres">
      <dgm:prSet presAssocID="{9566B186-B56D-40BF-B3DB-CE8BEBBF3BA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ır"/>
        </a:ext>
      </dgm:extLst>
    </dgm:pt>
    <dgm:pt modelId="{54DAB760-8708-4EC9-85C3-ACD68B79884E}" type="pres">
      <dgm:prSet presAssocID="{9566B186-B56D-40BF-B3DB-CE8BEBBF3BAE}" presName="spaceRect" presStyleCnt="0"/>
      <dgm:spPr/>
    </dgm:pt>
    <dgm:pt modelId="{4EEB2D5D-BF98-4EE5-9095-1F5CD957DF5F}" type="pres">
      <dgm:prSet presAssocID="{9566B186-B56D-40BF-B3DB-CE8BEBBF3BAE}" presName="parTx" presStyleLbl="revTx" presStyleIdx="1" presStyleCnt="6">
        <dgm:presLayoutVars>
          <dgm:chMax val="0"/>
          <dgm:chPref val="0"/>
        </dgm:presLayoutVars>
      </dgm:prSet>
      <dgm:spPr/>
    </dgm:pt>
    <dgm:pt modelId="{FD5D5E4B-E842-4FD4-9D8B-97ADA85206B2}" type="pres">
      <dgm:prSet presAssocID="{F36EFE1D-4E18-4306-B111-75D6C95C0B4A}" presName="sibTrans" presStyleCnt="0"/>
      <dgm:spPr/>
    </dgm:pt>
    <dgm:pt modelId="{01E09BC1-F476-40BD-B117-001D2F8F9EA8}" type="pres">
      <dgm:prSet presAssocID="{33DB6550-BE65-4453-8ECE-C65D5787BA19}" presName="compNode" presStyleCnt="0"/>
      <dgm:spPr/>
    </dgm:pt>
    <dgm:pt modelId="{7AA39E50-6257-4889-BF8D-81C72BAB4005}" type="pres">
      <dgm:prSet presAssocID="{33DB6550-BE65-4453-8ECE-C65D5787BA19}" presName="bgRect" presStyleLbl="bgShp" presStyleIdx="2" presStyleCnt="6"/>
      <dgm:spPr/>
    </dgm:pt>
    <dgm:pt modelId="{3A1339B5-ABF2-4B53-8691-B4E384190FD2}" type="pres">
      <dgm:prSet presAssocID="{33DB6550-BE65-4453-8ECE-C65D5787BA1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çak"/>
        </a:ext>
      </dgm:extLst>
    </dgm:pt>
    <dgm:pt modelId="{26BF0964-65B2-4184-BA2A-4D60CC2101F3}" type="pres">
      <dgm:prSet presAssocID="{33DB6550-BE65-4453-8ECE-C65D5787BA19}" presName="spaceRect" presStyleCnt="0"/>
      <dgm:spPr/>
    </dgm:pt>
    <dgm:pt modelId="{4AFEDD83-79D3-4303-9BC0-704DE41BC184}" type="pres">
      <dgm:prSet presAssocID="{33DB6550-BE65-4453-8ECE-C65D5787BA19}" presName="parTx" presStyleLbl="revTx" presStyleIdx="2" presStyleCnt="6">
        <dgm:presLayoutVars>
          <dgm:chMax val="0"/>
          <dgm:chPref val="0"/>
        </dgm:presLayoutVars>
      </dgm:prSet>
      <dgm:spPr/>
    </dgm:pt>
    <dgm:pt modelId="{302A6C14-06B8-48B9-8B76-CB03BAC20050}" type="pres">
      <dgm:prSet presAssocID="{D43F5D0E-7C80-4DBF-8DA4-08DC6730C5E6}" presName="sibTrans" presStyleCnt="0"/>
      <dgm:spPr/>
    </dgm:pt>
    <dgm:pt modelId="{D6D9ABCF-9B2D-4B0D-A98B-74DD5D8F3CC0}" type="pres">
      <dgm:prSet presAssocID="{AD7730EB-D169-4197-9401-ECB0D161EF6B}" presName="compNode" presStyleCnt="0"/>
      <dgm:spPr/>
    </dgm:pt>
    <dgm:pt modelId="{0BD30378-82E1-4A05-A5B4-76C450DAFFC6}" type="pres">
      <dgm:prSet presAssocID="{AD7730EB-D169-4197-9401-ECB0D161EF6B}" presName="bgRect" presStyleLbl="bgShp" presStyleIdx="3" presStyleCnt="6"/>
      <dgm:spPr/>
    </dgm:pt>
    <dgm:pt modelId="{A7400310-6F1D-40AF-92BE-47CD8ED26326}" type="pres">
      <dgm:prSet presAssocID="{AD7730EB-D169-4197-9401-ECB0D161EF6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ily Calendar"/>
        </a:ext>
      </dgm:extLst>
    </dgm:pt>
    <dgm:pt modelId="{121E6A1C-CC82-44F9-A4CF-7CB95E9DAC1F}" type="pres">
      <dgm:prSet presAssocID="{AD7730EB-D169-4197-9401-ECB0D161EF6B}" presName="spaceRect" presStyleCnt="0"/>
      <dgm:spPr/>
    </dgm:pt>
    <dgm:pt modelId="{3775EC29-C05D-403B-ACFB-828624437B1A}" type="pres">
      <dgm:prSet presAssocID="{AD7730EB-D169-4197-9401-ECB0D161EF6B}" presName="parTx" presStyleLbl="revTx" presStyleIdx="3" presStyleCnt="6">
        <dgm:presLayoutVars>
          <dgm:chMax val="0"/>
          <dgm:chPref val="0"/>
        </dgm:presLayoutVars>
      </dgm:prSet>
      <dgm:spPr/>
    </dgm:pt>
    <dgm:pt modelId="{C1374894-236B-42C8-B4BC-AD601F06FB79}" type="pres">
      <dgm:prSet presAssocID="{4D377AF1-BB19-44FF-8F2E-7B30ECC7FB12}" presName="sibTrans" presStyleCnt="0"/>
      <dgm:spPr/>
    </dgm:pt>
    <dgm:pt modelId="{AF4BD9BE-177C-45B6-B237-BF9BC4D3DE03}" type="pres">
      <dgm:prSet presAssocID="{3117AE32-F9ED-4799-A03F-DEAD03E954A9}" presName="compNode" presStyleCnt="0"/>
      <dgm:spPr/>
    </dgm:pt>
    <dgm:pt modelId="{42179BC7-EB1F-4E0F-A922-9AD9EE565EAE}" type="pres">
      <dgm:prSet presAssocID="{3117AE32-F9ED-4799-A03F-DEAD03E954A9}" presName="bgRect" presStyleLbl="bgShp" presStyleIdx="4" presStyleCnt="6"/>
      <dgm:spPr/>
    </dgm:pt>
    <dgm:pt modelId="{7AB980BA-9DCA-4A1A-A9BE-18EC9CA03B43}" type="pres">
      <dgm:prSet presAssocID="{3117AE32-F9ED-4799-A03F-DEAD03E954A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Onay işareti"/>
        </a:ext>
      </dgm:extLst>
    </dgm:pt>
    <dgm:pt modelId="{A25417A6-8A72-42BA-84E3-E32B9F364D16}" type="pres">
      <dgm:prSet presAssocID="{3117AE32-F9ED-4799-A03F-DEAD03E954A9}" presName="spaceRect" presStyleCnt="0"/>
      <dgm:spPr/>
    </dgm:pt>
    <dgm:pt modelId="{78A42E46-6971-4104-BDDE-FD9380F8256B}" type="pres">
      <dgm:prSet presAssocID="{3117AE32-F9ED-4799-A03F-DEAD03E954A9}" presName="parTx" presStyleLbl="revTx" presStyleIdx="4" presStyleCnt="6">
        <dgm:presLayoutVars>
          <dgm:chMax val="0"/>
          <dgm:chPref val="0"/>
        </dgm:presLayoutVars>
      </dgm:prSet>
      <dgm:spPr/>
    </dgm:pt>
    <dgm:pt modelId="{59CC6E7D-37EE-42E7-8694-6D886EFC9D04}" type="pres">
      <dgm:prSet presAssocID="{14CB43D6-72D6-41DE-8CA4-985D788D7B20}" presName="sibTrans" presStyleCnt="0"/>
      <dgm:spPr/>
    </dgm:pt>
    <dgm:pt modelId="{69679348-40F1-4362-ABC3-4FBAD5509688}" type="pres">
      <dgm:prSet presAssocID="{78B053F8-E1F9-4B56-AE49-572FB2DF6AB2}" presName="compNode" presStyleCnt="0"/>
      <dgm:spPr/>
    </dgm:pt>
    <dgm:pt modelId="{6F2A9696-43A3-4F87-B01D-EF2D421285E3}" type="pres">
      <dgm:prSet presAssocID="{78B053F8-E1F9-4B56-AE49-572FB2DF6AB2}" presName="bgRect" presStyleLbl="bgShp" presStyleIdx="5" presStyleCnt="6"/>
      <dgm:spPr/>
    </dgm:pt>
    <dgm:pt modelId="{1253FDAA-7093-4109-ACC2-CC1286D1A988}" type="pres">
      <dgm:prSet presAssocID="{78B053F8-E1F9-4B56-AE49-572FB2DF6AB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Eğit"/>
        </a:ext>
      </dgm:extLst>
    </dgm:pt>
    <dgm:pt modelId="{A8E13CAA-0A76-48EB-AD52-AD6494A26D92}" type="pres">
      <dgm:prSet presAssocID="{78B053F8-E1F9-4B56-AE49-572FB2DF6AB2}" presName="spaceRect" presStyleCnt="0"/>
      <dgm:spPr/>
    </dgm:pt>
    <dgm:pt modelId="{04D39F55-402A-41C1-B6F6-05BAB4E37BC9}" type="pres">
      <dgm:prSet presAssocID="{78B053F8-E1F9-4B56-AE49-572FB2DF6AB2}" presName="parTx" presStyleLbl="revTx" presStyleIdx="5" presStyleCnt="6">
        <dgm:presLayoutVars>
          <dgm:chMax val="0"/>
          <dgm:chPref val="0"/>
        </dgm:presLayoutVars>
      </dgm:prSet>
      <dgm:spPr/>
    </dgm:pt>
  </dgm:ptLst>
  <dgm:cxnLst>
    <dgm:cxn modelId="{13F05506-57B6-4BA9-8114-BB3F6C519E1C}" type="presOf" srcId="{22E83F34-E031-4C3E-BE17-778DC0C79A01}" destId="{D5B58927-14D2-4866-BBCD-ED86376440BD}" srcOrd="0" destOrd="0" presId="urn:microsoft.com/office/officeart/2018/2/layout/IconVerticalSolidList"/>
    <dgm:cxn modelId="{5F7B682D-A2C5-4BCD-9F1D-FCE46D2509F4}" type="presOf" srcId="{B4118F68-EBCD-432B-B5C9-DC53F9784966}" destId="{8CDA2F43-0C53-406B-AF34-7C8530D8E13A}" srcOrd="0" destOrd="0" presId="urn:microsoft.com/office/officeart/2018/2/layout/IconVerticalSolidList"/>
    <dgm:cxn modelId="{5D0A1C31-4CC5-4773-AC1B-FFC30661AA94}" srcId="{22E83F34-E031-4C3E-BE17-778DC0C79A01}" destId="{9566B186-B56D-40BF-B3DB-CE8BEBBF3BAE}" srcOrd="1" destOrd="0" parTransId="{BE208472-58A1-4E6F-BE6D-903A6D8DADB6}" sibTransId="{F36EFE1D-4E18-4306-B111-75D6C95C0B4A}"/>
    <dgm:cxn modelId="{84818D5B-2B77-4C90-957C-31402F55BEB5}" srcId="{22E83F34-E031-4C3E-BE17-778DC0C79A01}" destId="{33DB6550-BE65-4453-8ECE-C65D5787BA19}" srcOrd="2" destOrd="0" parTransId="{CE949A0C-5B33-4958-A5BB-6EA6095FE3E4}" sibTransId="{D43F5D0E-7C80-4DBF-8DA4-08DC6730C5E6}"/>
    <dgm:cxn modelId="{C93B184D-2ED6-4CCE-B261-E278689DC1CD}" type="presOf" srcId="{9566B186-B56D-40BF-B3DB-CE8BEBBF3BAE}" destId="{4EEB2D5D-BF98-4EE5-9095-1F5CD957DF5F}" srcOrd="0" destOrd="0" presId="urn:microsoft.com/office/officeart/2018/2/layout/IconVerticalSolidList"/>
    <dgm:cxn modelId="{2FEB8A8D-9A92-4F02-8806-0434D792DB8A}" srcId="{22E83F34-E031-4C3E-BE17-778DC0C79A01}" destId="{3117AE32-F9ED-4799-A03F-DEAD03E954A9}" srcOrd="4" destOrd="0" parTransId="{EDE6102F-C9AF-43FF-82CB-C04F269E5D01}" sibTransId="{14CB43D6-72D6-41DE-8CA4-985D788D7B20}"/>
    <dgm:cxn modelId="{CFABB4A6-F6BA-4D26-ADD1-21DD326215F4}" srcId="{22E83F34-E031-4C3E-BE17-778DC0C79A01}" destId="{AD7730EB-D169-4197-9401-ECB0D161EF6B}" srcOrd="3" destOrd="0" parTransId="{516F966D-A3FA-494C-8B32-D1FF0242E9BC}" sibTransId="{4D377AF1-BB19-44FF-8F2E-7B30ECC7FB12}"/>
    <dgm:cxn modelId="{F7A410B0-C301-4628-8318-A3A1EBDA0C3F}" type="presOf" srcId="{33DB6550-BE65-4453-8ECE-C65D5787BA19}" destId="{4AFEDD83-79D3-4303-9BC0-704DE41BC184}" srcOrd="0" destOrd="0" presId="urn:microsoft.com/office/officeart/2018/2/layout/IconVerticalSolidList"/>
    <dgm:cxn modelId="{1749C1CA-C5B2-4D20-97B6-900BEA58123B}" srcId="{22E83F34-E031-4C3E-BE17-778DC0C79A01}" destId="{B4118F68-EBCD-432B-B5C9-DC53F9784966}" srcOrd="0" destOrd="0" parTransId="{A5CAB4B9-A8DE-434B-9E80-EABCE226D3BC}" sibTransId="{1238C049-4A25-4649-A6DE-B97DAD9C68FB}"/>
    <dgm:cxn modelId="{40C529D3-BE85-41B6-B3DF-943851F2D166}" srcId="{22E83F34-E031-4C3E-BE17-778DC0C79A01}" destId="{78B053F8-E1F9-4B56-AE49-572FB2DF6AB2}" srcOrd="5" destOrd="0" parTransId="{6C8A4EA5-74D8-4E6B-8B48-7B41B071D7FC}" sibTransId="{62D5849C-C167-4F4D-831F-0E973A185ADB}"/>
    <dgm:cxn modelId="{EBA706E9-E2FB-4B4D-A6F2-72E9F5682885}" type="presOf" srcId="{78B053F8-E1F9-4B56-AE49-572FB2DF6AB2}" destId="{04D39F55-402A-41C1-B6F6-05BAB4E37BC9}" srcOrd="0" destOrd="0" presId="urn:microsoft.com/office/officeart/2018/2/layout/IconVerticalSolidList"/>
    <dgm:cxn modelId="{25D212F5-E710-4BD0-BAF5-220B8392CF04}" type="presOf" srcId="{3117AE32-F9ED-4799-A03F-DEAD03E954A9}" destId="{78A42E46-6971-4104-BDDE-FD9380F8256B}" srcOrd="0" destOrd="0" presId="urn:microsoft.com/office/officeart/2018/2/layout/IconVerticalSolidList"/>
    <dgm:cxn modelId="{3D586BF8-8821-44E4-AD94-854C7478AA00}" type="presOf" srcId="{AD7730EB-D169-4197-9401-ECB0D161EF6B}" destId="{3775EC29-C05D-403B-ACFB-828624437B1A}" srcOrd="0" destOrd="0" presId="urn:microsoft.com/office/officeart/2018/2/layout/IconVerticalSolidList"/>
    <dgm:cxn modelId="{01C8015D-4695-47FC-B801-69F6DC1364A9}" type="presParOf" srcId="{D5B58927-14D2-4866-BBCD-ED86376440BD}" destId="{988E19BC-4EA8-4DCF-8E27-5ED6013BFD2E}" srcOrd="0" destOrd="0" presId="urn:microsoft.com/office/officeart/2018/2/layout/IconVerticalSolidList"/>
    <dgm:cxn modelId="{23345BDC-F971-40E0-B433-373D78895B30}" type="presParOf" srcId="{988E19BC-4EA8-4DCF-8E27-5ED6013BFD2E}" destId="{6F0FBCAE-87AF-43BE-B265-7DB3B3702318}" srcOrd="0" destOrd="0" presId="urn:microsoft.com/office/officeart/2018/2/layout/IconVerticalSolidList"/>
    <dgm:cxn modelId="{5B3660EC-665E-40CC-8D9D-92939CACB228}" type="presParOf" srcId="{988E19BC-4EA8-4DCF-8E27-5ED6013BFD2E}" destId="{3A1A5F0B-EB5D-4F9D-96E3-E3BF7BA37290}" srcOrd="1" destOrd="0" presId="urn:microsoft.com/office/officeart/2018/2/layout/IconVerticalSolidList"/>
    <dgm:cxn modelId="{6493E0C4-B441-4EF8-BE99-6F422832338C}" type="presParOf" srcId="{988E19BC-4EA8-4DCF-8E27-5ED6013BFD2E}" destId="{BE1B29EC-81AC-4D4A-BCD0-2C1C5AFCC76E}" srcOrd="2" destOrd="0" presId="urn:microsoft.com/office/officeart/2018/2/layout/IconVerticalSolidList"/>
    <dgm:cxn modelId="{21D32F9E-E87D-4C1A-BA3A-78EB11EAEBBB}" type="presParOf" srcId="{988E19BC-4EA8-4DCF-8E27-5ED6013BFD2E}" destId="{8CDA2F43-0C53-406B-AF34-7C8530D8E13A}" srcOrd="3" destOrd="0" presId="urn:microsoft.com/office/officeart/2018/2/layout/IconVerticalSolidList"/>
    <dgm:cxn modelId="{FB23DE4D-9D56-451D-BA0C-5B07ACC4588D}" type="presParOf" srcId="{D5B58927-14D2-4866-BBCD-ED86376440BD}" destId="{8AED508D-AEF1-4FED-83FE-92B8D995E3C6}" srcOrd="1" destOrd="0" presId="urn:microsoft.com/office/officeart/2018/2/layout/IconVerticalSolidList"/>
    <dgm:cxn modelId="{B7E27F9B-EC0C-43B0-9977-AB3CAF9125FA}" type="presParOf" srcId="{D5B58927-14D2-4866-BBCD-ED86376440BD}" destId="{8FA2BCCA-FB6F-43EA-B5EC-63B0859E645C}" srcOrd="2" destOrd="0" presId="urn:microsoft.com/office/officeart/2018/2/layout/IconVerticalSolidList"/>
    <dgm:cxn modelId="{DE53D5A8-9735-4823-971D-EA2AE663B42E}" type="presParOf" srcId="{8FA2BCCA-FB6F-43EA-B5EC-63B0859E645C}" destId="{5A68D4A8-AAE6-4FDE-B635-F8171E417575}" srcOrd="0" destOrd="0" presId="urn:microsoft.com/office/officeart/2018/2/layout/IconVerticalSolidList"/>
    <dgm:cxn modelId="{2989E9C8-C5E7-4493-9D2F-FAE5E659A6C4}" type="presParOf" srcId="{8FA2BCCA-FB6F-43EA-B5EC-63B0859E645C}" destId="{DD8DF3EB-E2FD-47C9-A1BD-AAFD01583074}" srcOrd="1" destOrd="0" presId="urn:microsoft.com/office/officeart/2018/2/layout/IconVerticalSolidList"/>
    <dgm:cxn modelId="{C2F6709E-17C8-4318-8996-809801234362}" type="presParOf" srcId="{8FA2BCCA-FB6F-43EA-B5EC-63B0859E645C}" destId="{54DAB760-8708-4EC9-85C3-ACD68B79884E}" srcOrd="2" destOrd="0" presId="urn:microsoft.com/office/officeart/2018/2/layout/IconVerticalSolidList"/>
    <dgm:cxn modelId="{AF578ECB-462D-4919-AA0C-E40B4B19C4DA}" type="presParOf" srcId="{8FA2BCCA-FB6F-43EA-B5EC-63B0859E645C}" destId="{4EEB2D5D-BF98-4EE5-9095-1F5CD957DF5F}" srcOrd="3" destOrd="0" presId="urn:microsoft.com/office/officeart/2018/2/layout/IconVerticalSolidList"/>
    <dgm:cxn modelId="{555A20AB-97B9-4F6F-9E87-98ABAB38592C}" type="presParOf" srcId="{D5B58927-14D2-4866-BBCD-ED86376440BD}" destId="{FD5D5E4B-E842-4FD4-9D8B-97ADA85206B2}" srcOrd="3" destOrd="0" presId="urn:microsoft.com/office/officeart/2018/2/layout/IconVerticalSolidList"/>
    <dgm:cxn modelId="{73DB3687-D989-449F-8E5C-067B7CFC412F}" type="presParOf" srcId="{D5B58927-14D2-4866-BBCD-ED86376440BD}" destId="{01E09BC1-F476-40BD-B117-001D2F8F9EA8}" srcOrd="4" destOrd="0" presId="urn:microsoft.com/office/officeart/2018/2/layout/IconVerticalSolidList"/>
    <dgm:cxn modelId="{004C2FBE-FE8F-426B-BD4A-8F873E5DB26A}" type="presParOf" srcId="{01E09BC1-F476-40BD-B117-001D2F8F9EA8}" destId="{7AA39E50-6257-4889-BF8D-81C72BAB4005}" srcOrd="0" destOrd="0" presId="urn:microsoft.com/office/officeart/2018/2/layout/IconVerticalSolidList"/>
    <dgm:cxn modelId="{CBE7830E-B380-4152-BE8D-CB8F65846F9C}" type="presParOf" srcId="{01E09BC1-F476-40BD-B117-001D2F8F9EA8}" destId="{3A1339B5-ABF2-4B53-8691-B4E384190FD2}" srcOrd="1" destOrd="0" presId="urn:microsoft.com/office/officeart/2018/2/layout/IconVerticalSolidList"/>
    <dgm:cxn modelId="{B5058E81-8B4A-442E-A5D9-3B97EE5461F3}" type="presParOf" srcId="{01E09BC1-F476-40BD-B117-001D2F8F9EA8}" destId="{26BF0964-65B2-4184-BA2A-4D60CC2101F3}" srcOrd="2" destOrd="0" presId="urn:microsoft.com/office/officeart/2018/2/layout/IconVerticalSolidList"/>
    <dgm:cxn modelId="{FB53813B-053B-4816-B111-A6D9ABB67C43}" type="presParOf" srcId="{01E09BC1-F476-40BD-B117-001D2F8F9EA8}" destId="{4AFEDD83-79D3-4303-9BC0-704DE41BC184}" srcOrd="3" destOrd="0" presId="urn:microsoft.com/office/officeart/2018/2/layout/IconVerticalSolidList"/>
    <dgm:cxn modelId="{393974BF-875C-4B24-ACAA-0101F11DD219}" type="presParOf" srcId="{D5B58927-14D2-4866-BBCD-ED86376440BD}" destId="{302A6C14-06B8-48B9-8B76-CB03BAC20050}" srcOrd="5" destOrd="0" presId="urn:microsoft.com/office/officeart/2018/2/layout/IconVerticalSolidList"/>
    <dgm:cxn modelId="{B9E8C43E-8101-4B58-9755-6F54A0E0957A}" type="presParOf" srcId="{D5B58927-14D2-4866-BBCD-ED86376440BD}" destId="{D6D9ABCF-9B2D-4B0D-A98B-74DD5D8F3CC0}" srcOrd="6" destOrd="0" presId="urn:microsoft.com/office/officeart/2018/2/layout/IconVerticalSolidList"/>
    <dgm:cxn modelId="{8858ED84-FAEB-4701-851B-9BE4DD2FC190}" type="presParOf" srcId="{D6D9ABCF-9B2D-4B0D-A98B-74DD5D8F3CC0}" destId="{0BD30378-82E1-4A05-A5B4-76C450DAFFC6}" srcOrd="0" destOrd="0" presId="urn:microsoft.com/office/officeart/2018/2/layout/IconVerticalSolidList"/>
    <dgm:cxn modelId="{D0D29A32-62D7-402C-956C-F50794E41398}" type="presParOf" srcId="{D6D9ABCF-9B2D-4B0D-A98B-74DD5D8F3CC0}" destId="{A7400310-6F1D-40AF-92BE-47CD8ED26326}" srcOrd="1" destOrd="0" presId="urn:microsoft.com/office/officeart/2018/2/layout/IconVerticalSolidList"/>
    <dgm:cxn modelId="{A9A316BC-5E1C-42BB-BA2B-5C5DBACBBCDB}" type="presParOf" srcId="{D6D9ABCF-9B2D-4B0D-A98B-74DD5D8F3CC0}" destId="{121E6A1C-CC82-44F9-A4CF-7CB95E9DAC1F}" srcOrd="2" destOrd="0" presId="urn:microsoft.com/office/officeart/2018/2/layout/IconVerticalSolidList"/>
    <dgm:cxn modelId="{515F94B8-B00E-4847-B580-61792FF1A8F5}" type="presParOf" srcId="{D6D9ABCF-9B2D-4B0D-A98B-74DD5D8F3CC0}" destId="{3775EC29-C05D-403B-ACFB-828624437B1A}" srcOrd="3" destOrd="0" presId="urn:microsoft.com/office/officeart/2018/2/layout/IconVerticalSolidList"/>
    <dgm:cxn modelId="{319AEDFC-C829-4D37-B6B1-F6DA1AB92397}" type="presParOf" srcId="{D5B58927-14D2-4866-BBCD-ED86376440BD}" destId="{C1374894-236B-42C8-B4BC-AD601F06FB79}" srcOrd="7" destOrd="0" presId="urn:microsoft.com/office/officeart/2018/2/layout/IconVerticalSolidList"/>
    <dgm:cxn modelId="{40A5FD90-126C-459E-9F29-F096A08C47C2}" type="presParOf" srcId="{D5B58927-14D2-4866-BBCD-ED86376440BD}" destId="{AF4BD9BE-177C-45B6-B237-BF9BC4D3DE03}" srcOrd="8" destOrd="0" presId="urn:microsoft.com/office/officeart/2018/2/layout/IconVerticalSolidList"/>
    <dgm:cxn modelId="{E84D27EC-D014-4802-A945-E2FE912E7AAC}" type="presParOf" srcId="{AF4BD9BE-177C-45B6-B237-BF9BC4D3DE03}" destId="{42179BC7-EB1F-4E0F-A922-9AD9EE565EAE}" srcOrd="0" destOrd="0" presId="urn:microsoft.com/office/officeart/2018/2/layout/IconVerticalSolidList"/>
    <dgm:cxn modelId="{B6424E19-A798-440B-BEE6-0B3208D21E3D}" type="presParOf" srcId="{AF4BD9BE-177C-45B6-B237-BF9BC4D3DE03}" destId="{7AB980BA-9DCA-4A1A-A9BE-18EC9CA03B43}" srcOrd="1" destOrd="0" presId="urn:microsoft.com/office/officeart/2018/2/layout/IconVerticalSolidList"/>
    <dgm:cxn modelId="{D57FA538-B06D-4440-A80F-C1D355181285}" type="presParOf" srcId="{AF4BD9BE-177C-45B6-B237-BF9BC4D3DE03}" destId="{A25417A6-8A72-42BA-84E3-E32B9F364D16}" srcOrd="2" destOrd="0" presId="urn:microsoft.com/office/officeart/2018/2/layout/IconVerticalSolidList"/>
    <dgm:cxn modelId="{84858C6C-01C2-4BB5-9A39-7F5C4443DC1E}" type="presParOf" srcId="{AF4BD9BE-177C-45B6-B237-BF9BC4D3DE03}" destId="{78A42E46-6971-4104-BDDE-FD9380F8256B}" srcOrd="3" destOrd="0" presId="urn:microsoft.com/office/officeart/2018/2/layout/IconVerticalSolidList"/>
    <dgm:cxn modelId="{ADEDFF9F-2BF7-4111-B086-478E924F7825}" type="presParOf" srcId="{D5B58927-14D2-4866-BBCD-ED86376440BD}" destId="{59CC6E7D-37EE-42E7-8694-6D886EFC9D04}" srcOrd="9" destOrd="0" presId="urn:microsoft.com/office/officeart/2018/2/layout/IconVerticalSolidList"/>
    <dgm:cxn modelId="{417B290C-D8B2-4344-AEBD-ABEB18EEE9D1}" type="presParOf" srcId="{D5B58927-14D2-4866-BBCD-ED86376440BD}" destId="{69679348-40F1-4362-ABC3-4FBAD5509688}" srcOrd="10" destOrd="0" presId="urn:microsoft.com/office/officeart/2018/2/layout/IconVerticalSolidList"/>
    <dgm:cxn modelId="{30CB499E-B402-4A53-B557-171BFC7512F1}" type="presParOf" srcId="{69679348-40F1-4362-ABC3-4FBAD5509688}" destId="{6F2A9696-43A3-4F87-B01D-EF2D421285E3}" srcOrd="0" destOrd="0" presId="urn:microsoft.com/office/officeart/2018/2/layout/IconVerticalSolidList"/>
    <dgm:cxn modelId="{A274D2CB-D211-4950-815D-1D5AEFC787DE}" type="presParOf" srcId="{69679348-40F1-4362-ABC3-4FBAD5509688}" destId="{1253FDAA-7093-4109-ACC2-CC1286D1A988}" srcOrd="1" destOrd="0" presId="urn:microsoft.com/office/officeart/2018/2/layout/IconVerticalSolidList"/>
    <dgm:cxn modelId="{A8266FD3-0E09-4A5F-8F2A-637931C1B4C6}" type="presParOf" srcId="{69679348-40F1-4362-ABC3-4FBAD5509688}" destId="{A8E13CAA-0A76-48EB-AD52-AD6494A26D92}" srcOrd="2" destOrd="0" presId="urn:microsoft.com/office/officeart/2018/2/layout/IconVerticalSolidList"/>
    <dgm:cxn modelId="{4963714B-5D6F-4047-B28E-4589F6B14687}" type="presParOf" srcId="{69679348-40F1-4362-ABC3-4FBAD5509688}" destId="{04D39F55-402A-41C1-B6F6-05BAB4E37BC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B1D5798-228B-4018-85B3-D75406E5FE5D}"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30FA3DAF-3A67-44BA-95D6-2F6A42F1336C}">
      <dgm:prSet/>
      <dgm:spPr/>
      <dgm:t>
        <a:bodyPr/>
        <a:lstStyle/>
        <a:p>
          <a:r>
            <a:rPr lang="tr-TR" b="1"/>
            <a:t>STOK (ENVANTER) YÖNETİMİ</a:t>
          </a:r>
          <a:endParaRPr lang="en-US" b="1"/>
        </a:p>
      </dgm:t>
    </dgm:pt>
    <dgm:pt modelId="{F3CE5154-9D6A-4298-AF2B-8B275D0EB83A}" type="parTrans" cxnId="{B8072FB8-B0BC-4553-8401-8236F331CC96}">
      <dgm:prSet/>
      <dgm:spPr/>
      <dgm:t>
        <a:bodyPr/>
        <a:lstStyle/>
        <a:p>
          <a:endParaRPr lang="en-US"/>
        </a:p>
      </dgm:t>
    </dgm:pt>
    <dgm:pt modelId="{9F49D7C5-8540-44B6-984D-0E5B69CAA184}" type="sibTrans" cxnId="{B8072FB8-B0BC-4553-8401-8236F331CC96}">
      <dgm:prSet/>
      <dgm:spPr/>
      <dgm:t>
        <a:bodyPr/>
        <a:lstStyle/>
        <a:p>
          <a:endParaRPr lang="en-US"/>
        </a:p>
      </dgm:t>
    </dgm:pt>
    <dgm:pt modelId="{87586CD6-53F6-4983-BE1A-BF2A1C44BC9B}">
      <dgm:prSet/>
      <dgm:spPr/>
      <dgm:t>
        <a:bodyPr/>
        <a:lstStyle/>
        <a:p>
          <a:r>
            <a:rPr lang="tr-TR"/>
            <a:t>Kısa dönemli talep tahminleri yapmak</a:t>
          </a:r>
          <a:endParaRPr lang="en-US"/>
        </a:p>
      </dgm:t>
    </dgm:pt>
    <dgm:pt modelId="{0104F986-460E-4B71-8C26-EB6AACFB0B03}" type="parTrans" cxnId="{4818D79A-FE38-43D4-B023-8AD7537A7202}">
      <dgm:prSet/>
      <dgm:spPr/>
      <dgm:t>
        <a:bodyPr/>
        <a:lstStyle/>
        <a:p>
          <a:endParaRPr lang="en-US"/>
        </a:p>
      </dgm:t>
    </dgm:pt>
    <dgm:pt modelId="{775CE0D9-301A-4371-B7A9-6005C039263C}" type="sibTrans" cxnId="{4818D79A-FE38-43D4-B023-8AD7537A7202}">
      <dgm:prSet/>
      <dgm:spPr/>
      <dgm:t>
        <a:bodyPr/>
        <a:lstStyle/>
        <a:p>
          <a:endParaRPr lang="en-US"/>
        </a:p>
      </dgm:t>
    </dgm:pt>
    <dgm:pt modelId="{60AA6B49-7401-4FCA-945B-1712569F34EF}">
      <dgm:prSet/>
      <dgm:spPr/>
      <dgm:t>
        <a:bodyPr/>
        <a:lstStyle/>
        <a:p>
          <a:r>
            <a:rPr lang="tr-TR"/>
            <a:t>Hammadde ve ürün stok politikaları belirlemek</a:t>
          </a:r>
          <a:endParaRPr lang="en-US"/>
        </a:p>
      </dgm:t>
    </dgm:pt>
    <dgm:pt modelId="{93AEA647-354E-45B2-94E3-8A3ADD99650F}" type="parTrans" cxnId="{B181AC09-24B7-4FF7-BB97-11EC7BD21C6B}">
      <dgm:prSet/>
      <dgm:spPr/>
      <dgm:t>
        <a:bodyPr/>
        <a:lstStyle/>
        <a:p>
          <a:endParaRPr lang="en-US"/>
        </a:p>
      </dgm:t>
    </dgm:pt>
    <dgm:pt modelId="{27779379-556E-4B89-9976-357ED60F7790}" type="sibTrans" cxnId="{B181AC09-24B7-4FF7-BB97-11EC7BD21C6B}">
      <dgm:prSet/>
      <dgm:spPr/>
      <dgm:t>
        <a:bodyPr/>
        <a:lstStyle/>
        <a:p>
          <a:endParaRPr lang="en-US"/>
        </a:p>
      </dgm:t>
    </dgm:pt>
    <dgm:pt modelId="{52D3D233-7F11-457D-AFEE-D85CD2195C22}">
      <dgm:prSet/>
      <dgm:spPr/>
      <dgm:t>
        <a:bodyPr/>
        <a:lstStyle/>
        <a:p>
          <a:r>
            <a:rPr lang="tr-TR"/>
            <a:t>Stok noktalarında ürün karmalarını oluşturmak</a:t>
          </a:r>
          <a:endParaRPr lang="en-US"/>
        </a:p>
      </dgm:t>
    </dgm:pt>
    <dgm:pt modelId="{8F1776C8-EA4D-475F-B7A7-053FAC50DB1A}" type="parTrans" cxnId="{E6E35086-6160-4CA6-B7EF-823B11DDBD80}">
      <dgm:prSet/>
      <dgm:spPr/>
      <dgm:t>
        <a:bodyPr/>
        <a:lstStyle/>
        <a:p>
          <a:endParaRPr lang="en-US"/>
        </a:p>
      </dgm:t>
    </dgm:pt>
    <dgm:pt modelId="{9DFDC1C2-5E0C-4460-A65C-886826648673}" type="sibTrans" cxnId="{E6E35086-6160-4CA6-B7EF-823B11DDBD80}">
      <dgm:prSet/>
      <dgm:spPr/>
      <dgm:t>
        <a:bodyPr/>
        <a:lstStyle/>
        <a:p>
          <a:endParaRPr lang="en-US"/>
        </a:p>
      </dgm:t>
    </dgm:pt>
    <dgm:pt modelId="{1EB00EB2-067D-4802-A2F2-0992F4603DBE}">
      <dgm:prSet/>
      <dgm:spPr/>
      <dgm:t>
        <a:bodyPr/>
        <a:lstStyle/>
        <a:p>
          <a:r>
            <a:rPr lang="tr-TR"/>
            <a:t>Stok noktalarının sayı, boyut ve konumlarını belirlemek.</a:t>
          </a:r>
          <a:endParaRPr lang="en-US"/>
        </a:p>
      </dgm:t>
    </dgm:pt>
    <dgm:pt modelId="{BEB96707-0A02-4FA5-97A5-C79D41192CF6}" type="parTrans" cxnId="{9A30B002-9FA0-49DA-A6F4-EE999BBDB415}">
      <dgm:prSet/>
      <dgm:spPr/>
      <dgm:t>
        <a:bodyPr/>
        <a:lstStyle/>
        <a:p>
          <a:endParaRPr lang="en-US"/>
        </a:p>
      </dgm:t>
    </dgm:pt>
    <dgm:pt modelId="{CBF17CFA-6340-4EDA-A531-95A22C278448}" type="sibTrans" cxnId="{9A30B002-9FA0-49DA-A6F4-EE999BBDB415}">
      <dgm:prSet/>
      <dgm:spPr/>
      <dgm:t>
        <a:bodyPr/>
        <a:lstStyle/>
        <a:p>
          <a:endParaRPr lang="en-US"/>
        </a:p>
      </dgm:t>
    </dgm:pt>
    <dgm:pt modelId="{4D969173-E9B8-4221-B030-47A6FFD9817B}" type="pres">
      <dgm:prSet presAssocID="{2B1D5798-228B-4018-85B3-D75406E5FE5D}" presName="vert0" presStyleCnt="0">
        <dgm:presLayoutVars>
          <dgm:dir/>
          <dgm:animOne val="branch"/>
          <dgm:animLvl val="lvl"/>
        </dgm:presLayoutVars>
      </dgm:prSet>
      <dgm:spPr/>
    </dgm:pt>
    <dgm:pt modelId="{35C85F0D-8092-448B-AFB9-BBA84ABE072E}" type="pres">
      <dgm:prSet presAssocID="{30FA3DAF-3A67-44BA-95D6-2F6A42F1336C}" presName="thickLine" presStyleLbl="alignNode1" presStyleIdx="0" presStyleCnt="5"/>
      <dgm:spPr/>
    </dgm:pt>
    <dgm:pt modelId="{EDDD7D69-C386-4E3E-B3F4-E8D7F6E82B77}" type="pres">
      <dgm:prSet presAssocID="{30FA3DAF-3A67-44BA-95D6-2F6A42F1336C}" presName="horz1" presStyleCnt="0"/>
      <dgm:spPr/>
    </dgm:pt>
    <dgm:pt modelId="{1B5C3D6C-9CB1-4712-97A6-D95AB523BB4F}" type="pres">
      <dgm:prSet presAssocID="{30FA3DAF-3A67-44BA-95D6-2F6A42F1336C}" presName="tx1" presStyleLbl="revTx" presStyleIdx="0" presStyleCnt="5"/>
      <dgm:spPr/>
    </dgm:pt>
    <dgm:pt modelId="{1AAD4BD1-5C74-4651-9235-2B651205F21D}" type="pres">
      <dgm:prSet presAssocID="{30FA3DAF-3A67-44BA-95D6-2F6A42F1336C}" presName="vert1" presStyleCnt="0"/>
      <dgm:spPr/>
    </dgm:pt>
    <dgm:pt modelId="{C7AF226D-E371-4168-81F2-6EE750DD6D9E}" type="pres">
      <dgm:prSet presAssocID="{87586CD6-53F6-4983-BE1A-BF2A1C44BC9B}" presName="thickLine" presStyleLbl="alignNode1" presStyleIdx="1" presStyleCnt="5"/>
      <dgm:spPr/>
    </dgm:pt>
    <dgm:pt modelId="{A3E79B19-1442-4072-9A0B-0A5CC8009F23}" type="pres">
      <dgm:prSet presAssocID="{87586CD6-53F6-4983-BE1A-BF2A1C44BC9B}" presName="horz1" presStyleCnt="0"/>
      <dgm:spPr/>
    </dgm:pt>
    <dgm:pt modelId="{4BCEFF5D-651B-46B3-AB29-C2A9A26166D7}" type="pres">
      <dgm:prSet presAssocID="{87586CD6-53F6-4983-BE1A-BF2A1C44BC9B}" presName="tx1" presStyleLbl="revTx" presStyleIdx="1" presStyleCnt="5"/>
      <dgm:spPr/>
    </dgm:pt>
    <dgm:pt modelId="{F245C630-27F9-4709-901F-9538C7453AB1}" type="pres">
      <dgm:prSet presAssocID="{87586CD6-53F6-4983-BE1A-BF2A1C44BC9B}" presName="vert1" presStyleCnt="0"/>
      <dgm:spPr/>
    </dgm:pt>
    <dgm:pt modelId="{0E02AC41-52C7-4255-BE56-5E4A265A2C15}" type="pres">
      <dgm:prSet presAssocID="{60AA6B49-7401-4FCA-945B-1712569F34EF}" presName="thickLine" presStyleLbl="alignNode1" presStyleIdx="2" presStyleCnt="5"/>
      <dgm:spPr/>
    </dgm:pt>
    <dgm:pt modelId="{5D1F7536-7706-4FB9-8E97-2D105AF44F0A}" type="pres">
      <dgm:prSet presAssocID="{60AA6B49-7401-4FCA-945B-1712569F34EF}" presName="horz1" presStyleCnt="0"/>
      <dgm:spPr/>
    </dgm:pt>
    <dgm:pt modelId="{626141BB-91E3-4578-84EF-B1E797EA71EC}" type="pres">
      <dgm:prSet presAssocID="{60AA6B49-7401-4FCA-945B-1712569F34EF}" presName="tx1" presStyleLbl="revTx" presStyleIdx="2" presStyleCnt="5"/>
      <dgm:spPr/>
    </dgm:pt>
    <dgm:pt modelId="{4C94ECFC-0020-403E-9889-C7E7DEAA269E}" type="pres">
      <dgm:prSet presAssocID="{60AA6B49-7401-4FCA-945B-1712569F34EF}" presName="vert1" presStyleCnt="0"/>
      <dgm:spPr/>
    </dgm:pt>
    <dgm:pt modelId="{07315BED-A16A-4E68-82FB-1FCF14AEC684}" type="pres">
      <dgm:prSet presAssocID="{52D3D233-7F11-457D-AFEE-D85CD2195C22}" presName="thickLine" presStyleLbl="alignNode1" presStyleIdx="3" presStyleCnt="5"/>
      <dgm:spPr/>
    </dgm:pt>
    <dgm:pt modelId="{F08A1849-133E-4A59-9FF4-B5AB3038598D}" type="pres">
      <dgm:prSet presAssocID="{52D3D233-7F11-457D-AFEE-D85CD2195C22}" presName="horz1" presStyleCnt="0"/>
      <dgm:spPr/>
    </dgm:pt>
    <dgm:pt modelId="{2B54E3D3-288E-4FF4-A80B-C387D2AFF259}" type="pres">
      <dgm:prSet presAssocID="{52D3D233-7F11-457D-AFEE-D85CD2195C22}" presName="tx1" presStyleLbl="revTx" presStyleIdx="3" presStyleCnt="5"/>
      <dgm:spPr/>
    </dgm:pt>
    <dgm:pt modelId="{642EAA46-250B-417C-8132-21C868CCBC78}" type="pres">
      <dgm:prSet presAssocID="{52D3D233-7F11-457D-AFEE-D85CD2195C22}" presName="vert1" presStyleCnt="0"/>
      <dgm:spPr/>
    </dgm:pt>
    <dgm:pt modelId="{1E029A31-A87C-41FD-BB84-71A65192385A}" type="pres">
      <dgm:prSet presAssocID="{1EB00EB2-067D-4802-A2F2-0992F4603DBE}" presName="thickLine" presStyleLbl="alignNode1" presStyleIdx="4" presStyleCnt="5"/>
      <dgm:spPr/>
    </dgm:pt>
    <dgm:pt modelId="{D4D50110-7664-4C38-B775-F7CAE3E74CAA}" type="pres">
      <dgm:prSet presAssocID="{1EB00EB2-067D-4802-A2F2-0992F4603DBE}" presName="horz1" presStyleCnt="0"/>
      <dgm:spPr/>
    </dgm:pt>
    <dgm:pt modelId="{B175C22A-D143-4A4B-9020-247082155774}" type="pres">
      <dgm:prSet presAssocID="{1EB00EB2-067D-4802-A2F2-0992F4603DBE}" presName="tx1" presStyleLbl="revTx" presStyleIdx="4" presStyleCnt="5"/>
      <dgm:spPr/>
    </dgm:pt>
    <dgm:pt modelId="{053E3319-30C5-4DB1-BB56-E46F48D10943}" type="pres">
      <dgm:prSet presAssocID="{1EB00EB2-067D-4802-A2F2-0992F4603DBE}" presName="vert1" presStyleCnt="0"/>
      <dgm:spPr/>
    </dgm:pt>
  </dgm:ptLst>
  <dgm:cxnLst>
    <dgm:cxn modelId="{9A30B002-9FA0-49DA-A6F4-EE999BBDB415}" srcId="{2B1D5798-228B-4018-85B3-D75406E5FE5D}" destId="{1EB00EB2-067D-4802-A2F2-0992F4603DBE}" srcOrd="4" destOrd="0" parTransId="{BEB96707-0A02-4FA5-97A5-C79D41192CF6}" sibTransId="{CBF17CFA-6340-4EDA-A531-95A22C278448}"/>
    <dgm:cxn modelId="{B181AC09-24B7-4FF7-BB97-11EC7BD21C6B}" srcId="{2B1D5798-228B-4018-85B3-D75406E5FE5D}" destId="{60AA6B49-7401-4FCA-945B-1712569F34EF}" srcOrd="2" destOrd="0" parTransId="{93AEA647-354E-45B2-94E3-8A3ADD99650F}" sibTransId="{27779379-556E-4B89-9976-357ED60F7790}"/>
    <dgm:cxn modelId="{861DD22B-92A8-4AC6-BACB-B0E4DF6C27D8}" type="presOf" srcId="{87586CD6-53F6-4983-BE1A-BF2A1C44BC9B}" destId="{4BCEFF5D-651B-46B3-AB29-C2A9A26166D7}" srcOrd="0" destOrd="0" presId="urn:microsoft.com/office/officeart/2008/layout/LinedList"/>
    <dgm:cxn modelId="{17A7C934-0D3E-4139-AB0C-0527006667A3}" type="presOf" srcId="{2B1D5798-228B-4018-85B3-D75406E5FE5D}" destId="{4D969173-E9B8-4221-B030-47A6FFD9817B}" srcOrd="0" destOrd="0" presId="urn:microsoft.com/office/officeart/2008/layout/LinedList"/>
    <dgm:cxn modelId="{8C24A67E-BFC0-473E-8AE5-A5134C8BAD4B}" type="presOf" srcId="{30FA3DAF-3A67-44BA-95D6-2F6A42F1336C}" destId="{1B5C3D6C-9CB1-4712-97A6-D95AB523BB4F}" srcOrd="0" destOrd="0" presId="urn:microsoft.com/office/officeart/2008/layout/LinedList"/>
    <dgm:cxn modelId="{E6E35086-6160-4CA6-B7EF-823B11DDBD80}" srcId="{2B1D5798-228B-4018-85B3-D75406E5FE5D}" destId="{52D3D233-7F11-457D-AFEE-D85CD2195C22}" srcOrd="3" destOrd="0" parTransId="{8F1776C8-EA4D-475F-B7A7-053FAC50DB1A}" sibTransId="{9DFDC1C2-5E0C-4460-A65C-886826648673}"/>
    <dgm:cxn modelId="{4818D79A-FE38-43D4-B023-8AD7537A7202}" srcId="{2B1D5798-228B-4018-85B3-D75406E5FE5D}" destId="{87586CD6-53F6-4983-BE1A-BF2A1C44BC9B}" srcOrd="1" destOrd="0" parTransId="{0104F986-460E-4B71-8C26-EB6AACFB0B03}" sibTransId="{775CE0D9-301A-4371-B7A9-6005C039263C}"/>
    <dgm:cxn modelId="{EF8FAAA8-588F-4858-8573-78CDD43109B3}" type="presOf" srcId="{60AA6B49-7401-4FCA-945B-1712569F34EF}" destId="{626141BB-91E3-4578-84EF-B1E797EA71EC}" srcOrd="0" destOrd="0" presId="urn:microsoft.com/office/officeart/2008/layout/LinedList"/>
    <dgm:cxn modelId="{792DC2AF-D0A7-44D3-AAC7-7EFDAF9572C5}" type="presOf" srcId="{52D3D233-7F11-457D-AFEE-D85CD2195C22}" destId="{2B54E3D3-288E-4FF4-A80B-C387D2AFF259}" srcOrd="0" destOrd="0" presId="urn:microsoft.com/office/officeart/2008/layout/LinedList"/>
    <dgm:cxn modelId="{7CB888B3-043C-4B00-A864-4156839B95C4}" type="presOf" srcId="{1EB00EB2-067D-4802-A2F2-0992F4603DBE}" destId="{B175C22A-D143-4A4B-9020-247082155774}" srcOrd="0" destOrd="0" presId="urn:microsoft.com/office/officeart/2008/layout/LinedList"/>
    <dgm:cxn modelId="{B8072FB8-B0BC-4553-8401-8236F331CC96}" srcId="{2B1D5798-228B-4018-85B3-D75406E5FE5D}" destId="{30FA3DAF-3A67-44BA-95D6-2F6A42F1336C}" srcOrd="0" destOrd="0" parTransId="{F3CE5154-9D6A-4298-AF2B-8B275D0EB83A}" sibTransId="{9F49D7C5-8540-44B6-984D-0E5B69CAA184}"/>
    <dgm:cxn modelId="{ECF26029-E8CF-4E34-9897-0716995528DB}" type="presParOf" srcId="{4D969173-E9B8-4221-B030-47A6FFD9817B}" destId="{35C85F0D-8092-448B-AFB9-BBA84ABE072E}" srcOrd="0" destOrd="0" presId="urn:microsoft.com/office/officeart/2008/layout/LinedList"/>
    <dgm:cxn modelId="{23A49220-E203-421D-8A77-5EE308CC2CA7}" type="presParOf" srcId="{4D969173-E9B8-4221-B030-47A6FFD9817B}" destId="{EDDD7D69-C386-4E3E-B3F4-E8D7F6E82B77}" srcOrd="1" destOrd="0" presId="urn:microsoft.com/office/officeart/2008/layout/LinedList"/>
    <dgm:cxn modelId="{1423CEF6-7795-4DEB-ABC6-4B34ECA6BC24}" type="presParOf" srcId="{EDDD7D69-C386-4E3E-B3F4-E8D7F6E82B77}" destId="{1B5C3D6C-9CB1-4712-97A6-D95AB523BB4F}" srcOrd="0" destOrd="0" presId="urn:microsoft.com/office/officeart/2008/layout/LinedList"/>
    <dgm:cxn modelId="{CEF7F3E6-DAEE-490A-B880-8DC58E0358DC}" type="presParOf" srcId="{EDDD7D69-C386-4E3E-B3F4-E8D7F6E82B77}" destId="{1AAD4BD1-5C74-4651-9235-2B651205F21D}" srcOrd="1" destOrd="0" presId="urn:microsoft.com/office/officeart/2008/layout/LinedList"/>
    <dgm:cxn modelId="{E98A498F-AC2B-411C-99F1-E3486D73FB2C}" type="presParOf" srcId="{4D969173-E9B8-4221-B030-47A6FFD9817B}" destId="{C7AF226D-E371-4168-81F2-6EE750DD6D9E}" srcOrd="2" destOrd="0" presId="urn:microsoft.com/office/officeart/2008/layout/LinedList"/>
    <dgm:cxn modelId="{30765B3A-027C-4E85-8391-444E7216A5FA}" type="presParOf" srcId="{4D969173-E9B8-4221-B030-47A6FFD9817B}" destId="{A3E79B19-1442-4072-9A0B-0A5CC8009F23}" srcOrd="3" destOrd="0" presId="urn:microsoft.com/office/officeart/2008/layout/LinedList"/>
    <dgm:cxn modelId="{9133FE1B-88C8-4AF2-A0A7-25FB6C96815D}" type="presParOf" srcId="{A3E79B19-1442-4072-9A0B-0A5CC8009F23}" destId="{4BCEFF5D-651B-46B3-AB29-C2A9A26166D7}" srcOrd="0" destOrd="0" presId="urn:microsoft.com/office/officeart/2008/layout/LinedList"/>
    <dgm:cxn modelId="{F68243A3-C8CF-4E5E-B7EF-03B2F993ABE0}" type="presParOf" srcId="{A3E79B19-1442-4072-9A0B-0A5CC8009F23}" destId="{F245C630-27F9-4709-901F-9538C7453AB1}" srcOrd="1" destOrd="0" presId="urn:microsoft.com/office/officeart/2008/layout/LinedList"/>
    <dgm:cxn modelId="{32FF6A8E-B510-4AD4-A215-EB455932B88C}" type="presParOf" srcId="{4D969173-E9B8-4221-B030-47A6FFD9817B}" destId="{0E02AC41-52C7-4255-BE56-5E4A265A2C15}" srcOrd="4" destOrd="0" presId="urn:microsoft.com/office/officeart/2008/layout/LinedList"/>
    <dgm:cxn modelId="{34819EDF-F91D-46D9-8F49-854336541160}" type="presParOf" srcId="{4D969173-E9B8-4221-B030-47A6FFD9817B}" destId="{5D1F7536-7706-4FB9-8E97-2D105AF44F0A}" srcOrd="5" destOrd="0" presId="urn:microsoft.com/office/officeart/2008/layout/LinedList"/>
    <dgm:cxn modelId="{C4F4AA8D-AA45-4DC6-BBBF-68AD044E9A22}" type="presParOf" srcId="{5D1F7536-7706-4FB9-8E97-2D105AF44F0A}" destId="{626141BB-91E3-4578-84EF-B1E797EA71EC}" srcOrd="0" destOrd="0" presId="urn:microsoft.com/office/officeart/2008/layout/LinedList"/>
    <dgm:cxn modelId="{CC7B7B1E-C619-4CC3-8536-396002BAA9B7}" type="presParOf" srcId="{5D1F7536-7706-4FB9-8E97-2D105AF44F0A}" destId="{4C94ECFC-0020-403E-9889-C7E7DEAA269E}" srcOrd="1" destOrd="0" presId="urn:microsoft.com/office/officeart/2008/layout/LinedList"/>
    <dgm:cxn modelId="{13D305D4-8EBB-4396-833C-A81C1E79D92D}" type="presParOf" srcId="{4D969173-E9B8-4221-B030-47A6FFD9817B}" destId="{07315BED-A16A-4E68-82FB-1FCF14AEC684}" srcOrd="6" destOrd="0" presId="urn:microsoft.com/office/officeart/2008/layout/LinedList"/>
    <dgm:cxn modelId="{61CB3DBA-4055-4277-BA3F-E9E3506574AE}" type="presParOf" srcId="{4D969173-E9B8-4221-B030-47A6FFD9817B}" destId="{F08A1849-133E-4A59-9FF4-B5AB3038598D}" srcOrd="7" destOrd="0" presId="urn:microsoft.com/office/officeart/2008/layout/LinedList"/>
    <dgm:cxn modelId="{10452353-3148-44B1-977E-AFDD1CD2D8E3}" type="presParOf" srcId="{F08A1849-133E-4A59-9FF4-B5AB3038598D}" destId="{2B54E3D3-288E-4FF4-A80B-C387D2AFF259}" srcOrd="0" destOrd="0" presId="urn:microsoft.com/office/officeart/2008/layout/LinedList"/>
    <dgm:cxn modelId="{2EE1D7BE-C43E-4B52-B71B-7EAD09931AD4}" type="presParOf" srcId="{F08A1849-133E-4A59-9FF4-B5AB3038598D}" destId="{642EAA46-250B-417C-8132-21C868CCBC78}" srcOrd="1" destOrd="0" presId="urn:microsoft.com/office/officeart/2008/layout/LinedList"/>
    <dgm:cxn modelId="{12DF2EB8-5A16-4F35-9F54-34989E08079B}" type="presParOf" srcId="{4D969173-E9B8-4221-B030-47A6FFD9817B}" destId="{1E029A31-A87C-41FD-BB84-71A65192385A}" srcOrd="8" destOrd="0" presId="urn:microsoft.com/office/officeart/2008/layout/LinedList"/>
    <dgm:cxn modelId="{DF6625B1-9895-4EE6-B005-58C012AF85C9}" type="presParOf" srcId="{4D969173-E9B8-4221-B030-47A6FFD9817B}" destId="{D4D50110-7664-4C38-B775-F7CAE3E74CAA}" srcOrd="9" destOrd="0" presId="urn:microsoft.com/office/officeart/2008/layout/LinedList"/>
    <dgm:cxn modelId="{B420E351-4587-4E78-A46D-DAD2CC53159B}" type="presParOf" srcId="{D4D50110-7664-4C38-B775-F7CAE3E74CAA}" destId="{B175C22A-D143-4A4B-9020-247082155774}" srcOrd="0" destOrd="0" presId="urn:microsoft.com/office/officeart/2008/layout/LinedList"/>
    <dgm:cxn modelId="{43BCF5BF-7FCB-402D-9756-0C24E66DF2A6}" type="presParOf" srcId="{D4D50110-7664-4C38-B775-F7CAE3E74CAA}" destId="{053E3319-30C5-4DB1-BB56-E46F48D1094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DB44607-70F9-44B6-8BE8-D6E895AD872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A7ABD50-34A9-4721-91E3-B45E18A95EB8}">
      <dgm:prSet custT="1"/>
      <dgm:spPr/>
      <dgm:t>
        <a:bodyPr/>
        <a:lstStyle/>
        <a:p>
          <a:r>
            <a:rPr lang="tr-TR" sz="2800"/>
            <a:t>SİPARİŞ İŞLEME</a:t>
          </a:r>
          <a:endParaRPr lang="en-US" sz="2800"/>
        </a:p>
      </dgm:t>
    </dgm:pt>
    <dgm:pt modelId="{31E3191E-5850-42AC-9DB0-43295D37041B}" type="parTrans" cxnId="{9FA18CFC-1653-4BEF-AF11-1115EC014A11}">
      <dgm:prSet/>
      <dgm:spPr/>
      <dgm:t>
        <a:bodyPr/>
        <a:lstStyle/>
        <a:p>
          <a:endParaRPr lang="en-US"/>
        </a:p>
      </dgm:t>
    </dgm:pt>
    <dgm:pt modelId="{DAAF81BC-09F7-4786-8CB3-6C0A78305DE2}" type="sibTrans" cxnId="{9FA18CFC-1653-4BEF-AF11-1115EC014A11}">
      <dgm:prSet/>
      <dgm:spPr/>
      <dgm:t>
        <a:bodyPr/>
        <a:lstStyle/>
        <a:p>
          <a:endParaRPr lang="en-US"/>
        </a:p>
      </dgm:t>
    </dgm:pt>
    <dgm:pt modelId="{4D92C688-D968-4373-82E4-141C5948FF8E}">
      <dgm:prSet/>
      <dgm:spPr/>
      <dgm:t>
        <a:bodyPr/>
        <a:lstStyle/>
        <a:p>
          <a:r>
            <a:rPr lang="tr-TR"/>
            <a:t>Sipariş verme şekillerini belirlemek</a:t>
          </a:r>
          <a:endParaRPr lang="en-US"/>
        </a:p>
      </dgm:t>
    </dgm:pt>
    <dgm:pt modelId="{41E1DFB8-EAA5-447B-8F74-A83CAE587E79}" type="parTrans" cxnId="{D08DD2E5-BF6E-4B95-96E1-32D866ABAF43}">
      <dgm:prSet/>
      <dgm:spPr/>
      <dgm:t>
        <a:bodyPr/>
        <a:lstStyle/>
        <a:p>
          <a:endParaRPr lang="en-US"/>
        </a:p>
      </dgm:t>
    </dgm:pt>
    <dgm:pt modelId="{7F6DBE3C-EBC3-465A-8BFE-FA80A3A083B9}" type="sibTrans" cxnId="{D08DD2E5-BF6E-4B95-96E1-32D866ABAF43}">
      <dgm:prSet/>
      <dgm:spPr/>
      <dgm:t>
        <a:bodyPr/>
        <a:lstStyle/>
        <a:p>
          <a:endParaRPr lang="en-US"/>
        </a:p>
      </dgm:t>
    </dgm:pt>
    <dgm:pt modelId="{D2C151B1-A951-47AC-94E5-517A1E78BDD1}">
      <dgm:prSet/>
      <dgm:spPr/>
      <dgm:t>
        <a:bodyPr/>
        <a:lstStyle/>
        <a:p>
          <a:r>
            <a:rPr lang="tr-TR"/>
            <a:t>Sipariş iletişimini sağlamak ve geliştirmek</a:t>
          </a:r>
          <a:endParaRPr lang="en-US"/>
        </a:p>
      </dgm:t>
    </dgm:pt>
    <dgm:pt modelId="{CB9F8495-5B62-478E-A742-1640FAD46E5D}" type="parTrans" cxnId="{46BE1BA3-065D-45B0-8D9C-3310E7671EDE}">
      <dgm:prSet/>
      <dgm:spPr/>
      <dgm:t>
        <a:bodyPr/>
        <a:lstStyle/>
        <a:p>
          <a:endParaRPr lang="en-US"/>
        </a:p>
      </dgm:t>
    </dgm:pt>
    <dgm:pt modelId="{765FFBC4-D93C-467A-91B7-777856CA234A}" type="sibTrans" cxnId="{46BE1BA3-065D-45B0-8D9C-3310E7671EDE}">
      <dgm:prSet/>
      <dgm:spPr/>
      <dgm:t>
        <a:bodyPr/>
        <a:lstStyle/>
        <a:p>
          <a:endParaRPr lang="en-US"/>
        </a:p>
      </dgm:t>
    </dgm:pt>
    <dgm:pt modelId="{0F0A6970-239C-41C8-ACBA-46F752E9B615}">
      <dgm:prSet/>
      <dgm:spPr/>
      <dgm:t>
        <a:bodyPr/>
        <a:lstStyle/>
        <a:p>
          <a:r>
            <a:rPr lang="tr-TR"/>
            <a:t>Sipariş giriş işlemlerini yürütmek</a:t>
          </a:r>
          <a:endParaRPr lang="en-US"/>
        </a:p>
      </dgm:t>
    </dgm:pt>
    <dgm:pt modelId="{08E3137E-C68E-4687-95B7-5C5037E6876E}" type="parTrans" cxnId="{BFD19EBA-A4C7-4C06-8BC8-5BC29803AC95}">
      <dgm:prSet/>
      <dgm:spPr/>
      <dgm:t>
        <a:bodyPr/>
        <a:lstStyle/>
        <a:p>
          <a:endParaRPr lang="en-US"/>
        </a:p>
      </dgm:t>
    </dgm:pt>
    <dgm:pt modelId="{8F1DFF13-3D51-4200-9DF9-9A2FA2D0A1E6}" type="sibTrans" cxnId="{BFD19EBA-A4C7-4C06-8BC8-5BC29803AC95}">
      <dgm:prSet/>
      <dgm:spPr/>
      <dgm:t>
        <a:bodyPr/>
        <a:lstStyle/>
        <a:p>
          <a:endParaRPr lang="en-US"/>
        </a:p>
      </dgm:t>
    </dgm:pt>
    <dgm:pt modelId="{611480F7-CD9C-4496-97AB-00AC1338E737}">
      <dgm:prSet/>
      <dgm:spPr/>
      <dgm:t>
        <a:bodyPr/>
        <a:lstStyle/>
        <a:p>
          <a:r>
            <a:rPr lang="tr-TR"/>
            <a:t>Sipariş izlemeyi gerçekleştirmek</a:t>
          </a:r>
          <a:endParaRPr lang="en-US"/>
        </a:p>
      </dgm:t>
    </dgm:pt>
    <dgm:pt modelId="{8FBC0F03-8047-4F72-9137-294E7AC233CC}" type="parTrans" cxnId="{587140A5-919B-4037-8145-8C9DA1A19FEB}">
      <dgm:prSet/>
      <dgm:spPr/>
      <dgm:t>
        <a:bodyPr/>
        <a:lstStyle/>
        <a:p>
          <a:endParaRPr lang="en-US"/>
        </a:p>
      </dgm:t>
    </dgm:pt>
    <dgm:pt modelId="{6FEB3D3E-F969-4F6B-8A6D-0AF6A32025F8}" type="sibTrans" cxnId="{587140A5-919B-4037-8145-8C9DA1A19FEB}">
      <dgm:prSet/>
      <dgm:spPr/>
      <dgm:t>
        <a:bodyPr/>
        <a:lstStyle/>
        <a:p>
          <a:endParaRPr lang="en-US"/>
        </a:p>
      </dgm:t>
    </dgm:pt>
    <dgm:pt modelId="{D32097ED-49A1-447B-8ABF-B698F09638AA}">
      <dgm:prSet/>
      <dgm:spPr/>
      <dgm:t>
        <a:bodyPr/>
        <a:lstStyle/>
        <a:p>
          <a:r>
            <a:rPr lang="tr-TR"/>
            <a:t>Sipariş tamamlama aşamalarını gerçekleştirmek.</a:t>
          </a:r>
          <a:endParaRPr lang="en-US"/>
        </a:p>
      </dgm:t>
    </dgm:pt>
    <dgm:pt modelId="{4D3F702A-AA4A-4770-8C50-82AB9F4D2A68}" type="parTrans" cxnId="{4C422C53-7C95-4800-B981-0DD8046DAEEE}">
      <dgm:prSet/>
      <dgm:spPr/>
      <dgm:t>
        <a:bodyPr/>
        <a:lstStyle/>
        <a:p>
          <a:endParaRPr lang="en-US"/>
        </a:p>
      </dgm:t>
    </dgm:pt>
    <dgm:pt modelId="{14AF89F0-29BA-4029-A895-6CDC195F5E7E}" type="sibTrans" cxnId="{4C422C53-7C95-4800-B981-0DD8046DAEEE}">
      <dgm:prSet/>
      <dgm:spPr/>
      <dgm:t>
        <a:bodyPr/>
        <a:lstStyle/>
        <a:p>
          <a:endParaRPr lang="en-US"/>
        </a:p>
      </dgm:t>
    </dgm:pt>
    <dgm:pt modelId="{DED28094-583D-4638-A9A4-F031294EFFA7}" type="pres">
      <dgm:prSet presAssocID="{9DB44607-70F9-44B6-8BE8-D6E895AD8729}" presName="root" presStyleCnt="0">
        <dgm:presLayoutVars>
          <dgm:dir/>
          <dgm:resizeHandles val="exact"/>
        </dgm:presLayoutVars>
      </dgm:prSet>
      <dgm:spPr/>
    </dgm:pt>
    <dgm:pt modelId="{03C72781-992D-4B52-935B-F99D1F8665D9}" type="pres">
      <dgm:prSet presAssocID="{FA7ABD50-34A9-4721-91E3-B45E18A95EB8}" presName="compNode" presStyleCnt="0"/>
      <dgm:spPr/>
    </dgm:pt>
    <dgm:pt modelId="{DDC76864-06FA-4565-9AEC-5B9184378648}" type="pres">
      <dgm:prSet presAssocID="{FA7ABD50-34A9-4721-91E3-B45E18A95EB8}" presName="bgRect" presStyleLbl="bgShp" presStyleIdx="0" presStyleCnt="6" custLinFactNeighborX="-4003" custLinFactNeighborY="4493"/>
      <dgm:spPr/>
    </dgm:pt>
    <dgm:pt modelId="{B4D14696-3087-4FE4-B651-3A55456708ED}" type="pres">
      <dgm:prSet presAssocID="{FA7ABD50-34A9-4721-91E3-B45E18A95EB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ır"/>
        </a:ext>
      </dgm:extLst>
    </dgm:pt>
    <dgm:pt modelId="{B0AD6234-F225-4FB8-ABCE-EC89BBC228CE}" type="pres">
      <dgm:prSet presAssocID="{FA7ABD50-34A9-4721-91E3-B45E18A95EB8}" presName="spaceRect" presStyleCnt="0"/>
      <dgm:spPr/>
    </dgm:pt>
    <dgm:pt modelId="{6F8EDDFE-CE8F-4848-972F-63A72FED84E3}" type="pres">
      <dgm:prSet presAssocID="{FA7ABD50-34A9-4721-91E3-B45E18A95EB8}" presName="parTx" presStyleLbl="revTx" presStyleIdx="0" presStyleCnt="6">
        <dgm:presLayoutVars>
          <dgm:chMax val="0"/>
          <dgm:chPref val="0"/>
        </dgm:presLayoutVars>
      </dgm:prSet>
      <dgm:spPr/>
    </dgm:pt>
    <dgm:pt modelId="{6AF45601-814B-48A5-A6D8-9BCED7491D40}" type="pres">
      <dgm:prSet presAssocID="{DAAF81BC-09F7-4786-8CB3-6C0A78305DE2}" presName="sibTrans" presStyleCnt="0"/>
      <dgm:spPr/>
    </dgm:pt>
    <dgm:pt modelId="{8C0A2A2C-503F-450F-9196-CD858702E7EC}" type="pres">
      <dgm:prSet presAssocID="{4D92C688-D968-4373-82E4-141C5948FF8E}" presName="compNode" presStyleCnt="0"/>
      <dgm:spPr/>
    </dgm:pt>
    <dgm:pt modelId="{B1B31C75-D433-41F2-8A7F-401C1E905571}" type="pres">
      <dgm:prSet presAssocID="{4D92C688-D968-4373-82E4-141C5948FF8E}" presName="bgRect" presStyleLbl="bgShp" presStyleIdx="1" presStyleCnt="6"/>
      <dgm:spPr/>
    </dgm:pt>
    <dgm:pt modelId="{66A978C7-B604-42BE-B9DC-CFADFE725BD9}" type="pres">
      <dgm:prSet presAssocID="{4D92C688-D968-4373-82E4-141C5948FF8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nay işareti"/>
        </a:ext>
      </dgm:extLst>
    </dgm:pt>
    <dgm:pt modelId="{77704D7B-CE70-4EE5-B641-C21D9096EA0C}" type="pres">
      <dgm:prSet presAssocID="{4D92C688-D968-4373-82E4-141C5948FF8E}" presName="spaceRect" presStyleCnt="0"/>
      <dgm:spPr/>
    </dgm:pt>
    <dgm:pt modelId="{6008D2AD-2A7F-404A-8820-8D319FF97451}" type="pres">
      <dgm:prSet presAssocID="{4D92C688-D968-4373-82E4-141C5948FF8E}" presName="parTx" presStyleLbl="revTx" presStyleIdx="1" presStyleCnt="6">
        <dgm:presLayoutVars>
          <dgm:chMax val="0"/>
          <dgm:chPref val="0"/>
        </dgm:presLayoutVars>
      </dgm:prSet>
      <dgm:spPr/>
    </dgm:pt>
    <dgm:pt modelId="{12060D76-D6C2-4D8F-AAF0-E2488D1FBBAE}" type="pres">
      <dgm:prSet presAssocID="{7F6DBE3C-EBC3-465A-8BFE-FA80A3A083B9}" presName="sibTrans" presStyleCnt="0"/>
      <dgm:spPr/>
    </dgm:pt>
    <dgm:pt modelId="{474923DE-79C1-4953-BF68-ABD9B5A28E79}" type="pres">
      <dgm:prSet presAssocID="{D2C151B1-A951-47AC-94E5-517A1E78BDD1}" presName="compNode" presStyleCnt="0"/>
      <dgm:spPr/>
    </dgm:pt>
    <dgm:pt modelId="{15448565-E672-4AEB-B635-1219AFE63BD4}" type="pres">
      <dgm:prSet presAssocID="{D2C151B1-A951-47AC-94E5-517A1E78BDD1}" presName="bgRect" presStyleLbl="bgShp" presStyleIdx="2" presStyleCnt="6"/>
      <dgm:spPr/>
    </dgm:pt>
    <dgm:pt modelId="{B6F6D341-7D18-48BB-A900-506BC91B53F5}" type="pres">
      <dgm:prSet presAssocID="{D2C151B1-A951-47AC-94E5-517A1E78BDD1}"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1589D6F0-C5F8-470E-B4BA-B34EA5AE029F}" type="pres">
      <dgm:prSet presAssocID="{D2C151B1-A951-47AC-94E5-517A1E78BDD1}" presName="spaceRect" presStyleCnt="0"/>
      <dgm:spPr/>
    </dgm:pt>
    <dgm:pt modelId="{7DFC8D89-8512-463B-9940-430F25D3A705}" type="pres">
      <dgm:prSet presAssocID="{D2C151B1-A951-47AC-94E5-517A1E78BDD1}" presName="parTx" presStyleLbl="revTx" presStyleIdx="2" presStyleCnt="6">
        <dgm:presLayoutVars>
          <dgm:chMax val="0"/>
          <dgm:chPref val="0"/>
        </dgm:presLayoutVars>
      </dgm:prSet>
      <dgm:spPr/>
    </dgm:pt>
    <dgm:pt modelId="{B7BD5550-91DF-4188-883F-5A2135B3AFE6}" type="pres">
      <dgm:prSet presAssocID="{765FFBC4-D93C-467A-91B7-777856CA234A}" presName="sibTrans" presStyleCnt="0"/>
      <dgm:spPr/>
    </dgm:pt>
    <dgm:pt modelId="{94D49CEA-CEC9-4C98-9112-1FB1BE34C189}" type="pres">
      <dgm:prSet presAssocID="{0F0A6970-239C-41C8-ACBA-46F752E9B615}" presName="compNode" presStyleCnt="0"/>
      <dgm:spPr/>
    </dgm:pt>
    <dgm:pt modelId="{68D6F899-351A-47DC-80DD-D43AECAF37F1}" type="pres">
      <dgm:prSet presAssocID="{0F0A6970-239C-41C8-ACBA-46F752E9B615}" presName="bgRect" presStyleLbl="bgShp" presStyleIdx="3" presStyleCnt="6"/>
      <dgm:spPr/>
    </dgm:pt>
    <dgm:pt modelId="{0A58489C-67C1-4EC3-BAB0-1117D869E20A}" type="pres">
      <dgm:prSet presAssocID="{0F0A6970-239C-41C8-ACBA-46F752E9B61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ullanıcı"/>
        </a:ext>
      </dgm:extLst>
    </dgm:pt>
    <dgm:pt modelId="{5BF49421-F1AE-47FC-AC7F-BC7380F2B2C1}" type="pres">
      <dgm:prSet presAssocID="{0F0A6970-239C-41C8-ACBA-46F752E9B615}" presName="spaceRect" presStyleCnt="0"/>
      <dgm:spPr/>
    </dgm:pt>
    <dgm:pt modelId="{5AB59B87-2D36-4AC1-B0B9-B7408EA0A0C2}" type="pres">
      <dgm:prSet presAssocID="{0F0A6970-239C-41C8-ACBA-46F752E9B615}" presName="parTx" presStyleLbl="revTx" presStyleIdx="3" presStyleCnt="6">
        <dgm:presLayoutVars>
          <dgm:chMax val="0"/>
          <dgm:chPref val="0"/>
        </dgm:presLayoutVars>
      </dgm:prSet>
      <dgm:spPr/>
    </dgm:pt>
    <dgm:pt modelId="{E6680C86-9E9A-47AF-AF29-C0FD86DF9351}" type="pres">
      <dgm:prSet presAssocID="{8F1DFF13-3D51-4200-9DF9-9A2FA2D0A1E6}" presName="sibTrans" presStyleCnt="0"/>
      <dgm:spPr/>
    </dgm:pt>
    <dgm:pt modelId="{2A10CA7D-60D8-4C93-AAA4-A280F21F9B22}" type="pres">
      <dgm:prSet presAssocID="{611480F7-CD9C-4496-97AB-00AC1338E737}" presName="compNode" presStyleCnt="0"/>
      <dgm:spPr/>
    </dgm:pt>
    <dgm:pt modelId="{7B86D142-619F-448F-891E-4CA8212357F2}" type="pres">
      <dgm:prSet presAssocID="{611480F7-CD9C-4496-97AB-00AC1338E737}" presName="bgRect" presStyleLbl="bgShp" presStyleIdx="4" presStyleCnt="6"/>
      <dgm:spPr/>
    </dgm:pt>
    <dgm:pt modelId="{2334C90D-ABFA-499D-A7BF-7A4197A2B77F}" type="pres">
      <dgm:prSet presAssocID="{611480F7-CD9C-4496-97AB-00AC1338E73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hopping cart"/>
        </a:ext>
      </dgm:extLst>
    </dgm:pt>
    <dgm:pt modelId="{5A6E0347-F1A8-4EFB-9693-5FABB26153EC}" type="pres">
      <dgm:prSet presAssocID="{611480F7-CD9C-4496-97AB-00AC1338E737}" presName="spaceRect" presStyleCnt="0"/>
      <dgm:spPr/>
    </dgm:pt>
    <dgm:pt modelId="{88742BEB-6A55-450C-A98E-9CB0E67D7A80}" type="pres">
      <dgm:prSet presAssocID="{611480F7-CD9C-4496-97AB-00AC1338E737}" presName="parTx" presStyleLbl="revTx" presStyleIdx="4" presStyleCnt="6">
        <dgm:presLayoutVars>
          <dgm:chMax val="0"/>
          <dgm:chPref val="0"/>
        </dgm:presLayoutVars>
      </dgm:prSet>
      <dgm:spPr/>
    </dgm:pt>
    <dgm:pt modelId="{A7AA8ADD-44A7-47FC-8DE6-2FBE3CEB4689}" type="pres">
      <dgm:prSet presAssocID="{6FEB3D3E-F969-4F6B-8A6D-0AF6A32025F8}" presName="sibTrans" presStyleCnt="0"/>
      <dgm:spPr/>
    </dgm:pt>
    <dgm:pt modelId="{93A6548B-82FB-4637-9281-B8D771FE001D}" type="pres">
      <dgm:prSet presAssocID="{D32097ED-49A1-447B-8ABF-B698F09638AA}" presName="compNode" presStyleCnt="0"/>
      <dgm:spPr/>
    </dgm:pt>
    <dgm:pt modelId="{F6C2524F-5CF9-4816-AADC-1A50682AA8B3}" type="pres">
      <dgm:prSet presAssocID="{D32097ED-49A1-447B-8ABF-B698F09638AA}" presName="bgRect" presStyleLbl="bgShp" presStyleIdx="5" presStyleCnt="6"/>
      <dgm:spPr/>
    </dgm:pt>
    <dgm:pt modelId="{4F39D611-BE24-489E-B9C5-DB668DA009BB}" type="pres">
      <dgm:prSet presAssocID="{D32097ED-49A1-447B-8ABF-B698F09638A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rkod"/>
        </a:ext>
      </dgm:extLst>
    </dgm:pt>
    <dgm:pt modelId="{FE0E00FE-0D27-4C8A-9A97-6EDC869F8C10}" type="pres">
      <dgm:prSet presAssocID="{D32097ED-49A1-447B-8ABF-B698F09638AA}" presName="spaceRect" presStyleCnt="0"/>
      <dgm:spPr/>
    </dgm:pt>
    <dgm:pt modelId="{C013E45F-EE75-406E-B376-300E7456CDEA}" type="pres">
      <dgm:prSet presAssocID="{D32097ED-49A1-447B-8ABF-B698F09638AA}" presName="parTx" presStyleLbl="revTx" presStyleIdx="5" presStyleCnt="6">
        <dgm:presLayoutVars>
          <dgm:chMax val="0"/>
          <dgm:chPref val="0"/>
        </dgm:presLayoutVars>
      </dgm:prSet>
      <dgm:spPr/>
    </dgm:pt>
  </dgm:ptLst>
  <dgm:cxnLst>
    <dgm:cxn modelId="{F5436C4B-9BC5-4FAC-A891-3D1C1EB072DB}" type="presOf" srcId="{FA7ABD50-34A9-4721-91E3-B45E18A95EB8}" destId="{6F8EDDFE-CE8F-4848-972F-63A72FED84E3}" srcOrd="0" destOrd="0" presId="urn:microsoft.com/office/officeart/2018/2/layout/IconVerticalSolidList"/>
    <dgm:cxn modelId="{4C422C53-7C95-4800-B981-0DD8046DAEEE}" srcId="{9DB44607-70F9-44B6-8BE8-D6E895AD8729}" destId="{D32097ED-49A1-447B-8ABF-B698F09638AA}" srcOrd="5" destOrd="0" parTransId="{4D3F702A-AA4A-4770-8C50-82AB9F4D2A68}" sibTransId="{14AF89F0-29BA-4029-A895-6CDC195F5E7E}"/>
    <dgm:cxn modelId="{8C00F253-42E1-47E8-9CC5-4EC57CB0F575}" type="presOf" srcId="{D32097ED-49A1-447B-8ABF-B698F09638AA}" destId="{C013E45F-EE75-406E-B376-300E7456CDEA}" srcOrd="0" destOrd="0" presId="urn:microsoft.com/office/officeart/2018/2/layout/IconVerticalSolidList"/>
    <dgm:cxn modelId="{1C2EFA8C-7F12-41BD-BCFE-516BB2DAE163}" type="presOf" srcId="{0F0A6970-239C-41C8-ACBA-46F752E9B615}" destId="{5AB59B87-2D36-4AC1-B0B9-B7408EA0A0C2}" srcOrd="0" destOrd="0" presId="urn:microsoft.com/office/officeart/2018/2/layout/IconVerticalSolidList"/>
    <dgm:cxn modelId="{1EBF1C9E-A470-47C8-90F8-D565C242172E}" type="presOf" srcId="{D2C151B1-A951-47AC-94E5-517A1E78BDD1}" destId="{7DFC8D89-8512-463B-9940-430F25D3A705}" srcOrd="0" destOrd="0" presId="urn:microsoft.com/office/officeart/2018/2/layout/IconVerticalSolidList"/>
    <dgm:cxn modelId="{46BE1BA3-065D-45B0-8D9C-3310E7671EDE}" srcId="{9DB44607-70F9-44B6-8BE8-D6E895AD8729}" destId="{D2C151B1-A951-47AC-94E5-517A1E78BDD1}" srcOrd="2" destOrd="0" parTransId="{CB9F8495-5B62-478E-A742-1640FAD46E5D}" sibTransId="{765FFBC4-D93C-467A-91B7-777856CA234A}"/>
    <dgm:cxn modelId="{587140A5-919B-4037-8145-8C9DA1A19FEB}" srcId="{9DB44607-70F9-44B6-8BE8-D6E895AD8729}" destId="{611480F7-CD9C-4496-97AB-00AC1338E737}" srcOrd="4" destOrd="0" parTransId="{8FBC0F03-8047-4F72-9137-294E7AC233CC}" sibTransId="{6FEB3D3E-F969-4F6B-8A6D-0AF6A32025F8}"/>
    <dgm:cxn modelId="{D53C09AD-6534-487A-986C-08B2B2847F8C}" type="presOf" srcId="{9DB44607-70F9-44B6-8BE8-D6E895AD8729}" destId="{DED28094-583D-4638-A9A4-F031294EFFA7}" srcOrd="0" destOrd="0" presId="urn:microsoft.com/office/officeart/2018/2/layout/IconVerticalSolidList"/>
    <dgm:cxn modelId="{BFD19EBA-A4C7-4C06-8BC8-5BC29803AC95}" srcId="{9DB44607-70F9-44B6-8BE8-D6E895AD8729}" destId="{0F0A6970-239C-41C8-ACBA-46F752E9B615}" srcOrd="3" destOrd="0" parTransId="{08E3137E-C68E-4687-95B7-5C5037E6876E}" sibTransId="{8F1DFF13-3D51-4200-9DF9-9A2FA2D0A1E6}"/>
    <dgm:cxn modelId="{D03AC9C9-7B3B-43EE-B261-EB567B336119}" type="presOf" srcId="{4D92C688-D968-4373-82E4-141C5948FF8E}" destId="{6008D2AD-2A7F-404A-8820-8D319FF97451}" srcOrd="0" destOrd="0" presId="urn:microsoft.com/office/officeart/2018/2/layout/IconVerticalSolidList"/>
    <dgm:cxn modelId="{D08DD2E5-BF6E-4B95-96E1-32D866ABAF43}" srcId="{9DB44607-70F9-44B6-8BE8-D6E895AD8729}" destId="{4D92C688-D968-4373-82E4-141C5948FF8E}" srcOrd="1" destOrd="0" parTransId="{41E1DFB8-EAA5-447B-8F74-A83CAE587E79}" sibTransId="{7F6DBE3C-EBC3-465A-8BFE-FA80A3A083B9}"/>
    <dgm:cxn modelId="{6BA887E8-7D67-4FA7-AE1C-BAD09689CCB4}" type="presOf" srcId="{611480F7-CD9C-4496-97AB-00AC1338E737}" destId="{88742BEB-6A55-450C-A98E-9CB0E67D7A80}" srcOrd="0" destOrd="0" presId="urn:microsoft.com/office/officeart/2018/2/layout/IconVerticalSolidList"/>
    <dgm:cxn modelId="{9FA18CFC-1653-4BEF-AF11-1115EC014A11}" srcId="{9DB44607-70F9-44B6-8BE8-D6E895AD8729}" destId="{FA7ABD50-34A9-4721-91E3-B45E18A95EB8}" srcOrd="0" destOrd="0" parTransId="{31E3191E-5850-42AC-9DB0-43295D37041B}" sibTransId="{DAAF81BC-09F7-4786-8CB3-6C0A78305DE2}"/>
    <dgm:cxn modelId="{A26476C8-F4A2-4AF4-8B37-49E305370A1F}" type="presParOf" srcId="{DED28094-583D-4638-A9A4-F031294EFFA7}" destId="{03C72781-992D-4B52-935B-F99D1F8665D9}" srcOrd="0" destOrd="0" presId="urn:microsoft.com/office/officeart/2018/2/layout/IconVerticalSolidList"/>
    <dgm:cxn modelId="{8B71F84D-EBFB-4DF7-B57E-28A10BEE9E31}" type="presParOf" srcId="{03C72781-992D-4B52-935B-F99D1F8665D9}" destId="{DDC76864-06FA-4565-9AEC-5B9184378648}" srcOrd="0" destOrd="0" presId="urn:microsoft.com/office/officeart/2018/2/layout/IconVerticalSolidList"/>
    <dgm:cxn modelId="{5B810CDC-2592-4183-BBD5-084A65B1322A}" type="presParOf" srcId="{03C72781-992D-4B52-935B-F99D1F8665D9}" destId="{B4D14696-3087-4FE4-B651-3A55456708ED}" srcOrd="1" destOrd="0" presId="urn:microsoft.com/office/officeart/2018/2/layout/IconVerticalSolidList"/>
    <dgm:cxn modelId="{4F096FF4-CF26-4DA4-951D-1E6336A497AD}" type="presParOf" srcId="{03C72781-992D-4B52-935B-F99D1F8665D9}" destId="{B0AD6234-F225-4FB8-ABCE-EC89BBC228CE}" srcOrd="2" destOrd="0" presId="urn:microsoft.com/office/officeart/2018/2/layout/IconVerticalSolidList"/>
    <dgm:cxn modelId="{32FD88C6-7F75-41F1-9953-1BB570D88C04}" type="presParOf" srcId="{03C72781-992D-4B52-935B-F99D1F8665D9}" destId="{6F8EDDFE-CE8F-4848-972F-63A72FED84E3}" srcOrd="3" destOrd="0" presId="urn:microsoft.com/office/officeart/2018/2/layout/IconVerticalSolidList"/>
    <dgm:cxn modelId="{D1345960-AF7A-46A4-9ABD-45ED5BAA87ED}" type="presParOf" srcId="{DED28094-583D-4638-A9A4-F031294EFFA7}" destId="{6AF45601-814B-48A5-A6D8-9BCED7491D40}" srcOrd="1" destOrd="0" presId="urn:microsoft.com/office/officeart/2018/2/layout/IconVerticalSolidList"/>
    <dgm:cxn modelId="{86F2EB23-6AB8-4CD5-A0D9-D833249DAC9E}" type="presParOf" srcId="{DED28094-583D-4638-A9A4-F031294EFFA7}" destId="{8C0A2A2C-503F-450F-9196-CD858702E7EC}" srcOrd="2" destOrd="0" presId="urn:microsoft.com/office/officeart/2018/2/layout/IconVerticalSolidList"/>
    <dgm:cxn modelId="{B6331345-6A05-4222-B7F3-0147FC290989}" type="presParOf" srcId="{8C0A2A2C-503F-450F-9196-CD858702E7EC}" destId="{B1B31C75-D433-41F2-8A7F-401C1E905571}" srcOrd="0" destOrd="0" presId="urn:microsoft.com/office/officeart/2018/2/layout/IconVerticalSolidList"/>
    <dgm:cxn modelId="{468E3D4F-4F50-4283-8880-E6F9A2EC3976}" type="presParOf" srcId="{8C0A2A2C-503F-450F-9196-CD858702E7EC}" destId="{66A978C7-B604-42BE-B9DC-CFADFE725BD9}" srcOrd="1" destOrd="0" presId="urn:microsoft.com/office/officeart/2018/2/layout/IconVerticalSolidList"/>
    <dgm:cxn modelId="{0113FBA3-304B-4E66-BDFB-F40FA8FD2CB5}" type="presParOf" srcId="{8C0A2A2C-503F-450F-9196-CD858702E7EC}" destId="{77704D7B-CE70-4EE5-B641-C21D9096EA0C}" srcOrd="2" destOrd="0" presId="urn:microsoft.com/office/officeart/2018/2/layout/IconVerticalSolidList"/>
    <dgm:cxn modelId="{AEED2C41-5A8B-4A11-8EC0-016E17334226}" type="presParOf" srcId="{8C0A2A2C-503F-450F-9196-CD858702E7EC}" destId="{6008D2AD-2A7F-404A-8820-8D319FF97451}" srcOrd="3" destOrd="0" presId="urn:microsoft.com/office/officeart/2018/2/layout/IconVerticalSolidList"/>
    <dgm:cxn modelId="{34455EB1-AA7E-4913-87BA-658C1AAF3894}" type="presParOf" srcId="{DED28094-583D-4638-A9A4-F031294EFFA7}" destId="{12060D76-D6C2-4D8F-AAF0-E2488D1FBBAE}" srcOrd="3" destOrd="0" presId="urn:microsoft.com/office/officeart/2018/2/layout/IconVerticalSolidList"/>
    <dgm:cxn modelId="{0AE9E691-A765-4832-A606-A3CE1C7A517A}" type="presParOf" srcId="{DED28094-583D-4638-A9A4-F031294EFFA7}" destId="{474923DE-79C1-4953-BF68-ABD9B5A28E79}" srcOrd="4" destOrd="0" presId="urn:microsoft.com/office/officeart/2018/2/layout/IconVerticalSolidList"/>
    <dgm:cxn modelId="{108AF5FE-776B-4FBE-9913-24BF0E441F3A}" type="presParOf" srcId="{474923DE-79C1-4953-BF68-ABD9B5A28E79}" destId="{15448565-E672-4AEB-B635-1219AFE63BD4}" srcOrd="0" destOrd="0" presId="urn:microsoft.com/office/officeart/2018/2/layout/IconVerticalSolidList"/>
    <dgm:cxn modelId="{7225C7A2-B3E3-425F-B72D-480F2FB8D5AB}" type="presParOf" srcId="{474923DE-79C1-4953-BF68-ABD9B5A28E79}" destId="{B6F6D341-7D18-48BB-A900-506BC91B53F5}" srcOrd="1" destOrd="0" presId="urn:microsoft.com/office/officeart/2018/2/layout/IconVerticalSolidList"/>
    <dgm:cxn modelId="{D5FF2680-C1BA-4D33-A941-4614A0901C87}" type="presParOf" srcId="{474923DE-79C1-4953-BF68-ABD9B5A28E79}" destId="{1589D6F0-C5F8-470E-B4BA-B34EA5AE029F}" srcOrd="2" destOrd="0" presId="urn:microsoft.com/office/officeart/2018/2/layout/IconVerticalSolidList"/>
    <dgm:cxn modelId="{9F906F26-37FC-4B6F-9F0E-F45C719C9871}" type="presParOf" srcId="{474923DE-79C1-4953-BF68-ABD9B5A28E79}" destId="{7DFC8D89-8512-463B-9940-430F25D3A705}" srcOrd="3" destOrd="0" presId="urn:microsoft.com/office/officeart/2018/2/layout/IconVerticalSolidList"/>
    <dgm:cxn modelId="{89BB2C90-DF32-41C8-A5C6-DD3ECB73C439}" type="presParOf" srcId="{DED28094-583D-4638-A9A4-F031294EFFA7}" destId="{B7BD5550-91DF-4188-883F-5A2135B3AFE6}" srcOrd="5" destOrd="0" presId="urn:microsoft.com/office/officeart/2018/2/layout/IconVerticalSolidList"/>
    <dgm:cxn modelId="{6EC0BC7B-4013-4EED-9594-20825B70E3B3}" type="presParOf" srcId="{DED28094-583D-4638-A9A4-F031294EFFA7}" destId="{94D49CEA-CEC9-4C98-9112-1FB1BE34C189}" srcOrd="6" destOrd="0" presId="urn:microsoft.com/office/officeart/2018/2/layout/IconVerticalSolidList"/>
    <dgm:cxn modelId="{997151D9-495D-4746-8179-EAF035A33726}" type="presParOf" srcId="{94D49CEA-CEC9-4C98-9112-1FB1BE34C189}" destId="{68D6F899-351A-47DC-80DD-D43AECAF37F1}" srcOrd="0" destOrd="0" presId="urn:microsoft.com/office/officeart/2018/2/layout/IconVerticalSolidList"/>
    <dgm:cxn modelId="{54E4DCA5-39A3-4BF4-8AB8-0801F49C34EE}" type="presParOf" srcId="{94D49CEA-CEC9-4C98-9112-1FB1BE34C189}" destId="{0A58489C-67C1-4EC3-BAB0-1117D869E20A}" srcOrd="1" destOrd="0" presId="urn:microsoft.com/office/officeart/2018/2/layout/IconVerticalSolidList"/>
    <dgm:cxn modelId="{D378E8EA-E368-4113-AC65-D5ACF38D74AA}" type="presParOf" srcId="{94D49CEA-CEC9-4C98-9112-1FB1BE34C189}" destId="{5BF49421-F1AE-47FC-AC7F-BC7380F2B2C1}" srcOrd="2" destOrd="0" presId="urn:microsoft.com/office/officeart/2018/2/layout/IconVerticalSolidList"/>
    <dgm:cxn modelId="{8017B92B-A4DC-41A6-8C21-08BC810CABCB}" type="presParOf" srcId="{94D49CEA-CEC9-4C98-9112-1FB1BE34C189}" destId="{5AB59B87-2D36-4AC1-B0B9-B7408EA0A0C2}" srcOrd="3" destOrd="0" presId="urn:microsoft.com/office/officeart/2018/2/layout/IconVerticalSolidList"/>
    <dgm:cxn modelId="{B44FB578-96CE-4DEF-840C-570296FA02C3}" type="presParOf" srcId="{DED28094-583D-4638-A9A4-F031294EFFA7}" destId="{E6680C86-9E9A-47AF-AF29-C0FD86DF9351}" srcOrd="7" destOrd="0" presId="urn:microsoft.com/office/officeart/2018/2/layout/IconVerticalSolidList"/>
    <dgm:cxn modelId="{8ACBA2F1-6241-49A7-BBAC-FA002E0E98F7}" type="presParOf" srcId="{DED28094-583D-4638-A9A4-F031294EFFA7}" destId="{2A10CA7D-60D8-4C93-AAA4-A280F21F9B22}" srcOrd="8" destOrd="0" presId="urn:microsoft.com/office/officeart/2018/2/layout/IconVerticalSolidList"/>
    <dgm:cxn modelId="{D94B478F-76CD-4152-BC14-0E7FADD091DD}" type="presParOf" srcId="{2A10CA7D-60D8-4C93-AAA4-A280F21F9B22}" destId="{7B86D142-619F-448F-891E-4CA8212357F2}" srcOrd="0" destOrd="0" presId="urn:microsoft.com/office/officeart/2018/2/layout/IconVerticalSolidList"/>
    <dgm:cxn modelId="{52CC0F96-7E60-4097-80A2-CF5C88427A1B}" type="presParOf" srcId="{2A10CA7D-60D8-4C93-AAA4-A280F21F9B22}" destId="{2334C90D-ABFA-499D-A7BF-7A4197A2B77F}" srcOrd="1" destOrd="0" presId="urn:microsoft.com/office/officeart/2018/2/layout/IconVerticalSolidList"/>
    <dgm:cxn modelId="{F6706CBC-7F04-41F0-BBDB-332DDB7D8417}" type="presParOf" srcId="{2A10CA7D-60D8-4C93-AAA4-A280F21F9B22}" destId="{5A6E0347-F1A8-4EFB-9693-5FABB26153EC}" srcOrd="2" destOrd="0" presId="urn:microsoft.com/office/officeart/2018/2/layout/IconVerticalSolidList"/>
    <dgm:cxn modelId="{1E1602F8-0AB0-4EEF-BE76-A79578FEABB5}" type="presParOf" srcId="{2A10CA7D-60D8-4C93-AAA4-A280F21F9B22}" destId="{88742BEB-6A55-450C-A98E-9CB0E67D7A80}" srcOrd="3" destOrd="0" presId="urn:microsoft.com/office/officeart/2018/2/layout/IconVerticalSolidList"/>
    <dgm:cxn modelId="{9D3B8C92-19E3-4F35-9786-176F97DF12EF}" type="presParOf" srcId="{DED28094-583D-4638-A9A4-F031294EFFA7}" destId="{A7AA8ADD-44A7-47FC-8DE6-2FBE3CEB4689}" srcOrd="9" destOrd="0" presId="urn:microsoft.com/office/officeart/2018/2/layout/IconVerticalSolidList"/>
    <dgm:cxn modelId="{620339E8-D5B3-49C3-A9C7-72F1E070C113}" type="presParOf" srcId="{DED28094-583D-4638-A9A4-F031294EFFA7}" destId="{93A6548B-82FB-4637-9281-B8D771FE001D}" srcOrd="10" destOrd="0" presId="urn:microsoft.com/office/officeart/2018/2/layout/IconVerticalSolidList"/>
    <dgm:cxn modelId="{03E6B66F-A327-41E5-AD4A-EDBD1D883879}" type="presParOf" srcId="{93A6548B-82FB-4637-9281-B8D771FE001D}" destId="{F6C2524F-5CF9-4816-AADC-1A50682AA8B3}" srcOrd="0" destOrd="0" presId="urn:microsoft.com/office/officeart/2018/2/layout/IconVerticalSolidList"/>
    <dgm:cxn modelId="{4D9D45BF-25CB-40FD-B726-4E92A693113B}" type="presParOf" srcId="{93A6548B-82FB-4637-9281-B8D771FE001D}" destId="{4F39D611-BE24-489E-B9C5-DB668DA009BB}" srcOrd="1" destOrd="0" presId="urn:microsoft.com/office/officeart/2018/2/layout/IconVerticalSolidList"/>
    <dgm:cxn modelId="{9F667FF8-DC6C-4EF0-832A-FE73C19656BA}" type="presParOf" srcId="{93A6548B-82FB-4637-9281-B8D771FE001D}" destId="{FE0E00FE-0D27-4C8A-9A97-6EDC869F8C10}" srcOrd="2" destOrd="0" presId="urn:microsoft.com/office/officeart/2018/2/layout/IconVerticalSolidList"/>
    <dgm:cxn modelId="{CBEB875C-A184-4907-B118-35C7C0D93E7A}" type="presParOf" srcId="{93A6548B-82FB-4637-9281-B8D771FE001D}" destId="{C013E45F-EE75-406E-B376-300E7456CDEA}"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87DFF9F-D1F2-4F70-9C60-AB05DD250FA5}"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07B2F0AB-A2A8-406F-87AB-825F7A427D12}">
      <dgm:prSet/>
      <dgm:spPr/>
      <dgm:t>
        <a:bodyPr/>
        <a:lstStyle/>
        <a:p>
          <a:r>
            <a:rPr lang="tr-TR"/>
            <a:t>DESTEKLEYİCİ AKTİVİTELER</a:t>
          </a:r>
          <a:endParaRPr lang="en-US"/>
        </a:p>
      </dgm:t>
    </dgm:pt>
    <dgm:pt modelId="{A5116463-C1E4-4AD6-AC9E-1A61E56F932E}" type="parTrans" cxnId="{CB5174D1-27BA-4C56-8539-C81238B885E4}">
      <dgm:prSet/>
      <dgm:spPr/>
      <dgm:t>
        <a:bodyPr/>
        <a:lstStyle/>
        <a:p>
          <a:endParaRPr lang="en-US"/>
        </a:p>
      </dgm:t>
    </dgm:pt>
    <dgm:pt modelId="{DA92122D-4108-48E2-91A6-A7A29E7D9A67}" type="sibTrans" cxnId="{CB5174D1-27BA-4C56-8539-C81238B885E4}">
      <dgm:prSet/>
      <dgm:spPr/>
      <dgm:t>
        <a:bodyPr/>
        <a:lstStyle/>
        <a:p>
          <a:endParaRPr lang="en-US"/>
        </a:p>
      </dgm:t>
    </dgm:pt>
    <dgm:pt modelId="{E8BE7D3B-F878-4ECA-9F32-4DD37C5968E3}">
      <dgm:prSet/>
      <dgm:spPr/>
      <dgm:t>
        <a:bodyPr/>
        <a:lstStyle/>
        <a:p>
          <a:r>
            <a:rPr lang="tr-TR"/>
            <a:t>Materyal temini</a:t>
          </a:r>
          <a:endParaRPr lang="en-US"/>
        </a:p>
      </dgm:t>
    </dgm:pt>
    <dgm:pt modelId="{1CC45D30-135F-4A07-A98D-FE7B5447BC87}" type="parTrans" cxnId="{85C3BDCD-EFA9-41FB-8F00-DF0AFB1843B2}">
      <dgm:prSet/>
      <dgm:spPr/>
      <dgm:t>
        <a:bodyPr/>
        <a:lstStyle/>
        <a:p>
          <a:endParaRPr lang="en-US"/>
        </a:p>
      </dgm:t>
    </dgm:pt>
    <dgm:pt modelId="{40E08944-B800-46EC-B8EF-5228B8839611}" type="sibTrans" cxnId="{85C3BDCD-EFA9-41FB-8F00-DF0AFB1843B2}">
      <dgm:prSet/>
      <dgm:spPr/>
      <dgm:t>
        <a:bodyPr/>
        <a:lstStyle/>
        <a:p>
          <a:endParaRPr lang="en-US"/>
        </a:p>
      </dgm:t>
    </dgm:pt>
    <dgm:pt modelId="{4F64B465-925F-4E90-88A1-53DED3BA82F2}">
      <dgm:prSet/>
      <dgm:spPr/>
      <dgm:t>
        <a:bodyPr/>
        <a:lstStyle/>
        <a:p>
          <a:r>
            <a:rPr lang="tr-TR"/>
            <a:t>Koruyucu paketleme</a:t>
          </a:r>
          <a:endParaRPr lang="en-US"/>
        </a:p>
      </dgm:t>
    </dgm:pt>
    <dgm:pt modelId="{E8777C8D-92E6-4E9F-83C1-77CD40EF35B3}" type="parTrans" cxnId="{7597409E-B674-44AD-A85E-1A6AC5989884}">
      <dgm:prSet/>
      <dgm:spPr/>
      <dgm:t>
        <a:bodyPr/>
        <a:lstStyle/>
        <a:p>
          <a:endParaRPr lang="en-US"/>
        </a:p>
      </dgm:t>
    </dgm:pt>
    <dgm:pt modelId="{7AEB3244-8EC6-4AFC-A0F6-44B4D94CACAB}" type="sibTrans" cxnId="{7597409E-B674-44AD-A85E-1A6AC5989884}">
      <dgm:prSet/>
      <dgm:spPr/>
      <dgm:t>
        <a:bodyPr/>
        <a:lstStyle/>
        <a:p>
          <a:endParaRPr lang="en-US"/>
        </a:p>
      </dgm:t>
    </dgm:pt>
    <dgm:pt modelId="{2EB7D0C4-9D16-4736-96F2-20B74C8DB0EC}">
      <dgm:prSet/>
      <dgm:spPr/>
      <dgm:t>
        <a:bodyPr/>
        <a:lstStyle/>
        <a:p>
          <a:r>
            <a:rPr lang="tr-TR"/>
            <a:t>Ürün hazırlama </a:t>
          </a:r>
          <a:endParaRPr lang="en-US"/>
        </a:p>
      </dgm:t>
    </dgm:pt>
    <dgm:pt modelId="{BBCD7500-76D7-40A8-88FF-70178CC98D12}" type="parTrans" cxnId="{9B27DD79-EF79-456A-9CB7-06228A11F146}">
      <dgm:prSet/>
      <dgm:spPr/>
      <dgm:t>
        <a:bodyPr/>
        <a:lstStyle/>
        <a:p>
          <a:endParaRPr lang="en-US"/>
        </a:p>
      </dgm:t>
    </dgm:pt>
    <dgm:pt modelId="{4CB7F2BE-F474-422D-BF73-45986655B4FC}" type="sibTrans" cxnId="{9B27DD79-EF79-456A-9CB7-06228A11F146}">
      <dgm:prSet/>
      <dgm:spPr/>
      <dgm:t>
        <a:bodyPr/>
        <a:lstStyle/>
        <a:p>
          <a:endParaRPr lang="en-US"/>
        </a:p>
      </dgm:t>
    </dgm:pt>
    <dgm:pt modelId="{0ECBACF1-2926-4B52-9F56-32B5B3092A70}">
      <dgm:prSet/>
      <dgm:spPr/>
      <dgm:t>
        <a:bodyPr/>
        <a:lstStyle/>
        <a:p>
          <a:r>
            <a:rPr lang="tr-TR"/>
            <a:t>Ürün planlaması</a:t>
          </a:r>
          <a:endParaRPr lang="en-US"/>
        </a:p>
      </dgm:t>
    </dgm:pt>
    <dgm:pt modelId="{9EA9AF7F-37C5-4D53-BD10-8C65BD9E5919}" type="parTrans" cxnId="{2764FB64-7AB7-4EC7-AEC5-545A7335D1A8}">
      <dgm:prSet/>
      <dgm:spPr/>
      <dgm:t>
        <a:bodyPr/>
        <a:lstStyle/>
        <a:p>
          <a:endParaRPr lang="en-US"/>
        </a:p>
      </dgm:t>
    </dgm:pt>
    <dgm:pt modelId="{49F9F5E1-CEEB-4C0E-B8F3-F635E643FAA7}" type="sibTrans" cxnId="{2764FB64-7AB7-4EC7-AEC5-545A7335D1A8}">
      <dgm:prSet/>
      <dgm:spPr/>
      <dgm:t>
        <a:bodyPr/>
        <a:lstStyle/>
        <a:p>
          <a:endParaRPr lang="en-US"/>
        </a:p>
      </dgm:t>
    </dgm:pt>
    <dgm:pt modelId="{94F92608-0DE1-4741-A835-C69AE113A89A}">
      <dgm:prSet/>
      <dgm:spPr/>
      <dgm:t>
        <a:bodyPr/>
        <a:lstStyle/>
        <a:p>
          <a:r>
            <a:rPr lang="tr-TR"/>
            <a:t>Bilgi Akışı</a:t>
          </a:r>
          <a:endParaRPr lang="en-US"/>
        </a:p>
      </dgm:t>
    </dgm:pt>
    <dgm:pt modelId="{A24037B7-98CC-41EC-AC6F-C002BDCCF8EA}" type="parTrans" cxnId="{F6DD62B3-23DF-427E-8569-A41DB5CD6213}">
      <dgm:prSet/>
      <dgm:spPr/>
      <dgm:t>
        <a:bodyPr/>
        <a:lstStyle/>
        <a:p>
          <a:endParaRPr lang="en-US"/>
        </a:p>
      </dgm:t>
    </dgm:pt>
    <dgm:pt modelId="{60BB06F0-2EEE-40AF-A50F-69446BBFE679}" type="sibTrans" cxnId="{F6DD62B3-23DF-427E-8569-A41DB5CD6213}">
      <dgm:prSet/>
      <dgm:spPr/>
      <dgm:t>
        <a:bodyPr/>
        <a:lstStyle/>
        <a:p>
          <a:endParaRPr lang="en-US"/>
        </a:p>
      </dgm:t>
    </dgm:pt>
    <dgm:pt modelId="{7568A577-735B-49FF-895D-EC99AE9F4600}">
      <dgm:prSet/>
      <dgm:spPr/>
      <dgm:t>
        <a:bodyPr/>
        <a:lstStyle/>
        <a:p>
          <a:r>
            <a:rPr lang="tr-TR"/>
            <a:t>Elleçleme</a:t>
          </a:r>
          <a:endParaRPr lang="en-US"/>
        </a:p>
      </dgm:t>
    </dgm:pt>
    <dgm:pt modelId="{563C5EE1-5559-4410-A2CD-DA93EEB60003}" type="parTrans" cxnId="{BBE87E95-6090-4BC7-8106-1ACDAE9D228D}">
      <dgm:prSet/>
      <dgm:spPr/>
      <dgm:t>
        <a:bodyPr/>
        <a:lstStyle/>
        <a:p>
          <a:endParaRPr lang="en-US"/>
        </a:p>
      </dgm:t>
    </dgm:pt>
    <dgm:pt modelId="{F034EC61-C016-4B45-8BDA-96C2437C7F81}" type="sibTrans" cxnId="{BBE87E95-6090-4BC7-8106-1ACDAE9D228D}">
      <dgm:prSet/>
      <dgm:spPr/>
      <dgm:t>
        <a:bodyPr/>
        <a:lstStyle/>
        <a:p>
          <a:endParaRPr lang="en-US"/>
        </a:p>
      </dgm:t>
    </dgm:pt>
    <dgm:pt modelId="{F6FEDF89-7D57-47A1-91D2-626A22A9C14F}" type="pres">
      <dgm:prSet presAssocID="{487DFF9F-D1F2-4F70-9C60-AB05DD250FA5}" presName="linear" presStyleCnt="0">
        <dgm:presLayoutVars>
          <dgm:animLvl val="lvl"/>
          <dgm:resizeHandles val="exact"/>
        </dgm:presLayoutVars>
      </dgm:prSet>
      <dgm:spPr/>
    </dgm:pt>
    <dgm:pt modelId="{21929610-7C29-4506-AA39-1B73D0FB9CEB}" type="pres">
      <dgm:prSet presAssocID="{07B2F0AB-A2A8-406F-87AB-825F7A427D12}" presName="parentText" presStyleLbl="node1" presStyleIdx="0" presStyleCnt="7">
        <dgm:presLayoutVars>
          <dgm:chMax val="0"/>
          <dgm:bulletEnabled val="1"/>
        </dgm:presLayoutVars>
      </dgm:prSet>
      <dgm:spPr/>
    </dgm:pt>
    <dgm:pt modelId="{224E98B3-CAA7-4BD9-B2E5-95E61554A4D1}" type="pres">
      <dgm:prSet presAssocID="{DA92122D-4108-48E2-91A6-A7A29E7D9A67}" presName="spacer" presStyleCnt="0"/>
      <dgm:spPr/>
    </dgm:pt>
    <dgm:pt modelId="{5C607E5B-1092-4B4C-8CDD-859148F09CEF}" type="pres">
      <dgm:prSet presAssocID="{E8BE7D3B-F878-4ECA-9F32-4DD37C5968E3}" presName="parentText" presStyleLbl="node1" presStyleIdx="1" presStyleCnt="7">
        <dgm:presLayoutVars>
          <dgm:chMax val="0"/>
          <dgm:bulletEnabled val="1"/>
        </dgm:presLayoutVars>
      </dgm:prSet>
      <dgm:spPr/>
    </dgm:pt>
    <dgm:pt modelId="{E1FE7350-F0F6-4553-8D1A-8444CA69E4C5}" type="pres">
      <dgm:prSet presAssocID="{40E08944-B800-46EC-B8EF-5228B8839611}" presName="spacer" presStyleCnt="0"/>
      <dgm:spPr/>
    </dgm:pt>
    <dgm:pt modelId="{BEFBD85E-F26D-47A0-85A6-13A0381F4F02}" type="pres">
      <dgm:prSet presAssocID="{4F64B465-925F-4E90-88A1-53DED3BA82F2}" presName="parentText" presStyleLbl="node1" presStyleIdx="2" presStyleCnt="7">
        <dgm:presLayoutVars>
          <dgm:chMax val="0"/>
          <dgm:bulletEnabled val="1"/>
        </dgm:presLayoutVars>
      </dgm:prSet>
      <dgm:spPr/>
    </dgm:pt>
    <dgm:pt modelId="{DB85FE55-42D4-471A-B5F9-CB9A2AF9315B}" type="pres">
      <dgm:prSet presAssocID="{7AEB3244-8EC6-4AFC-A0F6-44B4D94CACAB}" presName="spacer" presStyleCnt="0"/>
      <dgm:spPr/>
    </dgm:pt>
    <dgm:pt modelId="{64BCAB75-C9AD-4A22-9AD7-B9B87E2FB9D9}" type="pres">
      <dgm:prSet presAssocID="{2EB7D0C4-9D16-4736-96F2-20B74C8DB0EC}" presName="parentText" presStyleLbl="node1" presStyleIdx="3" presStyleCnt="7">
        <dgm:presLayoutVars>
          <dgm:chMax val="0"/>
          <dgm:bulletEnabled val="1"/>
        </dgm:presLayoutVars>
      </dgm:prSet>
      <dgm:spPr/>
    </dgm:pt>
    <dgm:pt modelId="{9EA120F3-2718-4BE7-84F0-916AC5722D23}" type="pres">
      <dgm:prSet presAssocID="{4CB7F2BE-F474-422D-BF73-45986655B4FC}" presName="spacer" presStyleCnt="0"/>
      <dgm:spPr/>
    </dgm:pt>
    <dgm:pt modelId="{D7BF5697-3BD3-490E-86F1-C01FD8637333}" type="pres">
      <dgm:prSet presAssocID="{0ECBACF1-2926-4B52-9F56-32B5B3092A70}" presName="parentText" presStyleLbl="node1" presStyleIdx="4" presStyleCnt="7">
        <dgm:presLayoutVars>
          <dgm:chMax val="0"/>
          <dgm:bulletEnabled val="1"/>
        </dgm:presLayoutVars>
      </dgm:prSet>
      <dgm:spPr/>
    </dgm:pt>
    <dgm:pt modelId="{4A422667-87E7-4862-8FF7-993D027DAD2C}" type="pres">
      <dgm:prSet presAssocID="{49F9F5E1-CEEB-4C0E-B8F3-F635E643FAA7}" presName="spacer" presStyleCnt="0"/>
      <dgm:spPr/>
    </dgm:pt>
    <dgm:pt modelId="{58C91EB8-2EDD-4157-9C99-8E927E8108A5}" type="pres">
      <dgm:prSet presAssocID="{94F92608-0DE1-4741-A835-C69AE113A89A}" presName="parentText" presStyleLbl="node1" presStyleIdx="5" presStyleCnt="7">
        <dgm:presLayoutVars>
          <dgm:chMax val="0"/>
          <dgm:bulletEnabled val="1"/>
        </dgm:presLayoutVars>
      </dgm:prSet>
      <dgm:spPr/>
    </dgm:pt>
    <dgm:pt modelId="{800CDAAB-F554-4F1F-83A2-3E8F003E3707}" type="pres">
      <dgm:prSet presAssocID="{60BB06F0-2EEE-40AF-A50F-69446BBFE679}" presName="spacer" presStyleCnt="0"/>
      <dgm:spPr/>
    </dgm:pt>
    <dgm:pt modelId="{C4EAE2EC-FDE6-4CD0-81CD-16C439C5D993}" type="pres">
      <dgm:prSet presAssocID="{7568A577-735B-49FF-895D-EC99AE9F4600}" presName="parentText" presStyleLbl="node1" presStyleIdx="6" presStyleCnt="7">
        <dgm:presLayoutVars>
          <dgm:chMax val="0"/>
          <dgm:bulletEnabled val="1"/>
        </dgm:presLayoutVars>
      </dgm:prSet>
      <dgm:spPr/>
    </dgm:pt>
  </dgm:ptLst>
  <dgm:cxnLst>
    <dgm:cxn modelId="{0E82E240-AC41-46BE-89C8-03E1B4D51E1C}" type="presOf" srcId="{07B2F0AB-A2A8-406F-87AB-825F7A427D12}" destId="{21929610-7C29-4506-AA39-1B73D0FB9CEB}" srcOrd="0" destOrd="0" presId="urn:microsoft.com/office/officeart/2005/8/layout/vList2"/>
    <dgm:cxn modelId="{CFD5B45F-1AD6-466E-8610-998749BF859C}" type="presOf" srcId="{2EB7D0C4-9D16-4736-96F2-20B74C8DB0EC}" destId="{64BCAB75-C9AD-4A22-9AD7-B9B87E2FB9D9}" srcOrd="0" destOrd="0" presId="urn:microsoft.com/office/officeart/2005/8/layout/vList2"/>
    <dgm:cxn modelId="{F957D65F-B7E2-4161-A97F-3E5ACF31A230}" type="presOf" srcId="{94F92608-0DE1-4741-A835-C69AE113A89A}" destId="{58C91EB8-2EDD-4157-9C99-8E927E8108A5}" srcOrd="0" destOrd="0" presId="urn:microsoft.com/office/officeart/2005/8/layout/vList2"/>
    <dgm:cxn modelId="{2764FB64-7AB7-4EC7-AEC5-545A7335D1A8}" srcId="{487DFF9F-D1F2-4F70-9C60-AB05DD250FA5}" destId="{0ECBACF1-2926-4B52-9F56-32B5B3092A70}" srcOrd="4" destOrd="0" parTransId="{9EA9AF7F-37C5-4D53-BD10-8C65BD9E5919}" sibTransId="{49F9F5E1-CEEB-4C0E-B8F3-F635E643FAA7}"/>
    <dgm:cxn modelId="{9B27DD79-EF79-456A-9CB7-06228A11F146}" srcId="{487DFF9F-D1F2-4F70-9C60-AB05DD250FA5}" destId="{2EB7D0C4-9D16-4736-96F2-20B74C8DB0EC}" srcOrd="3" destOrd="0" parTransId="{BBCD7500-76D7-40A8-88FF-70178CC98D12}" sibTransId="{4CB7F2BE-F474-422D-BF73-45986655B4FC}"/>
    <dgm:cxn modelId="{26A86491-0AE3-4573-9C32-933E9093D095}" type="presOf" srcId="{E8BE7D3B-F878-4ECA-9F32-4DD37C5968E3}" destId="{5C607E5B-1092-4B4C-8CDD-859148F09CEF}" srcOrd="0" destOrd="0" presId="urn:microsoft.com/office/officeart/2005/8/layout/vList2"/>
    <dgm:cxn modelId="{BBE87E95-6090-4BC7-8106-1ACDAE9D228D}" srcId="{487DFF9F-D1F2-4F70-9C60-AB05DD250FA5}" destId="{7568A577-735B-49FF-895D-EC99AE9F4600}" srcOrd="6" destOrd="0" parTransId="{563C5EE1-5559-4410-A2CD-DA93EEB60003}" sibTransId="{F034EC61-C016-4B45-8BDA-96C2437C7F81}"/>
    <dgm:cxn modelId="{7597409E-B674-44AD-A85E-1A6AC5989884}" srcId="{487DFF9F-D1F2-4F70-9C60-AB05DD250FA5}" destId="{4F64B465-925F-4E90-88A1-53DED3BA82F2}" srcOrd="2" destOrd="0" parTransId="{E8777C8D-92E6-4E9F-83C1-77CD40EF35B3}" sibTransId="{7AEB3244-8EC6-4AFC-A0F6-44B4D94CACAB}"/>
    <dgm:cxn modelId="{F6DD62B3-23DF-427E-8569-A41DB5CD6213}" srcId="{487DFF9F-D1F2-4F70-9C60-AB05DD250FA5}" destId="{94F92608-0DE1-4741-A835-C69AE113A89A}" srcOrd="5" destOrd="0" parTransId="{A24037B7-98CC-41EC-AC6F-C002BDCCF8EA}" sibTransId="{60BB06F0-2EEE-40AF-A50F-69446BBFE679}"/>
    <dgm:cxn modelId="{85C3BDCD-EFA9-41FB-8F00-DF0AFB1843B2}" srcId="{487DFF9F-D1F2-4F70-9C60-AB05DD250FA5}" destId="{E8BE7D3B-F878-4ECA-9F32-4DD37C5968E3}" srcOrd="1" destOrd="0" parTransId="{1CC45D30-135F-4A07-A98D-FE7B5447BC87}" sibTransId="{40E08944-B800-46EC-B8EF-5228B8839611}"/>
    <dgm:cxn modelId="{216F93CF-97AA-4D8E-9772-523A86EA576E}" type="presOf" srcId="{7568A577-735B-49FF-895D-EC99AE9F4600}" destId="{C4EAE2EC-FDE6-4CD0-81CD-16C439C5D993}" srcOrd="0" destOrd="0" presId="urn:microsoft.com/office/officeart/2005/8/layout/vList2"/>
    <dgm:cxn modelId="{CB5174D1-27BA-4C56-8539-C81238B885E4}" srcId="{487DFF9F-D1F2-4F70-9C60-AB05DD250FA5}" destId="{07B2F0AB-A2A8-406F-87AB-825F7A427D12}" srcOrd="0" destOrd="0" parTransId="{A5116463-C1E4-4AD6-AC9E-1A61E56F932E}" sibTransId="{DA92122D-4108-48E2-91A6-A7A29E7D9A67}"/>
    <dgm:cxn modelId="{6953D6E2-0D21-45E3-9428-72CB67B1F33F}" type="presOf" srcId="{487DFF9F-D1F2-4F70-9C60-AB05DD250FA5}" destId="{F6FEDF89-7D57-47A1-91D2-626A22A9C14F}" srcOrd="0" destOrd="0" presId="urn:microsoft.com/office/officeart/2005/8/layout/vList2"/>
    <dgm:cxn modelId="{8B7BD6EE-0778-4456-B010-BE19CD2F77BE}" type="presOf" srcId="{0ECBACF1-2926-4B52-9F56-32B5B3092A70}" destId="{D7BF5697-3BD3-490E-86F1-C01FD8637333}" srcOrd="0" destOrd="0" presId="urn:microsoft.com/office/officeart/2005/8/layout/vList2"/>
    <dgm:cxn modelId="{95B329FF-95DB-4D6E-84AB-7B5BDFC08869}" type="presOf" srcId="{4F64B465-925F-4E90-88A1-53DED3BA82F2}" destId="{BEFBD85E-F26D-47A0-85A6-13A0381F4F02}" srcOrd="0" destOrd="0" presId="urn:microsoft.com/office/officeart/2005/8/layout/vList2"/>
    <dgm:cxn modelId="{EA730732-88E9-4833-8CEE-0644AA103E4E}" type="presParOf" srcId="{F6FEDF89-7D57-47A1-91D2-626A22A9C14F}" destId="{21929610-7C29-4506-AA39-1B73D0FB9CEB}" srcOrd="0" destOrd="0" presId="urn:microsoft.com/office/officeart/2005/8/layout/vList2"/>
    <dgm:cxn modelId="{47750D48-2710-461F-BF4F-0D2875E8BFE0}" type="presParOf" srcId="{F6FEDF89-7D57-47A1-91D2-626A22A9C14F}" destId="{224E98B3-CAA7-4BD9-B2E5-95E61554A4D1}" srcOrd="1" destOrd="0" presId="urn:microsoft.com/office/officeart/2005/8/layout/vList2"/>
    <dgm:cxn modelId="{881CF52E-4BB4-4B40-8E86-CEE83FA04646}" type="presParOf" srcId="{F6FEDF89-7D57-47A1-91D2-626A22A9C14F}" destId="{5C607E5B-1092-4B4C-8CDD-859148F09CEF}" srcOrd="2" destOrd="0" presId="urn:microsoft.com/office/officeart/2005/8/layout/vList2"/>
    <dgm:cxn modelId="{6159CD2C-9AF3-4DBF-B6CD-E437BD115D88}" type="presParOf" srcId="{F6FEDF89-7D57-47A1-91D2-626A22A9C14F}" destId="{E1FE7350-F0F6-4553-8D1A-8444CA69E4C5}" srcOrd="3" destOrd="0" presId="urn:microsoft.com/office/officeart/2005/8/layout/vList2"/>
    <dgm:cxn modelId="{D907DBE3-C3CA-4D00-86DA-D5B567088CA1}" type="presParOf" srcId="{F6FEDF89-7D57-47A1-91D2-626A22A9C14F}" destId="{BEFBD85E-F26D-47A0-85A6-13A0381F4F02}" srcOrd="4" destOrd="0" presId="urn:microsoft.com/office/officeart/2005/8/layout/vList2"/>
    <dgm:cxn modelId="{F3015471-A4D4-4049-AF46-398511C49EDA}" type="presParOf" srcId="{F6FEDF89-7D57-47A1-91D2-626A22A9C14F}" destId="{DB85FE55-42D4-471A-B5F9-CB9A2AF9315B}" srcOrd="5" destOrd="0" presId="urn:microsoft.com/office/officeart/2005/8/layout/vList2"/>
    <dgm:cxn modelId="{9D0C2E63-B4E6-4D70-AC88-F1AD37F0E74F}" type="presParOf" srcId="{F6FEDF89-7D57-47A1-91D2-626A22A9C14F}" destId="{64BCAB75-C9AD-4A22-9AD7-B9B87E2FB9D9}" srcOrd="6" destOrd="0" presId="urn:microsoft.com/office/officeart/2005/8/layout/vList2"/>
    <dgm:cxn modelId="{ABE5DE85-5999-436A-A0F5-F2A96514E684}" type="presParOf" srcId="{F6FEDF89-7D57-47A1-91D2-626A22A9C14F}" destId="{9EA120F3-2718-4BE7-84F0-916AC5722D23}" srcOrd="7" destOrd="0" presId="urn:microsoft.com/office/officeart/2005/8/layout/vList2"/>
    <dgm:cxn modelId="{9D141193-BE74-43F8-98D9-64068132594B}" type="presParOf" srcId="{F6FEDF89-7D57-47A1-91D2-626A22A9C14F}" destId="{D7BF5697-3BD3-490E-86F1-C01FD8637333}" srcOrd="8" destOrd="0" presId="urn:microsoft.com/office/officeart/2005/8/layout/vList2"/>
    <dgm:cxn modelId="{45C6355A-113E-429D-83A7-BF1573597666}" type="presParOf" srcId="{F6FEDF89-7D57-47A1-91D2-626A22A9C14F}" destId="{4A422667-87E7-4862-8FF7-993D027DAD2C}" srcOrd="9" destOrd="0" presId="urn:microsoft.com/office/officeart/2005/8/layout/vList2"/>
    <dgm:cxn modelId="{C523E4FB-5984-49F0-B5C8-E38EA1EDC7C3}" type="presParOf" srcId="{F6FEDF89-7D57-47A1-91D2-626A22A9C14F}" destId="{58C91EB8-2EDD-4157-9C99-8E927E8108A5}" srcOrd="10" destOrd="0" presId="urn:microsoft.com/office/officeart/2005/8/layout/vList2"/>
    <dgm:cxn modelId="{B4927F3E-EDE8-44E0-9686-0DAD8F051DAD}" type="presParOf" srcId="{F6FEDF89-7D57-47A1-91D2-626A22A9C14F}" destId="{800CDAAB-F554-4F1F-83A2-3E8F003E3707}" srcOrd="11" destOrd="0" presId="urn:microsoft.com/office/officeart/2005/8/layout/vList2"/>
    <dgm:cxn modelId="{3794FD15-39C5-4D92-855C-DBD782467A7C}" type="presParOf" srcId="{F6FEDF89-7D57-47A1-91D2-626A22A9C14F}" destId="{C4EAE2EC-FDE6-4CD0-81CD-16C439C5D993}" srcOrd="1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D23A75-B21C-46FF-AA3E-3FA734B05C7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6BA1E9A-9F69-43A5-A9B8-71B30160BFC4}">
      <dgm:prSet/>
      <dgm:spPr/>
      <dgm:t>
        <a:bodyPr/>
        <a:lstStyle/>
        <a:p>
          <a:pPr>
            <a:defRPr cap="all"/>
          </a:pPr>
          <a:r>
            <a:rPr lang="tr-TR"/>
            <a:t>Karayolu Taşımacılığı</a:t>
          </a:r>
          <a:endParaRPr lang="en-US"/>
        </a:p>
      </dgm:t>
    </dgm:pt>
    <dgm:pt modelId="{4F5E3DD5-310E-4E1E-BCB5-E050209CADD0}" type="parTrans" cxnId="{5B7F0D5C-2074-49F8-BC15-3E7BDCF051DE}">
      <dgm:prSet/>
      <dgm:spPr/>
      <dgm:t>
        <a:bodyPr/>
        <a:lstStyle/>
        <a:p>
          <a:endParaRPr lang="en-US"/>
        </a:p>
      </dgm:t>
    </dgm:pt>
    <dgm:pt modelId="{650B1A3B-BF79-4986-8E6A-F8845B960C54}" type="sibTrans" cxnId="{5B7F0D5C-2074-49F8-BC15-3E7BDCF051DE}">
      <dgm:prSet/>
      <dgm:spPr/>
      <dgm:t>
        <a:bodyPr/>
        <a:lstStyle/>
        <a:p>
          <a:endParaRPr lang="en-US"/>
        </a:p>
      </dgm:t>
    </dgm:pt>
    <dgm:pt modelId="{20DD1230-0028-42A3-AB71-65EC55026E95}">
      <dgm:prSet/>
      <dgm:spPr/>
      <dgm:t>
        <a:bodyPr/>
        <a:lstStyle/>
        <a:p>
          <a:pPr>
            <a:defRPr cap="all"/>
          </a:pPr>
          <a:r>
            <a:rPr lang="tr-TR"/>
            <a:t>Demiryolu Taşımacılığı</a:t>
          </a:r>
          <a:endParaRPr lang="en-US"/>
        </a:p>
      </dgm:t>
    </dgm:pt>
    <dgm:pt modelId="{F74FB17B-AB2F-4DB4-9177-C67593B6FEBD}" type="parTrans" cxnId="{4D8CB04A-8B96-471C-AA1E-113E76E3D162}">
      <dgm:prSet/>
      <dgm:spPr/>
      <dgm:t>
        <a:bodyPr/>
        <a:lstStyle/>
        <a:p>
          <a:endParaRPr lang="en-US"/>
        </a:p>
      </dgm:t>
    </dgm:pt>
    <dgm:pt modelId="{979CC09F-9A77-4981-9200-C962DB9B2B80}" type="sibTrans" cxnId="{4D8CB04A-8B96-471C-AA1E-113E76E3D162}">
      <dgm:prSet/>
      <dgm:spPr/>
      <dgm:t>
        <a:bodyPr/>
        <a:lstStyle/>
        <a:p>
          <a:endParaRPr lang="en-US"/>
        </a:p>
      </dgm:t>
    </dgm:pt>
    <dgm:pt modelId="{1A7A6174-EF6E-4748-86E9-E298DB50A350}">
      <dgm:prSet/>
      <dgm:spPr/>
      <dgm:t>
        <a:bodyPr/>
        <a:lstStyle/>
        <a:p>
          <a:pPr>
            <a:defRPr cap="all"/>
          </a:pPr>
          <a:r>
            <a:rPr lang="tr-TR"/>
            <a:t>Denizyolu Taşımacılığı</a:t>
          </a:r>
          <a:endParaRPr lang="en-US"/>
        </a:p>
      </dgm:t>
    </dgm:pt>
    <dgm:pt modelId="{104026C3-6E0B-4381-A7B7-7618F2088A5D}" type="parTrans" cxnId="{447FB55B-6709-451A-9E94-AEBF11363998}">
      <dgm:prSet/>
      <dgm:spPr/>
      <dgm:t>
        <a:bodyPr/>
        <a:lstStyle/>
        <a:p>
          <a:endParaRPr lang="en-US"/>
        </a:p>
      </dgm:t>
    </dgm:pt>
    <dgm:pt modelId="{5B06D6F4-F7B0-4B97-BE86-8616F8ACEB58}" type="sibTrans" cxnId="{447FB55B-6709-451A-9E94-AEBF11363998}">
      <dgm:prSet/>
      <dgm:spPr/>
      <dgm:t>
        <a:bodyPr/>
        <a:lstStyle/>
        <a:p>
          <a:endParaRPr lang="en-US"/>
        </a:p>
      </dgm:t>
    </dgm:pt>
    <dgm:pt modelId="{4FBD00E2-E335-4C09-BD9C-24F9F16252F2}">
      <dgm:prSet/>
      <dgm:spPr/>
      <dgm:t>
        <a:bodyPr/>
        <a:lstStyle/>
        <a:p>
          <a:pPr>
            <a:defRPr cap="all"/>
          </a:pPr>
          <a:r>
            <a:rPr lang="tr-TR"/>
            <a:t>Havayolu Taşımacılığı</a:t>
          </a:r>
          <a:endParaRPr lang="en-US"/>
        </a:p>
      </dgm:t>
    </dgm:pt>
    <dgm:pt modelId="{1643D51A-0CEA-4829-BA10-BB973FB1BE8D}" type="parTrans" cxnId="{F4909AB3-BE39-4DF1-B7BE-63E7653B288D}">
      <dgm:prSet/>
      <dgm:spPr/>
      <dgm:t>
        <a:bodyPr/>
        <a:lstStyle/>
        <a:p>
          <a:endParaRPr lang="en-US"/>
        </a:p>
      </dgm:t>
    </dgm:pt>
    <dgm:pt modelId="{1BFAFCB3-529E-4381-85B3-A66A86E7013D}" type="sibTrans" cxnId="{F4909AB3-BE39-4DF1-B7BE-63E7653B288D}">
      <dgm:prSet/>
      <dgm:spPr/>
      <dgm:t>
        <a:bodyPr/>
        <a:lstStyle/>
        <a:p>
          <a:endParaRPr lang="en-US"/>
        </a:p>
      </dgm:t>
    </dgm:pt>
    <dgm:pt modelId="{0776F2E6-9FBF-468F-A3C3-BD313CC0D4D2}">
      <dgm:prSet/>
      <dgm:spPr/>
      <dgm:t>
        <a:bodyPr/>
        <a:lstStyle/>
        <a:p>
          <a:pPr>
            <a:defRPr cap="all"/>
          </a:pPr>
          <a:r>
            <a:rPr lang="tr-TR"/>
            <a:t>Boru Hattı Taşımacılığı</a:t>
          </a:r>
          <a:endParaRPr lang="en-US"/>
        </a:p>
      </dgm:t>
    </dgm:pt>
    <dgm:pt modelId="{C0C8A6E6-E03F-41C1-BB4A-C72612E6C2EA}" type="parTrans" cxnId="{0FECBEC4-EBC0-45AF-AA11-B19096FBEBE9}">
      <dgm:prSet/>
      <dgm:spPr/>
      <dgm:t>
        <a:bodyPr/>
        <a:lstStyle/>
        <a:p>
          <a:endParaRPr lang="en-US"/>
        </a:p>
      </dgm:t>
    </dgm:pt>
    <dgm:pt modelId="{CD1898A2-87D1-4265-8C75-27F8079106A2}" type="sibTrans" cxnId="{0FECBEC4-EBC0-45AF-AA11-B19096FBEBE9}">
      <dgm:prSet/>
      <dgm:spPr/>
      <dgm:t>
        <a:bodyPr/>
        <a:lstStyle/>
        <a:p>
          <a:endParaRPr lang="en-US"/>
        </a:p>
      </dgm:t>
    </dgm:pt>
    <dgm:pt modelId="{F217F725-6243-432B-A366-9B8446343CDC}">
      <dgm:prSet/>
      <dgm:spPr/>
      <dgm:t>
        <a:bodyPr/>
        <a:lstStyle/>
        <a:p>
          <a:pPr>
            <a:defRPr cap="all"/>
          </a:pPr>
          <a:r>
            <a:rPr lang="tr-TR"/>
            <a:t>Nehir (iç su yolları) Taşımacılığı</a:t>
          </a:r>
          <a:endParaRPr lang="en-US"/>
        </a:p>
      </dgm:t>
    </dgm:pt>
    <dgm:pt modelId="{6C09DF2E-683D-400C-8B3B-F6620BF6ABD7}" type="parTrans" cxnId="{7A946D43-91AC-4F70-A6A9-C9E341308B62}">
      <dgm:prSet/>
      <dgm:spPr/>
      <dgm:t>
        <a:bodyPr/>
        <a:lstStyle/>
        <a:p>
          <a:endParaRPr lang="en-US"/>
        </a:p>
      </dgm:t>
    </dgm:pt>
    <dgm:pt modelId="{6D2317DE-749D-4240-85C5-EE8206E8B955}" type="sibTrans" cxnId="{7A946D43-91AC-4F70-A6A9-C9E341308B62}">
      <dgm:prSet/>
      <dgm:spPr/>
      <dgm:t>
        <a:bodyPr/>
        <a:lstStyle/>
        <a:p>
          <a:endParaRPr lang="en-US"/>
        </a:p>
      </dgm:t>
    </dgm:pt>
    <dgm:pt modelId="{FC09C79B-6114-4668-BC7F-41BE2FA0E0EB}" type="pres">
      <dgm:prSet presAssocID="{38D23A75-B21C-46FF-AA3E-3FA734B05C7D}" presName="root" presStyleCnt="0">
        <dgm:presLayoutVars>
          <dgm:dir/>
          <dgm:resizeHandles val="exact"/>
        </dgm:presLayoutVars>
      </dgm:prSet>
      <dgm:spPr/>
    </dgm:pt>
    <dgm:pt modelId="{79889BF7-A3A2-43D4-AC53-45E31D1E1EED}" type="pres">
      <dgm:prSet presAssocID="{66BA1E9A-9F69-43A5-A9B8-71B30160BFC4}" presName="compNode" presStyleCnt="0"/>
      <dgm:spPr/>
    </dgm:pt>
    <dgm:pt modelId="{123F258B-AC27-42D6-8E7C-E90796204A10}" type="pres">
      <dgm:prSet presAssocID="{66BA1E9A-9F69-43A5-A9B8-71B30160BFC4}" presName="iconBgRect" presStyleLbl="bgShp" presStyleIdx="0" presStyleCnt="6"/>
      <dgm:spPr>
        <a:prstGeom prst="round2DiagRect">
          <a:avLst>
            <a:gd name="adj1" fmla="val 29727"/>
            <a:gd name="adj2" fmla="val 0"/>
          </a:avLst>
        </a:prstGeom>
      </dgm:spPr>
    </dgm:pt>
    <dgm:pt modelId="{6F9960F0-0198-4C9D-8C0C-AEB5C91CA90E}" type="pres">
      <dgm:prSet presAssocID="{66BA1E9A-9F69-43A5-A9B8-71B30160BFC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aba"/>
        </a:ext>
      </dgm:extLst>
    </dgm:pt>
    <dgm:pt modelId="{AD287866-6A08-41DC-BADD-898B3BA2BBD0}" type="pres">
      <dgm:prSet presAssocID="{66BA1E9A-9F69-43A5-A9B8-71B30160BFC4}" presName="spaceRect" presStyleCnt="0"/>
      <dgm:spPr/>
    </dgm:pt>
    <dgm:pt modelId="{9A53C62E-2679-4E31-9F51-F8D3B94C5141}" type="pres">
      <dgm:prSet presAssocID="{66BA1E9A-9F69-43A5-A9B8-71B30160BFC4}" presName="textRect" presStyleLbl="revTx" presStyleIdx="0" presStyleCnt="6">
        <dgm:presLayoutVars>
          <dgm:chMax val="1"/>
          <dgm:chPref val="1"/>
        </dgm:presLayoutVars>
      </dgm:prSet>
      <dgm:spPr/>
    </dgm:pt>
    <dgm:pt modelId="{BB166B85-1C51-4FEC-91A5-F9B6340CC4CE}" type="pres">
      <dgm:prSet presAssocID="{650B1A3B-BF79-4986-8E6A-F8845B960C54}" presName="sibTrans" presStyleCnt="0"/>
      <dgm:spPr/>
    </dgm:pt>
    <dgm:pt modelId="{A7909B5C-FF2E-45A8-950E-064E9AD6AD99}" type="pres">
      <dgm:prSet presAssocID="{20DD1230-0028-42A3-AB71-65EC55026E95}" presName="compNode" presStyleCnt="0"/>
      <dgm:spPr/>
    </dgm:pt>
    <dgm:pt modelId="{0E189FBF-B774-4BE7-8978-37EE354C8239}" type="pres">
      <dgm:prSet presAssocID="{20DD1230-0028-42A3-AB71-65EC55026E95}" presName="iconBgRect" presStyleLbl="bgShp" presStyleIdx="1" presStyleCnt="6"/>
      <dgm:spPr>
        <a:prstGeom prst="round2DiagRect">
          <a:avLst>
            <a:gd name="adj1" fmla="val 29727"/>
            <a:gd name="adj2" fmla="val 0"/>
          </a:avLst>
        </a:prstGeom>
      </dgm:spPr>
    </dgm:pt>
    <dgm:pt modelId="{DF88E2DC-0574-4A75-9F14-23C8D3A46A60}" type="pres">
      <dgm:prSet presAssocID="{20DD1230-0028-42A3-AB71-65EC55026E9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ğit"/>
        </a:ext>
      </dgm:extLst>
    </dgm:pt>
    <dgm:pt modelId="{538A5BDA-810E-4DC6-97AE-7FB86EA410FA}" type="pres">
      <dgm:prSet presAssocID="{20DD1230-0028-42A3-AB71-65EC55026E95}" presName="spaceRect" presStyleCnt="0"/>
      <dgm:spPr/>
    </dgm:pt>
    <dgm:pt modelId="{731078BA-DD8B-4D89-9980-625F6B0846C0}" type="pres">
      <dgm:prSet presAssocID="{20DD1230-0028-42A3-AB71-65EC55026E95}" presName="textRect" presStyleLbl="revTx" presStyleIdx="1" presStyleCnt="6">
        <dgm:presLayoutVars>
          <dgm:chMax val="1"/>
          <dgm:chPref val="1"/>
        </dgm:presLayoutVars>
      </dgm:prSet>
      <dgm:spPr/>
    </dgm:pt>
    <dgm:pt modelId="{83A56CB1-DE92-42EC-8D78-8D7FAD8A21DF}" type="pres">
      <dgm:prSet presAssocID="{979CC09F-9A77-4981-9200-C962DB9B2B80}" presName="sibTrans" presStyleCnt="0"/>
      <dgm:spPr/>
    </dgm:pt>
    <dgm:pt modelId="{CC8D9D9A-887F-4720-9B29-D7BF073DB12D}" type="pres">
      <dgm:prSet presAssocID="{1A7A6174-EF6E-4748-86E9-E298DB50A350}" presName="compNode" presStyleCnt="0"/>
      <dgm:spPr/>
    </dgm:pt>
    <dgm:pt modelId="{087637AC-BC27-4140-8F84-D7773E73A50A}" type="pres">
      <dgm:prSet presAssocID="{1A7A6174-EF6E-4748-86E9-E298DB50A350}" presName="iconBgRect" presStyleLbl="bgShp" presStyleIdx="2" presStyleCnt="6"/>
      <dgm:spPr>
        <a:prstGeom prst="round2DiagRect">
          <a:avLst>
            <a:gd name="adj1" fmla="val 29727"/>
            <a:gd name="adj2" fmla="val 0"/>
          </a:avLst>
        </a:prstGeom>
        <a:blipFill rotWithShape="0">
          <a:blip xmlns:r="http://schemas.openxmlformats.org/officeDocument/2006/relationships" r:embed="rId5" cstate="email">
            <a:extLst>
              <a:ext uri="{28A0092B-C50C-407E-A947-70E740481C1C}">
                <a14:useLocalDpi xmlns:a14="http://schemas.microsoft.com/office/drawing/2010/main"/>
              </a:ext>
            </a:extLst>
          </a:blip>
          <a:srcRect/>
          <a:stretch>
            <a:fillRect/>
          </a:stretch>
        </a:blipFill>
      </dgm:spPr>
    </dgm:pt>
    <dgm:pt modelId="{5AD39A23-88E6-4B49-AEE7-4D795191B9BE}" type="pres">
      <dgm:prSet presAssocID="{1A7A6174-EF6E-4748-86E9-E298DB50A350}" presName="iconRect" presStyleLbl="node1" presStyleIdx="2" presStyleCnt="6"/>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Onay işareti"/>
        </a:ext>
      </dgm:extLst>
    </dgm:pt>
    <dgm:pt modelId="{0A836BF6-F321-46EE-8180-5D37C5EF402A}" type="pres">
      <dgm:prSet presAssocID="{1A7A6174-EF6E-4748-86E9-E298DB50A350}" presName="spaceRect" presStyleCnt="0"/>
      <dgm:spPr/>
    </dgm:pt>
    <dgm:pt modelId="{A6C4E694-0C84-4FB3-8121-076B573C05AA}" type="pres">
      <dgm:prSet presAssocID="{1A7A6174-EF6E-4748-86E9-E298DB50A350}" presName="textRect" presStyleLbl="revTx" presStyleIdx="2" presStyleCnt="6">
        <dgm:presLayoutVars>
          <dgm:chMax val="1"/>
          <dgm:chPref val="1"/>
        </dgm:presLayoutVars>
      </dgm:prSet>
      <dgm:spPr/>
    </dgm:pt>
    <dgm:pt modelId="{2605A4C2-9201-46A2-8A3C-9B36118F4C44}" type="pres">
      <dgm:prSet presAssocID="{5B06D6F4-F7B0-4B97-BE86-8616F8ACEB58}" presName="sibTrans" presStyleCnt="0"/>
      <dgm:spPr/>
    </dgm:pt>
    <dgm:pt modelId="{57B53A92-88F4-4A8C-BE7B-04C2A06C3976}" type="pres">
      <dgm:prSet presAssocID="{4FBD00E2-E335-4C09-BD9C-24F9F16252F2}" presName="compNode" presStyleCnt="0"/>
      <dgm:spPr/>
    </dgm:pt>
    <dgm:pt modelId="{B7BF4A6D-E7CE-4750-87FE-92ACEA8EA5D7}" type="pres">
      <dgm:prSet presAssocID="{4FBD00E2-E335-4C09-BD9C-24F9F16252F2}" presName="iconBgRect" presStyleLbl="bgShp" presStyleIdx="3" presStyleCnt="6"/>
      <dgm:spPr>
        <a:prstGeom prst="round2DiagRect">
          <a:avLst>
            <a:gd name="adj1" fmla="val 29727"/>
            <a:gd name="adj2" fmla="val 0"/>
          </a:avLst>
        </a:prstGeom>
      </dgm:spPr>
    </dgm:pt>
    <dgm:pt modelId="{C4802F1C-73E0-4B90-8478-315E0FE4E83E}" type="pres">
      <dgm:prSet presAssocID="{4FBD00E2-E335-4C09-BD9C-24F9F16252F2}" presName="iconRect" presStyleLbl="node1" presStyleIdx="3" presStyleCnt="6"/>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Uçak"/>
        </a:ext>
      </dgm:extLst>
    </dgm:pt>
    <dgm:pt modelId="{0BF7EA01-E821-4BD0-8DC0-8D8DD84493D0}" type="pres">
      <dgm:prSet presAssocID="{4FBD00E2-E335-4C09-BD9C-24F9F16252F2}" presName="spaceRect" presStyleCnt="0"/>
      <dgm:spPr/>
    </dgm:pt>
    <dgm:pt modelId="{182DD0D5-12E8-4672-A6A7-FD8C899DE890}" type="pres">
      <dgm:prSet presAssocID="{4FBD00E2-E335-4C09-BD9C-24F9F16252F2}" presName="textRect" presStyleLbl="revTx" presStyleIdx="3" presStyleCnt="6">
        <dgm:presLayoutVars>
          <dgm:chMax val="1"/>
          <dgm:chPref val="1"/>
        </dgm:presLayoutVars>
      </dgm:prSet>
      <dgm:spPr/>
    </dgm:pt>
    <dgm:pt modelId="{B85C221E-85D7-4C4B-B828-F382BE08BEB5}" type="pres">
      <dgm:prSet presAssocID="{1BFAFCB3-529E-4381-85B3-A66A86E7013D}" presName="sibTrans" presStyleCnt="0"/>
      <dgm:spPr/>
    </dgm:pt>
    <dgm:pt modelId="{A65C9AD9-C8E5-4C71-9821-DB00AC94602E}" type="pres">
      <dgm:prSet presAssocID="{0776F2E6-9FBF-468F-A3C3-BD313CC0D4D2}" presName="compNode" presStyleCnt="0"/>
      <dgm:spPr/>
    </dgm:pt>
    <dgm:pt modelId="{DBC10CCB-4FC9-4A98-A2C7-876B4AD7716C}" type="pres">
      <dgm:prSet presAssocID="{0776F2E6-9FBF-468F-A3C3-BD313CC0D4D2}" presName="iconBgRect" presStyleLbl="bgShp" presStyleIdx="4" presStyleCnt="6"/>
      <dgm:spPr>
        <a:prstGeom prst="round2DiagRect">
          <a:avLst>
            <a:gd name="adj1" fmla="val 29727"/>
            <a:gd name="adj2" fmla="val 0"/>
          </a:avLst>
        </a:prstGeom>
      </dgm:spPr>
    </dgm:pt>
    <dgm:pt modelId="{EBECF16F-DB84-4ED5-917E-16A2CAE23B37}" type="pres">
      <dgm:prSet presAssocID="{0776F2E6-9FBF-468F-A3C3-BD313CC0D4D2}" presName="iconRect" presStyleLbl="node1" presStyleIdx="4" presStyleCnt="6" custScaleX="187628" custScaleY="193444"/>
      <dgm:spPr>
        <a:blipFill rotWithShape="1">
          <a:blip xmlns:r="http://schemas.openxmlformats.org/officeDocument/2006/relationships" r:embed="rId10" cstate="email">
            <a:extLst>
              <a:ext uri="{28A0092B-C50C-407E-A947-70E740481C1C}">
                <a14:useLocalDpi xmlns:a14="http://schemas.microsoft.com/office/drawing/2010/main"/>
              </a:ext>
            </a:extLst>
          </a:blip>
          <a:srcRect/>
          <a:stretch>
            <a:fillRect/>
          </a:stretch>
        </a:blipFill>
        <a:ln>
          <a:noFill/>
        </a:ln>
      </dgm:spPr>
    </dgm:pt>
    <dgm:pt modelId="{E85821BD-CF92-4CFC-8939-8B42E46380F4}" type="pres">
      <dgm:prSet presAssocID="{0776F2E6-9FBF-468F-A3C3-BD313CC0D4D2}" presName="spaceRect" presStyleCnt="0"/>
      <dgm:spPr/>
    </dgm:pt>
    <dgm:pt modelId="{69C49A00-1BF0-49C0-96AA-9E0AA210E214}" type="pres">
      <dgm:prSet presAssocID="{0776F2E6-9FBF-468F-A3C3-BD313CC0D4D2}" presName="textRect" presStyleLbl="revTx" presStyleIdx="4" presStyleCnt="6">
        <dgm:presLayoutVars>
          <dgm:chMax val="1"/>
          <dgm:chPref val="1"/>
        </dgm:presLayoutVars>
      </dgm:prSet>
      <dgm:spPr/>
    </dgm:pt>
    <dgm:pt modelId="{24D231CE-20D3-4C1E-821C-FBC3CA8A30F8}" type="pres">
      <dgm:prSet presAssocID="{CD1898A2-87D1-4265-8C75-27F8079106A2}" presName="sibTrans" presStyleCnt="0"/>
      <dgm:spPr/>
    </dgm:pt>
    <dgm:pt modelId="{103A5B1B-6C7D-42B3-A713-52B35D9E96C4}" type="pres">
      <dgm:prSet presAssocID="{F217F725-6243-432B-A366-9B8446343CDC}" presName="compNode" presStyleCnt="0"/>
      <dgm:spPr/>
    </dgm:pt>
    <dgm:pt modelId="{A232C58C-8A7A-4358-B7BC-3B7C54C0A652}" type="pres">
      <dgm:prSet presAssocID="{F217F725-6243-432B-A366-9B8446343CDC}" presName="iconBgRect" presStyleLbl="bgShp" presStyleIdx="5" presStyleCnt="6"/>
      <dgm:spPr>
        <a:prstGeom prst="round2DiagRect">
          <a:avLst>
            <a:gd name="adj1" fmla="val 29727"/>
            <a:gd name="adj2" fmla="val 0"/>
          </a:avLst>
        </a:prstGeom>
      </dgm:spPr>
    </dgm:pt>
    <dgm:pt modelId="{2EC925FF-ADF5-4E9F-B66C-17B4FC03AECB}" type="pres">
      <dgm:prSet presAssocID="{F217F725-6243-432B-A366-9B8446343CDC}" presName="iconRect" presStyleLbl="node1" presStyleIdx="5" presStyleCnt="6" custScaleX="184627" custScaleY="165343"/>
      <dgm:spPr>
        <a:blipFill rotWithShape="1">
          <a:blip xmlns:r="http://schemas.openxmlformats.org/officeDocument/2006/relationships" r:embed="rId11" cstate="email">
            <a:extLst>
              <a:ext uri="{28A0092B-C50C-407E-A947-70E740481C1C}">
                <a14:useLocalDpi xmlns:a14="http://schemas.microsoft.com/office/drawing/2010/main"/>
              </a:ext>
            </a:extLst>
          </a:blip>
          <a:srcRect/>
          <a:stretch>
            <a:fillRect/>
          </a:stretch>
        </a:blipFill>
        <a:ln>
          <a:noFill/>
        </a:ln>
      </dgm:spPr>
      <dgm:extLst>
        <a:ext uri="{E40237B7-FDA0-4F09-8148-C483321AD2D9}">
          <dgm14:cNvPr xmlns:dgm14="http://schemas.microsoft.com/office/drawing/2010/diagram" id="0" name="" descr="Waterfall scene"/>
        </a:ext>
      </dgm:extLst>
    </dgm:pt>
    <dgm:pt modelId="{034B6ADF-3DF5-46E1-9601-E4E54A96750E}" type="pres">
      <dgm:prSet presAssocID="{F217F725-6243-432B-A366-9B8446343CDC}" presName="spaceRect" presStyleCnt="0"/>
      <dgm:spPr/>
    </dgm:pt>
    <dgm:pt modelId="{139F749E-B45D-4911-BC14-5E829B33B7E3}" type="pres">
      <dgm:prSet presAssocID="{F217F725-6243-432B-A366-9B8446343CDC}" presName="textRect" presStyleLbl="revTx" presStyleIdx="5" presStyleCnt="6">
        <dgm:presLayoutVars>
          <dgm:chMax val="1"/>
          <dgm:chPref val="1"/>
        </dgm:presLayoutVars>
      </dgm:prSet>
      <dgm:spPr/>
    </dgm:pt>
  </dgm:ptLst>
  <dgm:cxnLst>
    <dgm:cxn modelId="{71F2FA16-CE54-44D6-BC5B-F102126F44D8}" type="presOf" srcId="{66BA1E9A-9F69-43A5-A9B8-71B30160BFC4}" destId="{9A53C62E-2679-4E31-9F51-F8D3B94C5141}" srcOrd="0" destOrd="0" presId="urn:microsoft.com/office/officeart/2018/5/layout/IconLeafLabelList"/>
    <dgm:cxn modelId="{447FB55B-6709-451A-9E94-AEBF11363998}" srcId="{38D23A75-B21C-46FF-AA3E-3FA734B05C7D}" destId="{1A7A6174-EF6E-4748-86E9-E298DB50A350}" srcOrd="2" destOrd="0" parTransId="{104026C3-6E0B-4381-A7B7-7618F2088A5D}" sibTransId="{5B06D6F4-F7B0-4B97-BE86-8616F8ACEB58}"/>
    <dgm:cxn modelId="{5B7F0D5C-2074-49F8-BC15-3E7BDCF051DE}" srcId="{38D23A75-B21C-46FF-AA3E-3FA734B05C7D}" destId="{66BA1E9A-9F69-43A5-A9B8-71B30160BFC4}" srcOrd="0" destOrd="0" parTransId="{4F5E3DD5-310E-4E1E-BCB5-E050209CADD0}" sibTransId="{650B1A3B-BF79-4986-8E6A-F8845B960C54}"/>
    <dgm:cxn modelId="{7A946D43-91AC-4F70-A6A9-C9E341308B62}" srcId="{38D23A75-B21C-46FF-AA3E-3FA734B05C7D}" destId="{F217F725-6243-432B-A366-9B8446343CDC}" srcOrd="5" destOrd="0" parTransId="{6C09DF2E-683D-400C-8B3B-F6620BF6ABD7}" sibTransId="{6D2317DE-749D-4240-85C5-EE8206E8B955}"/>
    <dgm:cxn modelId="{4D8CB04A-8B96-471C-AA1E-113E76E3D162}" srcId="{38D23A75-B21C-46FF-AA3E-3FA734B05C7D}" destId="{20DD1230-0028-42A3-AB71-65EC55026E95}" srcOrd="1" destOrd="0" parTransId="{F74FB17B-AB2F-4DB4-9177-C67593B6FEBD}" sibTransId="{979CC09F-9A77-4981-9200-C962DB9B2B80}"/>
    <dgm:cxn modelId="{C4246852-AF94-486A-899C-CD7C2A60665E}" type="presOf" srcId="{38D23A75-B21C-46FF-AA3E-3FA734B05C7D}" destId="{FC09C79B-6114-4668-BC7F-41BE2FA0E0EB}" srcOrd="0" destOrd="0" presId="urn:microsoft.com/office/officeart/2018/5/layout/IconLeafLabelList"/>
    <dgm:cxn modelId="{04CB9E90-B605-4B0A-86E6-A495B53EAEC8}" type="presOf" srcId="{F217F725-6243-432B-A366-9B8446343CDC}" destId="{139F749E-B45D-4911-BC14-5E829B33B7E3}" srcOrd="0" destOrd="0" presId="urn:microsoft.com/office/officeart/2018/5/layout/IconLeafLabelList"/>
    <dgm:cxn modelId="{6759E6A2-0857-447C-9B1E-45B6C54AA00E}" type="presOf" srcId="{20DD1230-0028-42A3-AB71-65EC55026E95}" destId="{731078BA-DD8B-4D89-9980-625F6B0846C0}" srcOrd="0" destOrd="0" presId="urn:microsoft.com/office/officeart/2018/5/layout/IconLeafLabelList"/>
    <dgm:cxn modelId="{F4909AB3-BE39-4DF1-B7BE-63E7653B288D}" srcId="{38D23A75-B21C-46FF-AA3E-3FA734B05C7D}" destId="{4FBD00E2-E335-4C09-BD9C-24F9F16252F2}" srcOrd="3" destOrd="0" parTransId="{1643D51A-0CEA-4829-BA10-BB973FB1BE8D}" sibTransId="{1BFAFCB3-529E-4381-85B3-A66A86E7013D}"/>
    <dgm:cxn modelId="{4F25F1BF-E3BB-4FFF-B22F-CDA57A3B0B00}" type="presOf" srcId="{1A7A6174-EF6E-4748-86E9-E298DB50A350}" destId="{A6C4E694-0C84-4FB3-8121-076B573C05AA}" srcOrd="0" destOrd="0" presId="urn:microsoft.com/office/officeart/2018/5/layout/IconLeafLabelList"/>
    <dgm:cxn modelId="{0FECBEC4-EBC0-45AF-AA11-B19096FBEBE9}" srcId="{38D23A75-B21C-46FF-AA3E-3FA734B05C7D}" destId="{0776F2E6-9FBF-468F-A3C3-BD313CC0D4D2}" srcOrd="4" destOrd="0" parTransId="{C0C8A6E6-E03F-41C1-BB4A-C72612E6C2EA}" sibTransId="{CD1898A2-87D1-4265-8C75-27F8079106A2}"/>
    <dgm:cxn modelId="{FEE4DED7-2DD7-4964-856B-AFEED6B50793}" type="presOf" srcId="{4FBD00E2-E335-4C09-BD9C-24F9F16252F2}" destId="{182DD0D5-12E8-4672-A6A7-FD8C899DE890}" srcOrd="0" destOrd="0" presId="urn:microsoft.com/office/officeart/2018/5/layout/IconLeafLabelList"/>
    <dgm:cxn modelId="{597F98EA-A4AA-4D3A-A16C-55D3FB1849B5}" type="presOf" srcId="{0776F2E6-9FBF-468F-A3C3-BD313CC0D4D2}" destId="{69C49A00-1BF0-49C0-96AA-9E0AA210E214}" srcOrd="0" destOrd="0" presId="urn:microsoft.com/office/officeart/2018/5/layout/IconLeafLabelList"/>
    <dgm:cxn modelId="{99993CD0-5983-44B4-BED6-25FAD789C8AA}" type="presParOf" srcId="{FC09C79B-6114-4668-BC7F-41BE2FA0E0EB}" destId="{79889BF7-A3A2-43D4-AC53-45E31D1E1EED}" srcOrd="0" destOrd="0" presId="urn:microsoft.com/office/officeart/2018/5/layout/IconLeafLabelList"/>
    <dgm:cxn modelId="{CBE86F64-7FC2-4A3B-A036-532AE0BFB1DC}" type="presParOf" srcId="{79889BF7-A3A2-43D4-AC53-45E31D1E1EED}" destId="{123F258B-AC27-42D6-8E7C-E90796204A10}" srcOrd="0" destOrd="0" presId="urn:microsoft.com/office/officeart/2018/5/layout/IconLeafLabelList"/>
    <dgm:cxn modelId="{45E9FBC8-0572-4731-91AB-B2A6F25CC3D3}" type="presParOf" srcId="{79889BF7-A3A2-43D4-AC53-45E31D1E1EED}" destId="{6F9960F0-0198-4C9D-8C0C-AEB5C91CA90E}" srcOrd="1" destOrd="0" presId="urn:microsoft.com/office/officeart/2018/5/layout/IconLeafLabelList"/>
    <dgm:cxn modelId="{1EB1E202-3FF5-4941-892A-20DC0A43B347}" type="presParOf" srcId="{79889BF7-A3A2-43D4-AC53-45E31D1E1EED}" destId="{AD287866-6A08-41DC-BADD-898B3BA2BBD0}" srcOrd="2" destOrd="0" presId="urn:microsoft.com/office/officeart/2018/5/layout/IconLeafLabelList"/>
    <dgm:cxn modelId="{FD862618-D3D5-4F29-A232-7D1AE0DC17B0}" type="presParOf" srcId="{79889BF7-A3A2-43D4-AC53-45E31D1E1EED}" destId="{9A53C62E-2679-4E31-9F51-F8D3B94C5141}" srcOrd="3" destOrd="0" presId="urn:microsoft.com/office/officeart/2018/5/layout/IconLeafLabelList"/>
    <dgm:cxn modelId="{5501E1F1-D510-4294-8626-B00A2FA35400}" type="presParOf" srcId="{FC09C79B-6114-4668-BC7F-41BE2FA0E0EB}" destId="{BB166B85-1C51-4FEC-91A5-F9B6340CC4CE}" srcOrd="1" destOrd="0" presId="urn:microsoft.com/office/officeart/2018/5/layout/IconLeafLabelList"/>
    <dgm:cxn modelId="{0EAB688B-3C35-42FE-B554-B741B5B48D65}" type="presParOf" srcId="{FC09C79B-6114-4668-BC7F-41BE2FA0E0EB}" destId="{A7909B5C-FF2E-45A8-950E-064E9AD6AD99}" srcOrd="2" destOrd="0" presId="urn:microsoft.com/office/officeart/2018/5/layout/IconLeafLabelList"/>
    <dgm:cxn modelId="{CA8664A7-F175-4C18-9B8A-7EA5F032AFEF}" type="presParOf" srcId="{A7909B5C-FF2E-45A8-950E-064E9AD6AD99}" destId="{0E189FBF-B774-4BE7-8978-37EE354C8239}" srcOrd="0" destOrd="0" presId="urn:microsoft.com/office/officeart/2018/5/layout/IconLeafLabelList"/>
    <dgm:cxn modelId="{2F9DC939-9D3E-40D4-903A-197E41A33241}" type="presParOf" srcId="{A7909B5C-FF2E-45A8-950E-064E9AD6AD99}" destId="{DF88E2DC-0574-4A75-9F14-23C8D3A46A60}" srcOrd="1" destOrd="0" presId="urn:microsoft.com/office/officeart/2018/5/layout/IconLeafLabelList"/>
    <dgm:cxn modelId="{B00BB213-7E0D-4A10-B2FE-A9E0005DE8CE}" type="presParOf" srcId="{A7909B5C-FF2E-45A8-950E-064E9AD6AD99}" destId="{538A5BDA-810E-4DC6-97AE-7FB86EA410FA}" srcOrd="2" destOrd="0" presId="urn:microsoft.com/office/officeart/2018/5/layout/IconLeafLabelList"/>
    <dgm:cxn modelId="{7696624E-4EC4-4E5F-AC26-E6D06AD038CC}" type="presParOf" srcId="{A7909B5C-FF2E-45A8-950E-064E9AD6AD99}" destId="{731078BA-DD8B-4D89-9980-625F6B0846C0}" srcOrd="3" destOrd="0" presId="urn:microsoft.com/office/officeart/2018/5/layout/IconLeafLabelList"/>
    <dgm:cxn modelId="{332425A6-BA59-4CEB-A153-00EBEF9F9766}" type="presParOf" srcId="{FC09C79B-6114-4668-BC7F-41BE2FA0E0EB}" destId="{83A56CB1-DE92-42EC-8D78-8D7FAD8A21DF}" srcOrd="3" destOrd="0" presId="urn:microsoft.com/office/officeart/2018/5/layout/IconLeafLabelList"/>
    <dgm:cxn modelId="{7B131F15-AA10-45ED-94CE-F5FCF4C4ACE7}" type="presParOf" srcId="{FC09C79B-6114-4668-BC7F-41BE2FA0E0EB}" destId="{CC8D9D9A-887F-4720-9B29-D7BF073DB12D}" srcOrd="4" destOrd="0" presId="urn:microsoft.com/office/officeart/2018/5/layout/IconLeafLabelList"/>
    <dgm:cxn modelId="{1327A16B-4F56-48C5-BEFD-9A466CF8A59B}" type="presParOf" srcId="{CC8D9D9A-887F-4720-9B29-D7BF073DB12D}" destId="{087637AC-BC27-4140-8F84-D7773E73A50A}" srcOrd="0" destOrd="0" presId="urn:microsoft.com/office/officeart/2018/5/layout/IconLeafLabelList"/>
    <dgm:cxn modelId="{05FABB38-DFDA-4864-9BB1-2D82CB13380C}" type="presParOf" srcId="{CC8D9D9A-887F-4720-9B29-D7BF073DB12D}" destId="{5AD39A23-88E6-4B49-AEE7-4D795191B9BE}" srcOrd="1" destOrd="0" presId="urn:microsoft.com/office/officeart/2018/5/layout/IconLeafLabelList"/>
    <dgm:cxn modelId="{64CD26D2-3962-4571-B773-3CA456DE90E8}" type="presParOf" srcId="{CC8D9D9A-887F-4720-9B29-D7BF073DB12D}" destId="{0A836BF6-F321-46EE-8180-5D37C5EF402A}" srcOrd="2" destOrd="0" presId="urn:microsoft.com/office/officeart/2018/5/layout/IconLeafLabelList"/>
    <dgm:cxn modelId="{18B87248-95E5-43BB-AA1B-C657816F6741}" type="presParOf" srcId="{CC8D9D9A-887F-4720-9B29-D7BF073DB12D}" destId="{A6C4E694-0C84-4FB3-8121-076B573C05AA}" srcOrd="3" destOrd="0" presId="urn:microsoft.com/office/officeart/2018/5/layout/IconLeafLabelList"/>
    <dgm:cxn modelId="{C1892BF5-11FF-4AF7-B87C-4E5C103A2807}" type="presParOf" srcId="{FC09C79B-6114-4668-BC7F-41BE2FA0E0EB}" destId="{2605A4C2-9201-46A2-8A3C-9B36118F4C44}" srcOrd="5" destOrd="0" presId="urn:microsoft.com/office/officeart/2018/5/layout/IconLeafLabelList"/>
    <dgm:cxn modelId="{1B7D547D-61F5-449B-A6A0-C4D4DCB61529}" type="presParOf" srcId="{FC09C79B-6114-4668-BC7F-41BE2FA0E0EB}" destId="{57B53A92-88F4-4A8C-BE7B-04C2A06C3976}" srcOrd="6" destOrd="0" presId="urn:microsoft.com/office/officeart/2018/5/layout/IconLeafLabelList"/>
    <dgm:cxn modelId="{9281F743-74DD-435A-BCFB-A45BC53D54AC}" type="presParOf" srcId="{57B53A92-88F4-4A8C-BE7B-04C2A06C3976}" destId="{B7BF4A6D-E7CE-4750-87FE-92ACEA8EA5D7}" srcOrd="0" destOrd="0" presId="urn:microsoft.com/office/officeart/2018/5/layout/IconLeafLabelList"/>
    <dgm:cxn modelId="{46A5C435-0993-4462-97F8-4A3085FE981C}" type="presParOf" srcId="{57B53A92-88F4-4A8C-BE7B-04C2A06C3976}" destId="{C4802F1C-73E0-4B90-8478-315E0FE4E83E}" srcOrd="1" destOrd="0" presId="urn:microsoft.com/office/officeart/2018/5/layout/IconLeafLabelList"/>
    <dgm:cxn modelId="{78FBDA6C-712D-49EA-936A-6B22FFBA1BBA}" type="presParOf" srcId="{57B53A92-88F4-4A8C-BE7B-04C2A06C3976}" destId="{0BF7EA01-E821-4BD0-8DC0-8D8DD84493D0}" srcOrd="2" destOrd="0" presId="urn:microsoft.com/office/officeart/2018/5/layout/IconLeafLabelList"/>
    <dgm:cxn modelId="{802FD1B9-EBBF-40BE-B357-96CB80F07D5B}" type="presParOf" srcId="{57B53A92-88F4-4A8C-BE7B-04C2A06C3976}" destId="{182DD0D5-12E8-4672-A6A7-FD8C899DE890}" srcOrd="3" destOrd="0" presId="urn:microsoft.com/office/officeart/2018/5/layout/IconLeafLabelList"/>
    <dgm:cxn modelId="{DDD392E6-4D81-4FF1-983A-50CD6C67B9E6}" type="presParOf" srcId="{FC09C79B-6114-4668-BC7F-41BE2FA0E0EB}" destId="{B85C221E-85D7-4C4B-B828-F382BE08BEB5}" srcOrd="7" destOrd="0" presId="urn:microsoft.com/office/officeart/2018/5/layout/IconLeafLabelList"/>
    <dgm:cxn modelId="{26AC0EFF-339D-4EB0-9C90-D2675FD8F4F9}" type="presParOf" srcId="{FC09C79B-6114-4668-BC7F-41BE2FA0E0EB}" destId="{A65C9AD9-C8E5-4C71-9821-DB00AC94602E}" srcOrd="8" destOrd="0" presId="urn:microsoft.com/office/officeart/2018/5/layout/IconLeafLabelList"/>
    <dgm:cxn modelId="{3A01E41C-87D5-45F9-9934-C3BFC2281B27}" type="presParOf" srcId="{A65C9AD9-C8E5-4C71-9821-DB00AC94602E}" destId="{DBC10CCB-4FC9-4A98-A2C7-876B4AD7716C}" srcOrd="0" destOrd="0" presId="urn:microsoft.com/office/officeart/2018/5/layout/IconLeafLabelList"/>
    <dgm:cxn modelId="{40DA69AB-D727-4848-A2B7-382FCDD7BB35}" type="presParOf" srcId="{A65C9AD9-C8E5-4C71-9821-DB00AC94602E}" destId="{EBECF16F-DB84-4ED5-917E-16A2CAE23B37}" srcOrd="1" destOrd="0" presId="urn:microsoft.com/office/officeart/2018/5/layout/IconLeafLabelList"/>
    <dgm:cxn modelId="{4869906B-764F-4E74-AC17-36AC6B5CA621}" type="presParOf" srcId="{A65C9AD9-C8E5-4C71-9821-DB00AC94602E}" destId="{E85821BD-CF92-4CFC-8939-8B42E46380F4}" srcOrd="2" destOrd="0" presId="urn:microsoft.com/office/officeart/2018/5/layout/IconLeafLabelList"/>
    <dgm:cxn modelId="{30978F11-E874-41DD-9ED8-A04DB07755EB}" type="presParOf" srcId="{A65C9AD9-C8E5-4C71-9821-DB00AC94602E}" destId="{69C49A00-1BF0-49C0-96AA-9E0AA210E214}" srcOrd="3" destOrd="0" presId="urn:microsoft.com/office/officeart/2018/5/layout/IconLeafLabelList"/>
    <dgm:cxn modelId="{92DEA0AD-B7E7-4F82-8C9A-CB1986C25B28}" type="presParOf" srcId="{FC09C79B-6114-4668-BC7F-41BE2FA0E0EB}" destId="{24D231CE-20D3-4C1E-821C-FBC3CA8A30F8}" srcOrd="9" destOrd="0" presId="urn:microsoft.com/office/officeart/2018/5/layout/IconLeafLabelList"/>
    <dgm:cxn modelId="{1F35728B-CB33-4D82-B0BA-18968FEBFC29}" type="presParOf" srcId="{FC09C79B-6114-4668-BC7F-41BE2FA0E0EB}" destId="{103A5B1B-6C7D-42B3-A713-52B35D9E96C4}" srcOrd="10" destOrd="0" presId="urn:microsoft.com/office/officeart/2018/5/layout/IconLeafLabelList"/>
    <dgm:cxn modelId="{D531D1A9-DD7A-4802-B9A5-803472708785}" type="presParOf" srcId="{103A5B1B-6C7D-42B3-A713-52B35D9E96C4}" destId="{A232C58C-8A7A-4358-B7BC-3B7C54C0A652}" srcOrd="0" destOrd="0" presId="urn:microsoft.com/office/officeart/2018/5/layout/IconLeafLabelList"/>
    <dgm:cxn modelId="{45AD959E-067A-462F-8D31-26997861500E}" type="presParOf" srcId="{103A5B1B-6C7D-42B3-A713-52B35D9E96C4}" destId="{2EC925FF-ADF5-4E9F-B66C-17B4FC03AECB}" srcOrd="1" destOrd="0" presId="urn:microsoft.com/office/officeart/2018/5/layout/IconLeafLabelList"/>
    <dgm:cxn modelId="{D86B734E-D7A4-4268-A0A3-1CDF9319BD7E}" type="presParOf" srcId="{103A5B1B-6C7D-42B3-A713-52B35D9E96C4}" destId="{034B6ADF-3DF5-46E1-9601-E4E54A96750E}" srcOrd="2" destOrd="0" presId="urn:microsoft.com/office/officeart/2018/5/layout/IconLeafLabelList"/>
    <dgm:cxn modelId="{24A86373-3776-4209-A422-493830B801FA}" type="presParOf" srcId="{103A5B1B-6C7D-42B3-A713-52B35D9E96C4}" destId="{139F749E-B45D-4911-BC14-5E829B33B7E3}"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F7823ED-389F-4255-96E9-778F09C5593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8EE9AFC-67D9-49EB-AD0C-86255ECA1108}">
      <dgm:prSet/>
      <dgm:spPr/>
      <dgm:t>
        <a:bodyPr/>
        <a:lstStyle/>
        <a:p>
          <a:r>
            <a:rPr lang="tr-TR"/>
            <a:t>Taşıma şekli şu kriterlere göre belirlenebilir;</a:t>
          </a:r>
          <a:endParaRPr lang="en-US"/>
        </a:p>
      </dgm:t>
    </dgm:pt>
    <dgm:pt modelId="{08F1C629-3534-455B-8CC1-501431037F3C}" type="parTrans" cxnId="{98CC84E2-3AC8-4371-AD1B-81EF231D171E}">
      <dgm:prSet/>
      <dgm:spPr/>
      <dgm:t>
        <a:bodyPr/>
        <a:lstStyle/>
        <a:p>
          <a:endParaRPr lang="en-US"/>
        </a:p>
      </dgm:t>
    </dgm:pt>
    <dgm:pt modelId="{B211DD85-A137-46C4-9A23-064AE6BEA34C}" type="sibTrans" cxnId="{98CC84E2-3AC8-4371-AD1B-81EF231D171E}">
      <dgm:prSet/>
      <dgm:spPr/>
      <dgm:t>
        <a:bodyPr/>
        <a:lstStyle/>
        <a:p>
          <a:endParaRPr lang="en-US"/>
        </a:p>
      </dgm:t>
    </dgm:pt>
    <dgm:pt modelId="{ACE49739-EE49-42FE-A779-16FA5EB16806}">
      <dgm:prSet/>
      <dgm:spPr/>
      <dgm:t>
        <a:bodyPr/>
        <a:lstStyle/>
        <a:p>
          <a:r>
            <a:rPr lang="tr-TR"/>
            <a:t>Ürünün fiziksel özelliği</a:t>
          </a:r>
          <a:endParaRPr lang="en-US"/>
        </a:p>
      </dgm:t>
    </dgm:pt>
    <dgm:pt modelId="{20941E7C-6D3E-4D85-892E-C891B2A80AB3}" type="parTrans" cxnId="{75E7E813-DB65-4BC5-B159-E292C6B8CB98}">
      <dgm:prSet/>
      <dgm:spPr/>
      <dgm:t>
        <a:bodyPr/>
        <a:lstStyle/>
        <a:p>
          <a:endParaRPr lang="en-US"/>
        </a:p>
      </dgm:t>
    </dgm:pt>
    <dgm:pt modelId="{6B084F79-3E06-4AAD-99AF-A8524128FF66}" type="sibTrans" cxnId="{75E7E813-DB65-4BC5-B159-E292C6B8CB98}">
      <dgm:prSet/>
      <dgm:spPr/>
      <dgm:t>
        <a:bodyPr/>
        <a:lstStyle/>
        <a:p>
          <a:endParaRPr lang="en-US"/>
        </a:p>
      </dgm:t>
    </dgm:pt>
    <dgm:pt modelId="{74CDF604-B9CE-4471-9A82-E66C52C73A9C}">
      <dgm:prSet/>
      <dgm:spPr/>
      <dgm:t>
        <a:bodyPr/>
        <a:lstStyle/>
        <a:p>
          <a:r>
            <a:rPr lang="tr-TR"/>
            <a:t>Nakliyenin fiyatı</a:t>
          </a:r>
          <a:endParaRPr lang="en-US"/>
        </a:p>
      </dgm:t>
    </dgm:pt>
    <dgm:pt modelId="{607B95C3-8803-42F8-B5D4-77EC291B2573}" type="parTrans" cxnId="{5F4A87FD-5744-4670-9AF5-0530021634E7}">
      <dgm:prSet/>
      <dgm:spPr/>
      <dgm:t>
        <a:bodyPr/>
        <a:lstStyle/>
        <a:p>
          <a:endParaRPr lang="en-US"/>
        </a:p>
      </dgm:t>
    </dgm:pt>
    <dgm:pt modelId="{74CF26CD-9A8D-449D-A032-4B6C7D980CD0}" type="sibTrans" cxnId="{5F4A87FD-5744-4670-9AF5-0530021634E7}">
      <dgm:prSet/>
      <dgm:spPr/>
      <dgm:t>
        <a:bodyPr/>
        <a:lstStyle/>
        <a:p>
          <a:endParaRPr lang="en-US"/>
        </a:p>
      </dgm:t>
    </dgm:pt>
    <dgm:pt modelId="{CD1304B8-B0F6-4A47-A84C-94E6161765A3}">
      <dgm:prSet/>
      <dgm:spPr/>
      <dgm:t>
        <a:bodyPr/>
        <a:lstStyle/>
        <a:p>
          <a:r>
            <a:rPr lang="tr-TR"/>
            <a:t>Ürünün ambalaj biçimi</a:t>
          </a:r>
          <a:endParaRPr lang="en-US"/>
        </a:p>
      </dgm:t>
    </dgm:pt>
    <dgm:pt modelId="{E3F987B9-2D33-4924-AE89-D32A15118000}" type="parTrans" cxnId="{8E4C850E-F36F-4AAA-B471-6EB7F362F2E5}">
      <dgm:prSet/>
      <dgm:spPr/>
      <dgm:t>
        <a:bodyPr/>
        <a:lstStyle/>
        <a:p>
          <a:endParaRPr lang="en-US"/>
        </a:p>
      </dgm:t>
    </dgm:pt>
    <dgm:pt modelId="{D02E10AC-DD25-4994-9BFB-38CB2D04D274}" type="sibTrans" cxnId="{8E4C850E-F36F-4AAA-B471-6EB7F362F2E5}">
      <dgm:prSet/>
      <dgm:spPr/>
      <dgm:t>
        <a:bodyPr/>
        <a:lstStyle/>
        <a:p>
          <a:endParaRPr lang="en-US"/>
        </a:p>
      </dgm:t>
    </dgm:pt>
    <dgm:pt modelId="{F57BFA77-DD15-4217-A084-26BA910825F2}">
      <dgm:prSet/>
      <dgm:spPr/>
      <dgm:t>
        <a:bodyPr/>
        <a:lstStyle/>
        <a:p>
          <a:r>
            <a:rPr lang="tr-TR"/>
            <a:t>Ürünün boyutları</a:t>
          </a:r>
          <a:endParaRPr lang="en-US"/>
        </a:p>
      </dgm:t>
    </dgm:pt>
    <dgm:pt modelId="{2A68BB61-156F-4A28-AB2D-364C979DDCF7}" type="parTrans" cxnId="{D2BD59B6-F63D-4E8F-89B9-A85B3E3510E3}">
      <dgm:prSet/>
      <dgm:spPr/>
      <dgm:t>
        <a:bodyPr/>
        <a:lstStyle/>
        <a:p>
          <a:endParaRPr lang="en-US"/>
        </a:p>
      </dgm:t>
    </dgm:pt>
    <dgm:pt modelId="{C4DC0E59-DA31-45C2-B68C-4AA40AE990DE}" type="sibTrans" cxnId="{D2BD59B6-F63D-4E8F-89B9-A85B3E3510E3}">
      <dgm:prSet/>
      <dgm:spPr/>
      <dgm:t>
        <a:bodyPr/>
        <a:lstStyle/>
        <a:p>
          <a:endParaRPr lang="en-US"/>
        </a:p>
      </dgm:t>
    </dgm:pt>
    <dgm:pt modelId="{35D016B4-1D5D-4BDF-B6C3-D9B1C1B8292B}">
      <dgm:prSet/>
      <dgm:spPr/>
      <dgm:t>
        <a:bodyPr/>
        <a:lstStyle/>
        <a:p>
          <a:r>
            <a:rPr lang="tr-TR"/>
            <a:t>Ürünün son teslim tarihi</a:t>
          </a:r>
          <a:endParaRPr lang="en-US"/>
        </a:p>
      </dgm:t>
    </dgm:pt>
    <dgm:pt modelId="{181B5127-D8A8-47E2-91F2-D9E2628DEBBB}" type="parTrans" cxnId="{150EBC91-8A94-46CE-BDFF-0053866C8E84}">
      <dgm:prSet/>
      <dgm:spPr/>
      <dgm:t>
        <a:bodyPr/>
        <a:lstStyle/>
        <a:p>
          <a:endParaRPr lang="en-US"/>
        </a:p>
      </dgm:t>
    </dgm:pt>
    <dgm:pt modelId="{A57EA083-4428-4B14-933B-B79F960DD9DA}" type="sibTrans" cxnId="{150EBC91-8A94-46CE-BDFF-0053866C8E84}">
      <dgm:prSet/>
      <dgm:spPr/>
      <dgm:t>
        <a:bodyPr/>
        <a:lstStyle/>
        <a:p>
          <a:endParaRPr lang="en-US"/>
        </a:p>
      </dgm:t>
    </dgm:pt>
    <dgm:pt modelId="{25AE536D-7006-482D-8F9F-1AF9FF4538CF}" type="pres">
      <dgm:prSet presAssocID="{2F7823ED-389F-4255-96E9-778F09C5593D}" presName="linear" presStyleCnt="0">
        <dgm:presLayoutVars>
          <dgm:animLvl val="lvl"/>
          <dgm:resizeHandles val="exact"/>
        </dgm:presLayoutVars>
      </dgm:prSet>
      <dgm:spPr/>
    </dgm:pt>
    <dgm:pt modelId="{E3E32937-EF1D-4129-AB82-200DDF29E87D}" type="pres">
      <dgm:prSet presAssocID="{98EE9AFC-67D9-49EB-AD0C-86255ECA1108}" presName="parentText" presStyleLbl="node1" presStyleIdx="0" presStyleCnt="6">
        <dgm:presLayoutVars>
          <dgm:chMax val="0"/>
          <dgm:bulletEnabled val="1"/>
        </dgm:presLayoutVars>
      </dgm:prSet>
      <dgm:spPr/>
    </dgm:pt>
    <dgm:pt modelId="{8CC5922B-FFFF-4B0C-9637-C4F7C1E568DA}" type="pres">
      <dgm:prSet presAssocID="{B211DD85-A137-46C4-9A23-064AE6BEA34C}" presName="spacer" presStyleCnt="0"/>
      <dgm:spPr/>
    </dgm:pt>
    <dgm:pt modelId="{F7BDA4B9-018A-42EC-A20D-2E80BF496F76}" type="pres">
      <dgm:prSet presAssocID="{ACE49739-EE49-42FE-A779-16FA5EB16806}" presName="parentText" presStyleLbl="node1" presStyleIdx="1" presStyleCnt="6">
        <dgm:presLayoutVars>
          <dgm:chMax val="0"/>
          <dgm:bulletEnabled val="1"/>
        </dgm:presLayoutVars>
      </dgm:prSet>
      <dgm:spPr/>
    </dgm:pt>
    <dgm:pt modelId="{50D116C6-6FA6-48C6-8224-2F5B69A9B059}" type="pres">
      <dgm:prSet presAssocID="{6B084F79-3E06-4AAD-99AF-A8524128FF66}" presName="spacer" presStyleCnt="0"/>
      <dgm:spPr/>
    </dgm:pt>
    <dgm:pt modelId="{47D46D57-9287-4CA6-AB16-E45A4310DF56}" type="pres">
      <dgm:prSet presAssocID="{74CDF604-B9CE-4471-9A82-E66C52C73A9C}" presName="parentText" presStyleLbl="node1" presStyleIdx="2" presStyleCnt="6">
        <dgm:presLayoutVars>
          <dgm:chMax val="0"/>
          <dgm:bulletEnabled val="1"/>
        </dgm:presLayoutVars>
      </dgm:prSet>
      <dgm:spPr/>
    </dgm:pt>
    <dgm:pt modelId="{3F729D2B-7F63-453E-BE6E-F6945499D621}" type="pres">
      <dgm:prSet presAssocID="{74CF26CD-9A8D-449D-A032-4B6C7D980CD0}" presName="spacer" presStyleCnt="0"/>
      <dgm:spPr/>
    </dgm:pt>
    <dgm:pt modelId="{996EB291-C278-4977-A49A-02606456E9DB}" type="pres">
      <dgm:prSet presAssocID="{CD1304B8-B0F6-4A47-A84C-94E6161765A3}" presName="parentText" presStyleLbl="node1" presStyleIdx="3" presStyleCnt="6">
        <dgm:presLayoutVars>
          <dgm:chMax val="0"/>
          <dgm:bulletEnabled val="1"/>
        </dgm:presLayoutVars>
      </dgm:prSet>
      <dgm:spPr/>
    </dgm:pt>
    <dgm:pt modelId="{A881326E-8ED8-43EC-BCC6-3F6C56AFF648}" type="pres">
      <dgm:prSet presAssocID="{D02E10AC-DD25-4994-9BFB-38CB2D04D274}" presName="spacer" presStyleCnt="0"/>
      <dgm:spPr/>
    </dgm:pt>
    <dgm:pt modelId="{88E04360-8339-4495-8AA7-0BAD225F316F}" type="pres">
      <dgm:prSet presAssocID="{F57BFA77-DD15-4217-A084-26BA910825F2}" presName="parentText" presStyleLbl="node1" presStyleIdx="4" presStyleCnt="6">
        <dgm:presLayoutVars>
          <dgm:chMax val="0"/>
          <dgm:bulletEnabled val="1"/>
        </dgm:presLayoutVars>
      </dgm:prSet>
      <dgm:spPr/>
    </dgm:pt>
    <dgm:pt modelId="{8494784F-5C01-43F5-A6D6-4A73AFF61D71}" type="pres">
      <dgm:prSet presAssocID="{C4DC0E59-DA31-45C2-B68C-4AA40AE990DE}" presName="spacer" presStyleCnt="0"/>
      <dgm:spPr/>
    </dgm:pt>
    <dgm:pt modelId="{787641CF-03DD-43A7-BED9-E3A4EC8E9DBD}" type="pres">
      <dgm:prSet presAssocID="{35D016B4-1D5D-4BDF-B6C3-D9B1C1B8292B}" presName="parentText" presStyleLbl="node1" presStyleIdx="5" presStyleCnt="6">
        <dgm:presLayoutVars>
          <dgm:chMax val="0"/>
          <dgm:bulletEnabled val="1"/>
        </dgm:presLayoutVars>
      </dgm:prSet>
      <dgm:spPr/>
    </dgm:pt>
  </dgm:ptLst>
  <dgm:cxnLst>
    <dgm:cxn modelId="{8E4C850E-F36F-4AAA-B471-6EB7F362F2E5}" srcId="{2F7823ED-389F-4255-96E9-778F09C5593D}" destId="{CD1304B8-B0F6-4A47-A84C-94E6161765A3}" srcOrd="3" destOrd="0" parTransId="{E3F987B9-2D33-4924-AE89-D32A15118000}" sibTransId="{D02E10AC-DD25-4994-9BFB-38CB2D04D274}"/>
    <dgm:cxn modelId="{75E7E813-DB65-4BC5-B159-E292C6B8CB98}" srcId="{2F7823ED-389F-4255-96E9-778F09C5593D}" destId="{ACE49739-EE49-42FE-A779-16FA5EB16806}" srcOrd="1" destOrd="0" parTransId="{20941E7C-6D3E-4D85-892E-C891B2A80AB3}" sibTransId="{6B084F79-3E06-4AAD-99AF-A8524128FF66}"/>
    <dgm:cxn modelId="{38C1504B-7AB8-47EE-80FB-08F3B1B39C8A}" type="presOf" srcId="{98EE9AFC-67D9-49EB-AD0C-86255ECA1108}" destId="{E3E32937-EF1D-4129-AB82-200DDF29E87D}" srcOrd="0" destOrd="0" presId="urn:microsoft.com/office/officeart/2005/8/layout/vList2"/>
    <dgm:cxn modelId="{26E5CE83-9679-432B-829B-6A6D773F20B5}" type="presOf" srcId="{74CDF604-B9CE-4471-9A82-E66C52C73A9C}" destId="{47D46D57-9287-4CA6-AB16-E45A4310DF56}" srcOrd="0" destOrd="0" presId="urn:microsoft.com/office/officeart/2005/8/layout/vList2"/>
    <dgm:cxn modelId="{447FEE87-1122-42A9-93F0-F62797E701D8}" type="presOf" srcId="{ACE49739-EE49-42FE-A779-16FA5EB16806}" destId="{F7BDA4B9-018A-42EC-A20D-2E80BF496F76}" srcOrd="0" destOrd="0" presId="urn:microsoft.com/office/officeart/2005/8/layout/vList2"/>
    <dgm:cxn modelId="{150EBC91-8A94-46CE-BDFF-0053866C8E84}" srcId="{2F7823ED-389F-4255-96E9-778F09C5593D}" destId="{35D016B4-1D5D-4BDF-B6C3-D9B1C1B8292B}" srcOrd="5" destOrd="0" parTransId="{181B5127-D8A8-47E2-91F2-D9E2628DEBBB}" sibTransId="{A57EA083-4428-4B14-933B-B79F960DD9DA}"/>
    <dgm:cxn modelId="{D072029C-9564-4014-BE41-99502E1D086E}" type="presOf" srcId="{F57BFA77-DD15-4217-A084-26BA910825F2}" destId="{88E04360-8339-4495-8AA7-0BAD225F316F}" srcOrd="0" destOrd="0" presId="urn:microsoft.com/office/officeart/2005/8/layout/vList2"/>
    <dgm:cxn modelId="{2D6708B0-C61D-4789-84BB-B51DB37288A3}" type="presOf" srcId="{CD1304B8-B0F6-4A47-A84C-94E6161765A3}" destId="{996EB291-C278-4977-A49A-02606456E9DB}" srcOrd="0" destOrd="0" presId="urn:microsoft.com/office/officeart/2005/8/layout/vList2"/>
    <dgm:cxn modelId="{D2BD59B6-F63D-4E8F-89B9-A85B3E3510E3}" srcId="{2F7823ED-389F-4255-96E9-778F09C5593D}" destId="{F57BFA77-DD15-4217-A084-26BA910825F2}" srcOrd="4" destOrd="0" parTransId="{2A68BB61-156F-4A28-AB2D-364C979DDCF7}" sibTransId="{C4DC0E59-DA31-45C2-B68C-4AA40AE990DE}"/>
    <dgm:cxn modelId="{759831C3-D48E-484B-A6D5-9E88E3682C7C}" type="presOf" srcId="{2F7823ED-389F-4255-96E9-778F09C5593D}" destId="{25AE536D-7006-482D-8F9F-1AF9FF4538CF}" srcOrd="0" destOrd="0" presId="urn:microsoft.com/office/officeart/2005/8/layout/vList2"/>
    <dgm:cxn modelId="{98CC84E2-3AC8-4371-AD1B-81EF231D171E}" srcId="{2F7823ED-389F-4255-96E9-778F09C5593D}" destId="{98EE9AFC-67D9-49EB-AD0C-86255ECA1108}" srcOrd="0" destOrd="0" parTransId="{08F1C629-3534-455B-8CC1-501431037F3C}" sibTransId="{B211DD85-A137-46C4-9A23-064AE6BEA34C}"/>
    <dgm:cxn modelId="{EDC6E4FB-8180-495C-A893-2BAC78A2B29E}" type="presOf" srcId="{35D016B4-1D5D-4BDF-B6C3-D9B1C1B8292B}" destId="{787641CF-03DD-43A7-BED9-E3A4EC8E9DBD}" srcOrd="0" destOrd="0" presId="urn:microsoft.com/office/officeart/2005/8/layout/vList2"/>
    <dgm:cxn modelId="{5F4A87FD-5744-4670-9AF5-0530021634E7}" srcId="{2F7823ED-389F-4255-96E9-778F09C5593D}" destId="{74CDF604-B9CE-4471-9A82-E66C52C73A9C}" srcOrd="2" destOrd="0" parTransId="{607B95C3-8803-42F8-B5D4-77EC291B2573}" sibTransId="{74CF26CD-9A8D-449D-A032-4B6C7D980CD0}"/>
    <dgm:cxn modelId="{DD878D6C-468A-4276-973E-933C737AB839}" type="presParOf" srcId="{25AE536D-7006-482D-8F9F-1AF9FF4538CF}" destId="{E3E32937-EF1D-4129-AB82-200DDF29E87D}" srcOrd="0" destOrd="0" presId="urn:microsoft.com/office/officeart/2005/8/layout/vList2"/>
    <dgm:cxn modelId="{FF2ED647-D6AC-4D33-914D-A9C4F2BF20DB}" type="presParOf" srcId="{25AE536D-7006-482D-8F9F-1AF9FF4538CF}" destId="{8CC5922B-FFFF-4B0C-9637-C4F7C1E568DA}" srcOrd="1" destOrd="0" presId="urn:microsoft.com/office/officeart/2005/8/layout/vList2"/>
    <dgm:cxn modelId="{6E2E1230-1624-4D89-9799-6CFBE8CFD701}" type="presParOf" srcId="{25AE536D-7006-482D-8F9F-1AF9FF4538CF}" destId="{F7BDA4B9-018A-42EC-A20D-2E80BF496F76}" srcOrd="2" destOrd="0" presId="urn:microsoft.com/office/officeart/2005/8/layout/vList2"/>
    <dgm:cxn modelId="{6A7EF4A9-6268-475D-9782-F448CBD5CACA}" type="presParOf" srcId="{25AE536D-7006-482D-8F9F-1AF9FF4538CF}" destId="{50D116C6-6FA6-48C6-8224-2F5B69A9B059}" srcOrd="3" destOrd="0" presId="urn:microsoft.com/office/officeart/2005/8/layout/vList2"/>
    <dgm:cxn modelId="{340087CD-74A9-4F9F-A56C-25094E69850A}" type="presParOf" srcId="{25AE536D-7006-482D-8F9F-1AF9FF4538CF}" destId="{47D46D57-9287-4CA6-AB16-E45A4310DF56}" srcOrd="4" destOrd="0" presId="urn:microsoft.com/office/officeart/2005/8/layout/vList2"/>
    <dgm:cxn modelId="{844911E5-91E9-4049-879E-8A4F58E9BEA6}" type="presParOf" srcId="{25AE536D-7006-482D-8F9F-1AF9FF4538CF}" destId="{3F729D2B-7F63-453E-BE6E-F6945499D621}" srcOrd="5" destOrd="0" presId="urn:microsoft.com/office/officeart/2005/8/layout/vList2"/>
    <dgm:cxn modelId="{1FD21F95-26D7-450A-8B8A-C6A0B312AAD9}" type="presParOf" srcId="{25AE536D-7006-482D-8F9F-1AF9FF4538CF}" destId="{996EB291-C278-4977-A49A-02606456E9DB}" srcOrd="6" destOrd="0" presId="urn:microsoft.com/office/officeart/2005/8/layout/vList2"/>
    <dgm:cxn modelId="{8D77C080-4B11-4C6E-BB3A-5F65B7FC500E}" type="presParOf" srcId="{25AE536D-7006-482D-8F9F-1AF9FF4538CF}" destId="{A881326E-8ED8-43EC-BCC6-3F6C56AFF648}" srcOrd="7" destOrd="0" presId="urn:microsoft.com/office/officeart/2005/8/layout/vList2"/>
    <dgm:cxn modelId="{FBA5E574-2D1A-4D8F-ABB6-31CEFED5AA93}" type="presParOf" srcId="{25AE536D-7006-482D-8F9F-1AF9FF4538CF}" destId="{88E04360-8339-4495-8AA7-0BAD225F316F}" srcOrd="8" destOrd="0" presId="urn:microsoft.com/office/officeart/2005/8/layout/vList2"/>
    <dgm:cxn modelId="{CFC9375B-44FD-466E-9199-624B4209AF42}" type="presParOf" srcId="{25AE536D-7006-482D-8F9F-1AF9FF4538CF}" destId="{8494784F-5C01-43F5-A6D6-4A73AFF61D71}" srcOrd="9" destOrd="0" presId="urn:microsoft.com/office/officeart/2005/8/layout/vList2"/>
    <dgm:cxn modelId="{657C08A7-270E-40DC-8C9F-C18EA6402D43}" type="presParOf" srcId="{25AE536D-7006-482D-8F9F-1AF9FF4538CF}" destId="{787641CF-03DD-43A7-BED9-E3A4EC8E9DBD}"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7EEB583-0D86-45B6-BEB5-61DF95F1555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90087D53-9954-47CF-9A0E-CB12159991D2}">
      <dgm:prSet/>
      <dgm:spPr/>
      <dgm:t>
        <a:bodyPr/>
        <a:lstStyle/>
        <a:p>
          <a:r>
            <a:rPr lang="tr-TR" b="1"/>
            <a:t>Üretim Lojistiği</a:t>
          </a:r>
          <a:endParaRPr lang="en-US"/>
        </a:p>
      </dgm:t>
    </dgm:pt>
    <dgm:pt modelId="{868758C8-4197-4849-AACC-4CDD6F51DE4C}" type="parTrans" cxnId="{2A99E777-5B0A-4E0E-970F-8012D088C155}">
      <dgm:prSet/>
      <dgm:spPr/>
      <dgm:t>
        <a:bodyPr/>
        <a:lstStyle/>
        <a:p>
          <a:endParaRPr lang="en-US"/>
        </a:p>
      </dgm:t>
    </dgm:pt>
    <dgm:pt modelId="{78F5718D-9B10-435A-B131-C362F075C0AA}" type="sibTrans" cxnId="{2A99E777-5B0A-4E0E-970F-8012D088C155}">
      <dgm:prSet/>
      <dgm:spPr/>
      <dgm:t>
        <a:bodyPr/>
        <a:lstStyle/>
        <a:p>
          <a:endParaRPr lang="en-US"/>
        </a:p>
      </dgm:t>
    </dgm:pt>
    <dgm:pt modelId="{99E282EC-34B9-436C-8DB2-5FC538230CEF}">
      <dgm:prSet/>
      <dgm:spPr/>
      <dgm:t>
        <a:bodyPr/>
        <a:lstStyle/>
        <a:p>
          <a:r>
            <a:rPr lang="tr-TR" b="1"/>
            <a:t>Dağıtım Lojistiği</a:t>
          </a:r>
          <a:endParaRPr lang="en-US"/>
        </a:p>
      </dgm:t>
    </dgm:pt>
    <dgm:pt modelId="{120DC0AA-60A5-4DA2-94EA-DA97FBC7FE7D}" type="parTrans" cxnId="{B2DB9D7B-8C54-4EE3-B74F-25A21A06CDE0}">
      <dgm:prSet/>
      <dgm:spPr/>
      <dgm:t>
        <a:bodyPr/>
        <a:lstStyle/>
        <a:p>
          <a:endParaRPr lang="en-US"/>
        </a:p>
      </dgm:t>
    </dgm:pt>
    <dgm:pt modelId="{6439972E-833E-43E3-AC51-804700F7B810}" type="sibTrans" cxnId="{B2DB9D7B-8C54-4EE3-B74F-25A21A06CDE0}">
      <dgm:prSet/>
      <dgm:spPr/>
      <dgm:t>
        <a:bodyPr/>
        <a:lstStyle/>
        <a:p>
          <a:endParaRPr lang="en-US"/>
        </a:p>
      </dgm:t>
    </dgm:pt>
    <dgm:pt modelId="{A79448DE-E018-4892-A28B-27ABC8C9D718}">
      <dgm:prSet/>
      <dgm:spPr/>
      <dgm:t>
        <a:bodyPr/>
        <a:lstStyle/>
        <a:p>
          <a:r>
            <a:rPr lang="tr-TR" b="1"/>
            <a:t>Tersine Lojistik</a:t>
          </a:r>
          <a:endParaRPr lang="en-US"/>
        </a:p>
      </dgm:t>
    </dgm:pt>
    <dgm:pt modelId="{37CF07B0-55B5-4F48-8104-110BDDB6E594}" type="parTrans" cxnId="{B0B13D61-6625-4B41-B614-ACDFB33F4E93}">
      <dgm:prSet/>
      <dgm:spPr/>
      <dgm:t>
        <a:bodyPr/>
        <a:lstStyle/>
        <a:p>
          <a:endParaRPr lang="en-US"/>
        </a:p>
      </dgm:t>
    </dgm:pt>
    <dgm:pt modelId="{3A6067D2-7A79-4A59-9ECB-D41A164A1684}" type="sibTrans" cxnId="{B0B13D61-6625-4B41-B614-ACDFB33F4E93}">
      <dgm:prSet/>
      <dgm:spPr/>
      <dgm:t>
        <a:bodyPr/>
        <a:lstStyle/>
        <a:p>
          <a:endParaRPr lang="en-US"/>
        </a:p>
      </dgm:t>
    </dgm:pt>
    <dgm:pt modelId="{517383A1-1677-487A-85C0-F62148838919}">
      <dgm:prSet/>
      <dgm:spPr/>
      <dgm:t>
        <a:bodyPr/>
        <a:lstStyle/>
        <a:p>
          <a:r>
            <a:rPr lang="tr-TR" b="1"/>
            <a:t>Ürün Ömür Çevrimi Bazlı Lojistik</a:t>
          </a:r>
          <a:endParaRPr lang="en-US"/>
        </a:p>
      </dgm:t>
    </dgm:pt>
    <dgm:pt modelId="{17630324-B19E-4195-AA99-B0BFA38CFC7F}" type="parTrans" cxnId="{3FAFA671-BF9A-4290-BB5A-6C2F57024A6C}">
      <dgm:prSet/>
      <dgm:spPr/>
      <dgm:t>
        <a:bodyPr/>
        <a:lstStyle/>
        <a:p>
          <a:endParaRPr lang="en-US"/>
        </a:p>
      </dgm:t>
    </dgm:pt>
    <dgm:pt modelId="{D30D6C47-D7BA-41F2-B2A9-DDB24C1AE359}" type="sibTrans" cxnId="{3FAFA671-BF9A-4290-BB5A-6C2F57024A6C}">
      <dgm:prSet/>
      <dgm:spPr/>
      <dgm:t>
        <a:bodyPr/>
        <a:lstStyle/>
        <a:p>
          <a:endParaRPr lang="en-US"/>
        </a:p>
      </dgm:t>
    </dgm:pt>
    <dgm:pt modelId="{FF85D56F-DAD8-44A9-AFA7-7ADEE26B7AD1}" type="pres">
      <dgm:prSet presAssocID="{27EEB583-0D86-45B6-BEB5-61DF95F1555D}" presName="hierChild1" presStyleCnt="0">
        <dgm:presLayoutVars>
          <dgm:chPref val="1"/>
          <dgm:dir/>
          <dgm:animOne val="branch"/>
          <dgm:animLvl val="lvl"/>
          <dgm:resizeHandles/>
        </dgm:presLayoutVars>
      </dgm:prSet>
      <dgm:spPr/>
    </dgm:pt>
    <dgm:pt modelId="{A7A35F5B-A80B-474D-893A-DBE37377A116}" type="pres">
      <dgm:prSet presAssocID="{90087D53-9954-47CF-9A0E-CB12159991D2}" presName="hierRoot1" presStyleCnt="0"/>
      <dgm:spPr/>
    </dgm:pt>
    <dgm:pt modelId="{D01070F4-50A6-4F97-89AA-166101564A81}" type="pres">
      <dgm:prSet presAssocID="{90087D53-9954-47CF-9A0E-CB12159991D2}" presName="composite" presStyleCnt="0"/>
      <dgm:spPr/>
    </dgm:pt>
    <dgm:pt modelId="{A17FA6F2-1755-49F8-8B60-C4AE02E397C5}" type="pres">
      <dgm:prSet presAssocID="{90087D53-9954-47CF-9A0E-CB12159991D2}" presName="background" presStyleLbl="node0" presStyleIdx="0" presStyleCnt="4"/>
      <dgm:spPr/>
    </dgm:pt>
    <dgm:pt modelId="{D1990A05-0128-4D04-8E15-C60183781762}" type="pres">
      <dgm:prSet presAssocID="{90087D53-9954-47CF-9A0E-CB12159991D2}" presName="text" presStyleLbl="fgAcc0" presStyleIdx="0" presStyleCnt="4">
        <dgm:presLayoutVars>
          <dgm:chPref val="3"/>
        </dgm:presLayoutVars>
      </dgm:prSet>
      <dgm:spPr/>
    </dgm:pt>
    <dgm:pt modelId="{3C0D4DE7-89C2-4EB2-80D5-68550DB1D5D8}" type="pres">
      <dgm:prSet presAssocID="{90087D53-9954-47CF-9A0E-CB12159991D2}" presName="hierChild2" presStyleCnt="0"/>
      <dgm:spPr/>
    </dgm:pt>
    <dgm:pt modelId="{373976A8-3006-4625-AC16-21C491FF21CB}" type="pres">
      <dgm:prSet presAssocID="{99E282EC-34B9-436C-8DB2-5FC538230CEF}" presName="hierRoot1" presStyleCnt="0"/>
      <dgm:spPr/>
    </dgm:pt>
    <dgm:pt modelId="{D6ACF370-758C-4768-A982-3E595B2D8A07}" type="pres">
      <dgm:prSet presAssocID="{99E282EC-34B9-436C-8DB2-5FC538230CEF}" presName="composite" presStyleCnt="0"/>
      <dgm:spPr/>
    </dgm:pt>
    <dgm:pt modelId="{154A2DF0-AF64-4AEC-A10D-EB759B050D30}" type="pres">
      <dgm:prSet presAssocID="{99E282EC-34B9-436C-8DB2-5FC538230CEF}" presName="background" presStyleLbl="node0" presStyleIdx="1" presStyleCnt="4"/>
      <dgm:spPr/>
    </dgm:pt>
    <dgm:pt modelId="{C42B8B07-51D6-4667-A46B-4BA791FE7570}" type="pres">
      <dgm:prSet presAssocID="{99E282EC-34B9-436C-8DB2-5FC538230CEF}" presName="text" presStyleLbl="fgAcc0" presStyleIdx="1" presStyleCnt="4">
        <dgm:presLayoutVars>
          <dgm:chPref val="3"/>
        </dgm:presLayoutVars>
      </dgm:prSet>
      <dgm:spPr/>
    </dgm:pt>
    <dgm:pt modelId="{EDDFB42E-4DC1-459E-91F1-36242A9ECAC7}" type="pres">
      <dgm:prSet presAssocID="{99E282EC-34B9-436C-8DB2-5FC538230CEF}" presName="hierChild2" presStyleCnt="0"/>
      <dgm:spPr/>
    </dgm:pt>
    <dgm:pt modelId="{8526D22E-D844-4529-91C2-7C6DEC603867}" type="pres">
      <dgm:prSet presAssocID="{A79448DE-E018-4892-A28B-27ABC8C9D718}" presName="hierRoot1" presStyleCnt="0"/>
      <dgm:spPr/>
    </dgm:pt>
    <dgm:pt modelId="{9F4D20E8-40A4-49FF-97DE-ED1DB77CC32D}" type="pres">
      <dgm:prSet presAssocID="{A79448DE-E018-4892-A28B-27ABC8C9D718}" presName="composite" presStyleCnt="0"/>
      <dgm:spPr/>
    </dgm:pt>
    <dgm:pt modelId="{47AFCF5C-C23C-4DB7-8BCD-A1B58693D713}" type="pres">
      <dgm:prSet presAssocID="{A79448DE-E018-4892-A28B-27ABC8C9D718}" presName="background" presStyleLbl="node0" presStyleIdx="2" presStyleCnt="4"/>
      <dgm:spPr/>
    </dgm:pt>
    <dgm:pt modelId="{F63F9FCD-7F05-4468-B904-129EEDB001DC}" type="pres">
      <dgm:prSet presAssocID="{A79448DE-E018-4892-A28B-27ABC8C9D718}" presName="text" presStyleLbl="fgAcc0" presStyleIdx="2" presStyleCnt="4">
        <dgm:presLayoutVars>
          <dgm:chPref val="3"/>
        </dgm:presLayoutVars>
      </dgm:prSet>
      <dgm:spPr/>
    </dgm:pt>
    <dgm:pt modelId="{7C81E698-082C-4DDB-B55D-1A456AE06C25}" type="pres">
      <dgm:prSet presAssocID="{A79448DE-E018-4892-A28B-27ABC8C9D718}" presName="hierChild2" presStyleCnt="0"/>
      <dgm:spPr/>
    </dgm:pt>
    <dgm:pt modelId="{9F79E8B7-80F0-4C27-9482-91EBC922B087}" type="pres">
      <dgm:prSet presAssocID="{517383A1-1677-487A-85C0-F62148838919}" presName="hierRoot1" presStyleCnt="0"/>
      <dgm:spPr/>
    </dgm:pt>
    <dgm:pt modelId="{9075182D-B084-4984-B4B2-7C05DA095D07}" type="pres">
      <dgm:prSet presAssocID="{517383A1-1677-487A-85C0-F62148838919}" presName="composite" presStyleCnt="0"/>
      <dgm:spPr/>
    </dgm:pt>
    <dgm:pt modelId="{AFEE7776-40E5-449D-8988-A02194BAF841}" type="pres">
      <dgm:prSet presAssocID="{517383A1-1677-487A-85C0-F62148838919}" presName="background" presStyleLbl="node0" presStyleIdx="3" presStyleCnt="4"/>
      <dgm:spPr/>
    </dgm:pt>
    <dgm:pt modelId="{57C64D4E-28A7-40AA-8DD8-1F6D109A419D}" type="pres">
      <dgm:prSet presAssocID="{517383A1-1677-487A-85C0-F62148838919}" presName="text" presStyleLbl="fgAcc0" presStyleIdx="3" presStyleCnt="4">
        <dgm:presLayoutVars>
          <dgm:chPref val="3"/>
        </dgm:presLayoutVars>
      </dgm:prSet>
      <dgm:spPr/>
    </dgm:pt>
    <dgm:pt modelId="{01AA8414-AD0F-4C03-87C3-27978C3D3F3B}" type="pres">
      <dgm:prSet presAssocID="{517383A1-1677-487A-85C0-F62148838919}" presName="hierChild2" presStyleCnt="0"/>
      <dgm:spPr/>
    </dgm:pt>
  </dgm:ptLst>
  <dgm:cxnLst>
    <dgm:cxn modelId="{A02A793D-38C5-4C00-B174-7A9E0972431B}" type="presOf" srcId="{27EEB583-0D86-45B6-BEB5-61DF95F1555D}" destId="{FF85D56F-DAD8-44A9-AFA7-7ADEE26B7AD1}" srcOrd="0" destOrd="0" presId="urn:microsoft.com/office/officeart/2005/8/layout/hierarchy1"/>
    <dgm:cxn modelId="{B0B13D61-6625-4B41-B614-ACDFB33F4E93}" srcId="{27EEB583-0D86-45B6-BEB5-61DF95F1555D}" destId="{A79448DE-E018-4892-A28B-27ABC8C9D718}" srcOrd="2" destOrd="0" parTransId="{37CF07B0-55B5-4F48-8104-110BDDB6E594}" sibTransId="{3A6067D2-7A79-4A59-9ECB-D41A164A1684}"/>
    <dgm:cxn modelId="{3FAFA671-BF9A-4290-BB5A-6C2F57024A6C}" srcId="{27EEB583-0D86-45B6-BEB5-61DF95F1555D}" destId="{517383A1-1677-487A-85C0-F62148838919}" srcOrd="3" destOrd="0" parTransId="{17630324-B19E-4195-AA99-B0BFA38CFC7F}" sibTransId="{D30D6C47-D7BA-41F2-B2A9-DDB24C1AE359}"/>
    <dgm:cxn modelId="{2A99E777-5B0A-4E0E-970F-8012D088C155}" srcId="{27EEB583-0D86-45B6-BEB5-61DF95F1555D}" destId="{90087D53-9954-47CF-9A0E-CB12159991D2}" srcOrd="0" destOrd="0" parTransId="{868758C8-4197-4849-AACC-4CDD6F51DE4C}" sibTransId="{78F5718D-9B10-435A-B131-C362F075C0AA}"/>
    <dgm:cxn modelId="{B2DB9D7B-8C54-4EE3-B74F-25A21A06CDE0}" srcId="{27EEB583-0D86-45B6-BEB5-61DF95F1555D}" destId="{99E282EC-34B9-436C-8DB2-5FC538230CEF}" srcOrd="1" destOrd="0" parTransId="{120DC0AA-60A5-4DA2-94EA-DA97FBC7FE7D}" sibTransId="{6439972E-833E-43E3-AC51-804700F7B810}"/>
    <dgm:cxn modelId="{22904C9E-345D-48FB-98DA-FFBDBDA4CF98}" type="presOf" srcId="{90087D53-9954-47CF-9A0E-CB12159991D2}" destId="{D1990A05-0128-4D04-8E15-C60183781762}" srcOrd="0" destOrd="0" presId="urn:microsoft.com/office/officeart/2005/8/layout/hierarchy1"/>
    <dgm:cxn modelId="{5CB741A3-5643-4737-A346-D91373496A31}" type="presOf" srcId="{A79448DE-E018-4892-A28B-27ABC8C9D718}" destId="{F63F9FCD-7F05-4468-B904-129EEDB001DC}" srcOrd="0" destOrd="0" presId="urn:microsoft.com/office/officeart/2005/8/layout/hierarchy1"/>
    <dgm:cxn modelId="{865DDEDB-320C-415B-A844-A8279D5910B0}" type="presOf" srcId="{517383A1-1677-487A-85C0-F62148838919}" destId="{57C64D4E-28A7-40AA-8DD8-1F6D109A419D}" srcOrd="0" destOrd="0" presId="urn:microsoft.com/office/officeart/2005/8/layout/hierarchy1"/>
    <dgm:cxn modelId="{DFB986DD-B4CE-4D58-96B2-9D3340421505}" type="presOf" srcId="{99E282EC-34B9-436C-8DB2-5FC538230CEF}" destId="{C42B8B07-51D6-4667-A46B-4BA791FE7570}" srcOrd="0" destOrd="0" presId="urn:microsoft.com/office/officeart/2005/8/layout/hierarchy1"/>
    <dgm:cxn modelId="{F5299FD8-EBD1-4008-B4B9-57547CE421E5}" type="presParOf" srcId="{FF85D56F-DAD8-44A9-AFA7-7ADEE26B7AD1}" destId="{A7A35F5B-A80B-474D-893A-DBE37377A116}" srcOrd="0" destOrd="0" presId="urn:microsoft.com/office/officeart/2005/8/layout/hierarchy1"/>
    <dgm:cxn modelId="{04379369-D642-4BA4-BE6B-686487ECD4A6}" type="presParOf" srcId="{A7A35F5B-A80B-474D-893A-DBE37377A116}" destId="{D01070F4-50A6-4F97-89AA-166101564A81}" srcOrd="0" destOrd="0" presId="urn:microsoft.com/office/officeart/2005/8/layout/hierarchy1"/>
    <dgm:cxn modelId="{EC0D1446-9BDD-43F3-9292-0B80543B33D9}" type="presParOf" srcId="{D01070F4-50A6-4F97-89AA-166101564A81}" destId="{A17FA6F2-1755-49F8-8B60-C4AE02E397C5}" srcOrd="0" destOrd="0" presId="urn:microsoft.com/office/officeart/2005/8/layout/hierarchy1"/>
    <dgm:cxn modelId="{C7ED5A33-C3B9-47C5-8FA5-6D5944B20121}" type="presParOf" srcId="{D01070F4-50A6-4F97-89AA-166101564A81}" destId="{D1990A05-0128-4D04-8E15-C60183781762}" srcOrd="1" destOrd="0" presId="urn:microsoft.com/office/officeart/2005/8/layout/hierarchy1"/>
    <dgm:cxn modelId="{743CD0FB-DE52-4C52-ABE1-27ABBE88601A}" type="presParOf" srcId="{A7A35F5B-A80B-474D-893A-DBE37377A116}" destId="{3C0D4DE7-89C2-4EB2-80D5-68550DB1D5D8}" srcOrd="1" destOrd="0" presId="urn:microsoft.com/office/officeart/2005/8/layout/hierarchy1"/>
    <dgm:cxn modelId="{34E6CEE5-F986-4C3E-8EB5-5CBA0961E2FB}" type="presParOf" srcId="{FF85D56F-DAD8-44A9-AFA7-7ADEE26B7AD1}" destId="{373976A8-3006-4625-AC16-21C491FF21CB}" srcOrd="1" destOrd="0" presId="urn:microsoft.com/office/officeart/2005/8/layout/hierarchy1"/>
    <dgm:cxn modelId="{EF48BD7D-4C95-4208-8352-B40ED9E6117F}" type="presParOf" srcId="{373976A8-3006-4625-AC16-21C491FF21CB}" destId="{D6ACF370-758C-4768-A982-3E595B2D8A07}" srcOrd="0" destOrd="0" presId="urn:microsoft.com/office/officeart/2005/8/layout/hierarchy1"/>
    <dgm:cxn modelId="{01723FE3-86DF-4FB1-A24B-33E2A7882F40}" type="presParOf" srcId="{D6ACF370-758C-4768-A982-3E595B2D8A07}" destId="{154A2DF0-AF64-4AEC-A10D-EB759B050D30}" srcOrd="0" destOrd="0" presId="urn:microsoft.com/office/officeart/2005/8/layout/hierarchy1"/>
    <dgm:cxn modelId="{8CE2A236-6046-467C-9E21-1257ACD4C9C6}" type="presParOf" srcId="{D6ACF370-758C-4768-A982-3E595B2D8A07}" destId="{C42B8B07-51D6-4667-A46B-4BA791FE7570}" srcOrd="1" destOrd="0" presId="urn:microsoft.com/office/officeart/2005/8/layout/hierarchy1"/>
    <dgm:cxn modelId="{A53EE0BC-4A02-4F6C-B1B3-80D65ED67DE3}" type="presParOf" srcId="{373976A8-3006-4625-AC16-21C491FF21CB}" destId="{EDDFB42E-4DC1-459E-91F1-36242A9ECAC7}" srcOrd="1" destOrd="0" presId="urn:microsoft.com/office/officeart/2005/8/layout/hierarchy1"/>
    <dgm:cxn modelId="{E7E56E0F-E814-489A-BC05-31C253707624}" type="presParOf" srcId="{FF85D56F-DAD8-44A9-AFA7-7ADEE26B7AD1}" destId="{8526D22E-D844-4529-91C2-7C6DEC603867}" srcOrd="2" destOrd="0" presId="urn:microsoft.com/office/officeart/2005/8/layout/hierarchy1"/>
    <dgm:cxn modelId="{F9CC256C-5DB7-495C-9092-87DA4408DD3C}" type="presParOf" srcId="{8526D22E-D844-4529-91C2-7C6DEC603867}" destId="{9F4D20E8-40A4-49FF-97DE-ED1DB77CC32D}" srcOrd="0" destOrd="0" presId="urn:microsoft.com/office/officeart/2005/8/layout/hierarchy1"/>
    <dgm:cxn modelId="{82146998-E8F1-47F2-9E28-CFC132D8E645}" type="presParOf" srcId="{9F4D20E8-40A4-49FF-97DE-ED1DB77CC32D}" destId="{47AFCF5C-C23C-4DB7-8BCD-A1B58693D713}" srcOrd="0" destOrd="0" presId="urn:microsoft.com/office/officeart/2005/8/layout/hierarchy1"/>
    <dgm:cxn modelId="{1AD04CAE-8F6F-4686-8C10-4F4DBEEEA96A}" type="presParOf" srcId="{9F4D20E8-40A4-49FF-97DE-ED1DB77CC32D}" destId="{F63F9FCD-7F05-4468-B904-129EEDB001DC}" srcOrd="1" destOrd="0" presId="urn:microsoft.com/office/officeart/2005/8/layout/hierarchy1"/>
    <dgm:cxn modelId="{F3F8A686-DE7F-44E1-8434-FE06F2D25563}" type="presParOf" srcId="{8526D22E-D844-4529-91C2-7C6DEC603867}" destId="{7C81E698-082C-4DDB-B55D-1A456AE06C25}" srcOrd="1" destOrd="0" presId="urn:microsoft.com/office/officeart/2005/8/layout/hierarchy1"/>
    <dgm:cxn modelId="{9B6B97A9-866E-412E-AB88-224CB0BDCBF8}" type="presParOf" srcId="{FF85D56F-DAD8-44A9-AFA7-7ADEE26B7AD1}" destId="{9F79E8B7-80F0-4C27-9482-91EBC922B087}" srcOrd="3" destOrd="0" presId="urn:microsoft.com/office/officeart/2005/8/layout/hierarchy1"/>
    <dgm:cxn modelId="{4948C9F2-7322-491E-93AE-F521FA94E760}" type="presParOf" srcId="{9F79E8B7-80F0-4C27-9482-91EBC922B087}" destId="{9075182D-B084-4984-B4B2-7C05DA095D07}" srcOrd="0" destOrd="0" presId="urn:microsoft.com/office/officeart/2005/8/layout/hierarchy1"/>
    <dgm:cxn modelId="{6376D1E9-62B1-4FE1-BBCE-9D88F7DEBD80}" type="presParOf" srcId="{9075182D-B084-4984-B4B2-7C05DA095D07}" destId="{AFEE7776-40E5-449D-8988-A02194BAF841}" srcOrd="0" destOrd="0" presId="urn:microsoft.com/office/officeart/2005/8/layout/hierarchy1"/>
    <dgm:cxn modelId="{53B8D5F4-30E3-42CB-9025-E415750FB634}" type="presParOf" srcId="{9075182D-B084-4984-B4B2-7C05DA095D07}" destId="{57C64D4E-28A7-40AA-8DD8-1F6D109A419D}" srcOrd="1" destOrd="0" presId="urn:microsoft.com/office/officeart/2005/8/layout/hierarchy1"/>
    <dgm:cxn modelId="{5D4271AB-CD87-46D4-9C80-0A2A1E25D1E4}" type="presParOf" srcId="{9F79E8B7-80F0-4C27-9482-91EBC922B087}" destId="{01AA8414-AD0F-4C03-87C3-27978C3D3F3B}"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7A0543-5561-4990-866B-BCE990C8B51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26C00DD-A77E-4D12-B59C-25A5327316A3}">
      <dgm:prSet/>
      <dgm:spPr/>
      <dgm:t>
        <a:bodyPr/>
        <a:lstStyle/>
        <a:p>
          <a:r>
            <a:rPr lang="tr-TR"/>
            <a:t>Bu dönemdeki lojistik faaliyetler iki kavram altında toplanmıştır:</a:t>
          </a:r>
          <a:br>
            <a:rPr lang="tr-TR"/>
          </a:br>
          <a:endParaRPr lang="en-US"/>
        </a:p>
      </dgm:t>
    </dgm:pt>
    <dgm:pt modelId="{3BE2ED60-8171-4030-8483-32C4F9C7AE4E}" type="parTrans" cxnId="{5D17720B-701C-4000-8E91-2C44DDCCD502}">
      <dgm:prSet/>
      <dgm:spPr/>
      <dgm:t>
        <a:bodyPr/>
        <a:lstStyle/>
        <a:p>
          <a:endParaRPr lang="en-US"/>
        </a:p>
      </dgm:t>
    </dgm:pt>
    <dgm:pt modelId="{B3FD044A-DCE8-4908-9906-709F953C8B94}" type="sibTrans" cxnId="{5D17720B-701C-4000-8E91-2C44DDCCD502}">
      <dgm:prSet/>
      <dgm:spPr/>
      <dgm:t>
        <a:bodyPr/>
        <a:lstStyle/>
        <a:p>
          <a:endParaRPr lang="en-US"/>
        </a:p>
      </dgm:t>
    </dgm:pt>
    <dgm:pt modelId="{EFA2DAC5-87C8-4C76-B80A-13DFEF67F4D0}">
      <dgm:prSet/>
      <dgm:spPr/>
      <dgm:t>
        <a:bodyPr/>
        <a:lstStyle/>
        <a:p>
          <a:r>
            <a:rPr lang="tr-TR"/>
            <a:t>• Madde ve Malzeme Yönetimi</a:t>
          </a:r>
          <a:br>
            <a:rPr lang="tr-TR"/>
          </a:br>
          <a:r>
            <a:rPr lang="tr-TR"/>
            <a:t>• Fiziksel Dağıtım</a:t>
          </a:r>
          <a:endParaRPr lang="en-US"/>
        </a:p>
      </dgm:t>
    </dgm:pt>
    <dgm:pt modelId="{43378174-A4BD-408B-ADF0-A636B3655FE0}" type="parTrans" cxnId="{FDFD382C-3F62-427F-AF85-0D346B983BDD}">
      <dgm:prSet/>
      <dgm:spPr/>
      <dgm:t>
        <a:bodyPr/>
        <a:lstStyle/>
        <a:p>
          <a:endParaRPr lang="en-US"/>
        </a:p>
      </dgm:t>
    </dgm:pt>
    <dgm:pt modelId="{5894296F-FFF1-4B05-88DD-9307EB8747C2}" type="sibTrans" cxnId="{FDFD382C-3F62-427F-AF85-0D346B983BDD}">
      <dgm:prSet/>
      <dgm:spPr/>
      <dgm:t>
        <a:bodyPr/>
        <a:lstStyle/>
        <a:p>
          <a:endParaRPr lang="en-US"/>
        </a:p>
      </dgm:t>
    </dgm:pt>
    <dgm:pt modelId="{686D397D-B64F-4E9F-B12C-51B7C40AAD31}" type="pres">
      <dgm:prSet presAssocID="{1B7A0543-5561-4990-866B-BCE990C8B519}" presName="root" presStyleCnt="0">
        <dgm:presLayoutVars>
          <dgm:dir/>
          <dgm:resizeHandles val="exact"/>
        </dgm:presLayoutVars>
      </dgm:prSet>
      <dgm:spPr/>
    </dgm:pt>
    <dgm:pt modelId="{4CBD0AD9-FF8C-4089-9761-5AF228E025FE}" type="pres">
      <dgm:prSet presAssocID="{1B7A0543-5561-4990-866B-BCE990C8B519}" presName="container" presStyleCnt="0">
        <dgm:presLayoutVars>
          <dgm:dir/>
          <dgm:resizeHandles val="exact"/>
        </dgm:presLayoutVars>
      </dgm:prSet>
      <dgm:spPr/>
    </dgm:pt>
    <dgm:pt modelId="{E1D9E7A4-8642-4680-868D-EDF71EA99403}" type="pres">
      <dgm:prSet presAssocID="{B26C00DD-A77E-4D12-B59C-25A5327316A3}" presName="compNode" presStyleCnt="0"/>
      <dgm:spPr/>
    </dgm:pt>
    <dgm:pt modelId="{4FEE6657-157E-47CD-BD74-937518071966}" type="pres">
      <dgm:prSet presAssocID="{B26C00DD-A77E-4D12-B59C-25A5327316A3}" presName="iconBgRect" presStyleLbl="bgShp" presStyleIdx="0" presStyleCnt="2"/>
      <dgm:spPr/>
    </dgm:pt>
    <dgm:pt modelId="{073290A2-D607-4ACF-892B-7D0ED1C5052B}" type="pres">
      <dgm:prSet presAssocID="{B26C00DD-A77E-4D12-B59C-25A5327316A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züstü Güvenli"/>
        </a:ext>
      </dgm:extLst>
    </dgm:pt>
    <dgm:pt modelId="{8AE90D31-9963-4797-BA78-6DAF3C3A0A86}" type="pres">
      <dgm:prSet presAssocID="{B26C00DD-A77E-4D12-B59C-25A5327316A3}" presName="spaceRect" presStyleCnt="0"/>
      <dgm:spPr/>
    </dgm:pt>
    <dgm:pt modelId="{A1952236-F9FA-4677-BBE2-A1DDA85359EA}" type="pres">
      <dgm:prSet presAssocID="{B26C00DD-A77E-4D12-B59C-25A5327316A3}" presName="textRect" presStyleLbl="revTx" presStyleIdx="0" presStyleCnt="2">
        <dgm:presLayoutVars>
          <dgm:chMax val="1"/>
          <dgm:chPref val="1"/>
        </dgm:presLayoutVars>
      </dgm:prSet>
      <dgm:spPr/>
    </dgm:pt>
    <dgm:pt modelId="{5CD8C722-4B53-49A0-AF62-9BD510324A29}" type="pres">
      <dgm:prSet presAssocID="{B3FD044A-DCE8-4908-9906-709F953C8B94}" presName="sibTrans" presStyleLbl="sibTrans2D1" presStyleIdx="0" presStyleCnt="0"/>
      <dgm:spPr/>
    </dgm:pt>
    <dgm:pt modelId="{8F09FC78-6A82-4CE5-B0E1-E99BE758D17D}" type="pres">
      <dgm:prSet presAssocID="{EFA2DAC5-87C8-4C76-B80A-13DFEF67F4D0}" presName="compNode" presStyleCnt="0"/>
      <dgm:spPr/>
    </dgm:pt>
    <dgm:pt modelId="{F5DF1B20-6BA7-43F0-BCD3-E36FA7FA4C03}" type="pres">
      <dgm:prSet presAssocID="{EFA2DAC5-87C8-4C76-B80A-13DFEF67F4D0}" presName="iconBgRect" presStyleLbl="bgShp" presStyleIdx="1" presStyleCnt="2"/>
      <dgm:spPr/>
    </dgm:pt>
    <dgm:pt modelId="{50B353C7-AE89-4987-A0EB-80617C9937A2}" type="pres">
      <dgm:prSet presAssocID="{EFA2DAC5-87C8-4C76-B80A-13DFEF67F4D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p"/>
        </a:ext>
      </dgm:extLst>
    </dgm:pt>
    <dgm:pt modelId="{D86F00E1-8BE2-4514-87B8-03F1DFA71FC3}" type="pres">
      <dgm:prSet presAssocID="{EFA2DAC5-87C8-4C76-B80A-13DFEF67F4D0}" presName="spaceRect" presStyleCnt="0"/>
      <dgm:spPr/>
    </dgm:pt>
    <dgm:pt modelId="{7151CAFE-15D7-47A3-AB5C-3E3C07D6297D}" type="pres">
      <dgm:prSet presAssocID="{EFA2DAC5-87C8-4C76-B80A-13DFEF67F4D0}" presName="textRect" presStyleLbl="revTx" presStyleIdx="1" presStyleCnt="2">
        <dgm:presLayoutVars>
          <dgm:chMax val="1"/>
          <dgm:chPref val="1"/>
        </dgm:presLayoutVars>
      </dgm:prSet>
      <dgm:spPr/>
    </dgm:pt>
  </dgm:ptLst>
  <dgm:cxnLst>
    <dgm:cxn modelId="{5D17720B-701C-4000-8E91-2C44DDCCD502}" srcId="{1B7A0543-5561-4990-866B-BCE990C8B519}" destId="{B26C00DD-A77E-4D12-B59C-25A5327316A3}" srcOrd="0" destOrd="0" parTransId="{3BE2ED60-8171-4030-8483-32C4F9C7AE4E}" sibTransId="{B3FD044A-DCE8-4908-9906-709F953C8B94}"/>
    <dgm:cxn modelId="{FDFD382C-3F62-427F-AF85-0D346B983BDD}" srcId="{1B7A0543-5561-4990-866B-BCE990C8B519}" destId="{EFA2DAC5-87C8-4C76-B80A-13DFEF67F4D0}" srcOrd="1" destOrd="0" parTransId="{43378174-A4BD-408B-ADF0-A636B3655FE0}" sibTransId="{5894296F-FFF1-4B05-88DD-9307EB8747C2}"/>
    <dgm:cxn modelId="{8247F180-115D-421C-B27F-943AC6834EBB}" type="presOf" srcId="{B3FD044A-DCE8-4908-9906-709F953C8B94}" destId="{5CD8C722-4B53-49A0-AF62-9BD510324A29}" srcOrd="0" destOrd="0" presId="urn:microsoft.com/office/officeart/2018/2/layout/IconCircleList"/>
    <dgm:cxn modelId="{C1B7CC9B-9CAE-4B69-9C6E-D22DC5D99FA5}" type="presOf" srcId="{EFA2DAC5-87C8-4C76-B80A-13DFEF67F4D0}" destId="{7151CAFE-15D7-47A3-AB5C-3E3C07D6297D}" srcOrd="0" destOrd="0" presId="urn:microsoft.com/office/officeart/2018/2/layout/IconCircleList"/>
    <dgm:cxn modelId="{077E79AC-003F-4705-8E4D-1E9D26F0A7E4}" type="presOf" srcId="{B26C00DD-A77E-4D12-B59C-25A5327316A3}" destId="{A1952236-F9FA-4677-BBE2-A1DDA85359EA}" srcOrd="0" destOrd="0" presId="urn:microsoft.com/office/officeart/2018/2/layout/IconCircleList"/>
    <dgm:cxn modelId="{5AEA74D8-C8C0-446C-BD0F-6D95AA85547F}" type="presOf" srcId="{1B7A0543-5561-4990-866B-BCE990C8B519}" destId="{686D397D-B64F-4E9F-B12C-51B7C40AAD31}" srcOrd="0" destOrd="0" presId="urn:microsoft.com/office/officeart/2018/2/layout/IconCircleList"/>
    <dgm:cxn modelId="{9594C810-7E25-45D1-9B15-068F62DEEB4B}" type="presParOf" srcId="{686D397D-B64F-4E9F-B12C-51B7C40AAD31}" destId="{4CBD0AD9-FF8C-4089-9761-5AF228E025FE}" srcOrd="0" destOrd="0" presId="urn:microsoft.com/office/officeart/2018/2/layout/IconCircleList"/>
    <dgm:cxn modelId="{B42D3DE4-7F61-40D2-A4AB-5817596FBDBE}" type="presParOf" srcId="{4CBD0AD9-FF8C-4089-9761-5AF228E025FE}" destId="{E1D9E7A4-8642-4680-868D-EDF71EA99403}" srcOrd="0" destOrd="0" presId="urn:microsoft.com/office/officeart/2018/2/layout/IconCircleList"/>
    <dgm:cxn modelId="{47B5E985-BDB4-4DD8-BA60-0A89CD8FAB81}" type="presParOf" srcId="{E1D9E7A4-8642-4680-868D-EDF71EA99403}" destId="{4FEE6657-157E-47CD-BD74-937518071966}" srcOrd="0" destOrd="0" presId="urn:microsoft.com/office/officeart/2018/2/layout/IconCircleList"/>
    <dgm:cxn modelId="{1ED781EC-D747-4262-B7BE-8C4CB81C1D4F}" type="presParOf" srcId="{E1D9E7A4-8642-4680-868D-EDF71EA99403}" destId="{073290A2-D607-4ACF-892B-7D0ED1C5052B}" srcOrd="1" destOrd="0" presId="urn:microsoft.com/office/officeart/2018/2/layout/IconCircleList"/>
    <dgm:cxn modelId="{FE809901-91B0-471D-80F0-CE6766B98C09}" type="presParOf" srcId="{E1D9E7A4-8642-4680-868D-EDF71EA99403}" destId="{8AE90D31-9963-4797-BA78-6DAF3C3A0A86}" srcOrd="2" destOrd="0" presId="urn:microsoft.com/office/officeart/2018/2/layout/IconCircleList"/>
    <dgm:cxn modelId="{19B0182E-E88A-4FF5-BE7A-7DC6472CE980}" type="presParOf" srcId="{E1D9E7A4-8642-4680-868D-EDF71EA99403}" destId="{A1952236-F9FA-4677-BBE2-A1DDA85359EA}" srcOrd="3" destOrd="0" presId="urn:microsoft.com/office/officeart/2018/2/layout/IconCircleList"/>
    <dgm:cxn modelId="{1A2C077D-F7B4-4291-BCBA-480A2CEB332C}" type="presParOf" srcId="{4CBD0AD9-FF8C-4089-9761-5AF228E025FE}" destId="{5CD8C722-4B53-49A0-AF62-9BD510324A29}" srcOrd="1" destOrd="0" presId="urn:microsoft.com/office/officeart/2018/2/layout/IconCircleList"/>
    <dgm:cxn modelId="{9100195A-F00C-4633-849B-FEC03273032B}" type="presParOf" srcId="{4CBD0AD9-FF8C-4089-9761-5AF228E025FE}" destId="{8F09FC78-6A82-4CE5-B0E1-E99BE758D17D}" srcOrd="2" destOrd="0" presId="urn:microsoft.com/office/officeart/2018/2/layout/IconCircleList"/>
    <dgm:cxn modelId="{77720F5E-2179-4F0A-B277-C7F19CD6E353}" type="presParOf" srcId="{8F09FC78-6A82-4CE5-B0E1-E99BE758D17D}" destId="{F5DF1B20-6BA7-43F0-BCD3-E36FA7FA4C03}" srcOrd="0" destOrd="0" presId="urn:microsoft.com/office/officeart/2018/2/layout/IconCircleList"/>
    <dgm:cxn modelId="{DC925AE7-3C58-4446-81B2-BD8DBDFD30D7}" type="presParOf" srcId="{8F09FC78-6A82-4CE5-B0E1-E99BE758D17D}" destId="{50B353C7-AE89-4987-A0EB-80617C9937A2}" srcOrd="1" destOrd="0" presId="urn:microsoft.com/office/officeart/2018/2/layout/IconCircleList"/>
    <dgm:cxn modelId="{CC83B425-ECC0-48E5-AAB8-8CF9460F776E}" type="presParOf" srcId="{8F09FC78-6A82-4CE5-B0E1-E99BE758D17D}" destId="{D86F00E1-8BE2-4514-87B8-03F1DFA71FC3}" srcOrd="2" destOrd="0" presId="urn:microsoft.com/office/officeart/2018/2/layout/IconCircleList"/>
    <dgm:cxn modelId="{19ABD114-38FF-4913-AC4F-BA96684BE388}" type="presParOf" srcId="{8F09FC78-6A82-4CE5-B0E1-E99BE758D17D}" destId="{7151CAFE-15D7-47A3-AB5C-3E3C07D6297D}"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743C0-2B56-41EF-8DF3-D27970514256}">
      <dsp:nvSpPr>
        <dsp:cNvPr id="0" name=""/>
        <dsp:cNvSpPr/>
      </dsp:nvSpPr>
      <dsp:spPr>
        <a:xfrm>
          <a:off x="0" y="78641"/>
          <a:ext cx="4908899" cy="1439099"/>
        </a:xfrm>
        <a:prstGeom prst="roundRect">
          <a:avLst/>
        </a:prstGeom>
        <a:gradFill rotWithShape="0">
          <a:gsLst>
            <a:gs pos="0">
              <a:schemeClr val="accent5">
                <a:hueOff val="0"/>
                <a:satOff val="0"/>
                <a:lumOff val="0"/>
                <a:alphaOff val="0"/>
                <a:tint val="98000"/>
                <a:lumMod val="100000"/>
              </a:schemeClr>
            </a:gs>
            <a:gs pos="100000">
              <a:schemeClr val="accent5">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tr-TR" sz="6000" kern="1200"/>
            <a:t>Taşımacılık</a:t>
          </a:r>
          <a:endParaRPr lang="en-US" sz="6000" kern="1200"/>
        </a:p>
      </dsp:txBody>
      <dsp:txXfrm>
        <a:off x="70251" y="148892"/>
        <a:ext cx="4768397" cy="1298597"/>
      </dsp:txXfrm>
    </dsp:sp>
    <dsp:sp modelId="{E7EC51FF-C578-4379-B273-27896A6B7F43}">
      <dsp:nvSpPr>
        <dsp:cNvPr id="0" name=""/>
        <dsp:cNvSpPr/>
      </dsp:nvSpPr>
      <dsp:spPr>
        <a:xfrm>
          <a:off x="0" y="1690541"/>
          <a:ext cx="4908899" cy="1439099"/>
        </a:xfrm>
        <a:prstGeom prst="roundRect">
          <a:avLst/>
        </a:prstGeom>
        <a:gradFill rotWithShape="0">
          <a:gsLst>
            <a:gs pos="0">
              <a:schemeClr val="accent5">
                <a:hueOff val="-1002469"/>
                <a:satOff val="551"/>
                <a:lumOff val="2647"/>
                <a:alphaOff val="0"/>
                <a:tint val="98000"/>
                <a:lumMod val="100000"/>
              </a:schemeClr>
            </a:gs>
            <a:gs pos="100000">
              <a:schemeClr val="accent5">
                <a:hueOff val="-1002469"/>
                <a:satOff val="551"/>
                <a:lumOff val="2647"/>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tr-TR" sz="6000" kern="1200"/>
            <a:t>Lojistik</a:t>
          </a:r>
          <a:endParaRPr lang="en-US" sz="6000" kern="1200"/>
        </a:p>
      </dsp:txBody>
      <dsp:txXfrm>
        <a:off x="70251" y="1760792"/>
        <a:ext cx="4768397" cy="1298597"/>
      </dsp:txXfrm>
    </dsp:sp>
    <dsp:sp modelId="{C7EF31D7-0EC4-484E-82FA-819D4134F9E3}">
      <dsp:nvSpPr>
        <dsp:cNvPr id="0" name=""/>
        <dsp:cNvSpPr/>
      </dsp:nvSpPr>
      <dsp:spPr>
        <a:xfrm>
          <a:off x="0" y="3302441"/>
          <a:ext cx="4908899" cy="1439099"/>
        </a:xfrm>
        <a:prstGeom prst="roundRect">
          <a:avLst/>
        </a:prstGeom>
        <a:gradFill rotWithShape="0">
          <a:gsLst>
            <a:gs pos="0">
              <a:schemeClr val="accent5">
                <a:hueOff val="-2004937"/>
                <a:satOff val="1102"/>
                <a:lumOff val="5294"/>
                <a:alphaOff val="0"/>
                <a:tint val="98000"/>
                <a:lumMod val="100000"/>
              </a:schemeClr>
            </a:gs>
            <a:gs pos="100000">
              <a:schemeClr val="accent5">
                <a:hueOff val="-2004937"/>
                <a:satOff val="1102"/>
                <a:lumOff val="5294"/>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tr-TR" sz="6000" kern="1200"/>
            <a:t>Tedarik Zinciri</a:t>
          </a:r>
          <a:endParaRPr lang="en-US" sz="6000" kern="1200"/>
        </a:p>
      </dsp:txBody>
      <dsp:txXfrm>
        <a:off x="70251" y="3372692"/>
        <a:ext cx="4768397" cy="12985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5F4C0-8176-44F3-9C47-4D163145941F}">
      <dsp:nvSpPr>
        <dsp:cNvPr id="0" name=""/>
        <dsp:cNvSpPr/>
      </dsp:nvSpPr>
      <dsp:spPr>
        <a:xfrm>
          <a:off x="0" y="752947"/>
          <a:ext cx="4414719" cy="152126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1F9056-AFF3-4161-924E-8593655C4C5A}">
      <dsp:nvSpPr>
        <dsp:cNvPr id="0" name=""/>
        <dsp:cNvSpPr/>
      </dsp:nvSpPr>
      <dsp:spPr>
        <a:xfrm>
          <a:off x="460181" y="1095231"/>
          <a:ext cx="836694" cy="8366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12F84D5-6E2B-4D1E-8969-DD47245B2814}">
      <dsp:nvSpPr>
        <dsp:cNvPr id="0" name=""/>
        <dsp:cNvSpPr/>
      </dsp:nvSpPr>
      <dsp:spPr>
        <a:xfrm>
          <a:off x="1757057" y="752947"/>
          <a:ext cx="2657661" cy="1521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000" tIns="161000" rIns="161000" bIns="161000" numCol="1" spcCol="1270" anchor="ctr" anchorCtr="0">
          <a:noAutofit/>
        </a:bodyPr>
        <a:lstStyle/>
        <a:p>
          <a:pPr marL="0" lvl="0" indent="0" algn="l" defTabSz="622300">
            <a:lnSpc>
              <a:spcPct val="90000"/>
            </a:lnSpc>
            <a:spcBef>
              <a:spcPct val="0"/>
            </a:spcBef>
            <a:spcAft>
              <a:spcPct val="35000"/>
            </a:spcAft>
            <a:buNone/>
          </a:pPr>
          <a:r>
            <a:rPr lang="tr-TR" sz="1400" kern="1200"/>
            <a:t>Lojistik, Yunanca Logistikos kelimesinden türemiş olup</a:t>
          </a:r>
          <a:r>
            <a:rPr lang="en-GB" sz="1400" kern="1200"/>
            <a:t>, "</a:t>
          </a:r>
          <a:r>
            <a:rPr lang="tr-TR" sz="1400" kern="1200"/>
            <a:t>hesap</a:t>
          </a:r>
          <a:r>
            <a:rPr lang="en-GB" sz="1400" kern="1200"/>
            <a:t> </a:t>
          </a:r>
          <a:r>
            <a:rPr lang="tr-TR" sz="1400" kern="1200"/>
            <a:t>kitap yapma bilimi</a:t>
          </a:r>
          <a:r>
            <a:rPr lang="en-GB" sz="1400" kern="1200"/>
            <a:t>", "</a:t>
          </a:r>
          <a:r>
            <a:rPr lang="tr-TR" sz="1400" kern="1200"/>
            <a:t>hesapta becerikli" anlamına gelmektedir.</a:t>
          </a:r>
          <a:endParaRPr lang="en-US" sz="1400" kern="1200"/>
        </a:p>
      </dsp:txBody>
      <dsp:txXfrm>
        <a:off x="1757057" y="752947"/>
        <a:ext cx="2657661" cy="1521262"/>
      </dsp:txXfrm>
    </dsp:sp>
    <dsp:sp modelId="{A58E2795-9285-430A-96FC-2C289685EB69}">
      <dsp:nvSpPr>
        <dsp:cNvPr id="0" name=""/>
        <dsp:cNvSpPr/>
      </dsp:nvSpPr>
      <dsp:spPr>
        <a:xfrm>
          <a:off x="0" y="2643000"/>
          <a:ext cx="4414719" cy="152126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49BE5D-7108-4D2A-BDBD-521F3970E976}">
      <dsp:nvSpPr>
        <dsp:cNvPr id="0" name=""/>
        <dsp:cNvSpPr/>
      </dsp:nvSpPr>
      <dsp:spPr>
        <a:xfrm>
          <a:off x="460181" y="2985284"/>
          <a:ext cx="836694" cy="8366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B5251F7-7779-4027-9B29-C126DB0A9D16}">
      <dsp:nvSpPr>
        <dsp:cNvPr id="0" name=""/>
        <dsp:cNvSpPr/>
      </dsp:nvSpPr>
      <dsp:spPr>
        <a:xfrm>
          <a:off x="1757057" y="2643000"/>
          <a:ext cx="2657661" cy="1521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000" tIns="161000" rIns="161000" bIns="161000" numCol="1" spcCol="1270" anchor="ctr" anchorCtr="0">
          <a:noAutofit/>
        </a:bodyPr>
        <a:lstStyle/>
        <a:p>
          <a:pPr marL="0" lvl="0" indent="0" algn="l" defTabSz="622300">
            <a:lnSpc>
              <a:spcPct val="90000"/>
            </a:lnSpc>
            <a:spcBef>
              <a:spcPct val="0"/>
            </a:spcBef>
            <a:spcAft>
              <a:spcPct val="35000"/>
            </a:spcAft>
            <a:buNone/>
          </a:pPr>
          <a:r>
            <a:rPr lang="tr-TR" sz="1400" kern="1200"/>
            <a:t>Lojistik kelime kökeni itibariyle Latin dilinde lojik (mantık) ve static (istatistik) kelimelerinin birleşmesinden meydana gelmiştir ki sözlük anlamı olarak mantıki istatistiktir.</a:t>
          </a:r>
          <a:endParaRPr lang="en-US" sz="1400" kern="1200"/>
        </a:p>
      </dsp:txBody>
      <dsp:txXfrm>
        <a:off x="1757057" y="2643000"/>
        <a:ext cx="2657661" cy="15212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9ED29F-8978-4D6D-8D04-3929AC5E2375}">
      <dsp:nvSpPr>
        <dsp:cNvPr id="0" name=""/>
        <dsp:cNvSpPr/>
      </dsp:nvSpPr>
      <dsp:spPr>
        <a:xfrm>
          <a:off x="0" y="588"/>
          <a:ext cx="4908899" cy="0"/>
        </a:xfrm>
        <a:prstGeom prst="line">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w="9525" cap="rnd" cmpd="sng" algn="ctr">
          <a:solidFill>
            <a:schemeClr val="accent2">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A80F286-92B2-4107-A8B9-ABEB009ECAC3}">
      <dsp:nvSpPr>
        <dsp:cNvPr id="0" name=""/>
        <dsp:cNvSpPr/>
      </dsp:nvSpPr>
      <dsp:spPr>
        <a:xfrm>
          <a:off x="0" y="588"/>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tr-TR" sz="1500" b="1" kern="1200"/>
            <a:t>Askeri Kökenler:</a:t>
          </a:r>
          <a:r>
            <a:rPr lang="tr-TR" sz="1500" kern="1200"/>
            <a:t> Lojistik terimi ilk olarak askeri alanda kullanılmıştır. Orduların erzak, mühimmat ve diğer ihtiyaçlarını sağlamak için yapılan tüm faaliyetler lojistik olarak adlandırılırdı.</a:t>
          </a:r>
          <a:endParaRPr lang="en-US" sz="1500" kern="1200"/>
        </a:p>
      </dsp:txBody>
      <dsp:txXfrm>
        <a:off x="0" y="588"/>
        <a:ext cx="4908899" cy="963801"/>
      </dsp:txXfrm>
    </dsp:sp>
    <dsp:sp modelId="{3FCEE4E3-2B7B-4D7F-ADA3-3621206F4303}">
      <dsp:nvSpPr>
        <dsp:cNvPr id="0" name=""/>
        <dsp:cNvSpPr/>
      </dsp:nvSpPr>
      <dsp:spPr>
        <a:xfrm>
          <a:off x="0" y="964389"/>
          <a:ext cx="4908899" cy="0"/>
        </a:xfrm>
        <a:prstGeom prst="line">
          <a:avLst/>
        </a:prstGeom>
        <a:gradFill rotWithShape="0">
          <a:gsLst>
            <a:gs pos="0">
              <a:schemeClr val="accent2">
                <a:hueOff val="-777537"/>
                <a:satOff val="-4113"/>
                <a:lumOff val="-1568"/>
                <a:alphaOff val="0"/>
                <a:tint val="98000"/>
                <a:lumMod val="100000"/>
              </a:schemeClr>
            </a:gs>
            <a:gs pos="100000">
              <a:schemeClr val="accent2">
                <a:hueOff val="-777537"/>
                <a:satOff val="-4113"/>
                <a:lumOff val="-1568"/>
                <a:alphaOff val="0"/>
                <a:shade val="88000"/>
                <a:lumMod val="88000"/>
              </a:schemeClr>
            </a:gs>
          </a:gsLst>
          <a:lin ang="5400000" scaled="1"/>
        </a:gradFill>
        <a:ln w="9525" cap="rnd" cmpd="sng" algn="ctr">
          <a:solidFill>
            <a:schemeClr val="accent2">
              <a:hueOff val="-777537"/>
              <a:satOff val="-4113"/>
              <a:lumOff val="-1568"/>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420CF99-ABD0-4A36-8E40-311740CC673A}">
      <dsp:nvSpPr>
        <dsp:cNvPr id="0" name=""/>
        <dsp:cNvSpPr/>
      </dsp:nvSpPr>
      <dsp:spPr>
        <a:xfrm>
          <a:off x="0" y="964389"/>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tr-TR" sz="1500" b="1" kern="1200"/>
            <a:t>Sivil Hayata Geçiş:</a:t>
          </a:r>
          <a:r>
            <a:rPr lang="tr-TR" sz="1500" kern="1200"/>
            <a:t> Zamanla lojistik kavramı, sadece askeri alandan çıkıp sivil hayata da geçmiştir. Günümüzde üretimden tüketime kadar birçok alanda lojistik faaliyetler gerçekleştirilmektedir.</a:t>
          </a:r>
          <a:endParaRPr lang="en-US" sz="1500" kern="1200"/>
        </a:p>
      </dsp:txBody>
      <dsp:txXfrm>
        <a:off x="0" y="964389"/>
        <a:ext cx="4908899" cy="963801"/>
      </dsp:txXfrm>
    </dsp:sp>
    <dsp:sp modelId="{89825794-1C9C-47E9-8449-7A8157FFE1E9}">
      <dsp:nvSpPr>
        <dsp:cNvPr id="0" name=""/>
        <dsp:cNvSpPr/>
      </dsp:nvSpPr>
      <dsp:spPr>
        <a:xfrm>
          <a:off x="0" y="1928190"/>
          <a:ext cx="4908899" cy="0"/>
        </a:xfrm>
        <a:prstGeom prst="line">
          <a:avLst/>
        </a:prstGeom>
        <a:gradFill rotWithShape="0">
          <a:gsLst>
            <a:gs pos="0">
              <a:schemeClr val="accent2">
                <a:hueOff val="-1555074"/>
                <a:satOff val="-8227"/>
                <a:lumOff val="-3137"/>
                <a:alphaOff val="0"/>
                <a:tint val="98000"/>
                <a:lumMod val="100000"/>
              </a:schemeClr>
            </a:gs>
            <a:gs pos="100000">
              <a:schemeClr val="accent2">
                <a:hueOff val="-1555074"/>
                <a:satOff val="-8227"/>
                <a:lumOff val="-3137"/>
                <a:alphaOff val="0"/>
                <a:shade val="88000"/>
                <a:lumMod val="88000"/>
              </a:schemeClr>
            </a:gs>
          </a:gsLst>
          <a:lin ang="5400000" scaled="1"/>
        </a:gradFill>
        <a:ln w="9525" cap="rnd" cmpd="sng" algn="ctr">
          <a:solidFill>
            <a:schemeClr val="accent2">
              <a:hueOff val="-1555074"/>
              <a:satOff val="-8227"/>
              <a:lumOff val="-3137"/>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FA9110C-D2DF-431C-A72B-390F846E58E5}">
      <dsp:nvSpPr>
        <dsp:cNvPr id="0" name=""/>
        <dsp:cNvSpPr/>
      </dsp:nvSpPr>
      <dsp:spPr>
        <a:xfrm>
          <a:off x="0" y="1928190"/>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tr-TR" sz="1500" b="1" kern="1200"/>
            <a:t>Modern Anlamı:</a:t>
          </a:r>
          <a:r>
            <a:rPr lang="tr-TR" sz="1500" kern="1200"/>
            <a:t> Günümüzde lojistik, bir ürünün üretim noktasından tüketiciye ulaştırılıncaya kadar geçen süreçte yapılan tüm planlama, uygulama ve kontrol faaliyetlerini kapsamaktadır.</a:t>
          </a:r>
          <a:endParaRPr lang="en-US" sz="1500" kern="1200"/>
        </a:p>
      </dsp:txBody>
      <dsp:txXfrm>
        <a:off x="0" y="1928190"/>
        <a:ext cx="4908899" cy="963801"/>
      </dsp:txXfrm>
    </dsp:sp>
    <dsp:sp modelId="{BC630EAF-9F3D-402B-84D6-D65CDA9519E1}">
      <dsp:nvSpPr>
        <dsp:cNvPr id="0" name=""/>
        <dsp:cNvSpPr/>
      </dsp:nvSpPr>
      <dsp:spPr>
        <a:xfrm>
          <a:off x="0" y="2891991"/>
          <a:ext cx="4908899" cy="0"/>
        </a:xfrm>
        <a:prstGeom prst="line">
          <a:avLst/>
        </a:prstGeom>
        <a:gradFill rotWithShape="0">
          <a:gsLst>
            <a:gs pos="0">
              <a:schemeClr val="accent2">
                <a:hueOff val="-2332611"/>
                <a:satOff val="-12340"/>
                <a:lumOff val="-4705"/>
                <a:alphaOff val="0"/>
                <a:tint val="98000"/>
                <a:lumMod val="100000"/>
              </a:schemeClr>
            </a:gs>
            <a:gs pos="100000">
              <a:schemeClr val="accent2">
                <a:hueOff val="-2332611"/>
                <a:satOff val="-12340"/>
                <a:lumOff val="-4705"/>
                <a:alphaOff val="0"/>
                <a:shade val="88000"/>
                <a:lumMod val="88000"/>
              </a:schemeClr>
            </a:gs>
          </a:gsLst>
          <a:lin ang="5400000" scaled="1"/>
        </a:gradFill>
        <a:ln w="9525" cap="rnd" cmpd="sng" algn="ctr">
          <a:solidFill>
            <a:schemeClr val="accent2">
              <a:hueOff val="-2332611"/>
              <a:satOff val="-12340"/>
              <a:lumOff val="-4705"/>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3E744BB-54E7-48E2-BB90-A238EF53709C}">
      <dsp:nvSpPr>
        <dsp:cNvPr id="0" name=""/>
        <dsp:cNvSpPr/>
      </dsp:nvSpPr>
      <dsp:spPr>
        <a:xfrm>
          <a:off x="0" y="2891991"/>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tr-TR" sz="1500" b="1" kern="1200"/>
            <a:t>Özetle,</a:t>
          </a:r>
          <a:r>
            <a:rPr lang="tr-TR" sz="1500" kern="1200"/>
            <a:t> lojistik kelimesinin kökeni, hesaplama, planlama ve organizasyon kavramlarına dayanmaktadır. Askeri alanda ortaya çıkan bu kavram, günümüzde küresel ticaretin vazgeçilmez bir parçası haline gelmiştir.</a:t>
          </a:r>
          <a:endParaRPr lang="en-US" sz="1500" kern="1200"/>
        </a:p>
      </dsp:txBody>
      <dsp:txXfrm>
        <a:off x="0" y="2891991"/>
        <a:ext cx="4908899" cy="963801"/>
      </dsp:txXfrm>
    </dsp:sp>
    <dsp:sp modelId="{F5DD9BEA-3F19-4E95-AEFE-2E45A08E3714}">
      <dsp:nvSpPr>
        <dsp:cNvPr id="0" name=""/>
        <dsp:cNvSpPr/>
      </dsp:nvSpPr>
      <dsp:spPr>
        <a:xfrm>
          <a:off x="0" y="3855792"/>
          <a:ext cx="4908899" cy="0"/>
        </a:xfrm>
        <a:prstGeom prst="line">
          <a:avLst/>
        </a:prstGeom>
        <a:gradFill rotWithShape="0">
          <a:gsLst>
            <a:gs pos="0">
              <a:schemeClr val="accent2">
                <a:hueOff val="-3110148"/>
                <a:satOff val="-16453"/>
                <a:lumOff val="-6274"/>
                <a:alphaOff val="0"/>
                <a:tint val="98000"/>
                <a:lumMod val="100000"/>
              </a:schemeClr>
            </a:gs>
            <a:gs pos="100000">
              <a:schemeClr val="accent2">
                <a:hueOff val="-3110148"/>
                <a:satOff val="-16453"/>
                <a:lumOff val="-6274"/>
                <a:alphaOff val="0"/>
                <a:shade val="88000"/>
                <a:lumMod val="88000"/>
              </a:schemeClr>
            </a:gs>
          </a:gsLst>
          <a:lin ang="5400000" scaled="1"/>
        </a:gradFill>
        <a:ln w="9525" cap="rnd" cmpd="sng" algn="ctr">
          <a:solidFill>
            <a:schemeClr val="accent2">
              <a:hueOff val="-3110148"/>
              <a:satOff val="-16453"/>
              <a:lumOff val="-6274"/>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8478719-51DF-42EF-903A-F0F6F95F27C9}">
      <dsp:nvSpPr>
        <dsp:cNvPr id="0" name=""/>
        <dsp:cNvSpPr/>
      </dsp:nvSpPr>
      <dsp:spPr>
        <a:xfrm>
          <a:off x="0" y="3855792"/>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tr-TR" sz="1500" b="1" kern="1200"/>
            <a:t>Lojistik kelimesinin kökenini anlamak,</a:t>
          </a:r>
          <a:r>
            <a:rPr lang="tr-TR" sz="1500" kern="1200"/>
            <a:t> bu kavramın ne anlama geldiğini daha iyi kavramamıza yardımcı olur. Ayrıca, lojistiğin tarihsel gelişimini incelemek, günümüzdeki uygulamalarının nasıl şekillendiğini anlamamızı sağlar.</a:t>
          </a:r>
          <a:endParaRPr lang="en-US" sz="1500" kern="1200"/>
        </a:p>
      </dsp:txBody>
      <dsp:txXfrm>
        <a:off x="0" y="3855792"/>
        <a:ext cx="4908899" cy="9638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0D2045-91FE-440A-B279-79ACC4EE38C9}">
      <dsp:nvSpPr>
        <dsp:cNvPr id="0" name=""/>
        <dsp:cNvSpPr/>
      </dsp:nvSpPr>
      <dsp:spPr>
        <a:xfrm>
          <a:off x="672028" y="346951"/>
          <a:ext cx="987187" cy="987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17CDA8-7595-4AAB-94D0-F82EFA97A5FE}">
      <dsp:nvSpPr>
        <dsp:cNvPr id="0" name=""/>
        <dsp:cNvSpPr/>
      </dsp:nvSpPr>
      <dsp:spPr>
        <a:xfrm>
          <a:off x="68746" y="1953230"/>
          <a:ext cx="2193750" cy="25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tr-TR" sz="1800" kern="1200"/>
            <a:t>Tedarik zinciri, müşterinin doğru ürünleri veya hizmetleri, doğru yerde, istediği zamanda elde edebilmesini sağlayan faaliyetler, sistemler ve varlıklar ağı olarak tanımlanabilir.</a:t>
          </a:r>
          <a:endParaRPr lang="en-US" sz="1800" kern="1200"/>
        </a:p>
      </dsp:txBody>
      <dsp:txXfrm>
        <a:off x="68746" y="1953230"/>
        <a:ext cx="2193750" cy="2520000"/>
      </dsp:txXfrm>
    </dsp:sp>
    <dsp:sp modelId="{AA970B78-D4B8-498C-8F16-1C0D58392BA1}">
      <dsp:nvSpPr>
        <dsp:cNvPr id="0" name=""/>
        <dsp:cNvSpPr/>
      </dsp:nvSpPr>
      <dsp:spPr>
        <a:xfrm>
          <a:off x="3249684" y="346951"/>
          <a:ext cx="987187" cy="987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43B86D0-DF89-49E1-A000-80A4C4A54490}">
      <dsp:nvSpPr>
        <dsp:cNvPr id="0" name=""/>
        <dsp:cNvSpPr/>
      </dsp:nvSpPr>
      <dsp:spPr>
        <a:xfrm>
          <a:off x="2646403" y="1953230"/>
          <a:ext cx="2193750" cy="25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tr-TR" sz="1600" kern="1200"/>
            <a:t>Müşteriye, doğru ürünün, doğru zamanda, doğru yerde, doğru fiyata, tüm tedarik zinciri için mümkün olan en düşük maliyetle ulaşmasını sağlayan malzeme, bilgi ve para akışının entegre yönetimidir.</a:t>
          </a:r>
          <a:endParaRPr lang="en-US" sz="1600" kern="1200"/>
        </a:p>
      </dsp:txBody>
      <dsp:txXfrm>
        <a:off x="2646403" y="1953230"/>
        <a:ext cx="2193750" cy="25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7C65E0-25FC-43E8-91BA-9D67D38CE162}">
      <dsp:nvSpPr>
        <dsp:cNvPr id="0" name=""/>
        <dsp:cNvSpPr/>
      </dsp:nvSpPr>
      <dsp:spPr>
        <a:xfrm>
          <a:off x="0" y="2353"/>
          <a:ext cx="4908899" cy="0"/>
        </a:xfrm>
        <a:prstGeom prst="line">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w="9525" cap="rnd" cmpd="sng" algn="ctr">
          <a:solidFill>
            <a:schemeClr val="accent2">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9874DD7-54E8-4D55-B2C2-7D53E6B039B7}">
      <dsp:nvSpPr>
        <dsp:cNvPr id="0" name=""/>
        <dsp:cNvSpPr/>
      </dsp:nvSpPr>
      <dsp:spPr>
        <a:xfrm>
          <a:off x="0" y="2353"/>
          <a:ext cx="4908899" cy="1605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tr-TR" sz="1100" b="1" kern="1200"/>
            <a:t>20. Yüzyılın Başları:</a:t>
          </a:r>
        </a:p>
        <a:p>
          <a:pPr marL="0" lvl="0" indent="0" algn="l" defTabSz="488950">
            <a:lnSpc>
              <a:spcPct val="90000"/>
            </a:lnSpc>
            <a:spcBef>
              <a:spcPct val="0"/>
            </a:spcBef>
            <a:spcAft>
              <a:spcPct val="35000"/>
            </a:spcAft>
            <a:buFont typeface="Arial" panose="020B0604020202020204" pitchFamily="34" charset="0"/>
            <a:buNone/>
          </a:pPr>
          <a:r>
            <a:rPr lang="tr-TR" sz="1100" b="1" kern="1200"/>
            <a:t>Endüstri Devrimi'nin Etkisi:</a:t>
          </a:r>
          <a:r>
            <a:rPr lang="tr-TR" sz="1100" kern="1200"/>
            <a:t> Bu dönemde lojistik, üretim süreçleriyle doğrudan ilişkiliydi ve genellikle demiryolu ağı üzerinde gerçekleştirilirdi.</a:t>
          </a:r>
        </a:p>
        <a:p>
          <a:pPr marL="0" lvl="0" indent="0" algn="l" defTabSz="488950">
            <a:lnSpc>
              <a:spcPct val="90000"/>
            </a:lnSpc>
            <a:spcBef>
              <a:spcPct val="0"/>
            </a:spcBef>
            <a:spcAft>
              <a:spcPct val="35000"/>
            </a:spcAft>
            <a:buFont typeface="Arial" panose="020B0604020202020204" pitchFamily="34" charset="0"/>
            <a:buNone/>
          </a:pPr>
          <a:r>
            <a:rPr lang="tr-TR" sz="1100" b="1" kern="1200"/>
            <a:t>Depolama Odaklı Sistemler:</a:t>
          </a:r>
          <a:r>
            <a:rPr lang="tr-TR" sz="1100" kern="1200"/>
            <a:t> Büyük miktarlarda ürünlerin depolanması ve dağıtımı, lojistiğin temel faaliyetleri arasındaydı.</a:t>
          </a:r>
        </a:p>
      </dsp:txBody>
      <dsp:txXfrm>
        <a:off x="0" y="2353"/>
        <a:ext cx="4908899" cy="1605158"/>
      </dsp:txXfrm>
    </dsp:sp>
    <dsp:sp modelId="{17ED16F6-261F-49F7-B2A4-E4F7064CABD6}">
      <dsp:nvSpPr>
        <dsp:cNvPr id="0" name=""/>
        <dsp:cNvSpPr/>
      </dsp:nvSpPr>
      <dsp:spPr>
        <a:xfrm>
          <a:off x="0" y="1607511"/>
          <a:ext cx="4908899" cy="0"/>
        </a:xfrm>
        <a:prstGeom prst="line">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w="9525" cap="rnd" cmpd="sng" algn="ctr">
          <a:solidFill>
            <a:schemeClr val="accent3">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1417AE5-579D-4444-B505-78037F8EE7D7}">
      <dsp:nvSpPr>
        <dsp:cNvPr id="0" name=""/>
        <dsp:cNvSpPr/>
      </dsp:nvSpPr>
      <dsp:spPr>
        <a:xfrm>
          <a:off x="0" y="1607511"/>
          <a:ext cx="4908899" cy="1605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s-ES" sz="1100" b="1" kern="1200"/>
            <a:t>20. Yüzyılın Orta ve Sonları:</a:t>
          </a:r>
        </a:p>
        <a:p>
          <a:pPr marL="0" lvl="0" indent="0" algn="l" defTabSz="488950">
            <a:lnSpc>
              <a:spcPct val="90000"/>
            </a:lnSpc>
            <a:spcBef>
              <a:spcPct val="0"/>
            </a:spcBef>
            <a:spcAft>
              <a:spcPct val="35000"/>
            </a:spcAft>
            <a:buFont typeface="Arial" panose="020B0604020202020204" pitchFamily="34" charset="0"/>
            <a:buNone/>
          </a:pPr>
          <a:r>
            <a:rPr lang="tr-TR" sz="1100" b="1" kern="1200"/>
            <a:t>Kamyon Taşımacılığının Yükselişi:</a:t>
          </a:r>
          <a:r>
            <a:rPr lang="tr-TR" sz="1100" kern="1200"/>
            <a:t> Karayollarının gelişmesiyle birlikte kamyon taşımacılığı, lojistikte önemli bir yer edinmeye başladı.</a:t>
          </a:r>
        </a:p>
        <a:p>
          <a:pPr marL="0" lvl="0" indent="0" algn="l" defTabSz="488950">
            <a:lnSpc>
              <a:spcPct val="90000"/>
            </a:lnSpc>
            <a:spcBef>
              <a:spcPct val="0"/>
            </a:spcBef>
            <a:spcAft>
              <a:spcPct val="35000"/>
            </a:spcAft>
            <a:buFont typeface="Arial" panose="020B0604020202020204" pitchFamily="34" charset="0"/>
            <a:buNone/>
          </a:pPr>
          <a:r>
            <a:rPr lang="tr-TR" sz="1100" b="1" kern="1200"/>
            <a:t>Konteynerizasyon:</a:t>
          </a:r>
          <a:r>
            <a:rPr lang="tr-TR" sz="1100" kern="1200"/>
            <a:t> Standart boyutlarda konteynerlerin kullanılması, taşıma işlemlerini kolaylaştırdı ve maliyetleri düşürdü.</a:t>
          </a:r>
        </a:p>
        <a:p>
          <a:pPr marL="0" lvl="0" indent="0" algn="l" defTabSz="488950">
            <a:lnSpc>
              <a:spcPct val="90000"/>
            </a:lnSpc>
            <a:spcBef>
              <a:spcPct val="0"/>
            </a:spcBef>
            <a:spcAft>
              <a:spcPct val="35000"/>
            </a:spcAft>
            <a:buFont typeface="Arial" panose="020B0604020202020204" pitchFamily="34" charset="0"/>
            <a:buNone/>
          </a:pPr>
          <a:r>
            <a:rPr lang="tr-TR" sz="1100" b="1" kern="1200"/>
            <a:t>Lojistik Yönetim Sistemlerinin Gelişimi:</a:t>
          </a:r>
          <a:r>
            <a:rPr lang="tr-TR" sz="1100" kern="1200"/>
            <a:t> Lojistik süreçlerin daha etkin yönetilmesi için ilk bilgisayar tabanlı sistemler ortaya çıktı.</a:t>
          </a:r>
        </a:p>
      </dsp:txBody>
      <dsp:txXfrm>
        <a:off x="0" y="1607511"/>
        <a:ext cx="4908899" cy="1605158"/>
      </dsp:txXfrm>
    </dsp:sp>
    <dsp:sp modelId="{332F5C48-4C0E-46F9-B5DE-8407A06AE49D}">
      <dsp:nvSpPr>
        <dsp:cNvPr id="0" name=""/>
        <dsp:cNvSpPr/>
      </dsp:nvSpPr>
      <dsp:spPr>
        <a:xfrm>
          <a:off x="0" y="3212670"/>
          <a:ext cx="4908899" cy="0"/>
        </a:xfrm>
        <a:prstGeom prst="line">
          <a:avLst/>
        </a:prstGeom>
        <a:gradFill rotWithShape="0">
          <a:gsLst>
            <a:gs pos="0">
              <a:schemeClr val="accent4">
                <a:hueOff val="0"/>
                <a:satOff val="0"/>
                <a:lumOff val="0"/>
                <a:alphaOff val="0"/>
                <a:tint val="98000"/>
                <a:lumMod val="100000"/>
              </a:schemeClr>
            </a:gs>
            <a:gs pos="100000">
              <a:schemeClr val="accent4">
                <a:hueOff val="0"/>
                <a:satOff val="0"/>
                <a:lumOff val="0"/>
                <a:alphaOff val="0"/>
                <a:shade val="88000"/>
                <a:lumMod val="88000"/>
              </a:schemeClr>
            </a:gs>
          </a:gsLst>
          <a:lin ang="5400000" scaled="1"/>
        </a:gradFill>
        <a:ln w="9525" cap="rnd" cmpd="sng" algn="ctr">
          <a:solidFill>
            <a:schemeClr val="accent4">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3118579-5D3D-4038-9EB6-82774E22AE87}">
      <dsp:nvSpPr>
        <dsp:cNvPr id="0" name=""/>
        <dsp:cNvSpPr/>
      </dsp:nvSpPr>
      <dsp:spPr>
        <a:xfrm>
          <a:off x="0" y="3212670"/>
          <a:ext cx="4908899" cy="1605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tr-TR" sz="1100" b="1" kern="1200"/>
            <a:t>21. Yüzyılın Başları:</a:t>
          </a:r>
        </a:p>
        <a:p>
          <a:pPr marL="0" lvl="0" indent="0" algn="l" defTabSz="488950">
            <a:lnSpc>
              <a:spcPct val="90000"/>
            </a:lnSpc>
            <a:spcBef>
              <a:spcPct val="0"/>
            </a:spcBef>
            <a:spcAft>
              <a:spcPct val="35000"/>
            </a:spcAft>
            <a:buFont typeface="Arial" panose="020B0604020202020204" pitchFamily="34" charset="0"/>
            <a:buNone/>
          </a:pPr>
          <a:r>
            <a:rPr lang="tr-TR" sz="1100" b="1" kern="1200"/>
            <a:t>Küreselleşme ve Tedarik Zinciri Yönetimi:</a:t>
          </a:r>
          <a:r>
            <a:rPr lang="tr-TR" sz="1100" kern="1200"/>
            <a:t> Küreselleşmeyle birlikte tedarik zincirleri karmaşıklaştı ve lojistik şirketleri, tüm tedarik zinciri süreçlerini yönetmek zorunda kaldı.</a:t>
          </a:r>
        </a:p>
        <a:p>
          <a:pPr marL="0" lvl="0" indent="0" algn="l" defTabSz="488950">
            <a:lnSpc>
              <a:spcPct val="90000"/>
            </a:lnSpc>
            <a:spcBef>
              <a:spcPct val="0"/>
            </a:spcBef>
            <a:spcAft>
              <a:spcPct val="35000"/>
            </a:spcAft>
            <a:buFont typeface="Arial" panose="020B0604020202020204" pitchFamily="34" charset="0"/>
            <a:buNone/>
          </a:pPr>
          <a:r>
            <a:rPr lang="tr-TR" sz="1100" b="1" kern="1200"/>
            <a:t>E-ticaretin Etkisi:</a:t>
          </a:r>
          <a:r>
            <a:rPr lang="tr-TR" sz="1100" kern="1200"/>
            <a:t> E-ticaretin hızlı büyümesi, son kullanıcıya yönelik lojistik hizmetlerin önemini artırdı.</a:t>
          </a:r>
        </a:p>
        <a:p>
          <a:pPr marL="0" lvl="0" indent="0" algn="l" defTabSz="488950">
            <a:lnSpc>
              <a:spcPct val="90000"/>
            </a:lnSpc>
            <a:spcBef>
              <a:spcPct val="0"/>
            </a:spcBef>
            <a:spcAft>
              <a:spcPct val="35000"/>
            </a:spcAft>
            <a:buFont typeface="Arial" panose="020B0604020202020204" pitchFamily="34" charset="0"/>
            <a:buNone/>
          </a:pPr>
          <a:r>
            <a:rPr lang="tr-TR" sz="1100" b="1" kern="1200"/>
            <a:t>Teknolojik Gelişmeler:</a:t>
          </a:r>
          <a:r>
            <a:rPr lang="tr-TR" sz="1100" kern="1200"/>
            <a:t> Barkod okuyucular, RFID teknolojisi gibi araçlar, lojistik süreçlerin otomasyonuna katkı sağladı.</a:t>
          </a:r>
        </a:p>
      </dsp:txBody>
      <dsp:txXfrm>
        <a:off x="0" y="3212670"/>
        <a:ext cx="4908899" cy="16051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0FBCAE-87AF-43BE-B265-7DB3B3702318}">
      <dsp:nvSpPr>
        <dsp:cNvPr id="0" name=""/>
        <dsp:cNvSpPr/>
      </dsp:nvSpPr>
      <dsp:spPr>
        <a:xfrm>
          <a:off x="0" y="1559"/>
          <a:ext cx="4908899" cy="664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A5F0B-EB5D-4F9D-96E3-E3BF7BA37290}">
      <dsp:nvSpPr>
        <dsp:cNvPr id="0" name=""/>
        <dsp:cNvSpPr/>
      </dsp:nvSpPr>
      <dsp:spPr>
        <a:xfrm>
          <a:off x="200987" y="151054"/>
          <a:ext cx="365432" cy="3654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CDA2F43-0C53-406B-AF34-7C8530D8E13A}">
      <dsp:nvSpPr>
        <dsp:cNvPr id="0" name=""/>
        <dsp:cNvSpPr/>
      </dsp:nvSpPr>
      <dsp:spPr>
        <a:xfrm>
          <a:off x="767408" y="1559"/>
          <a:ext cx="4141491" cy="66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8" tIns="70318" rIns="70318" bIns="70318" numCol="1" spcCol="1270" anchor="ctr" anchorCtr="0">
          <a:noAutofit/>
        </a:bodyPr>
        <a:lstStyle/>
        <a:p>
          <a:pPr marL="0" lvl="0" indent="0" algn="l" defTabSz="800100">
            <a:lnSpc>
              <a:spcPct val="90000"/>
            </a:lnSpc>
            <a:spcBef>
              <a:spcPct val="0"/>
            </a:spcBef>
            <a:spcAft>
              <a:spcPct val="35000"/>
            </a:spcAft>
            <a:buNone/>
          </a:pPr>
          <a:r>
            <a:rPr lang="tr-TR" sz="1800" kern="1200"/>
            <a:t>Taşıma (nakliye)</a:t>
          </a:r>
          <a:endParaRPr lang="en-US" sz="1800" kern="1200"/>
        </a:p>
      </dsp:txBody>
      <dsp:txXfrm>
        <a:off x="767408" y="1559"/>
        <a:ext cx="4141491" cy="664422"/>
      </dsp:txXfrm>
    </dsp:sp>
    <dsp:sp modelId="{5A68D4A8-AAE6-4FDE-B635-F8171E417575}">
      <dsp:nvSpPr>
        <dsp:cNvPr id="0" name=""/>
        <dsp:cNvSpPr/>
      </dsp:nvSpPr>
      <dsp:spPr>
        <a:xfrm>
          <a:off x="0" y="832087"/>
          <a:ext cx="4908899" cy="664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8DF3EB-E2FD-47C9-A1BD-AAFD01583074}">
      <dsp:nvSpPr>
        <dsp:cNvPr id="0" name=""/>
        <dsp:cNvSpPr/>
      </dsp:nvSpPr>
      <dsp:spPr>
        <a:xfrm>
          <a:off x="200987" y="981582"/>
          <a:ext cx="365432" cy="3654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EB2D5D-BF98-4EE5-9095-1F5CD957DF5F}">
      <dsp:nvSpPr>
        <dsp:cNvPr id="0" name=""/>
        <dsp:cNvSpPr/>
      </dsp:nvSpPr>
      <dsp:spPr>
        <a:xfrm>
          <a:off x="767408" y="832087"/>
          <a:ext cx="4141491" cy="66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8" tIns="70318" rIns="70318" bIns="70318" numCol="1" spcCol="1270" anchor="ctr" anchorCtr="0">
          <a:noAutofit/>
        </a:bodyPr>
        <a:lstStyle/>
        <a:p>
          <a:pPr marL="0" lvl="0" indent="0" algn="l" defTabSz="800100">
            <a:lnSpc>
              <a:spcPct val="90000"/>
            </a:lnSpc>
            <a:spcBef>
              <a:spcPct val="0"/>
            </a:spcBef>
            <a:spcAft>
              <a:spcPct val="35000"/>
            </a:spcAft>
            <a:buNone/>
          </a:pPr>
          <a:r>
            <a:rPr lang="tr-TR" sz="1800" kern="1200"/>
            <a:t>Taşıma yolunun ve aracıların seçimini yapmak</a:t>
          </a:r>
          <a:endParaRPr lang="en-US" sz="1800" kern="1200"/>
        </a:p>
      </dsp:txBody>
      <dsp:txXfrm>
        <a:off x="767408" y="832087"/>
        <a:ext cx="4141491" cy="664422"/>
      </dsp:txXfrm>
    </dsp:sp>
    <dsp:sp modelId="{7AA39E50-6257-4889-BF8D-81C72BAB4005}">
      <dsp:nvSpPr>
        <dsp:cNvPr id="0" name=""/>
        <dsp:cNvSpPr/>
      </dsp:nvSpPr>
      <dsp:spPr>
        <a:xfrm>
          <a:off x="0" y="1662615"/>
          <a:ext cx="4908899" cy="664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339B5-ABF2-4B53-8691-B4E384190FD2}">
      <dsp:nvSpPr>
        <dsp:cNvPr id="0" name=""/>
        <dsp:cNvSpPr/>
      </dsp:nvSpPr>
      <dsp:spPr>
        <a:xfrm>
          <a:off x="200987" y="1812110"/>
          <a:ext cx="365432" cy="3654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FEDD83-79D3-4303-9BC0-704DE41BC184}">
      <dsp:nvSpPr>
        <dsp:cNvPr id="0" name=""/>
        <dsp:cNvSpPr/>
      </dsp:nvSpPr>
      <dsp:spPr>
        <a:xfrm>
          <a:off x="767408" y="1662615"/>
          <a:ext cx="4141491" cy="66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8" tIns="70318" rIns="70318" bIns="70318" numCol="1" spcCol="1270" anchor="ctr" anchorCtr="0">
          <a:noAutofit/>
        </a:bodyPr>
        <a:lstStyle/>
        <a:p>
          <a:pPr marL="0" lvl="0" indent="0" algn="l" defTabSz="800100">
            <a:lnSpc>
              <a:spcPct val="90000"/>
            </a:lnSpc>
            <a:spcBef>
              <a:spcPct val="0"/>
            </a:spcBef>
            <a:spcAft>
              <a:spcPct val="35000"/>
            </a:spcAft>
            <a:buNone/>
          </a:pPr>
          <a:r>
            <a:rPr lang="tr-TR" sz="1800" kern="1200"/>
            <a:t>Yük bölme‐birleştirme işlemlerini yürütmek</a:t>
          </a:r>
          <a:endParaRPr lang="en-US" sz="1800" kern="1200"/>
        </a:p>
      </dsp:txBody>
      <dsp:txXfrm>
        <a:off x="767408" y="1662615"/>
        <a:ext cx="4141491" cy="664422"/>
      </dsp:txXfrm>
    </dsp:sp>
    <dsp:sp modelId="{0BD30378-82E1-4A05-A5B4-76C450DAFFC6}">
      <dsp:nvSpPr>
        <dsp:cNvPr id="0" name=""/>
        <dsp:cNvSpPr/>
      </dsp:nvSpPr>
      <dsp:spPr>
        <a:xfrm>
          <a:off x="0" y="2493143"/>
          <a:ext cx="4908899" cy="664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400310-6F1D-40AF-92BE-47CD8ED26326}">
      <dsp:nvSpPr>
        <dsp:cNvPr id="0" name=""/>
        <dsp:cNvSpPr/>
      </dsp:nvSpPr>
      <dsp:spPr>
        <a:xfrm>
          <a:off x="200987" y="2642638"/>
          <a:ext cx="365432" cy="3654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775EC29-C05D-403B-ACFB-828624437B1A}">
      <dsp:nvSpPr>
        <dsp:cNvPr id="0" name=""/>
        <dsp:cNvSpPr/>
      </dsp:nvSpPr>
      <dsp:spPr>
        <a:xfrm>
          <a:off x="767408" y="2493143"/>
          <a:ext cx="4141491" cy="66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8" tIns="70318" rIns="70318" bIns="70318" numCol="1" spcCol="1270" anchor="ctr" anchorCtr="0">
          <a:noAutofit/>
        </a:bodyPr>
        <a:lstStyle/>
        <a:p>
          <a:pPr marL="0" lvl="0" indent="0" algn="l" defTabSz="800100">
            <a:lnSpc>
              <a:spcPct val="90000"/>
            </a:lnSpc>
            <a:spcBef>
              <a:spcPct val="0"/>
            </a:spcBef>
            <a:spcAft>
              <a:spcPct val="35000"/>
            </a:spcAft>
            <a:buNone/>
          </a:pPr>
          <a:r>
            <a:rPr lang="tr-TR" sz="1800" kern="1200"/>
            <a:t>Rota planlama ve çizelgeleme yapmak</a:t>
          </a:r>
          <a:endParaRPr lang="en-US" sz="1800" kern="1200"/>
        </a:p>
      </dsp:txBody>
      <dsp:txXfrm>
        <a:off x="767408" y="2493143"/>
        <a:ext cx="4141491" cy="664422"/>
      </dsp:txXfrm>
    </dsp:sp>
    <dsp:sp modelId="{42179BC7-EB1F-4E0F-A922-9AD9EE565EAE}">
      <dsp:nvSpPr>
        <dsp:cNvPr id="0" name=""/>
        <dsp:cNvSpPr/>
      </dsp:nvSpPr>
      <dsp:spPr>
        <a:xfrm>
          <a:off x="0" y="3323672"/>
          <a:ext cx="4908899" cy="664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B980BA-9DCA-4A1A-A9BE-18EC9CA03B43}">
      <dsp:nvSpPr>
        <dsp:cNvPr id="0" name=""/>
        <dsp:cNvSpPr/>
      </dsp:nvSpPr>
      <dsp:spPr>
        <a:xfrm>
          <a:off x="200987" y="3473167"/>
          <a:ext cx="365432" cy="36543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8A42E46-6971-4104-BDDE-FD9380F8256B}">
      <dsp:nvSpPr>
        <dsp:cNvPr id="0" name=""/>
        <dsp:cNvSpPr/>
      </dsp:nvSpPr>
      <dsp:spPr>
        <a:xfrm>
          <a:off x="767408" y="3323672"/>
          <a:ext cx="4141491" cy="66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8" tIns="70318" rIns="70318" bIns="70318" numCol="1" spcCol="1270" anchor="ctr" anchorCtr="0">
          <a:noAutofit/>
        </a:bodyPr>
        <a:lstStyle/>
        <a:p>
          <a:pPr marL="0" lvl="0" indent="0" algn="l" defTabSz="800100">
            <a:lnSpc>
              <a:spcPct val="90000"/>
            </a:lnSpc>
            <a:spcBef>
              <a:spcPct val="0"/>
            </a:spcBef>
            <a:spcAft>
              <a:spcPct val="35000"/>
            </a:spcAft>
            <a:buNone/>
          </a:pPr>
          <a:r>
            <a:rPr lang="tr-TR" sz="1800" kern="1200"/>
            <a:t>Ekipman seçimine karar vermek</a:t>
          </a:r>
          <a:endParaRPr lang="en-US" sz="1800" kern="1200"/>
        </a:p>
      </dsp:txBody>
      <dsp:txXfrm>
        <a:off x="767408" y="3323672"/>
        <a:ext cx="4141491" cy="664422"/>
      </dsp:txXfrm>
    </dsp:sp>
    <dsp:sp modelId="{6F2A9696-43A3-4F87-B01D-EF2D421285E3}">
      <dsp:nvSpPr>
        <dsp:cNvPr id="0" name=""/>
        <dsp:cNvSpPr/>
      </dsp:nvSpPr>
      <dsp:spPr>
        <a:xfrm>
          <a:off x="0" y="4154200"/>
          <a:ext cx="4908899" cy="664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3FDAA-7093-4109-ACC2-CC1286D1A988}">
      <dsp:nvSpPr>
        <dsp:cNvPr id="0" name=""/>
        <dsp:cNvSpPr/>
      </dsp:nvSpPr>
      <dsp:spPr>
        <a:xfrm>
          <a:off x="200987" y="4303695"/>
          <a:ext cx="365432" cy="36543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4D39F55-402A-41C1-B6F6-05BAB4E37BC9}">
      <dsp:nvSpPr>
        <dsp:cNvPr id="0" name=""/>
        <dsp:cNvSpPr/>
      </dsp:nvSpPr>
      <dsp:spPr>
        <a:xfrm>
          <a:off x="767408" y="4154200"/>
          <a:ext cx="4141491" cy="66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8" tIns="70318" rIns="70318" bIns="70318" numCol="1" spcCol="1270" anchor="ctr" anchorCtr="0">
          <a:noAutofit/>
        </a:bodyPr>
        <a:lstStyle/>
        <a:p>
          <a:pPr marL="0" lvl="0" indent="0" algn="l" defTabSz="800100">
            <a:lnSpc>
              <a:spcPct val="90000"/>
            </a:lnSpc>
            <a:spcBef>
              <a:spcPct val="0"/>
            </a:spcBef>
            <a:spcAft>
              <a:spcPct val="35000"/>
            </a:spcAft>
            <a:buNone/>
          </a:pPr>
          <a:r>
            <a:rPr lang="tr-TR" sz="1800" kern="1200"/>
            <a:t>Taşıma maliyet kararlarını almak</a:t>
          </a:r>
          <a:endParaRPr lang="en-US" sz="1800" kern="1200"/>
        </a:p>
      </dsp:txBody>
      <dsp:txXfrm>
        <a:off x="767408" y="4154200"/>
        <a:ext cx="4141491" cy="6644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C85F0D-8092-448B-AFB9-BBA84ABE072E}">
      <dsp:nvSpPr>
        <dsp:cNvPr id="0" name=""/>
        <dsp:cNvSpPr/>
      </dsp:nvSpPr>
      <dsp:spPr>
        <a:xfrm>
          <a:off x="0" y="588"/>
          <a:ext cx="4908899" cy="0"/>
        </a:xfrm>
        <a:prstGeom prst="line">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w="9525" cap="rnd" cmpd="sng" algn="ctr">
          <a:solidFill>
            <a:schemeClr val="accent2">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B5C3D6C-9CB1-4712-97A6-D95AB523BB4F}">
      <dsp:nvSpPr>
        <dsp:cNvPr id="0" name=""/>
        <dsp:cNvSpPr/>
      </dsp:nvSpPr>
      <dsp:spPr>
        <a:xfrm>
          <a:off x="0" y="588"/>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b="1" kern="1200"/>
            <a:t>STOK (ENVANTER) YÖNETİMİ</a:t>
          </a:r>
          <a:endParaRPr lang="en-US" sz="2700" b="1" kern="1200"/>
        </a:p>
      </dsp:txBody>
      <dsp:txXfrm>
        <a:off x="0" y="588"/>
        <a:ext cx="4908899" cy="963801"/>
      </dsp:txXfrm>
    </dsp:sp>
    <dsp:sp modelId="{C7AF226D-E371-4168-81F2-6EE750DD6D9E}">
      <dsp:nvSpPr>
        <dsp:cNvPr id="0" name=""/>
        <dsp:cNvSpPr/>
      </dsp:nvSpPr>
      <dsp:spPr>
        <a:xfrm>
          <a:off x="0" y="964389"/>
          <a:ext cx="4908899" cy="0"/>
        </a:xfrm>
        <a:prstGeom prst="line">
          <a:avLst/>
        </a:prstGeom>
        <a:gradFill rotWithShape="0">
          <a:gsLst>
            <a:gs pos="0">
              <a:schemeClr val="accent2">
                <a:hueOff val="-777537"/>
                <a:satOff val="-4113"/>
                <a:lumOff val="-1568"/>
                <a:alphaOff val="0"/>
                <a:tint val="98000"/>
                <a:lumMod val="100000"/>
              </a:schemeClr>
            </a:gs>
            <a:gs pos="100000">
              <a:schemeClr val="accent2">
                <a:hueOff val="-777537"/>
                <a:satOff val="-4113"/>
                <a:lumOff val="-1568"/>
                <a:alphaOff val="0"/>
                <a:shade val="88000"/>
                <a:lumMod val="88000"/>
              </a:schemeClr>
            </a:gs>
          </a:gsLst>
          <a:lin ang="5400000" scaled="1"/>
        </a:gradFill>
        <a:ln w="9525" cap="rnd" cmpd="sng" algn="ctr">
          <a:solidFill>
            <a:schemeClr val="accent2">
              <a:hueOff val="-777537"/>
              <a:satOff val="-4113"/>
              <a:lumOff val="-1568"/>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BCEFF5D-651B-46B3-AB29-C2A9A26166D7}">
      <dsp:nvSpPr>
        <dsp:cNvPr id="0" name=""/>
        <dsp:cNvSpPr/>
      </dsp:nvSpPr>
      <dsp:spPr>
        <a:xfrm>
          <a:off x="0" y="964389"/>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a:t>Kısa dönemli talep tahminleri yapmak</a:t>
          </a:r>
          <a:endParaRPr lang="en-US" sz="2700" kern="1200"/>
        </a:p>
      </dsp:txBody>
      <dsp:txXfrm>
        <a:off x="0" y="964389"/>
        <a:ext cx="4908899" cy="963801"/>
      </dsp:txXfrm>
    </dsp:sp>
    <dsp:sp modelId="{0E02AC41-52C7-4255-BE56-5E4A265A2C15}">
      <dsp:nvSpPr>
        <dsp:cNvPr id="0" name=""/>
        <dsp:cNvSpPr/>
      </dsp:nvSpPr>
      <dsp:spPr>
        <a:xfrm>
          <a:off x="0" y="1928190"/>
          <a:ext cx="4908899" cy="0"/>
        </a:xfrm>
        <a:prstGeom prst="line">
          <a:avLst/>
        </a:prstGeom>
        <a:gradFill rotWithShape="0">
          <a:gsLst>
            <a:gs pos="0">
              <a:schemeClr val="accent2">
                <a:hueOff val="-1555074"/>
                <a:satOff val="-8227"/>
                <a:lumOff val="-3137"/>
                <a:alphaOff val="0"/>
                <a:tint val="98000"/>
                <a:lumMod val="100000"/>
              </a:schemeClr>
            </a:gs>
            <a:gs pos="100000">
              <a:schemeClr val="accent2">
                <a:hueOff val="-1555074"/>
                <a:satOff val="-8227"/>
                <a:lumOff val="-3137"/>
                <a:alphaOff val="0"/>
                <a:shade val="88000"/>
                <a:lumMod val="88000"/>
              </a:schemeClr>
            </a:gs>
          </a:gsLst>
          <a:lin ang="5400000" scaled="1"/>
        </a:gradFill>
        <a:ln w="9525" cap="rnd" cmpd="sng" algn="ctr">
          <a:solidFill>
            <a:schemeClr val="accent2">
              <a:hueOff val="-1555074"/>
              <a:satOff val="-8227"/>
              <a:lumOff val="-3137"/>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26141BB-91E3-4578-84EF-B1E797EA71EC}">
      <dsp:nvSpPr>
        <dsp:cNvPr id="0" name=""/>
        <dsp:cNvSpPr/>
      </dsp:nvSpPr>
      <dsp:spPr>
        <a:xfrm>
          <a:off x="0" y="1928190"/>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a:t>Hammadde ve ürün stok politikaları belirlemek</a:t>
          </a:r>
          <a:endParaRPr lang="en-US" sz="2700" kern="1200"/>
        </a:p>
      </dsp:txBody>
      <dsp:txXfrm>
        <a:off x="0" y="1928190"/>
        <a:ext cx="4908899" cy="963801"/>
      </dsp:txXfrm>
    </dsp:sp>
    <dsp:sp modelId="{07315BED-A16A-4E68-82FB-1FCF14AEC684}">
      <dsp:nvSpPr>
        <dsp:cNvPr id="0" name=""/>
        <dsp:cNvSpPr/>
      </dsp:nvSpPr>
      <dsp:spPr>
        <a:xfrm>
          <a:off x="0" y="2891991"/>
          <a:ext cx="4908899" cy="0"/>
        </a:xfrm>
        <a:prstGeom prst="line">
          <a:avLst/>
        </a:prstGeom>
        <a:gradFill rotWithShape="0">
          <a:gsLst>
            <a:gs pos="0">
              <a:schemeClr val="accent2">
                <a:hueOff val="-2332611"/>
                <a:satOff val="-12340"/>
                <a:lumOff val="-4705"/>
                <a:alphaOff val="0"/>
                <a:tint val="98000"/>
                <a:lumMod val="100000"/>
              </a:schemeClr>
            </a:gs>
            <a:gs pos="100000">
              <a:schemeClr val="accent2">
                <a:hueOff val="-2332611"/>
                <a:satOff val="-12340"/>
                <a:lumOff val="-4705"/>
                <a:alphaOff val="0"/>
                <a:shade val="88000"/>
                <a:lumMod val="88000"/>
              </a:schemeClr>
            </a:gs>
          </a:gsLst>
          <a:lin ang="5400000" scaled="1"/>
        </a:gradFill>
        <a:ln w="9525" cap="rnd" cmpd="sng" algn="ctr">
          <a:solidFill>
            <a:schemeClr val="accent2">
              <a:hueOff val="-2332611"/>
              <a:satOff val="-12340"/>
              <a:lumOff val="-4705"/>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B54E3D3-288E-4FF4-A80B-C387D2AFF259}">
      <dsp:nvSpPr>
        <dsp:cNvPr id="0" name=""/>
        <dsp:cNvSpPr/>
      </dsp:nvSpPr>
      <dsp:spPr>
        <a:xfrm>
          <a:off x="0" y="2891991"/>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a:t>Stok noktalarında ürün karmalarını oluşturmak</a:t>
          </a:r>
          <a:endParaRPr lang="en-US" sz="2700" kern="1200"/>
        </a:p>
      </dsp:txBody>
      <dsp:txXfrm>
        <a:off x="0" y="2891991"/>
        <a:ext cx="4908899" cy="963801"/>
      </dsp:txXfrm>
    </dsp:sp>
    <dsp:sp modelId="{1E029A31-A87C-41FD-BB84-71A65192385A}">
      <dsp:nvSpPr>
        <dsp:cNvPr id="0" name=""/>
        <dsp:cNvSpPr/>
      </dsp:nvSpPr>
      <dsp:spPr>
        <a:xfrm>
          <a:off x="0" y="3855792"/>
          <a:ext cx="4908899" cy="0"/>
        </a:xfrm>
        <a:prstGeom prst="line">
          <a:avLst/>
        </a:prstGeom>
        <a:gradFill rotWithShape="0">
          <a:gsLst>
            <a:gs pos="0">
              <a:schemeClr val="accent2">
                <a:hueOff val="-3110148"/>
                <a:satOff val="-16453"/>
                <a:lumOff val="-6274"/>
                <a:alphaOff val="0"/>
                <a:tint val="98000"/>
                <a:lumMod val="100000"/>
              </a:schemeClr>
            </a:gs>
            <a:gs pos="100000">
              <a:schemeClr val="accent2">
                <a:hueOff val="-3110148"/>
                <a:satOff val="-16453"/>
                <a:lumOff val="-6274"/>
                <a:alphaOff val="0"/>
                <a:shade val="88000"/>
                <a:lumMod val="88000"/>
              </a:schemeClr>
            </a:gs>
          </a:gsLst>
          <a:lin ang="5400000" scaled="1"/>
        </a:gradFill>
        <a:ln w="9525" cap="rnd" cmpd="sng" algn="ctr">
          <a:solidFill>
            <a:schemeClr val="accent2">
              <a:hueOff val="-3110148"/>
              <a:satOff val="-16453"/>
              <a:lumOff val="-6274"/>
              <a:alphaOff val="0"/>
            </a:schemeClr>
          </a:solidFill>
          <a:prstDash val="solid"/>
        </a:ln>
        <a:effectLst>
          <a:outerShdw blurRad="50800" dist="381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175C22A-D143-4A4B-9020-247082155774}">
      <dsp:nvSpPr>
        <dsp:cNvPr id="0" name=""/>
        <dsp:cNvSpPr/>
      </dsp:nvSpPr>
      <dsp:spPr>
        <a:xfrm>
          <a:off x="0" y="3855792"/>
          <a:ext cx="4908899" cy="963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a:t>Stok noktalarının sayı, boyut ve konumlarını belirlemek.</a:t>
          </a:r>
          <a:endParaRPr lang="en-US" sz="2700" kern="1200"/>
        </a:p>
      </dsp:txBody>
      <dsp:txXfrm>
        <a:off x="0" y="3855792"/>
        <a:ext cx="4908899" cy="9638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C76864-06FA-4565-9AEC-5B9184378648}">
      <dsp:nvSpPr>
        <dsp:cNvPr id="0" name=""/>
        <dsp:cNvSpPr/>
      </dsp:nvSpPr>
      <dsp:spPr>
        <a:xfrm>
          <a:off x="0" y="32044"/>
          <a:ext cx="4414719" cy="6777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14696-3087-4FE4-B651-3A55456708ED}">
      <dsp:nvSpPr>
        <dsp:cNvPr id="0" name=""/>
        <dsp:cNvSpPr/>
      </dsp:nvSpPr>
      <dsp:spPr>
        <a:xfrm>
          <a:off x="205033" y="154095"/>
          <a:ext cx="372788" cy="3727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F8EDDFE-CE8F-4848-972F-63A72FED84E3}">
      <dsp:nvSpPr>
        <dsp:cNvPr id="0" name=""/>
        <dsp:cNvSpPr/>
      </dsp:nvSpPr>
      <dsp:spPr>
        <a:xfrm>
          <a:off x="782855" y="1590"/>
          <a:ext cx="3631863" cy="67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734" tIns="71734" rIns="71734" bIns="71734" numCol="1" spcCol="1270" anchor="ctr" anchorCtr="0">
          <a:noAutofit/>
        </a:bodyPr>
        <a:lstStyle/>
        <a:p>
          <a:pPr marL="0" lvl="0" indent="0" algn="l" defTabSz="1244600">
            <a:lnSpc>
              <a:spcPct val="90000"/>
            </a:lnSpc>
            <a:spcBef>
              <a:spcPct val="0"/>
            </a:spcBef>
            <a:spcAft>
              <a:spcPct val="35000"/>
            </a:spcAft>
            <a:buNone/>
          </a:pPr>
          <a:r>
            <a:rPr lang="tr-TR" sz="2800" kern="1200"/>
            <a:t>SİPARİŞ İŞLEME</a:t>
          </a:r>
          <a:endParaRPr lang="en-US" sz="2800" kern="1200"/>
        </a:p>
      </dsp:txBody>
      <dsp:txXfrm>
        <a:off x="782855" y="1590"/>
        <a:ext cx="3631863" cy="677797"/>
      </dsp:txXfrm>
    </dsp:sp>
    <dsp:sp modelId="{B1B31C75-D433-41F2-8A7F-401C1E905571}">
      <dsp:nvSpPr>
        <dsp:cNvPr id="0" name=""/>
        <dsp:cNvSpPr/>
      </dsp:nvSpPr>
      <dsp:spPr>
        <a:xfrm>
          <a:off x="0" y="848837"/>
          <a:ext cx="4414719" cy="6777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A978C7-B604-42BE-B9DC-CFADFE725BD9}">
      <dsp:nvSpPr>
        <dsp:cNvPr id="0" name=""/>
        <dsp:cNvSpPr/>
      </dsp:nvSpPr>
      <dsp:spPr>
        <a:xfrm>
          <a:off x="205033" y="1001341"/>
          <a:ext cx="372788" cy="3727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008D2AD-2A7F-404A-8820-8D319FF97451}">
      <dsp:nvSpPr>
        <dsp:cNvPr id="0" name=""/>
        <dsp:cNvSpPr/>
      </dsp:nvSpPr>
      <dsp:spPr>
        <a:xfrm>
          <a:off x="782855" y="848837"/>
          <a:ext cx="3631863" cy="67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734" tIns="71734" rIns="71734" bIns="71734" numCol="1" spcCol="1270" anchor="ctr" anchorCtr="0">
          <a:noAutofit/>
        </a:bodyPr>
        <a:lstStyle/>
        <a:p>
          <a:pPr marL="0" lvl="0" indent="0" algn="l" defTabSz="844550">
            <a:lnSpc>
              <a:spcPct val="90000"/>
            </a:lnSpc>
            <a:spcBef>
              <a:spcPct val="0"/>
            </a:spcBef>
            <a:spcAft>
              <a:spcPct val="35000"/>
            </a:spcAft>
            <a:buNone/>
          </a:pPr>
          <a:r>
            <a:rPr lang="tr-TR" sz="1900" kern="1200"/>
            <a:t>Sipariş verme şekillerini belirlemek</a:t>
          </a:r>
          <a:endParaRPr lang="en-US" sz="1900" kern="1200"/>
        </a:p>
      </dsp:txBody>
      <dsp:txXfrm>
        <a:off x="782855" y="848837"/>
        <a:ext cx="3631863" cy="677797"/>
      </dsp:txXfrm>
    </dsp:sp>
    <dsp:sp modelId="{15448565-E672-4AEB-B635-1219AFE63BD4}">
      <dsp:nvSpPr>
        <dsp:cNvPr id="0" name=""/>
        <dsp:cNvSpPr/>
      </dsp:nvSpPr>
      <dsp:spPr>
        <a:xfrm>
          <a:off x="0" y="1696083"/>
          <a:ext cx="4414719" cy="6777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F6D341-7D18-48BB-A900-506BC91B53F5}">
      <dsp:nvSpPr>
        <dsp:cNvPr id="0" name=""/>
        <dsp:cNvSpPr/>
      </dsp:nvSpPr>
      <dsp:spPr>
        <a:xfrm>
          <a:off x="205033" y="1848588"/>
          <a:ext cx="372788" cy="3727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DFC8D89-8512-463B-9940-430F25D3A705}">
      <dsp:nvSpPr>
        <dsp:cNvPr id="0" name=""/>
        <dsp:cNvSpPr/>
      </dsp:nvSpPr>
      <dsp:spPr>
        <a:xfrm>
          <a:off x="782855" y="1696083"/>
          <a:ext cx="3631863" cy="67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734" tIns="71734" rIns="71734" bIns="71734" numCol="1" spcCol="1270" anchor="ctr" anchorCtr="0">
          <a:noAutofit/>
        </a:bodyPr>
        <a:lstStyle/>
        <a:p>
          <a:pPr marL="0" lvl="0" indent="0" algn="l" defTabSz="844550">
            <a:lnSpc>
              <a:spcPct val="90000"/>
            </a:lnSpc>
            <a:spcBef>
              <a:spcPct val="0"/>
            </a:spcBef>
            <a:spcAft>
              <a:spcPct val="35000"/>
            </a:spcAft>
            <a:buNone/>
          </a:pPr>
          <a:r>
            <a:rPr lang="tr-TR" sz="1900" kern="1200"/>
            <a:t>Sipariş iletişimini sağlamak ve geliştirmek</a:t>
          </a:r>
          <a:endParaRPr lang="en-US" sz="1900" kern="1200"/>
        </a:p>
      </dsp:txBody>
      <dsp:txXfrm>
        <a:off x="782855" y="1696083"/>
        <a:ext cx="3631863" cy="677797"/>
      </dsp:txXfrm>
    </dsp:sp>
    <dsp:sp modelId="{68D6F899-351A-47DC-80DD-D43AECAF37F1}">
      <dsp:nvSpPr>
        <dsp:cNvPr id="0" name=""/>
        <dsp:cNvSpPr/>
      </dsp:nvSpPr>
      <dsp:spPr>
        <a:xfrm>
          <a:off x="0" y="2543330"/>
          <a:ext cx="4414719" cy="6777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58489C-67C1-4EC3-BAB0-1117D869E20A}">
      <dsp:nvSpPr>
        <dsp:cNvPr id="0" name=""/>
        <dsp:cNvSpPr/>
      </dsp:nvSpPr>
      <dsp:spPr>
        <a:xfrm>
          <a:off x="205033" y="2695834"/>
          <a:ext cx="372788" cy="3727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AB59B87-2D36-4AC1-B0B9-B7408EA0A0C2}">
      <dsp:nvSpPr>
        <dsp:cNvPr id="0" name=""/>
        <dsp:cNvSpPr/>
      </dsp:nvSpPr>
      <dsp:spPr>
        <a:xfrm>
          <a:off x="782855" y="2543330"/>
          <a:ext cx="3631863" cy="67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734" tIns="71734" rIns="71734" bIns="71734" numCol="1" spcCol="1270" anchor="ctr" anchorCtr="0">
          <a:noAutofit/>
        </a:bodyPr>
        <a:lstStyle/>
        <a:p>
          <a:pPr marL="0" lvl="0" indent="0" algn="l" defTabSz="844550">
            <a:lnSpc>
              <a:spcPct val="90000"/>
            </a:lnSpc>
            <a:spcBef>
              <a:spcPct val="0"/>
            </a:spcBef>
            <a:spcAft>
              <a:spcPct val="35000"/>
            </a:spcAft>
            <a:buNone/>
          </a:pPr>
          <a:r>
            <a:rPr lang="tr-TR" sz="1900" kern="1200"/>
            <a:t>Sipariş giriş işlemlerini yürütmek</a:t>
          </a:r>
          <a:endParaRPr lang="en-US" sz="1900" kern="1200"/>
        </a:p>
      </dsp:txBody>
      <dsp:txXfrm>
        <a:off x="782855" y="2543330"/>
        <a:ext cx="3631863" cy="677797"/>
      </dsp:txXfrm>
    </dsp:sp>
    <dsp:sp modelId="{7B86D142-619F-448F-891E-4CA8212357F2}">
      <dsp:nvSpPr>
        <dsp:cNvPr id="0" name=""/>
        <dsp:cNvSpPr/>
      </dsp:nvSpPr>
      <dsp:spPr>
        <a:xfrm>
          <a:off x="0" y="3390576"/>
          <a:ext cx="4414719" cy="6777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34C90D-ABFA-499D-A7BF-7A4197A2B77F}">
      <dsp:nvSpPr>
        <dsp:cNvPr id="0" name=""/>
        <dsp:cNvSpPr/>
      </dsp:nvSpPr>
      <dsp:spPr>
        <a:xfrm>
          <a:off x="205033" y="3543081"/>
          <a:ext cx="372788" cy="37278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8742BEB-6A55-450C-A98E-9CB0E67D7A80}">
      <dsp:nvSpPr>
        <dsp:cNvPr id="0" name=""/>
        <dsp:cNvSpPr/>
      </dsp:nvSpPr>
      <dsp:spPr>
        <a:xfrm>
          <a:off x="782855" y="3390576"/>
          <a:ext cx="3631863" cy="67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734" tIns="71734" rIns="71734" bIns="71734" numCol="1" spcCol="1270" anchor="ctr" anchorCtr="0">
          <a:noAutofit/>
        </a:bodyPr>
        <a:lstStyle/>
        <a:p>
          <a:pPr marL="0" lvl="0" indent="0" algn="l" defTabSz="844550">
            <a:lnSpc>
              <a:spcPct val="90000"/>
            </a:lnSpc>
            <a:spcBef>
              <a:spcPct val="0"/>
            </a:spcBef>
            <a:spcAft>
              <a:spcPct val="35000"/>
            </a:spcAft>
            <a:buNone/>
          </a:pPr>
          <a:r>
            <a:rPr lang="tr-TR" sz="1900" kern="1200"/>
            <a:t>Sipariş izlemeyi gerçekleştirmek</a:t>
          </a:r>
          <a:endParaRPr lang="en-US" sz="1900" kern="1200"/>
        </a:p>
      </dsp:txBody>
      <dsp:txXfrm>
        <a:off x="782855" y="3390576"/>
        <a:ext cx="3631863" cy="677797"/>
      </dsp:txXfrm>
    </dsp:sp>
    <dsp:sp modelId="{F6C2524F-5CF9-4816-AADC-1A50682AA8B3}">
      <dsp:nvSpPr>
        <dsp:cNvPr id="0" name=""/>
        <dsp:cNvSpPr/>
      </dsp:nvSpPr>
      <dsp:spPr>
        <a:xfrm>
          <a:off x="0" y="4237823"/>
          <a:ext cx="4414719" cy="67779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39D611-BE24-489E-B9C5-DB668DA009BB}">
      <dsp:nvSpPr>
        <dsp:cNvPr id="0" name=""/>
        <dsp:cNvSpPr/>
      </dsp:nvSpPr>
      <dsp:spPr>
        <a:xfrm>
          <a:off x="205033" y="4390327"/>
          <a:ext cx="372788" cy="37278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013E45F-EE75-406E-B376-300E7456CDEA}">
      <dsp:nvSpPr>
        <dsp:cNvPr id="0" name=""/>
        <dsp:cNvSpPr/>
      </dsp:nvSpPr>
      <dsp:spPr>
        <a:xfrm>
          <a:off x="782855" y="4237823"/>
          <a:ext cx="3631863" cy="67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734" tIns="71734" rIns="71734" bIns="71734" numCol="1" spcCol="1270" anchor="ctr" anchorCtr="0">
          <a:noAutofit/>
        </a:bodyPr>
        <a:lstStyle/>
        <a:p>
          <a:pPr marL="0" lvl="0" indent="0" algn="l" defTabSz="844550">
            <a:lnSpc>
              <a:spcPct val="90000"/>
            </a:lnSpc>
            <a:spcBef>
              <a:spcPct val="0"/>
            </a:spcBef>
            <a:spcAft>
              <a:spcPct val="35000"/>
            </a:spcAft>
            <a:buNone/>
          </a:pPr>
          <a:r>
            <a:rPr lang="tr-TR" sz="1900" kern="1200"/>
            <a:t>Sipariş tamamlama aşamalarını gerçekleştirmek.</a:t>
          </a:r>
          <a:endParaRPr lang="en-US" sz="1900" kern="1200"/>
        </a:p>
      </dsp:txBody>
      <dsp:txXfrm>
        <a:off x="782855" y="4237823"/>
        <a:ext cx="3631863" cy="6777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29610-7C29-4506-AA39-1B73D0FB9CEB}">
      <dsp:nvSpPr>
        <dsp:cNvPr id="0" name=""/>
        <dsp:cNvSpPr/>
      </dsp:nvSpPr>
      <dsp:spPr>
        <a:xfrm>
          <a:off x="0" y="2816"/>
          <a:ext cx="4908899" cy="623610"/>
        </a:xfrm>
        <a:prstGeom prst="roundRect">
          <a:avLst/>
        </a:prstGeom>
        <a:gradFill rotWithShape="0">
          <a:gsLst>
            <a:gs pos="0">
              <a:schemeClr val="accent5">
                <a:hueOff val="0"/>
                <a:satOff val="0"/>
                <a:lumOff val="0"/>
                <a:alphaOff val="0"/>
                <a:tint val="98000"/>
                <a:lumMod val="100000"/>
              </a:schemeClr>
            </a:gs>
            <a:gs pos="100000">
              <a:schemeClr val="accent5">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DESTEKLEYİCİ AKTİVİTELER</a:t>
          </a:r>
          <a:endParaRPr lang="en-US" sz="2600" kern="1200"/>
        </a:p>
      </dsp:txBody>
      <dsp:txXfrm>
        <a:off x="30442" y="33258"/>
        <a:ext cx="4848015" cy="562726"/>
      </dsp:txXfrm>
    </dsp:sp>
    <dsp:sp modelId="{5C607E5B-1092-4B4C-8CDD-859148F09CEF}">
      <dsp:nvSpPr>
        <dsp:cNvPr id="0" name=""/>
        <dsp:cNvSpPr/>
      </dsp:nvSpPr>
      <dsp:spPr>
        <a:xfrm>
          <a:off x="0" y="701306"/>
          <a:ext cx="4908899" cy="623610"/>
        </a:xfrm>
        <a:prstGeom prst="roundRect">
          <a:avLst/>
        </a:prstGeom>
        <a:gradFill rotWithShape="0">
          <a:gsLst>
            <a:gs pos="0">
              <a:schemeClr val="accent5">
                <a:hueOff val="-334156"/>
                <a:satOff val="184"/>
                <a:lumOff val="882"/>
                <a:alphaOff val="0"/>
                <a:tint val="98000"/>
                <a:lumMod val="100000"/>
              </a:schemeClr>
            </a:gs>
            <a:gs pos="100000">
              <a:schemeClr val="accent5">
                <a:hueOff val="-334156"/>
                <a:satOff val="184"/>
                <a:lumOff val="882"/>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Materyal temini</a:t>
          </a:r>
          <a:endParaRPr lang="en-US" sz="2600" kern="1200"/>
        </a:p>
      </dsp:txBody>
      <dsp:txXfrm>
        <a:off x="30442" y="731748"/>
        <a:ext cx="4848015" cy="562726"/>
      </dsp:txXfrm>
    </dsp:sp>
    <dsp:sp modelId="{BEFBD85E-F26D-47A0-85A6-13A0381F4F02}">
      <dsp:nvSpPr>
        <dsp:cNvPr id="0" name=""/>
        <dsp:cNvSpPr/>
      </dsp:nvSpPr>
      <dsp:spPr>
        <a:xfrm>
          <a:off x="0" y="1399796"/>
          <a:ext cx="4908899" cy="623610"/>
        </a:xfrm>
        <a:prstGeom prst="roundRect">
          <a:avLst/>
        </a:prstGeom>
        <a:gradFill rotWithShape="0">
          <a:gsLst>
            <a:gs pos="0">
              <a:schemeClr val="accent5">
                <a:hueOff val="-668312"/>
                <a:satOff val="367"/>
                <a:lumOff val="1765"/>
                <a:alphaOff val="0"/>
                <a:tint val="98000"/>
                <a:lumMod val="100000"/>
              </a:schemeClr>
            </a:gs>
            <a:gs pos="100000">
              <a:schemeClr val="accent5">
                <a:hueOff val="-668312"/>
                <a:satOff val="367"/>
                <a:lumOff val="1765"/>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Koruyucu paketleme</a:t>
          </a:r>
          <a:endParaRPr lang="en-US" sz="2600" kern="1200"/>
        </a:p>
      </dsp:txBody>
      <dsp:txXfrm>
        <a:off x="30442" y="1430238"/>
        <a:ext cx="4848015" cy="562726"/>
      </dsp:txXfrm>
    </dsp:sp>
    <dsp:sp modelId="{64BCAB75-C9AD-4A22-9AD7-B9B87E2FB9D9}">
      <dsp:nvSpPr>
        <dsp:cNvPr id="0" name=""/>
        <dsp:cNvSpPr/>
      </dsp:nvSpPr>
      <dsp:spPr>
        <a:xfrm>
          <a:off x="0" y="2098286"/>
          <a:ext cx="4908899" cy="623610"/>
        </a:xfrm>
        <a:prstGeom prst="roundRect">
          <a:avLst/>
        </a:prstGeom>
        <a:gradFill rotWithShape="0">
          <a:gsLst>
            <a:gs pos="0">
              <a:schemeClr val="accent5">
                <a:hueOff val="-1002469"/>
                <a:satOff val="551"/>
                <a:lumOff val="2647"/>
                <a:alphaOff val="0"/>
                <a:tint val="98000"/>
                <a:lumMod val="100000"/>
              </a:schemeClr>
            </a:gs>
            <a:gs pos="100000">
              <a:schemeClr val="accent5">
                <a:hueOff val="-1002469"/>
                <a:satOff val="551"/>
                <a:lumOff val="2647"/>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Ürün hazırlama </a:t>
          </a:r>
          <a:endParaRPr lang="en-US" sz="2600" kern="1200"/>
        </a:p>
      </dsp:txBody>
      <dsp:txXfrm>
        <a:off x="30442" y="2128728"/>
        <a:ext cx="4848015" cy="562726"/>
      </dsp:txXfrm>
    </dsp:sp>
    <dsp:sp modelId="{D7BF5697-3BD3-490E-86F1-C01FD8637333}">
      <dsp:nvSpPr>
        <dsp:cNvPr id="0" name=""/>
        <dsp:cNvSpPr/>
      </dsp:nvSpPr>
      <dsp:spPr>
        <a:xfrm>
          <a:off x="0" y="2796776"/>
          <a:ext cx="4908899" cy="623610"/>
        </a:xfrm>
        <a:prstGeom prst="roundRect">
          <a:avLst/>
        </a:prstGeom>
        <a:gradFill rotWithShape="0">
          <a:gsLst>
            <a:gs pos="0">
              <a:schemeClr val="accent5">
                <a:hueOff val="-1336625"/>
                <a:satOff val="735"/>
                <a:lumOff val="3529"/>
                <a:alphaOff val="0"/>
                <a:tint val="98000"/>
                <a:lumMod val="100000"/>
              </a:schemeClr>
            </a:gs>
            <a:gs pos="100000">
              <a:schemeClr val="accent5">
                <a:hueOff val="-1336625"/>
                <a:satOff val="735"/>
                <a:lumOff val="3529"/>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Ürün planlaması</a:t>
          </a:r>
          <a:endParaRPr lang="en-US" sz="2600" kern="1200"/>
        </a:p>
      </dsp:txBody>
      <dsp:txXfrm>
        <a:off x="30442" y="2827218"/>
        <a:ext cx="4848015" cy="562726"/>
      </dsp:txXfrm>
    </dsp:sp>
    <dsp:sp modelId="{58C91EB8-2EDD-4157-9C99-8E927E8108A5}">
      <dsp:nvSpPr>
        <dsp:cNvPr id="0" name=""/>
        <dsp:cNvSpPr/>
      </dsp:nvSpPr>
      <dsp:spPr>
        <a:xfrm>
          <a:off x="0" y="3495266"/>
          <a:ext cx="4908899" cy="623610"/>
        </a:xfrm>
        <a:prstGeom prst="roundRect">
          <a:avLst/>
        </a:prstGeom>
        <a:gradFill rotWithShape="0">
          <a:gsLst>
            <a:gs pos="0">
              <a:schemeClr val="accent5">
                <a:hueOff val="-1670781"/>
                <a:satOff val="918"/>
                <a:lumOff val="4412"/>
                <a:alphaOff val="0"/>
                <a:tint val="98000"/>
                <a:lumMod val="100000"/>
              </a:schemeClr>
            </a:gs>
            <a:gs pos="100000">
              <a:schemeClr val="accent5">
                <a:hueOff val="-1670781"/>
                <a:satOff val="918"/>
                <a:lumOff val="4412"/>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Bilgi Akışı</a:t>
          </a:r>
          <a:endParaRPr lang="en-US" sz="2600" kern="1200"/>
        </a:p>
      </dsp:txBody>
      <dsp:txXfrm>
        <a:off x="30442" y="3525708"/>
        <a:ext cx="4848015" cy="562726"/>
      </dsp:txXfrm>
    </dsp:sp>
    <dsp:sp modelId="{C4EAE2EC-FDE6-4CD0-81CD-16C439C5D993}">
      <dsp:nvSpPr>
        <dsp:cNvPr id="0" name=""/>
        <dsp:cNvSpPr/>
      </dsp:nvSpPr>
      <dsp:spPr>
        <a:xfrm>
          <a:off x="0" y="4193756"/>
          <a:ext cx="4908899" cy="623610"/>
        </a:xfrm>
        <a:prstGeom prst="roundRect">
          <a:avLst/>
        </a:prstGeom>
        <a:gradFill rotWithShape="0">
          <a:gsLst>
            <a:gs pos="0">
              <a:schemeClr val="accent5">
                <a:hueOff val="-2004937"/>
                <a:satOff val="1102"/>
                <a:lumOff val="5294"/>
                <a:alphaOff val="0"/>
                <a:tint val="98000"/>
                <a:lumMod val="100000"/>
              </a:schemeClr>
            </a:gs>
            <a:gs pos="100000">
              <a:schemeClr val="accent5">
                <a:hueOff val="-2004937"/>
                <a:satOff val="1102"/>
                <a:lumOff val="5294"/>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tr-TR" sz="2600" kern="1200"/>
            <a:t>Elleçleme</a:t>
          </a:r>
          <a:endParaRPr lang="en-US" sz="2600" kern="1200"/>
        </a:p>
      </dsp:txBody>
      <dsp:txXfrm>
        <a:off x="30442" y="4224198"/>
        <a:ext cx="4848015" cy="56272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3F258B-AC27-42D6-8E7C-E90796204A10}">
      <dsp:nvSpPr>
        <dsp:cNvPr id="0" name=""/>
        <dsp:cNvSpPr/>
      </dsp:nvSpPr>
      <dsp:spPr>
        <a:xfrm>
          <a:off x="287348" y="445403"/>
          <a:ext cx="893197" cy="89319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9960F0-0198-4C9D-8C0C-AEB5C91CA90E}">
      <dsp:nvSpPr>
        <dsp:cNvPr id="0" name=""/>
        <dsp:cNvSpPr/>
      </dsp:nvSpPr>
      <dsp:spPr>
        <a:xfrm>
          <a:off x="477701" y="635756"/>
          <a:ext cx="512490" cy="5124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A53C62E-2679-4E31-9F51-F8D3B94C5141}">
      <dsp:nvSpPr>
        <dsp:cNvPr id="0" name=""/>
        <dsp:cNvSpPr/>
      </dsp:nvSpPr>
      <dsp:spPr>
        <a:xfrm>
          <a:off x="1818" y="1616809"/>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tr-TR" sz="1300" kern="1200"/>
            <a:t>Karayolu Taşımacılığı</a:t>
          </a:r>
          <a:endParaRPr lang="en-US" sz="1300" kern="1200"/>
        </a:p>
      </dsp:txBody>
      <dsp:txXfrm>
        <a:off x="1818" y="1616809"/>
        <a:ext cx="1464257" cy="585703"/>
      </dsp:txXfrm>
    </dsp:sp>
    <dsp:sp modelId="{0E189FBF-B774-4BE7-8978-37EE354C8239}">
      <dsp:nvSpPr>
        <dsp:cNvPr id="0" name=""/>
        <dsp:cNvSpPr/>
      </dsp:nvSpPr>
      <dsp:spPr>
        <a:xfrm>
          <a:off x="2007851" y="445403"/>
          <a:ext cx="893197" cy="89319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88E2DC-0574-4A75-9F14-23C8D3A46A60}">
      <dsp:nvSpPr>
        <dsp:cNvPr id="0" name=""/>
        <dsp:cNvSpPr/>
      </dsp:nvSpPr>
      <dsp:spPr>
        <a:xfrm>
          <a:off x="2198204" y="635756"/>
          <a:ext cx="512490" cy="5124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31078BA-DD8B-4D89-9980-625F6B0846C0}">
      <dsp:nvSpPr>
        <dsp:cNvPr id="0" name=""/>
        <dsp:cNvSpPr/>
      </dsp:nvSpPr>
      <dsp:spPr>
        <a:xfrm>
          <a:off x="1722321" y="1616809"/>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tr-TR" sz="1300" kern="1200"/>
            <a:t>Demiryolu Taşımacılığı</a:t>
          </a:r>
          <a:endParaRPr lang="en-US" sz="1300" kern="1200"/>
        </a:p>
      </dsp:txBody>
      <dsp:txXfrm>
        <a:off x="1722321" y="1616809"/>
        <a:ext cx="1464257" cy="585703"/>
      </dsp:txXfrm>
    </dsp:sp>
    <dsp:sp modelId="{087637AC-BC27-4140-8F84-D7773E73A50A}">
      <dsp:nvSpPr>
        <dsp:cNvPr id="0" name=""/>
        <dsp:cNvSpPr/>
      </dsp:nvSpPr>
      <dsp:spPr>
        <a:xfrm>
          <a:off x="3728354" y="445403"/>
          <a:ext cx="893197" cy="893197"/>
        </a:xfrm>
        <a:prstGeom prst="round2DiagRect">
          <a:avLst>
            <a:gd name="adj1" fmla="val 29727"/>
            <a:gd name="adj2" fmla="val 0"/>
          </a:avLst>
        </a:prstGeom>
        <a:blipFill rotWithShape="0">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a:noFill/>
        </a:ln>
        <a:effectLst/>
      </dsp:spPr>
      <dsp:style>
        <a:lnRef idx="0">
          <a:scrgbClr r="0" g="0" b="0"/>
        </a:lnRef>
        <a:fillRef idx="1">
          <a:scrgbClr r="0" g="0" b="0"/>
        </a:fillRef>
        <a:effectRef idx="0">
          <a:scrgbClr r="0" g="0" b="0"/>
        </a:effectRef>
        <a:fontRef idx="minor"/>
      </dsp:style>
    </dsp:sp>
    <dsp:sp modelId="{5AD39A23-88E6-4B49-AEE7-4D795191B9BE}">
      <dsp:nvSpPr>
        <dsp:cNvPr id="0" name=""/>
        <dsp:cNvSpPr/>
      </dsp:nvSpPr>
      <dsp:spPr>
        <a:xfrm>
          <a:off x="3918707" y="635756"/>
          <a:ext cx="512490" cy="512490"/>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6C4E694-0C84-4FB3-8121-076B573C05AA}">
      <dsp:nvSpPr>
        <dsp:cNvPr id="0" name=""/>
        <dsp:cNvSpPr/>
      </dsp:nvSpPr>
      <dsp:spPr>
        <a:xfrm>
          <a:off x="3442824" y="1616809"/>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tr-TR" sz="1300" kern="1200"/>
            <a:t>Denizyolu Taşımacılığı</a:t>
          </a:r>
          <a:endParaRPr lang="en-US" sz="1300" kern="1200"/>
        </a:p>
      </dsp:txBody>
      <dsp:txXfrm>
        <a:off x="3442824" y="1616809"/>
        <a:ext cx="1464257" cy="585703"/>
      </dsp:txXfrm>
    </dsp:sp>
    <dsp:sp modelId="{B7BF4A6D-E7CE-4750-87FE-92ACEA8EA5D7}">
      <dsp:nvSpPr>
        <dsp:cNvPr id="0" name=""/>
        <dsp:cNvSpPr/>
      </dsp:nvSpPr>
      <dsp:spPr>
        <a:xfrm>
          <a:off x="287348" y="2593123"/>
          <a:ext cx="893197" cy="89319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802F1C-73E0-4B90-8478-315E0FE4E83E}">
      <dsp:nvSpPr>
        <dsp:cNvPr id="0" name=""/>
        <dsp:cNvSpPr/>
      </dsp:nvSpPr>
      <dsp:spPr>
        <a:xfrm>
          <a:off x="477701" y="2783476"/>
          <a:ext cx="512490" cy="512490"/>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2DD0D5-12E8-4672-A6A7-FD8C899DE890}">
      <dsp:nvSpPr>
        <dsp:cNvPr id="0" name=""/>
        <dsp:cNvSpPr/>
      </dsp:nvSpPr>
      <dsp:spPr>
        <a:xfrm>
          <a:off x="1818" y="3764529"/>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tr-TR" sz="1300" kern="1200"/>
            <a:t>Havayolu Taşımacılığı</a:t>
          </a:r>
          <a:endParaRPr lang="en-US" sz="1300" kern="1200"/>
        </a:p>
      </dsp:txBody>
      <dsp:txXfrm>
        <a:off x="1818" y="3764529"/>
        <a:ext cx="1464257" cy="585703"/>
      </dsp:txXfrm>
    </dsp:sp>
    <dsp:sp modelId="{DBC10CCB-4FC9-4A98-A2C7-876B4AD7716C}">
      <dsp:nvSpPr>
        <dsp:cNvPr id="0" name=""/>
        <dsp:cNvSpPr/>
      </dsp:nvSpPr>
      <dsp:spPr>
        <a:xfrm>
          <a:off x="2007851" y="2617669"/>
          <a:ext cx="893197" cy="893197"/>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ECF16F-DB84-4ED5-917E-16A2CAE23B37}">
      <dsp:nvSpPr>
        <dsp:cNvPr id="0" name=""/>
        <dsp:cNvSpPr/>
      </dsp:nvSpPr>
      <dsp:spPr>
        <a:xfrm>
          <a:off x="1973662" y="2568577"/>
          <a:ext cx="961575" cy="991381"/>
        </a:xfrm>
        <a:prstGeom prst="rect">
          <a:avLst/>
        </a:prstGeom>
        <a:blipFill rotWithShape="1">
          <a:blip xmlns:r="http://schemas.openxmlformats.org/officeDocument/2006/relationships" r:embed="rId10" cstate="email">
            <a:extLst>
              <a:ext uri="{28A0092B-C50C-407E-A947-70E740481C1C}">
                <a14:useLocalDpi xmlns:a14="http://schemas.microsoft.com/office/drawing/2010/main"/>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C49A00-1BF0-49C0-96AA-9E0AA210E214}">
      <dsp:nvSpPr>
        <dsp:cNvPr id="0" name=""/>
        <dsp:cNvSpPr/>
      </dsp:nvSpPr>
      <dsp:spPr>
        <a:xfrm>
          <a:off x="1722321" y="3789075"/>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tr-TR" sz="1300" kern="1200"/>
            <a:t>Boru Hattı Taşımacılığı</a:t>
          </a:r>
          <a:endParaRPr lang="en-US" sz="1300" kern="1200"/>
        </a:p>
      </dsp:txBody>
      <dsp:txXfrm>
        <a:off x="1722321" y="3789075"/>
        <a:ext cx="1464257" cy="585703"/>
      </dsp:txXfrm>
    </dsp:sp>
    <dsp:sp modelId="{A232C58C-8A7A-4358-B7BC-3B7C54C0A652}">
      <dsp:nvSpPr>
        <dsp:cNvPr id="0" name=""/>
        <dsp:cNvSpPr/>
      </dsp:nvSpPr>
      <dsp:spPr>
        <a:xfrm>
          <a:off x="3728354" y="2593123"/>
          <a:ext cx="893197" cy="89319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C925FF-ADF5-4E9F-B66C-17B4FC03AECB}">
      <dsp:nvSpPr>
        <dsp:cNvPr id="0" name=""/>
        <dsp:cNvSpPr/>
      </dsp:nvSpPr>
      <dsp:spPr>
        <a:xfrm>
          <a:off x="3701855" y="2616038"/>
          <a:ext cx="946195" cy="847366"/>
        </a:xfrm>
        <a:prstGeom prst="rect">
          <a:avLst/>
        </a:prstGeom>
        <a:blipFill rotWithShape="1">
          <a:blip xmlns:r="http://schemas.openxmlformats.org/officeDocument/2006/relationships" r:embed="rId11" cstate="email">
            <a:extLst>
              <a:ext uri="{28A0092B-C50C-407E-A947-70E740481C1C}">
                <a14:useLocalDpi xmlns:a14="http://schemas.microsoft.com/office/drawing/2010/main"/>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39F749E-B45D-4911-BC14-5E829B33B7E3}">
      <dsp:nvSpPr>
        <dsp:cNvPr id="0" name=""/>
        <dsp:cNvSpPr/>
      </dsp:nvSpPr>
      <dsp:spPr>
        <a:xfrm>
          <a:off x="3442824" y="3764529"/>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tr-TR" sz="1300" kern="1200"/>
            <a:t>Nehir (iç su yolları) Taşımacılığı</a:t>
          </a:r>
          <a:endParaRPr lang="en-US" sz="1300" kern="1200"/>
        </a:p>
      </dsp:txBody>
      <dsp:txXfrm>
        <a:off x="3442824" y="3764529"/>
        <a:ext cx="1464257" cy="5857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32937-EF1D-4129-AB82-200DDF29E87D}">
      <dsp:nvSpPr>
        <dsp:cNvPr id="0" name=""/>
        <dsp:cNvSpPr/>
      </dsp:nvSpPr>
      <dsp:spPr>
        <a:xfrm>
          <a:off x="0" y="126093"/>
          <a:ext cx="4888157" cy="479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Taşıma şekli şu kriterlere göre belirlenebilir;</a:t>
          </a:r>
          <a:endParaRPr lang="en-US" sz="2000" kern="1200"/>
        </a:p>
      </dsp:txBody>
      <dsp:txXfrm>
        <a:off x="23417" y="149510"/>
        <a:ext cx="4841323" cy="432866"/>
      </dsp:txXfrm>
    </dsp:sp>
    <dsp:sp modelId="{F7BDA4B9-018A-42EC-A20D-2E80BF496F76}">
      <dsp:nvSpPr>
        <dsp:cNvPr id="0" name=""/>
        <dsp:cNvSpPr/>
      </dsp:nvSpPr>
      <dsp:spPr>
        <a:xfrm>
          <a:off x="0" y="663393"/>
          <a:ext cx="4888157" cy="479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Ürünün fiziksel özelliği</a:t>
          </a:r>
          <a:endParaRPr lang="en-US" sz="2000" kern="1200"/>
        </a:p>
      </dsp:txBody>
      <dsp:txXfrm>
        <a:off x="23417" y="686810"/>
        <a:ext cx="4841323" cy="432866"/>
      </dsp:txXfrm>
    </dsp:sp>
    <dsp:sp modelId="{47D46D57-9287-4CA6-AB16-E45A4310DF56}">
      <dsp:nvSpPr>
        <dsp:cNvPr id="0" name=""/>
        <dsp:cNvSpPr/>
      </dsp:nvSpPr>
      <dsp:spPr>
        <a:xfrm>
          <a:off x="0" y="1200693"/>
          <a:ext cx="4888157" cy="479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Nakliyenin fiyatı</a:t>
          </a:r>
          <a:endParaRPr lang="en-US" sz="2000" kern="1200"/>
        </a:p>
      </dsp:txBody>
      <dsp:txXfrm>
        <a:off x="23417" y="1224110"/>
        <a:ext cx="4841323" cy="432866"/>
      </dsp:txXfrm>
    </dsp:sp>
    <dsp:sp modelId="{996EB291-C278-4977-A49A-02606456E9DB}">
      <dsp:nvSpPr>
        <dsp:cNvPr id="0" name=""/>
        <dsp:cNvSpPr/>
      </dsp:nvSpPr>
      <dsp:spPr>
        <a:xfrm>
          <a:off x="0" y="1737993"/>
          <a:ext cx="4888157" cy="479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Ürünün ambalaj biçimi</a:t>
          </a:r>
          <a:endParaRPr lang="en-US" sz="2000" kern="1200"/>
        </a:p>
      </dsp:txBody>
      <dsp:txXfrm>
        <a:off x="23417" y="1761410"/>
        <a:ext cx="4841323" cy="432866"/>
      </dsp:txXfrm>
    </dsp:sp>
    <dsp:sp modelId="{88E04360-8339-4495-8AA7-0BAD225F316F}">
      <dsp:nvSpPr>
        <dsp:cNvPr id="0" name=""/>
        <dsp:cNvSpPr/>
      </dsp:nvSpPr>
      <dsp:spPr>
        <a:xfrm>
          <a:off x="0" y="2275293"/>
          <a:ext cx="4888157" cy="479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Ürünün boyutları</a:t>
          </a:r>
          <a:endParaRPr lang="en-US" sz="2000" kern="1200"/>
        </a:p>
      </dsp:txBody>
      <dsp:txXfrm>
        <a:off x="23417" y="2298710"/>
        <a:ext cx="4841323" cy="432866"/>
      </dsp:txXfrm>
    </dsp:sp>
    <dsp:sp modelId="{787641CF-03DD-43A7-BED9-E3A4EC8E9DBD}">
      <dsp:nvSpPr>
        <dsp:cNvPr id="0" name=""/>
        <dsp:cNvSpPr/>
      </dsp:nvSpPr>
      <dsp:spPr>
        <a:xfrm>
          <a:off x="0" y="2812593"/>
          <a:ext cx="4888157" cy="479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Ürünün son teslim tarihi</a:t>
          </a:r>
          <a:endParaRPr lang="en-US" sz="2000" kern="1200"/>
        </a:p>
      </dsp:txBody>
      <dsp:txXfrm>
        <a:off x="23417" y="2836010"/>
        <a:ext cx="4841323" cy="4328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FA6F2-1755-49F8-8B60-C4AE02E397C5}">
      <dsp:nvSpPr>
        <dsp:cNvPr id="0" name=""/>
        <dsp:cNvSpPr/>
      </dsp:nvSpPr>
      <dsp:spPr>
        <a:xfrm>
          <a:off x="2226" y="935456"/>
          <a:ext cx="1589466" cy="100931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990A05-0128-4D04-8E15-C60183781762}">
      <dsp:nvSpPr>
        <dsp:cNvPr id="0" name=""/>
        <dsp:cNvSpPr/>
      </dsp:nvSpPr>
      <dsp:spPr>
        <a:xfrm>
          <a:off x="178833" y="1103233"/>
          <a:ext cx="1589466" cy="100931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tr-TR" sz="1900" b="1" kern="1200"/>
            <a:t>Üretim Lojistiği</a:t>
          </a:r>
          <a:endParaRPr lang="en-US" sz="1900" kern="1200"/>
        </a:p>
      </dsp:txBody>
      <dsp:txXfrm>
        <a:off x="208395" y="1132795"/>
        <a:ext cx="1530342" cy="950186"/>
      </dsp:txXfrm>
    </dsp:sp>
    <dsp:sp modelId="{154A2DF0-AF64-4AEC-A10D-EB759B050D30}">
      <dsp:nvSpPr>
        <dsp:cNvPr id="0" name=""/>
        <dsp:cNvSpPr/>
      </dsp:nvSpPr>
      <dsp:spPr>
        <a:xfrm>
          <a:off x="1944906" y="935456"/>
          <a:ext cx="1589466" cy="100931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2B8B07-51D6-4667-A46B-4BA791FE7570}">
      <dsp:nvSpPr>
        <dsp:cNvPr id="0" name=""/>
        <dsp:cNvSpPr/>
      </dsp:nvSpPr>
      <dsp:spPr>
        <a:xfrm>
          <a:off x="2121514" y="1103233"/>
          <a:ext cx="1589466" cy="100931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tr-TR" sz="1900" b="1" kern="1200"/>
            <a:t>Dağıtım Lojistiği</a:t>
          </a:r>
          <a:endParaRPr lang="en-US" sz="1900" kern="1200"/>
        </a:p>
      </dsp:txBody>
      <dsp:txXfrm>
        <a:off x="2151076" y="1132795"/>
        <a:ext cx="1530342" cy="950186"/>
      </dsp:txXfrm>
    </dsp:sp>
    <dsp:sp modelId="{47AFCF5C-C23C-4DB7-8BCD-A1B58693D713}">
      <dsp:nvSpPr>
        <dsp:cNvPr id="0" name=""/>
        <dsp:cNvSpPr/>
      </dsp:nvSpPr>
      <dsp:spPr>
        <a:xfrm>
          <a:off x="3887587" y="935456"/>
          <a:ext cx="1589466" cy="100931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3F9FCD-7F05-4468-B904-129EEDB001DC}">
      <dsp:nvSpPr>
        <dsp:cNvPr id="0" name=""/>
        <dsp:cNvSpPr/>
      </dsp:nvSpPr>
      <dsp:spPr>
        <a:xfrm>
          <a:off x="4064195" y="1103233"/>
          <a:ext cx="1589466" cy="100931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tr-TR" sz="1900" b="1" kern="1200"/>
            <a:t>Tersine Lojistik</a:t>
          </a:r>
          <a:endParaRPr lang="en-US" sz="1900" kern="1200"/>
        </a:p>
      </dsp:txBody>
      <dsp:txXfrm>
        <a:off x="4093757" y="1132795"/>
        <a:ext cx="1530342" cy="950186"/>
      </dsp:txXfrm>
    </dsp:sp>
    <dsp:sp modelId="{AFEE7776-40E5-449D-8988-A02194BAF841}">
      <dsp:nvSpPr>
        <dsp:cNvPr id="0" name=""/>
        <dsp:cNvSpPr/>
      </dsp:nvSpPr>
      <dsp:spPr>
        <a:xfrm>
          <a:off x="5830268" y="935456"/>
          <a:ext cx="1589466" cy="100931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C64D4E-28A7-40AA-8DD8-1F6D109A419D}">
      <dsp:nvSpPr>
        <dsp:cNvPr id="0" name=""/>
        <dsp:cNvSpPr/>
      </dsp:nvSpPr>
      <dsp:spPr>
        <a:xfrm>
          <a:off x="6006875" y="1103233"/>
          <a:ext cx="1589466" cy="100931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tr-TR" sz="1900" b="1" kern="1200"/>
            <a:t>Ürün Ömür Çevrimi Bazlı Lojistik</a:t>
          </a:r>
          <a:endParaRPr lang="en-US" sz="1900" kern="1200"/>
        </a:p>
      </dsp:txBody>
      <dsp:txXfrm>
        <a:off x="6036437" y="1132795"/>
        <a:ext cx="1530342" cy="9501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E6657-157E-47CD-BD74-937518071966}">
      <dsp:nvSpPr>
        <dsp:cNvPr id="0" name=""/>
        <dsp:cNvSpPr/>
      </dsp:nvSpPr>
      <dsp:spPr>
        <a:xfrm>
          <a:off x="77262" y="1031250"/>
          <a:ext cx="985499" cy="98549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3290A2-D607-4ACF-892B-7D0ED1C5052B}">
      <dsp:nvSpPr>
        <dsp:cNvPr id="0" name=""/>
        <dsp:cNvSpPr/>
      </dsp:nvSpPr>
      <dsp:spPr>
        <a:xfrm>
          <a:off x="284217" y="1238205"/>
          <a:ext cx="571589" cy="5715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1952236-F9FA-4677-BBE2-A1DDA85359EA}">
      <dsp:nvSpPr>
        <dsp:cNvPr id="0" name=""/>
        <dsp:cNvSpPr/>
      </dsp:nvSpPr>
      <dsp:spPr>
        <a:xfrm>
          <a:off x="1273940" y="1031250"/>
          <a:ext cx="2322963" cy="985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tr-TR" sz="1700" kern="1200"/>
            <a:t>Bu dönemdeki lojistik faaliyetler iki kavram altında toplanmıştır:</a:t>
          </a:r>
          <a:br>
            <a:rPr lang="tr-TR" sz="1700" kern="1200"/>
          </a:br>
          <a:endParaRPr lang="en-US" sz="1700" kern="1200"/>
        </a:p>
      </dsp:txBody>
      <dsp:txXfrm>
        <a:off x="1273940" y="1031250"/>
        <a:ext cx="2322963" cy="985499"/>
      </dsp:txXfrm>
    </dsp:sp>
    <dsp:sp modelId="{F5DF1B20-6BA7-43F0-BCD3-E36FA7FA4C03}">
      <dsp:nvSpPr>
        <dsp:cNvPr id="0" name=""/>
        <dsp:cNvSpPr/>
      </dsp:nvSpPr>
      <dsp:spPr>
        <a:xfrm>
          <a:off x="4001663" y="1031250"/>
          <a:ext cx="985499" cy="98549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B353C7-AE89-4987-A0EB-80617C9937A2}">
      <dsp:nvSpPr>
        <dsp:cNvPr id="0" name=""/>
        <dsp:cNvSpPr/>
      </dsp:nvSpPr>
      <dsp:spPr>
        <a:xfrm>
          <a:off x="4208618" y="1238205"/>
          <a:ext cx="571589" cy="5715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151CAFE-15D7-47A3-AB5C-3E3C07D6297D}">
      <dsp:nvSpPr>
        <dsp:cNvPr id="0" name=""/>
        <dsp:cNvSpPr/>
      </dsp:nvSpPr>
      <dsp:spPr>
        <a:xfrm>
          <a:off x="5198341" y="1031250"/>
          <a:ext cx="2322963" cy="985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tr-TR" sz="1700" kern="1200"/>
            <a:t>• Madde ve Malzeme Yönetimi</a:t>
          </a:r>
          <a:br>
            <a:rPr lang="tr-TR" sz="1700" kern="1200"/>
          </a:br>
          <a:r>
            <a:rPr lang="tr-TR" sz="1700" kern="1200"/>
            <a:t>• Fiziksel Dağıtım</a:t>
          </a:r>
          <a:endParaRPr lang="en-US" sz="1700" kern="1200"/>
        </a:p>
      </dsp:txBody>
      <dsp:txXfrm>
        <a:off x="5198341" y="1031250"/>
        <a:ext cx="2322963" cy="9854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883723-3869-428A-B45C-27142262E936}" type="datetimeFigureOut">
              <a:rPr lang="tr-TR" smtClean="0"/>
              <a:t>21.04.2025</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D22F8F-F55B-47EF-A0E1-47098FF353EF}" type="slidenum">
              <a:rPr lang="tr-TR" smtClean="0"/>
              <a:t>‹#›</a:t>
            </a:fld>
            <a:endParaRPr lang="tr-TR"/>
          </a:p>
        </p:txBody>
      </p:sp>
    </p:spTree>
    <p:extLst>
      <p:ext uri="{BB962C8B-B14F-4D97-AF65-F5344CB8AC3E}">
        <p14:creationId xmlns:p14="http://schemas.microsoft.com/office/powerpoint/2010/main" val="175417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hafen-hamburg.de/en/press/news/port-of-hamburg-boosts-container-throughput-market-share/"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B9A164A-2AB2-494B-831A-59FD14863CF8}" type="slidenum">
              <a:rPr lang="tr-TR" smtClean="0"/>
              <a:t>1</a:t>
            </a:fld>
            <a:endParaRPr lang="tr-TR"/>
          </a:p>
        </p:txBody>
      </p:sp>
    </p:spTree>
    <p:extLst>
      <p:ext uri="{BB962C8B-B14F-4D97-AF65-F5344CB8AC3E}">
        <p14:creationId xmlns:p14="http://schemas.microsoft.com/office/powerpoint/2010/main" val="2773185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 Tedarik zincirinin farklı bölümlerinde hammadde, yarı mamul ve bitmiş ürün stokları tutulmaktadır. Fakat bu durum tedarik zinciri üyelerini zorlar. Çünkü nakit para akışı yavaşlar üretilen malın maliyeti kısa sürede kasanıza girmeyebilir veya stokta bekleyen mallar siz satamadan bozulabilir ya da ürünleriniz büyük ise çok yer kaplayacağından sizin için ekstra depo maliyeti çıkarabilir. O yüzden tedarik zinciri üyeleri stoklarını en aza indirgemeye çalışırlar.</a:t>
            </a:r>
            <a:endParaRPr lang="tr-TR"/>
          </a:p>
        </p:txBody>
      </p:sp>
      <p:sp>
        <p:nvSpPr>
          <p:cNvPr id="4" name="Slayt Numarası Yer Tutucusu 3"/>
          <p:cNvSpPr>
            <a:spLocks noGrp="1"/>
          </p:cNvSpPr>
          <p:nvPr>
            <p:ph type="sldNum" sz="quarter" idx="5"/>
          </p:nvPr>
        </p:nvSpPr>
        <p:spPr/>
        <p:txBody>
          <a:bodyPr/>
          <a:lstStyle/>
          <a:p>
            <a:fld id="{D7D22F8F-F55B-47EF-A0E1-47098FF353EF}" type="slidenum">
              <a:rPr lang="tr-TR" smtClean="0"/>
              <a:t>25</a:t>
            </a:fld>
            <a:endParaRPr lang="tr-TR"/>
          </a:p>
        </p:txBody>
      </p:sp>
    </p:spTree>
    <p:extLst>
      <p:ext uri="{BB962C8B-B14F-4D97-AF65-F5344CB8AC3E}">
        <p14:creationId xmlns:p14="http://schemas.microsoft.com/office/powerpoint/2010/main" val="2633277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Sipariş İşleme</a:t>
            </a:r>
            <a:r>
              <a:rPr lang="tr-TR"/>
              <a:t>, tedarik zincirinin temel unsurlarından biridir ve müşteri taleplerinin doğru, hızlı ve verimli bir şekilde karşılanmasını sağlar. Bu süreç; siparişin alınması, doğrulanması, stok kontrolü, ürünün hazırlanması, sevkiyatı ve teslimatın izlenmesi gibi adımları içerir. Etkin bir sipariş işleme sistemi, müşteri memnuniyetini artırırken, işletmenin operasyonel maliyetlerini azaltmasına ve rekabet avantajı elde etmesine katkı sağlar.</a:t>
            </a:r>
          </a:p>
        </p:txBody>
      </p:sp>
      <p:sp>
        <p:nvSpPr>
          <p:cNvPr id="4" name="Slayt Numarası Yer Tutucusu 3"/>
          <p:cNvSpPr>
            <a:spLocks noGrp="1"/>
          </p:cNvSpPr>
          <p:nvPr>
            <p:ph type="sldNum" sz="quarter" idx="5"/>
          </p:nvPr>
        </p:nvSpPr>
        <p:spPr/>
        <p:txBody>
          <a:bodyPr/>
          <a:lstStyle/>
          <a:p>
            <a:fld id="{D7D22F8F-F55B-47EF-A0E1-47098FF353EF}" type="slidenum">
              <a:rPr lang="tr-TR" smtClean="0"/>
              <a:t>27</a:t>
            </a:fld>
            <a:endParaRPr lang="tr-TR"/>
          </a:p>
        </p:txBody>
      </p:sp>
    </p:spTree>
    <p:extLst>
      <p:ext uri="{BB962C8B-B14F-4D97-AF65-F5344CB8AC3E}">
        <p14:creationId xmlns:p14="http://schemas.microsoft.com/office/powerpoint/2010/main" val="3538983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İthalat ve ihracat işlemlerinde</a:t>
            </a:r>
            <a:r>
              <a:rPr lang="tr-TR"/>
              <a:t>, uluslararası nakliye süreçleri büyük önem taşır. Ürünlerin ülkeler arası güvenli, hızlı ve yasal çerçevede taşınabilmesi için bir dizi operasyonun doğru şekilde yürütülmesi gerekmektedir. Bu noktada; </a:t>
            </a:r>
            <a:r>
              <a:rPr lang="tr-TR" b="1"/>
              <a:t>gümrükleme işlemleri</a:t>
            </a:r>
            <a:r>
              <a:rPr lang="tr-TR"/>
              <a:t>, ürünlerin yasal giriş ve çıkışının yapılabilmesi için zorunludur. </a:t>
            </a:r>
            <a:r>
              <a:rPr lang="tr-TR" b="1"/>
              <a:t>Antrepo kullanımı</a:t>
            </a:r>
            <a:r>
              <a:rPr lang="tr-TR"/>
              <a:t>, gümrük işlemleri tamamlanana kadar malların güvenli şekilde bekletilmesini sağlar. Ayrıca, </a:t>
            </a:r>
            <a:r>
              <a:rPr lang="tr-TR" b="1"/>
              <a:t>nakliye sürecinde karşılaşılabilecek risklere karşı sigorta işlemleri</a:t>
            </a:r>
            <a:r>
              <a:rPr lang="tr-TR"/>
              <a:t> de lojistik zincirin devamlılığı açısından kritik rol oynar. Bu operasyonların her biri, dış ticaretin kesintisiz işlemesi ve zaman kayıplarının önlenmesi açısından hayati öneme sahiptir.</a:t>
            </a:r>
          </a:p>
        </p:txBody>
      </p:sp>
      <p:sp>
        <p:nvSpPr>
          <p:cNvPr id="4" name="Slayt Numarası Yer Tutucusu 3"/>
          <p:cNvSpPr>
            <a:spLocks noGrp="1"/>
          </p:cNvSpPr>
          <p:nvPr>
            <p:ph type="sldNum" sz="quarter" idx="5"/>
          </p:nvPr>
        </p:nvSpPr>
        <p:spPr/>
        <p:txBody>
          <a:bodyPr/>
          <a:lstStyle/>
          <a:p>
            <a:fld id="{D7D22F8F-F55B-47EF-A0E1-47098FF353EF}" type="slidenum">
              <a:rPr lang="tr-TR" smtClean="0"/>
              <a:t>28</a:t>
            </a:fld>
            <a:endParaRPr lang="tr-TR"/>
          </a:p>
        </p:txBody>
      </p:sp>
    </p:spTree>
    <p:extLst>
      <p:ext uri="{BB962C8B-B14F-4D97-AF65-F5344CB8AC3E}">
        <p14:creationId xmlns:p14="http://schemas.microsoft.com/office/powerpoint/2010/main" val="3961884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Sevkiyat</a:t>
            </a:r>
            <a:r>
              <a:rPr lang="tr-TR"/>
              <a:t>, tedarik zincirinde müşteri ile doğrudan temas kurulan nadir süreçlerden biridir ve bu aşamada yapılacak bir hata, doğrudan müşteri memnuniyetini olumsuz etkileyebilir. Aynı zamanda, </a:t>
            </a:r>
            <a:r>
              <a:rPr lang="tr-TR" b="1"/>
              <a:t>lojistik faaliyetler içinde en yüksek maliyet kalemlerinden biri</a:t>
            </a:r>
            <a:r>
              <a:rPr lang="tr-TR"/>
              <a:t> olması nedeniyle özel bir öneme sahiptir. Bu bağlamda, </a:t>
            </a:r>
            <a:r>
              <a:rPr lang="tr-TR" b="1"/>
              <a:t>sevkiyat planlamasının temel misyonu</a:t>
            </a:r>
            <a:r>
              <a:rPr lang="tr-TR"/>
              <a:t>; müşteri taleplerini eksiksiz, zamanında ve istenilen şekilde karşılamak, bunu yaparken de en ekonomik çözüm yollarını uygulamaktır. Etkin bir sevkiyat planlaması, hem müşteri memnuniyetini artırır hem de işletme için sürdürülebilir bir maliyet avantajı sağlar.</a:t>
            </a:r>
          </a:p>
        </p:txBody>
      </p:sp>
      <p:sp>
        <p:nvSpPr>
          <p:cNvPr id="4" name="Slayt Numarası Yer Tutucusu 3"/>
          <p:cNvSpPr>
            <a:spLocks noGrp="1"/>
          </p:cNvSpPr>
          <p:nvPr>
            <p:ph type="sldNum" sz="quarter" idx="5"/>
          </p:nvPr>
        </p:nvSpPr>
        <p:spPr/>
        <p:txBody>
          <a:bodyPr/>
          <a:lstStyle/>
          <a:p>
            <a:fld id="{D7D22F8F-F55B-47EF-A0E1-47098FF353EF}" type="slidenum">
              <a:rPr lang="tr-TR" smtClean="0"/>
              <a:t>29</a:t>
            </a:fld>
            <a:endParaRPr lang="tr-TR"/>
          </a:p>
        </p:txBody>
      </p:sp>
    </p:spTree>
    <p:extLst>
      <p:ext uri="{BB962C8B-B14F-4D97-AF65-F5344CB8AC3E}">
        <p14:creationId xmlns:p14="http://schemas.microsoft.com/office/powerpoint/2010/main" val="3841719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buNone/>
            </a:pPr>
            <a:r>
              <a:rPr lang="tr-TR" b="1"/>
              <a:t>Materyal Temini</a:t>
            </a:r>
            <a:r>
              <a:rPr lang="tr-TR"/>
              <a:t>: Üretim ya da satışa sunulacak ürünler için gerekli hammadde, yarı mamul veya parçaların iç ya da dış kaynaklardan sağlanması sürecidir.</a:t>
            </a:r>
          </a:p>
          <a:p>
            <a:pPr>
              <a:buNone/>
            </a:pPr>
            <a:r>
              <a:rPr lang="tr-TR" b="1"/>
              <a:t>Koruyucu Paketleme</a:t>
            </a:r>
            <a:r>
              <a:rPr lang="tr-TR"/>
              <a:t>: Ürünün nakliye, depolama ve elleçleme sırasında zarar görmesini engellemek amacıyla yapılan dayanıklı ve işlevsel paketleme işlemidir.</a:t>
            </a:r>
          </a:p>
          <a:p>
            <a:pPr>
              <a:buNone/>
            </a:pPr>
            <a:r>
              <a:rPr lang="tr-TR" b="1"/>
              <a:t>Ürün Hazırlama</a:t>
            </a:r>
            <a:r>
              <a:rPr lang="tr-TR"/>
              <a:t>: Siparişe uygun şekilde ürünlerin seçilmesi, toplanması, kontrol edilmesi ve sevkiyata hazır hale getirilmesidir.</a:t>
            </a:r>
          </a:p>
          <a:p>
            <a:pPr>
              <a:buNone/>
            </a:pPr>
            <a:r>
              <a:rPr lang="tr-TR" b="1"/>
              <a:t>Ürün Planlaması</a:t>
            </a:r>
            <a:r>
              <a:rPr lang="tr-TR"/>
              <a:t>: Talep tahminlerine, üretim kapasitesine ve stok durumuna göre hangi ürünün ne zaman ve ne miktarda hazırlanacağına karar verilmesidir.</a:t>
            </a:r>
          </a:p>
          <a:p>
            <a:pPr>
              <a:buNone/>
            </a:pPr>
            <a:r>
              <a:rPr lang="tr-TR" b="1"/>
              <a:t>Bilgi Akışı</a:t>
            </a:r>
            <a:r>
              <a:rPr lang="tr-TR"/>
              <a:t>: Tedarik zinciri boyunca üretici, tedarikçi, lojistik sağlayıcı ve müşteri arasında gerçekleşen veri, belge ve iletişim akışıdır. Bilgi akışının etkin olması, karar alma süreçlerini hızlandırır ve hataları azaltır.</a:t>
            </a:r>
          </a:p>
          <a:p>
            <a:r>
              <a:rPr lang="tr-TR" b="1"/>
              <a:t>Elleçleme</a:t>
            </a:r>
            <a:r>
              <a:rPr lang="tr-TR"/>
              <a:t>: Ürünlerin taşıma araçlarına yüklenmesi, boşaltılması, depolanması veya yeniden düzenlenmesi gibi fiziksel hareketlerini kapsayan işlemlerdir. Doğru ekipman ve yöntemlerle yapılması, zaman ve maliyet tasarrufu sağlar.</a:t>
            </a:r>
          </a:p>
          <a:p>
            <a:endParaRPr lang="tr-TR"/>
          </a:p>
        </p:txBody>
      </p:sp>
      <p:sp>
        <p:nvSpPr>
          <p:cNvPr id="4" name="Slayt Numarası Yer Tutucusu 3"/>
          <p:cNvSpPr>
            <a:spLocks noGrp="1"/>
          </p:cNvSpPr>
          <p:nvPr>
            <p:ph type="sldNum" sz="quarter" idx="5"/>
          </p:nvPr>
        </p:nvSpPr>
        <p:spPr/>
        <p:txBody>
          <a:bodyPr/>
          <a:lstStyle/>
          <a:p>
            <a:fld id="{D7D22F8F-F55B-47EF-A0E1-47098FF353EF}" type="slidenum">
              <a:rPr lang="tr-TR" smtClean="0"/>
              <a:t>31</a:t>
            </a:fld>
            <a:endParaRPr lang="tr-TR"/>
          </a:p>
        </p:txBody>
      </p:sp>
    </p:spTree>
    <p:extLst>
      <p:ext uri="{BB962C8B-B14F-4D97-AF65-F5344CB8AC3E}">
        <p14:creationId xmlns:p14="http://schemas.microsoft.com/office/powerpoint/2010/main" val="123489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buNone/>
            </a:pPr>
            <a:r>
              <a:rPr lang="tr-TR" b="1"/>
              <a:t>Erişebilirlik</a:t>
            </a:r>
            <a:r>
              <a:rPr lang="tr-TR"/>
              <a:t>: Taşıma aracının hedef noktaya ulaşabilme durumu (örneğin denizyolu sadece limanlara erişebilir).</a:t>
            </a:r>
          </a:p>
          <a:p>
            <a:pPr>
              <a:buNone/>
            </a:pPr>
            <a:r>
              <a:rPr lang="tr-TR" b="1"/>
              <a:t>Hız</a:t>
            </a:r>
            <a:r>
              <a:rPr lang="tr-TR"/>
              <a:t>: Teslimatın yapılma süresi. Özellikle havayolu hızlı teslimat sağlar.</a:t>
            </a:r>
          </a:p>
          <a:p>
            <a:pPr>
              <a:buNone/>
            </a:pPr>
            <a:r>
              <a:rPr lang="tr-TR" b="1"/>
              <a:t>Taşıma Kapasitesi</a:t>
            </a:r>
            <a:r>
              <a:rPr lang="tr-TR"/>
              <a:t>: Büyük hacimli ya da ağır yüklerin taşınmasında uygunluk (denizyolu bu konuda avantajlıdır).</a:t>
            </a:r>
          </a:p>
          <a:p>
            <a:pPr>
              <a:buNone/>
            </a:pPr>
            <a:r>
              <a:rPr lang="tr-TR" b="1"/>
              <a:t>Güvenlik</a:t>
            </a:r>
            <a:r>
              <a:rPr lang="tr-TR"/>
              <a:t>: Yükün zarar görmeden teslim edilme güvencesi.</a:t>
            </a:r>
          </a:p>
          <a:p>
            <a:pPr>
              <a:buNone/>
            </a:pPr>
            <a:r>
              <a:rPr lang="tr-TR" b="1"/>
              <a:t>Esneklik</a:t>
            </a:r>
            <a:r>
              <a:rPr lang="tr-TR"/>
              <a:t>: Yükleme-boşaltma noktaları, güzergâh esnekliği (karayolu genellikle en esnek yöntemdir).</a:t>
            </a:r>
          </a:p>
          <a:p>
            <a:pPr>
              <a:buNone/>
            </a:pPr>
            <a:r>
              <a:rPr lang="tr-TR" b="1"/>
              <a:t>Maliyet</a:t>
            </a:r>
            <a:r>
              <a:rPr lang="tr-TR"/>
              <a:t>: Taşıma sürecinin toplam ekonomik yükü.</a:t>
            </a:r>
          </a:p>
          <a:p>
            <a:pPr>
              <a:buNone/>
            </a:pPr>
            <a:r>
              <a:rPr lang="tr-TR" b="1"/>
              <a:t>Taşıma İşinin Uyumu</a:t>
            </a:r>
            <a:r>
              <a:rPr lang="tr-TR"/>
              <a:t>: Yükün taşınacağı yöntemle malzeme türü ve teslimat beklentisinin ne kadar uyumlu olduğu.</a:t>
            </a:r>
          </a:p>
          <a:p>
            <a:pPr>
              <a:buNone/>
            </a:pPr>
            <a:r>
              <a:rPr lang="tr-TR" b="1"/>
              <a:t>Malzemenin Cinsi</a:t>
            </a:r>
            <a:r>
              <a:rPr lang="tr-TR"/>
              <a:t>: Tehlikeli madde, gıda, kimyasal vs. gibi özel taşıma gerektiren durumlar.</a:t>
            </a:r>
          </a:p>
          <a:p>
            <a:pPr>
              <a:buNone/>
            </a:pPr>
            <a:r>
              <a:rPr lang="tr-TR" b="1"/>
              <a:t>Malzemenin Ambalajı</a:t>
            </a:r>
            <a:r>
              <a:rPr lang="tr-TR"/>
              <a:t>: Hangi taşıma yönteminin mevcut ambalaj türüne uygun olduğu.</a:t>
            </a:r>
          </a:p>
          <a:p>
            <a:r>
              <a:rPr lang="tr-TR" b="1"/>
              <a:t>Malzemenin Hacmi</a:t>
            </a:r>
            <a:r>
              <a:rPr lang="tr-TR"/>
              <a:t>: Az hacimli yükler için daha ekonomik olan yöntemler tercih edilirken, büyük hacimli taşımada farklı tercihler öne çıkar.</a:t>
            </a:r>
          </a:p>
          <a:p>
            <a:endParaRPr lang="tr-TR"/>
          </a:p>
        </p:txBody>
      </p:sp>
      <p:sp>
        <p:nvSpPr>
          <p:cNvPr id="4" name="Slayt Numarası Yer Tutucusu 3"/>
          <p:cNvSpPr>
            <a:spLocks noGrp="1"/>
          </p:cNvSpPr>
          <p:nvPr>
            <p:ph type="sldNum" sz="quarter" idx="5"/>
          </p:nvPr>
        </p:nvSpPr>
        <p:spPr/>
        <p:txBody>
          <a:bodyPr/>
          <a:lstStyle/>
          <a:p>
            <a:fld id="{D7D22F8F-F55B-47EF-A0E1-47098FF353EF}" type="slidenum">
              <a:rPr lang="tr-TR" smtClean="0"/>
              <a:t>36</a:t>
            </a:fld>
            <a:endParaRPr lang="tr-TR"/>
          </a:p>
        </p:txBody>
      </p:sp>
    </p:spTree>
    <p:extLst>
      <p:ext uri="{BB962C8B-B14F-4D97-AF65-F5344CB8AC3E}">
        <p14:creationId xmlns:p14="http://schemas.microsoft.com/office/powerpoint/2010/main" val="171514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İntermodal taşımacılık</a:t>
            </a:r>
            <a:r>
              <a:rPr lang="tr-TR"/>
              <a:t>, yüklerin taşıma ünitesinden çıkarılmadan, yalnızca taşıma ünitesinin (örneğin konteynerin) birden fazla taşıma modu arasında transfer edilmesiyle yapılan bir taşıma modelidir. Bu yöntem; karayolu, demiryolu, denizyolu gibi farklı taşıma türlerinin bir arada kullanılmasıyla gerçekleştirilir. Amaç; </a:t>
            </a:r>
            <a:r>
              <a:rPr lang="tr-TR" b="1"/>
              <a:t>maliyet, zaman ve çevresel etkiler</a:t>
            </a:r>
            <a:r>
              <a:rPr lang="tr-TR"/>
              <a:t> gibi faktörleri en uygun seviyeye getirmektir. İntermodal taşımada her taşıma modu için </a:t>
            </a:r>
            <a:r>
              <a:rPr lang="tr-TR" b="1"/>
              <a:t>ayrı taşıyıcılar ve sözleşmeler</a:t>
            </a:r>
            <a:r>
              <a:rPr lang="tr-TR"/>
              <a:t> bulunur. Örneğin, dış dolum konteyner taşımaları ya da Ro-Ro gemileriyle yapılan karayolu araç taşımaları intermodal taşımacılığa örnektir.</a:t>
            </a:r>
          </a:p>
        </p:txBody>
      </p:sp>
      <p:sp>
        <p:nvSpPr>
          <p:cNvPr id="4" name="Slayt Numarası Yer Tutucusu 3"/>
          <p:cNvSpPr>
            <a:spLocks noGrp="1"/>
          </p:cNvSpPr>
          <p:nvPr>
            <p:ph type="sldNum" sz="quarter" idx="5"/>
          </p:nvPr>
        </p:nvSpPr>
        <p:spPr/>
        <p:txBody>
          <a:bodyPr/>
          <a:lstStyle/>
          <a:p>
            <a:fld id="{D7D22F8F-F55B-47EF-A0E1-47098FF353EF}" type="slidenum">
              <a:rPr lang="tr-TR" smtClean="0"/>
              <a:t>38</a:t>
            </a:fld>
            <a:endParaRPr lang="tr-TR"/>
          </a:p>
        </p:txBody>
      </p:sp>
    </p:spTree>
    <p:extLst>
      <p:ext uri="{BB962C8B-B14F-4D97-AF65-F5344CB8AC3E}">
        <p14:creationId xmlns:p14="http://schemas.microsoft.com/office/powerpoint/2010/main" val="1401530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arihsel Süreçte Lojistik ÖrnekleriAntik Çağlar:Mısır Piramitleri: Piramitlerin inşası için gerekli olan devasa taş bloklar, Nil Nehri üzerinden taşınarak inşaat alanına ulaştırılmıştır. Bu, büyük ölçekli bir lojistik operasyonun ilk örneklerinden biridir.Roma İmparatorluğu: Roma İmparatorluğu'nun geniş coğrafyada yayılmış ordularına erzak ve malzeme sağlamak için gelişmiş bir lojistik ağa sahipti. Yollar, depolar ve ulaşım araçları bu ağın önemli parçalarıydı.Orta Çağ:İpek Yolu: Asya ile Avrupa arasında yapılan ipek ticaretinde, ipekböceği kozasından elde edilen ipek, karavanlarla uzun mesafeler kat ederek farklı ülkelere ulaştırılırdı. Bu yol, tarihteki en önemli ticaret yollarından biriydi ve lojistik açısından büyük bir öneme sahipti.Venedik Cumhuriyeti: Venedik, Akdeniz'de güçlü bir deniz ticaret gücüne sahipti. Şehir, deniz ticaretini kolaylaştırmak için gelişmiş bir kanal sistemi ve limanlara sahipti.Sanayi Devrimi:Kömür ve Demir: Sanayi Devrimi ile birlikte kömür ve demirin önemi arttı. Bu ham maddelerin madenlerden fabrikalara taşınması için demiryolları ve kanallar inşa edildi.Fabrika Sistemi: Fabrika sisteminin ortaya çıkmasıyla birlikte, ham maddelerin fabrikalara ve üretilen ürünlerin pazarlara taşınması için daha verimli lojistik sistemlere ihtiyaç duyuldu.</a:t>
            </a:r>
          </a:p>
        </p:txBody>
      </p:sp>
      <p:sp>
        <p:nvSpPr>
          <p:cNvPr id="4" name="Slayt Numarası Yer Tutucusu 3"/>
          <p:cNvSpPr>
            <a:spLocks noGrp="1"/>
          </p:cNvSpPr>
          <p:nvPr>
            <p:ph type="sldNum" sz="quarter" idx="5"/>
          </p:nvPr>
        </p:nvSpPr>
        <p:spPr/>
        <p:txBody>
          <a:bodyPr/>
          <a:lstStyle/>
          <a:p>
            <a:fld id="{D7D22F8F-F55B-47EF-A0E1-47098FF353EF}" type="slidenum">
              <a:rPr lang="tr-TR" smtClean="0"/>
              <a:t>48</a:t>
            </a:fld>
            <a:endParaRPr lang="tr-TR"/>
          </a:p>
        </p:txBody>
      </p:sp>
    </p:spTree>
    <p:extLst>
      <p:ext uri="{BB962C8B-B14F-4D97-AF65-F5344CB8AC3E}">
        <p14:creationId xmlns:p14="http://schemas.microsoft.com/office/powerpoint/2010/main" val="4134139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D7D22F8F-F55B-47EF-A0E1-47098FF353EF}" type="slidenum">
              <a:rPr lang="tr-TR" smtClean="0"/>
              <a:t>53</a:t>
            </a:fld>
            <a:endParaRPr lang="tr-TR"/>
          </a:p>
        </p:txBody>
      </p:sp>
    </p:spTree>
    <p:extLst>
      <p:ext uri="{BB962C8B-B14F-4D97-AF65-F5344CB8AC3E}">
        <p14:creationId xmlns:p14="http://schemas.microsoft.com/office/powerpoint/2010/main" val="1509410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Osmanlı İmparatorluğu'nun lojistik sistemi, modern lojistik sistemlerinin temellerini oluşturmuştur. Merkezi planlama, depolama, ulaşım ve iletişim gibi konularda Osmanlı'nın deneyimleri, günümüz lojistik uygulamalarına ilham vermiştir.</a:t>
            </a:r>
          </a:p>
        </p:txBody>
      </p:sp>
      <p:sp>
        <p:nvSpPr>
          <p:cNvPr id="4" name="Slayt Numarası Yer Tutucusu 3"/>
          <p:cNvSpPr>
            <a:spLocks noGrp="1"/>
          </p:cNvSpPr>
          <p:nvPr>
            <p:ph type="sldNum" sz="quarter" idx="5"/>
          </p:nvPr>
        </p:nvSpPr>
        <p:spPr/>
        <p:txBody>
          <a:bodyPr/>
          <a:lstStyle/>
          <a:p>
            <a:fld id="{D7D22F8F-F55B-47EF-A0E1-47098FF353EF}" type="slidenum">
              <a:rPr lang="tr-TR" smtClean="0"/>
              <a:t>57</a:t>
            </a:fld>
            <a:endParaRPr lang="tr-TR"/>
          </a:p>
        </p:txBody>
      </p:sp>
    </p:spTree>
    <p:extLst>
      <p:ext uri="{BB962C8B-B14F-4D97-AF65-F5344CB8AC3E}">
        <p14:creationId xmlns:p14="http://schemas.microsoft.com/office/powerpoint/2010/main" val="3403118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Kühne Lojistik Üniversitesi, lisans, yüksek lisans ve doktora seviyesinde çeşitli eğitim programları sunmaktadır. Bu programlar arasında en popüler olanları şunlardır:</a:t>
            </a:r>
          </a:p>
          <a:p>
            <a:pPr>
              <a:buFont typeface="Arial" panose="020B0604020202020204" pitchFamily="34" charset="0"/>
              <a:buChar char="•"/>
            </a:pPr>
            <a:r>
              <a:rPr lang="tr-TR" b="1"/>
              <a:t>Lisans:</a:t>
            </a:r>
            <a:r>
              <a:rPr lang="tr-TR"/>
              <a:t> Lojistik ve Tedarik Zinciri Yönetimi</a:t>
            </a:r>
          </a:p>
          <a:p>
            <a:pPr>
              <a:buFont typeface="Arial" panose="020B0604020202020204" pitchFamily="34" charset="0"/>
              <a:buChar char="•"/>
            </a:pPr>
            <a:r>
              <a:rPr lang="tr-TR" b="1"/>
              <a:t>Yüksek Lisans:</a:t>
            </a:r>
            <a:r>
              <a:rPr lang="tr-TR"/>
              <a:t> Lojistik ve Tedarik Zinciri Yönetimi, Lojistik ve Teknoloji, Sürdürülebilir Lojistik</a:t>
            </a:r>
          </a:p>
          <a:p>
            <a:pPr>
              <a:buFont typeface="Arial" panose="020B0604020202020204" pitchFamily="34" charset="0"/>
              <a:buChar char="•"/>
            </a:pPr>
            <a:r>
              <a:rPr lang="tr-TR" b="1"/>
              <a:t>Doktora:</a:t>
            </a:r>
            <a:r>
              <a:rPr lang="tr-TR"/>
              <a:t> Lojistik ve Tedarik Zinciri Yönetimi</a:t>
            </a:r>
          </a:p>
          <a:p>
            <a:r>
              <a:rPr lang="tr-TR" b="1"/>
              <a:t>Hamburg Limanı:</a:t>
            </a:r>
            <a:r>
              <a:rPr lang="tr-TR"/>
              <a:t> Avrupa'nın en büyük ve dünyanın en önemli limanlarından biridir. Konteyner taşımacılığında önemli bir merkezdir.</a:t>
            </a:r>
            <a:r>
              <a:rPr lang="tr-TR">
                <a:hlinkClick r:id="rId3"/>
              </a:rPr>
              <a:t>Yeni pencerede açılırwww.hafen-hamburg.de</a:t>
            </a:r>
            <a:endParaRPr lang="tr-TR"/>
          </a:p>
          <a:p>
            <a:r>
              <a:rPr lang="tr-TR"/>
              <a:t>Hamburg Port </a:t>
            </a:r>
          </a:p>
          <a:p>
            <a:r>
              <a:rPr lang="tr-TR" b="1"/>
              <a:t>Rotterdam Limanı:</a:t>
            </a:r>
            <a:r>
              <a:rPr lang="tr-TR"/>
              <a:t> Teknik olarak Hollanda'da olsa da, Almanya ile olan yakınlığı nedeniyle Alman lojistik ağının bir parçası olarak kabul edilir. Dünyanın en büyük limanlarından biridir.</a:t>
            </a:r>
            <a:r>
              <a:rPr lang="tr-TR" b="1"/>
              <a:t>Duisburg:</a:t>
            </a:r>
            <a:r>
              <a:rPr lang="tr-TR"/>
              <a:t> Avrupa'nın en büyük iç limanı olarak bilinir. Demiryolu ve karayolu taşımacılığı için önemli bir merkezdir.</a:t>
            </a:r>
            <a:r>
              <a:rPr lang="tr-TR" b="1"/>
              <a:t>Frankfurt Havalimanı:</a:t>
            </a:r>
            <a:r>
              <a:rPr lang="tr-TR"/>
              <a:t> Avrupa'nın en büyük hava kargo merkezlerinden biridir.</a:t>
            </a:r>
            <a:r>
              <a:rPr lang="tr-TR" b="1"/>
              <a:t>Münih Havalimanı:</a:t>
            </a:r>
            <a:r>
              <a:rPr lang="tr-TR"/>
              <a:t> Güney Almanya'nın önemli bir hava kargo merkezidir.</a:t>
            </a:r>
          </a:p>
          <a:p>
            <a:r>
              <a:rPr lang="tr-TR" b="1"/>
              <a:t>ABD'deki önemli limanlar:</a:t>
            </a:r>
            <a:r>
              <a:rPr lang="tr-TR"/>
              <a:t> Los Angeles, New York, Houston gibi</a:t>
            </a:r>
            <a:r>
              <a:rPr lang="tr-TR" b="1"/>
              <a:t>ABD'deki lojistik şirketleri:</a:t>
            </a:r>
            <a:r>
              <a:rPr lang="tr-TR"/>
              <a:t> UPS, FedEx gibi</a:t>
            </a:r>
          </a:p>
          <a:p>
            <a:r>
              <a:rPr lang="tr-TR" b="1"/>
              <a:t>Çin'deki önemli limanlar:</a:t>
            </a:r>
            <a:r>
              <a:rPr lang="tr-TR"/>
              <a:t> Şangay, Shenzhen, Ningbo gibi</a:t>
            </a:r>
            <a:r>
              <a:rPr lang="tr-TR" b="1"/>
              <a:t>Çin'deki lojistik şirketleri:</a:t>
            </a:r>
            <a:r>
              <a:rPr lang="tr-TR"/>
              <a:t> SF Express, China Post gibi</a:t>
            </a:r>
            <a:r>
              <a:rPr lang="tr-TR" b="1"/>
              <a:t>Çin'deki e-ticaret lojistiği:</a:t>
            </a:r>
            <a:r>
              <a:rPr lang="tr-TR"/>
              <a:t> Alibaba'nın lojistik altyapısı gibi</a:t>
            </a:r>
            <a:r>
              <a:rPr lang="tr-TR" b="1"/>
              <a:t>"Bir Kuşak Bir Yol" inisiyatifi ve lojistik</a:t>
            </a:r>
          </a:p>
          <a:p>
            <a:r>
              <a:rPr lang="tr-TR" b="1"/>
              <a:t>Projenin İki Ana Kolu:</a:t>
            </a:r>
            <a:endParaRPr lang="tr-TR"/>
          </a:p>
          <a:p>
            <a:pPr>
              <a:buFont typeface="Arial" panose="020B0604020202020204" pitchFamily="34" charset="0"/>
              <a:buChar char="•"/>
            </a:pPr>
            <a:r>
              <a:rPr lang="tr-TR" b="1"/>
              <a:t>İpek Yolu Ekonomik Kuşağı:</a:t>
            </a:r>
            <a:r>
              <a:rPr lang="tr-TR"/>
              <a:t> Karasal yolları takip ederek Çin'den Orta Asya, Ortadoğu ve Avrupa'ya uzanan ekonomik bir koridor.</a:t>
            </a:r>
          </a:p>
          <a:p>
            <a:pPr>
              <a:buFont typeface="Arial" panose="020B0604020202020204" pitchFamily="34" charset="0"/>
              <a:buChar char="•"/>
            </a:pPr>
            <a:r>
              <a:rPr lang="tr-TR" b="1"/>
              <a:t>21. Yüzyıl Deniz İpek Yolu:</a:t>
            </a:r>
            <a:r>
              <a:rPr lang="tr-TR"/>
              <a:t> Deniz yolu üzerinden Güneydoğu Asya, Hindistan, Afrika ve Avrupa'yı birbirine bağlayan deniz ticaret yolları.</a:t>
            </a:r>
          </a:p>
          <a:p>
            <a:pPr>
              <a:buFont typeface="Arial" panose="020B0604020202020204" pitchFamily="34" charset="0"/>
              <a:buChar char="•"/>
            </a:pPr>
            <a:r>
              <a:rPr lang="tr-TR"/>
              <a:t>Japonya lojistiği, yüksek kalite ve verimlilik üzerine kurulu, teknolojik olarak gelişmiş bir yapıya sahipken, Hollanda lojistiği, güçlü denizcilik altyapısı ve sürdürülebilirlik odaklı yaklaşımıyla öne çıkıyor. Her iki ülke de küresel lojistik ağında önemli bir rol oynamaktadır</a:t>
            </a:r>
          </a:p>
          <a:p>
            <a:endParaRPr lang="tr-TR"/>
          </a:p>
        </p:txBody>
      </p:sp>
      <p:sp>
        <p:nvSpPr>
          <p:cNvPr id="4" name="Slayt Numarası Yer Tutucusu 3"/>
          <p:cNvSpPr>
            <a:spLocks noGrp="1"/>
          </p:cNvSpPr>
          <p:nvPr>
            <p:ph type="sldNum" sz="quarter" idx="5"/>
          </p:nvPr>
        </p:nvSpPr>
        <p:spPr/>
        <p:txBody>
          <a:bodyPr/>
          <a:lstStyle/>
          <a:p>
            <a:fld id="{D7D22F8F-F55B-47EF-A0E1-47098FF353EF}" type="slidenum">
              <a:rPr lang="tr-TR" smtClean="0"/>
              <a:t>60</a:t>
            </a:fld>
            <a:endParaRPr lang="tr-TR"/>
          </a:p>
        </p:txBody>
      </p:sp>
    </p:spTree>
    <p:extLst>
      <p:ext uri="{BB962C8B-B14F-4D97-AF65-F5344CB8AC3E}">
        <p14:creationId xmlns:p14="http://schemas.microsoft.com/office/powerpoint/2010/main" val="28727410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a:xfrm>
            <a:off x="2743973" y="5870576"/>
            <a:ext cx="3932137" cy="377825"/>
          </a:xfrm>
        </p:spPr>
        <p:txBody>
          <a:bodyPr/>
          <a:lstStyle/>
          <a:p>
            <a:endParaRPr lang="tr-TR"/>
          </a:p>
        </p:txBody>
      </p:sp>
      <p:sp>
        <p:nvSpPr>
          <p:cNvPr id="6" name="Slide Number Placeholder 5"/>
          <p:cNvSpPr>
            <a:spLocks noGrp="1"/>
          </p:cNvSpPr>
          <p:nvPr>
            <p:ph type="sldNum" sz="quarter" idx="12"/>
          </p:nvPr>
        </p:nvSpPr>
        <p:spPr>
          <a:xfrm>
            <a:off x="8040685" y="5870576"/>
            <a:ext cx="417516" cy="377825"/>
          </a:xfrm>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2913698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39297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770855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E8E9029A-036A-4E8C-BEBE-3AE6E34E072B}" type="datetimeFigureOut">
              <a:rPr lang="tr-TR" smtClean="0"/>
              <a:t>21.04.2025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2833777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8E9029A-036A-4E8C-BEBE-3AE6E34E072B}" type="datetimeFigureOut">
              <a:rPr lang="tr-TR" smtClean="0"/>
              <a:t>21.04.2025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2702174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E8E9029A-036A-4E8C-BEBE-3AE6E34E072B}" type="datetimeFigureOut">
              <a:rPr lang="tr-TR" smtClean="0"/>
              <a:t>21.04.2025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222968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E8E9029A-036A-4E8C-BEBE-3AE6E34E072B}" type="datetimeFigureOut">
              <a:rPr lang="tr-TR" smtClean="0"/>
              <a:t>21.04.2025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492047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8E9029A-036A-4E8C-BEBE-3AE6E34E072B}" type="datetimeFigureOut">
              <a:rPr lang="tr-TR" smtClean="0"/>
              <a:t>21.04.2025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365338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tr-TR"/>
              <a:t>Resim eklemek için simgeye tıklayın</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8E9029A-036A-4E8C-BEBE-3AE6E34E072B}" type="datetimeFigureOut">
              <a:rPr lang="tr-TR" smtClean="0"/>
              <a:t>21.04.2025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2438544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tr-TR"/>
              <a:t>Resim eklemek için simgeye tıklayın</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8E9029A-036A-4E8C-BEBE-3AE6E34E072B}" type="datetimeFigureOut">
              <a:rPr lang="tr-TR" smtClean="0"/>
              <a:t>21.04.2025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168089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1482363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2403944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3322250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3397781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1027144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15275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8E9029A-036A-4E8C-BEBE-3AE6E34E072B}" type="datetimeFigureOut">
              <a:rPr lang="tr-TR" smtClean="0"/>
              <a:t>21.04.2025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10974F-78F3-4E00-B183-525F043A0FEB}" type="slidenum">
              <a:rPr lang="tr-TR" smtClean="0"/>
              <a:t>‹#›</a:t>
            </a:fld>
            <a:endParaRPr lang="tr-TR"/>
          </a:p>
        </p:txBody>
      </p:sp>
    </p:spTree>
    <p:extLst>
      <p:ext uri="{BB962C8B-B14F-4D97-AF65-F5344CB8AC3E}">
        <p14:creationId xmlns:p14="http://schemas.microsoft.com/office/powerpoint/2010/main" val="825098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8E9029A-036A-4E8C-BEBE-3AE6E34E072B}" type="datetimeFigureOut">
              <a:rPr lang="tr-TR" smtClean="0"/>
              <a:t>21.04.2025</a:t>
            </a:fld>
            <a:endParaRPr lang="tr-TR"/>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tr-TR"/>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10974F-78F3-4E00-B183-525F043A0FEB}" type="slidenum">
              <a:rPr lang="tr-TR" smtClean="0"/>
              <a:t>‹#›</a:t>
            </a:fld>
            <a:endParaRPr lang="tr-TR"/>
          </a:p>
        </p:txBody>
      </p:sp>
    </p:spTree>
    <p:extLst>
      <p:ext uri="{BB962C8B-B14F-4D97-AF65-F5344CB8AC3E}">
        <p14:creationId xmlns:p14="http://schemas.microsoft.com/office/powerpoint/2010/main" val="102073445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png"/><Relationship Id="rId7" Type="http://schemas.openxmlformats.org/officeDocument/2006/relationships/diagramColors" Target="../diagrams/colors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4.jpeg"/><Relationship Id="rId7" Type="http://schemas.openxmlformats.org/officeDocument/2006/relationships/diagramQuickStyle" Target="../diagrams/quickStyle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6.png"/><Relationship Id="rId9" Type="http://schemas.microsoft.com/office/2007/relationships/diagramDrawing" Target="../diagrams/drawing8.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51.jpeg"/></Relationships>
</file>

<file path=ppt/slides/_rels/slide2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4.jpeg"/><Relationship Id="rId7" Type="http://schemas.openxmlformats.org/officeDocument/2006/relationships/diagramColors" Target="../diagrams/colors9.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68.png"/><Relationship Id="rId7" Type="http://schemas.openxmlformats.org/officeDocument/2006/relationships/diagramColors" Target="../diagrams/colors1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68.png"/><Relationship Id="rId7" Type="http://schemas.openxmlformats.org/officeDocument/2006/relationships/diagramColors" Target="../diagrams/colors13.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6.svg"/><Relationship Id="rId4" Type="http://schemas.openxmlformats.org/officeDocument/2006/relationships/image" Target="../media/image75.png"/></Relationships>
</file>

<file path=ppt/slides/_rels/slide7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539552" y="692696"/>
            <a:ext cx="7851648" cy="3083768"/>
          </a:xfrm>
        </p:spPr>
        <p:txBody>
          <a:bodyPr>
            <a:normAutofit/>
          </a:bodyPr>
          <a:lstStyle/>
          <a:p>
            <a:r>
              <a:rPr lang="tr-TR"/>
              <a:t>İŞLETME BİLİMİNE GİRİŞ</a:t>
            </a:r>
            <a:br>
              <a:rPr lang="tr-TR"/>
            </a:br>
            <a:r>
              <a:rPr lang="tr-TR"/>
              <a:t>10.HAFTA</a:t>
            </a:r>
            <a:endParaRPr lang="tr-TR" dirty="0"/>
          </a:p>
        </p:txBody>
      </p:sp>
      <p:sp>
        <p:nvSpPr>
          <p:cNvPr id="3" name="Alt Başlık 2"/>
          <p:cNvSpPr>
            <a:spLocks noGrp="1"/>
          </p:cNvSpPr>
          <p:nvPr>
            <p:ph type="subTitle" idx="1"/>
          </p:nvPr>
        </p:nvSpPr>
        <p:spPr>
          <a:xfrm>
            <a:off x="539552" y="4149080"/>
            <a:ext cx="7854696" cy="1752600"/>
          </a:xfrm>
        </p:spPr>
        <p:txBody>
          <a:bodyPr/>
          <a:lstStyle/>
          <a:p>
            <a:r>
              <a:rPr lang="tr-TR"/>
              <a:t>Fatih Çallı</a:t>
            </a:r>
            <a:endParaRPr lang="tr-TR" dirty="0"/>
          </a:p>
        </p:txBody>
      </p:sp>
    </p:spTree>
    <p:extLst>
      <p:ext uri="{BB962C8B-B14F-4D97-AF65-F5344CB8AC3E}">
        <p14:creationId xmlns:p14="http://schemas.microsoft.com/office/powerpoint/2010/main" val="24424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İçerik Yer Tutucusu 1"/>
          <p:cNvSpPr>
            <a:spLocks noGrp="1"/>
          </p:cNvSpPr>
          <p:nvPr>
            <p:ph idx="1"/>
          </p:nvPr>
        </p:nvSpPr>
        <p:spPr>
          <a:xfrm>
            <a:off x="1187624" y="1412776"/>
            <a:ext cx="7056784" cy="3649133"/>
          </a:xfrm>
        </p:spPr>
        <p:txBody>
          <a:bodyPr>
            <a:normAutofit/>
          </a:bodyPr>
          <a:lstStyle/>
          <a:p>
            <a:r>
              <a:rPr lang="tr-TR" altLang="tr-TR" sz="4000"/>
              <a:t>TEDARİK ZİNCİRİ=LOJİSTİK ?</a:t>
            </a:r>
            <a:endParaRPr lang="en-US" altLang="tr-TR"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384" name="Rectangle 58375">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85" name="Freeform: Shape 58377">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graphicFrame>
        <p:nvGraphicFramePr>
          <p:cNvPr id="58386" name="İçerik Yer Tutucusu 2">
            <a:extLst>
              <a:ext uri="{FF2B5EF4-FFF2-40B4-BE49-F238E27FC236}">
                <a16:creationId xmlns:a16="http://schemas.microsoft.com/office/drawing/2014/main" id="{5C5F58CE-65B0-D30B-1F17-CFE2E0536B58}"/>
              </a:ext>
            </a:extLst>
          </p:cNvPr>
          <p:cNvGraphicFramePr>
            <a:graphicFrameLocks noGrp="1"/>
          </p:cNvGraphicFramePr>
          <p:nvPr>
            <p:ph idx="1"/>
            <p:extLst>
              <p:ext uri="{D42A27DB-BD31-4B8C-83A1-F6EECF244321}">
                <p14:modId xmlns:p14="http://schemas.microsoft.com/office/powerpoint/2010/main" val="2199366032"/>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59400" name="Rectangle 59399">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0" y="1719807"/>
            <a:ext cx="2744542" cy="3418387"/>
          </a:xfrm>
        </p:spPr>
        <p:txBody>
          <a:bodyPr>
            <a:normAutofit/>
          </a:bodyPr>
          <a:lstStyle/>
          <a:p>
            <a:pPr algn="r">
              <a:defRPr/>
            </a:pPr>
            <a:r>
              <a:rPr lang="tr-TR" dirty="0"/>
              <a:t>Taşımacılık</a:t>
            </a:r>
            <a:endParaRPr lang="tr-TR"/>
          </a:p>
        </p:txBody>
      </p:sp>
      <p:cxnSp>
        <p:nvCxnSpPr>
          <p:cNvPr id="59402" name="Straight Connector 59401">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395" name="İçerik Yer Tutucusu 2"/>
          <p:cNvSpPr>
            <a:spLocks noGrp="1"/>
          </p:cNvSpPr>
          <p:nvPr>
            <p:ph idx="1"/>
          </p:nvPr>
        </p:nvSpPr>
        <p:spPr>
          <a:xfrm>
            <a:off x="3741494" y="1719807"/>
            <a:ext cx="4888157" cy="3418387"/>
          </a:xfrm>
        </p:spPr>
        <p:txBody>
          <a:bodyPr>
            <a:normAutofit/>
          </a:bodyPr>
          <a:lstStyle/>
          <a:p>
            <a:pPr algn="just"/>
            <a:r>
              <a:rPr lang="tr-TR" altLang="tr-TR"/>
              <a:t>Taşıma dar anlamda bir nesnenin (eşya, ürün, yük, veya mal ) bir yerden bir başka yere nakli demektir. Geniş anlamda taşımacılık, müşteri ihtiyaçlarının giderilmesi amacıyla üretilen malların ihtiyaç duyulan bölge ve merkezlere zamanında ulaştırılmasıdır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25" name="Rectangle 60424">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0427" name="Rectangle 60426">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3490721"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60429" name="Picture 60428">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0" y="0"/>
            <a:ext cx="3483577" cy="6856214"/>
          </a:xfrm>
          <a:prstGeom prst="rect">
            <a:avLst/>
          </a:prstGeom>
        </p:spPr>
      </p:pic>
      <p:sp>
        <p:nvSpPr>
          <p:cNvPr id="2" name="Başlık 1"/>
          <p:cNvSpPr>
            <a:spLocks noGrp="1"/>
          </p:cNvSpPr>
          <p:nvPr>
            <p:ph type="title"/>
          </p:nvPr>
        </p:nvSpPr>
        <p:spPr>
          <a:xfrm>
            <a:off x="514350" y="643466"/>
            <a:ext cx="2513648" cy="4995333"/>
          </a:xfrm>
        </p:spPr>
        <p:txBody>
          <a:bodyPr>
            <a:normAutofit/>
          </a:bodyPr>
          <a:lstStyle/>
          <a:p>
            <a:pPr>
              <a:defRPr/>
            </a:pPr>
            <a:r>
              <a:rPr lang="tr-TR">
                <a:solidFill>
                  <a:srgbClr val="FFFFFF"/>
                </a:solidFill>
              </a:rPr>
              <a:t>LOJİSTİK</a:t>
            </a:r>
          </a:p>
        </p:txBody>
      </p:sp>
      <p:sp useBgFill="1">
        <p:nvSpPr>
          <p:cNvPr id="60431" name="Rectangle 60430">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8340" y="-2"/>
            <a:ext cx="5653278"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421" name="İçerik Yer Tutucusu 2">
            <a:extLst>
              <a:ext uri="{FF2B5EF4-FFF2-40B4-BE49-F238E27FC236}">
                <a16:creationId xmlns:a16="http://schemas.microsoft.com/office/drawing/2014/main" id="{3E90338B-9FB1-6F79-FB9D-7D0CB0168E45}"/>
              </a:ext>
            </a:extLst>
          </p:cNvPr>
          <p:cNvGraphicFramePr>
            <a:graphicFrameLocks noGrp="1"/>
          </p:cNvGraphicFramePr>
          <p:nvPr>
            <p:ph idx="1"/>
            <p:extLst>
              <p:ext uri="{D42A27DB-BD31-4B8C-83A1-F6EECF244321}">
                <p14:modId xmlns:p14="http://schemas.microsoft.com/office/powerpoint/2010/main" val="172898733"/>
              </p:ext>
            </p:extLst>
          </p:nvPr>
        </p:nvGraphicFramePr>
        <p:xfrm>
          <a:off x="4100631" y="804671"/>
          <a:ext cx="4414719"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77B804C2-8782-4CAA-796A-EC7B28A4E42D}"/>
              </a:ext>
            </a:extLst>
          </p:cNvPr>
          <p:cNvSpPr>
            <a:spLocks noGrp="1"/>
          </p:cNvSpPr>
          <p:nvPr>
            <p:ph type="title"/>
          </p:nvPr>
        </p:nvSpPr>
        <p:spPr>
          <a:xfrm>
            <a:off x="514350" y="643466"/>
            <a:ext cx="1943100" cy="4995333"/>
          </a:xfrm>
        </p:spPr>
        <p:txBody>
          <a:bodyPr>
            <a:normAutofit/>
          </a:bodyPr>
          <a:lstStyle/>
          <a:p>
            <a:r>
              <a:rPr lang="tr-TR" b="1">
                <a:solidFill>
                  <a:srgbClr val="FFFFFF"/>
                </a:solidFill>
              </a:rPr>
              <a:t>Tarihsel Gelişimi:</a:t>
            </a:r>
            <a:br>
              <a:rPr lang="tr-TR">
                <a:solidFill>
                  <a:srgbClr val="FFFFFF"/>
                </a:solidFill>
              </a:rPr>
            </a:br>
            <a:endParaRPr lang="tr-TR">
              <a:solidFill>
                <a:srgbClr val="FFFFFF"/>
              </a:solidFill>
            </a:endParaRPr>
          </a:p>
        </p:txBody>
      </p:sp>
      <p:graphicFrame>
        <p:nvGraphicFramePr>
          <p:cNvPr id="19" name="İçerik Yer Tutucusu 2">
            <a:extLst>
              <a:ext uri="{FF2B5EF4-FFF2-40B4-BE49-F238E27FC236}">
                <a16:creationId xmlns:a16="http://schemas.microsoft.com/office/drawing/2014/main" id="{C2786C7E-347F-8D51-D92C-1205D1BA6182}"/>
              </a:ext>
            </a:extLst>
          </p:cNvPr>
          <p:cNvGraphicFramePr>
            <a:graphicFrameLocks noGrp="1"/>
          </p:cNvGraphicFramePr>
          <p:nvPr>
            <p:ph idx="1"/>
            <p:extLst>
              <p:ext uri="{D42A27DB-BD31-4B8C-83A1-F6EECF244321}">
                <p14:modId xmlns:p14="http://schemas.microsoft.com/office/powerpoint/2010/main" val="1310361257"/>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9341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61457" name="Freeform: Shape 61456">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857250"/>
            <a:ext cx="6633872" cy="51435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1" y="1232807"/>
            <a:ext cx="5551714" cy="1020536"/>
          </a:xfrm>
        </p:spPr>
        <p:txBody>
          <a:bodyPr>
            <a:normAutofit/>
          </a:bodyPr>
          <a:lstStyle/>
          <a:p>
            <a:pPr>
              <a:defRPr/>
            </a:pPr>
            <a:r>
              <a:rPr lang="tr-TR" dirty="0"/>
              <a:t>LOJİSTİK</a:t>
            </a:r>
            <a:endParaRPr lang="tr-TR"/>
          </a:p>
        </p:txBody>
      </p:sp>
      <p:sp>
        <p:nvSpPr>
          <p:cNvPr id="61443" name="İçerik Yer Tutucusu 2"/>
          <p:cNvSpPr>
            <a:spLocks noGrp="1"/>
          </p:cNvSpPr>
          <p:nvPr>
            <p:ph idx="1"/>
          </p:nvPr>
        </p:nvSpPr>
        <p:spPr>
          <a:xfrm>
            <a:off x="514351" y="2253343"/>
            <a:ext cx="5551714" cy="2544083"/>
          </a:xfrm>
        </p:spPr>
        <p:txBody>
          <a:bodyPr>
            <a:normAutofit/>
          </a:bodyPr>
          <a:lstStyle/>
          <a:p>
            <a:r>
              <a:rPr lang="tr-TR" altLang="tr-TR"/>
              <a:t>Lojistik, müşterilerin ihtiyaçlarını karşılamak üzere her türlü ürün, servis hizmeti ve bilgi akışının başlangıç noktasından tüketildiği son noktaya kadar olan tedarik zinciri içindeki hareketinin etkili ve verimli bir biçimde planlanması, uygulanması, taşınması, depolanması ve kontrol altında tutulması hizmetidir.</a:t>
            </a:r>
          </a:p>
          <a:p>
            <a:endParaRPr lang="tr-TR" altLang="tr-T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473" name="Rectangle 62472">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5" name="Freeform: Shape 62474">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Başlık 1"/>
          <p:cNvSpPr>
            <a:spLocks noGrp="1"/>
          </p:cNvSpPr>
          <p:nvPr>
            <p:ph type="title"/>
          </p:nvPr>
        </p:nvSpPr>
        <p:spPr>
          <a:xfrm>
            <a:off x="514350" y="643466"/>
            <a:ext cx="1943100" cy="4995333"/>
          </a:xfrm>
        </p:spPr>
        <p:txBody>
          <a:bodyPr>
            <a:normAutofit/>
          </a:bodyPr>
          <a:lstStyle/>
          <a:p>
            <a:pPr>
              <a:defRPr/>
            </a:pPr>
            <a:r>
              <a:rPr lang="tr-TR">
                <a:solidFill>
                  <a:srgbClr val="FFFFFF"/>
                </a:solidFill>
              </a:rPr>
              <a:t>TEDARİK ZİNCİRİ</a:t>
            </a:r>
          </a:p>
        </p:txBody>
      </p:sp>
      <p:graphicFrame>
        <p:nvGraphicFramePr>
          <p:cNvPr id="62469" name="İçerik Yer Tutucusu 2">
            <a:extLst>
              <a:ext uri="{FF2B5EF4-FFF2-40B4-BE49-F238E27FC236}">
                <a16:creationId xmlns:a16="http://schemas.microsoft.com/office/drawing/2014/main" id="{CE86C21E-99EE-3CF1-5D6A-37D01CF31F2F}"/>
              </a:ext>
            </a:extLst>
          </p:cNvPr>
          <p:cNvGraphicFramePr>
            <a:graphicFrameLocks noGrp="1"/>
          </p:cNvGraphicFramePr>
          <p:nvPr>
            <p:ph idx="1"/>
            <p:extLst>
              <p:ext uri="{D42A27DB-BD31-4B8C-83A1-F6EECF244321}">
                <p14:modId xmlns:p14="http://schemas.microsoft.com/office/powerpoint/2010/main" val="703475712"/>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Başlık 1"/>
          <p:cNvSpPr>
            <a:spLocks noGrp="1"/>
          </p:cNvSpPr>
          <p:nvPr>
            <p:ph type="title"/>
          </p:nvPr>
        </p:nvSpPr>
        <p:spPr>
          <a:xfrm>
            <a:off x="619431" y="808055"/>
            <a:ext cx="2984404" cy="1453363"/>
          </a:xfrm>
        </p:spPr>
        <p:txBody>
          <a:bodyPr vert="horz" lIns="91440" tIns="45720" rIns="91440" bIns="45720" rtlCol="0" anchor="ctr">
            <a:normAutofit/>
          </a:bodyPr>
          <a:lstStyle/>
          <a:p>
            <a:pPr>
              <a:defRPr/>
            </a:pPr>
            <a:r>
              <a:rPr lang="en-US" sz="3600">
                <a:solidFill>
                  <a:schemeClr val="bg2"/>
                </a:solidFill>
              </a:rPr>
              <a:t>TEDARİK ZİNCİRİ</a:t>
            </a:r>
          </a:p>
        </p:txBody>
      </p:sp>
      <p:sp>
        <p:nvSpPr>
          <p:cNvPr id="63492" name="Metin kutusu 46"/>
          <p:cNvSpPr txBox="1">
            <a:spLocks noChangeArrowheads="1"/>
          </p:cNvSpPr>
          <p:nvPr/>
        </p:nvSpPr>
        <p:spPr bwMode="auto">
          <a:xfrm>
            <a:off x="601633" y="2261420"/>
            <a:ext cx="3002202" cy="3637935"/>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ts val="0"/>
              </a:spcBef>
              <a:spcAft>
                <a:spcPts val="1000"/>
              </a:spcAft>
              <a:buClr>
                <a:schemeClr val="tx1"/>
              </a:buClr>
              <a:buSzPct val="100000"/>
              <a:buNone/>
            </a:pPr>
            <a:r>
              <a:rPr lang="en-US" altLang="tr-TR">
                <a:solidFill>
                  <a:schemeClr val="bg2"/>
                </a:solidFill>
                <a:latin typeface="+mn-lt"/>
              </a:rPr>
              <a:t>TEDARİK ZİNCİRİ ŞEMATİK GÖRÜNÜŞÜ</a:t>
            </a:r>
          </a:p>
        </p:txBody>
      </p:sp>
      <p:grpSp>
        <p:nvGrpSpPr>
          <p:cNvPr id="63491" name="Grup 3"/>
          <p:cNvGrpSpPr>
            <a:grpSpLocks/>
          </p:cNvGrpSpPr>
          <p:nvPr/>
        </p:nvGrpSpPr>
        <p:grpSpPr bwMode="auto">
          <a:xfrm>
            <a:off x="3603836" y="1689937"/>
            <a:ext cx="4942642" cy="4331351"/>
            <a:chOff x="2448" y="5546"/>
            <a:chExt cx="7920" cy="7415"/>
          </a:xfrm>
        </p:grpSpPr>
        <p:sp>
          <p:nvSpPr>
            <p:cNvPr id="63493" name="Text Box 3"/>
            <p:cNvSpPr txBox="1">
              <a:spLocks noChangeArrowheads="1"/>
            </p:cNvSpPr>
            <p:nvPr/>
          </p:nvSpPr>
          <p:spPr bwMode="auto">
            <a:xfrm>
              <a:off x="8208" y="7512"/>
              <a:ext cx="2160" cy="523"/>
            </a:xfrm>
            <a:prstGeom prst="rect">
              <a:avLst/>
            </a:prstGeom>
            <a:solidFill>
              <a:srgbClr val="FFFFFF"/>
            </a:solidFill>
            <a:ln w="9525">
              <a:solidFill>
                <a:srgbClr val="FFFFFF"/>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defTabSz="425196" eaLnBrk="1" hangingPunct="1">
                <a:lnSpc>
                  <a:spcPct val="115000"/>
                </a:lnSpc>
                <a:spcBef>
                  <a:spcPct val="0"/>
                </a:spcBef>
                <a:spcAft>
                  <a:spcPts val="930"/>
                </a:spcAft>
                <a:buClrTx/>
                <a:buSzTx/>
                <a:buNone/>
              </a:pPr>
              <a:r>
                <a:rPr lang="tr-TR" altLang="tr-TR" sz="837" kern="1200">
                  <a:ln>
                    <a:solidFill>
                      <a:schemeClr val="bg1"/>
                    </a:solidFill>
                  </a:ln>
                  <a:solidFill>
                    <a:schemeClr val="tx1"/>
                  </a:solidFill>
                  <a:latin typeface="Arial" charset="0"/>
                  <a:ea typeface="+mn-ea"/>
                  <a:cs typeface="Times New Roman" pitchFamily="18" charset="0"/>
                </a:rPr>
                <a:t>Stratejik İş Birimi</a:t>
              </a:r>
              <a:endParaRPr lang="tr-TR" altLang="tr-TR" sz="1100">
                <a:ln>
                  <a:solidFill>
                    <a:schemeClr val="bg1"/>
                  </a:solidFill>
                </a:ln>
                <a:latin typeface="Calibri" pitchFamily="34" charset="0"/>
                <a:ea typeface="Calibri" pitchFamily="34" charset="0"/>
                <a:cs typeface="Times New Roman" pitchFamily="18" charset="0"/>
              </a:endParaRPr>
            </a:p>
          </p:txBody>
        </p:sp>
        <p:grpSp>
          <p:nvGrpSpPr>
            <p:cNvPr id="63494" name="Group 4"/>
            <p:cNvGrpSpPr>
              <a:grpSpLocks/>
            </p:cNvGrpSpPr>
            <p:nvPr/>
          </p:nvGrpSpPr>
          <p:grpSpPr bwMode="auto">
            <a:xfrm>
              <a:off x="2448" y="5546"/>
              <a:ext cx="7740" cy="7415"/>
              <a:chOff x="2448" y="2877"/>
              <a:chExt cx="7740" cy="5580"/>
            </a:xfrm>
          </p:grpSpPr>
          <p:sp>
            <p:nvSpPr>
              <p:cNvPr id="63495" name="Text Box 5"/>
              <p:cNvSpPr txBox="1">
                <a:spLocks noChangeAspect="1" noChangeArrowheads="1"/>
              </p:cNvSpPr>
              <p:nvPr/>
            </p:nvSpPr>
            <p:spPr bwMode="auto">
              <a:xfrm>
                <a:off x="5148" y="2961"/>
                <a:ext cx="1980" cy="523"/>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spcBef>
                    <a:spcPct val="0"/>
                  </a:spcBef>
                  <a:spcAft>
                    <a:spcPts val="600"/>
                  </a:spcAft>
                  <a:buClrTx/>
                  <a:buSzTx/>
                  <a:buNone/>
                </a:pPr>
                <a:r>
                  <a:rPr lang="tr-TR" altLang="tr-TR" sz="837" b="1" kern="1200">
                    <a:solidFill>
                      <a:srgbClr val="FF0000"/>
                    </a:solidFill>
                    <a:latin typeface="Arial" charset="0"/>
                    <a:ea typeface="+mn-ea"/>
                    <a:cs typeface="Times New Roman" pitchFamily="18" charset="0"/>
                  </a:rPr>
                  <a:t>Müşteriler</a:t>
                </a:r>
                <a:endParaRPr lang="tr-TR" altLang="tr-TR" sz="1000" b="1">
                  <a:latin typeface="Times New Roman" pitchFamily="18" charset="0"/>
                  <a:cs typeface="Times New Roman" pitchFamily="18" charset="0"/>
                </a:endParaRPr>
              </a:p>
            </p:txBody>
          </p:sp>
          <p:sp>
            <p:nvSpPr>
              <p:cNvPr id="63496" name="Text Box 6"/>
              <p:cNvSpPr txBox="1">
                <a:spLocks noChangeArrowheads="1"/>
              </p:cNvSpPr>
              <p:nvPr/>
            </p:nvSpPr>
            <p:spPr bwMode="auto">
              <a:xfrm>
                <a:off x="5148" y="3938"/>
                <a:ext cx="1980" cy="523"/>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spcBef>
                    <a:spcPct val="0"/>
                  </a:spcBef>
                  <a:spcAft>
                    <a:spcPts val="600"/>
                  </a:spcAft>
                  <a:buClrTx/>
                  <a:buSzTx/>
                  <a:buNone/>
                </a:pPr>
                <a:r>
                  <a:rPr lang="tr-TR" altLang="tr-TR" sz="837" b="1" kern="1200">
                    <a:solidFill>
                      <a:srgbClr val="4A442A"/>
                    </a:solidFill>
                    <a:latin typeface="Arial" charset="0"/>
                    <a:ea typeface="+mn-ea"/>
                    <a:cs typeface="Times New Roman" pitchFamily="18" charset="0"/>
                  </a:rPr>
                  <a:t>Perakendeciler</a:t>
                </a:r>
                <a:endParaRPr lang="tr-TR" altLang="tr-TR" sz="1000" b="1">
                  <a:latin typeface="Times New Roman" pitchFamily="18" charset="0"/>
                  <a:cs typeface="Times New Roman" pitchFamily="18" charset="0"/>
                </a:endParaRPr>
              </a:p>
            </p:txBody>
          </p:sp>
          <p:sp>
            <p:nvSpPr>
              <p:cNvPr id="63497" name="Text Box 7"/>
              <p:cNvSpPr txBox="1">
                <a:spLocks noChangeArrowheads="1"/>
              </p:cNvSpPr>
              <p:nvPr/>
            </p:nvSpPr>
            <p:spPr bwMode="auto">
              <a:xfrm>
                <a:off x="5148" y="5772"/>
                <a:ext cx="1980" cy="523"/>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spcBef>
                    <a:spcPct val="0"/>
                  </a:spcBef>
                  <a:spcAft>
                    <a:spcPts val="600"/>
                  </a:spcAft>
                  <a:buClrTx/>
                  <a:buSzTx/>
                  <a:buNone/>
                </a:pPr>
                <a:r>
                  <a:rPr lang="tr-TR" altLang="tr-TR" sz="837" b="1" kern="1200">
                    <a:solidFill>
                      <a:srgbClr val="E36C0A"/>
                    </a:solidFill>
                    <a:latin typeface="Arial" charset="0"/>
                    <a:ea typeface="+mn-ea"/>
                    <a:cs typeface="Times New Roman" pitchFamily="18" charset="0"/>
                  </a:rPr>
                  <a:t>İmalatçılar</a:t>
                </a:r>
                <a:endParaRPr lang="tr-TR" altLang="tr-TR" sz="1000" b="1">
                  <a:latin typeface="Times New Roman" pitchFamily="18" charset="0"/>
                  <a:cs typeface="Times New Roman" pitchFamily="18" charset="0"/>
                </a:endParaRPr>
              </a:p>
            </p:txBody>
          </p:sp>
          <p:sp>
            <p:nvSpPr>
              <p:cNvPr id="63498" name="Text Box 8"/>
              <p:cNvSpPr txBox="1">
                <a:spLocks noChangeArrowheads="1"/>
              </p:cNvSpPr>
              <p:nvPr/>
            </p:nvSpPr>
            <p:spPr bwMode="auto">
              <a:xfrm>
                <a:off x="3888" y="6644"/>
                <a:ext cx="1800" cy="645"/>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lnSpc>
                    <a:spcPct val="115000"/>
                  </a:lnSpc>
                  <a:spcBef>
                    <a:spcPct val="0"/>
                  </a:spcBef>
                  <a:spcAft>
                    <a:spcPts val="930"/>
                  </a:spcAft>
                  <a:buClrTx/>
                  <a:buSzTx/>
                  <a:buNone/>
                </a:pPr>
                <a:r>
                  <a:rPr lang="tr-TR" altLang="tr-TR" sz="651" b="1" kern="1200">
                    <a:solidFill>
                      <a:schemeClr val="tx1"/>
                    </a:solidFill>
                    <a:latin typeface="Arial" charset="0"/>
                    <a:ea typeface="+mn-ea"/>
                    <a:cs typeface="Times New Roman" pitchFamily="18" charset="0"/>
                  </a:rPr>
                  <a:t>1. Derece </a:t>
                </a:r>
                <a:r>
                  <a:rPr lang="tr-TR" altLang="tr-TR" sz="651" b="1" kern="1200">
                    <a:solidFill>
                      <a:srgbClr val="31849B"/>
                    </a:solidFill>
                    <a:latin typeface="Arial" charset="0"/>
                    <a:ea typeface="+mn-ea"/>
                    <a:cs typeface="Times New Roman" pitchFamily="18" charset="0"/>
                  </a:rPr>
                  <a:t>Tedarikçiler</a:t>
                </a:r>
                <a:endParaRPr lang="tr-TR" altLang="tr-TR" sz="1100">
                  <a:latin typeface="Calibri" pitchFamily="34" charset="0"/>
                  <a:ea typeface="Calibri" pitchFamily="34" charset="0"/>
                  <a:cs typeface="Times New Roman" pitchFamily="18" charset="0"/>
                </a:endParaRPr>
              </a:p>
            </p:txBody>
          </p:sp>
          <p:sp>
            <p:nvSpPr>
              <p:cNvPr id="63499" name="Text Box 9"/>
              <p:cNvSpPr txBox="1">
                <a:spLocks noChangeArrowheads="1"/>
              </p:cNvSpPr>
              <p:nvPr/>
            </p:nvSpPr>
            <p:spPr bwMode="auto">
              <a:xfrm>
                <a:off x="5148" y="4885"/>
                <a:ext cx="1980" cy="578"/>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lnSpc>
                    <a:spcPct val="115000"/>
                  </a:lnSpc>
                  <a:spcBef>
                    <a:spcPct val="0"/>
                  </a:spcBef>
                  <a:spcAft>
                    <a:spcPts val="930"/>
                  </a:spcAft>
                  <a:buClrTx/>
                  <a:buSzTx/>
                  <a:buNone/>
                </a:pPr>
                <a:r>
                  <a:rPr lang="tr-TR" altLang="tr-TR" sz="651" b="1" kern="1200">
                    <a:solidFill>
                      <a:srgbClr val="FFC000"/>
                    </a:solidFill>
                    <a:latin typeface="Arial" charset="0"/>
                    <a:ea typeface="+mn-ea"/>
                    <a:cs typeface="Times New Roman" pitchFamily="18" charset="0"/>
                  </a:rPr>
                  <a:t>Dağıtım Merkezleri</a:t>
                </a:r>
                <a:endParaRPr lang="tr-TR" altLang="tr-TR" sz="1100">
                  <a:latin typeface="Calibri" pitchFamily="34" charset="0"/>
                  <a:ea typeface="Calibri" pitchFamily="34" charset="0"/>
                  <a:cs typeface="Times New Roman" pitchFamily="18" charset="0"/>
                </a:endParaRPr>
              </a:p>
            </p:txBody>
          </p:sp>
          <p:sp>
            <p:nvSpPr>
              <p:cNvPr id="63500" name="Text Box 10"/>
              <p:cNvSpPr txBox="1">
                <a:spLocks noChangeArrowheads="1"/>
              </p:cNvSpPr>
              <p:nvPr/>
            </p:nvSpPr>
            <p:spPr bwMode="auto">
              <a:xfrm>
                <a:off x="6228" y="6644"/>
                <a:ext cx="1800" cy="645"/>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lnSpc>
                    <a:spcPct val="115000"/>
                  </a:lnSpc>
                  <a:spcBef>
                    <a:spcPct val="0"/>
                  </a:spcBef>
                  <a:spcAft>
                    <a:spcPts val="930"/>
                  </a:spcAft>
                  <a:buClrTx/>
                  <a:buSzTx/>
                  <a:buNone/>
                </a:pPr>
                <a:r>
                  <a:rPr lang="tr-TR" altLang="tr-TR" sz="651" b="1" kern="1200">
                    <a:solidFill>
                      <a:schemeClr val="tx1"/>
                    </a:solidFill>
                    <a:latin typeface="Arial" charset="0"/>
                    <a:ea typeface="+mn-ea"/>
                    <a:cs typeface="Times New Roman" pitchFamily="18" charset="0"/>
                  </a:rPr>
                  <a:t>1. Derece </a:t>
                </a:r>
                <a:r>
                  <a:rPr lang="tr-TR" altLang="tr-TR" sz="651" b="1" kern="1200">
                    <a:solidFill>
                      <a:srgbClr val="31849B"/>
                    </a:solidFill>
                    <a:latin typeface="Arial" charset="0"/>
                    <a:ea typeface="+mn-ea"/>
                    <a:cs typeface="Times New Roman" pitchFamily="18" charset="0"/>
                  </a:rPr>
                  <a:t>Tedarikçiler</a:t>
                </a:r>
                <a:endParaRPr lang="tr-TR" altLang="tr-TR" sz="1023" kern="1200">
                  <a:solidFill>
                    <a:schemeClr val="tx1"/>
                  </a:solidFill>
                  <a:latin typeface="Calibri" pitchFamily="34" charset="0"/>
                  <a:ea typeface="+mn-ea"/>
                  <a:cs typeface="Times New Roman" pitchFamily="18" charset="0"/>
                </a:endParaRPr>
              </a:p>
              <a:p>
                <a:pPr defTabSz="425196" eaLnBrk="1" hangingPunct="1">
                  <a:lnSpc>
                    <a:spcPct val="115000"/>
                  </a:lnSpc>
                  <a:spcBef>
                    <a:spcPct val="0"/>
                  </a:spcBef>
                  <a:spcAft>
                    <a:spcPts val="930"/>
                  </a:spcAft>
                  <a:buClrTx/>
                  <a:buSzTx/>
                  <a:buNone/>
                </a:pPr>
                <a:r>
                  <a:rPr lang="tr-TR" altLang="tr-TR" sz="1023" kern="1200">
                    <a:solidFill>
                      <a:schemeClr val="tx1"/>
                    </a:solidFill>
                    <a:latin typeface="Calibri" pitchFamily="34" charset="0"/>
                    <a:ea typeface="+mn-ea"/>
                    <a:cs typeface="Times New Roman" pitchFamily="18" charset="0"/>
                  </a:rPr>
                  <a:t> </a:t>
                </a:r>
                <a:endParaRPr lang="tr-TR" altLang="tr-TR" sz="1100">
                  <a:latin typeface="Calibri" pitchFamily="34" charset="0"/>
                  <a:ea typeface="Calibri" pitchFamily="34" charset="0"/>
                  <a:cs typeface="Times New Roman" pitchFamily="18" charset="0"/>
                </a:endParaRPr>
              </a:p>
            </p:txBody>
          </p:sp>
          <p:sp>
            <p:nvSpPr>
              <p:cNvPr id="63501" name="Text Box 11"/>
              <p:cNvSpPr txBox="1">
                <a:spLocks noChangeArrowheads="1"/>
              </p:cNvSpPr>
              <p:nvPr/>
            </p:nvSpPr>
            <p:spPr bwMode="auto">
              <a:xfrm>
                <a:off x="7128" y="7637"/>
                <a:ext cx="1800" cy="698"/>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lnSpc>
                    <a:spcPct val="115000"/>
                  </a:lnSpc>
                  <a:spcBef>
                    <a:spcPct val="0"/>
                  </a:spcBef>
                  <a:spcAft>
                    <a:spcPts val="930"/>
                  </a:spcAft>
                  <a:buClrTx/>
                  <a:buSzTx/>
                  <a:buNone/>
                </a:pPr>
                <a:r>
                  <a:rPr lang="tr-TR" altLang="tr-TR" sz="837" b="1" kern="1200">
                    <a:solidFill>
                      <a:schemeClr val="tx1"/>
                    </a:solidFill>
                    <a:latin typeface="Arial" charset="0"/>
                    <a:ea typeface="+mn-ea"/>
                    <a:cs typeface="Times New Roman" pitchFamily="18" charset="0"/>
                  </a:rPr>
                  <a:t>2. Derece </a:t>
                </a:r>
                <a:r>
                  <a:rPr lang="tr-TR" altLang="tr-TR" sz="837" b="1" kern="1200">
                    <a:solidFill>
                      <a:srgbClr val="31849B"/>
                    </a:solidFill>
                    <a:latin typeface="Arial" charset="0"/>
                    <a:ea typeface="+mn-ea"/>
                    <a:cs typeface="Times New Roman" pitchFamily="18" charset="0"/>
                  </a:rPr>
                  <a:t>Tedarikçiler</a:t>
                </a:r>
                <a:endParaRPr lang="tr-TR" altLang="tr-TR" sz="1023" kern="1200">
                  <a:solidFill>
                    <a:schemeClr val="tx1"/>
                  </a:solidFill>
                  <a:latin typeface="Calibri" pitchFamily="34" charset="0"/>
                  <a:ea typeface="+mn-ea"/>
                  <a:cs typeface="Times New Roman" pitchFamily="18" charset="0"/>
                </a:endParaRPr>
              </a:p>
              <a:p>
                <a:pPr defTabSz="425196" eaLnBrk="1" hangingPunct="1">
                  <a:lnSpc>
                    <a:spcPct val="115000"/>
                  </a:lnSpc>
                  <a:spcBef>
                    <a:spcPct val="0"/>
                  </a:spcBef>
                  <a:spcAft>
                    <a:spcPts val="930"/>
                  </a:spcAft>
                  <a:buClrTx/>
                  <a:buSzTx/>
                  <a:buNone/>
                </a:pPr>
                <a:r>
                  <a:rPr lang="tr-TR" altLang="tr-TR" sz="1023" kern="1200">
                    <a:solidFill>
                      <a:schemeClr val="tx1"/>
                    </a:solidFill>
                    <a:latin typeface="Calibri" pitchFamily="34" charset="0"/>
                    <a:ea typeface="+mn-ea"/>
                    <a:cs typeface="Times New Roman" pitchFamily="18" charset="0"/>
                  </a:rPr>
                  <a:t> </a:t>
                </a:r>
                <a:endParaRPr lang="tr-TR" altLang="tr-TR" sz="1100">
                  <a:latin typeface="Calibri" pitchFamily="34" charset="0"/>
                  <a:ea typeface="Calibri" pitchFamily="34" charset="0"/>
                  <a:cs typeface="Times New Roman" pitchFamily="18" charset="0"/>
                </a:endParaRPr>
              </a:p>
            </p:txBody>
          </p:sp>
          <p:sp>
            <p:nvSpPr>
              <p:cNvPr id="63502" name="Text Box 12"/>
              <p:cNvSpPr txBox="1">
                <a:spLocks noChangeArrowheads="1"/>
              </p:cNvSpPr>
              <p:nvPr/>
            </p:nvSpPr>
            <p:spPr bwMode="auto">
              <a:xfrm>
                <a:off x="4968" y="7637"/>
                <a:ext cx="1800" cy="698"/>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lnSpc>
                    <a:spcPct val="115000"/>
                  </a:lnSpc>
                  <a:spcBef>
                    <a:spcPct val="0"/>
                  </a:spcBef>
                  <a:spcAft>
                    <a:spcPts val="930"/>
                  </a:spcAft>
                  <a:buClrTx/>
                  <a:buSzTx/>
                  <a:buNone/>
                </a:pPr>
                <a:r>
                  <a:rPr lang="tr-TR" altLang="tr-TR" sz="837" b="1" kern="1200">
                    <a:solidFill>
                      <a:schemeClr val="tx1"/>
                    </a:solidFill>
                    <a:latin typeface="Arial" charset="0"/>
                    <a:ea typeface="+mn-ea"/>
                    <a:cs typeface="Times New Roman" pitchFamily="18" charset="0"/>
                  </a:rPr>
                  <a:t>2. Derece </a:t>
                </a:r>
                <a:r>
                  <a:rPr lang="tr-TR" altLang="tr-TR" sz="837" b="1" kern="1200">
                    <a:solidFill>
                      <a:srgbClr val="31849B"/>
                    </a:solidFill>
                    <a:latin typeface="Arial" charset="0"/>
                    <a:ea typeface="+mn-ea"/>
                    <a:cs typeface="Times New Roman" pitchFamily="18" charset="0"/>
                  </a:rPr>
                  <a:t>Tedarikçiler</a:t>
                </a:r>
                <a:endParaRPr lang="tr-TR" altLang="tr-TR" sz="1023" kern="1200">
                  <a:solidFill>
                    <a:schemeClr val="tx1"/>
                  </a:solidFill>
                  <a:latin typeface="Calibri" pitchFamily="34" charset="0"/>
                  <a:ea typeface="+mn-ea"/>
                  <a:cs typeface="Times New Roman" pitchFamily="18" charset="0"/>
                </a:endParaRPr>
              </a:p>
              <a:p>
                <a:pPr defTabSz="425196" eaLnBrk="1" hangingPunct="1">
                  <a:lnSpc>
                    <a:spcPct val="115000"/>
                  </a:lnSpc>
                  <a:spcBef>
                    <a:spcPct val="0"/>
                  </a:spcBef>
                  <a:spcAft>
                    <a:spcPts val="930"/>
                  </a:spcAft>
                  <a:buClrTx/>
                  <a:buSzTx/>
                  <a:buNone/>
                </a:pPr>
                <a:r>
                  <a:rPr lang="tr-TR" altLang="tr-TR" sz="1023" kern="1200">
                    <a:solidFill>
                      <a:schemeClr val="tx1"/>
                    </a:solidFill>
                    <a:latin typeface="Calibri" pitchFamily="34" charset="0"/>
                    <a:ea typeface="+mn-ea"/>
                    <a:cs typeface="Times New Roman" pitchFamily="18" charset="0"/>
                  </a:rPr>
                  <a:t> </a:t>
                </a:r>
                <a:endParaRPr lang="tr-TR" altLang="tr-TR" sz="1100">
                  <a:latin typeface="Calibri" pitchFamily="34" charset="0"/>
                  <a:ea typeface="Calibri" pitchFamily="34" charset="0"/>
                  <a:cs typeface="Times New Roman" pitchFamily="18" charset="0"/>
                </a:endParaRPr>
              </a:p>
            </p:txBody>
          </p:sp>
          <p:sp>
            <p:nvSpPr>
              <p:cNvPr id="63503" name="Text Box 13"/>
              <p:cNvSpPr txBox="1">
                <a:spLocks noChangeArrowheads="1"/>
              </p:cNvSpPr>
              <p:nvPr/>
            </p:nvSpPr>
            <p:spPr bwMode="auto">
              <a:xfrm>
                <a:off x="2808" y="7637"/>
                <a:ext cx="1800" cy="698"/>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algn="ctr" defTabSz="425196" eaLnBrk="1" hangingPunct="1">
                  <a:lnSpc>
                    <a:spcPct val="115000"/>
                  </a:lnSpc>
                  <a:spcBef>
                    <a:spcPct val="0"/>
                  </a:spcBef>
                  <a:spcAft>
                    <a:spcPts val="930"/>
                  </a:spcAft>
                  <a:buClrTx/>
                  <a:buSzTx/>
                  <a:buNone/>
                </a:pPr>
                <a:r>
                  <a:rPr lang="tr-TR" altLang="tr-TR" sz="837" b="1" kern="1200">
                    <a:solidFill>
                      <a:schemeClr val="tx1"/>
                    </a:solidFill>
                    <a:latin typeface="Arial" charset="0"/>
                    <a:ea typeface="+mn-ea"/>
                    <a:cs typeface="Times New Roman" pitchFamily="18" charset="0"/>
                  </a:rPr>
                  <a:t>2. Derece </a:t>
                </a:r>
                <a:r>
                  <a:rPr lang="tr-TR" altLang="tr-TR" sz="837" b="1" kern="1200">
                    <a:solidFill>
                      <a:srgbClr val="31849B"/>
                    </a:solidFill>
                    <a:latin typeface="Arial" charset="0"/>
                    <a:ea typeface="+mn-ea"/>
                    <a:cs typeface="Times New Roman" pitchFamily="18" charset="0"/>
                  </a:rPr>
                  <a:t>Tedarikçiler</a:t>
                </a:r>
                <a:endParaRPr lang="tr-TR" altLang="tr-TR" sz="1023" kern="1200">
                  <a:solidFill>
                    <a:schemeClr val="tx1"/>
                  </a:solidFill>
                  <a:latin typeface="Calibri" pitchFamily="34" charset="0"/>
                  <a:ea typeface="+mn-ea"/>
                  <a:cs typeface="Times New Roman" pitchFamily="18" charset="0"/>
                </a:endParaRPr>
              </a:p>
              <a:p>
                <a:pPr defTabSz="425196" eaLnBrk="1" hangingPunct="1">
                  <a:lnSpc>
                    <a:spcPct val="115000"/>
                  </a:lnSpc>
                  <a:spcBef>
                    <a:spcPct val="0"/>
                  </a:spcBef>
                  <a:spcAft>
                    <a:spcPts val="930"/>
                  </a:spcAft>
                  <a:buClrTx/>
                  <a:buSzTx/>
                  <a:buNone/>
                </a:pPr>
                <a:r>
                  <a:rPr lang="tr-TR" altLang="tr-TR" sz="1023" kern="1200">
                    <a:solidFill>
                      <a:schemeClr val="tx1"/>
                    </a:solidFill>
                    <a:latin typeface="Arial" charset="0"/>
                    <a:ea typeface="+mn-ea"/>
                    <a:cs typeface="Times New Roman" pitchFamily="18" charset="0"/>
                  </a:rPr>
                  <a:t> </a:t>
                </a:r>
                <a:endParaRPr lang="tr-TR" altLang="tr-TR" sz="1100">
                  <a:latin typeface="Calibri" pitchFamily="34" charset="0"/>
                  <a:ea typeface="Calibri" pitchFamily="34" charset="0"/>
                  <a:cs typeface="Times New Roman" pitchFamily="18" charset="0"/>
                </a:endParaRPr>
              </a:p>
            </p:txBody>
          </p:sp>
          <p:cxnSp>
            <p:nvCxnSpPr>
              <p:cNvPr id="63504" name="Line 14"/>
              <p:cNvCxnSpPr>
                <a:cxnSpLocks noChangeShapeType="1"/>
              </p:cNvCxnSpPr>
              <p:nvPr/>
            </p:nvCxnSpPr>
            <p:spPr bwMode="auto">
              <a:xfrm>
                <a:off x="6048" y="3481"/>
                <a:ext cx="0" cy="454"/>
              </a:xfrm>
              <a:prstGeom prst="line">
                <a:avLst/>
              </a:prstGeom>
              <a:noFill/>
              <a:ln w="15875">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05" name="Line 15"/>
              <p:cNvCxnSpPr>
                <a:cxnSpLocks noChangeShapeType="1"/>
              </p:cNvCxnSpPr>
              <p:nvPr/>
            </p:nvCxnSpPr>
            <p:spPr bwMode="auto">
              <a:xfrm>
                <a:off x="6048" y="4446"/>
                <a:ext cx="0" cy="425"/>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06" name="Line 16"/>
              <p:cNvCxnSpPr>
                <a:cxnSpLocks noChangeShapeType="1"/>
              </p:cNvCxnSpPr>
              <p:nvPr/>
            </p:nvCxnSpPr>
            <p:spPr bwMode="auto">
              <a:xfrm>
                <a:off x="6048" y="5423"/>
                <a:ext cx="0" cy="425"/>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07" name="Line 17"/>
              <p:cNvCxnSpPr>
                <a:cxnSpLocks noChangeShapeType="1"/>
              </p:cNvCxnSpPr>
              <p:nvPr/>
            </p:nvCxnSpPr>
            <p:spPr bwMode="auto">
              <a:xfrm flipV="1">
                <a:off x="4785" y="6292"/>
                <a:ext cx="720" cy="349"/>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08" name="Line 18"/>
              <p:cNvCxnSpPr>
                <a:cxnSpLocks noChangeShapeType="1"/>
              </p:cNvCxnSpPr>
              <p:nvPr/>
            </p:nvCxnSpPr>
            <p:spPr bwMode="auto">
              <a:xfrm flipV="1">
                <a:off x="3528" y="7289"/>
                <a:ext cx="720" cy="348"/>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09" name="Line 19"/>
              <p:cNvCxnSpPr>
                <a:cxnSpLocks noChangeShapeType="1"/>
              </p:cNvCxnSpPr>
              <p:nvPr/>
            </p:nvCxnSpPr>
            <p:spPr bwMode="auto">
              <a:xfrm>
                <a:off x="5328" y="7289"/>
                <a:ext cx="540" cy="348"/>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10" name="Line 20"/>
              <p:cNvCxnSpPr>
                <a:cxnSpLocks noChangeShapeType="1"/>
              </p:cNvCxnSpPr>
              <p:nvPr/>
            </p:nvCxnSpPr>
            <p:spPr bwMode="auto">
              <a:xfrm flipV="1">
                <a:off x="6228" y="7289"/>
                <a:ext cx="540" cy="348"/>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11" name="Line 21"/>
              <p:cNvCxnSpPr>
                <a:cxnSpLocks noChangeShapeType="1"/>
              </p:cNvCxnSpPr>
              <p:nvPr/>
            </p:nvCxnSpPr>
            <p:spPr bwMode="auto">
              <a:xfrm>
                <a:off x="7668" y="7289"/>
                <a:ext cx="540" cy="348"/>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12" name="Line 22"/>
              <p:cNvCxnSpPr>
                <a:cxnSpLocks noChangeShapeType="1"/>
              </p:cNvCxnSpPr>
              <p:nvPr/>
            </p:nvCxnSpPr>
            <p:spPr bwMode="auto">
              <a:xfrm>
                <a:off x="6588" y="6295"/>
                <a:ext cx="720" cy="349"/>
              </a:xfrm>
              <a:prstGeom prst="line">
                <a:avLst/>
              </a:prstGeom>
              <a:noFill/>
              <a:ln w="19050">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13" name="Line 23"/>
              <p:cNvCxnSpPr>
                <a:cxnSpLocks noChangeShapeType="1"/>
              </p:cNvCxnSpPr>
              <p:nvPr/>
            </p:nvCxnSpPr>
            <p:spPr bwMode="auto">
              <a:xfrm>
                <a:off x="5688" y="6991"/>
                <a:ext cx="54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14" name="Line 24"/>
              <p:cNvCxnSpPr>
                <a:cxnSpLocks noChangeShapeType="1"/>
              </p:cNvCxnSpPr>
              <p:nvPr/>
            </p:nvCxnSpPr>
            <p:spPr bwMode="auto">
              <a:xfrm>
                <a:off x="4608" y="7864"/>
                <a:ext cx="36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15" name="Line 25"/>
              <p:cNvCxnSpPr>
                <a:cxnSpLocks noChangeShapeType="1"/>
              </p:cNvCxnSpPr>
              <p:nvPr/>
            </p:nvCxnSpPr>
            <p:spPr bwMode="auto">
              <a:xfrm>
                <a:off x="6768" y="7864"/>
                <a:ext cx="36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16" name="Line 26"/>
              <p:cNvCxnSpPr>
                <a:cxnSpLocks noChangeShapeType="1"/>
              </p:cNvCxnSpPr>
              <p:nvPr/>
            </p:nvCxnSpPr>
            <p:spPr bwMode="auto">
              <a:xfrm>
                <a:off x="2988" y="3205"/>
                <a:ext cx="216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17" name="Line 27"/>
              <p:cNvCxnSpPr>
                <a:cxnSpLocks noChangeShapeType="1"/>
              </p:cNvCxnSpPr>
              <p:nvPr/>
            </p:nvCxnSpPr>
            <p:spPr bwMode="auto">
              <a:xfrm>
                <a:off x="2988" y="4182"/>
                <a:ext cx="216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18" name="Line 28"/>
              <p:cNvCxnSpPr>
                <a:cxnSpLocks noChangeShapeType="1"/>
              </p:cNvCxnSpPr>
              <p:nvPr/>
            </p:nvCxnSpPr>
            <p:spPr bwMode="auto">
              <a:xfrm>
                <a:off x="2988" y="5129"/>
                <a:ext cx="216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19" name="Line 29"/>
              <p:cNvCxnSpPr>
                <a:cxnSpLocks noChangeShapeType="1"/>
              </p:cNvCxnSpPr>
              <p:nvPr/>
            </p:nvCxnSpPr>
            <p:spPr bwMode="auto">
              <a:xfrm>
                <a:off x="2988" y="6016"/>
                <a:ext cx="216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20" name="Line 30"/>
              <p:cNvCxnSpPr>
                <a:cxnSpLocks noChangeShapeType="1"/>
              </p:cNvCxnSpPr>
              <p:nvPr/>
            </p:nvCxnSpPr>
            <p:spPr bwMode="auto">
              <a:xfrm>
                <a:off x="2988" y="6888"/>
                <a:ext cx="900" cy="0"/>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21" name="Line 31"/>
              <p:cNvCxnSpPr>
                <a:cxnSpLocks noChangeShapeType="1"/>
              </p:cNvCxnSpPr>
              <p:nvPr/>
            </p:nvCxnSpPr>
            <p:spPr bwMode="auto">
              <a:xfrm>
                <a:off x="2448" y="2877"/>
                <a:ext cx="4860" cy="0"/>
              </a:xfrm>
              <a:prstGeom prst="line">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63522" name="Line 32"/>
              <p:cNvCxnSpPr>
                <a:cxnSpLocks noChangeShapeType="1"/>
              </p:cNvCxnSpPr>
              <p:nvPr/>
            </p:nvCxnSpPr>
            <p:spPr bwMode="auto">
              <a:xfrm>
                <a:off x="7308" y="2877"/>
                <a:ext cx="0" cy="3313"/>
              </a:xfrm>
              <a:prstGeom prst="line">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63523" name="Line 33"/>
              <p:cNvCxnSpPr>
                <a:cxnSpLocks noChangeShapeType="1"/>
              </p:cNvCxnSpPr>
              <p:nvPr/>
            </p:nvCxnSpPr>
            <p:spPr bwMode="auto">
              <a:xfrm>
                <a:off x="7308" y="6190"/>
                <a:ext cx="1980" cy="0"/>
              </a:xfrm>
              <a:prstGeom prst="line">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63524" name="Line 34"/>
              <p:cNvCxnSpPr>
                <a:cxnSpLocks noChangeShapeType="1"/>
              </p:cNvCxnSpPr>
              <p:nvPr/>
            </p:nvCxnSpPr>
            <p:spPr bwMode="auto">
              <a:xfrm>
                <a:off x="9288" y="6190"/>
                <a:ext cx="0" cy="2267"/>
              </a:xfrm>
              <a:prstGeom prst="line">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63525" name="Line 35"/>
              <p:cNvCxnSpPr>
                <a:cxnSpLocks noChangeShapeType="1"/>
              </p:cNvCxnSpPr>
              <p:nvPr/>
            </p:nvCxnSpPr>
            <p:spPr bwMode="auto">
              <a:xfrm flipH="1">
                <a:off x="2448" y="8457"/>
                <a:ext cx="6840" cy="0"/>
              </a:xfrm>
              <a:prstGeom prst="line">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63526" name="Line 36"/>
              <p:cNvCxnSpPr>
                <a:cxnSpLocks noChangeShapeType="1"/>
              </p:cNvCxnSpPr>
              <p:nvPr/>
            </p:nvCxnSpPr>
            <p:spPr bwMode="auto">
              <a:xfrm flipV="1">
                <a:off x="2448" y="2877"/>
                <a:ext cx="0" cy="5580"/>
              </a:xfrm>
              <a:prstGeom prst="line">
                <a:avLst/>
              </a:prstGeom>
              <a:noFill/>
              <a:ln w="9525">
                <a:solidFill>
                  <a:srgbClr val="000000"/>
                </a:solidFill>
                <a:prstDash val="dash"/>
                <a:round/>
                <a:headEnd/>
                <a:tailEnd/>
              </a:ln>
              <a:extLst>
                <a:ext uri="{909E8E84-426E-40dd-AFC4-6F175D3DCCD1}">
                  <a14:hiddenFill xmlns="" xmlns:a14="http://schemas.microsoft.com/office/drawing/2010/main">
                    <a:noFill/>
                  </a14:hiddenFill>
                </a:ext>
              </a:extLst>
            </p:spPr>
          </p:cxnSp>
          <p:cxnSp>
            <p:nvCxnSpPr>
              <p:cNvPr id="63527" name="Line 37"/>
              <p:cNvCxnSpPr>
                <a:cxnSpLocks noChangeShapeType="1"/>
              </p:cNvCxnSpPr>
              <p:nvPr/>
            </p:nvCxnSpPr>
            <p:spPr bwMode="auto">
              <a:xfrm flipV="1">
                <a:off x="2988" y="2929"/>
                <a:ext cx="0" cy="4708"/>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cxnSp>
            <p:nvCxnSpPr>
              <p:cNvPr id="63528" name="Line 38"/>
              <p:cNvCxnSpPr>
                <a:cxnSpLocks noChangeShapeType="1"/>
              </p:cNvCxnSpPr>
              <p:nvPr/>
            </p:nvCxnSpPr>
            <p:spPr bwMode="auto">
              <a:xfrm>
                <a:off x="7848" y="2929"/>
                <a:ext cx="0" cy="523"/>
              </a:xfrm>
              <a:prstGeom prst="line">
                <a:avLst/>
              </a:prstGeom>
              <a:noFill/>
              <a:ln w="9525">
                <a:solidFill>
                  <a:srgbClr val="000000"/>
                </a:solidFill>
                <a:round/>
                <a:headEnd type="stealth" w="med" len="med"/>
                <a:tailEnd type="stealth" w="med" len="med"/>
              </a:ln>
              <a:extLst>
                <a:ext uri="{909E8E84-426E-40dd-AFC4-6F175D3DCCD1}">
                  <a14:hiddenFill xmlns="" xmlns:a14="http://schemas.microsoft.com/office/drawing/2010/main">
                    <a:noFill/>
                  </a14:hiddenFill>
                </a:ext>
              </a:extLst>
            </p:spPr>
          </p:cxnSp>
          <p:cxnSp>
            <p:nvCxnSpPr>
              <p:cNvPr id="63529" name="Line 39"/>
              <p:cNvCxnSpPr>
                <a:cxnSpLocks noChangeShapeType="1"/>
              </p:cNvCxnSpPr>
              <p:nvPr/>
            </p:nvCxnSpPr>
            <p:spPr bwMode="auto">
              <a:xfrm>
                <a:off x="7848" y="3627"/>
                <a:ext cx="0" cy="523"/>
              </a:xfrm>
              <a:prstGeom prst="line">
                <a:avLst/>
              </a:prstGeom>
              <a:noFill/>
              <a:ln w="9525">
                <a:solidFill>
                  <a:srgbClr val="000000"/>
                </a:solidFill>
                <a:round/>
                <a:headEnd type="arrow" w="med" len="med"/>
                <a:tailEnd type="arrow" w="med" len="med"/>
              </a:ln>
              <a:extLst>
                <a:ext uri="{909E8E84-426E-40dd-AFC4-6F175D3DCCD1}">
                  <a14:hiddenFill xmlns="" xmlns:a14="http://schemas.microsoft.com/office/drawing/2010/main">
                    <a:noFill/>
                  </a14:hiddenFill>
                </a:ext>
              </a:extLst>
            </p:spPr>
          </p:cxnSp>
          <p:sp>
            <p:nvSpPr>
              <p:cNvPr id="63530" name="Rectangle 40"/>
              <p:cNvSpPr>
                <a:spLocks noChangeArrowheads="1"/>
              </p:cNvSpPr>
              <p:nvPr/>
            </p:nvSpPr>
            <p:spPr bwMode="auto">
              <a:xfrm>
                <a:off x="7668" y="4377"/>
                <a:ext cx="360" cy="348"/>
              </a:xfrm>
              <a:prstGeom prst="rect">
                <a:avLst/>
              </a:prstGeom>
              <a:solidFill>
                <a:srgbClr val="FFFFFF"/>
              </a:solidFill>
              <a:ln w="9525">
                <a:solidFill>
                  <a:srgbClr val="000000"/>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endParaRPr lang="tr-TR" altLang="tr-TR" sz="1800">
                  <a:ln>
                    <a:solidFill>
                      <a:schemeClr val="bg1"/>
                    </a:solidFill>
                  </a:ln>
                  <a:latin typeface="Arial" charset="0"/>
                </a:endParaRPr>
              </a:p>
            </p:txBody>
          </p:sp>
          <p:sp>
            <p:nvSpPr>
              <p:cNvPr id="63531" name="Rectangle 41"/>
              <p:cNvSpPr>
                <a:spLocks noChangeArrowheads="1"/>
              </p:cNvSpPr>
              <p:nvPr/>
            </p:nvSpPr>
            <p:spPr bwMode="auto">
              <a:xfrm>
                <a:off x="7668" y="5022"/>
                <a:ext cx="360" cy="349"/>
              </a:xfrm>
              <a:prstGeom prst="rect">
                <a:avLst/>
              </a:prstGeom>
              <a:solidFill>
                <a:srgbClr val="FFFFFF"/>
              </a:solidFill>
              <a:ln w="9525">
                <a:solidFill>
                  <a:srgbClr val="000000"/>
                </a:solidFill>
                <a:prstDash val="dash"/>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endParaRPr lang="tr-TR" altLang="tr-TR" sz="1800">
                  <a:ln>
                    <a:solidFill>
                      <a:schemeClr val="bg1"/>
                    </a:solidFill>
                  </a:ln>
                  <a:latin typeface="Arial" charset="0"/>
                </a:endParaRPr>
              </a:p>
            </p:txBody>
          </p:sp>
          <p:sp>
            <p:nvSpPr>
              <p:cNvPr id="63532" name="Text Box 42"/>
              <p:cNvSpPr txBox="1">
                <a:spLocks noChangeArrowheads="1"/>
              </p:cNvSpPr>
              <p:nvPr/>
            </p:nvSpPr>
            <p:spPr bwMode="auto">
              <a:xfrm>
                <a:off x="8208" y="2929"/>
                <a:ext cx="1980" cy="523"/>
              </a:xfrm>
              <a:prstGeom prst="rect">
                <a:avLst/>
              </a:prstGeom>
              <a:solidFill>
                <a:srgbClr val="FFFFFF"/>
              </a:solidFill>
              <a:ln w="9525">
                <a:solidFill>
                  <a:srgbClr val="FFFFFF"/>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defTabSz="425196" eaLnBrk="1" hangingPunct="1">
                  <a:lnSpc>
                    <a:spcPct val="115000"/>
                  </a:lnSpc>
                  <a:spcBef>
                    <a:spcPct val="0"/>
                  </a:spcBef>
                  <a:spcAft>
                    <a:spcPts val="930"/>
                  </a:spcAft>
                  <a:buClrTx/>
                  <a:buSzTx/>
                  <a:buNone/>
                </a:pPr>
                <a:r>
                  <a:rPr lang="tr-TR" altLang="tr-TR" sz="837" kern="1200">
                    <a:ln>
                      <a:solidFill>
                        <a:schemeClr val="bg1"/>
                      </a:solidFill>
                    </a:ln>
                    <a:solidFill>
                      <a:schemeClr val="tx1"/>
                    </a:solidFill>
                    <a:latin typeface="Arial" charset="0"/>
                    <a:ea typeface="+mn-ea"/>
                    <a:cs typeface="Times New Roman" pitchFamily="18" charset="0"/>
                  </a:rPr>
                  <a:t>Malzeme Akışı</a:t>
                </a:r>
                <a:endParaRPr lang="tr-TR" altLang="tr-TR" sz="1100">
                  <a:ln>
                    <a:solidFill>
                      <a:schemeClr val="bg1"/>
                    </a:solidFill>
                  </a:ln>
                  <a:latin typeface="Calibri" pitchFamily="34" charset="0"/>
                  <a:ea typeface="Calibri" pitchFamily="34" charset="0"/>
                  <a:cs typeface="Times New Roman" pitchFamily="18" charset="0"/>
                </a:endParaRPr>
              </a:p>
            </p:txBody>
          </p:sp>
          <p:sp>
            <p:nvSpPr>
              <p:cNvPr id="63533" name="Text Box 43"/>
              <p:cNvSpPr txBox="1">
                <a:spLocks noChangeArrowheads="1"/>
              </p:cNvSpPr>
              <p:nvPr/>
            </p:nvSpPr>
            <p:spPr bwMode="auto">
              <a:xfrm>
                <a:off x="8208" y="3627"/>
                <a:ext cx="1440" cy="523"/>
              </a:xfrm>
              <a:prstGeom prst="rect">
                <a:avLst/>
              </a:prstGeom>
              <a:solidFill>
                <a:srgbClr val="FFFFFF"/>
              </a:solidFill>
              <a:ln w="9525">
                <a:solidFill>
                  <a:srgbClr val="FFFFFF"/>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defTabSz="425196" eaLnBrk="1" hangingPunct="1">
                  <a:lnSpc>
                    <a:spcPct val="115000"/>
                  </a:lnSpc>
                  <a:spcBef>
                    <a:spcPct val="0"/>
                  </a:spcBef>
                  <a:spcAft>
                    <a:spcPts val="930"/>
                  </a:spcAft>
                  <a:buClrTx/>
                  <a:buSzTx/>
                  <a:buNone/>
                </a:pPr>
                <a:r>
                  <a:rPr lang="tr-TR" altLang="tr-TR" sz="837" kern="1200">
                    <a:ln>
                      <a:solidFill>
                        <a:schemeClr val="bg1"/>
                      </a:solidFill>
                    </a:ln>
                    <a:solidFill>
                      <a:schemeClr val="tx1"/>
                    </a:solidFill>
                    <a:latin typeface="Arial" charset="0"/>
                    <a:ea typeface="+mn-ea"/>
                    <a:cs typeface="Times New Roman" pitchFamily="18" charset="0"/>
                  </a:rPr>
                  <a:t>Bilgi Akışı</a:t>
                </a:r>
                <a:endParaRPr lang="tr-TR" altLang="tr-TR" sz="1100">
                  <a:ln>
                    <a:solidFill>
                      <a:schemeClr val="bg1"/>
                    </a:solidFill>
                  </a:ln>
                  <a:latin typeface="Calibri" pitchFamily="34" charset="0"/>
                  <a:ea typeface="Calibri" pitchFamily="34" charset="0"/>
                  <a:cs typeface="Times New Roman" pitchFamily="18" charset="0"/>
                </a:endParaRPr>
              </a:p>
            </p:txBody>
          </p:sp>
          <p:sp>
            <p:nvSpPr>
              <p:cNvPr id="63534" name="Text Box 44"/>
              <p:cNvSpPr txBox="1">
                <a:spLocks noChangeArrowheads="1"/>
              </p:cNvSpPr>
              <p:nvPr/>
            </p:nvSpPr>
            <p:spPr bwMode="auto">
              <a:xfrm>
                <a:off x="8208" y="5022"/>
                <a:ext cx="1800" cy="523"/>
              </a:xfrm>
              <a:prstGeom prst="rect">
                <a:avLst/>
              </a:prstGeom>
              <a:solidFill>
                <a:srgbClr val="FFFFFF"/>
              </a:solidFill>
              <a:ln w="9525">
                <a:solidFill>
                  <a:srgbClr val="FFFFFF"/>
                </a:solidFill>
                <a:miter lim="800000"/>
                <a:headEnd/>
                <a:tailEnd/>
              </a:ln>
            </p:spPr>
            <p:txBody>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defTabSz="425196" eaLnBrk="1" hangingPunct="1">
                  <a:lnSpc>
                    <a:spcPct val="115000"/>
                  </a:lnSpc>
                  <a:spcBef>
                    <a:spcPct val="0"/>
                  </a:spcBef>
                  <a:spcAft>
                    <a:spcPts val="930"/>
                  </a:spcAft>
                  <a:buClrTx/>
                  <a:buSzTx/>
                  <a:buNone/>
                </a:pPr>
                <a:r>
                  <a:rPr lang="tr-TR" altLang="tr-TR" sz="837" kern="1200">
                    <a:ln>
                      <a:solidFill>
                        <a:schemeClr val="bg1"/>
                      </a:solidFill>
                    </a:ln>
                    <a:solidFill>
                      <a:schemeClr val="tx1"/>
                    </a:solidFill>
                    <a:latin typeface="Arial" charset="0"/>
                    <a:ea typeface="+mn-ea"/>
                    <a:cs typeface="Times New Roman" pitchFamily="18" charset="0"/>
                  </a:rPr>
                  <a:t>İlişki Yönetimi</a:t>
                </a:r>
                <a:endParaRPr lang="tr-TR" altLang="tr-TR" sz="1100">
                  <a:ln>
                    <a:solidFill>
                      <a:schemeClr val="bg1"/>
                    </a:solidFill>
                  </a:ln>
                  <a:latin typeface="Calibri" pitchFamily="34" charset="0"/>
                  <a:ea typeface="Calibri" pitchFamily="34" charset="0"/>
                  <a:cs typeface="Times New Roman" pitchFamily="18" charset="0"/>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pPr>
              <a:defRPr/>
            </a:pPr>
            <a:r>
              <a:rPr lang="tr-TR" sz="4200" dirty="0"/>
              <a:t>TEDARİK ZİNCİRİ=LOJİSTİK</a:t>
            </a:r>
            <a:r>
              <a:rPr lang="tr-TR" sz="4800" dirty="0"/>
              <a:t>?</a:t>
            </a:r>
            <a:endParaRPr lang="tr-TR" dirty="0"/>
          </a:p>
        </p:txBody>
      </p:sp>
      <p:sp>
        <p:nvSpPr>
          <p:cNvPr id="64515" name="İçerik Yer Tutucusu 2"/>
          <p:cNvSpPr>
            <a:spLocks noGrp="1"/>
          </p:cNvSpPr>
          <p:nvPr>
            <p:ph idx="1"/>
          </p:nvPr>
        </p:nvSpPr>
        <p:spPr/>
        <p:txBody>
          <a:bodyPr>
            <a:normAutofit/>
          </a:bodyPr>
          <a:lstStyle/>
          <a:p>
            <a:pPr algn="just"/>
            <a:r>
              <a:rPr lang="tr-TR" altLang="tr-TR" sz="2500"/>
              <a:t>“</a:t>
            </a:r>
            <a:r>
              <a:rPr lang="tr-TR" altLang="tr-TR" sz="2500" b="1"/>
              <a:t>Tedarik Zinciri</a:t>
            </a:r>
            <a:r>
              <a:rPr lang="tr-TR" altLang="tr-TR" sz="2500"/>
              <a:t>” ve “</a:t>
            </a:r>
            <a:r>
              <a:rPr lang="tr-TR" altLang="tr-TR" sz="2500" b="1"/>
              <a:t>Lojistik</a:t>
            </a:r>
            <a:r>
              <a:rPr lang="tr-TR" altLang="tr-TR" sz="2500"/>
              <a:t>” kavramları birbirine karışan ve zaman zaman birbiri yerine kullanılan iki terimdir. Tedarik zincirinin amacı, bir işletme için kesintisiz üretimi sağlamak amacıyla hammaddeden tüketime kadar olan zinciri kurumlara artı değer kazandırılması amacıyla planlanması olurken; Lojistik ise aynı yönetimi tüketiciyi temel alarak planlama işlemi olarak tanımlanmaktadır. Bu kısa tanım hangi terimin nerde kullanılacağı konusunda karmaşa oluşturmaktadır.  </a:t>
            </a:r>
          </a:p>
          <a:p>
            <a:endParaRPr lang="tr-TR" altLang="tr-TR" sz="2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9E84959-3BA3-DD59-2BDC-39E7791DF782}"/>
              </a:ext>
            </a:extLst>
          </p:cNvPr>
          <p:cNvSpPr>
            <a:spLocks noGrp="1"/>
          </p:cNvSpPr>
          <p:nvPr>
            <p:ph type="title"/>
          </p:nvPr>
        </p:nvSpPr>
        <p:spPr>
          <a:xfrm>
            <a:off x="3716593" y="639097"/>
            <a:ext cx="4944806" cy="1612490"/>
          </a:xfrm>
        </p:spPr>
        <p:txBody>
          <a:bodyPr>
            <a:normAutofit/>
          </a:bodyPr>
          <a:lstStyle/>
          <a:p>
            <a:pPr>
              <a:lnSpc>
                <a:spcPct val="90000"/>
              </a:lnSpc>
            </a:pPr>
            <a:r>
              <a:rPr lang="tr-TR" sz="2600" b="1"/>
              <a:t>tedarik zinciri ve lojistik birbirini içeren ancak aynı olmayan kavramlardır.</a:t>
            </a:r>
            <a:br>
              <a:rPr lang="tr-TR" sz="2600"/>
            </a:br>
            <a:endParaRPr lang="tr-TR" sz="2600"/>
          </a:p>
        </p:txBody>
      </p:sp>
      <p:pic>
        <p:nvPicPr>
          <p:cNvPr id="5" name="Picture 4" descr="Kutular ve silindir taşıyıcı">
            <a:extLst>
              <a:ext uri="{FF2B5EF4-FFF2-40B4-BE49-F238E27FC236}">
                <a16:creationId xmlns:a16="http://schemas.microsoft.com/office/drawing/2014/main" id="{5387FCD4-9A79-CB7F-6A88-19E1D2993FC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0" y="975"/>
            <a:ext cx="3476986" cy="6858000"/>
          </a:xfrm>
          <a:prstGeom prst="rect">
            <a:avLst/>
          </a:prstGeom>
        </p:spPr>
      </p:pic>
      <p:sp>
        <p:nvSpPr>
          <p:cNvPr id="3" name="İçerik Yer Tutucusu 2">
            <a:extLst>
              <a:ext uri="{FF2B5EF4-FFF2-40B4-BE49-F238E27FC236}">
                <a16:creationId xmlns:a16="http://schemas.microsoft.com/office/drawing/2014/main" id="{4EEF0653-C066-CFDF-34C8-5B200A13CDD8}"/>
              </a:ext>
            </a:extLst>
          </p:cNvPr>
          <p:cNvSpPr>
            <a:spLocks noGrp="1"/>
          </p:cNvSpPr>
          <p:nvPr>
            <p:ph idx="1"/>
          </p:nvPr>
        </p:nvSpPr>
        <p:spPr>
          <a:xfrm>
            <a:off x="3716593" y="2251587"/>
            <a:ext cx="4944806" cy="3972232"/>
          </a:xfrm>
        </p:spPr>
        <p:txBody>
          <a:bodyPr>
            <a:normAutofit/>
          </a:bodyPr>
          <a:lstStyle/>
          <a:p>
            <a:pPr>
              <a:lnSpc>
                <a:spcPct val="90000"/>
              </a:lnSpc>
            </a:pPr>
            <a:r>
              <a:rPr lang="tr-TR" sz="1300" b="1"/>
              <a:t>Lojistik</a:t>
            </a:r>
            <a:r>
              <a:rPr lang="tr-TR" sz="1300"/>
              <a:t> daha çok fiziksel bir süreçtir. Bir ürünün üretim noktasından tüketiciye ulaştırılması için yapılan tüm faaliyetleri kapsar. Bu faaliyetler arasında taşıma, depolama, ambalajlama, envanter yönetimi gibi işlemler yer alır. Yani lojistik, tedarik zincirinin daha dar bir kapsamıdır.</a:t>
            </a:r>
          </a:p>
          <a:p>
            <a:pPr>
              <a:lnSpc>
                <a:spcPct val="90000"/>
              </a:lnSpc>
            </a:pPr>
            <a:r>
              <a:rPr lang="tr-TR" sz="1300" b="1"/>
              <a:t>Tedarik zinciri</a:t>
            </a:r>
            <a:r>
              <a:rPr lang="tr-TR" sz="1300"/>
              <a:t> ise daha geniş bir kavramdır. Ürünün ham madde aşamasından tüketiciye ulaşmasına kadar geçen tüm süreçleri ve bu süreçteki tüm paydaşları (tedarikçiler, üreticiler, dağıtıcılar, müşteriler) kapsar. Yani lojistik, tedarik zincirinin bir parçasıdır ancak tedarik zinciri lojistiğin ötesine geçer.</a:t>
            </a:r>
          </a:p>
          <a:p>
            <a:pPr>
              <a:lnSpc>
                <a:spcPct val="90000"/>
              </a:lnSpc>
            </a:pPr>
            <a:r>
              <a:rPr lang="tr-TR" sz="1300" b="1"/>
              <a:t>Örneklerle Açıklayalım</a:t>
            </a:r>
          </a:p>
          <a:p>
            <a:pPr>
              <a:lnSpc>
                <a:spcPct val="90000"/>
              </a:lnSpc>
              <a:buFont typeface="Arial" panose="020B0604020202020204" pitchFamily="34" charset="0"/>
              <a:buChar char="•"/>
            </a:pPr>
            <a:r>
              <a:rPr lang="tr-TR" sz="1300" b="1"/>
              <a:t>Lojistik:</a:t>
            </a:r>
            <a:r>
              <a:rPr lang="tr-TR" sz="1300"/>
              <a:t> Bir fabrikadan üretilen bir televizyonun bir mağazaya taşınması için yapılan tüm işlemler (taşıma, depolama, sigorta vb.) lojistik faaliyetleridir.</a:t>
            </a:r>
          </a:p>
          <a:p>
            <a:pPr>
              <a:lnSpc>
                <a:spcPct val="90000"/>
              </a:lnSpc>
              <a:buFont typeface="Arial" panose="020B0604020202020204" pitchFamily="34" charset="0"/>
              <a:buChar char="•"/>
            </a:pPr>
            <a:r>
              <a:rPr lang="tr-TR" sz="1300" b="1"/>
              <a:t>Tedarik zinciri:</a:t>
            </a:r>
            <a:r>
              <a:rPr lang="tr-TR" sz="1300"/>
              <a:t> Aynı televizyonun üretilmesi için gerekli olan ham maddelerin temini, üretim süreçleri, kalite kontrol, pazarlama, satış ve müşteri hizmetleri gibi tüm süreçler tedarik zinciri yönetiminin kapsamındadır.</a:t>
            </a:r>
          </a:p>
          <a:p>
            <a:pPr>
              <a:lnSpc>
                <a:spcPct val="90000"/>
              </a:lnSpc>
            </a:pPr>
            <a:endParaRPr lang="tr-TR" sz="1300"/>
          </a:p>
        </p:txBody>
      </p:sp>
    </p:spTree>
    <p:extLst>
      <p:ext uri="{BB962C8B-B14F-4D97-AF65-F5344CB8AC3E}">
        <p14:creationId xmlns:p14="http://schemas.microsoft.com/office/powerpoint/2010/main" val="4153574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9E84959-3BA3-DD59-2BDC-39E7791DF782}"/>
              </a:ext>
            </a:extLst>
          </p:cNvPr>
          <p:cNvSpPr>
            <a:spLocks noGrp="1"/>
          </p:cNvSpPr>
          <p:nvPr>
            <p:ph type="title"/>
          </p:nvPr>
        </p:nvSpPr>
        <p:spPr>
          <a:xfrm>
            <a:off x="772716" y="4572000"/>
            <a:ext cx="7598568" cy="1219200"/>
          </a:xfrm>
        </p:spPr>
        <p:txBody>
          <a:bodyPr>
            <a:normAutofit/>
          </a:bodyPr>
          <a:lstStyle/>
          <a:p>
            <a:pPr algn="ctr">
              <a:lnSpc>
                <a:spcPct val="90000"/>
              </a:lnSpc>
            </a:pPr>
            <a:r>
              <a:rPr lang="tr-TR" sz="2700" b="1"/>
              <a:t>tedarik zinciri ve lojistik birbirini içeren ancak aynı olmayan kavramlardır.</a:t>
            </a:r>
            <a:br>
              <a:rPr lang="tr-TR" sz="2700"/>
            </a:br>
            <a:endParaRPr lang="tr-TR" sz="2700"/>
          </a:p>
        </p:txBody>
      </p:sp>
      <p:graphicFrame>
        <p:nvGraphicFramePr>
          <p:cNvPr id="4" name="İçerik Yer Tutucusu 3">
            <a:extLst>
              <a:ext uri="{FF2B5EF4-FFF2-40B4-BE49-F238E27FC236}">
                <a16:creationId xmlns:a16="http://schemas.microsoft.com/office/drawing/2014/main" id="{AFAA3E79-E941-B38B-1C18-BFC3E2059E3E}"/>
              </a:ext>
            </a:extLst>
          </p:cNvPr>
          <p:cNvGraphicFramePr>
            <a:graphicFrameLocks noGrp="1"/>
          </p:cNvGraphicFramePr>
          <p:nvPr>
            <p:ph idx="1"/>
            <p:extLst>
              <p:ext uri="{D42A27DB-BD31-4B8C-83A1-F6EECF244321}">
                <p14:modId xmlns:p14="http://schemas.microsoft.com/office/powerpoint/2010/main" val="150609047"/>
              </p:ext>
            </p:extLst>
          </p:nvPr>
        </p:nvGraphicFramePr>
        <p:xfrm>
          <a:off x="772716" y="1021504"/>
          <a:ext cx="7598569" cy="2994133"/>
        </p:xfrm>
        <a:graphic>
          <a:graphicData uri="http://schemas.openxmlformats.org/drawingml/2006/table">
            <a:tbl>
              <a:tblPr/>
              <a:tblGrid>
                <a:gridCol w="1364609">
                  <a:extLst>
                    <a:ext uri="{9D8B030D-6E8A-4147-A177-3AD203B41FA5}">
                      <a16:colId xmlns:a16="http://schemas.microsoft.com/office/drawing/2014/main" val="4001572020"/>
                    </a:ext>
                  </a:extLst>
                </a:gridCol>
                <a:gridCol w="2344884">
                  <a:extLst>
                    <a:ext uri="{9D8B030D-6E8A-4147-A177-3AD203B41FA5}">
                      <a16:colId xmlns:a16="http://schemas.microsoft.com/office/drawing/2014/main" val="4275826552"/>
                    </a:ext>
                  </a:extLst>
                </a:gridCol>
                <a:gridCol w="3889076">
                  <a:extLst>
                    <a:ext uri="{9D8B030D-6E8A-4147-A177-3AD203B41FA5}">
                      <a16:colId xmlns:a16="http://schemas.microsoft.com/office/drawing/2014/main" val="616740164"/>
                    </a:ext>
                  </a:extLst>
                </a:gridCol>
              </a:tblGrid>
              <a:tr h="419106">
                <a:tc>
                  <a:txBody>
                    <a:bodyPr/>
                    <a:lstStyle/>
                    <a:p>
                      <a:pPr rtl="0" fontAlgn="b"/>
                      <a:r>
                        <a:rPr lang="tr-TR" sz="2200">
                          <a:effectLst/>
                        </a:rPr>
                        <a:t>Özellik</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Lojistik</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Tedarik Zinciri</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46016883"/>
                  </a:ext>
                </a:extLst>
              </a:tr>
              <a:tr h="748533">
                <a:tc>
                  <a:txBody>
                    <a:bodyPr/>
                    <a:lstStyle/>
                    <a:p>
                      <a:pPr rtl="0" fontAlgn="b"/>
                      <a:r>
                        <a:rPr lang="tr-TR" sz="2200">
                          <a:effectLst/>
                        </a:rPr>
                        <a:t>Kapsam</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Daha dar, fiziksel süreçler</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s-ES" sz="2200">
                          <a:effectLst/>
                        </a:rPr>
                        <a:t>Daha geniş, tüm süreçler ve paydaşlar</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45943070"/>
                  </a:ext>
                </a:extLst>
              </a:tr>
              <a:tr h="748533">
                <a:tc>
                  <a:txBody>
                    <a:bodyPr/>
                    <a:lstStyle/>
                    <a:p>
                      <a:pPr rtl="0" fontAlgn="b"/>
                      <a:r>
                        <a:rPr lang="tr-TR" sz="2200">
                          <a:effectLst/>
                        </a:rPr>
                        <a:t>Odak Noktası</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Ürünün fiziksel hareketi</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Ürünün yaşam döngüsü boyunca değer yaratma</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82579056"/>
                  </a:ext>
                </a:extLst>
              </a:tr>
              <a:tr h="1077961">
                <a:tc>
                  <a:txBody>
                    <a:bodyPr/>
                    <a:lstStyle/>
                    <a:p>
                      <a:pPr rtl="0" fontAlgn="b"/>
                      <a:r>
                        <a:rPr lang="tr-TR" sz="2200">
                          <a:effectLst/>
                        </a:rPr>
                        <a:t>Faaliyetler</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Taşıma, depolama, ambalajlama</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2200">
                          <a:effectLst/>
                        </a:rPr>
                        <a:t>Planlama, satın alma, üretim, dağıtım, müşteri ilişkileri</a:t>
                      </a:r>
                    </a:p>
                  </a:txBody>
                  <a:tcPr marL="34315" marR="34315" marT="22877" marB="2287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22727904"/>
                  </a:ext>
                </a:extLst>
              </a:tr>
            </a:tbl>
          </a:graphicData>
        </a:graphic>
      </p:graphicFrame>
    </p:spTree>
    <p:extLst>
      <p:ext uri="{BB962C8B-B14F-4D97-AF65-F5344CB8AC3E}">
        <p14:creationId xmlns:p14="http://schemas.microsoft.com/office/powerpoint/2010/main" val="686515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defRPr/>
            </a:pPr>
            <a:r>
              <a:rPr lang="tr-TR" dirty="0"/>
              <a:t>TEDARİK ZİNCİRİ=LOJİSTİK?</a:t>
            </a:r>
          </a:p>
        </p:txBody>
      </p:sp>
      <p:sp>
        <p:nvSpPr>
          <p:cNvPr id="3" name="İçerik Yer Tutucusu 2"/>
          <p:cNvSpPr>
            <a:spLocks noGrp="1"/>
          </p:cNvSpPr>
          <p:nvPr>
            <p:ph idx="1"/>
          </p:nvPr>
        </p:nvSpPr>
        <p:spPr/>
        <p:txBody>
          <a:bodyPr>
            <a:normAutofit fontScale="92500" lnSpcReduction="20000"/>
          </a:bodyPr>
          <a:lstStyle/>
          <a:p>
            <a:pPr>
              <a:defRPr/>
            </a:pPr>
            <a:endParaRPr lang="tr-TR"/>
          </a:p>
          <a:p>
            <a:pPr>
              <a:defRPr/>
            </a:pPr>
            <a:endParaRPr lang="tr-TR"/>
          </a:p>
          <a:p>
            <a:pPr>
              <a:defRPr/>
            </a:pPr>
            <a:endParaRPr lang="tr-TR"/>
          </a:p>
          <a:p>
            <a:pPr>
              <a:defRPr/>
            </a:pPr>
            <a:endParaRPr lang="tr-TR"/>
          </a:p>
          <a:p>
            <a:pPr>
              <a:defRPr/>
            </a:pPr>
            <a:endParaRPr lang="tr-TR"/>
          </a:p>
          <a:p>
            <a:pPr>
              <a:defRPr/>
            </a:pPr>
            <a:r>
              <a:rPr lang="tr-TR"/>
              <a:t>Geleneksel (Traditionalist):  TZY, lojistiğin küçük bir parçasıdır.</a:t>
            </a:r>
          </a:p>
          <a:p>
            <a:pPr>
              <a:defRPr/>
            </a:pPr>
            <a:r>
              <a:rPr lang="tr-TR"/>
              <a:t> Yeniden adlandırılan (Re-labeling): Lojistik ile TZY arasında fark yoktur ve Lojistiği, TZY olarak yeniden isimlendirir. </a:t>
            </a:r>
          </a:p>
          <a:p>
            <a:pPr>
              <a:defRPr/>
            </a:pPr>
            <a:r>
              <a:rPr lang="tr-TR"/>
              <a:t>Birlikçi(birleştirenler) (Unionist): Lojistik, TZY’nin bir parçasıdır. TZY, lojistiği kapsar.</a:t>
            </a:r>
          </a:p>
          <a:p>
            <a:pPr>
              <a:defRPr/>
            </a:pPr>
            <a:r>
              <a:rPr lang="tr-TR"/>
              <a:t> Kesişimci (Intersectionist): İkisinin de farklı ve ortak noktaları vardır. TZY, daha stratejiktir, taktiksel değildir. </a:t>
            </a:r>
            <a:r>
              <a:rPr lang="es-ES"/>
              <a:t>Larson ve Halldorsson (2004: 18)</a:t>
            </a:r>
            <a:endParaRPr lang="tr-TR" dirty="0"/>
          </a:p>
          <a:p>
            <a:pPr marL="0" indent="0">
              <a:buFont typeface="Wingdings 3" pitchFamily="18" charset="2"/>
              <a:buNone/>
              <a:defRPr/>
            </a:pPr>
            <a:endParaRPr lang="tr-TR" dirty="0"/>
          </a:p>
        </p:txBody>
      </p:sp>
      <p:pic>
        <p:nvPicPr>
          <p:cNvPr id="4" name="Resim 3">
            <a:extLst>
              <a:ext uri="{FF2B5EF4-FFF2-40B4-BE49-F238E27FC236}">
                <a16:creationId xmlns:a16="http://schemas.microsoft.com/office/drawing/2014/main" id="{B432819A-61B2-5855-41DF-6C30DF5E8A3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43608" y="1818131"/>
            <a:ext cx="5939297" cy="16108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66568" name="Rectangle 6656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66570" name="Freeform: Shape 6656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Başlık 1"/>
          <p:cNvSpPr>
            <a:spLocks noGrp="1"/>
          </p:cNvSpPr>
          <p:nvPr>
            <p:ph type="title"/>
          </p:nvPr>
        </p:nvSpPr>
        <p:spPr>
          <a:xfrm>
            <a:off x="772716" y="1314451"/>
            <a:ext cx="7598569" cy="832757"/>
          </a:xfrm>
        </p:spPr>
        <p:txBody>
          <a:bodyPr>
            <a:normAutofit/>
          </a:bodyPr>
          <a:lstStyle/>
          <a:p>
            <a:pPr algn="ctr">
              <a:defRPr/>
            </a:pPr>
            <a:r>
              <a:rPr lang="tr-TR" dirty="0"/>
              <a:t>TEDARİK ZİNCİRİ=LOJİSTİK?</a:t>
            </a:r>
            <a:endParaRPr lang="tr-TR"/>
          </a:p>
        </p:txBody>
      </p:sp>
      <p:pic>
        <p:nvPicPr>
          <p:cNvPr id="66572" name="Picture 6657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66563" name="İçerik Yer Tutucusu 2"/>
          <p:cNvSpPr>
            <a:spLocks noGrp="1"/>
          </p:cNvSpPr>
          <p:nvPr>
            <p:ph idx="1"/>
          </p:nvPr>
        </p:nvSpPr>
        <p:spPr>
          <a:xfrm>
            <a:off x="514351" y="2801680"/>
            <a:ext cx="8115300" cy="2398970"/>
          </a:xfrm>
        </p:spPr>
        <p:txBody>
          <a:bodyPr>
            <a:normAutofit/>
          </a:bodyPr>
          <a:lstStyle/>
          <a:p>
            <a:pPr marL="0" indent="0">
              <a:buNone/>
            </a:pPr>
            <a:r>
              <a:rPr lang="tr-TR" altLang="tr-TR">
                <a:solidFill>
                  <a:schemeClr val="bg1"/>
                </a:solidFill>
              </a:rPr>
              <a:t> Lojistik tanımlamalarına bakıldığına, ürün ve hizmetlerin hammadde noktasından tüketiciye kadar akışının ve depolanmasının müşteri ihtiyaçlarına uygun olarak planlama ve kontrol süreçlerini içerdiği görülür. Bu tanımın genel olarak harici ve dahili hareketliliği ve materyallerin firmaya geri dönüşünü, ayrıca hem hammaddenin hem de bitmiş ürünlerin hareketliliğini içerir.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67592" name="Rectangle 67591">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67594" name="Freeform: Shape 67593">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Başlık 1"/>
          <p:cNvSpPr>
            <a:spLocks noGrp="1"/>
          </p:cNvSpPr>
          <p:nvPr>
            <p:ph type="title"/>
          </p:nvPr>
        </p:nvSpPr>
        <p:spPr>
          <a:xfrm>
            <a:off x="772716" y="1314451"/>
            <a:ext cx="7598569" cy="832757"/>
          </a:xfrm>
        </p:spPr>
        <p:txBody>
          <a:bodyPr>
            <a:normAutofit/>
          </a:bodyPr>
          <a:lstStyle/>
          <a:p>
            <a:pPr algn="ctr">
              <a:defRPr/>
            </a:pPr>
            <a:r>
              <a:rPr lang="tr-TR" dirty="0"/>
              <a:t>TEDARİK ZİNCİRİ=LOJİSTİK?</a:t>
            </a:r>
            <a:endParaRPr lang="tr-TR"/>
          </a:p>
        </p:txBody>
      </p:sp>
      <p:pic>
        <p:nvPicPr>
          <p:cNvPr id="67596" name="Picture 67595">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67587" name="İçerik Yer Tutucusu 2"/>
          <p:cNvSpPr>
            <a:spLocks noGrp="1"/>
          </p:cNvSpPr>
          <p:nvPr>
            <p:ph idx="1"/>
          </p:nvPr>
        </p:nvSpPr>
        <p:spPr>
          <a:xfrm>
            <a:off x="514351" y="2801680"/>
            <a:ext cx="8115300" cy="2398970"/>
          </a:xfrm>
        </p:spPr>
        <p:txBody>
          <a:bodyPr>
            <a:normAutofit/>
          </a:bodyPr>
          <a:lstStyle/>
          <a:p>
            <a:r>
              <a:rPr lang="tr-TR" altLang="tr-TR">
                <a:solidFill>
                  <a:schemeClr val="bg1"/>
                </a:solidFill>
              </a:rPr>
              <a:t>Tedarik zinciri ise hammaddeden müşteriye kadar bir ürünün dağıtımına ilişkin tüm faaliyetleri içerir; hammaddenin ve parçaların temin edilmesi, üretim ve montaj, depolama ve envanter taşıması, sipariş girilmesi ve sipariş yönetimi, tüm kanallar boyunca dağıtım, müşteriye ulaştırma ve tüm bu faaliyetlerin izlenebilmesi için gerekli olan bilgi sistemlerini kapsar</a:t>
            </a:r>
          </a:p>
          <a:p>
            <a:endParaRPr lang="tr-TR" altLang="tr-TR">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Başlık 1"/>
          <p:cNvSpPr>
            <a:spLocks noGrp="1"/>
          </p:cNvSpPr>
          <p:nvPr>
            <p:ph type="title"/>
          </p:nvPr>
        </p:nvSpPr>
        <p:spPr>
          <a:xfrm>
            <a:off x="514350" y="643466"/>
            <a:ext cx="1943100" cy="4995333"/>
          </a:xfrm>
        </p:spPr>
        <p:txBody>
          <a:bodyPr>
            <a:normAutofit/>
          </a:bodyPr>
          <a:lstStyle/>
          <a:p>
            <a:pPr>
              <a:defRPr/>
            </a:pPr>
            <a:r>
              <a:rPr lang="tr-TR">
                <a:solidFill>
                  <a:srgbClr val="FFFFFF"/>
                </a:solidFill>
              </a:rPr>
              <a:t>LOJİSTİĞİN GELİŞİM TRENDİ</a:t>
            </a:r>
            <a:br>
              <a:rPr lang="tr-TR">
                <a:solidFill>
                  <a:srgbClr val="FFFFFF"/>
                </a:solidFill>
              </a:rPr>
            </a:br>
            <a:endParaRPr lang="tr-TR">
              <a:solidFill>
                <a:srgbClr val="FFFFFF"/>
              </a:solidFill>
            </a:endParaRPr>
          </a:p>
        </p:txBody>
      </p:sp>
      <p:graphicFrame>
        <p:nvGraphicFramePr>
          <p:cNvPr id="3" name="Diyagram 2">
            <a:extLst>
              <a:ext uri="{FF2B5EF4-FFF2-40B4-BE49-F238E27FC236}">
                <a16:creationId xmlns:a16="http://schemas.microsoft.com/office/drawing/2014/main" id="{F3A702F8-7431-0AF8-950B-9EF6B9767A32}"/>
              </a:ext>
            </a:extLst>
          </p:cNvPr>
          <p:cNvGraphicFramePr/>
          <p:nvPr>
            <p:extLst>
              <p:ext uri="{D42A27DB-BD31-4B8C-83A1-F6EECF244321}">
                <p14:modId xmlns:p14="http://schemas.microsoft.com/office/powerpoint/2010/main" val="3184613404"/>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21" name="Freeform: Shape 20">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4" name="Metin kutusu 3"/>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cap="all">
                <a:ln w="3175" cmpd="sng">
                  <a:noFill/>
                </a:ln>
                <a:latin typeface="+mj-lt"/>
                <a:ea typeface="+mj-ea"/>
                <a:cs typeface="+mj-cs"/>
              </a:rPr>
              <a:t>Lojistik Nedir ?</a:t>
            </a:r>
          </a:p>
        </p:txBody>
      </p:sp>
      <p:pic>
        <p:nvPicPr>
          <p:cNvPr id="23" name="Picture 22">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5" name="Metin kutusu 4"/>
          <p:cNvSpPr txBox="1"/>
          <p:nvPr/>
        </p:nvSpPr>
        <p:spPr>
          <a:xfrm>
            <a:off x="514351" y="2801680"/>
            <a:ext cx="8115300" cy="2398970"/>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a:solidFill>
                  <a:schemeClr val="bg1"/>
                </a:solidFill>
              </a:rPr>
              <a:t>Lojistik, ürün, hizmet ve insan gibi kaynakların, ihtiyaç duyulan yerde ve istenen zamanda temin edilmesi için bir araç olarak tanımlanabilir. Herhangi bir pazarlama veya üretim organizasyonunun lojistik destek olmadan başarılması çok zordur. Lojistik, nakliye, envanter, depolama, malzeme idaresi ve ambalajlama bilgilerinin birleştirilmesini kapsar. Lojistik işletme sorumluluğu, hammaddenin coğrafik konumlanması, prosedürün işletilmesi ve ihtiyaçların mümkün olan en düşük maliyetle karşılanarak işin bitirilmesidir.</a:t>
            </a:r>
          </a:p>
          <a:p>
            <a:pPr>
              <a:spcAft>
                <a:spcPts val="1000"/>
              </a:spcAft>
              <a:buClr>
                <a:schemeClr val="tx1"/>
              </a:buClr>
              <a:buSzPct val="100000"/>
              <a:buFont typeface="Arial"/>
              <a:buChar char="•"/>
            </a:pPr>
            <a:endParaRPr lang="en-US">
              <a:solidFill>
                <a:schemeClr val="bg1"/>
              </a:solidFill>
            </a:endParaRPr>
          </a:p>
        </p:txBody>
      </p:sp>
    </p:spTree>
    <p:extLst>
      <p:ext uri="{BB962C8B-B14F-4D97-AF65-F5344CB8AC3E}">
        <p14:creationId xmlns:p14="http://schemas.microsoft.com/office/powerpoint/2010/main" val="728334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2" name="Metin kutusu 1"/>
          <p:cNvSpPr txBox="1"/>
          <p:nvPr/>
        </p:nvSpPr>
        <p:spPr>
          <a:xfrm>
            <a:off x="514351" y="609600"/>
            <a:ext cx="4711700" cy="1456267"/>
          </a:xfrm>
          <a:prstGeom prst="rect">
            <a:avLst/>
          </a:prstGeom>
        </p:spPr>
        <p:txBody>
          <a:bodyPr vert="horz" lIns="91440" tIns="45720" rIns="91440" bIns="45720" rtlCol="0" anchor="ctr">
            <a:normAutofit/>
          </a:bodyPr>
          <a:lstStyle/>
          <a:p>
            <a:pPr>
              <a:spcBef>
                <a:spcPct val="0"/>
              </a:spcBef>
              <a:spcAft>
                <a:spcPts val="600"/>
              </a:spcAft>
            </a:pPr>
            <a:r>
              <a:rPr lang="en-US" sz="3600" cap="all">
                <a:ln w="3175" cmpd="sng">
                  <a:noFill/>
                </a:ln>
                <a:latin typeface="+mj-lt"/>
                <a:ea typeface="+mj-ea"/>
                <a:cs typeface="+mj-cs"/>
              </a:rPr>
              <a:t>Lojistikçi Kimdir ?</a:t>
            </a:r>
          </a:p>
        </p:txBody>
      </p:sp>
      <p:sp>
        <p:nvSpPr>
          <p:cNvPr id="3" name="Metin kutusu 2"/>
          <p:cNvSpPr txBox="1"/>
          <p:nvPr/>
        </p:nvSpPr>
        <p:spPr>
          <a:xfrm>
            <a:off x="514351" y="2142067"/>
            <a:ext cx="4711700" cy="3649133"/>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a:t>Lojistikçi, bir ürünün üretim noktasından tüketiciye ulaşıncaya kadar geçen süreçteki tüm fiziksel akışını planlayan, organize eden ve yöneten kişidir. Bu süreç, ürünün depolanması, taşınması, dağıtımı ve envanter yönetimi gibi birçok farklı aşamayı içerir.Basitçe söylemek gerekirse, lojistikçi, ürünlerin doğru zamanda, doğru yerde ve doğru miktarda olması için çalışan kişidir.</a:t>
            </a:r>
          </a:p>
        </p:txBody>
      </p:sp>
      <p:pic>
        <p:nvPicPr>
          <p:cNvPr id="5122" name="Picture 2" descr="https://pbs.twimg.com/media/BY-NQPfCAAAqeMd.jpg:large"/>
          <p:cNvPicPr>
            <a:picLocks noChangeAspect="1" noChangeArrowheads="1"/>
          </p:cNvPicPr>
          <p:nvPr/>
        </p:nvPicPr>
        <p:blipFill>
          <a:blip r:embed="rId3" cstate="email">
            <a:extLst>
              <a:ext uri="{28A0092B-C50C-407E-A947-70E740481C1C}">
                <a14:useLocalDpi xmlns:a14="http://schemas.microsoft.com/office/drawing/2010/main"/>
              </a:ext>
            </a:extLst>
          </a:blip>
          <a:srcRect/>
          <a:stretch/>
        </p:blipFill>
        <p:spPr bwMode="auto">
          <a:xfrm>
            <a:off x="5693202" y="990600"/>
            <a:ext cx="2584285" cy="4800599"/>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754571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2" name="Metin kutusu 1"/>
          <p:cNvSpPr txBox="1"/>
          <p:nvPr/>
        </p:nvSpPr>
        <p:spPr>
          <a:xfrm>
            <a:off x="4800600" y="609600"/>
            <a:ext cx="3860797" cy="1641987"/>
          </a:xfrm>
          <a:prstGeom prst="rect">
            <a:avLst/>
          </a:prstGeom>
        </p:spPr>
        <p:txBody>
          <a:bodyPr vert="horz" lIns="91440" tIns="45720" rIns="91440" bIns="45720" rtlCol="0" anchor="ctr">
            <a:normAutofit/>
          </a:bodyPr>
          <a:lstStyle/>
          <a:p>
            <a:pPr>
              <a:spcBef>
                <a:spcPct val="0"/>
              </a:spcBef>
              <a:spcAft>
                <a:spcPts val="600"/>
              </a:spcAft>
            </a:pPr>
            <a:r>
              <a:rPr lang="en-US" sz="3600" cap="all">
                <a:ln w="3175" cmpd="sng">
                  <a:noFill/>
                </a:ln>
                <a:latin typeface="+mj-lt"/>
                <a:ea typeface="+mj-ea"/>
                <a:cs typeface="+mj-cs"/>
              </a:rPr>
              <a:t>Lojistikçi Kimdir ?</a:t>
            </a:r>
          </a:p>
        </p:txBody>
      </p:sp>
      <p:sp>
        <p:nvSpPr>
          <p:cNvPr id="3" name="Metin kutusu 2"/>
          <p:cNvSpPr txBox="1"/>
          <p:nvPr/>
        </p:nvSpPr>
        <p:spPr>
          <a:xfrm>
            <a:off x="4800600" y="2251587"/>
            <a:ext cx="3860797" cy="3637935"/>
          </a:xfrm>
          <a:prstGeom prst="rect">
            <a:avLst/>
          </a:prstGeom>
        </p:spPr>
        <p:txBody>
          <a:bodyPr vert="horz" lIns="91440" tIns="45720" rIns="91440" bIns="45720" rtlCol="0" anchor="ctr">
            <a:normAutofit/>
          </a:bodyPr>
          <a:lstStyle/>
          <a:p>
            <a:pPr>
              <a:lnSpc>
                <a:spcPct val="90000"/>
              </a:lnSpc>
              <a:spcAft>
                <a:spcPts val="1000"/>
              </a:spcAft>
              <a:buClr>
                <a:schemeClr val="tx1"/>
              </a:buClr>
              <a:buSzPct val="100000"/>
              <a:buFont typeface="Arial"/>
              <a:buChar char="•"/>
            </a:pPr>
            <a:r>
              <a:rPr lang="en-US" sz="1300"/>
              <a:t>Lojistikçinin Görevleri Nelerdir?</a:t>
            </a:r>
          </a:p>
          <a:p>
            <a:pPr>
              <a:lnSpc>
                <a:spcPct val="90000"/>
              </a:lnSpc>
              <a:spcAft>
                <a:spcPts val="1000"/>
              </a:spcAft>
              <a:buClr>
                <a:schemeClr val="tx1"/>
              </a:buClr>
              <a:buSzPct val="100000"/>
              <a:buFont typeface="Arial"/>
              <a:buChar char="•"/>
            </a:pPr>
            <a:r>
              <a:rPr lang="en-US" sz="1300"/>
              <a:t>Planlama: Ürünlerin üretimden tüketiciye en uygun rotalarını belirlemek, taşıma yöntemlerini seçmek ve depolama alanlarını planlamak</a:t>
            </a:r>
          </a:p>
          <a:p>
            <a:pPr>
              <a:lnSpc>
                <a:spcPct val="90000"/>
              </a:lnSpc>
              <a:spcAft>
                <a:spcPts val="1000"/>
              </a:spcAft>
              <a:buClr>
                <a:schemeClr val="tx1"/>
              </a:buClr>
              <a:buSzPct val="100000"/>
              <a:buFont typeface="Arial"/>
              <a:buChar char="•"/>
            </a:pPr>
            <a:r>
              <a:rPr lang="en-US" sz="1300"/>
              <a:t>.Organizasyon: Taşıma işlemlerini koordine etmek, depolama işlemlerini yönetmek ve envanter kayıtlarını tutmak.</a:t>
            </a:r>
          </a:p>
          <a:p>
            <a:pPr>
              <a:lnSpc>
                <a:spcPct val="90000"/>
              </a:lnSpc>
              <a:spcAft>
                <a:spcPts val="1000"/>
              </a:spcAft>
              <a:buClr>
                <a:schemeClr val="tx1"/>
              </a:buClr>
              <a:buSzPct val="100000"/>
              <a:buFont typeface="Arial"/>
              <a:buChar char="•"/>
            </a:pPr>
            <a:r>
              <a:rPr lang="en-US" sz="1300"/>
              <a:t>Kontrol: Taşıma süreçlerini takip etmek, teslimatların zamanında yapıldığını kontrol etmek ve herhangi bir sorun durumunda çözüm üretmek.</a:t>
            </a:r>
          </a:p>
          <a:p>
            <a:pPr>
              <a:lnSpc>
                <a:spcPct val="90000"/>
              </a:lnSpc>
              <a:spcAft>
                <a:spcPts val="1000"/>
              </a:spcAft>
              <a:buClr>
                <a:schemeClr val="tx1"/>
              </a:buClr>
              <a:buSzPct val="100000"/>
              <a:buFont typeface="Arial"/>
              <a:buChar char="•"/>
            </a:pPr>
            <a:r>
              <a:rPr lang="en-US" sz="1300"/>
              <a:t>Maliyet Analizi: Lojistik işlemlerin maliyetini analiz etmek ve maliyetleri düşürmek için yeni yöntemler geliştirmek.</a:t>
            </a:r>
          </a:p>
          <a:p>
            <a:pPr>
              <a:lnSpc>
                <a:spcPct val="90000"/>
              </a:lnSpc>
              <a:spcAft>
                <a:spcPts val="1000"/>
              </a:spcAft>
              <a:buClr>
                <a:schemeClr val="tx1"/>
              </a:buClr>
              <a:buSzPct val="100000"/>
              <a:buFont typeface="Arial"/>
              <a:buChar char="•"/>
            </a:pPr>
            <a:r>
              <a:rPr lang="en-US" sz="1300"/>
              <a:t>Tedarik Zinciri Yönetimi: Tedarikçilerle ve müşterilerle iletişim kurarak tedarik zincirinin sorunsuz işlemesini sağlamak.</a:t>
            </a:r>
          </a:p>
        </p:txBody>
      </p:sp>
      <p:pic>
        <p:nvPicPr>
          <p:cNvPr id="2050" name="Picture 2" descr="Logistics Company VS Courier: Which Service Is Most Suitable For Your  Business? - Hock Cheong">
            <a:extLst>
              <a:ext uri="{FF2B5EF4-FFF2-40B4-BE49-F238E27FC236}">
                <a16:creationId xmlns:a16="http://schemas.microsoft.com/office/drawing/2014/main" id="{D7660A66-24D7-84FC-8C78-3879D03E07B3}"/>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486697" y="2038719"/>
            <a:ext cx="4085303" cy="2451181"/>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5882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2" name="Metin kutusu 1"/>
          <p:cNvSpPr txBox="1"/>
          <p:nvPr/>
        </p:nvSpPr>
        <p:spPr>
          <a:xfrm>
            <a:off x="474488" y="643465"/>
            <a:ext cx="2809568" cy="5571072"/>
          </a:xfrm>
          <a:prstGeom prst="rect">
            <a:avLst/>
          </a:prstGeom>
        </p:spPr>
        <p:txBody>
          <a:bodyPr vert="horz" lIns="91440" tIns="45720" rIns="91440" bIns="45720" rtlCol="0" anchor="ctr">
            <a:normAutofit/>
          </a:bodyPr>
          <a:lstStyle/>
          <a:p>
            <a:pPr>
              <a:spcBef>
                <a:spcPct val="0"/>
              </a:spcBef>
              <a:spcAft>
                <a:spcPts val="600"/>
              </a:spcAft>
            </a:pPr>
            <a:r>
              <a:rPr lang="en-US" sz="3600" cap="all">
                <a:ln w="3175" cmpd="sng">
                  <a:noFill/>
                </a:ln>
                <a:latin typeface="+mj-lt"/>
                <a:ea typeface="+mj-ea"/>
                <a:cs typeface="+mj-cs"/>
              </a:rPr>
              <a:t>Lojistikçi Kimdir ?</a:t>
            </a:r>
          </a:p>
        </p:txBody>
      </p:sp>
      <p:sp>
        <p:nvSpPr>
          <p:cNvPr id="4" name="Metin kutusu 3">
            <a:extLst>
              <a:ext uri="{FF2B5EF4-FFF2-40B4-BE49-F238E27FC236}">
                <a16:creationId xmlns:a16="http://schemas.microsoft.com/office/drawing/2014/main" id="{C5E663EE-7FF2-6018-1CF5-86B4DCC5A750}"/>
              </a:ext>
            </a:extLst>
          </p:cNvPr>
          <p:cNvSpPr txBox="1"/>
          <p:nvPr/>
        </p:nvSpPr>
        <p:spPr>
          <a:xfrm>
            <a:off x="3532237" y="643464"/>
            <a:ext cx="5129162" cy="3731891"/>
          </a:xfrm>
          <a:prstGeom prst="rect">
            <a:avLst/>
          </a:prstGeom>
        </p:spPr>
        <p:txBody>
          <a:bodyPr vert="horz" lIns="91440" tIns="45720" rIns="91440" bIns="45720" rtlCol="0" anchor="ctr">
            <a:normAutofit/>
          </a:bodyPr>
          <a:lstStyle/>
          <a:p>
            <a:pPr>
              <a:lnSpc>
                <a:spcPct val="90000"/>
              </a:lnSpc>
              <a:spcAft>
                <a:spcPts val="1000"/>
              </a:spcAft>
              <a:buClr>
                <a:schemeClr val="tx1"/>
              </a:buClr>
              <a:buSzPct val="100000"/>
              <a:buFont typeface="Arial"/>
              <a:buChar char="•"/>
            </a:pPr>
            <a:r>
              <a:rPr lang="en-US"/>
              <a:t>Lojistikçinin Nitelikleri Nelerdir?</a:t>
            </a:r>
          </a:p>
          <a:p>
            <a:pPr>
              <a:lnSpc>
                <a:spcPct val="90000"/>
              </a:lnSpc>
              <a:spcAft>
                <a:spcPts val="1000"/>
              </a:spcAft>
              <a:buClr>
                <a:schemeClr val="tx1"/>
              </a:buClr>
              <a:buSzPct val="100000"/>
              <a:buFont typeface="Arial"/>
              <a:buChar char="•"/>
            </a:pPr>
            <a:r>
              <a:rPr lang="en-US"/>
              <a:t>Planlama ve Organizasyon Becerileri: Karmaşık süreçleri planlayabilme ve organize edebilme yeteneği.</a:t>
            </a:r>
          </a:p>
          <a:p>
            <a:pPr>
              <a:lnSpc>
                <a:spcPct val="90000"/>
              </a:lnSpc>
              <a:spcAft>
                <a:spcPts val="1000"/>
              </a:spcAft>
              <a:buClr>
                <a:schemeClr val="tx1"/>
              </a:buClr>
              <a:buSzPct val="100000"/>
              <a:buFont typeface="Arial"/>
              <a:buChar char="•"/>
            </a:pPr>
            <a:r>
              <a:rPr lang="en-US"/>
              <a:t>Problem Çözme Becerileri: Karşılaşılan sorunlara hızlı ve etkili çözümler üretebilme yeteneği.</a:t>
            </a:r>
          </a:p>
          <a:p>
            <a:pPr>
              <a:lnSpc>
                <a:spcPct val="90000"/>
              </a:lnSpc>
              <a:spcAft>
                <a:spcPts val="1000"/>
              </a:spcAft>
              <a:buClr>
                <a:schemeClr val="tx1"/>
              </a:buClr>
              <a:buSzPct val="100000"/>
              <a:buFont typeface="Arial"/>
              <a:buChar char="•"/>
            </a:pPr>
            <a:r>
              <a:rPr lang="en-US"/>
              <a:t>İletişim Becerileri: Tedarikçiler, müşteriler ve diğer ekip üyeleriyle etkili iletişim kurabilme yeteneği.</a:t>
            </a:r>
          </a:p>
          <a:p>
            <a:pPr>
              <a:lnSpc>
                <a:spcPct val="90000"/>
              </a:lnSpc>
              <a:spcAft>
                <a:spcPts val="1000"/>
              </a:spcAft>
              <a:buClr>
                <a:schemeClr val="tx1"/>
              </a:buClr>
              <a:buSzPct val="100000"/>
              <a:buFont typeface="Arial"/>
              <a:buChar char="•"/>
            </a:pPr>
            <a:r>
              <a:rPr lang="en-US"/>
              <a:t>Analitik Düşünme Becerileri: Verileri analiz edebilme ve doğru kararlar alabilme yeteneği.</a:t>
            </a:r>
          </a:p>
          <a:p>
            <a:pPr>
              <a:lnSpc>
                <a:spcPct val="90000"/>
              </a:lnSpc>
              <a:spcAft>
                <a:spcPts val="1000"/>
              </a:spcAft>
              <a:buClr>
                <a:schemeClr val="tx1"/>
              </a:buClr>
              <a:buSzPct val="100000"/>
              <a:buFont typeface="Arial"/>
              <a:buChar char="•"/>
            </a:pPr>
            <a:r>
              <a:rPr lang="en-US"/>
              <a:t>Teknolojik Bilgi: Lojistik yazılımları ve teknolojileri hakkında bilgi sahibi olmak.</a:t>
            </a:r>
          </a:p>
        </p:txBody>
      </p:sp>
      <p:pic>
        <p:nvPicPr>
          <p:cNvPr id="1026" name="Picture 2" descr="Understanding the Role of a Logistics Service Provider: Enhancing  Efficiency in Supply Chain Operations - Transervice Logistics:  Transportation &amp; Logistics Mangement">
            <a:extLst>
              <a:ext uri="{FF2B5EF4-FFF2-40B4-BE49-F238E27FC236}">
                <a16:creationId xmlns:a16="http://schemas.microsoft.com/office/drawing/2014/main" id="{7B1AD092-E885-E687-0EA7-6B414B4502F8}"/>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4299111" y="4542503"/>
            <a:ext cx="3595417" cy="1672033"/>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Metin kutusu 2"/>
          <p:cNvSpPr txBox="1"/>
          <p:nvPr/>
        </p:nvSpPr>
        <p:spPr>
          <a:xfrm>
            <a:off x="514350" y="2142067"/>
            <a:ext cx="7598569" cy="3649133"/>
          </a:xfrm>
          <a:prstGeom prst="rect">
            <a:avLst/>
          </a:prstGeom>
        </p:spPr>
        <p:txBody>
          <a:bodyPr vert="horz" lIns="91440" tIns="45720" rIns="91440" bIns="45720" rtlCol="0" anchor="ctr">
            <a:normAutofit/>
          </a:bodyPr>
          <a:lstStyle/>
          <a:p>
            <a:endParaRPr lang="tr-TR" sz="1200"/>
          </a:p>
        </p:txBody>
      </p:sp>
    </p:spTree>
    <p:extLst>
      <p:ext uri="{BB962C8B-B14F-4D97-AF65-F5344CB8AC3E}">
        <p14:creationId xmlns:p14="http://schemas.microsoft.com/office/powerpoint/2010/main" val="1202066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Metin kutusu 1"/>
          <p:cNvSpPr txBox="1"/>
          <p:nvPr/>
        </p:nvSpPr>
        <p:spPr>
          <a:xfrm>
            <a:off x="514350" y="1719807"/>
            <a:ext cx="2744542" cy="3418387"/>
          </a:xfrm>
          <a:prstGeom prst="rect">
            <a:avLst/>
          </a:prstGeom>
        </p:spPr>
        <p:txBody>
          <a:bodyPr vert="horz" lIns="91440" tIns="45720" rIns="91440" bIns="45720" rtlCol="0" anchor="ctr">
            <a:normAutofit/>
          </a:bodyPr>
          <a:lstStyle/>
          <a:p>
            <a:pPr algn="r">
              <a:spcBef>
                <a:spcPct val="0"/>
              </a:spcBef>
              <a:spcAft>
                <a:spcPts val="600"/>
              </a:spcAft>
            </a:pPr>
            <a:r>
              <a:rPr lang="en-US" sz="2800" cap="all">
                <a:ln w="3175" cmpd="sng">
                  <a:noFill/>
                </a:ln>
                <a:latin typeface="+mj-lt"/>
                <a:ea typeface="+mj-ea"/>
                <a:cs typeface="+mj-cs"/>
              </a:rPr>
              <a:t>Temel Lojİstİk Faalİyetlerİ Nelerdİr?</a:t>
            </a:r>
          </a:p>
          <a:p>
            <a:pPr algn="r">
              <a:spcBef>
                <a:spcPct val="0"/>
              </a:spcBef>
              <a:spcAft>
                <a:spcPts val="600"/>
              </a:spcAft>
            </a:pPr>
            <a:endParaRPr lang="en-US" sz="2800" cap="all">
              <a:ln w="3175" cmpd="sng">
                <a:noFill/>
              </a:ln>
              <a:latin typeface="+mj-lt"/>
              <a:ea typeface="+mj-ea"/>
              <a:cs typeface="+mj-cs"/>
            </a:endParaRPr>
          </a:p>
          <a:p>
            <a:pPr algn="r">
              <a:spcBef>
                <a:spcPct val="0"/>
              </a:spcBef>
              <a:spcAft>
                <a:spcPts val="600"/>
              </a:spcAft>
            </a:pPr>
            <a:endParaRPr lang="en-US" sz="2800" cap="all">
              <a:ln w="3175" cmpd="sng">
                <a:noFill/>
              </a:ln>
              <a:latin typeface="+mj-lt"/>
              <a:ea typeface="+mj-ea"/>
              <a:cs typeface="+mj-cs"/>
            </a:endParaRPr>
          </a:p>
        </p:txBody>
      </p:sp>
      <p:cxnSp>
        <p:nvCxnSpPr>
          <p:cNvPr id="28" name="Straight Connector 27">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Metin kutusu 9">
            <a:extLst>
              <a:ext uri="{FF2B5EF4-FFF2-40B4-BE49-F238E27FC236}">
                <a16:creationId xmlns:a16="http://schemas.microsoft.com/office/drawing/2014/main" id="{7FE28426-EB20-A7FA-E81D-C821349F8700}"/>
              </a:ext>
            </a:extLst>
          </p:cNvPr>
          <p:cNvSpPr txBox="1"/>
          <p:nvPr/>
        </p:nvSpPr>
        <p:spPr>
          <a:xfrm>
            <a:off x="3741494" y="1719807"/>
            <a:ext cx="4888157" cy="3418387"/>
          </a:xfrm>
          <a:prstGeom prst="rect">
            <a:avLst/>
          </a:prstGeom>
        </p:spPr>
        <p:txBody>
          <a:bodyPr vert="horz" lIns="91440" tIns="45720" rIns="91440" bIns="45720" rtlCol="0" anchor="ctr">
            <a:normAutofit/>
          </a:bodyPr>
          <a:lstStyle/>
          <a:p>
            <a:pPr marL="285750" indent="-285750">
              <a:lnSpc>
                <a:spcPct val="90000"/>
              </a:lnSpc>
              <a:spcAft>
                <a:spcPts val="1000"/>
              </a:spcAft>
              <a:buClr>
                <a:schemeClr val="tx1"/>
              </a:buClr>
              <a:buSzPct val="100000"/>
              <a:buFont typeface="Arial"/>
              <a:buChar char="•"/>
            </a:pPr>
            <a:r>
              <a:rPr lang="en-US"/>
              <a:t>Taşıma</a:t>
            </a:r>
          </a:p>
          <a:p>
            <a:pPr marL="285750" indent="-285750">
              <a:lnSpc>
                <a:spcPct val="90000"/>
              </a:lnSpc>
              <a:spcAft>
                <a:spcPts val="1000"/>
              </a:spcAft>
              <a:buClr>
                <a:schemeClr val="tx1"/>
              </a:buClr>
              <a:buSzPct val="100000"/>
              <a:buFont typeface="Arial"/>
              <a:buChar char="•"/>
            </a:pPr>
            <a:r>
              <a:rPr lang="en-US"/>
              <a:t>Depolama</a:t>
            </a:r>
          </a:p>
          <a:p>
            <a:pPr marL="285750" indent="-285750">
              <a:lnSpc>
                <a:spcPct val="90000"/>
              </a:lnSpc>
              <a:spcAft>
                <a:spcPts val="1000"/>
              </a:spcAft>
              <a:buClr>
                <a:schemeClr val="tx1"/>
              </a:buClr>
              <a:buSzPct val="100000"/>
              <a:buFont typeface="Arial"/>
              <a:buChar char="•"/>
            </a:pPr>
            <a:r>
              <a:rPr lang="en-US"/>
              <a:t>Ambalajlama</a:t>
            </a:r>
          </a:p>
          <a:p>
            <a:pPr marL="285750" indent="-285750">
              <a:lnSpc>
                <a:spcPct val="90000"/>
              </a:lnSpc>
              <a:spcAft>
                <a:spcPts val="1000"/>
              </a:spcAft>
              <a:buClr>
                <a:schemeClr val="tx1"/>
              </a:buClr>
              <a:buSzPct val="100000"/>
              <a:buFont typeface="Arial"/>
              <a:buChar char="•"/>
            </a:pPr>
            <a:r>
              <a:rPr lang="en-US"/>
              <a:t>Envanter Yönetimi</a:t>
            </a:r>
          </a:p>
          <a:p>
            <a:pPr marL="285750" indent="-285750">
              <a:lnSpc>
                <a:spcPct val="90000"/>
              </a:lnSpc>
              <a:spcAft>
                <a:spcPts val="1000"/>
              </a:spcAft>
              <a:buClr>
                <a:schemeClr val="tx1"/>
              </a:buClr>
              <a:buSzPct val="100000"/>
              <a:buFont typeface="Arial"/>
              <a:buChar char="•"/>
            </a:pPr>
            <a:r>
              <a:rPr lang="en-US"/>
              <a:t>Sipariş İşleme</a:t>
            </a:r>
          </a:p>
          <a:p>
            <a:pPr marL="285750" indent="-285750">
              <a:lnSpc>
                <a:spcPct val="90000"/>
              </a:lnSpc>
              <a:spcAft>
                <a:spcPts val="1000"/>
              </a:spcAft>
              <a:buClr>
                <a:schemeClr val="tx1"/>
              </a:buClr>
              <a:buSzPct val="100000"/>
              <a:buFont typeface="Arial"/>
              <a:buChar char="•"/>
            </a:pPr>
            <a:r>
              <a:rPr lang="en-US"/>
              <a:t>Bilgi Akışı</a:t>
            </a:r>
          </a:p>
          <a:p>
            <a:pPr marL="285750" indent="-285750">
              <a:lnSpc>
                <a:spcPct val="90000"/>
              </a:lnSpc>
              <a:spcAft>
                <a:spcPts val="1000"/>
              </a:spcAft>
              <a:buClr>
                <a:schemeClr val="tx1"/>
              </a:buClr>
              <a:buSzPct val="100000"/>
              <a:buFont typeface="Arial"/>
              <a:buChar char="•"/>
            </a:pPr>
            <a:r>
              <a:rPr lang="en-US"/>
              <a:t>Gümrük İşlemleri</a:t>
            </a:r>
          </a:p>
          <a:p>
            <a:pPr marL="285750" indent="-285750">
              <a:lnSpc>
                <a:spcPct val="90000"/>
              </a:lnSpc>
              <a:spcAft>
                <a:spcPts val="1000"/>
              </a:spcAft>
              <a:buClr>
                <a:schemeClr val="tx1"/>
              </a:buClr>
              <a:buSzPct val="100000"/>
              <a:buFont typeface="Arial"/>
              <a:buChar char="•"/>
            </a:pPr>
            <a:r>
              <a:rPr lang="en-US"/>
              <a:t>Lojistik Ağ Tasarımı</a:t>
            </a:r>
          </a:p>
          <a:p>
            <a:pPr marL="285750" indent="-285750">
              <a:lnSpc>
                <a:spcPct val="90000"/>
              </a:lnSpc>
              <a:spcAft>
                <a:spcPts val="1000"/>
              </a:spcAft>
              <a:buClr>
                <a:schemeClr val="tx1"/>
              </a:buClr>
              <a:buSzPct val="100000"/>
              <a:buFont typeface="Arial"/>
              <a:buChar char="•"/>
            </a:pPr>
            <a:r>
              <a:rPr lang="en-US"/>
              <a:t>Geri Dönüşüm</a:t>
            </a:r>
          </a:p>
        </p:txBody>
      </p:sp>
      <p:sp>
        <p:nvSpPr>
          <p:cNvPr id="6" name="Metin kutusu 5"/>
          <p:cNvSpPr txBox="1"/>
          <p:nvPr/>
        </p:nvSpPr>
        <p:spPr>
          <a:xfrm>
            <a:off x="6131257" y="2620370"/>
            <a:ext cx="184731" cy="369332"/>
          </a:xfrm>
          <a:prstGeom prst="rect">
            <a:avLst/>
          </a:prstGeom>
          <a:noFill/>
        </p:spPr>
        <p:txBody>
          <a:bodyPr wrap="none" rtlCol="0">
            <a:spAutoFit/>
          </a:bodyPr>
          <a:lstStyle/>
          <a:p>
            <a:endParaRPr lang="tr-TR" dirty="0"/>
          </a:p>
        </p:txBody>
      </p:sp>
    </p:spTree>
    <p:extLst>
      <p:ext uri="{BB962C8B-B14F-4D97-AF65-F5344CB8AC3E}">
        <p14:creationId xmlns:p14="http://schemas.microsoft.com/office/powerpoint/2010/main" val="173073009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641" name="Rectangle 69640">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43" name="Freeform: Shape 69642">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Başlık 1"/>
          <p:cNvSpPr>
            <a:spLocks noGrp="1"/>
          </p:cNvSpPr>
          <p:nvPr>
            <p:ph type="title"/>
          </p:nvPr>
        </p:nvSpPr>
        <p:spPr>
          <a:xfrm>
            <a:off x="514350" y="643466"/>
            <a:ext cx="1943100" cy="4995333"/>
          </a:xfrm>
        </p:spPr>
        <p:txBody>
          <a:bodyPr>
            <a:normAutofit/>
          </a:bodyPr>
          <a:lstStyle/>
          <a:p>
            <a:pPr>
              <a:defRPr/>
            </a:pPr>
            <a:r>
              <a:rPr lang="tr-TR" sz="2600">
                <a:solidFill>
                  <a:srgbClr val="FFFFFF"/>
                </a:solidFill>
              </a:rPr>
              <a:t>TEMEL LOJİSTİK AKTİVİTELERİ</a:t>
            </a:r>
          </a:p>
        </p:txBody>
      </p:sp>
      <p:graphicFrame>
        <p:nvGraphicFramePr>
          <p:cNvPr id="69637" name="İçerik Yer Tutucusu 2">
            <a:extLst>
              <a:ext uri="{FF2B5EF4-FFF2-40B4-BE49-F238E27FC236}">
                <a16:creationId xmlns:a16="http://schemas.microsoft.com/office/drawing/2014/main" id="{B7AF44C7-FAC6-128B-48E3-8F3F7B051891}"/>
              </a:ext>
            </a:extLst>
          </p:cNvPr>
          <p:cNvGraphicFramePr>
            <a:graphicFrameLocks noGrp="1"/>
          </p:cNvGraphicFramePr>
          <p:nvPr>
            <p:ph idx="1"/>
            <p:extLst>
              <p:ext uri="{D42A27DB-BD31-4B8C-83A1-F6EECF244321}">
                <p14:modId xmlns:p14="http://schemas.microsoft.com/office/powerpoint/2010/main" val="1456965692"/>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4499015"/>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alphaModFix amt="41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Metin kutusu 1"/>
          <p:cNvSpPr txBox="1"/>
          <p:nvPr/>
        </p:nvSpPr>
        <p:spPr>
          <a:xfrm>
            <a:off x="296839" y="672505"/>
            <a:ext cx="3523400" cy="646331"/>
          </a:xfrm>
          <a:prstGeom prst="rect">
            <a:avLst/>
          </a:prstGeom>
          <a:noFill/>
        </p:spPr>
        <p:txBody>
          <a:bodyPr wrap="none" rtlCol="0">
            <a:spAutoFit/>
          </a:bodyPr>
          <a:lstStyle/>
          <a:p>
            <a:r>
              <a:rPr lang="tr-TR" sz="3600" b="1" i="1" dirty="0">
                <a:solidFill>
                  <a:srgbClr val="00B0F0"/>
                </a:solidFill>
              </a:rPr>
              <a:t>Taşıma-Nakliye</a:t>
            </a:r>
            <a:endParaRPr lang="tr-TR" sz="4400" dirty="0">
              <a:solidFill>
                <a:srgbClr val="00B0F0"/>
              </a:solidFill>
            </a:endParaRPr>
          </a:p>
        </p:txBody>
      </p:sp>
      <p:sp>
        <p:nvSpPr>
          <p:cNvPr id="3" name="Metin kutusu 2"/>
          <p:cNvSpPr txBox="1"/>
          <p:nvPr/>
        </p:nvSpPr>
        <p:spPr>
          <a:xfrm>
            <a:off x="3254992" y="1429821"/>
            <a:ext cx="5732060" cy="3970318"/>
          </a:xfrm>
          <a:prstGeom prst="rect">
            <a:avLst/>
          </a:prstGeom>
          <a:noFill/>
        </p:spPr>
        <p:txBody>
          <a:bodyPr wrap="square" rtlCol="0" anchor="ctr">
            <a:spAutoFit/>
          </a:bodyPr>
          <a:lstStyle/>
          <a:p>
            <a:pPr algn="just"/>
            <a:r>
              <a:rPr lang="tr-TR" sz="2800" dirty="0">
                <a:solidFill>
                  <a:schemeClr val="bg2"/>
                </a:solidFill>
              </a:rPr>
              <a:t>Ürün, hammadde, kaynak veya diğer somut maddelerin taşınması işlemine nakliye denir. Üretim ve tüketim noktaları farklı olduğu sürece taşımacılık her zaman var olacaktır. Lojistik, malların tedarik zinciri içindeki hareketini kapsadığına göre nakliye operasyonları, lojistiğin en temel operasyonudur denilir.</a:t>
            </a:r>
          </a:p>
        </p:txBody>
      </p:sp>
      <p:pic>
        <p:nvPicPr>
          <p:cNvPr id="6" name="Resim 5"/>
          <p:cNvPicPr>
            <a:picLocks noChangeAspect="1"/>
          </p:cNvPicPr>
          <p:nvPr/>
        </p:nvPicPr>
        <p:blipFill>
          <a:blip r:embed="rId3"/>
          <a:stretch>
            <a:fillRect/>
          </a:stretch>
        </p:blipFill>
        <p:spPr>
          <a:xfrm>
            <a:off x="296839" y="1645266"/>
            <a:ext cx="2760740" cy="2757187"/>
          </a:xfrm>
          <a:prstGeom prst="rect">
            <a:avLst/>
          </a:prstGeom>
        </p:spPr>
      </p:pic>
    </p:spTree>
    <p:extLst>
      <p:ext uri="{BB962C8B-B14F-4D97-AF65-F5344CB8AC3E}">
        <p14:creationId xmlns:p14="http://schemas.microsoft.com/office/powerpoint/2010/main" val="9647176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Başlık 1"/>
          <p:cNvSpPr>
            <a:spLocks noGrp="1"/>
          </p:cNvSpPr>
          <p:nvPr>
            <p:ph type="title"/>
          </p:nvPr>
        </p:nvSpPr>
        <p:spPr>
          <a:xfrm>
            <a:off x="514350" y="643466"/>
            <a:ext cx="1943100" cy="4995333"/>
          </a:xfrm>
        </p:spPr>
        <p:txBody>
          <a:bodyPr>
            <a:normAutofit/>
          </a:bodyPr>
          <a:lstStyle/>
          <a:p>
            <a:pPr>
              <a:defRPr/>
            </a:pPr>
            <a:r>
              <a:rPr lang="tr-TR" sz="2600">
                <a:solidFill>
                  <a:srgbClr val="FFFFFF"/>
                </a:solidFill>
              </a:rPr>
              <a:t>TEMEL LOJİSTİK AKTİVİTELERİ</a:t>
            </a:r>
          </a:p>
        </p:txBody>
      </p:sp>
      <p:graphicFrame>
        <p:nvGraphicFramePr>
          <p:cNvPr id="5" name="İçerik Yer Tutucusu 2">
            <a:extLst>
              <a:ext uri="{FF2B5EF4-FFF2-40B4-BE49-F238E27FC236}">
                <a16:creationId xmlns:a16="http://schemas.microsoft.com/office/drawing/2014/main" id="{7EE2FF99-6F6C-0725-1593-98A133F03549}"/>
              </a:ext>
            </a:extLst>
          </p:cNvPr>
          <p:cNvGraphicFramePr>
            <a:graphicFrameLocks noGrp="1"/>
          </p:cNvGraphicFramePr>
          <p:nvPr>
            <p:ph idx="1"/>
            <p:extLst>
              <p:ext uri="{D42A27DB-BD31-4B8C-83A1-F6EECF244321}">
                <p14:modId xmlns:p14="http://schemas.microsoft.com/office/powerpoint/2010/main" val="1340335509"/>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8679785"/>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CBD94887-6A10-4F62-8EE1-B2BCFA1F3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1786"/>
            <a:ext cx="9141618"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http://www.e-sertifika.org/wp-content/uploads/2013/03/stok-yonetimi.jpg"/>
          <p:cNvPicPr>
            <a:picLocks noChangeAspect="1" noChangeArrowheads="1"/>
          </p:cNvPicPr>
          <p:nvPr/>
        </p:nvPicPr>
        <p:blipFill>
          <a:blip r:embed="rId3">
            <a:alphaModFix amt="25000"/>
            <a:extLst>
              <a:ext uri="{28A0092B-C50C-407E-A947-70E740481C1C}">
                <a14:useLocalDpi xmlns:a14="http://schemas.microsoft.com/office/drawing/2010/main"/>
              </a:ext>
            </a:extLst>
          </a:blip>
          <a:srcRect/>
          <a:stretch/>
        </p:blipFill>
        <p:spPr bwMode="auto">
          <a:xfrm>
            <a:off x="20" y="10"/>
            <a:ext cx="9143980" cy="6857990"/>
          </a:xfrm>
          <a:prstGeom prst="rect">
            <a:avLst/>
          </a:prstGeom>
          <a:noFill/>
          <a:extLst>
            <a:ext uri="{909E8E84-426E-40dd-AFC4-6F175D3DCCD1}">
              <a14:hiddenFill xmlns="" xmlns:a14="http://schemas.microsoft.com/office/drawing/2010/main">
                <a:solidFill>
                  <a:srgbClr val="FFFFFF"/>
                </a:solidFill>
              </a14:hiddenFill>
            </a:ext>
          </a:extLst>
        </p:spPr>
      </p:pic>
      <p:pic>
        <p:nvPicPr>
          <p:cNvPr id="3081" name="Picture 3080">
            <a:extLst>
              <a:ext uri="{FF2B5EF4-FFF2-40B4-BE49-F238E27FC236}">
                <a16:creationId xmlns:a16="http://schemas.microsoft.com/office/drawing/2014/main" id="{A3D512BA-228A-4979-9312-ACD246E109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alphaModFix amt="39000"/>
            <a:extLst>
              <a:ext uri="{28A0092B-C50C-407E-A947-70E740481C1C}">
                <a14:useLocalDpi xmlns:a14="http://schemas.microsoft.com/office/drawing/2010/main"/>
              </a:ext>
            </a:extLst>
          </a:blip>
          <a:stretch>
            <a:fillRect/>
          </a:stretch>
        </p:blipFill>
        <p:spPr>
          <a:xfrm>
            <a:off x="1191" y="893"/>
            <a:ext cx="9141618" cy="6856214"/>
          </a:xfrm>
          <a:prstGeom prst="rect">
            <a:avLst/>
          </a:prstGeom>
        </p:spPr>
      </p:pic>
      <p:sp>
        <p:nvSpPr>
          <p:cNvPr id="2" name="Metin kutusu 1"/>
          <p:cNvSpPr txBox="1"/>
          <p:nvPr/>
        </p:nvSpPr>
        <p:spPr>
          <a:xfrm>
            <a:off x="514350" y="609600"/>
            <a:ext cx="7598569" cy="1456267"/>
          </a:xfrm>
          <a:prstGeom prst="rect">
            <a:avLst/>
          </a:prstGeom>
        </p:spPr>
        <p:txBody>
          <a:bodyPr vert="horz" lIns="91440" tIns="45720" rIns="91440" bIns="45720" rtlCol="0" anchor="ctr">
            <a:normAutofit/>
          </a:bodyPr>
          <a:lstStyle/>
          <a:p>
            <a:pPr>
              <a:spcBef>
                <a:spcPct val="0"/>
              </a:spcBef>
              <a:spcAft>
                <a:spcPts val="600"/>
              </a:spcAft>
            </a:pPr>
            <a:r>
              <a:rPr lang="en-US" sz="3600" b="1" i="1" cap="all">
                <a:ln w="3175" cmpd="sng">
                  <a:noFill/>
                </a:ln>
                <a:latin typeface="+mj-lt"/>
                <a:ea typeface="+mj-ea"/>
                <a:cs typeface="+mj-cs"/>
              </a:rPr>
              <a:t>Stok Yönetimi</a:t>
            </a:r>
          </a:p>
        </p:txBody>
      </p:sp>
      <p:sp>
        <p:nvSpPr>
          <p:cNvPr id="3" name="Metin kutusu 2"/>
          <p:cNvSpPr txBox="1"/>
          <p:nvPr/>
        </p:nvSpPr>
        <p:spPr>
          <a:xfrm>
            <a:off x="514350" y="2142067"/>
            <a:ext cx="7598569" cy="3649133"/>
          </a:xfrm>
          <a:prstGeom prst="rect">
            <a:avLst/>
          </a:prstGeom>
        </p:spPr>
        <p:txBody>
          <a:bodyPr vert="horz" lIns="91440" tIns="45720" rIns="91440" bIns="45720" rtlCol="0" anchor="ctr">
            <a:normAutofit/>
          </a:bodyPr>
          <a:lstStyle/>
          <a:p>
            <a:pPr algn="just">
              <a:lnSpc>
                <a:spcPct val="90000"/>
              </a:lnSpc>
              <a:spcAft>
                <a:spcPts val="1000"/>
              </a:spcAft>
              <a:buClr>
                <a:schemeClr val="tx1"/>
              </a:buClr>
              <a:buSzPct val="100000"/>
              <a:buFont typeface="Arial"/>
              <a:buChar char="•"/>
            </a:pPr>
            <a:r>
              <a:rPr lang="en-US" sz="1700" b="1"/>
              <a:t>Stok</a:t>
            </a:r>
            <a:r>
              <a:rPr lang="en-US" sz="1700"/>
              <a:t>, üretimi istenen düzeyde tutmak, teslim ve satışı istenen özelliklere göre gerçekleştirmek amacıyla malzeme ve ürün mevcudunun elde bulundurulmasıdır. Başka bir deyişle, iç ve dış müşterinin talebini karşılamak amacıyla işletmenin elde tuttuğu malzemedir. Tedarik zincirlerinde malzemenin  bitmiş ürüne dönüşümü sırasında stok bulundurulur. Tedarik zinciri içinde hammadde yarı mamule dönüştürülmek üzere tutulur. Hammadde işlendiğinde elde edilen ürün henüz son şeklini almadıysa bu mamullere yarı mamul denir. Yüklemeye hazır haldeki ve üretim sürecini tamamlamış mamullere ise bitmiş ürün denir</a:t>
            </a:r>
          </a:p>
        </p:txBody>
      </p:sp>
    </p:spTree>
    <p:extLst>
      <p:ext uri="{BB962C8B-B14F-4D97-AF65-F5344CB8AC3E}">
        <p14:creationId xmlns:p14="http://schemas.microsoft.com/office/powerpoint/2010/main" val="1615936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alphaModFix amt="2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Metin kutusu 1"/>
          <p:cNvSpPr txBox="1"/>
          <p:nvPr/>
        </p:nvSpPr>
        <p:spPr>
          <a:xfrm>
            <a:off x="296839" y="672504"/>
            <a:ext cx="1965603" cy="584775"/>
          </a:xfrm>
          <a:prstGeom prst="rect">
            <a:avLst/>
          </a:prstGeom>
          <a:noFill/>
        </p:spPr>
        <p:txBody>
          <a:bodyPr wrap="none" rtlCol="0">
            <a:spAutoFit/>
          </a:bodyPr>
          <a:lstStyle/>
          <a:p>
            <a:r>
              <a:rPr lang="tr-TR" sz="3200" b="1" i="1" dirty="0">
                <a:solidFill>
                  <a:schemeClr val="bg2"/>
                </a:solidFill>
              </a:rPr>
              <a:t>Depolama</a:t>
            </a:r>
          </a:p>
        </p:txBody>
      </p:sp>
      <p:sp>
        <p:nvSpPr>
          <p:cNvPr id="3" name="Metin kutusu 2"/>
          <p:cNvSpPr txBox="1"/>
          <p:nvPr/>
        </p:nvSpPr>
        <p:spPr>
          <a:xfrm>
            <a:off x="296839" y="1501254"/>
            <a:ext cx="8091585" cy="3416320"/>
          </a:xfrm>
          <a:prstGeom prst="rect">
            <a:avLst/>
          </a:prstGeom>
          <a:noFill/>
          <a:effectLst>
            <a:outerShdw blurRad="50800" dist="50800" dir="5400000" algn="ctr" rotWithShape="0">
              <a:srgbClr val="000000">
                <a:alpha val="29000"/>
              </a:srgbClr>
            </a:outerShdw>
          </a:effectLst>
        </p:spPr>
        <p:txBody>
          <a:bodyPr wrap="square" rtlCol="0">
            <a:spAutoFit/>
          </a:bodyPr>
          <a:lstStyle/>
          <a:p>
            <a:pPr algn="just"/>
            <a:r>
              <a:rPr lang="tr-TR" sz="2400" b="1" dirty="0">
                <a:solidFill>
                  <a:schemeClr val="bg2"/>
                </a:solidFill>
              </a:rPr>
              <a:t>Zincirdeki hammadde depolarında, yarı mamul depolarında, dağıtıcılarda ve satış noktalarında depolama yapılmaktadır. Depo faaliyetleri arasında etiketleme, satış öncesi son işlemler gibi faaliyetler bulunur. Depolamanın ana amacı müşteri talebinden itibaren en kısa sürede cevap verebilmek ise depolanan miktarların fire vermemesi, hızlı toplanması ve yüklenebilmesi önem arz etmektedir. Depolar ilk giren ilk çıkar (FIFO) veya son giren ilk çıkar (LIFO) prensiplerine göre dizayn edilebilir.</a:t>
            </a:r>
          </a:p>
        </p:txBody>
      </p:sp>
    </p:spTree>
    <p:extLst>
      <p:ext uri="{BB962C8B-B14F-4D97-AF65-F5344CB8AC3E}">
        <p14:creationId xmlns:p14="http://schemas.microsoft.com/office/powerpoint/2010/main" val="3118994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94" name="Rectangle 71688">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1696" name="Rectangle 71690">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3490721" cy="6856214"/>
          </a:xfrm>
          <a:prstGeom prst="rect">
            <a:avLst/>
          </a:prstGeom>
          <a:blipFill dpi="0" rotWithShape="1">
            <a:blip r:embed="rId3"/>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71693" name="Picture 71692">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cstate="email">
            <a:extLst>
              <a:ext uri="{28A0092B-C50C-407E-A947-70E740481C1C}">
                <a14:useLocalDpi xmlns:a14="http://schemas.microsoft.com/office/drawing/2010/main"/>
              </a:ext>
            </a:extLst>
          </a:blip>
          <a:srcRect/>
          <a:stretch/>
        </p:blipFill>
        <p:spPr>
          <a:xfrm>
            <a:off x="0" y="0"/>
            <a:ext cx="3483577" cy="6856214"/>
          </a:xfrm>
          <a:prstGeom prst="rect">
            <a:avLst/>
          </a:prstGeom>
        </p:spPr>
      </p:pic>
      <p:sp useBgFill="1">
        <p:nvSpPr>
          <p:cNvPr id="71695" name="Rectangle 71694">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8340" y="-2"/>
            <a:ext cx="5653278"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1697" name="İçerik Yer Tutucusu 2">
            <a:extLst>
              <a:ext uri="{FF2B5EF4-FFF2-40B4-BE49-F238E27FC236}">
                <a16:creationId xmlns:a16="http://schemas.microsoft.com/office/drawing/2014/main" id="{C8588501-319D-7F39-A73B-BF86A6B7DE1A}"/>
              </a:ext>
            </a:extLst>
          </p:cNvPr>
          <p:cNvGraphicFramePr>
            <a:graphicFrameLocks noGrp="1"/>
          </p:cNvGraphicFramePr>
          <p:nvPr>
            <p:ph idx="1"/>
            <p:extLst>
              <p:ext uri="{D42A27DB-BD31-4B8C-83A1-F6EECF244321}">
                <p14:modId xmlns:p14="http://schemas.microsoft.com/office/powerpoint/2010/main" val="2559574313"/>
              </p:ext>
            </p:extLst>
          </p:nvPr>
        </p:nvGraphicFramePr>
        <p:xfrm>
          <a:off x="4100631" y="804671"/>
          <a:ext cx="4414719" cy="491721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83228414"/>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pic>
        <p:nvPicPr>
          <p:cNvPr id="4" name="Resim 3"/>
          <p:cNvPicPr>
            <a:picLocks noChangeAspect="1"/>
          </p:cNvPicPr>
          <p:nvPr/>
        </p:nvPicPr>
        <p:blipFill>
          <a:blip r:embed="rId4" cstate="email">
            <a:extLst>
              <a:ext uri="{28A0092B-C50C-407E-A947-70E740481C1C}">
                <a14:useLocalDpi xmlns:a14="http://schemas.microsoft.com/office/drawing/2010/main"/>
              </a:ext>
            </a:extLst>
          </a:blip>
          <a:srcRect b="-1"/>
          <a:stretch/>
        </p:blipFill>
        <p:spPr>
          <a:xfrm>
            <a:off x="20" y="10"/>
            <a:ext cx="9143980" cy="6857990"/>
          </a:xfrm>
          <a:prstGeom prst="rect">
            <a:avLst/>
          </a:prstGeom>
        </p:spPr>
      </p:pic>
      <p:pic>
        <p:nvPicPr>
          <p:cNvPr id="9" name="Picture 8">
            <a:extLst>
              <a:ext uri="{FF2B5EF4-FFF2-40B4-BE49-F238E27FC236}">
                <a16:creationId xmlns:a16="http://schemas.microsoft.com/office/drawing/2014/main" id="{C63E20F8-074D-4B3B-AE66-7BBD6F1CB7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email">
            <a:extLst>
              <a:ext uri="{28A0092B-C50C-407E-A947-70E740481C1C}">
                <a14:useLocalDpi xmlns:a14="http://schemas.microsoft.com/office/drawing/2010/main"/>
              </a:ext>
            </a:extLst>
          </a:blip>
          <a:stretch>
            <a:fillRect/>
          </a:stretch>
        </p:blipFill>
        <p:spPr>
          <a:xfrm>
            <a:off x="0" y="0"/>
            <a:ext cx="9141618" cy="6856214"/>
          </a:xfrm>
          <a:prstGeom prst="rect">
            <a:avLst/>
          </a:prstGeom>
        </p:spPr>
      </p:pic>
      <p:sp>
        <p:nvSpPr>
          <p:cNvPr id="11" name="Rectangle 10">
            <a:extLst>
              <a:ext uri="{FF2B5EF4-FFF2-40B4-BE49-F238E27FC236}">
                <a16:creationId xmlns:a16="http://schemas.microsoft.com/office/drawing/2014/main" id="{168A5C37-E0A9-462D-BC65-C14D9025F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21519" y="607814"/>
            <a:ext cx="7698581" cy="5640586"/>
          </a:xfrm>
          <a:prstGeom prst="rect">
            <a:avLst/>
          </a:prstGeom>
          <a:solidFill>
            <a:schemeClr val="bg1">
              <a:alpha val="70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marL="0" marR="0" lvl="0" indent="0" algn="ctr" defTabSz="9144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600" b="0" i="0" u="none" strike="noStrike" kern="1200" cap="all" spc="0" normalizeH="0" baseline="0" noProof="0">
              <a:ln>
                <a:noFill/>
              </a:ln>
              <a:solidFill>
                <a:prstClr val="white"/>
              </a:solidFill>
              <a:effectLst/>
              <a:uLnTx/>
              <a:uFillTx/>
              <a:latin typeface="Calibri" panose="020F0502020204030204"/>
              <a:ea typeface="+mn-ea"/>
              <a:cs typeface="+mn-cs"/>
            </a:endParaRPr>
          </a:p>
        </p:txBody>
      </p:sp>
      <p:sp>
        <p:nvSpPr>
          <p:cNvPr id="2" name="Metin kutusu 1"/>
          <p:cNvSpPr txBox="1"/>
          <p:nvPr/>
        </p:nvSpPr>
        <p:spPr>
          <a:xfrm>
            <a:off x="1035050" y="787400"/>
            <a:ext cx="7077869" cy="1278467"/>
          </a:xfrm>
          <a:prstGeom prst="rect">
            <a:avLst/>
          </a:prstGeom>
        </p:spPr>
        <p:txBody>
          <a:bodyPr vert="horz" lIns="91440" tIns="45720" rIns="91440" bIns="45720" rtlCol="0" anchor="ctr">
            <a:normAutofit/>
          </a:bodyPr>
          <a:lstStyle/>
          <a:p>
            <a:pPr algn="ctr">
              <a:spcBef>
                <a:spcPct val="0"/>
              </a:spcBef>
              <a:spcAft>
                <a:spcPts val="600"/>
              </a:spcAft>
            </a:pPr>
            <a:r>
              <a:rPr lang="en-US" sz="3600" b="1" i="1" cap="all">
                <a:ln w="3175" cmpd="sng">
                  <a:noFill/>
                </a:ln>
                <a:latin typeface="+mj-lt"/>
                <a:ea typeface="+mj-ea"/>
                <a:cs typeface="+mj-cs"/>
              </a:rPr>
              <a:t>Dış Ticaret</a:t>
            </a:r>
          </a:p>
        </p:txBody>
      </p:sp>
      <p:sp>
        <p:nvSpPr>
          <p:cNvPr id="3" name="Metin kutusu 2"/>
          <p:cNvSpPr txBox="1"/>
          <p:nvPr/>
        </p:nvSpPr>
        <p:spPr>
          <a:xfrm>
            <a:off x="1035050" y="2142067"/>
            <a:ext cx="7077869" cy="3725333"/>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a:t>İthalat ve ihracat işlemlerinde, uluslararası nakliyenin yapılması büyük önem taşımaktadır. Bu noktada gümrükleme, bekleme süresinde antrepo kullanımı, sigorta işlemleri vb. işlemler nakliye faaliyetin devam edebilmesi için önemli operasyonlardır.</a:t>
            </a:r>
          </a:p>
        </p:txBody>
      </p:sp>
    </p:spTree>
    <p:extLst>
      <p:ext uri="{BB962C8B-B14F-4D97-AF65-F5344CB8AC3E}">
        <p14:creationId xmlns:p14="http://schemas.microsoft.com/office/powerpoint/2010/main" val="2214340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alphaModFix amt="4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Metin kutusu 1"/>
          <p:cNvSpPr txBox="1"/>
          <p:nvPr/>
        </p:nvSpPr>
        <p:spPr>
          <a:xfrm>
            <a:off x="296839" y="672504"/>
            <a:ext cx="3366050" cy="584775"/>
          </a:xfrm>
          <a:prstGeom prst="rect">
            <a:avLst/>
          </a:prstGeom>
          <a:noFill/>
        </p:spPr>
        <p:txBody>
          <a:bodyPr wrap="none" rtlCol="0">
            <a:spAutoFit/>
          </a:bodyPr>
          <a:lstStyle/>
          <a:p>
            <a:r>
              <a:rPr lang="tr-TR" sz="3200" b="1" i="1" dirty="0">
                <a:solidFill>
                  <a:srgbClr val="00B0F0"/>
                </a:solidFill>
              </a:rPr>
              <a:t>Sevkiyat Planlama</a:t>
            </a:r>
          </a:p>
        </p:txBody>
      </p:sp>
      <p:sp>
        <p:nvSpPr>
          <p:cNvPr id="3" name="Metin kutusu 2"/>
          <p:cNvSpPr txBox="1"/>
          <p:nvPr/>
        </p:nvSpPr>
        <p:spPr>
          <a:xfrm>
            <a:off x="580029" y="1988840"/>
            <a:ext cx="7983941" cy="3539430"/>
          </a:xfrm>
          <a:prstGeom prst="rect">
            <a:avLst/>
          </a:prstGeom>
          <a:noFill/>
          <a:effectLst>
            <a:outerShdw blurRad="50800" dist="50800" dir="5400000" algn="ctr" rotWithShape="0">
              <a:srgbClr val="000000">
                <a:alpha val="32000"/>
              </a:srgbClr>
            </a:outerShdw>
          </a:effectLst>
        </p:spPr>
        <p:txBody>
          <a:bodyPr wrap="square" rtlCol="0" anchor="ctr">
            <a:spAutoFit/>
          </a:bodyPr>
          <a:lstStyle/>
          <a:p>
            <a:pPr algn="just"/>
            <a:r>
              <a:rPr lang="tr-TR" sz="2800" dirty="0">
                <a:solidFill>
                  <a:schemeClr val="bg2"/>
                </a:solidFill>
              </a:rPr>
              <a:t>Sevkiyat müşteri ile temasa geçilen, bu süreçte yapılan bir hatanın doğrudan müşteriyi etkileyen bir faaliyettir. Bunun yanında lojistik faaliyetler içinde maliyeti en yüksek işlemlerden biri olduğu da kesindir. Bu nedenle sevkiyat planlamanın misyonu müşteri taleplerini istekler dahilinde eksiksiz yerine getirmek ve bunu en ekonomik şekilde gerçekleştirmek olmalıdır.</a:t>
            </a:r>
          </a:p>
        </p:txBody>
      </p:sp>
    </p:spTree>
    <p:extLst>
      <p:ext uri="{BB962C8B-B14F-4D97-AF65-F5344CB8AC3E}">
        <p14:creationId xmlns:p14="http://schemas.microsoft.com/office/powerpoint/2010/main" val="2809345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alphaModFix amt="48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Metin kutusu 1"/>
          <p:cNvSpPr txBox="1"/>
          <p:nvPr/>
        </p:nvSpPr>
        <p:spPr>
          <a:xfrm>
            <a:off x="296839" y="672504"/>
            <a:ext cx="2406043" cy="584775"/>
          </a:xfrm>
          <a:prstGeom prst="rect">
            <a:avLst/>
          </a:prstGeom>
          <a:noFill/>
        </p:spPr>
        <p:txBody>
          <a:bodyPr wrap="none" rtlCol="0">
            <a:spAutoFit/>
          </a:bodyPr>
          <a:lstStyle/>
          <a:p>
            <a:r>
              <a:rPr lang="tr-TR" sz="3200" b="1" i="1" dirty="0">
                <a:solidFill>
                  <a:srgbClr val="00B0F0"/>
                </a:solidFill>
              </a:rPr>
              <a:t>Filo Yönetimi</a:t>
            </a:r>
          </a:p>
        </p:txBody>
      </p:sp>
      <p:sp>
        <p:nvSpPr>
          <p:cNvPr id="3" name="Metin kutusu 2"/>
          <p:cNvSpPr txBox="1"/>
          <p:nvPr/>
        </p:nvSpPr>
        <p:spPr>
          <a:xfrm>
            <a:off x="1606327" y="1412776"/>
            <a:ext cx="5931345" cy="4524315"/>
          </a:xfrm>
          <a:prstGeom prst="rect">
            <a:avLst/>
          </a:prstGeom>
          <a:noFill/>
          <a:effectLst>
            <a:outerShdw blurRad="50800" dist="50800" dir="5400000" algn="ctr" rotWithShape="0">
              <a:schemeClr val="bg1">
                <a:alpha val="66000"/>
              </a:schemeClr>
            </a:outerShdw>
          </a:effectLst>
        </p:spPr>
        <p:txBody>
          <a:bodyPr wrap="square" rtlCol="0">
            <a:spAutoFit/>
          </a:bodyPr>
          <a:lstStyle/>
          <a:p>
            <a:r>
              <a:rPr lang="tr-TR" sz="2600" dirty="0">
                <a:effectLst>
                  <a:outerShdw blurRad="50800" dist="50800" dir="5400000" algn="ctr" rotWithShape="0">
                    <a:schemeClr val="accent6">
                      <a:lumMod val="75000"/>
                    </a:schemeClr>
                  </a:outerShdw>
                </a:effectLst>
              </a:rPr>
              <a:t>Nakliyenin yapıldığı araçların sayı ve büyüklüklerinin belirlenmesi,</a:t>
            </a:r>
          </a:p>
          <a:p>
            <a:pPr algn="just"/>
            <a:r>
              <a:rPr lang="tr-TR" sz="2600" dirty="0">
                <a:effectLst>
                  <a:outerShdw blurRad="50800" dist="50800" dir="5400000" algn="ctr" rotWithShape="0">
                    <a:schemeClr val="accent6">
                      <a:lumMod val="75000"/>
                    </a:schemeClr>
                  </a:outerShdw>
                </a:effectLst>
              </a:rPr>
              <a:t>tasarımları ve bakımları filo yönetimi kapsamında sürdürülen faaliyetlerdir. Bununla </a:t>
            </a:r>
            <a:r>
              <a:rPr lang="tr-TR" sz="2600">
                <a:effectLst>
                  <a:outerShdw blurRad="50800" dist="50800" dir="5400000" algn="ctr" rotWithShape="0">
                    <a:schemeClr val="accent6">
                      <a:lumMod val="75000"/>
                    </a:schemeClr>
                  </a:outerShdw>
                </a:effectLst>
              </a:rPr>
              <a:t>birlikte taşınacak </a:t>
            </a:r>
            <a:r>
              <a:rPr lang="tr-TR" sz="2600" dirty="0">
                <a:effectLst>
                  <a:outerShdw blurRad="50800" dist="50800" dir="5400000" algn="ctr" rotWithShape="0">
                    <a:schemeClr val="accent6">
                      <a:lumMod val="75000"/>
                    </a:schemeClr>
                  </a:outerShdw>
                </a:effectLst>
              </a:rPr>
              <a:t>malın türüne göre araçtaki donanım belirlenir. Örneğin dondurulmuş gıda taşıyan araçlarda ürünün soğuk kalması için </a:t>
            </a:r>
            <a:r>
              <a:rPr lang="tr-TR" sz="2600" dirty="0" err="1">
                <a:effectLst>
                  <a:outerShdw blurRad="50800" dist="50800" dir="5400000" algn="ctr" rotWithShape="0">
                    <a:schemeClr val="accent6">
                      <a:lumMod val="75000"/>
                    </a:schemeClr>
                  </a:outerShdw>
                </a:effectLst>
              </a:rPr>
              <a:t>frigofrik</a:t>
            </a:r>
            <a:r>
              <a:rPr lang="tr-TR" sz="2600" dirty="0">
                <a:effectLst>
                  <a:outerShdw blurRad="50800" dist="50800" dir="5400000" algn="ctr" rotWithShape="0">
                    <a:schemeClr val="accent6">
                      <a:lumMod val="75000"/>
                    </a:schemeClr>
                  </a:outerShdw>
                </a:effectLst>
              </a:rPr>
              <a:t> kasalar, ağır yük taşıyan araçlarda mobil vinç, akaryakıt taşıyan araçların üstünde tanklar bulunabilir</a:t>
            </a:r>
            <a:r>
              <a:rPr lang="tr-TR" sz="2800" dirty="0">
                <a:effectLst>
                  <a:outerShdw blurRad="50800" dist="50800" dir="5400000" algn="ctr" rotWithShape="0">
                    <a:schemeClr val="accent6">
                      <a:lumMod val="75000"/>
                    </a:schemeClr>
                  </a:outerShdw>
                </a:effectLst>
              </a:rPr>
              <a:t>.</a:t>
            </a:r>
          </a:p>
        </p:txBody>
      </p:sp>
    </p:spTree>
    <p:extLst>
      <p:ext uri="{BB962C8B-B14F-4D97-AF65-F5344CB8AC3E}">
        <p14:creationId xmlns:p14="http://schemas.microsoft.com/office/powerpoint/2010/main" val="1085253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713" name="Rectangle 72712">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15" name="Freeform: Shape 72714">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3"/>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graphicFrame>
        <p:nvGraphicFramePr>
          <p:cNvPr id="72709" name="İçerik Yer Tutucusu 2">
            <a:extLst>
              <a:ext uri="{FF2B5EF4-FFF2-40B4-BE49-F238E27FC236}">
                <a16:creationId xmlns:a16="http://schemas.microsoft.com/office/drawing/2014/main" id="{B934D571-4433-795A-0F8B-8C124A462D55}"/>
              </a:ext>
            </a:extLst>
          </p:cNvPr>
          <p:cNvGraphicFramePr>
            <a:graphicFrameLocks noGrp="1"/>
          </p:cNvGraphicFramePr>
          <p:nvPr>
            <p:ph idx="1"/>
            <p:extLst>
              <p:ext uri="{D42A27DB-BD31-4B8C-83A1-F6EECF244321}">
                <p14:modId xmlns:p14="http://schemas.microsoft.com/office/powerpoint/2010/main" val="4041588116"/>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45135021"/>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96839" y="672504"/>
            <a:ext cx="6673755" cy="1938992"/>
          </a:xfrm>
          <a:prstGeom prst="rect">
            <a:avLst/>
          </a:prstGeom>
          <a:noFill/>
        </p:spPr>
        <p:txBody>
          <a:bodyPr wrap="square" rtlCol="0">
            <a:spAutoFit/>
          </a:bodyPr>
          <a:lstStyle/>
          <a:p>
            <a:r>
              <a:rPr lang="tr-TR" sz="4400">
                <a:solidFill>
                  <a:srgbClr val="00B0F0"/>
                </a:solidFill>
              </a:rPr>
              <a:t>Lojistik Çeşitleri Nelerdir</a:t>
            </a:r>
            <a:r>
              <a:rPr lang="tr-TR" sz="4400">
                <a:solidFill>
                  <a:srgbClr val="00B0F0"/>
                </a:solidFill>
                <a:latin typeface="Times New Roman" panose="02020603050405020304" pitchFamily="18" charset="0"/>
                <a:cs typeface="Times New Roman" panose="02020603050405020304" pitchFamily="18" charset="0"/>
              </a:rPr>
              <a:t>?</a:t>
            </a:r>
            <a:endParaRPr lang="tr-TR" sz="4400">
              <a:solidFill>
                <a:srgbClr val="00B0F0"/>
              </a:solidFill>
            </a:endParaRPr>
          </a:p>
          <a:p>
            <a:endParaRPr lang="tr-TR" sz="4400">
              <a:solidFill>
                <a:srgbClr val="FF0000"/>
              </a:solidFill>
            </a:endParaRPr>
          </a:p>
          <a:p>
            <a:endParaRPr lang="tr-TR" sz="3200" dirty="0">
              <a:solidFill>
                <a:srgbClr val="FF0000"/>
              </a:solidFill>
            </a:endParaRPr>
          </a:p>
        </p:txBody>
      </p:sp>
      <p:sp>
        <p:nvSpPr>
          <p:cNvPr id="3" name="Metin kutusu 2"/>
          <p:cNvSpPr txBox="1"/>
          <p:nvPr/>
        </p:nvSpPr>
        <p:spPr>
          <a:xfrm>
            <a:off x="296839" y="1712430"/>
            <a:ext cx="8536675" cy="4093428"/>
          </a:xfrm>
          <a:prstGeom prst="rect">
            <a:avLst/>
          </a:prstGeom>
          <a:noFill/>
        </p:spPr>
        <p:txBody>
          <a:bodyPr wrap="square" rtlCol="0">
            <a:spAutoFit/>
          </a:bodyPr>
          <a:lstStyle/>
          <a:p>
            <a:pPr algn="just"/>
            <a:r>
              <a:rPr lang="tr-TR" sz="2000" dirty="0"/>
              <a:t>Lojistiği değişik bakış açılarına göre farklı gruplara ayırabiliriz. Örneğin lojistik faaliyetlerin yapıldığı alan ya da sektöre göre Askeri Lojistik, Hastane Lojistiği, Acil Durum Lojistiği, Bakım-Onarım Lojistiği, Soğuk Zincir Lojistiği gibi gruplandırmalar yapmak mümkündür.</a:t>
            </a:r>
          </a:p>
          <a:p>
            <a:endParaRPr lang="tr-TR" sz="2000" dirty="0"/>
          </a:p>
          <a:p>
            <a:pPr algn="just"/>
            <a:r>
              <a:rPr lang="tr-TR" sz="2000" dirty="0"/>
              <a:t>Taşımanın yapıldığı yol türüne göre ise karayolu, denizyolu, havayolu ve demiryolu lojistiği olarak dört ana gruba ayrılabilir. Bunların ikili birleşimlerinden Ro-Ro (karayolu – denizyolu) ve </a:t>
            </a:r>
            <a:r>
              <a:rPr lang="tr-TR" sz="2000" dirty="0" err="1"/>
              <a:t>Ro</a:t>
            </a:r>
            <a:r>
              <a:rPr lang="tr-TR" sz="2000" dirty="0"/>
              <a:t>-La (karayolu – demiryolu) ve karayolu ile başlayan ve biten üçlü birleşimlerinden</a:t>
            </a:r>
          </a:p>
          <a:p>
            <a:pPr algn="just"/>
            <a:r>
              <a:rPr lang="tr-TR" sz="2000" dirty="0"/>
              <a:t>kombine taşımacılık (karayolu – demiryolu veya denizyolu – karayolu) yöntemleri geliştirilmiştir. Bazı kaynaklarda boru hatları da bir tasıma türü olarak ele alınmaktadır.</a:t>
            </a:r>
          </a:p>
          <a:p>
            <a:endParaRPr lang="tr-TR" sz="2000" b="1" i="1" dirty="0"/>
          </a:p>
        </p:txBody>
      </p:sp>
      <p:sp>
        <p:nvSpPr>
          <p:cNvPr id="6" name="Metin kutusu 5"/>
          <p:cNvSpPr txBox="1"/>
          <p:nvPr/>
        </p:nvSpPr>
        <p:spPr>
          <a:xfrm>
            <a:off x="6131257" y="2620370"/>
            <a:ext cx="184731" cy="369332"/>
          </a:xfrm>
          <a:prstGeom prst="rect">
            <a:avLst/>
          </a:prstGeom>
          <a:noFill/>
        </p:spPr>
        <p:txBody>
          <a:bodyPr wrap="none" rtlCol="0">
            <a:spAutoFit/>
          </a:bodyPr>
          <a:lstStyle/>
          <a:p>
            <a:endParaRPr lang="tr-TR" dirty="0"/>
          </a:p>
        </p:txBody>
      </p:sp>
    </p:spTree>
    <p:extLst>
      <p:ext uri="{BB962C8B-B14F-4D97-AF65-F5344CB8AC3E}">
        <p14:creationId xmlns:p14="http://schemas.microsoft.com/office/powerpoint/2010/main" val="4226893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extLst>
              <a:ext uri="{28A0092B-C50C-407E-A947-70E740481C1C}">
                <a14:useLocalDpi xmlns:a14="http://schemas.microsoft.com/office/drawing/2010/main"/>
              </a:ext>
            </a:extLst>
          </a:blip>
          <a:stretch>
            <a:fillRect/>
          </a:stretch>
        </p:blipFill>
        <p:spPr>
          <a:xfrm>
            <a:off x="0" y="0"/>
            <a:ext cx="9141618" cy="6856214"/>
          </a:xfrm>
          <a:prstGeom prst="rect">
            <a:avLst/>
          </a:prstGeom>
        </p:spPr>
      </p:pic>
      <p:sp>
        <p:nvSpPr>
          <p:cNvPr id="2" name="Başlık 1"/>
          <p:cNvSpPr>
            <a:spLocks noGrp="1"/>
          </p:cNvSpPr>
          <p:nvPr>
            <p:ph type="title"/>
          </p:nvPr>
        </p:nvSpPr>
        <p:spPr>
          <a:xfrm>
            <a:off x="487003" y="3765754"/>
            <a:ext cx="8177674" cy="1504335"/>
          </a:xfrm>
        </p:spPr>
        <p:txBody>
          <a:bodyPr vert="horz" lIns="91440" tIns="45720" rIns="91440" bIns="45720" rtlCol="0" anchor="b">
            <a:normAutofit/>
          </a:bodyPr>
          <a:lstStyle/>
          <a:p>
            <a:pPr algn="ctr">
              <a:lnSpc>
                <a:spcPct val="90000"/>
              </a:lnSpc>
            </a:pPr>
            <a:br>
              <a:rPr lang="en-US" sz="3400" b="1"/>
            </a:br>
            <a:r>
              <a:rPr lang="en-US" sz="3400" b="1"/>
              <a:t>Taşımacılığın İşletmeler İçin Önemi</a:t>
            </a:r>
            <a:br>
              <a:rPr lang="en-US" sz="3400"/>
            </a:br>
            <a:endParaRPr lang="en-US" sz="3400"/>
          </a:p>
        </p:txBody>
      </p:sp>
      <p:sp>
        <p:nvSpPr>
          <p:cNvPr id="3" name="İçerik Yer Tutucusu 2"/>
          <p:cNvSpPr>
            <a:spLocks noGrp="1"/>
          </p:cNvSpPr>
          <p:nvPr>
            <p:ph idx="1"/>
          </p:nvPr>
        </p:nvSpPr>
        <p:spPr>
          <a:xfrm>
            <a:off x="958798" y="5270090"/>
            <a:ext cx="7234084" cy="953729"/>
          </a:xfrm>
        </p:spPr>
        <p:txBody>
          <a:bodyPr vert="horz" lIns="91440" tIns="45720" rIns="91440" bIns="45720" rtlCol="0" anchor="t">
            <a:normAutofit/>
          </a:bodyPr>
          <a:lstStyle/>
          <a:p>
            <a:pPr marL="0" indent="0" algn="ctr">
              <a:buNone/>
            </a:pPr>
            <a:r>
              <a:rPr lang="en-US" cap="all"/>
              <a:t>TAŞIMACILIK; lojistik maliyetlerin ortalama üçte birini veya üçte ikisini oluşturur.</a:t>
            </a:r>
          </a:p>
        </p:txBody>
      </p:sp>
      <p:pic>
        <p:nvPicPr>
          <p:cNvPr id="7" name="Graphic 6" descr="Kutu">
            <a:extLst>
              <a:ext uri="{FF2B5EF4-FFF2-40B4-BE49-F238E27FC236}">
                <a16:creationId xmlns:a16="http://schemas.microsoft.com/office/drawing/2014/main" id="{81BC5937-879C-59EA-96AA-2C3F596D06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30338" y="960120"/>
            <a:ext cx="2491002" cy="249100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8926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3094482"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Başlık 1"/>
          <p:cNvSpPr>
            <a:spLocks noGrp="1"/>
          </p:cNvSpPr>
          <p:nvPr>
            <p:ph type="title"/>
          </p:nvPr>
        </p:nvSpPr>
        <p:spPr>
          <a:xfrm>
            <a:off x="514350" y="643466"/>
            <a:ext cx="1943100" cy="4995333"/>
          </a:xfrm>
        </p:spPr>
        <p:txBody>
          <a:bodyPr>
            <a:normAutofit/>
          </a:bodyPr>
          <a:lstStyle/>
          <a:p>
            <a:r>
              <a:rPr lang="tr-TR" b="1">
                <a:solidFill>
                  <a:srgbClr val="FFFFFF"/>
                </a:solidFill>
              </a:rPr>
              <a:t>TAŞIMA MODLARI</a:t>
            </a:r>
            <a:endParaRPr lang="tr-TR">
              <a:solidFill>
                <a:srgbClr val="FFFFFF"/>
              </a:solidFill>
            </a:endParaRPr>
          </a:p>
        </p:txBody>
      </p:sp>
      <p:graphicFrame>
        <p:nvGraphicFramePr>
          <p:cNvPr id="5" name="İçerik Yer Tutucusu 2">
            <a:extLst>
              <a:ext uri="{FF2B5EF4-FFF2-40B4-BE49-F238E27FC236}">
                <a16:creationId xmlns:a16="http://schemas.microsoft.com/office/drawing/2014/main" id="{8C97D610-9D81-E1F8-2760-3850CAA191CE}"/>
              </a:ext>
            </a:extLst>
          </p:cNvPr>
          <p:cNvGraphicFramePr>
            <a:graphicFrameLocks noGrp="1"/>
          </p:cNvGraphicFramePr>
          <p:nvPr>
            <p:ph idx="1"/>
            <p:extLst>
              <p:ext uri="{D42A27DB-BD31-4B8C-83A1-F6EECF244321}">
                <p14:modId xmlns:p14="http://schemas.microsoft.com/office/powerpoint/2010/main" val="2620937303"/>
              </p:ext>
            </p:extLst>
          </p:nvPr>
        </p:nvGraphicFramePr>
        <p:xfrm>
          <a:off x="3606450" y="901700"/>
          <a:ext cx="4908900" cy="48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4182528"/>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0" y="1719807"/>
            <a:ext cx="2744542" cy="3418387"/>
          </a:xfrm>
        </p:spPr>
        <p:txBody>
          <a:bodyPr>
            <a:normAutofit/>
          </a:bodyPr>
          <a:lstStyle/>
          <a:p>
            <a:pPr algn="r"/>
            <a:r>
              <a:rPr lang="tr-TR" b="1" dirty="0"/>
              <a:t>TAŞIMA ŞEKLİ SEÇİMİ</a:t>
            </a:r>
            <a:endParaRPr lang="tr-T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12" name="İçerik Yer Tutucusu 2">
            <a:extLst>
              <a:ext uri="{FF2B5EF4-FFF2-40B4-BE49-F238E27FC236}">
                <a16:creationId xmlns:a16="http://schemas.microsoft.com/office/drawing/2014/main" id="{276982D0-D7A7-3830-F9D3-8B1CACE92B41}"/>
              </a:ext>
            </a:extLst>
          </p:cNvPr>
          <p:cNvGraphicFramePr>
            <a:graphicFrameLocks noGrp="1"/>
          </p:cNvGraphicFramePr>
          <p:nvPr>
            <p:ph idx="1"/>
          </p:nvPr>
        </p:nvGraphicFramePr>
        <p:xfrm>
          <a:off x="3741494" y="1719807"/>
          <a:ext cx="4888157" cy="34183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1394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2" name="Başlık 1"/>
          <p:cNvSpPr>
            <a:spLocks noGrp="1"/>
          </p:cNvSpPr>
          <p:nvPr>
            <p:ph type="title"/>
          </p:nvPr>
        </p:nvSpPr>
        <p:spPr>
          <a:xfrm>
            <a:off x="3716593" y="639097"/>
            <a:ext cx="4944806" cy="1612490"/>
          </a:xfrm>
        </p:spPr>
        <p:txBody>
          <a:bodyPr>
            <a:normAutofit/>
          </a:bodyPr>
          <a:lstStyle/>
          <a:p>
            <a:r>
              <a:rPr lang="tr-TR" dirty="0"/>
              <a:t>TAŞIMA ŞEKLİNİN SEÇİMİ</a:t>
            </a:r>
          </a:p>
        </p:txBody>
      </p:sp>
      <p:pic>
        <p:nvPicPr>
          <p:cNvPr id="5" name="Picture 4" descr="Kutular ve silindir taşıyıcı">
            <a:extLst>
              <a:ext uri="{FF2B5EF4-FFF2-40B4-BE49-F238E27FC236}">
                <a16:creationId xmlns:a16="http://schemas.microsoft.com/office/drawing/2014/main" id="{0532F415-D4D1-208D-BBD9-28F449A0E6EF}"/>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20" y="975"/>
            <a:ext cx="3476986" cy="6858000"/>
          </a:xfrm>
          <a:prstGeom prst="rect">
            <a:avLst/>
          </a:prstGeom>
        </p:spPr>
      </p:pic>
      <p:sp>
        <p:nvSpPr>
          <p:cNvPr id="3" name="İçerik Yer Tutucusu 2"/>
          <p:cNvSpPr>
            <a:spLocks noGrp="1"/>
          </p:cNvSpPr>
          <p:nvPr>
            <p:ph idx="1"/>
          </p:nvPr>
        </p:nvSpPr>
        <p:spPr>
          <a:xfrm>
            <a:off x="3716593" y="2251587"/>
            <a:ext cx="4944806" cy="3972232"/>
          </a:xfrm>
        </p:spPr>
        <p:txBody>
          <a:bodyPr>
            <a:normAutofit/>
          </a:bodyPr>
          <a:lstStyle/>
          <a:p>
            <a:pPr>
              <a:lnSpc>
                <a:spcPct val="90000"/>
              </a:lnSpc>
            </a:pPr>
            <a:r>
              <a:rPr lang="tr-TR" sz="1400"/>
              <a:t>Taşıma yöntemleri arasında tercih sebebi oluşturma veya birini diğerinden ayırt etme açısından her yöntemin kendine has ve hatta kendi içinde farklı özellikleri vardır.</a:t>
            </a:r>
          </a:p>
          <a:p>
            <a:pPr>
              <a:lnSpc>
                <a:spcPct val="90000"/>
              </a:lnSpc>
            </a:pPr>
            <a:r>
              <a:rPr lang="tr-TR" sz="1400" b="1"/>
              <a:t>Erişebilirlik</a:t>
            </a:r>
          </a:p>
          <a:p>
            <a:pPr>
              <a:lnSpc>
                <a:spcPct val="90000"/>
              </a:lnSpc>
            </a:pPr>
            <a:r>
              <a:rPr lang="tr-TR" sz="1400" b="1"/>
              <a:t>Hız</a:t>
            </a:r>
          </a:p>
          <a:p>
            <a:pPr>
              <a:lnSpc>
                <a:spcPct val="90000"/>
              </a:lnSpc>
            </a:pPr>
            <a:r>
              <a:rPr lang="tr-TR" sz="1400" b="1"/>
              <a:t>Taşıma kapasitesi</a:t>
            </a:r>
          </a:p>
          <a:p>
            <a:pPr>
              <a:lnSpc>
                <a:spcPct val="90000"/>
              </a:lnSpc>
            </a:pPr>
            <a:r>
              <a:rPr lang="tr-TR" sz="1400" b="1"/>
              <a:t>Güvenlik</a:t>
            </a:r>
          </a:p>
          <a:p>
            <a:pPr>
              <a:lnSpc>
                <a:spcPct val="90000"/>
              </a:lnSpc>
            </a:pPr>
            <a:r>
              <a:rPr lang="tr-TR" sz="1400" b="1"/>
              <a:t>Esneklik</a:t>
            </a:r>
          </a:p>
          <a:p>
            <a:pPr>
              <a:lnSpc>
                <a:spcPct val="90000"/>
              </a:lnSpc>
            </a:pPr>
            <a:r>
              <a:rPr lang="tr-TR" sz="1400" b="1"/>
              <a:t>Maliyet</a:t>
            </a:r>
          </a:p>
          <a:p>
            <a:pPr>
              <a:lnSpc>
                <a:spcPct val="90000"/>
              </a:lnSpc>
            </a:pPr>
            <a:r>
              <a:rPr lang="tr-TR" sz="1400" b="1"/>
              <a:t>Taşıma işinin uyumu</a:t>
            </a:r>
          </a:p>
          <a:p>
            <a:pPr>
              <a:lnSpc>
                <a:spcPct val="90000"/>
              </a:lnSpc>
            </a:pPr>
            <a:r>
              <a:rPr lang="tr-TR" sz="1400" b="1"/>
              <a:t>Malzemenin cinsi</a:t>
            </a:r>
          </a:p>
          <a:p>
            <a:pPr>
              <a:lnSpc>
                <a:spcPct val="90000"/>
              </a:lnSpc>
            </a:pPr>
            <a:r>
              <a:rPr lang="tr-TR" sz="1400" b="1"/>
              <a:t>Malzemenin ambalajı</a:t>
            </a:r>
          </a:p>
          <a:p>
            <a:pPr>
              <a:lnSpc>
                <a:spcPct val="90000"/>
              </a:lnSpc>
            </a:pPr>
            <a:r>
              <a:rPr lang="tr-TR" sz="1400" b="1"/>
              <a:t>Malzemenin hacmi</a:t>
            </a:r>
            <a:endParaRPr lang="tr-TR" sz="1400"/>
          </a:p>
        </p:txBody>
      </p:sp>
    </p:spTree>
    <p:extLst>
      <p:ext uri="{BB962C8B-B14F-4D97-AF65-F5344CB8AC3E}">
        <p14:creationId xmlns:p14="http://schemas.microsoft.com/office/powerpoint/2010/main" val="35809596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Multimodal Taşımacılık</a:t>
            </a:r>
          </a:p>
        </p:txBody>
      </p:sp>
      <p:sp>
        <p:nvSpPr>
          <p:cNvPr id="3" name="İçerik Yer Tutucusu 2"/>
          <p:cNvSpPr>
            <a:spLocks noGrp="1"/>
          </p:cNvSpPr>
          <p:nvPr>
            <p:ph idx="1"/>
          </p:nvPr>
        </p:nvSpPr>
        <p:spPr>
          <a:xfrm>
            <a:off x="457200" y="2142068"/>
            <a:ext cx="7772400" cy="3951228"/>
          </a:xfrm>
        </p:spPr>
        <p:txBody>
          <a:bodyPr>
            <a:normAutofit/>
          </a:bodyPr>
          <a:lstStyle/>
          <a:p>
            <a:pPr fontAlgn="base"/>
            <a:r>
              <a:rPr lang="tr-TR" b="1"/>
              <a:t>Multimodal taşımacılık</a:t>
            </a:r>
            <a:r>
              <a:rPr lang="tr-TR"/>
              <a:t>, yüklerin birden fazla taşıma modu (örneğin karayolu, denizyolu, demiryolu) kullanılarak, aynı taşıma ünitesinde aktarılmadan taşınması yöntemidir. Özellikle dökme yüklerin taşınmasında tercih edilen bu model, küresel ticaretin etkin şekilde işlemesine katkı sağlar. Bu yöntemde tüm taşıma süreci için </a:t>
            </a:r>
            <a:r>
              <a:rPr lang="tr-TR" b="1"/>
              <a:t>tek bir taşıyıcı firma ve taşıma sözleşmesi</a:t>
            </a:r>
            <a:r>
              <a:rPr lang="tr-TR"/>
              <a:t> bulunur. Örneğin, ana taşıma modu denizyolu olduğunda </a:t>
            </a:r>
            <a:r>
              <a:rPr lang="tr-TR" b="1"/>
              <a:t>Kombine Taşıma Konişmentosu</a:t>
            </a:r>
            <a:r>
              <a:rPr lang="tr-TR"/>
              <a:t> (Combined Transport B/L) ya da </a:t>
            </a:r>
            <a:r>
              <a:rPr lang="tr-TR" b="1"/>
              <a:t>Çok Modlu Konişmento</a:t>
            </a:r>
            <a:r>
              <a:rPr lang="tr-TR"/>
              <a:t> (Multimodal B/L) düzenlenir. Eğer taşınan yük tehlikeli madde ise, </a:t>
            </a:r>
            <a:r>
              <a:rPr lang="tr-TR" b="1"/>
              <a:t>IMDG-IMO</a:t>
            </a:r>
            <a:r>
              <a:rPr lang="tr-TR"/>
              <a:t> ve </a:t>
            </a:r>
            <a:r>
              <a:rPr lang="tr-TR" b="1"/>
              <a:t>ADR Ref.5.4.1</a:t>
            </a:r>
            <a:r>
              <a:rPr lang="tr-TR"/>
              <a:t> kurallarına uygun belgeler ve Konteyner Ambalaj Sertifikası gereklidir.</a:t>
            </a:r>
            <a:endParaRPr lang="tr-TR" dirty="0"/>
          </a:p>
        </p:txBody>
      </p:sp>
    </p:spTree>
    <p:extLst>
      <p:ext uri="{BB962C8B-B14F-4D97-AF65-F5344CB8AC3E}">
        <p14:creationId xmlns:p14="http://schemas.microsoft.com/office/powerpoint/2010/main" val="1038661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b="1" dirty="0"/>
              <a:t>INTERMODAL TAŞIMACILIK</a:t>
            </a:r>
            <a:endParaRPr lang="tr-TR" dirty="0"/>
          </a:p>
        </p:txBody>
      </p:sp>
      <p:sp>
        <p:nvSpPr>
          <p:cNvPr id="3" name="İçerik Yer Tutucusu 2"/>
          <p:cNvSpPr>
            <a:spLocks noGrp="1"/>
          </p:cNvSpPr>
          <p:nvPr>
            <p:ph idx="1"/>
          </p:nvPr>
        </p:nvSpPr>
        <p:spPr/>
        <p:txBody>
          <a:bodyPr>
            <a:normAutofit fontScale="92500" lnSpcReduction="10000"/>
          </a:bodyPr>
          <a:lstStyle/>
          <a:p>
            <a:pPr algn="just" fontAlgn="base"/>
            <a:r>
              <a:rPr lang="tr-TR"/>
              <a:t>İntermodal taşımacılık, yükleme ünitelerinin bir taşımacılık modundan bir diğerine transferini kolaylaştıran teknolojiler dizisidir. İntermodal transfer bir taşımacılık işleminde daha büyük hacimleri taşımak için bir taşımacılık modundan (karayolu taşımacılığı gibi) diğerine (tren ya da gemi gibi) seyir halinde değişime olanak sağlamaktadır. yüklerin, içinde bulunduğu taşıma ünitesinden aktarılmaksızın, yalnızca taşıma ünitelerinin(konteyner vb.) aktarılması ile, birden fazla taşıma şeklinin bir arada kullanılmasıyla oluşan taşımacılık şeklidir. Amaç, göz önünde bulundurulan maliyet, zaman ve çevresel etkiler gibi kriterlerin, koşulların gerektirdiği seviyede en uygun hale getirilmesidir.</a:t>
            </a:r>
          </a:p>
          <a:p>
            <a:pPr algn="just" fontAlgn="base"/>
            <a:r>
              <a:rPr lang="tr-TR"/>
              <a:t>İntermodal taşımacılıkta, yükleme ve varış adresi arasında kullanılacak farklı taşıma modları için, birden fazla taşıyıcı ve taşıma sözleşmesi yapılmaktadır. Örnek vermek gerekirse; dış dolum yapılan konteyner taşımaları ve Ro-Ro güzergahını kullanan karayolu araçları ile yapılan taşımalar; taşıma ünitesinin içindeki yüklerin, başka bir üniteye aktarılmadan sevk edildiği intermodal taşımalara örnektir.</a:t>
            </a:r>
          </a:p>
          <a:p>
            <a:pPr algn="just"/>
            <a:endParaRPr lang="tr-TR"/>
          </a:p>
          <a:p>
            <a:endParaRPr lang="tr-TR" dirty="0"/>
          </a:p>
        </p:txBody>
      </p:sp>
    </p:spTree>
    <p:extLst>
      <p:ext uri="{BB962C8B-B14F-4D97-AF65-F5344CB8AC3E}">
        <p14:creationId xmlns:p14="http://schemas.microsoft.com/office/powerpoint/2010/main" val="8992122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KOMBİNE TAŞIMACILIK</a:t>
            </a:r>
          </a:p>
        </p:txBody>
      </p:sp>
      <p:sp>
        <p:nvSpPr>
          <p:cNvPr id="3" name="İçerik Yer Tutucusu 2"/>
          <p:cNvSpPr>
            <a:spLocks noGrp="1"/>
          </p:cNvSpPr>
          <p:nvPr>
            <p:ph idx="1"/>
          </p:nvPr>
        </p:nvSpPr>
        <p:spPr/>
        <p:txBody>
          <a:bodyPr>
            <a:normAutofit fontScale="92500" lnSpcReduction="10000"/>
          </a:bodyPr>
          <a:lstStyle/>
          <a:p>
            <a:pPr algn="just"/>
            <a:r>
              <a:rPr lang="tr-TR" dirty="0"/>
              <a:t>Kombine Taşımacılık ise, önce intermodal taşımacılık şeklinde anlaşılmış ise de; daha sonra ECE ( </a:t>
            </a:r>
            <a:r>
              <a:rPr lang="tr-TR" dirty="0" err="1"/>
              <a:t>Economic</a:t>
            </a:r>
            <a:r>
              <a:rPr lang="tr-TR" dirty="0"/>
              <a:t> </a:t>
            </a:r>
            <a:r>
              <a:rPr lang="tr-TR" dirty="0" err="1"/>
              <a:t>Commission</a:t>
            </a:r>
            <a:r>
              <a:rPr lang="tr-TR" dirty="0"/>
              <a:t> </a:t>
            </a:r>
            <a:r>
              <a:rPr lang="tr-TR" dirty="0" err="1"/>
              <a:t>for</a:t>
            </a:r>
            <a:r>
              <a:rPr lang="tr-TR" dirty="0"/>
              <a:t> Europe )tarafından 19 numaralı tavsiye kararı ile kombine taşımacılığın enerji harcayan bir taşımacılık yöntemi ile enerji harcamayan diğer yöntemin birlikte kullanımı şeklinde açıklaması yapılmıştır. </a:t>
            </a:r>
          </a:p>
          <a:p>
            <a:pPr algn="just"/>
            <a:r>
              <a:rPr lang="tr-TR" dirty="0"/>
              <a:t>Ro-Ro gemisine yüklenen kamyonların, araç taşıyıcına yüklenen araçların veya trene yüklenen kamyonların durumu bu açıklamaya girmektedir. </a:t>
            </a:r>
            <a:br>
              <a:rPr lang="tr-TR" dirty="0"/>
            </a:br>
            <a:r>
              <a:rPr lang="tr-TR" dirty="0"/>
              <a:t>Avrupa birliği nakliye politikası olarak kombine taşımacılığı “başlangıç noktası ve bitiş noktası mümkün olabildiğince az miktarda kara yolu ile yapılmak üzere ürünlerin tren veya su üzerinden taşıması şeklinde yapılan intermodal taşımacılık” şeklinde tanımlamaktadır.</a:t>
            </a:r>
          </a:p>
          <a:p>
            <a:pPr algn="just"/>
            <a:br>
              <a:rPr lang="tr-TR" dirty="0"/>
            </a:br>
            <a:r>
              <a:rPr lang="tr-TR" dirty="0"/>
              <a:t>Adı ne olursa olsun şimdilik intermodal taşımacılık, </a:t>
            </a:r>
            <a:r>
              <a:rPr lang="tr-TR" dirty="0" err="1"/>
              <a:t>multimodal</a:t>
            </a:r>
            <a:r>
              <a:rPr lang="tr-TR" dirty="0"/>
              <a:t> taşımacılık ve kombine taşımacılık tanımlarını kullanıyoruz</a:t>
            </a:r>
          </a:p>
        </p:txBody>
      </p:sp>
    </p:spTree>
    <p:extLst>
      <p:ext uri="{BB962C8B-B14F-4D97-AF65-F5344CB8AC3E}">
        <p14:creationId xmlns:p14="http://schemas.microsoft.com/office/powerpoint/2010/main" val="29272258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2381" y="0"/>
            <a:ext cx="9141618" cy="2284214"/>
          </a:xfrm>
          <a:prstGeom prst="rect">
            <a:avLst/>
          </a:prstGeom>
        </p:spPr>
      </p:pic>
      <p:graphicFrame>
        <p:nvGraphicFramePr>
          <p:cNvPr id="4" name="İçerik Yer Tutucusu 3">
            <a:extLst>
              <a:ext uri="{FF2B5EF4-FFF2-40B4-BE49-F238E27FC236}">
                <a16:creationId xmlns:a16="http://schemas.microsoft.com/office/drawing/2014/main" id="{E087F9A2-8C5E-3185-AB6D-389AFFFC73D5}"/>
              </a:ext>
            </a:extLst>
          </p:cNvPr>
          <p:cNvGraphicFramePr>
            <a:graphicFrameLocks noGrp="1"/>
          </p:cNvGraphicFramePr>
          <p:nvPr>
            <p:ph idx="1"/>
            <p:extLst>
              <p:ext uri="{D42A27DB-BD31-4B8C-83A1-F6EECF244321}">
                <p14:modId xmlns:p14="http://schemas.microsoft.com/office/powerpoint/2010/main" val="2817805780"/>
              </p:ext>
            </p:extLst>
          </p:nvPr>
        </p:nvGraphicFramePr>
        <p:xfrm>
          <a:off x="1047925" y="2743200"/>
          <a:ext cx="7045770" cy="3048003"/>
        </p:xfrm>
        <a:graphic>
          <a:graphicData uri="http://schemas.openxmlformats.org/drawingml/2006/table">
            <a:tbl>
              <a:tblPr/>
              <a:tblGrid>
                <a:gridCol w="724679">
                  <a:extLst>
                    <a:ext uri="{9D8B030D-6E8A-4147-A177-3AD203B41FA5}">
                      <a16:colId xmlns:a16="http://schemas.microsoft.com/office/drawing/2014/main" val="920837664"/>
                    </a:ext>
                  </a:extLst>
                </a:gridCol>
                <a:gridCol w="2010735">
                  <a:extLst>
                    <a:ext uri="{9D8B030D-6E8A-4147-A177-3AD203B41FA5}">
                      <a16:colId xmlns:a16="http://schemas.microsoft.com/office/drawing/2014/main" val="3967523611"/>
                    </a:ext>
                  </a:extLst>
                </a:gridCol>
                <a:gridCol w="1771708">
                  <a:extLst>
                    <a:ext uri="{9D8B030D-6E8A-4147-A177-3AD203B41FA5}">
                      <a16:colId xmlns:a16="http://schemas.microsoft.com/office/drawing/2014/main" val="937235462"/>
                    </a:ext>
                  </a:extLst>
                </a:gridCol>
                <a:gridCol w="2538648">
                  <a:extLst>
                    <a:ext uri="{9D8B030D-6E8A-4147-A177-3AD203B41FA5}">
                      <a16:colId xmlns:a16="http://schemas.microsoft.com/office/drawing/2014/main" val="3713314268"/>
                    </a:ext>
                  </a:extLst>
                </a:gridCol>
              </a:tblGrid>
              <a:tr h="194097">
                <a:tc>
                  <a:txBody>
                    <a:bodyPr/>
                    <a:lstStyle/>
                    <a:p>
                      <a:pPr rtl="0" fontAlgn="b"/>
                      <a:r>
                        <a:rPr lang="tr-TR" sz="1050" b="1">
                          <a:effectLst/>
                        </a:rPr>
                        <a:t>Özellik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1050" b="1">
                          <a:effectLst/>
                        </a:rPr>
                        <a:t>Multimodal Taşımacılık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1050" b="1">
                          <a:effectLst/>
                        </a:rPr>
                        <a:t>Intermodal Taşımacılık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1050" b="1">
                          <a:effectLst/>
                        </a:rPr>
                        <a:t>Kombine Taşımacılık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33040629"/>
                  </a:ext>
                </a:extLst>
              </a:tr>
              <a:tr h="757205">
                <a:tc>
                  <a:txBody>
                    <a:bodyPr/>
                    <a:lstStyle/>
                    <a:p>
                      <a:pPr rtl="0" fontAlgn="b"/>
                      <a:r>
                        <a:rPr lang="tr-TR" sz="900">
                          <a:effectLst/>
                        </a:rPr>
                        <a:t>Tanım</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Tek bir taşıma sözleşmesi ve tek bir taşıyıcı sorumluluğunda, farklı taşıma modlarının (karayolu, demiryolu, denizyolu, havayolu) birleştirilmesiyle gerçekleştirilen taşımacılık.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Farklı taşıma modlarında kullanılan standart taşıma birimleri (konteyner, palet) ile yükün bir taşıma modundan diğerine aktarılması.</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Birden fazla taşıma modunun kullanıldığı, ancak yükün bir kısmının bir taşıma modunda, diğer kısmının ise farklı bir taşıma modunda taşındığı taşımacılık.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39249885"/>
                  </a:ext>
                </a:extLst>
              </a:tr>
              <a:tr h="334874">
                <a:tc>
                  <a:txBody>
                    <a:bodyPr/>
                    <a:lstStyle/>
                    <a:p>
                      <a:pPr rtl="0" fontAlgn="b"/>
                      <a:r>
                        <a:rPr lang="tr-TR" sz="900">
                          <a:effectLst/>
                        </a:rPr>
                        <a:t>Taşıma Birimi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Standart veya özel taşıma birimleri (konteyner, palet, vb.)</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Standart taşıma birimleri (konteyner, palet)</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Standart veya özel taşıma birimleri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71102604"/>
                  </a:ext>
                </a:extLst>
              </a:tr>
              <a:tr h="334874">
                <a:tc>
                  <a:txBody>
                    <a:bodyPr/>
                    <a:lstStyle/>
                    <a:p>
                      <a:pPr rtl="0" fontAlgn="b"/>
                      <a:r>
                        <a:rPr lang="tr-TR" sz="900">
                          <a:effectLst/>
                        </a:rPr>
                        <a:t>Taşıyıcı Sorumluluğu</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Tek bir taşıyıcı tüm taşıma sürecinden sorumludur.</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Her taşıma modunda farklı taşıyıcılar sorumlu olabilir.</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Her taşıma modunda farklı taşıyıcılar sorumlu olabilir.</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96254062"/>
                  </a:ext>
                </a:extLst>
              </a:tr>
              <a:tr h="334874">
                <a:tc>
                  <a:txBody>
                    <a:bodyPr/>
                    <a:lstStyle/>
                    <a:p>
                      <a:pPr rtl="0" fontAlgn="b"/>
                      <a:r>
                        <a:rPr lang="tr-TR" sz="900">
                          <a:effectLst/>
                        </a:rPr>
                        <a:t>Taşıma Sözleşmesi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Tek bir taşıma sözleşmesi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Her taşıma modu için ayrı taşıma sözleşmeleri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Her taşıma modu için ayrı taşıma sözleşmeleri veya tek bir genel taşıma sözleşmesi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88314099"/>
                  </a:ext>
                </a:extLst>
              </a:tr>
              <a:tr h="475651">
                <a:tc>
                  <a:txBody>
                    <a:bodyPr/>
                    <a:lstStyle/>
                    <a:p>
                      <a:pPr rtl="0" fontAlgn="b"/>
                      <a:r>
                        <a:rPr lang="tr-TR" sz="900">
                          <a:effectLst/>
                        </a:rPr>
                        <a:t>Yük Aktarma</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Yük, farklı taşıma modlarına geçerken genellikle yeniden ambalajlanır veya farklı taşıma birimlerine aktarılır.</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Yük, taşıma birimi içinde kalarak farklı taşıma modlarına aktarılır.</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Yükün bir kısmı farklı taşıma modlarında taşındığı için kısmi yük aktarımı olabilir.</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08752998"/>
                  </a:ext>
                </a:extLst>
              </a:tr>
              <a:tr h="616428">
                <a:tc>
                  <a:txBody>
                    <a:bodyPr/>
                    <a:lstStyle/>
                    <a:p>
                      <a:pPr rtl="0" fontAlgn="b"/>
                      <a:r>
                        <a:rPr lang="tr-TR" sz="900">
                          <a:effectLst/>
                        </a:rPr>
                        <a:t>Örnek</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Bir ürünün Çin'den Türkiye'ye denizyolu ile taşınması, ardından karayolu ile iç bölgelere dağıtılması.</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Bir konteynerin trenle iç limana getirilmesi, oradan gemiye yüklenerek başka bir ülkeye gönderilmesi.</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tr-TR" sz="900">
                          <a:effectLst/>
                        </a:rPr>
                        <a:t>Bir TIR'ın bir kısmının trenle taşınması, diğer kısmının karayolu ile taşınması.</a:t>
                      </a:r>
                    </a:p>
                  </a:txBody>
                  <a:tcPr marL="14649" marR="14649" marT="9767" marB="9767"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92145831"/>
                  </a:ext>
                </a:extLst>
              </a:tr>
            </a:tbl>
          </a:graphicData>
        </a:graphic>
      </p:graphicFrame>
      <p:sp>
        <p:nvSpPr>
          <p:cNvPr id="5" name="Metin kutusu 4">
            <a:extLst>
              <a:ext uri="{FF2B5EF4-FFF2-40B4-BE49-F238E27FC236}">
                <a16:creationId xmlns:a16="http://schemas.microsoft.com/office/drawing/2014/main" id="{1001D228-94CC-E03B-FF65-5FB0F1F0F630}"/>
              </a:ext>
            </a:extLst>
          </p:cNvPr>
          <p:cNvSpPr txBox="1"/>
          <p:nvPr/>
        </p:nvSpPr>
        <p:spPr>
          <a:xfrm>
            <a:off x="1259632" y="764704"/>
            <a:ext cx="6624736" cy="1077218"/>
          </a:xfrm>
          <a:prstGeom prst="rect">
            <a:avLst/>
          </a:prstGeom>
          <a:noFill/>
        </p:spPr>
        <p:txBody>
          <a:bodyPr wrap="square" rtlCol="0">
            <a:spAutoFit/>
          </a:bodyPr>
          <a:lstStyle/>
          <a:p>
            <a:r>
              <a:rPr lang="tr-TR" sz="3200">
                <a:solidFill>
                  <a:schemeClr val="bg2"/>
                </a:solidFill>
              </a:rPr>
              <a:t>İNTERMODAL-MULTİMODAL VE KOMBİNE TAŞIMACILIK</a:t>
            </a:r>
          </a:p>
        </p:txBody>
      </p:sp>
    </p:spTree>
    <p:extLst>
      <p:ext uri="{BB962C8B-B14F-4D97-AF65-F5344CB8AC3E}">
        <p14:creationId xmlns:p14="http://schemas.microsoft.com/office/powerpoint/2010/main" val="2353774897"/>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2381" y="0"/>
            <a:ext cx="9141618" cy="2284214"/>
          </a:xfrm>
          <a:prstGeom prst="rect">
            <a:avLst/>
          </a:prstGeom>
        </p:spPr>
      </p:pic>
      <p:sp>
        <p:nvSpPr>
          <p:cNvPr id="4" name="Dikdörtgen 3"/>
          <p:cNvSpPr/>
          <p:nvPr/>
        </p:nvSpPr>
        <p:spPr>
          <a:xfrm>
            <a:off x="771525" y="653142"/>
            <a:ext cx="7598568" cy="121920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2900" b="1" i="1" cap="all">
                <a:ln w="3175" cmpd="sng">
                  <a:noFill/>
                </a:ln>
                <a:solidFill>
                  <a:srgbClr val="FFFFFF"/>
                </a:solidFill>
                <a:latin typeface="+mj-lt"/>
                <a:ea typeface="+mj-ea"/>
                <a:cs typeface="+mj-cs"/>
              </a:rPr>
              <a:t>Lojistik akışın gerçekleştiği yön itibarı ile lojistik yine dört ana gruba ayrılabilir:</a:t>
            </a:r>
          </a:p>
        </p:txBody>
      </p:sp>
      <p:graphicFrame>
        <p:nvGraphicFramePr>
          <p:cNvPr id="11" name="Metin kutusu 6">
            <a:extLst>
              <a:ext uri="{FF2B5EF4-FFF2-40B4-BE49-F238E27FC236}">
                <a16:creationId xmlns:a16="http://schemas.microsoft.com/office/drawing/2014/main" id="{EC6B7C7A-D7B6-280B-7C7D-E1330B9DC425}"/>
              </a:ext>
            </a:extLst>
          </p:cNvPr>
          <p:cNvGraphicFramePr/>
          <p:nvPr>
            <p:extLst>
              <p:ext uri="{D42A27DB-BD31-4B8C-83A1-F6EECF244321}">
                <p14:modId xmlns:p14="http://schemas.microsoft.com/office/powerpoint/2010/main" val="3714520118"/>
              </p:ext>
            </p:extLst>
          </p:nvPr>
        </p:nvGraphicFramePr>
        <p:xfrm>
          <a:off x="771525" y="2743200"/>
          <a:ext cx="7598568" cy="304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34694177"/>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b="1" i="1" cap="all">
                <a:ln w="3175" cmpd="sng">
                  <a:noFill/>
                </a:ln>
                <a:latin typeface="+mj-lt"/>
                <a:ea typeface="+mj-ea"/>
                <a:cs typeface="+mj-cs"/>
              </a:rPr>
              <a:t>Üretim(Tedarik ) Lojistiği</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lnSpcReduction="10000"/>
          </a:bodyPr>
          <a:lstStyle/>
          <a:p>
            <a:pPr>
              <a:spcAft>
                <a:spcPts val="1000"/>
              </a:spcAft>
              <a:buClr>
                <a:schemeClr val="tx1"/>
              </a:buClr>
              <a:buSzPct val="100000"/>
              <a:buFont typeface="Arial"/>
              <a:buChar char="•"/>
            </a:pPr>
            <a:r>
              <a:rPr lang="en-US">
                <a:solidFill>
                  <a:schemeClr val="bg1"/>
                </a:solidFill>
              </a:rPr>
              <a:t>.</a:t>
            </a:r>
            <a:endParaRPr lang="tr-TR">
              <a:solidFill>
                <a:schemeClr val="bg1"/>
              </a:solidFill>
            </a:endParaRPr>
          </a:p>
          <a:p>
            <a:r>
              <a:rPr lang="tr-TR" b="1">
                <a:solidFill>
                  <a:schemeClr val="bg2"/>
                </a:solidFill>
              </a:rPr>
              <a:t>Üretim Lojistiği</a:t>
            </a:r>
          </a:p>
          <a:p>
            <a:pPr>
              <a:buFont typeface="Arial" panose="020B0604020202020204" pitchFamily="34" charset="0"/>
              <a:buChar char="•"/>
            </a:pPr>
            <a:r>
              <a:rPr lang="tr-TR" b="1">
                <a:solidFill>
                  <a:schemeClr val="bg2"/>
                </a:solidFill>
              </a:rPr>
              <a:t>Tanım:</a:t>
            </a:r>
            <a:r>
              <a:rPr lang="tr-TR">
                <a:solidFill>
                  <a:schemeClr val="bg2"/>
                </a:solidFill>
              </a:rPr>
              <a:t> Üretim sürecindeki mal ve hizmet akışlarının planlanması, yönetimi ve kontrolüdür.</a:t>
            </a:r>
          </a:p>
          <a:p>
            <a:pPr>
              <a:buFont typeface="Arial" panose="020B0604020202020204" pitchFamily="34" charset="0"/>
              <a:buChar char="•"/>
            </a:pPr>
            <a:r>
              <a:rPr lang="tr-TR" b="1">
                <a:solidFill>
                  <a:schemeClr val="bg2"/>
                </a:solidFill>
              </a:rPr>
              <a:t>Kapsam:</a:t>
            </a:r>
            <a:r>
              <a:rPr lang="tr-TR">
                <a:solidFill>
                  <a:schemeClr val="bg2"/>
                </a:solidFill>
              </a:rPr>
              <a:t> Hammadde temini, üretim sürecindeki malzeme akışı, yarı mamul ürünlerin depolanması ve üretim hattına transferi gibi faaliyetleri içerir.</a:t>
            </a:r>
          </a:p>
          <a:p>
            <a:pPr>
              <a:buFont typeface="Arial" panose="020B0604020202020204" pitchFamily="34" charset="0"/>
              <a:buChar char="•"/>
            </a:pPr>
            <a:r>
              <a:rPr lang="tr-TR" b="1">
                <a:solidFill>
                  <a:schemeClr val="bg2"/>
                </a:solidFill>
              </a:rPr>
              <a:t>Amaç:</a:t>
            </a:r>
            <a:r>
              <a:rPr lang="tr-TR">
                <a:solidFill>
                  <a:schemeClr val="bg2"/>
                </a:solidFill>
              </a:rPr>
              <a:t> Üretim süreçlerinin verimliliğini artırmak, maliyetleri düşürmek ve ürün kalitesini yükseltmektir.</a:t>
            </a:r>
          </a:p>
          <a:p>
            <a:pPr>
              <a:spcAft>
                <a:spcPts val="1000"/>
              </a:spcAft>
              <a:buClr>
                <a:schemeClr val="tx1"/>
              </a:buClr>
              <a:buSzPct val="100000"/>
              <a:buFont typeface="Arial"/>
              <a:buChar char="•"/>
            </a:pPr>
            <a:endParaRPr lang="en-US">
              <a:solidFill>
                <a:schemeClr val="bg1"/>
              </a:solidFill>
            </a:endParaRPr>
          </a:p>
        </p:txBody>
      </p:sp>
    </p:spTree>
    <p:extLst>
      <p:ext uri="{BB962C8B-B14F-4D97-AF65-F5344CB8AC3E}">
        <p14:creationId xmlns:p14="http://schemas.microsoft.com/office/powerpoint/2010/main" val="3219226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b="1" i="1" cap="all">
                <a:ln w="3175" cmpd="sng">
                  <a:noFill/>
                </a:ln>
                <a:latin typeface="+mj-lt"/>
                <a:ea typeface="+mj-ea"/>
                <a:cs typeface="+mj-cs"/>
              </a:rPr>
              <a:t>Dağıtım Lojistiği</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b="1">
                <a:solidFill>
                  <a:schemeClr val="bg1"/>
                </a:solidFill>
              </a:rPr>
              <a:t>Tanım</a:t>
            </a:r>
            <a:r>
              <a:rPr lang="en-US">
                <a:solidFill>
                  <a:schemeClr val="bg1"/>
                </a:solidFill>
              </a:rPr>
              <a:t>: Bir ürünün üretimi için gerekli olan ham madde ve malzemelerin tedarik edilmesi, depolanması ve üretim yerine taşınması ile ilgili faaliyetlerdir.</a:t>
            </a:r>
            <a:endParaRPr lang="tr-TR">
              <a:solidFill>
                <a:schemeClr val="bg1"/>
              </a:solidFill>
            </a:endParaRPr>
          </a:p>
          <a:p>
            <a:pPr>
              <a:spcAft>
                <a:spcPts val="1000"/>
              </a:spcAft>
              <a:buClr>
                <a:schemeClr val="tx1"/>
              </a:buClr>
              <a:buSzPct val="100000"/>
              <a:buFont typeface="Arial"/>
              <a:buChar char="•"/>
            </a:pPr>
            <a:r>
              <a:rPr lang="en-US" b="1">
                <a:solidFill>
                  <a:schemeClr val="bg1"/>
                </a:solidFill>
              </a:rPr>
              <a:t>Kapsam</a:t>
            </a:r>
            <a:r>
              <a:rPr lang="en-US">
                <a:solidFill>
                  <a:schemeClr val="bg1"/>
                </a:solidFill>
              </a:rPr>
              <a:t>: Tedarikçilerle ilişkilerin yönetimi, satın alma süreçleri, taşıma ve depolama faaliyetleri gibi işlemleri içerir.</a:t>
            </a:r>
            <a:endParaRPr lang="tr-TR">
              <a:solidFill>
                <a:schemeClr val="bg1"/>
              </a:solidFill>
            </a:endParaRPr>
          </a:p>
          <a:p>
            <a:pPr>
              <a:spcAft>
                <a:spcPts val="1000"/>
              </a:spcAft>
              <a:buClr>
                <a:schemeClr val="tx1"/>
              </a:buClr>
              <a:buSzPct val="100000"/>
              <a:buFont typeface="Arial"/>
              <a:buChar char="•"/>
            </a:pPr>
            <a:r>
              <a:rPr lang="en-US" b="1">
                <a:solidFill>
                  <a:schemeClr val="bg1"/>
                </a:solidFill>
              </a:rPr>
              <a:t>Amaç</a:t>
            </a:r>
            <a:r>
              <a:rPr lang="en-US">
                <a:solidFill>
                  <a:schemeClr val="bg1"/>
                </a:solidFill>
              </a:rPr>
              <a:t>: Üretimi kesintisiz hale getirmek, maliyetleri düşürmek ve tedarik zincirinin verimliliğini artırmaktır..</a:t>
            </a:r>
          </a:p>
        </p:txBody>
      </p:sp>
    </p:spTree>
    <p:extLst>
      <p:ext uri="{BB962C8B-B14F-4D97-AF65-F5344CB8AC3E}">
        <p14:creationId xmlns:p14="http://schemas.microsoft.com/office/powerpoint/2010/main" val="1706320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b="1" i="1" cap="all">
                <a:ln w="3175" cmpd="sng">
                  <a:noFill/>
                </a:ln>
                <a:latin typeface="+mj-lt"/>
                <a:ea typeface="+mj-ea"/>
                <a:cs typeface="+mj-cs"/>
              </a:rPr>
              <a:t>Tersine Lojistik</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a:solidFill>
                  <a:schemeClr val="bg1"/>
                </a:solidFill>
              </a:rPr>
              <a:t>Tanım: Kullanılmış veya hatalı ürünlerin geri toplanması, geri dönüştürülmesi veya imha edilmesi ile ilgili faaliyetlerdir.</a:t>
            </a:r>
            <a:endParaRPr lang="tr-TR">
              <a:solidFill>
                <a:schemeClr val="bg1"/>
              </a:solidFill>
            </a:endParaRPr>
          </a:p>
          <a:p>
            <a:pPr>
              <a:spcAft>
                <a:spcPts val="1000"/>
              </a:spcAft>
              <a:buClr>
                <a:schemeClr val="tx1"/>
              </a:buClr>
              <a:buSzPct val="100000"/>
              <a:buFont typeface="Arial"/>
              <a:buChar char="•"/>
            </a:pPr>
            <a:r>
              <a:rPr lang="en-US">
                <a:solidFill>
                  <a:schemeClr val="bg1"/>
                </a:solidFill>
              </a:rPr>
              <a:t>Kapsam: Ürünlerin geri toplanması, geri dönüşüm tesislerine taşınması, ayrıştırılması ve yeniden kullanılabilir hale getirilmesi gibi işlemleri içerir.</a:t>
            </a:r>
            <a:endParaRPr lang="tr-TR">
              <a:solidFill>
                <a:schemeClr val="bg1"/>
              </a:solidFill>
            </a:endParaRPr>
          </a:p>
          <a:p>
            <a:pPr>
              <a:spcAft>
                <a:spcPts val="1000"/>
              </a:spcAft>
              <a:buClr>
                <a:schemeClr val="tx1"/>
              </a:buClr>
              <a:buSzPct val="100000"/>
              <a:buFont typeface="Arial"/>
              <a:buChar char="•"/>
            </a:pPr>
            <a:r>
              <a:rPr lang="en-US">
                <a:solidFill>
                  <a:schemeClr val="bg1"/>
                </a:solidFill>
              </a:rPr>
              <a:t>Amaç: Çevresel duyarlılığı artırmak, maliyetleri düşürmek ve sürdürülebilirlik hedeflerine ulaşmaktır.</a:t>
            </a:r>
          </a:p>
        </p:txBody>
      </p:sp>
    </p:spTree>
    <p:extLst>
      <p:ext uri="{BB962C8B-B14F-4D97-AF65-F5344CB8AC3E}">
        <p14:creationId xmlns:p14="http://schemas.microsoft.com/office/powerpoint/2010/main" val="995786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b="1" i="1" cap="all">
                <a:ln w="3175" cmpd="sng">
                  <a:noFill/>
                </a:ln>
                <a:latin typeface="+mj-lt"/>
                <a:ea typeface="+mj-ea"/>
                <a:cs typeface="+mj-cs"/>
              </a:rPr>
              <a:t>Ürün Ömür Çevrimi Bazlı Lojistik</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lnSpcReduction="10000"/>
          </a:bodyPr>
          <a:lstStyle/>
          <a:p>
            <a:pPr>
              <a:spcAft>
                <a:spcPts val="1000"/>
              </a:spcAft>
              <a:buClr>
                <a:schemeClr val="tx1"/>
              </a:buClr>
              <a:buSzPct val="100000"/>
              <a:buFont typeface="Arial"/>
              <a:buChar char="•"/>
            </a:pPr>
            <a:r>
              <a:rPr lang="en-US">
                <a:solidFill>
                  <a:schemeClr val="bg1"/>
                </a:solidFill>
              </a:rPr>
              <a:t>Kullanım ömrü uzun olan ve bu sürede nakliye, montaj, yedek parçaların stoklanması, bakım ve imhası gereken ürünlere bu desteklerin verilmesi esasına dayanan lojistik sistemidir .</a:t>
            </a:r>
            <a:endParaRPr lang="tr-TR">
              <a:solidFill>
                <a:schemeClr val="bg1"/>
              </a:solidFill>
            </a:endParaRPr>
          </a:p>
          <a:p>
            <a:pPr>
              <a:spcAft>
                <a:spcPts val="1000"/>
              </a:spcAft>
              <a:buClr>
                <a:schemeClr val="tx1"/>
              </a:buClr>
              <a:buSzPct val="100000"/>
              <a:buFont typeface="Arial"/>
              <a:buChar char="•"/>
            </a:pPr>
            <a:r>
              <a:rPr lang="en-US">
                <a:solidFill>
                  <a:schemeClr val="bg1"/>
                </a:solidFill>
              </a:rPr>
              <a:t>Ürün Ömür Çevrimi Bazlı Lojistik, bir ürünün tasarımından, üretimine, dağıtımına, kullanılmasına ve bertaraf edilmesine kadar geçen tüm yaşam döngüsü boyunca lojistik faaliyetlerin planlanması ve yönetilmesidir. Bu yaklaşım, lojistiği sadece fiziksel bir hareket olarak değil, aynı zamanda ürünün yaşam döngüsünün tüm aşamalarında değer yaratma süreci olarak görür.</a:t>
            </a:r>
          </a:p>
        </p:txBody>
      </p:sp>
    </p:spTree>
    <p:extLst>
      <p:ext uri="{BB962C8B-B14F-4D97-AF65-F5344CB8AC3E}">
        <p14:creationId xmlns:p14="http://schemas.microsoft.com/office/powerpoint/2010/main" val="31002525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b="1" i="1" cap="all">
                <a:ln w="3175" cmpd="sng">
                  <a:noFill/>
                </a:ln>
                <a:latin typeface="+mj-lt"/>
                <a:ea typeface="+mj-ea"/>
                <a:cs typeface="+mj-cs"/>
              </a:rPr>
              <a:t>Ürün Ömür Çevrimi Bazlı Lojistik</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fontScale="92500" lnSpcReduction="20000"/>
          </a:bodyPr>
          <a:lstStyle/>
          <a:p>
            <a:pPr>
              <a:spcAft>
                <a:spcPts val="1000"/>
              </a:spcAft>
              <a:buClr>
                <a:schemeClr val="tx1"/>
              </a:buClr>
              <a:buSzPct val="100000"/>
              <a:buFont typeface="Arial"/>
              <a:buChar char="•"/>
            </a:pPr>
            <a:r>
              <a:rPr lang="en-US">
                <a:solidFill>
                  <a:schemeClr val="bg1"/>
                </a:solidFill>
              </a:rPr>
              <a:t>Neden Önemlidir?</a:t>
            </a:r>
            <a:endParaRPr lang="tr-TR">
              <a:solidFill>
                <a:schemeClr val="bg1"/>
              </a:solidFill>
            </a:endParaRPr>
          </a:p>
          <a:p>
            <a:pPr>
              <a:spcAft>
                <a:spcPts val="1000"/>
              </a:spcAft>
              <a:buClr>
                <a:schemeClr val="tx1"/>
              </a:buClr>
              <a:buSzPct val="100000"/>
              <a:buFont typeface="Arial"/>
              <a:buChar char="•"/>
            </a:pPr>
            <a:r>
              <a:rPr lang="en-US">
                <a:solidFill>
                  <a:schemeClr val="bg1"/>
                </a:solidFill>
              </a:rPr>
              <a:t>Sürdürülebilirlik: Ürünlerin geri dönüşümü, yeniden kullanımı ve imhası gibi konulara odaklanarak çevresel etkileri azaltır.</a:t>
            </a:r>
            <a:endParaRPr lang="tr-TR">
              <a:solidFill>
                <a:schemeClr val="bg1"/>
              </a:solidFill>
            </a:endParaRPr>
          </a:p>
          <a:p>
            <a:pPr>
              <a:spcAft>
                <a:spcPts val="1000"/>
              </a:spcAft>
              <a:buClr>
                <a:schemeClr val="tx1"/>
              </a:buClr>
              <a:buSzPct val="100000"/>
              <a:buFont typeface="Arial"/>
              <a:buChar char="•"/>
            </a:pPr>
            <a:r>
              <a:rPr lang="en-US">
                <a:solidFill>
                  <a:schemeClr val="bg1"/>
                </a:solidFill>
              </a:rPr>
              <a:t>Maliyet Optimizasyonu: Lojistik maliyetlerini düşürmek için daha etkili stratejiler geliştirilmesini sağlar.</a:t>
            </a:r>
            <a:endParaRPr lang="tr-TR">
              <a:solidFill>
                <a:schemeClr val="bg1"/>
              </a:solidFill>
            </a:endParaRPr>
          </a:p>
          <a:p>
            <a:pPr>
              <a:spcAft>
                <a:spcPts val="1000"/>
              </a:spcAft>
              <a:buClr>
                <a:schemeClr val="tx1"/>
              </a:buClr>
              <a:buSzPct val="100000"/>
              <a:buFont typeface="Arial"/>
              <a:buChar char="•"/>
            </a:pPr>
            <a:r>
              <a:rPr lang="en-US">
                <a:solidFill>
                  <a:schemeClr val="bg1"/>
                </a:solidFill>
              </a:rPr>
              <a:t>Müşteri Memnuniyeti: Ürünlerin doğru zamanda ve doğru yerde olması, müşteri memnuniyetini artırır.</a:t>
            </a:r>
            <a:endParaRPr lang="tr-TR">
              <a:solidFill>
                <a:schemeClr val="bg1"/>
              </a:solidFill>
            </a:endParaRPr>
          </a:p>
          <a:p>
            <a:pPr>
              <a:spcAft>
                <a:spcPts val="1000"/>
              </a:spcAft>
              <a:buClr>
                <a:schemeClr val="tx1"/>
              </a:buClr>
              <a:buSzPct val="100000"/>
              <a:buFont typeface="Arial"/>
              <a:buChar char="•"/>
            </a:pPr>
            <a:r>
              <a:rPr lang="en-US">
                <a:solidFill>
                  <a:schemeClr val="bg1"/>
                </a:solidFill>
              </a:rPr>
              <a:t>Rekabet Avantajı: Lojistik süreçlerin optimize edilmesi, işletmelere rekabet avantajı sağlar.</a:t>
            </a:r>
            <a:endParaRPr lang="tr-TR">
              <a:solidFill>
                <a:schemeClr val="bg1"/>
              </a:solidFill>
            </a:endParaRPr>
          </a:p>
        </p:txBody>
      </p:sp>
    </p:spTree>
    <p:extLst>
      <p:ext uri="{BB962C8B-B14F-4D97-AF65-F5344CB8AC3E}">
        <p14:creationId xmlns:p14="http://schemas.microsoft.com/office/powerpoint/2010/main" val="1641363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fontScale="92500" lnSpcReduction="10000"/>
          </a:bodyPr>
          <a:lstStyle/>
          <a:p>
            <a:pPr algn="ctr">
              <a:spcBef>
                <a:spcPct val="0"/>
              </a:spcBef>
              <a:spcAft>
                <a:spcPts val="600"/>
              </a:spcAft>
            </a:pPr>
            <a:r>
              <a:rPr lang="tr-TR" sz="2800"/>
              <a:t>Ürün Ömür Çevrimi Bazlı Lojistik'in Lojistik Akış Yönlerine Katkısı</a:t>
            </a:r>
            <a:endParaRPr lang="en-US" sz="2800" b="1" i="1" cap="all">
              <a:ln w="3175" cmpd="sng">
                <a:noFill/>
              </a:ln>
              <a:latin typeface="+mj-lt"/>
              <a:ea typeface="+mj-ea"/>
              <a:cs typeface="+mj-cs"/>
            </a:endParaRP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fontScale="92500" lnSpcReduction="10000"/>
          </a:bodyPr>
          <a:lstStyle/>
          <a:p>
            <a:pPr>
              <a:spcAft>
                <a:spcPts val="1000"/>
              </a:spcAft>
              <a:buClr>
                <a:schemeClr val="tx1"/>
              </a:buClr>
              <a:buSzPct val="100000"/>
              <a:buFont typeface="Arial"/>
              <a:buChar char="•"/>
            </a:pPr>
            <a:r>
              <a:rPr lang="en-US">
                <a:solidFill>
                  <a:schemeClr val="bg1"/>
                </a:solidFill>
              </a:rPr>
              <a:t>Tedarik Lojistiği: Hammadde seçimi, tedarikçilerle yapılan anlaşmalar ve üretim süreçlerine entegrasyon gibi konularda sürdürülebilirlik ilkelerini göz önünde bulundurur.</a:t>
            </a:r>
            <a:endParaRPr lang="tr-TR">
              <a:solidFill>
                <a:schemeClr val="bg1"/>
              </a:solidFill>
            </a:endParaRPr>
          </a:p>
          <a:p>
            <a:pPr>
              <a:spcAft>
                <a:spcPts val="1000"/>
              </a:spcAft>
              <a:buClr>
                <a:schemeClr val="tx1"/>
              </a:buClr>
              <a:buSzPct val="100000"/>
              <a:buFont typeface="Arial"/>
              <a:buChar char="•"/>
            </a:pPr>
            <a:r>
              <a:rPr lang="en-US">
                <a:solidFill>
                  <a:schemeClr val="bg1"/>
                </a:solidFill>
              </a:rPr>
              <a:t>Üretim Lojistiği: Üretim süreçlerinin çevre dostu olması ve atık miktarının azaltılması için çalışmalar yapar.</a:t>
            </a:r>
            <a:endParaRPr lang="tr-TR">
              <a:solidFill>
                <a:schemeClr val="bg1"/>
              </a:solidFill>
            </a:endParaRPr>
          </a:p>
          <a:p>
            <a:pPr>
              <a:spcAft>
                <a:spcPts val="1000"/>
              </a:spcAft>
              <a:buClr>
                <a:schemeClr val="tx1"/>
              </a:buClr>
              <a:buSzPct val="100000"/>
              <a:buFont typeface="Arial"/>
              <a:buChar char="•"/>
            </a:pPr>
            <a:r>
              <a:rPr lang="en-US">
                <a:solidFill>
                  <a:schemeClr val="bg1"/>
                </a:solidFill>
              </a:rPr>
              <a:t>Dağıtım Lojistiği: Ürünlerin geri dönüşümüne uygun ambalajlama ve geri toplama sistemleri geliştirir.</a:t>
            </a:r>
            <a:endParaRPr lang="tr-TR">
              <a:solidFill>
                <a:schemeClr val="bg1"/>
              </a:solidFill>
            </a:endParaRPr>
          </a:p>
          <a:p>
            <a:pPr>
              <a:spcAft>
                <a:spcPts val="1000"/>
              </a:spcAft>
              <a:buClr>
                <a:schemeClr val="tx1"/>
              </a:buClr>
              <a:buSzPct val="100000"/>
              <a:buFont typeface="Arial"/>
              <a:buChar char="•"/>
            </a:pPr>
            <a:r>
              <a:rPr lang="en-US">
                <a:solidFill>
                  <a:schemeClr val="bg1"/>
                </a:solidFill>
              </a:rPr>
              <a:t>Geri Dönüşüm Lojistiği: Ürünlerin geri dönüşüm süreçlerini optimize eder ve geri kazanılan malzemelerin tekrar üretimde kullanılmasını sağlar.</a:t>
            </a:r>
          </a:p>
        </p:txBody>
      </p:sp>
    </p:spTree>
    <p:extLst>
      <p:ext uri="{BB962C8B-B14F-4D97-AF65-F5344CB8AC3E}">
        <p14:creationId xmlns:p14="http://schemas.microsoft.com/office/powerpoint/2010/main" val="3145939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590618"/>
            <a:ext cx="5911875" cy="769441"/>
          </a:xfrm>
          <a:prstGeom prst="rect">
            <a:avLst/>
          </a:prstGeom>
          <a:noFill/>
        </p:spPr>
        <p:txBody>
          <a:bodyPr wrap="none" rtlCol="0">
            <a:spAutoFit/>
          </a:bodyPr>
          <a:lstStyle/>
          <a:p>
            <a:r>
              <a:rPr lang="tr-TR" sz="4400" dirty="0">
                <a:solidFill>
                  <a:srgbClr val="00B0F0"/>
                </a:solidFill>
              </a:rPr>
              <a:t>Lojistiğin Tarihsel Süreci</a:t>
            </a:r>
          </a:p>
        </p:txBody>
      </p:sp>
      <p:sp>
        <p:nvSpPr>
          <p:cNvPr id="5" name="Metin kutusu 4"/>
          <p:cNvSpPr txBox="1"/>
          <p:nvPr/>
        </p:nvSpPr>
        <p:spPr>
          <a:xfrm>
            <a:off x="296839" y="1652223"/>
            <a:ext cx="7994177" cy="4524315"/>
          </a:xfrm>
          <a:prstGeom prst="rect">
            <a:avLst/>
          </a:prstGeom>
          <a:noFill/>
        </p:spPr>
        <p:txBody>
          <a:bodyPr wrap="square" rtlCol="0">
            <a:spAutoFit/>
          </a:bodyPr>
          <a:lstStyle/>
          <a:p>
            <a:pPr algn="just"/>
            <a:r>
              <a:rPr lang="tr-TR" dirty="0"/>
              <a:t>Lojistik esas olarak askeri bir terimdir, bunda dolayı da ilk uygulamalar askeri alanlar ve harp sahaları olmuştur. Fakat esas önemi II.Dünya savaşı sırasında anlaşılmış ve sonrasında lojistiğe bilimsel bir konu gözüyle bakılmaya ve uygulanmaya başlanmıştır.</a:t>
            </a:r>
          </a:p>
          <a:p>
            <a:endParaRPr lang="tr-TR" dirty="0"/>
          </a:p>
          <a:p>
            <a:pPr algn="just"/>
            <a:r>
              <a:rPr lang="tr-TR" dirty="0"/>
              <a:t>II. Dünya savası sırasında görülen gerçeklerden birisi de, kalabalık ordulara sahip olmanın zafer kazanmak için yeterli olmayacağıdır. Orduların gelişmiş silah, araç ve donanımla teçhiz edilmesi sayısal fazlalıktan daha önemlidir. Pek tabii ki; bu ürünlere sahip olmak da yeterli olmamakta bunların uzman personel tarafından kullanılıp, sürekli faal tutulması da o derece önem arz etmektedir. İşte bütün bunlar lojistik desteğin hayati bir unsur olduğu gerçeğini ortaya çıkarmıştır. Yani kusursuz bir lojistik destek sağlamadan, herhangi bir harekattan başarı beklemenin hayal olduğunu söyleyebiliriz.”</a:t>
            </a:r>
            <a:br>
              <a:rPr lang="tr-TR" dirty="0"/>
            </a:br>
            <a:r>
              <a:rPr lang="tr-TR" dirty="0"/>
              <a:t>II. Dünya savaşı sonrası ABD’ de bir çok işletme lojistiğin önemini fark etti ve 1960 yılından günümüze kadar süren gelişim evresi içerisinde lojistik hizmetlerinden faydalanmaya başladılar.</a:t>
            </a:r>
          </a:p>
        </p:txBody>
      </p:sp>
    </p:spTree>
    <p:extLst>
      <p:ext uri="{BB962C8B-B14F-4D97-AF65-F5344CB8AC3E}">
        <p14:creationId xmlns:p14="http://schemas.microsoft.com/office/powerpoint/2010/main" val="2026261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112594" y="736980"/>
            <a:ext cx="8772723" cy="1938992"/>
          </a:xfrm>
          <a:prstGeom prst="rect">
            <a:avLst/>
          </a:prstGeom>
          <a:noFill/>
        </p:spPr>
        <p:txBody>
          <a:bodyPr wrap="none" rtlCol="0">
            <a:spAutoFit/>
          </a:bodyPr>
          <a:lstStyle/>
          <a:p>
            <a:r>
              <a:rPr lang="tr-TR" sz="2000" b="1" dirty="0">
                <a:solidFill>
                  <a:srgbClr val="00B0F0"/>
                </a:solidFill>
              </a:rPr>
              <a:t>Dünyada lojistiğin gelişimini tarihteki aşamalarını şöyle sıralayabiliriz:</a:t>
            </a:r>
            <a:br>
              <a:rPr lang="tr-TR" sz="2000" dirty="0">
                <a:solidFill>
                  <a:srgbClr val="00B0F0"/>
                </a:solidFill>
              </a:rPr>
            </a:br>
            <a:endParaRPr lang="tr-TR" sz="2000" dirty="0">
              <a:solidFill>
                <a:srgbClr val="00B0F0"/>
              </a:solidFill>
            </a:endParaRPr>
          </a:p>
          <a:p>
            <a:r>
              <a:rPr lang="tr-TR" sz="2000" b="1" dirty="0"/>
              <a:t>1940-1960 yılları arası : Lojistik aşamasını kurma</a:t>
            </a:r>
          </a:p>
          <a:p>
            <a:r>
              <a:rPr lang="tr-TR" sz="2000" b="1" dirty="0"/>
              <a:t>1960-1970 yılları arası : Lojistik fikrinin yerleşmesi ve itibar kazanması</a:t>
            </a:r>
          </a:p>
          <a:p>
            <a:r>
              <a:rPr lang="tr-TR" sz="2000" b="1" dirty="0"/>
              <a:t>1970-1980 yılları arası : Önceliklerin ve modellerin değişme çağı</a:t>
            </a:r>
          </a:p>
          <a:p>
            <a:r>
              <a:rPr lang="tr-TR" sz="2000" b="1" dirty="0"/>
              <a:t>1980- günümüze kadar : Ekonomik ve teknik değişimin yeni çağı</a:t>
            </a:r>
          </a:p>
        </p:txBody>
      </p:sp>
      <p:sp>
        <p:nvSpPr>
          <p:cNvPr id="5" name="Metin kutusu 4"/>
          <p:cNvSpPr txBox="1"/>
          <p:nvPr/>
        </p:nvSpPr>
        <p:spPr>
          <a:xfrm>
            <a:off x="112594" y="3441511"/>
            <a:ext cx="7939609" cy="2154436"/>
          </a:xfrm>
          <a:prstGeom prst="rect">
            <a:avLst/>
          </a:prstGeom>
          <a:noFill/>
        </p:spPr>
        <p:txBody>
          <a:bodyPr wrap="none" rtlCol="0">
            <a:spAutoFit/>
          </a:bodyPr>
          <a:lstStyle/>
          <a:p>
            <a:r>
              <a:rPr lang="tr-TR" sz="2800" b="1" dirty="0">
                <a:solidFill>
                  <a:srgbClr val="00B0F0"/>
                </a:solidFill>
              </a:rPr>
              <a:t>Lojistiğin gelişimi temelde üç aşamada toplanabilir;</a:t>
            </a:r>
            <a:br>
              <a:rPr lang="tr-TR" sz="2800" dirty="0">
                <a:solidFill>
                  <a:srgbClr val="00B0F0"/>
                </a:solidFill>
              </a:rPr>
            </a:br>
            <a:endParaRPr lang="tr-TR" sz="2800" dirty="0">
              <a:solidFill>
                <a:srgbClr val="00B0F0"/>
              </a:solidFill>
            </a:endParaRPr>
          </a:p>
          <a:p>
            <a:r>
              <a:rPr lang="tr-TR" sz="2600" b="1" dirty="0"/>
              <a:t>Parçalanma(1960-1980)</a:t>
            </a:r>
          </a:p>
          <a:p>
            <a:r>
              <a:rPr lang="tr-TR" sz="2600" b="1" dirty="0"/>
              <a:t>Birleşme(1980-2000)</a:t>
            </a:r>
          </a:p>
          <a:p>
            <a:r>
              <a:rPr lang="tr-TR" sz="2600" b="1" dirty="0"/>
              <a:t>Toplama Bütünleştirme(2000-Günümüze)</a:t>
            </a:r>
          </a:p>
        </p:txBody>
      </p:sp>
    </p:spTree>
    <p:extLst>
      <p:ext uri="{BB962C8B-B14F-4D97-AF65-F5344CB8AC3E}">
        <p14:creationId xmlns:p14="http://schemas.microsoft.com/office/powerpoint/2010/main" val="40504479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D94887-6A10-4F62-8EE1-B2BCFA1F3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1786"/>
            <a:ext cx="9141618"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3D512BA-228A-4979-9312-ACD246E109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mt="39000"/>
            <a:extLst>
              <a:ext uri="{28A0092B-C50C-407E-A947-70E740481C1C}">
                <a14:useLocalDpi xmlns:a14="http://schemas.microsoft.com/office/drawing/2010/main"/>
              </a:ext>
            </a:extLst>
          </a:blip>
          <a:stretch>
            <a:fillRect/>
          </a:stretch>
        </p:blipFill>
        <p:spPr>
          <a:xfrm>
            <a:off x="0" y="0"/>
            <a:ext cx="9141618" cy="6856214"/>
          </a:xfrm>
          <a:prstGeom prst="rect">
            <a:avLst/>
          </a:prstGeom>
        </p:spPr>
      </p:pic>
      <p:sp>
        <p:nvSpPr>
          <p:cNvPr id="2" name="Metin kutusu 1"/>
          <p:cNvSpPr txBox="1"/>
          <p:nvPr/>
        </p:nvSpPr>
        <p:spPr>
          <a:xfrm>
            <a:off x="514350" y="609600"/>
            <a:ext cx="7598569" cy="1456267"/>
          </a:xfrm>
          <a:prstGeom prst="rect">
            <a:avLst/>
          </a:prstGeom>
        </p:spPr>
        <p:txBody>
          <a:bodyPr vert="horz" lIns="91440" tIns="45720" rIns="91440" bIns="45720" rtlCol="0" anchor="ctr">
            <a:normAutofit/>
          </a:bodyPr>
          <a:lstStyle/>
          <a:p>
            <a:pPr>
              <a:spcBef>
                <a:spcPct val="0"/>
              </a:spcBef>
              <a:spcAft>
                <a:spcPts val="600"/>
              </a:spcAft>
            </a:pPr>
            <a:r>
              <a:rPr lang="en-US" sz="3600" b="1" i="1" cap="all">
                <a:ln w="3175" cmpd="sng">
                  <a:noFill/>
                </a:ln>
                <a:latin typeface="+mj-lt"/>
                <a:ea typeface="+mj-ea"/>
                <a:cs typeface="+mj-cs"/>
              </a:rPr>
              <a:t>Parçalanma(1960-1980)</a:t>
            </a:r>
          </a:p>
        </p:txBody>
      </p:sp>
      <p:sp>
        <p:nvSpPr>
          <p:cNvPr id="3" name="Metin kutusu 2"/>
          <p:cNvSpPr txBox="1"/>
          <p:nvPr/>
        </p:nvSpPr>
        <p:spPr>
          <a:xfrm>
            <a:off x="514350" y="2142067"/>
            <a:ext cx="7598569" cy="3649133"/>
          </a:xfrm>
          <a:prstGeom prst="rect">
            <a:avLst/>
          </a:prstGeom>
        </p:spPr>
        <p:txBody>
          <a:bodyPr vert="horz" lIns="91440" tIns="45720" rIns="91440" bIns="45720" rtlCol="0" anchor="ctr">
            <a:normAutofit fontScale="92500" lnSpcReduction="20000"/>
          </a:bodyPr>
          <a:lstStyle/>
          <a:p>
            <a:pPr>
              <a:spcAft>
                <a:spcPts val="1000"/>
              </a:spcAft>
              <a:buClr>
                <a:schemeClr val="tx1"/>
              </a:buClr>
              <a:buSzPct val="100000"/>
            </a:pPr>
            <a:r>
              <a:rPr lang="en-US"/>
              <a:t>Bu dönemde lojistiği oluşturan faaliyetlerin ayrı ayrı yapıldığı görülmektedir. Aşağıdaki operasyonların bir kısmı işletme içinde yapılırken, kısmen de dışarıdan hizmet alma şeklinde gerçekleşiyordu.</a:t>
            </a:r>
            <a:br>
              <a:rPr lang="en-US"/>
            </a:br>
            <a:br>
              <a:rPr lang="en-US"/>
            </a:br>
            <a:r>
              <a:rPr lang="en-US"/>
              <a:t>• Talep Öngörüsü</a:t>
            </a:r>
            <a:br>
              <a:rPr lang="en-US"/>
            </a:br>
            <a:r>
              <a:rPr lang="en-US"/>
              <a:t>• Satın Alma</a:t>
            </a:r>
            <a:br>
              <a:rPr lang="en-US"/>
            </a:br>
            <a:r>
              <a:rPr lang="en-US"/>
              <a:t>• İhtiyaç Planlama</a:t>
            </a:r>
            <a:br>
              <a:rPr lang="en-US"/>
            </a:br>
            <a:r>
              <a:rPr lang="en-US"/>
              <a:t>• Üretim Planlama</a:t>
            </a:r>
            <a:br>
              <a:rPr lang="en-US"/>
            </a:br>
            <a:r>
              <a:rPr lang="en-US"/>
              <a:t>• Fabrika Stokları (girdi düzeyindeki stoklar )</a:t>
            </a:r>
            <a:br>
              <a:rPr lang="en-US"/>
            </a:br>
            <a:r>
              <a:rPr lang="en-US"/>
              <a:t>• Malzeme İşlemleri</a:t>
            </a:r>
            <a:br>
              <a:rPr lang="en-US"/>
            </a:br>
            <a:r>
              <a:rPr lang="en-US"/>
              <a:t>• Paletleme</a:t>
            </a:r>
            <a:br>
              <a:rPr lang="tr-TR" sz="1800"/>
            </a:br>
            <a:r>
              <a:rPr lang="tr-TR" sz="1800"/>
              <a:t>• Sipariş Süreci</a:t>
            </a:r>
            <a:br>
              <a:rPr lang="tr-TR" sz="1800"/>
            </a:br>
            <a:r>
              <a:rPr lang="tr-TR" sz="1800"/>
              <a:t>• Taşıma</a:t>
            </a:r>
            <a:br>
              <a:rPr lang="tr-TR" sz="1800"/>
            </a:br>
            <a:r>
              <a:rPr lang="tr-TR" sz="1800"/>
              <a:t>• Müşteri Hizmetleri</a:t>
            </a:r>
            <a:br>
              <a:rPr lang="tr-TR" sz="1800"/>
            </a:br>
            <a:r>
              <a:rPr lang="tr-TR" sz="1800"/>
              <a:t>• Dağıtım Planlama</a:t>
            </a:r>
            <a:br>
              <a:rPr lang="en-US"/>
            </a:br>
            <a:endParaRPr lang="en-US"/>
          </a:p>
        </p:txBody>
      </p:sp>
      <p:sp>
        <p:nvSpPr>
          <p:cNvPr id="4" name="Metin kutusu 3"/>
          <p:cNvSpPr txBox="1"/>
          <p:nvPr/>
        </p:nvSpPr>
        <p:spPr>
          <a:xfrm>
            <a:off x="5652120" y="2780928"/>
            <a:ext cx="325730" cy="1123384"/>
          </a:xfrm>
          <a:prstGeom prst="rect">
            <a:avLst/>
          </a:prstGeom>
          <a:noFill/>
        </p:spPr>
        <p:txBody>
          <a:bodyPr wrap="none" rtlCol="0">
            <a:spAutoFit/>
          </a:bodyPr>
          <a:lstStyle/>
          <a:p>
            <a:pPr>
              <a:spcAft>
                <a:spcPts val="600"/>
              </a:spcAft>
            </a:pPr>
            <a:br>
              <a:rPr lang="tr-TR" sz="2200"/>
            </a:br>
            <a:r>
              <a:rPr lang="tr-TR" sz="2200"/>
              <a:t>•</a:t>
            </a:r>
          </a:p>
          <a:p>
            <a:pPr>
              <a:spcAft>
                <a:spcPts val="600"/>
              </a:spcAft>
            </a:pPr>
            <a:endParaRPr lang="tr-TR"/>
          </a:p>
        </p:txBody>
      </p:sp>
    </p:spTree>
    <p:extLst>
      <p:ext uri="{BB962C8B-B14F-4D97-AF65-F5344CB8AC3E}">
        <p14:creationId xmlns:p14="http://schemas.microsoft.com/office/powerpoint/2010/main" val="2552142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2381" y="0"/>
            <a:ext cx="9141618" cy="2284214"/>
          </a:xfrm>
          <a:prstGeom prst="rect">
            <a:avLst/>
          </a:prstGeom>
        </p:spPr>
      </p:pic>
      <p:sp>
        <p:nvSpPr>
          <p:cNvPr id="2" name="Metin kutusu 1"/>
          <p:cNvSpPr txBox="1"/>
          <p:nvPr/>
        </p:nvSpPr>
        <p:spPr>
          <a:xfrm>
            <a:off x="771525" y="653142"/>
            <a:ext cx="7598568" cy="1219200"/>
          </a:xfrm>
          <a:prstGeom prst="rect">
            <a:avLst/>
          </a:prstGeom>
        </p:spPr>
        <p:txBody>
          <a:bodyPr vert="horz" lIns="91440" tIns="45720" rIns="91440" bIns="45720" rtlCol="0" anchor="ctr">
            <a:normAutofit/>
          </a:bodyPr>
          <a:lstStyle/>
          <a:p>
            <a:pPr algn="ctr">
              <a:spcBef>
                <a:spcPct val="0"/>
              </a:spcBef>
              <a:spcAft>
                <a:spcPts val="600"/>
              </a:spcAft>
            </a:pPr>
            <a:r>
              <a:rPr lang="en-US" sz="3800" b="1" i="1" cap="all">
                <a:ln w="3175" cmpd="sng">
                  <a:noFill/>
                </a:ln>
                <a:solidFill>
                  <a:srgbClr val="FFFFFF"/>
                </a:solidFill>
                <a:latin typeface="+mj-lt"/>
                <a:ea typeface="+mj-ea"/>
                <a:cs typeface="+mj-cs"/>
              </a:rPr>
              <a:t>Birleştirme(1980-2000)</a:t>
            </a:r>
          </a:p>
        </p:txBody>
      </p:sp>
      <p:graphicFrame>
        <p:nvGraphicFramePr>
          <p:cNvPr id="5" name="Metin kutusu 2">
            <a:extLst>
              <a:ext uri="{FF2B5EF4-FFF2-40B4-BE49-F238E27FC236}">
                <a16:creationId xmlns:a16="http://schemas.microsoft.com/office/drawing/2014/main" id="{99E17B16-2708-EAEB-5CAD-C7FEE72E8A40}"/>
              </a:ext>
            </a:extLst>
          </p:cNvPr>
          <p:cNvGraphicFramePr/>
          <p:nvPr>
            <p:extLst>
              <p:ext uri="{D42A27DB-BD31-4B8C-83A1-F6EECF244321}">
                <p14:modId xmlns:p14="http://schemas.microsoft.com/office/powerpoint/2010/main" val="56409004"/>
              </p:ext>
            </p:extLst>
          </p:nvPr>
        </p:nvGraphicFramePr>
        <p:xfrm>
          <a:off x="771525" y="2743200"/>
          <a:ext cx="7598568" cy="304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29134404"/>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Metin kutusu 1"/>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800" b="1" cap="all">
                <a:ln w="3175" cmpd="sng">
                  <a:noFill/>
                </a:ln>
                <a:latin typeface="+mj-lt"/>
                <a:ea typeface="+mj-ea"/>
                <a:cs typeface="+mj-cs"/>
              </a:rPr>
              <a:t> </a:t>
            </a:r>
            <a:r>
              <a:rPr lang="en-US" sz="2800" b="1" i="1" cap="all">
                <a:ln w="3175" cmpd="sng">
                  <a:noFill/>
                </a:ln>
                <a:latin typeface="+mj-lt"/>
                <a:ea typeface="+mj-ea"/>
                <a:cs typeface="+mj-cs"/>
              </a:rPr>
              <a:t>Toplam Bütünleşme ( 2000 – Günümüze )</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Metin kutusu 2"/>
          <p:cNvSpPr txBox="1"/>
          <p:nvPr/>
        </p:nvSpPr>
        <p:spPr>
          <a:xfrm>
            <a:off x="514351" y="2801680"/>
            <a:ext cx="8115300" cy="2398970"/>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a:solidFill>
                  <a:schemeClr val="bg1"/>
                </a:solidFill>
              </a:rPr>
              <a:t>Halen de devam etmekte olan bu süreç parçalanma ve birleşme kısmında verilen faaliyetlerin bir çatı altında toplanmasını gündeme getirmiştir. Dünya ekonomisinde yaşanan küreselleşme, liberalleşme ve buna paralel olarak firmaları zorlayan uyum çabaları, lojistik faaliyetlerin önemini arttırırken günümüzdeki entegre lojistik kavramını ortaya çıkarmıştır.</a:t>
            </a:r>
          </a:p>
        </p:txBody>
      </p:sp>
    </p:spTree>
    <p:extLst>
      <p:ext uri="{BB962C8B-B14F-4D97-AF65-F5344CB8AC3E}">
        <p14:creationId xmlns:p14="http://schemas.microsoft.com/office/powerpoint/2010/main" val="2009859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alphaModFix amt="37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Metin kutusu 1"/>
          <p:cNvSpPr txBox="1"/>
          <p:nvPr/>
        </p:nvSpPr>
        <p:spPr>
          <a:xfrm>
            <a:off x="829699" y="276176"/>
            <a:ext cx="8804238" cy="584776"/>
          </a:xfrm>
          <a:prstGeom prst="rect">
            <a:avLst/>
          </a:prstGeom>
          <a:noFill/>
        </p:spPr>
        <p:txBody>
          <a:bodyPr wrap="none" rtlCol="0">
            <a:spAutoFit/>
          </a:bodyPr>
          <a:lstStyle/>
          <a:p>
            <a:r>
              <a:rPr lang="tr-TR" sz="3200" b="1" dirty="0">
                <a:solidFill>
                  <a:srgbClr val="00B0F0"/>
                </a:solidFill>
              </a:rPr>
              <a:t>OSMANLI İMPARATORLUĞUNDA LOJİSTİK</a:t>
            </a:r>
            <a:endParaRPr lang="tr-TR" sz="3200" b="1" i="1" dirty="0">
              <a:solidFill>
                <a:srgbClr val="00B0F0"/>
              </a:solidFill>
            </a:endParaRPr>
          </a:p>
        </p:txBody>
      </p:sp>
      <p:sp>
        <p:nvSpPr>
          <p:cNvPr id="3" name="Metin kutusu 2"/>
          <p:cNvSpPr txBox="1"/>
          <p:nvPr/>
        </p:nvSpPr>
        <p:spPr>
          <a:xfrm>
            <a:off x="899592" y="734069"/>
            <a:ext cx="7407877" cy="5262979"/>
          </a:xfrm>
          <a:prstGeom prst="rect">
            <a:avLst/>
          </a:prstGeom>
          <a:noFill/>
        </p:spPr>
        <p:txBody>
          <a:bodyPr wrap="square" rtlCol="0" anchor="ctr">
            <a:spAutoFit/>
          </a:bodyPr>
          <a:lstStyle/>
          <a:p>
            <a:pPr algn="just"/>
            <a:r>
              <a:rPr lang="tr-TR" sz="2100" b="1" dirty="0">
                <a:solidFill>
                  <a:srgbClr val="FF0000"/>
                </a:solidFill>
              </a:rPr>
              <a:t>Osmanlı ordusunun seferlerinin taktiksel açıdan askeri boyutları ile stratejik açıdan siyasi sonuçları hakkında sayısız eser bulunmasına rağmen bu seferlerin başarıyla tamamlanması için mükemmele yakın bir biçimde organize edilen lojistik desteğin planlanması ve icrası yeteri kadar ele alınmamıştır. O dönemde, malzeme ve insan nakli için canlı hayvanlar kullanılmakta ve çoğu zaman mesafeler yaya olarak kat edilmekteydi. Batı seferlerinde nehirlerin su gücünden kısmen faydalanılmış olsa da doğu seferlerinde bu imkan da yoktu. Seferlerde kalabalık tutulan ordunun en önemli dezavantajı ordu ağırlıklarının taşınması, iaşe ve barınma sorunuydu. Seferlerin başlangıç noktası ile varış noktası arasındaki iklim farkı, aylarca süren bu seferlerde, gerekli tedbirlerin alınmasını gerektiriyordu. Teknolojinin gelişmesiyle muharebe sahasına sonradan giren ve zamanla devasa boyutlara ulaşan toplar ve bu toplara ait mühimmatın nakli, başlı başına lojistik çözümler gerektiren sorunlardandı.</a:t>
            </a:r>
          </a:p>
        </p:txBody>
      </p:sp>
    </p:spTree>
    <p:extLst>
      <p:ext uri="{BB962C8B-B14F-4D97-AF65-F5344CB8AC3E}">
        <p14:creationId xmlns:p14="http://schemas.microsoft.com/office/powerpoint/2010/main" val="10560887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899592" y="964901"/>
            <a:ext cx="7407877" cy="4801314"/>
          </a:xfrm>
          <a:prstGeom prst="rect">
            <a:avLst/>
          </a:prstGeom>
          <a:noFill/>
        </p:spPr>
        <p:txBody>
          <a:bodyPr wrap="square" rtlCol="0" anchor="ctr">
            <a:spAutoFit/>
          </a:bodyPr>
          <a:lstStyle/>
          <a:p>
            <a:pPr algn="just"/>
            <a:r>
              <a:rPr lang="tr-TR" dirty="0"/>
              <a:t>İmparatorluk zengin kaynaklara sahipse de bahsedilen lojistik sorunlara etkin çözümler üretmek her zaman mümkün değildi. Sayıları yüzbinleri aşan ordunun seferdeki lojistik sorunlarından en önde geleni olan iaşe sorununun boyutu hakkında fikir sahibi olabilmek adına, günümüzde kullanılan iaşe hesaplama yöntemini esas alan bir çalışma örnek olarak verilebilir. Yiyecek maddelerinin ihtiyaç miktarları, en basit şekliyle, kişi başına günde tüketilecek yiyecek miktarının toplam mevcutla çarpılması ile hesaplanır. Yapılacak </a:t>
            </a:r>
            <a:r>
              <a:rPr lang="tr-TR" dirty="0" err="1"/>
              <a:t>hârekatın</a:t>
            </a:r>
            <a:r>
              <a:rPr lang="tr-TR" dirty="0"/>
              <a:t> iklim şartları ve bölgesel özelliklerine göre değişiklik gösterse de (su hariç) bir askerin tüketeceği günlük gıdanın ağırlığı yaklaşık 0.970 kg, bir hayvanın (at, katır, manda, öküz gibi) ise yaklaşık 4 kg civarındadır. Bu yaklaşımla 100 bin kişi ve 10 bin binek veya taşıma maksatlı hayvandan oluşan bir ordunun (su hariç) bir günlük yemek ihtiyacı için yanında taşıması gereken yiyecek maddesi, yaklaşık 97 ton (100 bin X 0.970 kg = 97.000 kg), hayvanlar için taşıması gereken bir günlük yem, yaklaşık 40 ton (10 bin X 4 kg = 40.000 kg) olarak hesaplanır. Özetle ifade etmek gerekirse sefere çıkan 100 bin asker ve 10 bin binek veya taşıma maksatlı hayvandan oluşan bir ordunun (su hariç) yiyecek maddesi ağırlığı, günlük 137 ton olmaktadır. </a:t>
            </a:r>
          </a:p>
        </p:txBody>
      </p:sp>
      <p:sp>
        <p:nvSpPr>
          <p:cNvPr id="4" name="Metin kutusu 3">
            <a:extLst>
              <a:ext uri="{FF2B5EF4-FFF2-40B4-BE49-F238E27FC236}">
                <a16:creationId xmlns:a16="http://schemas.microsoft.com/office/drawing/2014/main" id="{ACF3D3F6-0876-A8ED-82D1-07F5A20EC6DE}"/>
              </a:ext>
            </a:extLst>
          </p:cNvPr>
          <p:cNvSpPr txBox="1"/>
          <p:nvPr/>
        </p:nvSpPr>
        <p:spPr>
          <a:xfrm>
            <a:off x="342474" y="380125"/>
            <a:ext cx="8804238" cy="584776"/>
          </a:xfrm>
          <a:prstGeom prst="rect">
            <a:avLst/>
          </a:prstGeom>
          <a:noFill/>
        </p:spPr>
        <p:txBody>
          <a:bodyPr wrap="none" rtlCol="0">
            <a:spAutoFit/>
          </a:bodyPr>
          <a:lstStyle/>
          <a:p>
            <a:r>
              <a:rPr lang="tr-TR" sz="3200" b="1" dirty="0">
                <a:solidFill>
                  <a:srgbClr val="00B0F0"/>
                </a:solidFill>
              </a:rPr>
              <a:t>OSMANLI İMPARATORLUĞUNDA LOJİSTİK</a:t>
            </a:r>
            <a:endParaRPr lang="tr-TR" sz="3200" b="1" i="1" dirty="0">
              <a:solidFill>
                <a:srgbClr val="00B0F0"/>
              </a:solidFill>
            </a:endParaRPr>
          </a:p>
        </p:txBody>
      </p:sp>
    </p:spTree>
    <p:extLst>
      <p:ext uri="{BB962C8B-B14F-4D97-AF65-F5344CB8AC3E}">
        <p14:creationId xmlns:p14="http://schemas.microsoft.com/office/powerpoint/2010/main" val="30968731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96838" y="672504"/>
            <a:ext cx="8804238" cy="584776"/>
          </a:xfrm>
          <a:prstGeom prst="rect">
            <a:avLst/>
          </a:prstGeom>
          <a:noFill/>
        </p:spPr>
        <p:txBody>
          <a:bodyPr wrap="none" rtlCol="0">
            <a:spAutoFit/>
          </a:bodyPr>
          <a:lstStyle/>
          <a:p>
            <a:r>
              <a:rPr lang="tr-TR" sz="3200" b="1" dirty="0">
                <a:solidFill>
                  <a:srgbClr val="00B0F0"/>
                </a:solidFill>
              </a:rPr>
              <a:t>OSMANLI İMPARATORLUĞUNDA LOJİSTİK</a:t>
            </a:r>
            <a:endParaRPr lang="tr-TR" sz="3200" b="1" i="1" dirty="0">
              <a:solidFill>
                <a:srgbClr val="00B0F0"/>
              </a:solidFill>
            </a:endParaRPr>
          </a:p>
        </p:txBody>
      </p:sp>
      <p:sp>
        <p:nvSpPr>
          <p:cNvPr id="3" name="Metin kutusu 2"/>
          <p:cNvSpPr txBox="1"/>
          <p:nvPr/>
        </p:nvSpPr>
        <p:spPr>
          <a:xfrm>
            <a:off x="899592" y="1472732"/>
            <a:ext cx="7407877" cy="3785652"/>
          </a:xfrm>
          <a:prstGeom prst="rect">
            <a:avLst/>
          </a:prstGeom>
          <a:noFill/>
        </p:spPr>
        <p:txBody>
          <a:bodyPr wrap="square" rtlCol="0" anchor="ctr">
            <a:spAutoFit/>
          </a:bodyPr>
          <a:lstStyle/>
          <a:p>
            <a:pPr algn="just"/>
            <a:r>
              <a:rPr lang="tr-TR" sz="1600" dirty="0"/>
              <a:t>Seferlerin aylarca sürdüğü ve genelde ordunun sayıca yüzbinleri de aştığı göz önüne alınırsa, bu boyutlardaki bir orduya sefer boyunca yeterli olacak yiyeceğin ordu ile birlikte taşınmasının, o dönemin teknolojik imkanlarıyla mümkün olmadığı tespiti yapılabilmektedir. Aylarca, bazen yıllarca süren seferlerde bu sorun, ihtiyaçların sefer güzergahlarında önceden alınacak tedbirler kapsamında yapılan bölgesel stoklama sistemi ile çözümlenmekteydi. Bitkisel ürünlerden karşılanacak un, bulgur, pirinç gibi gıdalarla, büyük ve küçükbaş hayvanlardan karşılanacak et, süt, yumurta gibi ihtiyaçların miktarı önceden belirleniyor, ordunun geçiş zamanına göre hazır bulunduruluyordu. Bu tarz lojistik çözümün beraberinde getirdiği en önemli sorun bölgesel tarım kıtlıkları veya ani iklim değişiklikleriydi. Ayrıca, bu tarz yarı mamul gıdaların tüketilebilecek hale getirilmesi de miktarlar göz önüne alındığında bir başka lojistik problemdi. Bu sorun, yarı mamullerin stoklandığı bölgelere yakın yerleşim birimlerinde ikamet eden, hizmetin cinsine göre seçilen yerel ahaliden faydalanılmak suretiyle çözülmekteydi. </a:t>
            </a:r>
          </a:p>
        </p:txBody>
      </p:sp>
    </p:spTree>
    <p:extLst>
      <p:ext uri="{BB962C8B-B14F-4D97-AF65-F5344CB8AC3E}">
        <p14:creationId xmlns:p14="http://schemas.microsoft.com/office/powerpoint/2010/main" val="9876734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96838" y="672504"/>
            <a:ext cx="8804238" cy="584776"/>
          </a:xfrm>
          <a:prstGeom prst="rect">
            <a:avLst/>
          </a:prstGeom>
          <a:noFill/>
        </p:spPr>
        <p:txBody>
          <a:bodyPr wrap="none" rtlCol="0">
            <a:spAutoFit/>
          </a:bodyPr>
          <a:lstStyle/>
          <a:p>
            <a:r>
              <a:rPr lang="tr-TR" sz="3200" b="1" dirty="0">
                <a:solidFill>
                  <a:srgbClr val="00B0F0"/>
                </a:solidFill>
              </a:rPr>
              <a:t>OSMANLI İMPARATORLUĞUNDA LOJİSTİK</a:t>
            </a:r>
            <a:endParaRPr lang="tr-TR" sz="3200" b="1" i="1" dirty="0">
              <a:solidFill>
                <a:srgbClr val="00B0F0"/>
              </a:solidFill>
            </a:endParaRPr>
          </a:p>
        </p:txBody>
      </p:sp>
      <p:sp>
        <p:nvSpPr>
          <p:cNvPr id="3" name="Metin kutusu 2"/>
          <p:cNvSpPr txBox="1"/>
          <p:nvPr/>
        </p:nvSpPr>
        <p:spPr>
          <a:xfrm>
            <a:off x="899592" y="1226511"/>
            <a:ext cx="7407877" cy="4278094"/>
          </a:xfrm>
          <a:prstGeom prst="rect">
            <a:avLst/>
          </a:prstGeom>
          <a:noFill/>
        </p:spPr>
        <p:txBody>
          <a:bodyPr wrap="square" rtlCol="0" anchor="ctr">
            <a:spAutoFit/>
          </a:bodyPr>
          <a:lstStyle/>
          <a:p>
            <a:pPr algn="just"/>
            <a:r>
              <a:rPr lang="tr-TR" sz="1600" dirty="0"/>
              <a:t>Seferlerin lojistik desteğinin etkin olabilmesi için, seferin hedefine ve yönüne göre başlama ve bitiş zamanları, ürünlerin hasat zamanına göre belirleniyordu. Batı yönüne açılan seferler baharın ilk aylarında başlayıp kış başlamadan biterdi. Doğu yönündeki seferlerde yaz mevsimi, aşırı sıcaklar nedeniyle uygun değildi. Batıya yönelik yapılan seferlerde önceleri develerden, sonraları Tuna Nehri’nden faydalanılmıştır. Doğu yönünde yapılan seferler Avrupa yönüne yapılan seferlerle mukayese edilmeyecek kadar çetin şartlarda icra ediliyordu.</a:t>
            </a:r>
          </a:p>
          <a:p>
            <a:pPr algn="just"/>
            <a:endParaRPr lang="tr-TR" sz="1600" dirty="0"/>
          </a:p>
          <a:p>
            <a:pPr algn="just"/>
            <a:r>
              <a:rPr lang="tr-TR" sz="1600" dirty="0"/>
              <a:t>Sefer denilince ilk akla gelen Osmanlı padişahı tahtı devraldığında 2.375.000 km2 olan Osmanlı topraklarını, 6.557.000 km2 ye çıkaran Yavuz Sultan Selim’dir. 16’ncı yüzyılda Sultan Selim komutasındaki Osmanlı ordusunun, 1516’da çıkıp, 1518’de döndüğü Mısır seferini, diğer Osmanlı seferlerinden ayıran neden, 2 bin km’lik mesafenin yaya olarak aşılmasının ardından, Sina Çölü’nün günde ortalama 30 km’lik bir hızla yürünerek bir haftada geçilmesi, bu geçiş esnasında her birine dörder veya altışar çekim hayvanının koşulduğu ağır arabalardaki yüzlerce topun, sıcak çöl kumlarının üzerinden nakledilmesi gibi eşine az rastlanır örneklerle dolu olmasıdır. </a:t>
            </a:r>
          </a:p>
        </p:txBody>
      </p:sp>
    </p:spTree>
    <p:extLst>
      <p:ext uri="{BB962C8B-B14F-4D97-AF65-F5344CB8AC3E}">
        <p14:creationId xmlns:p14="http://schemas.microsoft.com/office/powerpoint/2010/main" val="40904358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7E5ED3-4234-98CF-A9C2-93628B9A2EB5}"/>
              </a:ext>
            </a:extLst>
          </p:cNvPr>
          <p:cNvSpPr>
            <a:spLocks noGrp="1"/>
          </p:cNvSpPr>
          <p:nvPr>
            <p:ph type="title"/>
          </p:nvPr>
        </p:nvSpPr>
        <p:spPr/>
        <p:txBody>
          <a:bodyPr/>
          <a:lstStyle/>
          <a:p>
            <a:r>
              <a:rPr lang="tr-TR"/>
              <a:t>Osmanlı Lojistiğinin Temel Özellikleri</a:t>
            </a:r>
          </a:p>
        </p:txBody>
      </p:sp>
      <p:sp>
        <p:nvSpPr>
          <p:cNvPr id="3" name="İçerik Yer Tutucusu 2">
            <a:extLst>
              <a:ext uri="{FF2B5EF4-FFF2-40B4-BE49-F238E27FC236}">
                <a16:creationId xmlns:a16="http://schemas.microsoft.com/office/drawing/2014/main" id="{186FD901-4985-0B31-7A05-59CB87A8A608}"/>
              </a:ext>
            </a:extLst>
          </p:cNvPr>
          <p:cNvSpPr>
            <a:spLocks noGrp="1"/>
          </p:cNvSpPr>
          <p:nvPr>
            <p:ph idx="1"/>
          </p:nvPr>
        </p:nvSpPr>
        <p:spPr/>
        <p:txBody>
          <a:bodyPr/>
          <a:lstStyle/>
          <a:p>
            <a:r>
              <a:rPr lang="tr-TR"/>
              <a:t>:Merkezi Planlama: Devlet, seferlere çıkmadan önce detaylı planlar yapar, erzak, silah ve diğer ihtiyaçları önceden temin ederdi.</a:t>
            </a:r>
          </a:p>
          <a:p>
            <a:r>
              <a:rPr lang="tr-TR"/>
              <a:t>Yol Ağları: Osmanlı, geniş bir yol ağına sahipti. Bu yollar, ordunun hızlı ve güvenli bir şekilde hareket etmesini sağlardı.</a:t>
            </a:r>
          </a:p>
          <a:p>
            <a:r>
              <a:rPr lang="tr-TR"/>
              <a:t>Depo Sistemi: Büyük şehirlerde ve önemli geçiş noktalarında büyük depolar inşa edilerek, orduya sürekli erzak sağlanırdı.</a:t>
            </a:r>
          </a:p>
          <a:p>
            <a:r>
              <a:rPr lang="tr-TR"/>
              <a:t>Top Arabacıları Ocağı: Özellikle seferlerde ordunun erzakını taşımakla görevli bir ocaktı.Gemiler: Deniz seferlerinde gemiler, hem asker hem de erzak taşınmasında kullanılırdı.Y</a:t>
            </a:r>
          </a:p>
          <a:p>
            <a:r>
              <a:rPr lang="tr-TR"/>
              <a:t>erel Kaynakların Kullanımı: Sefer yapılan bölgelerdeki yerel kaynaklar da lojistikte önemli bir rol oynardı.</a:t>
            </a:r>
          </a:p>
        </p:txBody>
      </p:sp>
    </p:spTree>
    <p:extLst>
      <p:ext uri="{BB962C8B-B14F-4D97-AF65-F5344CB8AC3E}">
        <p14:creationId xmlns:p14="http://schemas.microsoft.com/office/powerpoint/2010/main" val="1467076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692696"/>
            <a:ext cx="8774903" cy="707886"/>
          </a:xfrm>
          <a:prstGeom prst="rect">
            <a:avLst/>
          </a:prstGeom>
          <a:noFill/>
        </p:spPr>
        <p:txBody>
          <a:bodyPr wrap="none" rtlCol="0">
            <a:spAutoFit/>
          </a:bodyPr>
          <a:lstStyle/>
          <a:p>
            <a:r>
              <a:rPr lang="tr-TR" sz="4000" dirty="0">
                <a:solidFill>
                  <a:srgbClr val="00B0F0"/>
                </a:solidFill>
              </a:rPr>
              <a:t>Dünyada Lojistik Sektörünün Gelişimi </a:t>
            </a:r>
          </a:p>
        </p:txBody>
      </p:sp>
      <p:sp>
        <p:nvSpPr>
          <p:cNvPr id="6" name="Metin kutusu 5"/>
          <p:cNvSpPr txBox="1"/>
          <p:nvPr/>
        </p:nvSpPr>
        <p:spPr>
          <a:xfrm>
            <a:off x="296839" y="2172408"/>
            <a:ext cx="7983941" cy="2862322"/>
          </a:xfrm>
          <a:prstGeom prst="rect">
            <a:avLst/>
          </a:prstGeom>
          <a:noFill/>
        </p:spPr>
        <p:txBody>
          <a:bodyPr wrap="square" rtlCol="0" anchor="ctr">
            <a:spAutoFit/>
          </a:bodyPr>
          <a:lstStyle/>
          <a:p>
            <a:pPr algn="just"/>
            <a:r>
              <a:rPr lang="tr-TR" sz="2000" dirty="0"/>
              <a:t>Lojistik sektörünün ülkelerin kalkınmalarında lokomotif olduğu ifade edilirken Georgetown Üniversitesi Lojistik Direktörü Prof. Dr. </a:t>
            </a:r>
            <a:r>
              <a:rPr lang="tr-TR" sz="2000" dirty="0" err="1"/>
              <a:t>Ricardo</a:t>
            </a:r>
            <a:r>
              <a:rPr lang="tr-TR" sz="2000" dirty="0"/>
              <a:t> </a:t>
            </a:r>
            <a:r>
              <a:rPr lang="tr-TR" sz="2000" dirty="0" err="1"/>
              <a:t>Ernst</a:t>
            </a:r>
            <a:r>
              <a:rPr lang="tr-TR" sz="2000" dirty="0"/>
              <a:t>, dünyada üretilen her bir doların 25 </a:t>
            </a:r>
            <a:r>
              <a:rPr lang="tr-TR" sz="2000" dirty="0" err="1"/>
              <a:t>centinin</a:t>
            </a:r>
            <a:r>
              <a:rPr lang="tr-TR" sz="2000" dirty="0"/>
              <a:t> lojistik faaliyetlerine  gittiğini belirtmektedir. Birçok faaliyeti kapsadığı için sektör  büyüklüğünün hesaplanması zor olmakla birlikte, dünya lojistik pazarının son yıllarda 5 trilyon dolarlık büyüklüğe ulaştığı tahmin edilmektedir.  Sektör Avrupa ‟da yıllık yüzde 7-9, Kuzey Amerika ‟da yüzde 15 ve  Asya ‟da da yüzde 20‟lik büyüme oranlarıyla en hızlı büyüyen sektörler  arasında önemli bir yere sahiptir. </a:t>
            </a:r>
          </a:p>
        </p:txBody>
      </p:sp>
    </p:spTree>
    <p:extLst>
      <p:ext uri="{BB962C8B-B14F-4D97-AF65-F5344CB8AC3E}">
        <p14:creationId xmlns:p14="http://schemas.microsoft.com/office/powerpoint/2010/main" val="10542098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2" name="Freeform: Shape 11">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5" name="Metin kutusu 4"/>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600" cap="all">
                <a:ln w="3175" cmpd="sng">
                  <a:noFill/>
                </a:ln>
                <a:latin typeface="+mj-lt"/>
                <a:ea typeface="+mj-ea"/>
                <a:cs typeface="+mj-cs"/>
              </a:rPr>
              <a:t>Dünyada Lojistik Sektörünün Gelişimi(devamı) </a:t>
            </a:r>
          </a:p>
        </p:txBody>
      </p:sp>
      <p:pic>
        <p:nvPicPr>
          <p:cNvPr id="14" name="Picture 13">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4" name="Dikdörtgen 3"/>
          <p:cNvSpPr/>
          <p:nvPr/>
        </p:nvSpPr>
        <p:spPr>
          <a:xfrm>
            <a:off x="514351" y="2801680"/>
            <a:ext cx="8115300" cy="2398970"/>
          </a:xfrm>
          <a:prstGeom prst="rect">
            <a:avLst/>
          </a:prstGeom>
        </p:spPr>
        <p:txBody>
          <a:bodyPr vert="horz" lIns="91440" tIns="45720" rIns="91440" bIns="45720" rtlCol="0" anchor="ctr">
            <a:normAutofit/>
          </a:bodyPr>
          <a:lstStyle/>
          <a:p>
            <a:pPr>
              <a:spcAft>
                <a:spcPts val="1000"/>
              </a:spcAft>
              <a:buClr>
                <a:schemeClr val="tx1"/>
              </a:buClr>
              <a:buSzPct val="100000"/>
              <a:buFont typeface="Arial"/>
              <a:buChar char="•"/>
            </a:pPr>
            <a:r>
              <a:rPr lang="en-US" sz="1700" b="1">
                <a:solidFill>
                  <a:schemeClr val="bg1"/>
                </a:solidFill>
              </a:rPr>
              <a:t>Dünyanın Lojistik Devi Ülkeleri</a:t>
            </a:r>
          </a:p>
          <a:p>
            <a:pPr>
              <a:spcAft>
                <a:spcPts val="1000"/>
              </a:spcAft>
              <a:buClr>
                <a:schemeClr val="tx1"/>
              </a:buClr>
              <a:buSzPct val="100000"/>
              <a:buFont typeface="Arial"/>
              <a:buChar char="•"/>
            </a:pPr>
            <a:r>
              <a:rPr lang="en-US" sz="1700">
                <a:solidFill>
                  <a:schemeClr val="bg1"/>
                </a:solidFill>
              </a:rPr>
              <a:t>Dünyada lojistik sektörü, küresel ticaretin canlanmasıyla birlikte büyük bir önem kazanmıştır. Pek çok ülke, gelişmiş altyapıları, deneyimli iş gücü ve stratejik konumlarıyla bu sektörde öne çıkmaktadır.</a:t>
            </a:r>
          </a:p>
          <a:p>
            <a:pPr>
              <a:spcAft>
                <a:spcPts val="1000"/>
              </a:spcAft>
              <a:buClr>
                <a:schemeClr val="tx1"/>
              </a:buClr>
              <a:buSzPct val="100000"/>
              <a:buFont typeface="Arial"/>
              <a:buChar char="•"/>
            </a:pPr>
            <a:r>
              <a:rPr lang="en-US" sz="1700" b="1">
                <a:solidFill>
                  <a:schemeClr val="bg1"/>
                </a:solidFill>
              </a:rPr>
              <a:t>Lojistik sektöründe öne çıkan ülkelerin başında</a:t>
            </a:r>
            <a:r>
              <a:rPr lang="en-US" sz="1700">
                <a:solidFill>
                  <a:schemeClr val="bg1"/>
                </a:solidFill>
              </a:rPr>
              <a:t> Almanya, Amerika Birleşik Devletleri, Çin, Japonya ve Hollanda gelmektedir. Bu ülkeler, gelişmiş lojistik altyapıları, güçlü ekonomileri ve küresel ticaretteki etkinlikleri sayesinde lojistik sektöründe lider konumundadırlar.</a:t>
            </a:r>
          </a:p>
          <a:p>
            <a:pPr>
              <a:spcAft>
                <a:spcPts val="1000"/>
              </a:spcAft>
              <a:buClr>
                <a:schemeClr val="tx1"/>
              </a:buClr>
              <a:buSzPct val="100000"/>
              <a:buFont typeface="Arial"/>
              <a:buChar char="•"/>
            </a:pPr>
            <a:endParaRPr lang="en-US" sz="1700">
              <a:solidFill>
                <a:schemeClr val="bg1"/>
              </a:solidFill>
            </a:endParaRPr>
          </a:p>
        </p:txBody>
      </p:sp>
    </p:spTree>
    <p:extLst>
      <p:ext uri="{BB962C8B-B14F-4D97-AF65-F5344CB8AC3E}">
        <p14:creationId xmlns:p14="http://schemas.microsoft.com/office/powerpoint/2010/main" val="7933538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21" name="Freeform: Shape 20">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5" name="Metin kutusu 4"/>
          <p:cNvSpPr txBox="1"/>
          <p:nvPr/>
        </p:nvSpPr>
        <p:spPr>
          <a:xfrm>
            <a:off x="772716" y="1314451"/>
            <a:ext cx="7598569" cy="832757"/>
          </a:xfrm>
          <a:prstGeom prst="rect">
            <a:avLst/>
          </a:prstGeom>
        </p:spPr>
        <p:txBody>
          <a:bodyPr vert="horz" lIns="91440" tIns="45720" rIns="91440" bIns="45720" rtlCol="0" anchor="ctr">
            <a:normAutofit/>
          </a:bodyPr>
          <a:lstStyle/>
          <a:p>
            <a:pPr algn="ctr">
              <a:spcBef>
                <a:spcPct val="0"/>
              </a:spcBef>
              <a:spcAft>
                <a:spcPts val="600"/>
              </a:spcAft>
            </a:pPr>
            <a:r>
              <a:rPr lang="en-US" sz="2600" cap="all">
                <a:ln w="3175" cmpd="sng">
                  <a:noFill/>
                </a:ln>
                <a:latin typeface="+mj-lt"/>
                <a:ea typeface="+mj-ea"/>
                <a:cs typeface="+mj-cs"/>
              </a:rPr>
              <a:t>Dünyada Lojistik Sektörünün Gelişimi(devamı) </a:t>
            </a:r>
          </a:p>
        </p:txBody>
      </p:sp>
      <p:pic>
        <p:nvPicPr>
          <p:cNvPr id="23" name="Picture 22">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4" name="Dikdörtgen 3"/>
          <p:cNvSpPr/>
          <p:nvPr/>
        </p:nvSpPr>
        <p:spPr>
          <a:xfrm>
            <a:off x="514351" y="2801680"/>
            <a:ext cx="8115300" cy="2398970"/>
          </a:xfrm>
          <a:prstGeom prst="rect">
            <a:avLst/>
          </a:prstGeom>
        </p:spPr>
        <p:txBody>
          <a:bodyPr vert="horz" lIns="91440" tIns="45720" rIns="91440" bIns="45720" rtlCol="0" anchor="ctr">
            <a:normAutofit/>
          </a:bodyPr>
          <a:lstStyle/>
          <a:p>
            <a:pPr>
              <a:lnSpc>
                <a:spcPct val="90000"/>
              </a:lnSpc>
              <a:spcAft>
                <a:spcPts val="1000"/>
              </a:spcAft>
              <a:buClr>
                <a:schemeClr val="tx1"/>
              </a:buClr>
              <a:buSzPct val="100000"/>
              <a:buFont typeface="Arial"/>
              <a:buChar char="•"/>
            </a:pPr>
            <a:r>
              <a:rPr lang="en-US" sz="1300" b="1">
                <a:solidFill>
                  <a:schemeClr val="bg1"/>
                </a:solidFill>
              </a:rPr>
              <a:t>Almanya</a:t>
            </a:r>
            <a:r>
              <a:rPr lang="en-US" sz="1300">
                <a:solidFill>
                  <a:schemeClr val="bg1"/>
                </a:solidFill>
              </a:rPr>
              <a:t>: Avrupa'nın lojistik merkezi olarak kabul edilen Almanya, güçlü otomotiv ve üretim sektörleri sayesinde gelişmiş bir lojistik altyapısına sahiptir.</a:t>
            </a:r>
          </a:p>
          <a:p>
            <a:pPr>
              <a:lnSpc>
                <a:spcPct val="90000"/>
              </a:lnSpc>
              <a:spcAft>
                <a:spcPts val="1000"/>
              </a:spcAft>
              <a:buClr>
                <a:schemeClr val="tx1"/>
              </a:buClr>
              <a:buSzPct val="100000"/>
              <a:buFont typeface="Arial"/>
              <a:buChar char="•"/>
            </a:pPr>
            <a:r>
              <a:rPr lang="en-US" sz="1300" b="1">
                <a:solidFill>
                  <a:schemeClr val="bg1"/>
                </a:solidFill>
              </a:rPr>
              <a:t>Amerika Birleşik Devletleri</a:t>
            </a:r>
            <a:r>
              <a:rPr lang="en-US" sz="1300">
                <a:solidFill>
                  <a:schemeClr val="bg1"/>
                </a:solidFill>
              </a:rPr>
              <a:t>: Geniş bir coğrafyaya yayılmış olan ABD, deniz ve karayolu taşımacılığında önemli bir role sahiptir. Ayrıca, e-ticaretin gelişmesiyle birlikte son mil teslimatlarında da önemli bir oyuncu haline gelmiştir.</a:t>
            </a:r>
          </a:p>
          <a:p>
            <a:pPr>
              <a:lnSpc>
                <a:spcPct val="90000"/>
              </a:lnSpc>
              <a:spcAft>
                <a:spcPts val="1000"/>
              </a:spcAft>
              <a:buClr>
                <a:schemeClr val="tx1"/>
              </a:buClr>
              <a:buSzPct val="100000"/>
              <a:buFont typeface="Arial"/>
              <a:buChar char="•"/>
            </a:pPr>
            <a:r>
              <a:rPr lang="en-US" sz="1300" b="1">
                <a:solidFill>
                  <a:schemeClr val="bg1"/>
                </a:solidFill>
              </a:rPr>
              <a:t>Çin</a:t>
            </a:r>
            <a:r>
              <a:rPr lang="en-US" sz="1300">
                <a:solidFill>
                  <a:schemeClr val="bg1"/>
                </a:solidFill>
              </a:rPr>
              <a:t>: Dünya ticaretinin merkezi konumundaki Çin, düşük maliyetli üretim ve geniş bir iç pazar sayesinde lojistik sektöründe hızlı bir büyüme göstermektedir.</a:t>
            </a:r>
          </a:p>
          <a:p>
            <a:pPr>
              <a:lnSpc>
                <a:spcPct val="90000"/>
              </a:lnSpc>
              <a:spcAft>
                <a:spcPts val="1000"/>
              </a:spcAft>
              <a:buClr>
                <a:schemeClr val="tx1"/>
              </a:buClr>
              <a:buSzPct val="100000"/>
              <a:buFont typeface="Arial"/>
              <a:buChar char="•"/>
            </a:pPr>
            <a:r>
              <a:rPr lang="en-US" sz="1300" b="1">
                <a:solidFill>
                  <a:schemeClr val="bg1"/>
                </a:solidFill>
              </a:rPr>
              <a:t>Japonya</a:t>
            </a:r>
            <a:r>
              <a:rPr lang="en-US" sz="1300">
                <a:solidFill>
                  <a:schemeClr val="bg1"/>
                </a:solidFill>
              </a:rPr>
              <a:t>: Üretimde yüksek kalite ve verimlilik standartlarına sahip olan Japonya, lojistik sektöründe de bu özellikleriyle öne çıkmaktadır. Özellikle otomotiv ve elektronik sektörlerindeki lojistik operasyonları oldukça gelişmiştir.</a:t>
            </a:r>
          </a:p>
          <a:p>
            <a:pPr>
              <a:lnSpc>
                <a:spcPct val="90000"/>
              </a:lnSpc>
              <a:spcAft>
                <a:spcPts val="1000"/>
              </a:spcAft>
              <a:buClr>
                <a:schemeClr val="tx1"/>
              </a:buClr>
              <a:buSzPct val="100000"/>
              <a:buFont typeface="Arial"/>
              <a:buChar char="•"/>
            </a:pPr>
            <a:r>
              <a:rPr lang="en-US" sz="1300" b="1">
                <a:solidFill>
                  <a:schemeClr val="bg1"/>
                </a:solidFill>
              </a:rPr>
              <a:t>Hollanda</a:t>
            </a:r>
            <a:r>
              <a:rPr lang="en-US" sz="1300">
                <a:solidFill>
                  <a:schemeClr val="bg1"/>
                </a:solidFill>
              </a:rPr>
              <a:t>: Avrupa'nın en büyük limanlarından Rotterdam'a ev sahipliği yapan Hollanda, denizyolu taşımacılığı ve intermodal taşımacılıkta önemli bir merkezdir.</a:t>
            </a:r>
          </a:p>
        </p:txBody>
      </p:sp>
    </p:spTree>
    <p:extLst>
      <p:ext uri="{BB962C8B-B14F-4D97-AF65-F5344CB8AC3E}">
        <p14:creationId xmlns:p14="http://schemas.microsoft.com/office/powerpoint/2010/main" val="6545582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576971"/>
            <a:ext cx="8621271" cy="769441"/>
          </a:xfrm>
          <a:prstGeom prst="rect">
            <a:avLst/>
          </a:prstGeom>
          <a:noFill/>
        </p:spPr>
        <p:txBody>
          <a:bodyPr wrap="none" rtlCol="0">
            <a:spAutoFit/>
          </a:bodyPr>
          <a:lstStyle/>
          <a:p>
            <a:r>
              <a:rPr lang="tr-TR" sz="4400" dirty="0">
                <a:solidFill>
                  <a:srgbClr val="00B0F0"/>
                </a:solidFill>
              </a:rPr>
              <a:t>AB’ de Lojistik Sektörünün Gelişimi </a:t>
            </a:r>
          </a:p>
        </p:txBody>
      </p:sp>
      <p:sp>
        <p:nvSpPr>
          <p:cNvPr id="5" name="Metin kutusu 4"/>
          <p:cNvSpPr txBox="1"/>
          <p:nvPr/>
        </p:nvSpPr>
        <p:spPr>
          <a:xfrm>
            <a:off x="296839" y="1923546"/>
            <a:ext cx="7983941" cy="2677656"/>
          </a:xfrm>
          <a:prstGeom prst="rect">
            <a:avLst/>
          </a:prstGeom>
          <a:noFill/>
        </p:spPr>
        <p:txBody>
          <a:bodyPr wrap="square" rtlCol="0" anchor="ctr">
            <a:spAutoFit/>
          </a:bodyPr>
          <a:lstStyle/>
          <a:p>
            <a:pPr algn="just"/>
            <a:r>
              <a:rPr lang="tr-TR" sz="2800"/>
              <a:t>Avrupa Birliği (AB), dünya ticaretindeki merkezi konumu ve üye ülkeler arasındaki yoğun ekonomik ilişkiler nedeniyle oldukça gelişmiş bir lojistik sektöre sahiptir. AB, tek bir pazar olarak çalıştığı için, üye ülkeler arasında mal ve hizmetlerin serbest dolaşımı, lojistik faaliyetlerinin önemini artırmaktadır.</a:t>
            </a:r>
            <a:endParaRPr lang="tr-TR" sz="2800" dirty="0"/>
          </a:p>
        </p:txBody>
      </p:sp>
    </p:spTree>
    <p:extLst>
      <p:ext uri="{BB962C8B-B14F-4D97-AF65-F5344CB8AC3E}">
        <p14:creationId xmlns:p14="http://schemas.microsoft.com/office/powerpoint/2010/main" val="25473963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604267"/>
            <a:ext cx="6085897" cy="584775"/>
          </a:xfrm>
          <a:prstGeom prst="rect">
            <a:avLst/>
          </a:prstGeom>
          <a:noFill/>
        </p:spPr>
        <p:txBody>
          <a:bodyPr wrap="none" rtlCol="0">
            <a:spAutoFit/>
          </a:bodyPr>
          <a:lstStyle/>
          <a:p>
            <a:r>
              <a:rPr lang="tr-TR" sz="3200" dirty="0">
                <a:solidFill>
                  <a:srgbClr val="00B0F0"/>
                </a:solidFill>
              </a:rPr>
              <a:t>AB’ de Lojistik </a:t>
            </a:r>
            <a:r>
              <a:rPr lang="tr-TR" sz="3200">
                <a:solidFill>
                  <a:srgbClr val="00B0F0"/>
                </a:solidFill>
              </a:rPr>
              <a:t>Sektörünün Gelişimi</a:t>
            </a:r>
            <a:endParaRPr lang="tr-TR" sz="4400" dirty="0">
              <a:solidFill>
                <a:srgbClr val="00B0F0"/>
              </a:solidFill>
            </a:endParaRPr>
          </a:p>
        </p:txBody>
      </p:sp>
      <p:sp>
        <p:nvSpPr>
          <p:cNvPr id="5" name="Metin kutusu 4"/>
          <p:cNvSpPr txBox="1"/>
          <p:nvPr/>
        </p:nvSpPr>
        <p:spPr>
          <a:xfrm>
            <a:off x="296839" y="2330060"/>
            <a:ext cx="7983941" cy="2246769"/>
          </a:xfrm>
          <a:prstGeom prst="rect">
            <a:avLst/>
          </a:prstGeom>
          <a:noFill/>
        </p:spPr>
        <p:txBody>
          <a:bodyPr wrap="square" rtlCol="0" anchor="ctr">
            <a:spAutoFit/>
          </a:bodyPr>
          <a:lstStyle/>
          <a:p>
            <a:pPr algn="just"/>
            <a:r>
              <a:rPr lang="tr-TR" sz="2000"/>
              <a:t>Avrupa Birliği Lojistik Sektörünün ÖzellikleriYüksek Düzeyde Entegrasyon: AB üyesi ülkeler arasındaki güçlü ekonomik bağlar, lojistik ağlarının birbirine sıkı sıkıya entegre olmasına neden olmuştur. Bu durum, mal ve hizmetlerin hızlı ve verimli bir şekilde taşınmasını sağlamaktadır.Standardizasyon: AB'de lojistik işlemlerin standardizasyonu için yapılan çalışmalar, farklı ülkeler arasındaki lojistik süreçlerin uyumunu sağlamıştır. Bu sayede, sınır geçişlerinde yaşanan sorunlar minimize edilmiştir.</a:t>
            </a:r>
          </a:p>
        </p:txBody>
      </p:sp>
    </p:spTree>
    <p:extLst>
      <p:ext uri="{BB962C8B-B14F-4D97-AF65-F5344CB8AC3E}">
        <p14:creationId xmlns:p14="http://schemas.microsoft.com/office/powerpoint/2010/main" val="34561622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604267"/>
            <a:ext cx="8286371" cy="769441"/>
          </a:xfrm>
          <a:prstGeom prst="rect">
            <a:avLst/>
          </a:prstGeom>
          <a:noFill/>
        </p:spPr>
        <p:txBody>
          <a:bodyPr wrap="none" rtlCol="0">
            <a:spAutoFit/>
          </a:bodyPr>
          <a:lstStyle/>
          <a:p>
            <a:r>
              <a:rPr lang="tr-TR" sz="3200" dirty="0">
                <a:solidFill>
                  <a:srgbClr val="00B0F0"/>
                </a:solidFill>
              </a:rPr>
              <a:t>AB’ de Lojistik Sektörünün Gelişimi(devamı</a:t>
            </a:r>
            <a:r>
              <a:rPr lang="tr-TR" sz="4400" dirty="0">
                <a:solidFill>
                  <a:srgbClr val="00B0F0"/>
                </a:solidFill>
              </a:rPr>
              <a:t>) </a:t>
            </a:r>
          </a:p>
        </p:txBody>
      </p:sp>
      <p:sp>
        <p:nvSpPr>
          <p:cNvPr id="5" name="Metin kutusu 4"/>
          <p:cNvSpPr txBox="1"/>
          <p:nvPr/>
        </p:nvSpPr>
        <p:spPr>
          <a:xfrm>
            <a:off x="296839" y="2022284"/>
            <a:ext cx="7983941" cy="2862322"/>
          </a:xfrm>
          <a:prstGeom prst="rect">
            <a:avLst/>
          </a:prstGeom>
          <a:noFill/>
        </p:spPr>
        <p:txBody>
          <a:bodyPr wrap="square" rtlCol="0" anchor="ctr">
            <a:spAutoFit/>
          </a:bodyPr>
          <a:lstStyle/>
          <a:p>
            <a:pPr algn="just"/>
            <a:r>
              <a:rPr lang="tr-TR" sz="2000"/>
              <a:t>Sürdürülebilirlik Odaklılık: AB, lojistik sektöründe sürdürülebilirliğe büyük önem vermektedir. Bu nedenle, lojistik şirketleri, karbon emisyonlarını azaltmak ve çevre dostu çözümler geliştirmek için çalışmalar yapmaktadır.Teknoloji Odaklılık: AB ülkeleri, lojistik sektöründe teknolojik gelişmeleri yakından takip etmektedir. Yapay zeka, otomasyon ve büyük veri analitiği gibi teknolojiler, lojistik süreçlerin daha verimli hale gelmesini sağlamaktadır.Rekabet: AB içindeki güçlü rekabet ortamı, lojistik şirketlerinin hizmet kalitesini artırmalarını ve maliyetlerini düşürmelerini sağlamaktadır.</a:t>
            </a:r>
            <a:endParaRPr lang="tr-TR" sz="2000" dirty="0"/>
          </a:p>
        </p:txBody>
      </p:sp>
    </p:spTree>
    <p:extLst>
      <p:ext uri="{BB962C8B-B14F-4D97-AF65-F5344CB8AC3E}">
        <p14:creationId xmlns:p14="http://schemas.microsoft.com/office/powerpoint/2010/main" val="8574573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576970"/>
            <a:ext cx="6085897" cy="584775"/>
          </a:xfrm>
          <a:prstGeom prst="rect">
            <a:avLst/>
          </a:prstGeom>
          <a:noFill/>
        </p:spPr>
        <p:txBody>
          <a:bodyPr wrap="none" rtlCol="0">
            <a:spAutoFit/>
          </a:bodyPr>
          <a:lstStyle/>
          <a:p>
            <a:r>
              <a:rPr lang="tr-TR" sz="3200" dirty="0">
                <a:solidFill>
                  <a:srgbClr val="00B0F0"/>
                </a:solidFill>
              </a:rPr>
              <a:t>AB’ de Lojistik </a:t>
            </a:r>
            <a:r>
              <a:rPr lang="tr-TR" sz="3200">
                <a:solidFill>
                  <a:srgbClr val="00B0F0"/>
                </a:solidFill>
              </a:rPr>
              <a:t>Sektörünün Gelişimi</a:t>
            </a:r>
            <a:endParaRPr lang="tr-TR" sz="3200" dirty="0">
              <a:solidFill>
                <a:srgbClr val="00B0F0"/>
              </a:solidFill>
            </a:endParaRPr>
          </a:p>
        </p:txBody>
      </p:sp>
      <p:sp>
        <p:nvSpPr>
          <p:cNvPr id="5" name="Metin kutusu 4"/>
          <p:cNvSpPr txBox="1"/>
          <p:nvPr/>
        </p:nvSpPr>
        <p:spPr>
          <a:xfrm>
            <a:off x="296839" y="1721751"/>
            <a:ext cx="7983941" cy="3108543"/>
          </a:xfrm>
          <a:prstGeom prst="rect">
            <a:avLst/>
          </a:prstGeom>
          <a:noFill/>
        </p:spPr>
        <p:txBody>
          <a:bodyPr wrap="square" rtlCol="0" anchor="ctr">
            <a:spAutoFit/>
          </a:bodyPr>
          <a:lstStyle/>
          <a:p>
            <a:pPr algn="just"/>
            <a:r>
              <a:rPr lang="tr-TR" sz="2800" dirty="0"/>
              <a:t>Ulaşım sanayi, AB içerisinde önemli bir konuma sahiptir. Ulaşım sektörü AB </a:t>
            </a:r>
            <a:r>
              <a:rPr lang="tr-TR" sz="2800" dirty="0" err="1"/>
              <a:t>GSYiH’sının</a:t>
            </a:r>
            <a:r>
              <a:rPr lang="tr-TR" sz="2800" dirty="0"/>
              <a:t> %7’sini, istihdamın %7’sini, üye ülke yatırımlarının %40’ını ve enerji tüketiminin %30‟unu oluşturmaktadır. Topluluk içi trafikte son 20 yılda, ortalama olarak, mallar için yılda %2,3, yolcular için ise %3.1 düzeyinde bir talep artısı meydana gelmiştir.</a:t>
            </a:r>
          </a:p>
        </p:txBody>
      </p:sp>
    </p:spTree>
    <p:extLst>
      <p:ext uri="{BB962C8B-B14F-4D97-AF65-F5344CB8AC3E}">
        <p14:creationId xmlns:p14="http://schemas.microsoft.com/office/powerpoint/2010/main" val="21912615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575928"/>
            <a:ext cx="8190191" cy="584775"/>
          </a:xfrm>
          <a:prstGeom prst="rect">
            <a:avLst/>
          </a:prstGeom>
          <a:noFill/>
        </p:spPr>
        <p:txBody>
          <a:bodyPr wrap="none" rtlCol="0">
            <a:spAutoFit/>
          </a:bodyPr>
          <a:lstStyle/>
          <a:p>
            <a:r>
              <a:rPr lang="tr-TR" sz="3200" dirty="0">
                <a:solidFill>
                  <a:srgbClr val="00B0F0"/>
                </a:solidFill>
              </a:rPr>
              <a:t>AB’ de Lojistik Sektörünün Gelişimi(devamı) </a:t>
            </a:r>
          </a:p>
        </p:txBody>
      </p:sp>
      <p:sp>
        <p:nvSpPr>
          <p:cNvPr id="5" name="Metin kutusu 4"/>
          <p:cNvSpPr txBox="1"/>
          <p:nvPr/>
        </p:nvSpPr>
        <p:spPr>
          <a:xfrm>
            <a:off x="296839" y="1506699"/>
            <a:ext cx="7983941" cy="5324535"/>
          </a:xfrm>
          <a:prstGeom prst="rect">
            <a:avLst/>
          </a:prstGeom>
          <a:noFill/>
        </p:spPr>
        <p:txBody>
          <a:bodyPr wrap="square" rtlCol="0" anchor="ctr">
            <a:spAutoFit/>
          </a:bodyPr>
          <a:lstStyle/>
          <a:p>
            <a:r>
              <a:rPr lang="tr-TR" sz="2000" b="1"/>
              <a:t>Avrupa Birliği Lojistik Sektörünün Özellikleri</a:t>
            </a:r>
          </a:p>
          <a:p>
            <a:pPr>
              <a:buFont typeface="Arial" panose="020B0604020202020204" pitchFamily="34" charset="0"/>
              <a:buChar char="•"/>
            </a:pPr>
            <a:r>
              <a:rPr lang="tr-TR" sz="2000" b="1"/>
              <a:t>Yüksek Düzeyde Entegrasyon:</a:t>
            </a:r>
            <a:r>
              <a:rPr lang="tr-TR" sz="2000"/>
              <a:t> AB üyesi ülkeler arasındaki güçlü ekonomik bağlar, lojistik ağlarının birbirine sıkı sıkıya entegre olmasına neden olmuştur. Bu durum, mal ve hizmetlerin hızlı ve verimli bir şekilde taşınmasını sağlamaktadır.</a:t>
            </a:r>
          </a:p>
          <a:p>
            <a:pPr>
              <a:buFont typeface="Arial" panose="020B0604020202020204" pitchFamily="34" charset="0"/>
              <a:buChar char="•"/>
            </a:pPr>
            <a:r>
              <a:rPr lang="tr-TR" sz="2000" b="1"/>
              <a:t>Standardizasyon:</a:t>
            </a:r>
            <a:r>
              <a:rPr lang="tr-TR" sz="2000"/>
              <a:t> AB'de lojistik işlemlerin standardizasyonu için yapılan çalışmalar, farklı ülkeler arasındaki lojistik süreçlerin uyumunu sağlamıştır. Bu sayede, sınır geçişlerinde yaşanan sorunlar minimize edilmiştir.</a:t>
            </a:r>
          </a:p>
          <a:p>
            <a:pPr>
              <a:buFont typeface="Arial" panose="020B0604020202020204" pitchFamily="34" charset="0"/>
              <a:buChar char="•"/>
            </a:pPr>
            <a:r>
              <a:rPr lang="tr-TR" sz="2000" b="1"/>
              <a:t>Sürdürülebilirlik Odaklılık:</a:t>
            </a:r>
            <a:r>
              <a:rPr lang="tr-TR" sz="2000"/>
              <a:t> AB, lojistik sektöründe sürdürülebilirliğe büyük önem vermektedir. Bu nedenle, lojistik şirketleri, karbon emisyonlarını azaltmak ve çevre dostu çözümler geliştirmek için çalışmalar yapmaktadır.</a:t>
            </a:r>
          </a:p>
          <a:p>
            <a:pPr>
              <a:buFont typeface="Arial" panose="020B0604020202020204" pitchFamily="34" charset="0"/>
              <a:buChar char="•"/>
            </a:pPr>
            <a:r>
              <a:rPr lang="tr-TR" sz="2000" b="1"/>
              <a:t>Teknoloji Odaklılık:</a:t>
            </a:r>
            <a:r>
              <a:rPr lang="tr-TR" sz="2000"/>
              <a:t> AB ülkeleri, lojistik sektöründe teknolojik gelişmeleri yakından takip etmektedir. Yapay zeka, otomasyon ve büyük veri analitiği gibi teknolojiler, lojistik süreçlerin daha verimli hale gelmesini sağlamaktadır.</a:t>
            </a:r>
          </a:p>
          <a:p>
            <a:pPr>
              <a:buFont typeface="Arial" panose="020B0604020202020204" pitchFamily="34" charset="0"/>
              <a:buChar char="•"/>
            </a:pPr>
            <a:r>
              <a:rPr lang="tr-TR" sz="2000" b="1"/>
              <a:t>Rekabet:</a:t>
            </a:r>
            <a:r>
              <a:rPr lang="tr-TR" sz="2000"/>
              <a:t> AB içindeki güçlü rekabet ortamı, lojistik şirketlerinin hizmet kalitesini artırmalarını ve maliyetlerini düşürmelerini sağlamaktadır.</a:t>
            </a:r>
          </a:p>
        </p:txBody>
      </p:sp>
    </p:spTree>
    <p:extLst>
      <p:ext uri="{BB962C8B-B14F-4D97-AF65-F5344CB8AC3E}">
        <p14:creationId xmlns:p14="http://schemas.microsoft.com/office/powerpoint/2010/main" val="1210290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575928"/>
            <a:ext cx="8190191" cy="584775"/>
          </a:xfrm>
          <a:prstGeom prst="rect">
            <a:avLst/>
          </a:prstGeom>
          <a:noFill/>
        </p:spPr>
        <p:txBody>
          <a:bodyPr wrap="none" rtlCol="0">
            <a:spAutoFit/>
          </a:bodyPr>
          <a:lstStyle/>
          <a:p>
            <a:r>
              <a:rPr lang="tr-TR" sz="3200" dirty="0">
                <a:solidFill>
                  <a:srgbClr val="00B0F0"/>
                </a:solidFill>
              </a:rPr>
              <a:t>AB’ de Lojistik Sektörünün Gelişimi(devamı) </a:t>
            </a:r>
          </a:p>
        </p:txBody>
      </p:sp>
      <p:sp>
        <p:nvSpPr>
          <p:cNvPr id="5" name="Metin kutusu 4"/>
          <p:cNvSpPr txBox="1"/>
          <p:nvPr/>
        </p:nvSpPr>
        <p:spPr>
          <a:xfrm>
            <a:off x="296839" y="2006837"/>
            <a:ext cx="7983941" cy="4324261"/>
          </a:xfrm>
          <a:prstGeom prst="rect">
            <a:avLst/>
          </a:prstGeom>
          <a:noFill/>
        </p:spPr>
        <p:txBody>
          <a:bodyPr wrap="square" rtlCol="0" anchor="ctr">
            <a:spAutoFit/>
          </a:bodyPr>
          <a:lstStyle/>
          <a:p>
            <a:pPr algn="just"/>
            <a:r>
              <a:rPr lang="tr-TR" sz="2500"/>
              <a:t>Avrupa Birliği Lojistik Sektörünü Etkileyen Faktörler</a:t>
            </a:r>
          </a:p>
          <a:p>
            <a:pPr algn="just"/>
            <a:r>
              <a:rPr lang="tr-TR" sz="2500"/>
              <a:t>Küreselleşme: Küresel ticaretin artmasıyla birlikte, AB ülkeleri arasındaki lojistik faaliyetler de artmıştır.</a:t>
            </a:r>
          </a:p>
          <a:p>
            <a:pPr algn="just"/>
            <a:r>
              <a:rPr lang="tr-TR" sz="2500"/>
              <a:t>E-ticaretin Büyümesi: E-ticaretin hızla gelişmesi, son mil teslimatları ve küçük paketli gönderilerde lojistik sektörüne olan talebi artırmıştır.</a:t>
            </a:r>
          </a:p>
          <a:p>
            <a:pPr algn="just"/>
            <a:r>
              <a:rPr lang="tr-TR" sz="2500"/>
              <a:t>Sürdürülebilirlik: Çevresel kaygılar, lojistik şirketlerini daha sürdürülebilir çözümler geliştirmeye yöneltmiştir.</a:t>
            </a:r>
          </a:p>
          <a:p>
            <a:pPr algn="just"/>
            <a:r>
              <a:rPr lang="tr-TR" sz="2500"/>
              <a:t>Brexit: Birleşik Krallık'ın AB'den ayrılması, Avrupa lojistik ağına önemli bir darbe vurmuş ve sınır geçişlerinde yeni düzenlemeler getirmiştir.</a:t>
            </a:r>
            <a:endParaRPr lang="tr-TR" sz="2500" dirty="0"/>
          </a:p>
        </p:txBody>
      </p:sp>
    </p:spTree>
    <p:extLst>
      <p:ext uri="{BB962C8B-B14F-4D97-AF65-F5344CB8AC3E}">
        <p14:creationId xmlns:p14="http://schemas.microsoft.com/office/powerpoint/2010/main" val="37503979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1619672" y="2636912"/>
            <a:ext cx="5723468" cy="1828090"/>
          </a:xfrm>
        </p:spPr>
        <p:txBody>
          <a:bodyPr>
            <a:normAutofit/>
          </a:bodyPr>
          <a:lstStyle/>
          <a:p>
            <a:r>
              <a:rPr lang="tr-TR" dirty="0"/>
              <a:t>TÜRKİYE’DE TAŞIMACILIK VE LOJİSTİK</a:t>
            </a:r>
          </a:p>
        </p:txBody>
      </p:sp>
    </p:spTree>
    <p:extLst>
      <p:ext uri="{BB962C8B-B14F-4D97-AF65-F5344CB8AC3E}">
        <p14:creationId xmlns:p14="http://schemas.microsoft.com/office/powerpoint/2010/main" val="34407808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p:cNvSpPr txBox="1"/>
          <p:nvPr/>
        </p:nvSpPr>
        <p:spPr>
          <a:xfrm>
            <a:off x="296839" y="590618"/>
            <a:ext cx="7395486" cy="584775"/>
          </a:xfrm>
          <a:prstGeom prst="rect">
            <a:avLst/>
          </a:prstGeom>
          <a:noFill/>
        </p:spPr>
        <p:txBody>
          <a:bodyPr wrap="none" rtlCol="0">
            <a:spAutoFit/>
          </a:bodyPr>
          <a:lstStyle/>
          <a:p>
            <a:r>
              <a:rPr lang="tr-TR" sz="3200" dirty="0">
                <a:solidFill>
                  <a:srgbClr val="00B0F0"/>
                </a:solidFill>
              </a:rPr>
              <a:t>Türkiye’ de Lojistik Sektörünün Gelişimi </a:t>
            </a:r>
          </a:p>
        </p:txBody>
      </p:sp>
      <p:sp>
        <p:nvSpPr>
          <p:cNvPr id="5" name="Metin kutusu 4"/>
          <p:cNvSpPr txBox="1"/>
          <p:nvPr/>
        </p:nvSpPr>
        <p:spPr>
          <a:xfrm>
            <a:off x="296839" y="1441944"/>
            <a:ext cx="7983941" cy="4401205"/>
          </a:xfrm>
          <a:prstGeom prst="rect">
            <a:avLst/>
          </a:prstGeom>
          <a:noFill/>
        </p:spPr>
        <p:txBody>
          <a:bodyPr wrap="square" rtlCol="0" anchor="ctr">
            <a:spAutoFit/>
          </a:bodyPr>
          <a:lstStyle/>
          <a:p>
            <a:pPr algn="just"/>
            <a:r>
              <a:rPr lang="tr-TR" sz="2800" dirty="0"/>
              <a:t>Lojistiğin gelişmesi, ülkelerin lojistik olanak ve yeteneklerine  bağlıdır. Ülke ve bölge bazında yapılan lojistik değerlendirmeler önemlidir, çünkü dünyanın bazı bölgeleri, başarılarında önemli paya sahip mükemmel lojistik olanaklara sahip iken diğer bölgeler, bu özelliklerden yoksundur. Lojistikte bölge değerlendirmesi, coğrafik, fiziksel ve kurumsal altyapıya göre yapılır. Bu tür değerlendirmeler lojistiğin gelişmesi için gerekli olan yatırım ve düzenlemelere ışık tutar.</a:t>
            </a:r>
          </a:p>
        </p:txBody>
      </p:sp>
    </p:spTree>
    <p:extLst>
      <p:ext uri="{BB962C8B-B14F-4D97-AF65-F5344CB8AC3E}">
        <p14:creationId xmlns:p14="http://schemas.microsoft.com/office/powerpoint/2010/main" val="1744871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286603" y="1534838"/>
            <a:ext cx="7983941" cy="4154984"/>
          </a:xfrm>
          <a:prstGeom prst="rect">
            <a:avLst/>
          </a:prstGeom>
          <a:noFill/>
        </p:spPr>
        <p:txBody>
          <a:bodyPr wrap="square" rtlCol="0" anchor="ctr">
            <a:spAutoFit/>
          </a:bodyPr>
          <a:lstStyle/>
          <a:p>
            <a:pPr algn="just"/>
            <a:r>
              <a:rPr lang="tr-TR" sz="2400" dirty="0"/>
              <a:t>Dünya üzerindeki gelişmiş ülkelerin tamamının entegre olduğu günden güne gelişen lojistik sektörü, Türkiye’de de 1980’lerle 1990’lı yıllar arasında kara, hava, deniz, demiryolu ve kombine taşımacılık alanlarındaki yatırımlarla alt yapısını oluşturmuştur, 1990’lı yıllarda da atılıma geçmiştir. Dünyadaki benzer uygulamalara paralel biçimde </a:t>
            </a:r>
          </a:p>
          <a:p>
            <a:pPr algn="just"/>
            <a:r>
              <a:rPr lang="tr-TR" sz="2400" dirty="0"/>
              <a:t>hizmetlerini çeşitlendiren ve uzmanlaştıran Türkiye ‘de yerleşik lojistik sektörü, 2000 yılının başına gelindiğinde, emekleme devresini geride bırakarak, yerli ve uluslararası şirketlerde işbirliğine giden, yurtdışı bürolar açan hizmetlerinin kalitesini sürekli artıran, dinamik bir sektör haline gelmiştir.</a:t>
            </a:r>
          </a:p>
        </p:txBody>
      </p:sp>
    </p:spTree>
    <p:extLst>
      <p:ext uri="{BB962C8B-B14F-4D97-AF65-F5344CB8AC3E}">
        <p14:creationId xmlns:p14="http://schemas.microsoft.com/office/powerpoint/2010/main" val="24332023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899592" y="260648"/>
            <a:ext cx="6984776" cy="1778549"/>
          </a:xfrm>
        </p:spPr>
        <p:txBody>
          <a:bodyPr>
            <a:normAutofit/>
          </a:bodyPr>
          <a:lstStyle/>
          <a:p>
            <a:r>
              <a:rPr lang="tr-TR" sz="3000" dirty="0"/>
              <a:t>2023 YILINA YÖNELİK TAŞIMACILIK VE LOJİSTİK SEKTÖRÜNE İLİŞKİN YÜKSEK HEDEFLER</a:t>
            </a:r>
          </a:p>
        </p:txBody>
      </p:sp>
      <p:sp>
        <p:nvSpPr>
          <p:cNvPr id="3" name="İçerik Yer Tutucusu 2"/>
          <p:cNvSpPr>
            <a:spLocks noGrp="1"/>
          </p:cNvSpPr>
          <p:nvPr>
            <p:ph idx="1"/>
          </p:nvPr>
        </p:nvSpPr>
        <p:spPr>
          <a:xfrm>
            <a:off x="899592" y="2276872"/>
            <a:ext cx="7200800" cy="3672408"/>
          </a:xfrm>
        </p:spPr>
        <p:txBody>
          <a:bodyPr>
            <a:normAutofit fontScale="92500" lnSpcReduction="20000"/>
          </a:bodyPr>
          <a:lstStyle/>
          <a:p>
            <a:r>
              <a:rPr lang="tr-TR" sz="2900" dirty="0"/>
              <a:t>16 adet büyük ölçekli yeni lojistik merkezi</a:t>
            </a:r>
          </a:p>
          <a:p>
            <a:r>
              <a:rPr lang="tr-TR" sz="2900" dirty="0"/>
              <a:t>36.500 km’lik bölünmüş yol, 7.500 km’lik otoyol</a:t>
            </a:r>
          </a:p>
          <a:p>
            <a:r>
              <a:rPr lang="tr-TR" sz="2900" dirty="0"/>
              <a:t>70.000 km’lik bitümlü sıcak karışım asfalt</a:t>
            </a:r>
          </a:p>
          <a:p>
            <a:r>
              <a:rPr lang="tr-TR" sz="2900" dirty="0"/>
              <a:t>2019 yılında Boğaz’da bir denizaltı tüp geçit ve 3. köprü</a:t>
            </a:r>
          </a:p>
          <a:p>
            <a:r>
              <a:rPr lang="tr-TR" sz="2900" dirty="0"/>
              <a:t>Çanakkale Boğazı’nda köprü</a:t>
            </a:r>
          </a:p>
          <a:p>
            <a:r>
              <a:rPr lang="tr-TR" sz="2900" dirty="0"/>
              <a:t>10.000 km’lik hızlı tren demir yolu, 4.000 km’lik ilave demir yolu</a:t>
            </a:r>
          </a:p>
          <a:p>
            <a:pPr marL="0" indent="0">
              <a:buNone/>
            </a:pPr>
            <a:endParaRPr lang="tr-TR" dirty="0"/>
          </a:p>
        </p:txBody>
      </p:sp>
    </p:spTree>
    <p:extLst>
      <p:ext uri="{BB962C8B-B14F-4D97-AF65-F5344CB8AC3E}">
        <p14:creationId xmlns:p14="http://schemas.microsoft.com/office/powerpoint/2010/main" val="21303697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a:xfrm>
            <a:off x="899592" y="260648"/>
            <a:ext cx="6984776" cy="1778549"/>
          </a:xfrm>
        </p:spPr>
        <p:txBody>
          <a:bodyPr>
            <a:normAutofit/>
          </a:bodyPr>
          <a:lstStyle/>
          <a:p>
            <a:r>
              <a:rPr lang="tr-TR" sz="3000" dirty="0"/>
              <a:t>2023 YILINA YÖNELİK TAŞIMACILIK VE LOJİSTİK SEKTÖRÜNE İLİŞKİN YÜKSEK HEDEFLER</a:t>
            </a:r>
          </a:p>
        </p:txBody>
      </p:sp>
      <p:sp>
        <p:nvSpPr>
          <p:cNvPr id="3" name="İçerik Yer Tutucusu 2"/>
          <p:cNvSpPr>
            <a:spLocks noGrp="1"/>
          </p:cNvSpPr>
          <p:nvPr>
            <p:ph idx="1"/>
          </p:nvPr>
        </p:nvSpPr>
        <p:spPr/>
        <p:txBody>
          <a:bodyPr>
            <a:normAutofit/>
          </a:bodyPr>
          <a:lstStyle/>
          <a:p>
            <a:r>
              <a:rPr lang="tr-TR" dirty="0"/>
              <a:t>8.000 km’lik hattın elektrikli ve sinyalli hale getirilmesi</a:t>
            </a:r>
          </a:p>
          <a:p>
            <a:r>
              <a:rPr lang="tr-TR" dirty="0"/>
              <a:t>Yılda 500 km’lik demir yolunun yenilenmesi</a:t>
            </a:r>
          </a:p>
          <a:p>
            <a:r>
              <a:rPr lang="tr-TR" dirty="0"/>
              <a:t>Demir yollarının özel sektöre açılması</a:t>
            </a:r>
          </a:p>
          <a:p>
            <a:r>
              <a:rPr lang="tr-TR" dirty="0"/>
              <a:t>Terminal ve istasyonların yenilenmesi, hızlı trenlere yönelik yeni terminallerin inşası</a:t>
            </a:r>
          </a:p>
          <a:p>
            <a:r>
              <a:rPr lang="tr-TR" dirty="0"/>
              <a:t>Türkiye’yi; Kafkaslar, Orta Doğu ve Kuzey Afrika’ya bağlayacak demir yolu projelerinin desteklenmesi</a:t>
            </a:r>
          </a:p>
          <a:p>
            <a:r>
              <a:rPr lang="tr-TR" dirty="0"/>
              <a:t>Yeni havaalanları, 400 milyonluk yolcu kapasitesi (165 milyon)</a:t>
            </a:r>
          </a:p>
          <a:p>
            <a:r>
              <a:rPr lang="tr-TR" dirty="0"/>
              <a:t>İstanbul’a 3 yeni havaalanı</a:t>
            </a:r>
          </a:p>
          <a:p>
            <a:endParaRPr lang="tr-TR" dirty="0"/>
          </a:p>
        </p:txBody>
      </p:sp>
    </p:spTree>
    <p:extLst>
      <p:ext uri="{BB962C8B-B14F-4D97-AF65-F5344CB8AC3E}">
        <p14:creationId xmlns:p14="http://schemas.microsoft.com/office/powerpoint/2010/main" val="42458682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a:xfrm>
            <a:off x="899592" y="260648"/>
            <a:ext cx="6984776" cy="1778549"/>
          </a:xfrm>
        </p:spPr>
        <p:txBody>
          <a:bodyPr>
            <a:normAutofit/>
          </a:bodyPr>
          <a:lstStyle/>
          <a:p>
            <a:r>
              <a:rPr lang="tr-TR" sz="3000" dirty="0"/>
              <a:t>2023 YILINA YÖNELİK TAŞIMACILIK VE LOJİSTİK SEKTÖRÜNE İLİŞKİN YÜKSEK HEDEFLER</a:t>
            </a:r>
          </a:p>
        </p:txBody>
      </p:sp>
      <p:sp>
        <p:nvSpPr>
          <p:cNvPr id="3" name="İçerik Yer Tutucusu 2"/>
          <p:cNvSpPr>
            <a:spLocks noGrp="1"/>
          </p:cNvSpPr>
          <p:nvPr>
            <p:ph idx="1"/>
          </p:nvPr>
        </p:nvSpPr>
        <p:spPr/>
        <p:txBody>
          <a:bodyPr>
            <a:normAutofit/>
          </a:bodyPr>
          <a:lstStyle/>
          <a:p>
            <a:r>
              <a:rPr lang="tr-TR" dirty="0"/>
              <a:t>750 uçaklık filo (200 bölgesel)</a:t>
            </a:r>
          </a:p>
          <a:p>
            <a:r>
              <a:rPr lang="tr-TR" dirty="0"/>
              <a:t>Ana limanların demir yollarına bağlanması</a:t>
            </a:r>
          </a:p>
          <a:p>
            <a:r>
              <a:rPr lang="tr-TR" dirty="0"/>
              <a:t>Ege/Akdeniz/Marmara ve Karadeniz’de transfer limanları </a:t>
            </a:r>
          </a:p>
          <a:p>
            <a:r>
              <a:rPr lang="tr-TR" dirty="0"/>
              <a:t>2019 yılında dünyanın en iyi 10 limanından en az birine sahip olmak</a:t>
            </a:r>
          </a:p>
          <a:p>
            <a:r>
              <a:rPr lang="tr-TR" dirty="0"/>
              <a:t>Konteynır taşımacılığı için 32 milyon </a:t>
            </a:r>
            <a:r>
              <a:rPr lang="tr-TR" dirty="0" err="1"/>
              <a:t>TEU’luk</a:t>
            </a:r>
            <a:r>
              <a:rPr lang="tr-TR" dirty="0"/>
              <a:t> </a:t>
            </a:r>
            <a:r>
              <a:rPr lang="tr-TR" dirty="0" err="1"/>
              <a:t>elleçleme</a:t>
            </a:r>
            <a:r>
              <a:rPr lang="tr-TR" dirty="0"/>
              <a:t> kapasitesi</a:t>
            </a:r>
          </a:p>
          <a:p>
            <a:r>
              <a:rPr lang="tr-TR" dirty="0"/>
              <a:t>500 milyon ton katı, 350 milyon ton sıvı yük </a:t>
            </a:r>
            <a:r>
              <a:rPr lang="tr-TR" dirty="0" err="1"/>
              <a:t>elleçlemek</a:t>
            </a:r>
            <a:endParaRPr lang="tr-TR" dirty="0"/>
          </a:p>
          <a:p>
            <a:r>
              <a:rPr lang="tr-TR" dirty="0"/>
              <a:t>10 milyon </a:t>
            </a:r>
            <a:r>
              <a:rPr lang="tr-TR" dirty="0" err="1"/>
              <a:t>DWT’lik</a:t>
            </a:r>
            <a:r>
              <a:rPr lang="tr-TR" dirty="0"/>
              <a:t> gemi inşaatı kapasitesi</a:t>
            </a:r>
          </a:p>
          <a:p>
            <a:r>
              <a:rPr lang="tr-TR" dirty="0"/>
              <a:t>50.000 yat kapasiteli 100 marina</a:t>
            </a:r>
          </a:p>
          <a:p>
            <a:endParaRPr lang="tr-TR" dirty="0"/>
          </a:p>
        </p:txBody>
      </p:sp>
    </p:spTree>
    <p:extLst>
      <p:ext uri="{BB962C8B-B14F-4D97-AF65-F5344CB8AC3E}">
        <p14:creationId xmlns:p14="http://schemas.microsoft.com/office/powerpoint/2010/main" val="42607972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5EB1D3-B6B6-E9A5-F6CA-A6F8015B3676}"/>
              </a:ext>
            </a:extLst>
          </p:cNvPr>
          <p:cNvSpPr>
            <a:spLocks noGrp="1"/>
          </p:cNvSpPr>
          <p:nvPr>
            <p:ph type="title"/>
          </p:nvPr>
        </p:nvSpPr>
        <p:spPr/>
        <p:txBody>
          <a:bodyPr/>
          <a:lstStyle/>
          <a:p>
            <a:r>
              <a:rPr lang="tr-TR"/>
              <a:t>Türkiye’nin 2053 lojistik hedefleri</a:t>
            </a:r>
          </a:p>
        </p:txBody>
      </p:sp>
      <p:sp>
        <p:nvSpPr>
          <p:cNvPr id="3" name="İçerik Yer Tutucusu 2">
            <a:extLst>
              <a:ext uri="{FF2B5EF4-FFF2-40B4-BE49-F238E27FC236}">
                <a16:creationId xmlns:a16="http://schemas.microsoft.com/office/drawing/2014/main" id="{AE57F3A8-797C-A7F9-99CD-878420BC0773}"/>
              </a:ext>
            </a:extLst>
          </p:cNvPr>
          <p:cNvSpPr>
            <a:spLocks noGrp="1"/>
          </p:cNvSpPr>
          <p:nvPr>
            <p:ph idx="1"/>
          </p:nvPr>
        </p:nvSpPr>
        <p:spPr/>
        <p:txBody>
          <a:bodyPr/>
          <a:lstStyle/>
          <a:p>
            <a:pPr algn="just"/>
            <a:r>
              <a:rPr lang="tr-TR"/>
              <a:t>Türkiye’nin 2053 lojistik hedefleri, "Ulaştırma ve Lojistik Ana Planı" kapsamında somut hedefler ve projeksiyonlar içermektedir. İşte bu hedefler sayısal örneklerle detaylandırılmış şekilde:</a:t>
            </a:r>
          </a:p>
          <a:p>
            <a:pPr algn="just"/>
            <a:r>
              <a:rPr lang="tr-TR"/>
              <a:t>1. Altyapı Geliştirme ve YatırımlarOtoyol Projeleri: 2053 yılına kadar toplamda 5.839 km yeni otoyol inşası hedeflenmektedir. Bu otoyollar, ülkenin stratejik bölgelerini birbirine bağlayacak şekilde planlanmıştır. Ayrıca 13.951 km mevcut yollar genişletilecek ve 795 km yeni bölünmüş yol yapılacaktır.Karayolu Taşımacılığı: Karayolu yük taşımacılığının 2053 yılına kadar %57,47 oranında artması öngörülmektedir. 2019 yılında karayoluyla taşınan yük miktarı 754 milyon ton iken, bu rakam 2053'te 1,174 milyar tona çıkacaktır​(</a:t>
            </a:r>
          </a:p>
        </p:txBody>
      </p:sp>
    </p:spTree>
    <p:extLst>
      <p:ext uri="{BB962C8B-B14F-4D97-AF65-F5344CB8AC3E}">
        <p14:creationId xmlns:p14="http://schemas.microsoft.com/office/powerpoint/2010/main" val="18331438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5EB1D3-B6B6-E9A5-F6CA-A6F8015B3676}"/>
              </a:ext>
            </a:extLst>
          </p:cNvPr>
          <p:cNvSpPr>
            <a:spLocks noGrp="1"/>
          </p:cNvSpPr>
          <p:nvPr>
            <p:ph type="title"/>
          </p:nvPr>
        </p:nvSpPr>
        <p:spPr/>
        <p:txBody>
          <a:bodyPr/>
          <a:lstStyle/>
          <a:p>
            <a:r>
              <a:rPr lang="tr-TR"/>
              <a:t>Türkiye’nin 2053 lojistik hedefleri</a:t>
            </a:r>
          </a:p>
        </p:txBody>
      </p:sp>
      <p:sp>
        <p:nvSpPr>
          <p:cNvPr id="3" name="İçerik Yer Tutucusu 2">
            <a:extLst>
              <a:ext uri="{FF2B5EF4-FFF2-40B4-BE49-F238E27FC236}">
                <a16:creationId xmlns:a16="http://schemas.microsoft.com/office/drawing/2014/main" id="{AE57F3A8-797C-A7F9-99CD-878420BC0773}"/>
              </a:ext>
            </a:extLst>
          </p:cNvPr>
          <p:cNvSpPr>
            <a:spLocks noGrp="1"/>
          </p:cNvSpPr>
          <p:nvPr>
            <p:ph idx="1"/>
          </p:nvPr>
        </p:nvSpPr>
        <p:spPr/>
        <p:txBody>
          <a:bodyPr/>
          <a:lstStyle/>
          <a:p>
            <a:pPr algn="just"/>
            <a:r>
              <a:rPr lang="tr-TR"/>
              <a:t>Demiryolu Ağı Genişletilmesi: Demiryolu Taşımacılığı: Demiryolu taşımacılığı, Türkiye’nin sürdürülebilir ulaştırma politikalarının ana unsurlarından biridir. 2053 yılına kadar demiryolu ile taşınan yük oranı %3,13’ten %21,93’e çıkarılacak. Bu doğrultuda, demiryolu taşımacılığında büyük bir genişleme öngörülmektedir:Toplam Demiryolu Uzunluğu: Türkiye, 2053 yılına kadar toplamda 8.554 km demiryolu inşa etmeyi planlamaktadır. Bu hatlar hızlı tren ve yük taşımacılığına yönelik olacak şekilde projelendirilmiştir​</a:t>
            </a:r>
          </a:p>
          <a:p>
            <a:pPr algn="just"/>
            <a:r>
              <a:rPr lang="tr-TR"/>
              <a:t>Yük Taşımacılığı: 2019 yılında demiryoluyla taşınan yük miktarı 32,8 milyon ton iken, bu rakam 2053’te 448 milyon tona çıkacaktır​</a:t>
            </a:r>
          </a:p>
        </p:txBody>
      </p:sp>
    </p:spTree>
    <p:extLst>
      <p:ext uri="{BB962C8B-B14F-4D97-AF65-F5344CB8AC3E}">
        <p14:creationId xmlns:p14="http://schemas.microsoft.com/office/powerpoint/2010/main" val="10677959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5EB1D3-B6B6-E9A5-F6CA-A6F8015B3676}"/>
              </a:ext>
            </a:extLst>
          </p:cNvPr>
          <p:cNvSpPr>
            <a:spLocks noGrp="1"/>
          </p:cNvSpPr>
          <p:nvPr>
            <p:ph type="title"/>
          </p:nvPr>
        </p:nvSpPr>
        <p:spPr/>
        <p:txBody>
          <a:bodyPr/>
          <a:lstStyle/>
          <a:p>
            <a:r>
              <a:rPr lang="tr-TR"/>
              <a:t>Türkiye’nin 2053 lojistik hedefleri</a:t>
            </a:r>
          </a:p>
        </p:txBody>
      </p:sp>
      <p:sp>
        <p:nvSpPr>
          <p:cNvPr id="3" name="İçerik Yer Tutucusu 2">
            <a:extLst>
              <a:ext uri="{FF2B5EF4-FFF2-40B4-BE49-F238E27FC236}">
                <a16:creationId xmlns:a16="http://schemas.microsoft.com/office/drawing/2014/main" id="{AE57F3A8-797C-A7F9-99CD-878420BC0773}"/>
              </a:ext>
            </a:extLst>
          </p:cNvPr>
          <p:cNvSpPr>
            <a:spLocks noGrp="1"/>
          </p:cNvSpPr>
          <p:nvPr>
            <p:ph idx="1"/>
          </p:nvPr>
        </p:nvSpPr>
        <p:spPr/>
        <p:txBody>
          <a:bodyPr/>
          <a:lstStyle/>
          <a:p>
            <a:r>
              <a:rPr lang="tr-TR" b="1"/>
              <a:t>Çevreci ve Sürdürülebilir Ulaştırma</a:t>
            </a:r>
          </a:p>
          <a:p>
            <a:pPr>
              <a:buFont typeface="Arial" panose="020B0604020202020204" pitchFamily="34" charset="0"/>
              <a:buChar char="•"/>
            </a:pPr>
            <a:r>
              <a:rPr lang="tr-TR" b="1"/>
              <a:t>Sürdürülebilir Taşıma Hedefleri</a:t>
            </a:r>
            <a:r>
              <a:rPr lang="tr-TR"/>
              <a:t>: 2053 vizyonunda, "Çevreci (Sürdürülebilir)" senaryo ön plandadır. Bu senaryo kapsamında, ulaşımda sera gazı emisyonlarını azaltacak uygulamalar devreye sokulacaktır.</a:t>
            </a:r>
          </a:p>
          <a:p>
            <a:pPr>
              <a:buFont typeface="Arial" panose="020B0604020202020204" pitchFamily="34" charset="0"/>
              <a:buChar char="•"/>
            </a:pPr>
            <a:r>
              <a:rPr lang="tr-TR" b="1"/>
              <a:t>Enerji Verimliliği</a:t>
            </a:r>
            <a:r>
              <a:rPr lang="tr-TR"/>
              <a:t>: Toplu taşımanın teşviki, elektrikli araçların yaygınlaştırılması ve yakıt tüketimini azaltan teknolojilere yatırımlar yapılacaktır.</a:t>
            </a:r>
          </a:p>
          <a:p>
            <a:pPr>
              <a:buFont typeface="Arial" panose="020B0604020202020204" pitchFamily="34" charset="0"/>
              <a:buChar char="•"/>
            </a:pPr>
            <a:r>
              <a:rPr lang="tr-TR" b="1"/>
              <a:t>Net Fayda Maliyet Oranı (FMO)</a:t>
            </a:r>
            <a:r>
              <a:rPr lang="tr-TR"/>
              <a:t>: Çevreci senaryo diğer senaryolara kıyasla en yüksek FMO değerine sahiptir: 3,22. Bu senaryo aynı zamanda 20,926 milyar Euro net bugünkü değer (NBD) ile en yüksek ekonomik faydayı sağlamaktadır​</a:t>
            </a:r>
          </a:p>
        </p:txBody>
      </p:sp>
    </p:spTree>
    <p:extLst>
      <p:ext uri="{BB962C8B-B14F-4D97-AF65-F5344CB8AC3E}">
        <p14:creationId xmlns:p14="http://schemas.microsoft.com/office/powerpoint/2010/main" val="1028775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5EB1D3-B6B6-E9A5-F6CA-A6F8015B3676}"/>
              </a:ext>
            </a:extLst>
          </p:cNvPr>
          <p:cNvSpPr>
            <a:spLocks noGrp="1"/>
          </p:cNvSpPr>
          <p:nvPr>
            <p:ph type="title"/>
          </p:nvPr>
        </p:nvSpPr>
        <p:spPr/>
        <p:txBody>
          <a:bodyPr/>
          <a:lstStyle/>
          <a:p>
            <a:r>
              <a:rPr lang="tr-TR"/>
              <a:t>Türkiye’nin 2053 lojistik hedefleri</a:t>
            </a:r>
          </a:p>
        </p:txBody>
      </p:sp>
      <p:sp>
        <p:nvSpPr>
          <p:cNvPr id="3" name="İçerik Yer Tutucusu 2">
            <a:extLst>
              <a:ext uri="{FF2B5EF4-FFF2-40B4-BE49-F238E27FC236}">
                <a16:creationId xmlns:a16="http://schemas.microsoft.com/office/drawing/2014/main" id="{AE57F3A8-797C-A7F9-99CD-878420BC0773}"/>
              </a:ext>
            </a:extLst>
          </p:cNvPr>
          <p:cNvSpPr>
            <a:spLocks noGrp="1"/>
          </p:cNvSpPr>
          <p:nvPr>
            <p:ph idx="1"/>
          </p:nvPr>
        </p:nvSpPr>
        <p:spPr/>
        <p:txBody>
          <a:bodyPr>
            <a:normAutofit lnSpcReduction="10000"/>
          </a:bodyPr>
          <a:lstStyle/>
          <a:p>
            <a:r>
              <a:rPr lang="tr-TR"/>
              <a:t>Bölgesel ve Küresel EntegrasyonLojistik Ağlarının Genişletilmesi: Türkiye'nin 2053 hedeflerinde, lojistik merkezlerin sayısının artırılması ve lojistik koridorların geliştirilmesi öngörülmektedir. Bu merkezler, deniz, kara, demir ve hava yolu taşıma modlarını birleştiren intermodal taşımacılığı güçlendirecektir.Denizyolu Taşımacılığı: 2053 yılına kadar denizyoluyla taşınan yük miktarı %24,85’ten %20,60 seviyelerine gelecektir. Denizyolu ile yapılan taşımacılık, özellikle sıvı dökme yükler hariç olmak üzere optimize edilecektir​</a:t>
            </a:r>
          </a:p>
          <a:p>
            <a:r>
              <a:rPr lang="tr-TR"/>
              <a:t>Havayolu Taşımacılığı: Havayolu taşımacılığında da önemli artışlar hedeflenmektedir. 2053 yılına kadar havalimanlarındaki yolcu sayısının 344,3 milyon olması beklenmektedir​(Bu hedefler, Türkiye’nin 2053 yılına kadar ulaştırma ve lojistik sektöründe modern, çevreci ve sürdürülebilir çözümler üreterek, bölgesel ve küresel ticarette lider konumuna gelmesini amaçlamaktadır.</a:t>
            </a:r>
          </a:p>
        </p:txBody>
      </p:sp>
    </p:spTree>
    <p:extLst>
      <p:ext uri="{BB962C8B-B14F-4D97-AF65-F5344CB8AC3E}">
        <p14:creationId xmlns:p14="http://schemas.microsoft.com/office/powerpoint/2010/main" val="20992318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BAADFC8-5EC1-425B-BF89-49E9EED7FE2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cstate="email">
            <a:extLst>
              <a:ext uri="{28A0092B-C50C-407E-A947-70E740481C1C}">
                <a14:useLocalDpi xmlns:a14="http://schemas.microsoft.com/office/drawing/2010/main"/>
              </a:ext>
            </a:extLst>
          </a:blip>
          <a:stretch>
            <a:fillRect/>
          </a:stretch>
        </p:blipFill>
        <p:spPr>
          <a:xfrm>
            <a:off x="0" y="0"/>
            <a:ext cx="7397750" cy="6858000"/>
          </a:xfrm>
          <a:prstGeom prst="rect">
            <a:avLst/>
          </a:prstGeom>
        </p:spPr>
      </p:pic>
      <p:sp>
        <p:nvSpPr>
          <p:cNvPr id="11" name="Rectangle 10">
            <a:extLst>
              <a:ext uri="{FF2B5EF4-FFF2-40B4-BE49-F238E27FC236}">
                <a16:creationId xmlns:a16="http://schemas.microsoft.com/office/drawing/2014/main" id="{09C946AC-2072-4946-A2B8-39F09D094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sz="1350"/>
          </a:p>
        </p:txBody>
      </p:sp>
      <p:pic>
        <p:nvPicPr>
          <p:cNvPr id="13" name="Picture 12">
            <a:extLst>
              <a:ext uri="{FF2B5EF4-FFF2-40B4-BE49-F238E27FC236}">
                <a16:creationId xmlns:a16="http://schemas.microsoft.com/office/drawing/2014/main" id="{A748C8C8-F348-4D00-852A-26DD9EBCC24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1" y="857250"/>
            <a:ext cx="4520072" cy="5142161"/>
          </a:xfrm>
          <a:prstGeom prst="rect">
            <a:avLst/>
          </a:prstGeom>
        </p:spPr>
      </p:pic>
      <p:sp>
        <p:nvSpPr>
          <p:cNvPr id="2" name="Başlık 1">
            <a:extLst>
              <a:ext uri="{FF2B5EF4-FFF2-40B4-BE49-F238E27FC236}">
                <a16:creationId xmlns:a16="http://schemas.microsoft.com/office/drawing/2014/main" id="{1C17DE81-DBA9-92EB-F389-F43EF339FDC8}"/>
              </a:ext>
            </a:extLst>
          </p:cNvPr>
          <p:cNvSpPr>
            <a:spLocks noGrp="1"/>
          </p:cNvSpPr>
          <p:nvPr>
            <p:ph type="title"/>
          </p:nvPr>
        </p:nvSpPr>
        <p:spPr>
          <a:xfrm>
            <a:off x="365157" y="2381250"/>
            <a:ext cx="3385344" cy="2114549"/>
          </a:xfrm>
        </p:spPr>
        <p:txBody>
          <a:bodyPr vert="horz" lIns="91440" tIns="45720" rIns="91440" bIns="45720" rtlCol="0" anchor="b">
            <a:normAutofit/>
          </a:bodyPr>
          <a:lstStyle/>
          <a:p>
            <a:pPr algn="r">
              <a:lnSpc>
                <a:spcPct val="90000"/>
              </a:lnSpc>
            </a:pPr>
            <a:r>
              <a:rPr lang="en-US">
                <a:solidFill>
                  <a:srgbClr val="FFFFFF"/>
                </a:solidFill>
              </a:rPr>
              <a:t>TÜRKİYE’NİN TEDARİK ZİNCİRİ VE LOJİSTİK SEKTÖRÜ ÜZERİNE BİR SWOT ANALİZİ</a:t>
            </a:r>
            <a:br>
              <a:rPr lang="en-US">
                <a:solidFill>
                  <a:srgbClr val="FFFFFF"/>
                </a:solidFill>
              </a:rPr>
            </a:br>
            <a:endParaRPr lang="en-US">
              <a:solidFill>
                <a:srgbClr val="FFFFFF"/>
              </a:solidFill>
            </a:endParaRPr>
          </a:p>
        </p:txBody>
      </p:sp>
      <p:sp useBgFill="1">
        <p:nvSpPr>
          <p:cNvPr id="15" name="Freeform 5">
            <a:extLst>
              <a:ext uri="{FF2B5EF4-FFF2-40B4-BE49-F238E27FC236}">
                <a16:creationId xmlns:a16="http://schemas.microsoft.com/office/drawing/2014/main" id="{559FD8B5-8CC4-4CFE-BD2A-1216B1F2C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349034" y="2195761"/>
            <a:ext cx="4786054" cy="4660900"/>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68580" tIns="34290" rIns="68580" bIns="34290" rtlCol="0" anchor="t">
            <a:normAutofit/>
          </a:bodyPr>
          <a:lstStyle/>
          <a:p>
            <a:pPr algn="ctr">
              <a:spcAft>
                <a:spcPts val="750"/>
              </a:spcAft>
              <a:buClr>
                <a:schemeClr val="tx1"/>
              </a:buClr>
              <a:buSzPct val="100000"/>
            </a:pPr>
            <a:endParaRPr lang="en-US" sz="1200" cap="all"/>
          </a:p>
        </p:txBody>
      </p:sp>
      <p:sp>
        <p:nvSpPr>
          <p:cNvPr id="17" name="Freeform 14">
            <a:extLst>
              <a:ext uri="{FF2B5EF4-FFF2-40B4-BE49-F238E27FC236}">
                <a16:creationId xmlns:a16="http://schemas.microsoft.com/office/drawing/2014/main" id="{9ECF13F4-3D2A-4F2E-9BBD-3038670D2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39590" y="1779136"/>
            <a:ext cx="5172535" cy="4504118"/>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Group 18">
            <a:extLst>
              <a:ext uri="{FF2B5EF4-FFF2-40B4-BE49-F238E27FC236}">
                <a16:creationId xmlns:a16="http://schemas.microsoft.com/office/drawing/2014/main" id="{19660E16-DCC0-4B6C-8E84-4C2925800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16205" y="1949089"/>
            <a:ext cx="5007957" cy="3926499"/>
            <a:chOff x="5516018" y="331504"/>
            <a:chExt cx="6675982" cy="5235326"/>
          </a:xfrm>
        </p:grpSpPr>
        <p:cxnSp>
          <p:nvCxnSpPr>
            <p:cNvPr id="20" name="Straight Connector 19">
              <a:extLst>
                <a:ext uri="{FF2B5EF4-FFF2-40B4-BE49-F238E27FC236}">
                  <a16:creationId xmlns:a16="http://schemas.microsoft.com/office/drawing/2014/main" id="{29130F79-611E-4458-B53E-36A2572171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EA78691-46E9-469A-921B-9D16933EE1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A4AA196-3090-4283-ADF0-893F810858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FD33794-9D71-4B08-AE11-8B589EFBA2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AFBF0E-867E-4181-93DF-9A13F334B0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7EA8258-0459-4037-BABC-B1A0A5D705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8BB355F-363A-4046-90AF-3DDB7AA1845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334308-B9EC-41CF-8B6C-23FB134BA5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0781133-0656-4918-BE6A-703C148ED9D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B4F93AD-8044-447B-8CAC-8A06971603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AA78689-5B7A-4420-A3DC-0EA0815835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09CC934-4D78-4334-8B7F-4D0C13D6C9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8DA411-6F43-42CF-8A08-B2871E3822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417563A-04A5-4952-AA6D-E503558C54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A41B232-E630-4AC7-9A97-763529D70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EABA1A2-F7BA-4FB5-AD0A-A4DBBCF6F7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A99E51-908F-4D65-AC2B-A8E75A1FE4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2D126B-7D1C-4D2C-97D5-2D8C686B78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4B20164-1C4E-4FA3-A2E5-389E7407730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4E7AD9-228F-47CD-A598-CB579B489A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7D2B81A-6082-4668-8AA7-F2757C8EC20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469BD5F-3BFE-4BA0-A24F-7F80A73B82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24D532A-F49F-4BB9-AAA6-8B2B89CB6F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B2224AE-40A4-483D-991E-9490A01B76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D3DE117-F3FA-4657-B4A7-40DE41238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85EA1EB-1126-463C-AD87-4FB126C6FF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0336723-7646-4B25-9EE9-519CC83342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52B6D8B-5579-4262-9376-B702382B0E2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07893BD-D1AE-48C1-91A9-D478793762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C6FEEA5-8E66-4C31-92AD-01305FF488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3E18335-591C-4354-9390-DD371BB3F9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51098D0-C2B4-4D61-92D5-C81DDBDA22D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EACD9C3-3E01-47CF-BC68-BDAE22E30B4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0A5C950-6480-44E0-9D50-F193147D55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68F1BDE-24EB-4308-AB69-F353C8598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83E12EF-845B-41E6-BA82-F6CD46C0FE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646EE72-4D70-46B4-B655-74722AAC2A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2BB073B-89FD-4B47-814B-A8EE7A1EE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E25488-63A9-43E5-A03F-2E628C3B21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BE7FDEE-BD70-4D8F-B5CE-4D03F1D00E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039673A-8522-4BFC-B8B2-7F2FEAED4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7AB08C4-AF01-4D1D-90EA-A4113CFF99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C8E7B06-FF45-4365-9DF4-E8E315A5B34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8F00765-F5EC-427C-A7A1-CDFA0406F2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FE1EF8A-C81D-4879-9142-3697CA0BCBD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80C0B62-6F07-4DD2-B308-F3C29F2944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9C7C8CB-2D13-4138-B3C1-B78EC19B59D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EB1BC7E-04BC-423C-843D-7C149C25A1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BA62C3-B17C-4AD0-B585-1C42ED745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B6F8BD1-22F9-4EE2-93C7-F859F3B990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173F2AA-33AE-4A43-AFA9-50C60D6F68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6339DB1-5BB0-42C5-B12D-7555AD403D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413BF1A-CE02-41EB-8977-EBE39AE0D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899680C-3DC7-4B71-8D34-7EE8306FEC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3B57EA5-419A-4EE0-BB93-356B12F6D0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7A79B15-73B1-417F-A985-25FBC893F7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66DE9DC-92E2-44D8-B7D0-D1295DD8F0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A1F3CD-685D-4541-8715-91E39B1E23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63E90F9-BD80-4805-A68E-CA56D52496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014402D-979B-4D18-9E85-4D8F6C986F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A04AE49-4B0B-4908-B1DB-480F568D284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93E6AC-4EF0-4B88-AC7E-BCB112010B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344B49D-AFCD-4426-AC08-F3128282C3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3B776AB-0884-47E4-AC8D-69A19A6103D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1EC5397-87DB-4803-855B-44DFE9BBB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8EF0075-59DA-4C16-BF01-C65EE2DDD8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ABF3642-CC62-4EA5-8A59-1AFF97A560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7715913-AE6D-4FFC-A6EC-E7EE027D27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6B78CB6-17D0-445E-A523-FD18D3BE29D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83E7655-41DA-4DFA-9DEC-FD37064F0A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E953697-F897-4DE0-B735-80C721129E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C7CED19-0566-4D81-A59A-5A3561F1B7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E247A59-B18F-4331-BC8D-07C3DA5E8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21C3132-6A07-4EB5-A00C-2176067CB1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067D677-3FA9-4187-B1CA-F6298A917C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2E9FC80-B3E8-47CE-862C-9F6E9E598A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383F3C-A57C-472A-9E05-CCD8A4F8E5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534D376-6ABA-4DF9-BBEA-EB5A88180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pic>
        <p:nvPicPr>
          <p:cNvPr id="6" name="Graphic 5" descr="Tır">
            <a:extLst>
              <a:ext uri="{FF2B5EF4-FFF2-40B4-BE49-F238E27FC236}">
                <a16:creationId xmlns:a16="http://schemas.microsoft.com/office/drawing/2014/main" id="{ED3E373A-9EE0-C42E-7F70-0667D116622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4638" y="3344190"/>
            <a:ext cx="2765183" cy="2765183"/>
          </a:xfrm>
          <a:prstGeom prst="rect">
            <a:avLst/>
          </a:prstGeom>
        </p:spPr>
      </p:pic>
    </p:spTree>
    <p:extLst>
      <p:ext uri="{BB962C8B-B14F-4D97-AF65-F5344CB8AC3E}">
        <p14:creationId xmlns:p14="http://schemas.microsoft.com/office/powerpoint/2010/main" val="2160316299"/>
      </p:ext>
    </p:ext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0" y="1719807"/>
            <a:ext cx="2744542" cy="3418387"/>
          </a:xfrm>
        </p:spPr>
        <p:txBody>
          <a:bodyPr>
            <a:normAutofit/>
          </a:bodyPr>
          <a:lstStyle/>
          <a:p>
            <a:pPr algn="r"/>
            <a:r>
              <a:rPr lang="tr-TR" b="1" dirty="0"/>
              <a:t>Güçlü Noktalar</a:t>
            </a:r>
            <a:br>
              <a:rPr lang="tr-TR" dirty="0"/>
            </a:br>
            <a:endParaRPr lang="tr-T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İçerik Yer Tutucusu 2"/>
          <p:cNvSpPr>
            <a:spLocks noGrp="1"/>
          </p:cNvSpPr>
          <p:nvPr>
            <p:ph idx="1"/>
          </p:nvPr>
        </p:nvSpPr>
        <p:spPr>
          <a:xfrm>
            <a:off x="3741494" y="1719807"/>
            <a:ext cx="4888157" cy="3418387"/>
          </a:xfrm>
        </p:spPr>
        <p:txBody>
          <a:bodyPr>
            <a:normAutofit/>
          </a:bodyPr>
          <a:lstStyle/>
          <a:p>
            <a:pPr>
              <a:lnSpc>
                <a:spcPct val="90000"/>
              </a:lnSpc>
            </a:pPr>
            <a:r>
              <a:rPr lang="tr-TR" sz="1500"/>
              <a:t>Coğrafi Konum: Avrupa ve Asya kıtaları arasında köprü konumunda bulunması, birçok ülkeye ulaşım imkanı sunar.</a:t>
            </a:r>
          </a:p>
          <a:p>
            <a:pPr>
              <a:lnSpc>
                <a:spcPct val="90000"/>
              </a:lnSpc>
            </a:pPr>
            <a:r>
              <a:rPr lang="tr-TR" sz="1500"/>
              <a:t>Ulaşım Altyapısı: Karayolları, demiryolları, deniz limanları ve havaalanları gibi geniş bir ulaşım ağına sahiptir.</a:t>
            </a:r>
          </a:p>
          <a:p>
            <a:pPr>
              <a:lnSpc>
                <a:spcPct val="90000"/>
              </a:lnSpc>
            </a:pPr>
            <a:r>
              <a:rPr lang="tr-TR" sz="1500"/>
              <a:t>Genç Nüfusu: Genç ve dinamik bir nüfusa sahip olması, lojistik sektöründe nitelikli iş gücü potansiyeli yaratır.</a:t>
            </a:r>
          </a:p>
          <a:p>
            <a:pPr>
              <a:lnSpc>
                <a:spcPct val="90000"/>
              </a:lnSpc>
            </a:pPr>
            <a:r>
              <a:rPr lang="tr-TR" sz="1500"/>
              <a:t>Serbest Ticaret Anlaşmaları: Birçok ülke ile yapılan serbest ticaret anlaşmaları, ticaret hacmini artırır ve lojistik faaliyetleri canlandırır</a:t>
            </a:r>
          </a:p>
          <a:p>
            <a:pPr>
              <a:lnSpc>
                <a:spcPct val="90000"/>
              </a:lnSpc>
            </a:pPr>
            <a:r>
              <a:rPr lang="tr-TR" sz="1500"/>
              <a:t>.Lojistik Merkezleri: İstanbul, Gebze gibi önemli lojistik merkezleri, bölgesel ve küresel ticarette önemli bir role sahiptir.</a:t>
            </a:r>
          </a:p>
        </p:txBody>
      </p:sp>
    </p:spTree>
    <p:extLst>
      <p:ext uri="{BB962C8B-B14F-4D97-AF65-F5344CB8AC3E}">
        <p14:creationId xmlns:p14="http://schemas.microsoft.com/office/powerpoint/2010/main" val="26756037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0" y="1719807"/>
            <a:ext cx="2744542" cy="3418387"/>
          </a:xfrm>
        </p:spPr>
        <p:txBody>
          <a:bodyPr>
            <a:normAutofit/>
          </a:bodyPr>
          <a:lstStyle/>
          <a:p>
            <a:pPr algn="r"/>
            <a:r>
              <a:rPr lang="tr-TR" b="1" dirty="0"/>
              <a:t>Zayıf Noktalar</a:t>
            </a:r>
            <a:br>
              <a:rPr lang="tr-TR" dirty="0"/>
            </a:br>
            <a:endParaRPr lang="tr-T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İçerik Yer Tutucusu 2"/>
          <p:cNvSpPr>
            <a:spLocks noGrp="1"/>
          </p:cNvSpPr>
          <p:nvPr>
            <p:ph idx="1"/>
          </p:nvPr>
        </p:nvSpPr>
        <p:spPr>
          <a:xfrm>
            <a:off x="3741494" y="1719807"/>
            <a:ext cx="4888157" cy="3418387"/>
          </a:xfrm>
        </p:spPr>
        <p:txBody>
          <a:bodyPr>
            <a:normAutofit/>
          </a:bodyPr>
          <a:lstStyle/>
          <a:p>
            <a:pPr>
              <a:lnSpc>
                <a:spcPct val="90000"/>
              </a:lnSpc>
            </a:pPr>
            <a:r>
              <a:rPr lang="tr-TR" sz="1500"/>
              <a:t>Yüksek Lojistik Maliyetler: Enerji maliyetleri, gümrük işlemleri ve bürokratik engeller, lojistik maliyetleri artırır.</a:t>
            </a:r>
          </a:p>
          <a:p>
            <a:pPr>
              <a:lnSpc>
                <a:spcPct val="90000"/>
              </a:lnSpc>
            </a:pPr>
            <a:r>
              <a:rPr lang="tr-TR" sz="1500"/>
              <a:t>Demiryolu Altyapısının Yetersizliği: Demiryollarının yetersizliği, uzun mesafelerde karayolu taşımacılığına bağımlılığı artırır ve maliyetleri yükseltir.</a:t>
            </a:r>
          </a:p>
          <a:p>
            <a:pPr>
              <a:lnSpc>
                <a:spcPct val="90000"/>
              </a:lnSpc>
            </a:pPr>
            <a:r>
              <a:rPr lang="tr-TR" sz="1500"/>
              <a:t>Lojistik Bilincinin Düşüklüğü: Lojistik sektöründe çalışanların ve şirketlerin lojistik yönetimi konusunda yeterli bilgi ve becerilere sahip olmaması, verimliliği düşürür.</a:t>
            </a:r>
          </a:p>
          <a:p>
            <a:pPr>
              <a:lnSpc>
                <a:spcPct val="90000"/>
              </a:lnSpc>
            </a:pPr>
            <a:r>
              <a:rPr lang="tr-TR" sz="1500"/>
              <a:t>Kısa Vadeli Odaklılık: Şirketlerin genellikle kısa vadeli kar hedeflemesi, uzun vadeli lojistik stratejilerinin geliştirilmesini engelleyebilir.</a:t>
            </a:r>
          </a:p>
        </p:txBody>
      </p:sp>
    </p:spTree>
    <p:extLst>
      <p:ext uri="{BB962C8B-B14F-4D97-AF65-F5344CB8AC3E}">
        <p14:creationId xmlns:p14="http://schemas.microsoft.com/office/powerpoint/2010/main" val="28908855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0" y="1719807"/>
            <a:ext cx="2744542" cy="3418387"/>
          </a:xfrm>
        </p:spPr>
        <p:txBody>
          <a:bodyPr>
            <a:normAutofit/>
          </a:bodyPr>
          <a:lstStyle/>
          <a:p>
            <a:pPr algn="r"/>
            <a:r>
              <a:rPr lang="tr-TR" b="1" dirty="0"/>
              <a:t>Fırsatlar</a:t>
            </a:r>
            <a:br>
              <a:rPr lang="tr-TR" dirty="0"/>
            </a:br>
            <a:endParaRPr lang="tr-T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İçerik Yer Tutucusu 2"/>
          <p:cNvSpPr>
            <a:spLocks noGrp="1"/>
          </p:cNvSpPr>
          <p:nvPr>
            <p:ph idx="1"/>
          </p:nvPr>
        </p:nvSpPr>
        <p:spPr>
          <a:xfrm>
            <a:off x="3741494" y="1719807"/>
            <a:ext cx="4888157" cy="3418387"/>
          </a:xfrm>
        </p:spPr>
        <p:txBody>
          <a:bodyPr>
            <a:normAutofit/>
          </a:bodyPr>
          <a:lstStyle/>
          <a:p>
            <a:pPr lvl="0">
              <a:lnSpc>
                <a:spcPct val="90000"/>
              </a:lnSpc>
            </a:pPr>
            <a:r>
              <a:rPr lang="tr-TR" sz="1700"/>
              <a:t>Küresel Ticaretin Artması: Küresel ticaretin artmasıyla birlikte Türkiye'nin lojistik hizmetlerine olan talep de artmaktadır.</a:t>
            </a:r>
          </a:p>
          <a:p>
            <a:pPr lvl="0">
              <a:lnSpc>
                <a:spcPct val="90000"/>
              </a:lnSpc>
            </a:pPr>
            <a:r>
              <a:rPr lang="tr-TR" sz="1700"/>
              <a:t>Teknolojik Gelişmeler: Lojistik sektöründe kullanılan teknolojilerin gelişmesi, verimliliği artırma ve maliyetleri düşürme imkanı sunar.</a:t>
            </a:r>
          </a:p>
          <a:p>
            <a:pPr lvl="0">
              <a:lnSpc>
                <a:spcPct val="90000"/>
              </a:lnSpc>
            </a:pPr>
            <a:r>
              <a:rPr lang="tr-TR" sz="1700"/>
              <a:t>Serbest Bölgelerin Geliştirilmesi: Serbest bölgelerin sayısının artması ve faaliyetlerinin çeşitlendirilmesi, lojistik faaliyetleri teşvik eder.</a:t>
            </a:r>
          </a:p>
          <a:p>
            <a:pPr lvl="0">
              <a:lnSpc>
                <a:spcPct val="90000"/>
              </a:lnSpc>
            </a:pPr>
            <a:r>
              <a:rPr lang="tr-TR" sz="1700"/>
              <a:t>E-ticaretin Büyümesi: E-ticaretin hızla büyümesi, son kullanıcıya yönelik lojistik hizmetlere olan talebi artırır.</a:t>
            </a:r>
          </a:p>
        </p:txBody>
      </p:sp>
    </p:spTree>
    <p:extLst>
      <p:ext uri="{BB962C8B-B14F-4D97-AF65-F5344CB8AC3E}">
        <p14:creationId xmlns:p14="http://schemas.microsoft.com/office/powerpoint/2010/main" val="35274652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p:cNvSpPr>
            <a:spLocks noGrp="1"/>
          </p:cNvSpPr>
          <p:nvPr>
            <p:ph type="title"/>
          </p:nvPr>
        </p:nvSpPr>
        <p:spPr>
          <a:xfrm>
            <a:off x="514350" y="1719807"/>
            <a:ext cx="2744542" cy="3418387"/>
          </a:xfrm>
        </p:spPr>
        <p:txBody>
          <a:bodyPr>
            <a:normAutofit/>
          </a:bodyPr>
          <a:lstStyle/>
          <a:p>
            <a:pPr algn="r"/>
            <a:r>
              <a:rPr lang="tr-TR" b="1" dirty="0"/>
              <a:t>Tehditler</a:t>
            </a:r>
            <a:br>
              <a:rPr lang="tr-TR" dirty="0"/>
            </a:br>
            <a:endParaRPr lang="tr-T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İçerik Yer Tutucusu 2"/>
          <p:cNvSpPr>
            <a:spLocks noGrp="1"/>
          </p:cNvSpPr>
          <p:nvPr>
            <p:ph idx="1"/>
          </p:nvPr>
        </p:nvSpPr>
        <p:spPr>
          <a:xfrm>
            <a:off x="3741494" y="1719807"/>
            <a:ext cx="4888157" cy="3418387"/>
          </a:xfrm>
        </p:spPr>
        <p:txBody>
          <a:bodyPr>
            <a:normAutofit/>
          </a:bodyPr>
          <a:lstStyle/>
          <a:p>
            <a:pPr lvl="0">
              <a:lnSpc>
                <a:spcPct val="90000"/>
              </a:lnSpc>
            </a:pPr>
            <a:r>
              <a:rPr lang="tr-TR" sz="1400"/>
              <a:t>Ekonomik Durgunluklar: Küresel ekonomideki yavaşlama veya durgunluk, lojistik sektörünü olumsuz etkileyebilir.</a:t>
            </a:r>
          </a:p>
          <a:p>
            <a:pPr lvl="0">
              <a:lnSpc>
                <a:spcPct val="90000"/>
              </a:lnSpc>
            </a:pPr>
            <a:r>
              <a:rPr lang="tr-TR" sz="1400"/>
              <a:t>Doğal Afetler: Deprem, sel gibi doğal afetler, lojistik altyapısını zarar görebilir ve faaliyetleri aksatabilir.</a:t>
            </a:r>
          </a:p>
          <a:p>
            <a:pPr lvl="0">
              <a:lnSpc>
                <a:spcPct val="90000"/>
              </a:lnSpc>
            </a:pPr>
            <a:r>
              <a:rPr lang="tr-TR" sz="1400"/>
              <a:t>Rekabetin Artması: Bölgedeki diğer ülkelerin lojistik sektöründeki yatırımları, Türkiye için rekabet ortamını zorlaştırır.</a:t>
            </a:r>
          </a:p>
          <a:p>
            <a:pPr lvl="0">
              <a:lnSpc>
                <a:spcPct val="90000"/>
              </a:lnSpc>
            </a:pPr>
            <a:r>
              <a:rPr lang="tr-TR" sz="1400"/>
              <a:t>Jeopolitik Riskler: Bölgesel siyasi istikrarsızlıklar, lojistik faaliyetleri olumsuz etkileyebilir.</a:t>
            </a:r>
          </a:p>
          <a:p>
            <a:pPr lvl="0">
              <a:lnSpc>
                <a:spcPct val="90000"/>
              </a:lnSpc>
            </a:pPr>
            <a:r>
              <a:rPr lang="tr-TR" sz="1400"/>
              <a:t>Sonuç olarak, Türkiye'nin tedarik zinciri ve lojistik sektörü, hem güçlü yönleri hem de zayıf yönleriyle dikkat çekmektedir. Bu SWOT analizi, Türkiye'nin lojistik sektörünün mevcut durumunu daha iyi anlamasına ve gelecekteki stratejilerini belirlemesine yardımcı olabilir.</a:t>
            </a:r>
          </a:p>
        </p:txBody>
      </p:sp>
    </p:spTree>
    <p:extLst>
      <p:ext uri="{BB962C8B-B14F-4D97-AF65-F5344CB8AC3E}">
        <p14:creationId xmlns:p14="http://schemas.microsoft.com/office/powerpoint/2010/main" val="37242304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a:extLst>
              <a:ext uri="{FF2B5EF4-FFF2-40B4-BE49-F238E27FC236}">
                <a16:creationId xmlns:a16="http://schemas.microsoft.com/office/drawing/2014/main" id="{6DAFB4BB-BF66-8A95-803B-919053DD3CF0}"/>
              </a:ext>
            </a:extLst>
          </p:cNvPr>
          <p:cNvSpPr>
            <a:spLocks noGrp="1"/>
          </p:cNvSpPr>
          <p:nvPr>
            <p:ph type="title"/>
          </p:nvPr>
        </p:nvSpPr>
        <p:spPr>
          <a:xfrm>
            <a:off x="514350" y="1719807"/>
            <a:ext cx="2744542" cy="3418387"/>
          </a:xfrm>
        </p:spPr>
        <p:txBody>
          <a:bodyPr>
            <a:normAutofit/>
          </a:bodyPr>
          <a:lstStyle/>
          <a:p>
            <a:pPr algn="r"/>
            <a:r>
              <a:rPr lang="tr-TR"/>
              <a:t>ÖZETLE:</a:t>
            </a: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58751CED-B2C0-E10B-365B-3655EFC30540}"/>
              </a:ext>
            </a:extLst>
          </p:cNvPr>
          <p:cNvSpPr>
            <a:spLocks noGrp="1"/>
          </p:cNvSpPr>
          <p:nvPr>
            <p:ph idx="1"/>
          </p:nvPr>
        </p:nvSpPr>
        <p:spPr>
          <a:xfrm>
            <a:off x="3741494" y="1719807"/>
            <a:ext cx="4888157" cy="3418387"/>
          </a:xfrm>
        </p:spPr>
        <p:txBody>
          <a:bodyPr>
            <a:normAutofit/>
          </a:bodyPr>
          <a:lstStyle/>
          <a:p>
            <a:pPr>
              <a:lnSpc>
                <a:spcPct val="90000"/>
              </a:lnSpc>
            </a:pPr>
            <a:r>
              <a:rPr lang="tr-TR" sz="1500"/>
              <a:t>Türkiye'nin lojistik sektörünün daha da gelişmesi için aşağıdaki önerilerde bulunulabilir:</a:t>
            </a:r>
          </a:p>
          <a:p>
            <a:pPr>
              <a:lnSpc>
                <a:spcPct val="90000"/>
              </a:lnSpc>
            </a:pPr>
            <a:r>
              <a:rPr lang="tr-TR" sz="1500"/>
              <a:t>Lojistik altyapısının modernizasyonu ve demiryolu taşımacılığının teşviki,Lojistik bilincinin artırılması ve eğitim programlarının geliştirilmesi,</a:t>
            </a:r>
          </a:p>
          <a:p>
            <a:pPr>
              <a:lnSpc>
                <a:spcPct val="90000"/>
              </a:lnSpc>
            </a:pPr>
            <a:r>
              <a:rPr lang="tr-TR" sz="1500"/>
              <a:t>Lojistik maliyetlerinin düşürülmesi için çalışmalar yapılması,Teknolojik gelişmelerin yakından takip edilmesi ve lojistik süreçlere entegre edilmesi,</a:t>
            </a:r>
          </a:p>
          <a:p>
            <a:pPr>
              <a:lnSpc>
                <a:spcPct val="90000"/>
              </a:lnSpc>
            </a:pPr>
            <a:r>
              <a:rPr lang="tr-TR" sz="1500"/>
              <a:t>Serbest bölgelerin etkin kullanılması ve yeni bölgelerin oluşturulması.</a:t>
            </a:r>
          </a:p>
          <a:p>
            <a:pPr>
              <a:lnSpc>
                <a:spcPct val="90000"/>
              </a:lnSpc>
            </a:pPr>
            <a:r>
              <a:rPr lang="tr-TR" sz="1500"/>
              <a:t>Bu öneriler sayesinde Türkiye, lojistik alanında daha rekabetçi hale gelebilir ve küresel tedarik zincirinde önemli bir oyuncu olabilir.</a:t>
            </a:r>
          </a:p>
        </p:txBody>
      </p:sp>
    </p:spTree>
    <p:extLst>
      <p:ext uri="{BB962C8B-B14F-4D97-AF65-F5344CB8AC3E}">
        <p14:creationId xmlns:p14="http://schemas.microsoft.com/office/powerpoint/2010/main" val="16044681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useBgFill="1">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170312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sz="1350"/>
          </a:p>
        </p:txBody>
      </p:sp>
      <p:sp>
        <p:nvSpPr>
          <p:cNvPr id="2" name="Başlık 1">
            <a:extLst>
              <a:ext uri="{FF2B5EF4-FFF2-40B4-BE49-F238E27FC236}">
                <a16:creationId xmlns:a16="http://schemas.microsoft.com/office/drawing/2014/main" id="{0B981B82-6388-4BB7-5A78-3FD22DA047A7}"/>
              </a:ext>
            </a:extLst>
          </p:cNvPr>
          <p:cNvSpPr>
            <a:spLocks noGrp="1"/>
          </p:cNvSpPr>
          <p:nvPr>
            <p:ph type="title"/>
          </p:nvPr>
        </p:nvSpPr>
        <p:spPr>
          <a:xfrm>
            <a:off x="772716" y="1314451"/>
            <a:ext cx="7598569" cy="832757"/>
          </a:xfrm>
        </p:spPr>
        <p:txBody>
          <a:bodyPr>
            <a:normAutofit/>
          </a:bodyPr>
          <a:lstStyle/>
          <a:p>
            <a:pPr algn="ctr">
              <a:lnSpc>
                <a:spcPct val="90000"/>
              </a:lnSpc>
            </a:pPr>
            <a:r>
              <a:rPr lang="tr-TR" sz="2600"/>
              <a:t>Tedarik Zinciri ve Lojistikte Geleceği Şekillendirecek Ülkeler ve Gelişmeler</a:t>
            </a:r>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a:stretch/>
        </p:blipFill>
        <p:spPr>
          <a:xfrm>
            <a:off x="3053443" y="857251"/>
            <a:ext cx="6088176" cy="170312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3" name="İçerik Yer Tutucusu 2">
            <a:extLst>
              <a:ext uri="{FF2B5EF4-FFF2-40B4-BE49-F238E27FC236}">
                <a16:creationId xmlns:a16="http://schemas.microsoft.com/office/drawing/2014/main" id="{5A18D3AA-16F4-D17C-4D55-645A7A181095}"/>
              </a:ext>
            </a:extLst>
          </p:cNvPr>
          <p:cNvSpPr>
            <a:spLocks noGrp="1"/>
          </p:cNvSpPr>
          <p:nvPr>
            <p:ph idx="1"/>
          </p:nvPr>
        </p:nvSpPr>
        <p:spPr>
          <a:xfrm>
            <a:off x="514351" y="2801680"/>
            <a:ext cx="8115300" cy="2398970"/>
          </a:xfrm>
        </p:spPr>
        <p:txBody>
          <a:bodyPr>
            <a:normAutofit/>
          </a:bodyPr>
          <a:lstStyle/>
          <a:p>
            <a:pPr>
              <a:lnSpc>
                <a:spcPct val="90000"/>
              </a:lnSpc>
            </a:pPr>
            <a:r>
              <a:rPr lang="tr-TR" sz="1000">
                <a:solidFill>
                  <a:schemeClr val="bg1"/>
                </a:solidFill>
              </a:rPr>
              <a:t>Tedarik zinciri ve lojistik sektörü, küreselleşme, dijitalleşme ve sürdürülebilirlik gibi faktörlerin etkisiyle hızla dönüşüm geçirmektedir. Bu dönüşümde bazı ülkeler ve teknolojik gelişmeler ön plana çıkmaktadır.</a:t>
            </a:r>
          </a:p>
          <a:p>
            <a:pPr>
              <a:lnSpc>
                <a:spcPct val="90000"/>
              </a:lnSpc>
            </a:pPr>
            <a:r>
              <a:rPr lang="tr-TR" sz="1000" b="1">
                <a:solidFill>
                  <a:schemeClr val="bg1"/>
                </a:solidFill>
              </a:rPr>
              <a:t>Geleceği Şekillendirecek Ülkeler</a:t>
            </a:r>
          </a:p>
          <a:p>
            <a:pPr>
              <a:lnSpc>
                <a:spcPct val="90000"/>
              </a:lnSpc>
              <a:buFont typeface="Arial" panose="020B0604020202020204" pitchFamily="34" charset="0"/>
              <a:buChar char="•"/>
            </a:pPr>
            <a:r>
              <a:rPr lang="tr-TR" sz="1000" b="1">
                <a:solidFill>
                  <a:schemeClr val="bg1"/>
                </a:solidFill>
              </a:rPr>
              <a:t>Çin:</a:t>
            </a:r>
            <a:r>
              <a:rPr lang="tr-TR" sz="1000">
                <a:solidFill>
                  <a:schemeClr val="bg1"/>
                </a:solidFill>
              </a:rPr>
              <a:t> Dünyanın en büyük üretici ve tüketicisi olarak, Çin lojistik sektöründe önemli bir oyuncu olmaya devam edecektir. Özellikle "Bir Kuşak Bir Yol" projesi ile küresel ticaretteki konumunu güçlendirmeye çalışmaktadır.</a:t>
            </a:r>
          </a:p>
          <a:p>
            <a:pPr>
              <a:lnSpc>
                <a:spcPct val="90000"/>
              </a:lnSpc>
              <a:buFont typeface="Arial" panose="020B0604020202020204" pitchFamily="34" charset="0"/>
              <a:buChar char="•"/>
            </a:pPr>
            <a:r>
              <a:rPr lang="tr-TR" sz="1000" b="1">
                <a:solidFill>
                  <a:schemeClr val="bg1"/>
                </a:solidFill>
              </a:rPr>
              <a:t>Amerika Birleşik Devletleri:</a:t>
            </a:r>
            <a:r>
              <a:rPr lang="tr-TR" sz="1000">
                <a:solidFill>
                  <a:schemeClr val="bg1"/>
                </a:solidFill>
              </a:rPr>
              <a:t> E-ticaretin hızlı büyümesi ve teknolojik yenilikler, ABD'yi lojistik sektöründe öncü bir konuma getirmiştir.</a:t>
            </a:r>
          </a:p>
          <a:p>
            <a:pPr>
              <a:lnSpc>
                <a:spcPct val="90000"/>
              </a:lnSpc>
              <a:buFont typeface="Arial" panose="020B0604020202020204" pitchFamily="34" charset="0"/>
              <a:buChar char="•"/>
            </a:pPr>
            <a:r>
              <a:rPr lang="tr-TR" sz="1000" b="1">
                <a:solidFill>
                  <a:schemeClr val="bg1"/>
                </a:solidFill>
              </a:rPr>
              <a:t>Almanya:</a:t>
            </a:r>
            <a:r>
              <a:rPr lang="tr-TR" sz="1000">
                <a:solidFill>
                  <a:schemeClr val="bg1"/>
                </a:solidFill>
              </a:rPr>
              <a:t> Gelişmiş otomotiv ve üretim sektörleri sayesinde güçlü bir lojistik altyapısına sahip olan Almanya, Avrupa'nın lojistik merkezi olarak kabul edilmektedir.</a:t>
            </a:r>
          </a:p>
          <a:p>
            <a:pPr>
              <a:lnSpc>
                <a:spcPct val="90000"/>
              </a:lnSpc>
              <a:buFont typeface="Arial" panose="020B0604020202020204" pitchFamily="34" charset="0"/>
              <a:buChar char="•"/>
            </a:pPr>
            <a:r>
              <a:rPr lang="tr-TR" sz="1000" b="1">
                <a:solidFill>
                  <a:schemeClr val="bg1"/>
                </a:solidFill>
              </a:rPr>
              <a:t>Japonya:</a:t>
            </a:r>
            <a:r>
              <a:rPr lang="tr-TR" sz="1000">
                <a:solidFill>
                  <a:schemeClr val="bg1"/>
                </a:solidFill>
              </a:rPr>
              <a:t> Üretimde yüksek kalite ve verimlilik standartlarına sahip olan Japonya, lojistik sektöründe de bu özellikleriyle öne çıkmaktadır.</a:t>
            </a:r>
          </a:p>
          <a:p>
            <a:pPr>
              <a:lnSpc>
                <a:spcPct val="90000"/>
              </a:lnSpc>
              <a:buFont typeface="Arial" panose="020B0604020202020204" pitchFamily="34" charset="0"/>
              <a:buChar char="•"/>
            </a:pPr>
            <a:r>
              <a:rPr lang="tr-TR" sz="1000" b="1">
                <a:solidFill>
                  <a:schemeClr val="bg1"/>
                </a:solidFill>
              </a:rPr>
              <a:t>Singapur:</a:t>
            </a:r>
            <a:r>
              <a:rPr lang="tr-TR" sz="1000">
                <a:solidFill>
                  <a:schemeClr val="bg1"/>
                </a:solidFill>
              </a:rPr>
              <a:t> Güçlü denizcilik sektörü ve stratejik konumu sayesinde Asya Pasifik bölgesindeki lojistik faaliyetlerin merkezi haline gelmiştir.</a:t>
            </a:r>
          </a:p>
          <a:p>
            <a:pPr>
              <a:lnSpc>
                <a:spcPct val="90000"/>
              </a:lnSpc>
            </a:pPr>
            <a:endParaRPr lang="tr-TR" sz="1000">
              <a:solidFill>
                <a:schemeClr val="bg1"/>
              </a:solidFill>
            </a:endParaRPr>
          </a:p>
        </p:txBody>
      </p:sp>
    </p:spTree>
    <p:extLst>
      <p:ext uri="{BB962C8B-B14F-4D97-AF65-F5344CB8AC3E}">
        <p14:creationId xmlns:p14="http://schemas.microsoft.com/office/powerpoint/2010/main" val="18968719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Başlık 1">
            <a:extLst>
              <a:ext uri="{FF2B5EF4-FFF2-40B4-BE49-F238E27FC236}">
                <a16:creationId xmlns:a16="http://schemas.microsoft.com/office/drawing/2014/main" id="{0B981B82-6388-4BB7-5A78-3FD22DA047A7}"/>
              </a:ext>
            </a:extLst>
          </p:cNvPr>
          <p:cNvSpPr>
            <a:spLocks noGrp="1"/>
          </p:cNvSpPr>
          <p:nvPr>
            <p:ph type="title"/>
          </p:nvPr>
        </p:nvSpPr>
        <p:spPr>
          <a:xfrm>
            <a:off x="514350" y="1719807"/>
            <a:ext cx="2744542" cy="3418387"/>
          </a:xfrm>
        </p:spPr>
        <p:txBody>
          <a:bodyPr>
            <a:normAutofit/>
          </a:bodyPr>
          <a:lstStyle/>
          <a:p>
            <a:pPr algn="r"/>
            <a:r>
              <a:rPr lang="tr-TR"/>
              <a:t>Tedarik Zinciri ve Lojistikte Geleceği Şekillendirecek Ülkeler ve Gelişmeler</a:t>
            </a: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210883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5A18D3AA-16F4-D17C-4D55-645A7A181095}"/>
              </a:ext>
            </a:extLst>
          </p:cNvPr>
          <p:cNvSpPr>
            <a:spLocks noGrp="1"/>
          </p:cNvSpPr>
          <p:nvPr>
            <p:ph idx="1"/>
          </p:nvPr>
        </p:nvSpPr>
        <p:spPr>
          <a:xfrm>
            <a:off x="3741494" y="1719807"/>
            <a:ext cx="4888157" cy="3418387"/>
          </a:xfrm>
        </p:spPr>
        <p:txBody>
          <a:bodyPr>
            <a:normAutofit/>
          </a:bodyPr>
          <a:lstStyle/>
          <a:p>
            <a:pPr>
              <a:lnSpc>
                <a:spcPct val="90000"/>
              </a:lnSpc>
            </a:pPr>
            <a:r>
              <a:rPr lang="tr-TR" sz="1000" b="1"/>
              <a:t>Geleceği Şekillendirecek Gelişmeler</a:t>
            </a:r>
          </a:p>
          <a:p>
            <a:pPr>
              <a:lnSpc>
                <a:spcPct val="90000"/>
              </a:lnSpc>
              <a:buFont typeface="Arial" panose="020B0604020202020204" pitchFamily="34" charset="0"/>
              <a:buChar char="•"/>
            </a:pPr>
            <a:r>
              <a:rPr lang="tr-TR" sz="1000" b="1"/>
              <a:t>Yapay Zeka ve Makine Öğrenmesi:</a:t>
            </a:r>
            <a:r>
              <a:rPr lang="tr-TR" sz="1000"/>
              <a:t> Lojistik süreçlerin optimize edilmesi, talep tahminleri ve otonom araçlar gibi alanlarda yapay zeka ve makine öğrenmesi teknolojileri yaygın olarak kullanılmaya başlanacaktır.</a:t>
            </a:r>
          </a:p>
          <a:p>
            <a:pPr>
              <a:lnSpc>
                <a:spcPct val="90000"/>
              </a:lnSpc>
              <a:buFont typeface="Arial" panose="020B0604020202020204" pitchFamily="34" charset="0"/>
              <a:buChar char="•"/>
            </a:pPr>
            <a:r>
              <a:rPr lang="tr-TR" sz="1000" b="1"/>
              <a:t>Blok Zinciri Teknolojisi:</a:t>
            </a:r>
            <a:r>
              <a:rPr lang="tr-TR" sz="1000"/>
              <a:t> Şeffaflık, güvenlik ve izlenebilirlik sağladığı için lojistik süreçlerinde blok zinciri teknolojisi kullanımı artacaktır.</a:t>
            </a:r>
          </a:p>
          <a:p>
            <a:pPr>
              <a:lnSpc>
                <a:spcPct val="90000"/>
              </a:lnSpc>
              <a:buFont typeface="Arial" panose="020B0604020202020204" pitchFamily="34" charset="0"/>
              <a:buChar char="•"/>
            </a:pPr>
            <a:r>
              <a:rPr lang="tr-TR" sz="1000" b="1"/>
              <a:t>3D Yazıcılar:</a:t>
            </a:r>
            <a:r>
              <a:rPr lang="tr-TR" sz="1000"/>
              <a:t> Üretim noktalarına yakın yerlerde üretim yapma imkanı sunduğu için lojistik süreçleri kısaltacak ve tedarik zincirlerini dönüştürecektir.</a:t>
            </a:r>
          </a:p>
          <a:p>
            <a:pPr>
              <a:lnSpc>
                <a:spcPct val="90000"/>
              </a:lnSpc>
              <a:buFont typeface="Arial" panose="020B0604020202020204" pitchFamily="34" charset="0"/>
              <a:buChar char="•"/>
            </a:pPr>
            <a:r>
              <a:rPr lang="tr-TR" sz="1000" b="1"/>
              <a:t>Sürdürülebilir Lojistik:</a:t>
            </a:r>
            <a:r>
              <a:rPr lang="tr-TR" sz="1000"/>
              <a:t> Çevresel kaygılar, lojistik şirketlerini daha sürdürülebilir çözümler geliştirmeye yöneltecek. Elektrikli araçlar, geri dönüşüm ve karbon ayak izi azaltma gibi konulara daha fazla önem verilecektir.</a:t>
            </a:r>
          </a:p>
          <a:p>
            <a:pPr>
              <a:lnSpc>
                <a:spcPct val="90000"/>
              </a:lnSpc>
              <a:buFont typeface="Arial" panose="020B0604020202020204" pitchFamily="34" charset="0"/>
              <a:buChar char="•"/>
            </a:pPr>
            <a:r>
              <a:rPr lang="tr-TR" sz="1000" b="1"/>
              <a:t>Otonom Araçlar:</a:t>
            </a:r>
            <a:r>
              <a:rPr lang="tr-TR" sz="1000"/>
              <a:t> Sürücüsüz kamyonlar ve drone'lar gibi teknolojiler, özellikle son mil teslimatlarında kullanılmaya başlanacak ve lojistik maliyetlerini düşürecektir.</a:t>
            </a:r>
          </a:p>
          <a:p>
            <a:pPr>
              <a:lnSpc>
                <a:spcPct val="90000"/>
              </a:lnSpc>
              <a:buFont typeface="Arial" panose="020B0604020202020204" pitchFamily="34" charset="0"/>
              <a:buChar char="•"/>
            </a:pPr>
            <a:r>
              <a:rPr lang="tr-TR" sz="1000" b="1"/>
              <a:t>Mikrodepolama:</a:t>
            </a:r>
            <a:r>
              <a:rPr lang="tr-TR" sz="1000"/>
              <a:t> Kent merkezlerindeki küçük depolama alanları, e-ticaretin artmasıyla birlikte önem kazanacak ve daha hızlı teslimatlara olanak sağlayacaktır.</a:t>
            </a:r>
          </a:p>
          <a:p>
            <a:pPr>
              <a:lnSpc>
                <a:spcPct val="90000"/>
              </a:lnSpc>
            </a:pPr>
            <a:endParaRPr lang="tr-TR" sz="1000"/>
          </a:p>
        </p:txBody>
      </p:sp>
    </p:spTree>
    <p:extLst>
      <p:ext uri="{BB962C8B-B14F-4D97-AF65-F5344CB8AC3E}">
        <p14:creationId xmlns:p14="http://schemas.microsoft.com/office/powerpoint/2010/main" val="30434177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A00052-C59F-ECDC-CEF0-025F849C5F80}"/>
              </a:ext>
            </a:extLst>
          </p:cNvPr>
          <p:cNvSpPr>
            <a:spLocks noGrp="1"/>
          </p:cNvSpPr>
          <p:nvPr>
            <p:ph type="title"/>
          </p:nvPr>
        </p:nvSpPr>
        <p:spPr/>
        <p:txBody>
          <a:bodyPr/>
          <a:lstStyle/>
          <a:p>
            <a:r>
              <a:rPr lang="tr-TR" b="1"/>
              <a:t>Türkiye'nin Gelecekteki Rolü</a:t>
            </a:r>
            <a:br>
              <a:rPr lang="tr-TR" b="1"/>
            </a:br>
            <a:endParaRPr lang="tr-TR"/>
          </a:p>
        </p:txBody>
      </p:sp>
      <p:sp>
        <p:nvSpPr>
          <p:cNvPr id="3" name="İçerik Yer Tutucusu 2">
            <a:extLst>
              <a:ext uri="{FF2B5EF4-FFF2-40B4-BE49-F238E27FC236}">
                <a16:creationId xmlns:a16="http://schemas.microsoft.com/office/drawing/2014/main" id="{54260610-D1D9-1DA6-9013-849D54E0651E}"/>
              </a:ext>
            </a:extLst>
          </p:cNvPr>
          <p:cNvSpPr>
            <a:spLocks noGrp="1"/>
          </p:cNvSpPr>
          <p:nvPr>
            <p:ph idx="1"/>
          </p:nvPr>
        </p:nvSpPr>
        <p:spPr/>
        <p:txBody>
          <a:bodyPr/>
          <a:lstStyle/>
          <a:p>
            <a:r>
              <a:rPr lang="tr-TR"/>
              <a:t>Türkiye, coğrafi konumu ve gelişen ekonomisi sayesinde lojistik sektöründe önemli bir potansiyele sahiptir. Özellikle Asya ve Avrupa arasındaki ticarette köprü görevi üstlenmesi, Türkiye'yi lojistik bir merkez haline getirme potansiyelini artırmaktadır. Ancak, lojistik altyapısının geliştirilmesi, personel eğitimi ve teknolojik yatırımların artırılması gibi konularda daha fazla çalışmaya ihtiyaç vardır.</a:t>
            </a:r>
          </a:p>
          <a:p>
            <a:r>
              <a:rPr lang="tr-TR" b="1"/>
              <a:t>Sonuç olarak,</a:t>
            </a:r>
            <a:r>
              <a:rPr lang="tr-TR"/>
              <a:t> tedarik zinciri ve lojistik sektörü, teknolojik gelişmeler ve küreselleşme etkisiyle sürekli olarak değişiyor ve gelişiyor. Bu değişimler, işletmelerin daha verimli çalışmasını, müşteri memnuniyetinin artmasını ve küresel rekabette daha güçlü olmasını sağlıyor.</a:t>
            </a:r>
          </a:p>
          <a:p>
            <a:endParaRPr lang="tr-TR"/>
          </a:p>
        </p:txBody>
      </p:sp>
    </p:spTree>
    <p:extLst>
      <p:ext uri="{BB962C8B-B14F-4D97-AF65-F5344CB8AC3E}">
        <p14:creationId xmlns:p14="http://schemas.microsoft.com/office/powerpoint/2010/main" val="5514296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3CE9851-36C7-7D73-6E35-C6DAB67A3DA5}"/>
              </a:ext>
            </a:extLst>
          </p:cNvPr>
          <p:cNvSpPr>
            <a:spLocks noGrp="1"/>
          </p:cNvSpPr>
          <p:nvPr>
            <p:ph idx="1"/>
          </p:nvPr>
        </p:nvSpPr>
        <p:spPr>
          <a:xfrm>
            <a:off x="601633" y="2261420"/>
            <a:ext cx="3002202" cy="3637935"/>
          </a:xfrm>
        </p:spPr>
        <p:txBody>
          <a:bodyPr>
            <a:normAutofit/>
          </a:bodyPr>
          <a:lstStyle/>
          <a:p>
            <a:r>
              <a:rPr lang="tr-TR" sz="3200"/>
              <a:t>TEŞEKKÜRLER </a:t>
            </a:r>
          </a:p>
        </p:txBody>
      </p:sp>
      <p:pic>
        <p:nvPicPr>
          <p:cNvPr id="7" name="Graphic 6" descr="Smiling Face with No Fill">
            <a:extLst>
              <a:ext uri="{FF2B5EF4-FFF2-40B4-BE49-F238E27FC236}">
                <a16:creationId xmlns:a16="http://schemas.microsoft.com/office/drawing/2014/main" id="{0E0AA6D8-A77C-0310-BC0E-FC844C5949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7314" y="1062037"/>
            <a:ext cx="4571694" cy="457169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992067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TEDARİK ZİNCİRİ VE LOJİSTİKTE BT UYGULAMALARI &amp;#x0D;&amp;#x0A;SANAL SINIF-2&amp;quot;&quot;/&gt;&lt;property id=&quot;20307&quot; value=&quot;257&quot;/&gt;&lt;/object&gt;&lt;object type=&quot;3&quot; unique_id=&quot;10005&quot;&gt;&lt;property id=&quot;20148&quot; value=&quot;5&quot;/&gt;&lt;property id=&quot;20300&quot; value=&quot;Slide 7 - &amp;quot;TÜRKİYE’DE TAŞIMACILIK VE LOJİSTİK&amp;quot;&quot;/&gt;&lt;property id=&quot;20307&quot; value=&quot;256&quot;/&gt;&lt;/object&gt;&lt;object type=&quot;3&quot; unique_id=&quot;10078&quot;&gt;&lt;property id=&quot;20148&quot; value=&quot;5&quot;/&gt;&lt;property id=&quot;20300&quot; value=&quot;Slide 2 - &amp;quot;Taşımacılığın İşletmeler İçin Önemi&amp;#x0D;&amp;#x0A;&amp;quot;&quot;/&gt;&lt;property id=&quot;20307&quot; value=&quot;265&quot;/&gt;&lt;/object&gt;&lt;object type=&quot;3&quot; unique_id=&quot;10079&quot;&gt;&lt;property id=&quot;20148&quot; value=&quot;5&quot;/&gt;&lt;property id=&quot;20300&quot; value=&quot;Slide 3 - &amp;quot;TAŞIMA MODLARI&amp;quot;&quot;/&gt;&lt;property id=&quot;20307&quot; value=&quot;269&quot;/&gt;&lt;/object&gt;&lt;object type=&quot;3&quot; unique_id=&quot;10080&quot;&gt;&lt;property id=&quot;20148&quot; value=&quot;5&quot;/&gt;&lt;property id=&quot;20300&quot; value=&quot;Slide 4 - &amp;quot;TAŞIMA ŞEKLİ SEÇİMİ&amp;quot;&quot;/&gt;&lt;property id=&quot;20307&quot; value=&quot;268&quot;/&gt;&lt;/object&gt;&lt;object type=&quot;3&quot; unique_id=&quot;10081&quot;&gt;&lt;property id=&quot;20148&quot; value=&quot;5&quot;/&gt;&lt;property id=&quot;20300&quot; value=&quot;Slide 5&quot;/&gt;&lt;property id=&quot;20307&quot; value=&quot;267&quot;/&gt;&lt;/object&gt;&lt;object type=&quot;3&quot; unique_id=&quot;10082&quot;&gt;&lt;property id=&quot;20148&quot; value=&quot;5&quot;/&gt;&lt;property id=&quot;20300&quot; value=&quot;Slide 6 - &amp;quot;INTERMODAL TAŞIMACILIK&amp;quot;&quot;/&gt;&lt;property id=&quot;20307&quot; value=&quot;266&quot;/&gt;&lt;/object&gt;&lt;object type=&quot;3&quot; unique_id=&quot;10083&quot;&gt;&lt;property id=&quot;20148&quot; value=&quot;5&quot;/&gt;&lt;property id=&quot;20300&quot; value=&quot;Slide 8 - &amp;quot;2023 YILINA YÖNELİK TAŞIMACILIK VE LOJİSTİK SEKTÖRÜNE İLİŞKİN YÜKSEK HEDEFLER&amp;quot;&quot;/&gt;&lt;property id=&quot;20307&quot; value=&quot;258&quot;/&gt;&lt;/object&gt;&lt;object type=&quot;3&quot; unique_id=&quot;10084&quot;&gt;&lt;property id=&quot;20148&quot; value=&quot;5&quot;/&gt;&lt;property id=&quot;20300&quot; value=&quot;Slide 9&quot;/&gt;&lt;property id=&quot;20307&quot; value=&quot;259&quot;/&gt;&lt;/object&gt;&lt;object type=&quot;3&quot; unique_id=&quot;10085&quot;&gt;&lt;property id=&quot;20148&quot; value=&quot;5&quot;/&gt;&lt;property id=&quot;20300&quot; value=&quot;Slide 10&quot;/&gt;&lt;property id=&quot;20307&quot; value=&quot;260&quot;/&gt;&lt;/object&gt;&lt;object type=&quot;3&quot; unique_id=&quot;10086&quot;&gt;&lt;property id=&quot;20148&quot; value=&quot;5&quot;/&gt;&lt;property id=&quot;20300&quot; value=&quot;Slide 11 - &amp;quot;Güçlü Noktalar&amp;#x0D;&amp;#x0A;&amp;quot;&quot;/&gt;&lt;property id=&quot;20307&quot; value=&quot;261&quot;/&gt;&lt;/object&gt;&lt;object type=&quot;3&quot; unique_id=&quot;10087&quot;&gt;&lt;property id=&quot;20148&quot; value=&quot;5&quot;/&gt;&lt;property id=&quot;20300&quot; value=&quot;Slide 12 - &amp;quot;Zayıf Noktalar&amp;#x0D;&amp;#x0A;&amp;quot;&quot;/&gt;&lt;property id=&quot;20307&quot; value=&quot;262&quot;/&gt;&lt;/object&gt;&lt;object type=&quot;3&quot; unique_id=&quot;10088&quot;&gt;&lt;property id=&quot;20148&quot; value=&quot;5&quot;/&gt;&lt;property id=&quot;20300&quot; value=&quot;Slide 13 - &amp;quot;Fırsatlar&amp;#x0D;&amp;#x0A;&amp;quot;&quot;/&gt;&lt;property id=&quot;20307&quot; value=&quot;263&quot;/&gt;&lt;/object&gt;&lt;object type=&quot;3&quot; unique_id=&quot;10089&quot;&gt;&lt;property id=&quot;20148&quot; value=&quot;5&quot;/&gt;&lt;property id=&quot;20300&quot; value=&quot;Slide 14 - &amp;quot;Tehditler&amp;#x0D;&amp;#x0A;&amp;quot;&quot;/&gt;&lt;property id=&quot;20307&quot; value=&quot;26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ökyüzü">
  <a:themeElements>
    <a:clrScheme name="Gökyüzü">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Gökyüzü">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ökyüzü">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TM03457452[[fn=Gökyüzü]]</Template>
  <TotalTime>5193</TotalTime>
  <Words>8001</Words>
  <Application>Microsoft Office PowerPoint</Application>
  <PresentationFormat>Ekran Gösterisi (4:3)</PresentationFormat>
  <Paragraphs>469</Paragraphs>
  <Slides>86</Slides>
  <Notes>12</Notes>
  <HiddenSlides>1</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86</vt:i4>
      </vt:variant>
    </vt:vector>
  </HeadingPairs>
  <TitlesOfParts>
    <vt:vector size="92" baseType="lpstr">
      <vt:lpstr>Arial</vt:lpstr>
      <vt:lpstr>Calibri</vt:lpstr>
      <vt:lpstr>Calibri Light</vt:lpstr>
      <vt:lpstr>Times New Roman</vt:lpstr>
      <vt:lpstr>Wingdings 3</vt:lpstr>
      <vt:lpstr>Gökyüzü</vt:lpstr>
      <vt:lpstr>İŞLETME BİLİMİNE GİRİŞ 10.HAFTA</vt:lpstr>
      <vt:lpstr>PowerPoint Sunusu</vt:lpstr>
      <vt:lpstr>PowerPoint Sunusu</vt:lpstr>
      <vt:lpstr>Taşımacılık</vt:lpstr>
      <vt:lpstr>LOJİSTİK</vt:lpstr>
      <vt:lpstr>Tarihsel Gelişimi: </vt:lpstr>
      <vt:lpstr>LOJİSTİK</vt:lpstr>
      <vt:lpstr>TEDARİK ZİNCİRİ</vt:lpstr>
      <vt:lpstr>TEDARİK ZİNCİRİ</vt:lpstr>
      <vt:lpstr>TEDARİK ZİNCİRİ=LOJİSTİK?</vt:lpstr>
      <vt:lpstr>tedarik zinciri ve lojistik birbirini içeren ancak aynı olmayan kavramlardır. </vt:lpstr>
      <vt:lpstr>tedarik zinciri ve lojistik birbirini içeren ancak aynı olmayan kavramlardır. </vt:lpstr>
      <vt:lpstr>TEDARİK ZİNCİRİ=LOJİSTİK?</vt:lpstr>
      <vt:lpstr>TEDARİK ZİNCİRİ=LOJİSTİK?</vt:lpstr>
      <vt:lpstr>TEDARİK ZİNCİRİ=LOJİSTİK?</vt:lpstr>
      <vt:lpstr>LOJİSTİĞİN GELİŞİM TRENDİ </vt:lpstr>
      <vt:lpstr>PowerPoint Sunusu</vt:lpstr>
      <vt:lpstr>PowerPoint Sunusu</vt:lpstr>
      <vt:lpstr>PowerPoint Sunusu</vt:lpstr>
      <vt:lpstr>PowerPoint Sunusu</vt:lpstr>
      <vt:lpstr>PowerPoint Sunusu</vt:lpstr>
      <vt:lpstr>TEMEL LOJİSTİK AKTİVİTELERİ</vt:lpstr>
      <vt:lpstr>PowerPoint Sunusu</vt:lpstr>
      <vt:lpstr>TEMEL LOJİSTİK AKTİVİTELERİ</vt:lpstr>
      <vt:lpstr>PowerPoint Sunusu</vt:lpstr>
      <vt:lpstr>PowerPoint Sunusu</vt:lpstr>
      <vt:lpstr>PowerPoint Sunusu</vt:lpstr>
      <vt:lpstr>PowerPoint Sunusu</vt:lpstr>
      <vt:lpstr>PowerPoint Sunusu</vt:lpstr>
      <vt:lpstr>PowerPoint Sunusu</vt:lpstr>
      <vt:lpstr>PowerPoint Sunusu</vt:lpstr>
      <vt:lpstr>PowerPoint Sunusu</vt:lpstr>
      <vt:lpstr> Taşımacılığın İşletmeler İçin Önemi </vt:lpstr>
      <vt:lpstr>TAŞIMA MODLARI</vt:lpstr>
      <vt:lpstr>TAŞIMA ŞEKLİ SEÇİMİ</vt:lpstr>
      <vt:lpstr>TAŞIMA ŞEKLİNİN SEÇİMİ</vt:lpstr>
      <vt:lpstr>Multimodal Taşımacılık</vt:lpstr>
      <vt:lpstr>INTERMODAL TAŞIMACILIK</vt:lpstr>
      <vt:lpstr>KOMBİNE TAŞIMACILIK</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Osmanlı Lojistiğinin Temel Özellikleri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TÜRKİYE’DE TAŞIMACILIK VE LOJİSTİK</vt:lpstr>
      <vt:lpstr>PowerPoint Sunusu</vt:lpstr>
      <vt:lpstr>PowerPoint Sunusu</vt:lpstr>
      <vt:lpstr>2023 YILINA YÖNELİK TAŞIMACILIK VE LOJİSTİK SEKTÖRÜNE İLİŞKİN YÜKSEK HEDEFLER</vt:lpstr>
      <vt:lpstr>2023 YILINA YÖNELİK TAŞIMACILIK VE LOJİSTİK SEKTÖRÜNE İLİŞKİN YÜKSEK HEDEFLER</vt:lpstr>
      <vt:lpstr>2023 YILINA YÖNELİK TAŞIMACILIK VE LOJİSTİK SEKTÖRÜNE İLİŞKİN YÜKSEK HEDEFLER</vt:lpstr>
      <vt:lpstr>Türkiye’nin 2053 lojistik hedefleri</vt:lpstr>
      <vt:lpstr>Türkiye’nin 2053 lojistik hedefleri</vt:lpstr>
      <vt:lpstr>Türkiye’nin 2053 lojistik hedefleri</vt:lpstr>
      <vt:lpstr>Türkiye’nin 2053 lojistik hedefleri</vt:lpstr>
      <vt:lpstr>TÜRKİYE’NİN TEDARİK ZİNCİRİ VE LOJİSTİK SEKTÖRÜ ÜZERİNE BİR SWOT ANALİZİ </vt:lpstr>
      <vt:lpstr>Güçlü Noktalar </vt:lpstr>
      <vt:lpstr>Zayıf Noktalar </vt:lpstr>
      <vt:lpstr>Fırsatlar </vt:lpstr>
      <vt:lpstr>Tehditler </vt:lpstr>
      <vt:lpstr>ÖZETLE:</vt:lpstr>
      <vt:lpstr>Tedarik Zinciri ve Lojistikte Geleceği Şekillendirecek Ülkeler ve Gelişmeler</vt:lpstr>
      <vt:lpstr>Tedarik Zinciri ve Lojistikte Geleceği Şekillendirecek Ülkeler ve Gelişmeler</vt:lpstr>
      <vt:lpstr>Türkiye'nin Gelecekteki Rolü </vt:lpstr>
      <vt:lpstr>PowerPoint Sunusu</vt:lpstr>
    </vt:vector>
  </TitlesOfParts>
  <Company>SAKARYA UNIVERSITESI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TEDARİK ZİNCİRİ VE LOJİSTİKTE BT UYGULAMALARI  SANAL SINIF-2</dc:title>
  <dc:creator>SAU</dc:creator>
  <cp:lastModifiedBy>Office</cp:lastModifiedBy>
  <cp:revision>23</cp:revision>
  <dcterms:created xsi:type="dcterms:W3CDTF">2012-03-08T15:54:47Z</dcterms:created>
  <dcterms:modified xsi:type="dcterms:W3CDTF">2025-04-21T10:28:27Z</dcterms:modified>
</cp:coreProperties>
</file>