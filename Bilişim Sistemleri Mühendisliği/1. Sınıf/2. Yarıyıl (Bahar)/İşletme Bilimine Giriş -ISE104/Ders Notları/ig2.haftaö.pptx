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49"/>
  </p:notesMasterIdLst>
  <p:sldIdLst>
    <p:sldId id="256" r:id="rId2"/>
    <p:sldId id="30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5" r:id="rId21"/>
    <p:sldId id="276" r:id="rId22"/>
    <p:sldId id="273" r:id="rId23"/>
    <p:sldId id="277" r:id="rId24"/>
    <p:sldId id="278" r:id="rId25"/>
    <p:sldId id="279"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3" r:id="rId4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610"/>
    <p:restoredTop sz="83282" autoAdjust="0"/>
  </p:normalViewPr>
  <p:slideViewPr>
    <p:cSldViewPr snapToGrid="0">
      <p:cViewPr varScale="1">
        <p:scale>
          <a:sx n="92" d="100"/>
          <a:sy n="92" d="100"/>
        </p:scale>
        <p:origin x="1320" y="176"/>
      </p:cViewPr>
      <p:guideLst/>
    </p:cSldViewPr>
  </p:slideViewPr>
  <p:notesTextViewPr>
    <p:cViewPr>
      <p:scale>
        <a:sx n="1" d="1"/>
        <a:sy n="1" d="1"/>
      </p:scale>
      <p:origin x="0" y="0"/>
    </p:cViewPr>
  </p:notesTextViewPr>
  <p:notesViewPr>
    <p:cSldViewPr snapToGrid="0">
      <p:cViewPr varScale="1">
        <p:scale>
          <a:sx n="84" d="100"/>
          <a:sy n="84" d="100"/>
        </p:scale>
        <p:origin x="396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F013FD-63F5-4837-AC86-D8F8B30D64C0}"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021A48B2-7066-4B85-84C8-39370075E4CD}">
      <dgm:prSet/>
      <dgm:spPr/>
      <dgm:t>
        <a:bodyPr/>
        <a:lstStyle/>
        <a:p>
          <a:r>
            <a:rPr lang="tr-TR"/>
            <a:t>Bu haftayı tamamladıktan sonra; </a:t>
          </a:r>
          <a:endParaRPr lang="en-US"/>
        </a:p>
      </dgm:t>
    </dgm:pt>
    <dgm:pt modelId="{FA6BD6E7-E2E1-4539-A9BA-6EC3AA7046C6}" type="parTrans" cxnId="{BB1AD548-7B98-456D-8EF9-8EA61D8E15AB}">
      <dgm:prSet/>
      <dgm:spPr/>
      <dgm:t>
        <a:bodyPr/>
        <a:lstStyle/>
        <a:p>
          <a:endParaRPr lang="en-US"/>
        </a:p>
      </dgm:t>
    </dgm:pt>
    <dgm:pt modelId="{D7160557-972D-402F-9DEB-D54F88CB90D5}" type="sibTrans" cxnId="{BB1AD548-7B98-456D-8EF9-8EA61D8E15AB}">
      <dgm:prSet/>
      <dgm:spPr/>
      <dgm:t>
        <a:bodyPr/>
        <a:lstStyle/>
        <a:p>
          <a:endParaRPr lang="en-US"/>
        </a:p>
      </dgm:t>
    </dgm:pt>
    <dgm:pt modelId="{8C382EE4-D1B6-4F49-B2A8-53ABE9461157}">
      <dgm:prSet/>
      <dgm:spPr/>
      <dgm:t>
        <a:bodyPr/>
        <a:lstStyle/>
        <a:p>
          <a:r>
            <a:rPr lang="tr-TR"/>
            <a:t>İşletme çevresi kavramını tanımlayabilecek, </a:t>
          </a:r>
          <a:endParaRPr lang="en-US"/>
        </a:p>
      </dgm:t>
    </dgm:pt>
    <dgm:pt modelId="{40B440AF-D0C0-49B0-BD0E-11397C80D647}" type="parTrans" cxnId="{A3633D3B-2ABB-4244-9D62-0EDA23E8342D}">
      <dgm:prSet/>
      <dgm:spPr/>
      <dgm:t>
        <a:bodyPr/>
        <a:lstStyle/>
        <a:p>
          <a:endParaRPr lang="en-US"/>
        </a:p>
      </dgm:t>
    </dgm:pt>
    <dgm:pt modelId="{0136B611-8644-4449-AFA3-7AD76A2FBD27}" type="sibTrans" cxnId="{A3633D3B-2ABB-4244-9D62-0EDA23E8342D}">
      <dgm:prSet/>
      <dgm:spPr/>
      <dgm:t>
        <a:bodyPr/>
        <a:lstStyle/>
        <a:p>
          <a:endParaRPr lang="en-US"/>
        </a:p>
      </dgm:t>
    </dgm:pt>
    <dgm:pt modelId="{E9A3634C-92F4-4937-8960-46F920FDA296}">
      <dgm:prSet/>
      <dgm:spPr/>
      <dgm:t>
        <a:bodyPr/>
        <a:lstStyle/>
        <a:p>
          <a:r>
            <a:rPr lang="tr-TR"/>
            <a:t>İşletme çevresinin çok katmanlı yapısını betimleyebilecek,</a:t>
          </a:r>
          <a:endParaRPr lang="en-US"/>
        </a:p>
      </dgm:t>
    </dgm:pt>
    <dgm:pt modelId="{FDE4A042-0044-4F8B-9D6E-DCC81B517B85}" type="parTrans" cxnId="{6DC3EEF8-5703-4A70-A4E8-5504DAE1A2E4}">
      <dgm:prSet/>
      <dgm:spPr/>
      <dgm:t>
        <a:bodyPr/>
        <a:lstStyle/>
        <a:p>
          <a:endParaRPr lang="en-US"/>
        </a:p>
      </dgm:t>
    </dgm:pt>
    <dgm:pt modelId="{D1167329-35CC-476D-B8B5-B61533DE9B19}" type="sibTrans" cxnId="{6DC3EEF8-5703-4A70-A4E8-5504DAE1A2E4}">
      <dgm:prSet/>
      <dgm:spPr/>
      <dgm:t>
        <a:bodyPr/>
        <a:lstStyle/>
        <a:p>
          <a:endParaRPr lang="en-US"/>
        </a:p>
      </dgm:t>
    </dgm:pt>
    <dgm:pt modelId="{EB2BA6A3-E3D0-439B-9B1D-E482C6590BA5}">
      <dgm:prSet/>
      <dgm:spPr/>
      <dgm:t>
        <a:bodyPr/>
        <a:lstStyle/>
        <a:p>
          <a:r>
            <a:rPr lang="tr-TR"/>
            <a:t>İşletmenin genel çevre bileşenlerini ve bu bileşenlerin kendi aralarındaki etkileşimleri açıklayabilecek, </a:t>
          </a:r>
          <a:endParaRPr lang="en-US"/>
        </a:p>
      </dgm:t>
    </dgm:pt>
    <dgm:pt modelId="{3FC4BBF3-5DA3-4831-9B83-6DA6D8F05182}" type="parTrans" cxnId="{AA9B995D-A01A-4A11-B50F-DFECBFFCE197}">
      <dgm:prSet/>
      <dgm:spPr/>
      <dgm:t>
        <a:bodyPr/>
        <a:lstStyle/>
        <a:p>
          <a:endParaRPr lang="en-US"/>
        </a:p>
      </dgm:t>
    </dgm:pt>
    <dgm:pt modelId="{3AA6D249-BA9E-41EC-9861-0913D804904F}" type="sibTrans" cxnId="{AA9B995D-A01A-4A11-B50F-DFECBFFCE197}">
      <dgm:prSet/>
      <dgm:spPr/>
      <dgm:t>
        <a:bodyPr/>
        <a:lstStyle/>
        <a:p>
          <a:endParaRPr lang="en-US"/>
        </a:p>
      </dgm:t>
    </dgm:pt>
    <dgm:pt modelId="{6E98C870-9F98-400E-9478-6EE0C4B674B7}">
      <dgm:prSet/>
      <dgm:spPr/>
      <dgm:t>
        <a:bodyPr/>
        <a:lstStyle/>
        <a:p>
          <a:r>
            <a:rPr lang="tr-TR" dirty="0"/>
            <a:t>İşletmenin sektörel çevre bileşenlerini ve bu bileşenlerin işletme üzerindeki etkilerini </a:t>
          </a:r>
          <a:r>
            <a:rPr lang="tr-TR" dirty="0" err="1"/>
            <a:t>betimleyebileyecek</a:t>
          </a:r>
          <a:r>
            <a:rPr lang="tr-TR" dirty="0"/>
            <a:t>, </a:t>
          </a:r>
          <a:endParaRPr lang="en-US" dirty="0"/>
        </a:p>
      </dgm:t>
    </dgm:pt>
    <dgm:pt modelId="{53910279-51D6-4556-A9D4-6139749701A7}" type="parTrans" cxnId="{74B36495-E53C-4AF7-8A6B-B47ED6818058}">
      <dgm:prSet/>
      <dgm:spPr/>
      <dgm:t>
        <a:bodyPr/>
        <a:lstStyle/>
        <a:p>
          <a:endParaRPr lang="en-US"/>
        </a:p>
      </dgm:t>
    </dgm:pt>
    <dgm:pt modelId="{24382590-7F6F-4027-9096-82FD8ED3B3AA}" type="sibTrans" cxnId="{74B36495-E53C-4AF7-8A6B-B47ED6818058}">
      <dgm:prSet/>
      <dgm:spPr/>
      <dgm:t>
        <a:bodyPr/>
        <a:lstStyle/>
        <a:p>
          <a:endParaRPr lang="en-US"/>
        </a:p>
      </dgm:t>
    </dgm:pt>
    <dgm:pt modelId="{EE6B571D-7B02-4EDA-A7F6-01D66CDDACE1}">
      <dgm:prSet/>
      <dgm:spPr/>
      <dgm:t>
        <a:bodyPr/>
        <a:lstStyle/>
        <a:p>
          <a:r>
            <a:rPr lang="tr-TR"/>
            <a:t>İşletmenin iç çevresini ve iç çevre unsurlarını tanımlayabilecek,</a:t>
          </a:r>
          <a:endParaRPr lang="en-US"/>
        </a:p>
      </dgm:t>
    </dgm:pt>
    <dgm:pt modelId="{B4C4AE77-C52C-4E17-A234-4D179805296D}" type="parTrans" cxnId="{8C120A1B-19DE-494A-90E6-C8463ED41853}">
      <dgm:prSet/>
      <dgm:spPr/>
      <dgm:t>
        <a:bodyPr/>
        <a:lstStyle/>
        <a:p>
          <a:endParaRPr lang="en-US"/>
        </a:p>
      </dgm:t>
    </dgm:pt>
    <dgm:pt modelId="{1AFE3911-3C2D-4A1F-8CB5-0B405546E0EC}" type="sibTrans" cxnId="{8C120A1B-19DE-494A-90E6-C8463ED41853}">
      <dgm:prSet/>
      <dgm:spPr/>
      <dgm:t>
        <a:bodyPr/>
        <a:lstStyle/>
        <a:p>
          <a:endParaRPr lang="en-US"/>
        </a:p>
      </dgm:t>
    </dgm:pt>
    <dgm:pt modelId="{775884DB-BFFD-4E3E-BE2F-C6F63211A473}">
      <dgm:prSet/>
      <dgm:spPr/>
      <dgm:t>
        <a:bodyPr/>
        <a:lstStyle/>
        <a:p>
          <a:r>
            <a:rPr lang="tr-TR"/>
            <a:t>Çevresel belirsizlik ve işletme çevresi arasındaki ilişkiyi açıklayabileceksiniz.</a:t>
          </a:r>
          <a:endParaRPr lang="en-US"/>
        </a:p>
      </dgm:t>
    </dgm:pt>
    <dgm:pt modelId="{3AA4B9DD-5553-4C64-BA8A-648A91C4F102}" type="parTrans" cxnId="{9D2109FE-5C93-4CAC-90B5-886FA9F5B15D}">
      <dgm:prSet/>
      <dgm:spPr/>
      <dgm:t>
        <a:bodyPr/>
        <a:lstStyle/>
        <a:p>
          <a:endParaRPr lang="en-US"/>
        </a:p>
      </dgm:t>
    </dgm:pt>
    <dgm:pt modelId="{B89D3260-6E5B-43C2-A0DC-78A350EDF26C}" type="sibTrans" cxnId="{9D2109FE-5C93-4CAC-90B5-886FA9F5B15D}">
      <dgm:prSet/>
      <dgm:spPr/>
      <dgm:t>
        <a:bodyPr/>
        <a:lstStyle/>
        <a:p>
          <a:endParaRPr lang="en-US"/>
        </a:p>
      </dgm:t>
    </dgm:pt>
    <dgm:pt modelId="{5C614A75-43AA-2C44-884C-2BA13BD25715}" type="pres">
      <dgm:prSet presAssocID="{74F013FD-63F5-4837-AC86-D8F8B30D64C0}" presName="diagram" presStyleCnt="0">
        <dgm:presLayoutVars>
          <dgm:dir/>
          <dgm:resizeHandles val="exact"/>
        </dgm:presLayoutVars>
      </dgm:prSet>
      <dgm:spPr/>
    </dgm:pt>
    <dgm:pt modelId="{5F94486B-23E2-0745-A07E-FC3C901C0DD2}" type="pres">
      <dgm:prSet presAssocID="{021A48B2-7066-4B85-84C8-39370075E4CD}" presName="node" presStyleLbl="node1" presStyleIdx="0" presStyleCnt="7">
        <dgm:presLayoutVars>
          <dgm:bulletEnabled val="1"/>
        </dgm:presLayoutVars>
      </dgm:prSet>
      <dgm:spPr/>
    </dgm:pt>
    <dgm:pt modelId="{11797C97-2CFB-434F-8A28-FFD48C85AA55}" type="pres">
      <dgm:prSet presAssocID="{D7160557-972D-402F-9DEB-D54F88CB90D5}" presName="sibTrans" presStyleCnt="0"/>
      <dgm:spPr/>
    </dgm:pt>
    <dgm:pt modelId="{55214AE4-8FF8-C443-B0E0-FE709A3FD87C}" type="pres">
      <dgm:prSet presAssocID="{8C382EE4-D1B6-4F49-B2A8-53ABE9461157}" presName="node" presStyleLbl="node1" presStyleIdx="1" presStyleCnt="7">
        <dgm:presLayoutVars>
          <dgm:bulletEnabled val="1"/>
        </dgm:presLayoutVars>
      </dgm:prSet>
      <dgm:spPr/>
    </dgm:pt>
    <dgm:pt modelId="{374A8F53-314D-D44E-A1AF-122B748636DB}" type="pres">
      <dgm:prSet presAssocID="{0136B611-8644-4449-AFA3-7AD76A2FBD27}" presName="sibTrans" presStyleCnt="0"/>
      <dgm:spPr/>
    </dgm:pt>
    <dgm:pt modelId="{9AFA717B-C2FD-9944-BA18-78EBFF3F1E70}" type="pres">
      <dgm:prSet presAssocID="{E9A3634C-92F4-4937-8960-46F920FDA296}" presName="node" presStyleLbl="node1" presStyleIdx="2" presStyleCnt="7">
        <dgm:presLayoutVars>
          <dgm:bulletEnabled val="1"/>
        </dgm:presLayoutVars>
      </dgm:prSet>
      <dgm:spPr/>
    </dgm:pt>
    <dgm:pt modelId="{11FFAC9D-FD31-CC41-A6E9-6C0DF80C3E4F}" type="pres">
      <dgm:prSet presAssocID="{D1167329-35CC-476D-B8B5-B61533DE9B19}" presName="sibTrans" presStyleCnt="0"/>
      <dgm:spPr/>
    </dgm:pt>
    <dgm:pt modelId="{3EA1E66D-2865-C348-BF92-3C4E6632BAC3}" type="pres">
      <dgm:prSet presAssocID="{EB2BA6A3-E3D0-439B-9B1D-E482C6590BA5}" presName="node" presStyleLbl="node1" presStyleIdx="3" presStyleCnt="7">
        <dgm:presLayoutVars>
          <dgm:bulletEnabled val="1"/>
        </dgm:presLayoutVars>
      </dgm:prSet>
      <dgm:spPr/>
    </dgm:pt>
    <dgm:pt modelId="{FB3A824B-5106-2845-8332-E87E02F0BA1D}" type="pres">
      <dgm:prSet presAssocID="{3AA6D249-BA9E-41EC-9861-0913D804904F}" presName="sibTrans" presStyleCnt="0"/>
      <dgm:spPr/>
    </dgm:pt>
    <dgm:pt modelId="{0F34B101-C6A6-244A-BAC5-4C39094C6863}" type="pres">
      <dgm:prSet presAssocID="{6E98C870-9F98-400E-9478-6EE0C4B674B7}" presName="node" presStyleLbl="node1" presStyleIdx="4" presStyleCnt="7">
        <dgm:presLayoutVars>
          <dgm:bulletEnabled val="1"/>
        </dgm:presLayoutVars>
      </dgm:prSet>
      <dgm:spPr/>
    </dgm:pt>
    <dgm:pt modelId="{3975E0CA-21C4-FF4E-8DED-CBC6B814035E}" type="pres">
      <dgm:prSet presAssocID="{24382590-7F6F-4027-9096-82FD8ED3B3AA}" presName="sibTrans" presStyleCnt="0"/>
      <dgm:spPr/>
    </dgm:pt>
    <dgm:pt modelId="{35CA895F-2EB3-CD41-9FB9-D6B6878A82AA}" type="pres">
      <dgm:prSet presAssocID="{EE6B571D-7B02-4EDA-A7F6-01D66CDDACE1}" presName="node" presStyleLbl="node1" presStyleIdx="5" presStyleCnt="7">
        <dgm:presLayoutVars>
          <dgm:bulletEnabled val="1"/>
        </dgm:presLayoutVars>
      </dgm:prSet>
      <dgm:spPr/>
    </dgm:pt>
    <dgm:pt modelId="{FDE85D52-4CA7-4E4B-BB1C-82351A550126}" type="pres">
      <dgm:prSet presAssocID="{1AFE3911-3C2D-4A1F-8CB5-0B405546E0EC}" presName="sibTrans" presStyleCnt="0"/>
      <dgm:spPr/>
    </dgm:pt>
    <dgm:pt modelId="{9731C0E0-75DE-4F4C-80B2-373A1AEEF4FC}" type="pres">
      <dgm:prSet presAssocID="{775884DB-BFFD-4E3E-BE2F-C6F63211A473}" presName="node" presStyleLbl="node1" presStyleIdx="6" presStyleCnt="7">
        <dgm:presLayoutVars>
          <dgm:bulletEnabled val="1"/>
        </dgm:presLayoutVars>
      </dgm:prSet>
      <dgm:spPr/>
    </dgm:pt>
  </dgm:ptLst>
  <dgm:cxnLst>
    <dgm:cxn modelId="{8C120A1B-19DE-494A-90E6-C8463ED41853}" srcId="{74F013FD-63F5-4837-AC86-D8F8B30D64C0}" destId="{EE6B571D-7B02-4EDA-A7F6-01D66CDDACE1}" srcOrd="5" destOrd="0" parTransId="{B4C4AE77-C52C-4E17-A234-4D179805296D}" sibTransId="{1AFE3911-3C2D-4A1F-8CB5-0B405546E0EC}"/>
    <dgm:cxn modelId="{A3633D3B-2ABB-4244-9D62-0EDA23E8342D}" srcId="{74F013FD-63F5-4837-AC86-D8F8B30D64C0}" destId="{8C382EE4-D1B6-4F49-B2A8-53ABE9461157}" srcOrd="1" destOrd="0" parTransId="{40B440AF-D0C0-49B0-BD0E-11397C80D647}" sibTransId="{0136B611-8644-4449-AFA3-7AD76A2FBD27}"/>
    <dgm:cxn modelId="{3441373F-DF84-6D48-9172-054DBD2A848E}" type="presOf" srcId="{6E98C870-9F98-400E-9478-6EE0C4B674B7}" destId="{0F34B101-C6A6-244A-BAC5-4C39094C6863}" srcOrd="0" destOrd="0" presId="urn:microsoft.com/office/officeart/2005/8/layout/default"/>
    <dgm:cxn modelId="{BB1AD548-7B98-456D-8EF9-8EA61D8E15AB}" srcId="{74F013FD-63F5-4837-AC86-D8F8B30D64C0}" destId="{021A48B2-7066-4B85-84C8-39370075E4CD}" srcOrd="0" destOrd="0" parTransId="{FA6BD6E7-E2E1-4539-A9BA-6EC3AA7046C6}" sibTransId="{D7160557-972D-402F-9DEB-D54F88CB90D5}"/>
    <dgm:cxn modelId="{AA9B995D-A01A-4A11-B50F-DFECBFFCE197}" srcId="{74F013FD-63F5-4837-AC86-D8F8B30D64C0}" destId="{EB2BA6A3-E3D0-439B-9B1D-E482C6590BA5}" srcOrd="3" destOrd="0" parTransId="{3FC4BBF3-5DA3-4831-9B83-6DA6D8F05182}" sibTransId="{3AA6D249-BA9E-41EC-9861-0913D804904F}"/>
    <dgm:cxn modelId="{8914CC6A-BFFD-544B-B755-C9AFEF47069A}" type="presOf" srcId="{EB2BA6A3-E3D0-439B-9B1D-E482C6590BA5}" destId="{3EA1E66D-2865-C348-BF92-3C4E6632BAC3}" srcOrd="0" destOrd="0" presId="urn:microsoft.com/office/officeart/2005/8/layout/default"/>
    <dgm:cxn modelId="{08F9B784-3CAA-D94C-898B-208DF60E6D13}" type="presOf" srcId="{775884DB-BFFD-4E3E-BE2F-C6F63211A473}" destId="{9731C0E0-75DE-4F4C-80B2-373A1AEEF4FC}" srcOrd="0" destOrd="0" presId="urn:microsoft.com/office/officeart/2005/8/layout/default"/>
    <dgm:cxn modelId="{74B36495-E53C-4AF7-8A6B-B47ED6818058}" srcId="{74F013FD-63F5-4837-AC86-D8F8B30D64C0}" destId="{6E98C870-9F98-400E-9478-6EE0C4B674B7}" srcOrd="4" destOrd="0" parTransId="{53910279-51D6-4556-A9D4-6139749701A7}" sibTransId="{24382590-7F6F-4027-9096-82FD8ED3B3AA}"/>
    <dgm:cxn modelId="{F4615FA9-86F7-CC47-AFD1-F827F814A572}" type="presOf" srcId="{021A48B2-7066-4B85-84C8-39370075E4CD}" destId="{5F94486B-23E2-0745-A07E-FC3C901C0DD2}" srcOrd="0" destOrd="0" presId="urn:microsoft.com/office/officeart/2005/8/layout/default"/>
    <dgm:cxn modelId="{BB37F5A9-1850-B540-B0E5-B09FD6E55B32}" type="presOf" srcId="{74F013FD-63F5-4837-AC86-D8F8B30D64C0}" destId="{5C614A75-43AA-2C44-884C-2BA13BD25715}" srcOrd="0" destOrd="0" presId="urn:microsoft.com/office/officeart/2005/8/layout/default"/>
    <dgm:cxn modelId="{06AD22B3-A26E-3A41-B161-F2D3E74F1942}" type="presOf" srcId="{EE6B571D-7B02-4EDA-A7F6-01D66CDDACE1}" destId="{35CA895F-2EB3-CD41-9FB9-D6B6878A82AA}" srcOrd="0" destOrd="0" presId="urn:microsoft.com/office/officeart/2005/8/layout/default"/>
    <dgm:cxn modelId="{7345C6D1-2CD7-EE4E-A314-D5B5CE0D7626}" type="presOf" srcId="{E9A3634C-92F4-4937-8960-46F920FDA296}" destId="{9AFA717B-C2FD-9944-BA18-78EBFF3F1E70}" srcOrd="0" destOrd="0" presId="urn:microsoft.com/office/officeart/2005/8/layout/default"/>
    <dgm:cxn modelId="{6DC3EEF8-5703-4A70-A4E8-5504DAE1A2E4}" srcId="{74F013FD-63F5-4837-AC86-D8F8B30D64C0}" destId="{E9A3634C-92F4-4937-8960-46F920FDA296}" srcOrd="2" destOrd="0" parTransId="{FDE4A042-0044-4F8B-9D6E-DCC81B517B85}" sibTransId="{D1167329-35CC-476D-B8B5-B61533DE9B19}"/>
    <dgm:cxn modelId="{9D2109FE-5C93-4CAC-90B5-886FA9F5B15D}" srcId="{74F013FD-63F5-4837-AC86-D8F8B30D64C0}" destId="{775884DB-BFFD-4E3E-BE2F-C6F63211A473}" srcOrd="6" destOrd="0" parTransId="{3AA4B9DD-5553-4C64-BA8A-648A91C4F102}" sibTransId="{B89D3260-6E5B-43C2-A0DC-78A350EDF26C}"/>
    <dgm:cxn modelId="{09DABEFF-8054-8848-BD59-9C61357C9691}" type="presOf" srcId="{8C382EE4-D1B6-4F49-B2A8-53ABE9461157}" destId="{55214AE4-8FF8-C443-B0E0-FE709A3FD87C}" srcOrd="0" destOrd="0" presId="urn:microsoft.com/office/officeart/2005/8/layout/default"/>
    <dgm:cxn modelId="{4BBFDE2B-BB5C-5A4E-8719-7A30928CF379}" type="presParOf" srcId="{5C614A75-43AA-2C44-884C-2BA13BD25715}" destId="{5F94486B-23E2-0745-A07E-FC3C901C0DD2}" srcOrd="0" destOrd="0" presId="urn:microsoft.com/office/officeart/2005/8/layout/default"/>
    <dgm:cxn modelId="{37DC8B07-5ABC-DF44-AAB0-8FC7D6203CE5}" type="presParOf" srcId="{5C614A75-43AA-2C44-884C-2BA13BD25715}" destId="{11797C97-2CFB-434F-8A28-FFD48C85AA55}" srcOrd="1" destOrd="0" presId="urn:microsoft.com/office/officeart/2005/8/layout/default"/>
    <dgm:cxn modelId="{33AF909D-3C6A-2848-8A85-999AE51413EE}" type="presParOf" srcId="{5C614A75-43AA-2C44-884C-2BA13BD25715}" destId="{55214AE4-8FF8-C443-B0E0-FE709A3FD87C}" srcOrd="2" destOrd="0" presId="urn:microsoft.com/office/officeart/2005/8/layout/default"/>
    <dgm:cxn modelId="{1093D238-05A9-AA46-8465-3E8BB3901EA8}" type="presParOf" srcId="{5C614A75-43AA-2C44-884C-2BA13BD25715}" destId="{374A8F53-314D-D44E-A1AF-122B748636DB}" srcOrd="3" destOrd="0" presId="urn:microsoft.com/office/officeart/2005/8/layout/default"/>
    <dgm:cxn modelId="{D89C7F2B-4A88-0B46-927A-E787F24D09E0}" type="presParOf" srcId="{5C614A75-43AA-2C44-884C-2BA13BD25715}" destId="{9AFA717B-C2FD-9944-BA18-78EBFF3F1E70}" srcOrd="4" destOrd="0" presId="urn:microsoft.com/office/officeart/2005/8/layout/default"/>
    <dgm:cxn modelId="{D41E6B92-4BB9-C044-8AE6-0CEE99EEA4E1}" type="presParOf" srcId="{5C614A75-43AA-2C44-884C-2BA13BD25715}" destId="{11FFAC9D-FD31-CC41-A6E9-6C0DF80C3E4F}" srcOrd="5" destOrd="0" presId="urn:microsoft.com/office/officeart/2005/8/layout/default"/>
    <dgm:cxn modelId="{476039C5-4E7D-5E4E-A3F3-01E9FF3A1919}" type="presParOf" srcId="{5C614A75-43AA-2C44-884C-2BA13BD25715}" destId="{3EA1E66D-2865-C348-BF92-3C4E6632BAC3}" srcOrd="6" destOrd="0" presId="urn:microsoft.com/office/officeart/2005/8/layout/default"/>
    <dgm:cxn modelId="{A6DEF26C-4C7A-C54B-9D6B-D76A9A85B2CA}" type="presParOf" srcId="{5C614A75-43AA-2C44-884C-2BA13BD25715}" destId="{FB3A824B-5106-2845-8332-E87E02F0BA1D}" srcOrd="7" destOrd="0" presId="urn:microsoft.com/office/officeart/2005/8/layout/default"/>
    <dgm:cxn modelId="{994BA27A-9FF3-5746-B4E3-7216170ADC66}" type="presParOf" srcId="{5C614A75-43AA-2C44-884C-2BA13BD25715}" destId="{0F34B101-C6A6-244A-BAC5-4C39094C6863}" srcOrd="8" destOrd="0" presId="urn:microsoft.com/office/officeart/2005/8/layout/default"/>
    <dgm:cxn modelId="{35C0E50F-E9E1-8744-8D26-BAD59E345F8F}" type="presParOf" srcId="{5C614A75-43AA-2C44-884C-2BA13BD25715}" destId="{3975E0CA-21C4-FF4E-8DED-CBC6B814035E}" srcOrd="9" destOrd="0" presId="urn:microsoft.com/office/officeart/2005/8/layout/default"/>
    <dgm:cxn modelId="{C16A7981-F60B-834E-B4C2-A5613A1EA3E8}" type="presParOf" srcId="{5C614A75-43AA-2C44-884C-2BA13BD25715}" destId="{35CA895F-2EB3-CD41-9FB9-D6B6878A82AA}" srcOrd="10" destOrd="0" presId="urn:microsoft.com/office/officeart/2005/8/layout/default"/>
    <dgm:cxn modelId="{CA57E758-9595-7F4D-B9F0-B894762D8EE8}" type="presParOf" srcId="{5C614A75-43AA-2C44-884C-2BA13BD25715}" destId="{FDE85D52-4CA7-4E4B-BB1C-82351A550126}" srcOrd="11" destOrd="0" presId="urn:microsoft.com/office/officeart/2005/8/layout/default"/>
    <dgm:cxn modelId="{242EA890-27F7-B144-B5B0-EDB2C756F0A4}" type="presParOf" srcId="{5C614A75-43AA-2C44-884C-2BA13BD25715}" destId="{9731C0E0-75DE-4F4C-80B2-373A1AEEF4FC}"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0D3877-8412-4DC4-8274-F63D72C958A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A9FB5BDE-E5F1-4CB0-B7DD-53DBF66B7AAD}">
      <dgm:prSet/>
      <dgm:spPr/>
      <dgm:t>
        <a:bodyPr/>
        <a:lstStyle/>
        <a:p>
          <a:r>
            <a:rPr lang="tr-TR"/>
            <a:t>Sistem bakış açısıyla işletme çevresi; işletme içinden başlayan ve çeşitli katmanları olan bir yapıyı ifade eder</a:t>
          </a:r>
          <a:endParaRPr lang="en-US"/>
        </a:p>
      </dgm:t>
    </dgm:pt>
    <dgm:pt modelId="{1381E22A-51D8-449C-B6FB-7ED00532B96C}" type="parTrans" cxnId="{0E901DE8-1AFE-45AD-B070-FDE32202461C}">
      <dgm:prSet/>
      <dgm:spPr/>
      <dgm:t>
        <a:bodyPr/>
        <a:lstStyle/>
        <a:p>
          <a:endParaRPr lang="en-US"/>
        </a:p>
      </dgm:t>
    </dgm:pt>
    <dgm:pt modelId="{CE8A4427-2030-4A9F-B835-6EA45A437C01}" type="sibTrans" cxnId="{0E901DE8-1AFE-45AD-B070-FDE32202461C}">
      <dgm:prSet/>
      <dgm:spPr/>
      <dgm:t>
        <a:bodyPr/>
        <a:lstStyle/>
        <a:p>
          <a:endParaRPr lang="en-US"/>
        </a:p>
      </dgm:t>
    </dgm:pt>
    <dgm:pt modelId="{37BB168F-36EA-4E17-BB5B-FE960536201C}">
      <dgm:prSet/>
      <dgm:spPr/>
      <dgm:t>
        <a:bodyPr/>
        <a:lstStyle/>
        <a:p>
          <a:r>
            <a:rPr lang="tr-TR"/>
            <a:t>İç çevre; işletme sınırları içinde kalan ve işletmenin misyonunu, vizyonunu, temel yeteneklerini, örgüt yapısını ve örgütsel kültürünü içinde barındıran bir alt sistemler topluluğudur.</a:t>
          </a:r>
          <a:endParaRPr lang="en-US"/>
        </a:p>
      </dgm:t>
    </dgm:pt>
    <dgm:pt modelId="{66463CE3-9387-4313-96EA-07CD0E39C90E}" type="parTrans" cxnId="{CC0216FC-DF65-4FAA-9E6C-C384B361D2A2}">
      <dgm:prSet/>
      <dgm:spPr/>
      <dgm:t>
        <a:bodyPr/>
        <a:lstStyle/>
        <a:p>
          <a:endParaRPr lang="en-US"/>
        </a:p>
      </dgm:t>
    </dgm:pt>
    <dgm:pt modelId="{C6945AB2-BAD5-46AD-8506-F6258FC3FB66}" type="sibTrans" cxnId="{CC0216FC-DF65-4FAA-9E6C-C384B361D2A2}">
      <dgm:prSet/>
      <dgm:spPr/>
      <dgm:t>
        <a:bodyPr/>
        <a:lstStyle/>
        <a:p>
          <a:endParaRPr lang="en-US"/>
        </a:p>
      </dgm:t>
    </dgm:pt>
    <dgm:pt modelId="{52046BB4-C9F8-4E20-BBEC-D4C189D9EF9B}">
      <dgm:prSet/>
      <dgm:spPr/>
      <dgm:t>
        <a:bodyPr/>
        <a:lstStyle/>
        <a:p>
          <a:r>
            <a:rPr lang="tr-TR" dirty="0"/>
            <a:t>İşletmenin sektörel çevresi, işletmenin yakın dış çevresi veya işletmenin mikro çevresi şeklinde de adlandırılmaktadır.</a:t>
          </a:r>
          <a:endParaRPr lang="en-US" dirty="0"/>
        </a:p>
      </dgm:t>
    </dgm:pt>
    <dgm:pt modelId="{22888302-8674-46A3-A7AA-765BB5CF11F4}" type="parTrans" cxnId="{A30454AA-D643-497E-9B9A-6832E9E3FFBC}">
      <dgm:prSet/>
      <dgm:spPr/>
      <dgm:t>
        <a:bodyPr/>
        <a:lstStyle/>
        <a:p>
          <a:endParaRPr lang="en-US"/>
        </a:p>
      </dgm:t>
    </dgm:pt>
    <dgm:pt modelId="{D0FF6110-A3AE-47E9-8591-0510D8624247}" type="sibTrans" cxnId="{A30454AA-D643-497E-9B9A-6832E9E3FFBC}">
      <dgm:prSet/>
      <dgm:spPr/>
      <dgm:t>
        <a:bodyPr/>
        <a:lstStyle/>
        <a:p>
          <a:endParaRPr lang="en-US"/>
        </a:p>
      </dgm:t>
    </dgm:pt>
    <dgm:pt modelId="{F045DD45-81CE-482C-A677-5CA115ABA5E3}">
      <dgm:prSet/>
      <dgm:spPr/>
      <dgm:t>
        <a:bodyPr/>
        <a:lstStyle/>
        <a:p>
          <a:r>
            <a:rPr lang="tr-TR" dirty="0"/>
            <a:t>İşletmenin genel çevresi işletmenin makro çevresi olarak da düşünülebilir</a:t>
          </a:r>
          <a:endParaRPr lang="en-US" dirty="0"/>
        </a:p>
      </dgm:t>
    </dgm:pt>
    <dgm:pt modelId="{A9F0BCDF-C1F8-411D-B0DC-FB9DF61CDAF8}" type="parTrans" cxnId="{FEB70673-154B-45CF-A2D6-3C899955DBF2}">
      <dgm:prSet/>
      <dgm:spPr/>
      <dgm:t>
        <a:bodyPr/>
        <a:lstStyle/>
        <a:p>
          <a:endParaRPr lang="en-US"/>
        </a:p>
      </dgm:t>
    </dgm:pt>
    <dgm:pt modelId="{89212FCC-DBBA-45CC-84AE-297249A7561B}" type="sibTrans" cxnId="{FEB70673-154B-45CF-A2D6-3C899955DBF2}">
      <dgm:prSet/>
      <dgm:spPr/>
      <dgm:t>
        <a:bodyPr/>
        <a:lstStyle/>
        <a:p>
          <a:endParaRPr lang="en-US"/>
        </a:p>
      </dgm:t>
    </dgm:pt>
    <dgm:pt modelId="{6398A981-82A4-E447-A186-19C2BF5F19D2}" type="pres">
      <dgm:prSet presAssocID="{D80D3877-8412-4DC4-8274-F63D72C958AD}" presName="linear" presStyleCnt="0">
        <dgm:presLayoutVars>
          <dgm:animLvl val="lvl"/>
          <dgm:resizeHandles val="exact"/>
        </dgm:presLayoutVars>
      </dgm:prSet>
      <dgm:spPr/>
    </dgm:pt>
    <dgm:pt modelId="{AF926B81-CF9C-E142-B1BE-67422B792809}" type="pres">
      <dgm:prSet presAssocID="{A9FB5BDE-E5F1-4CB0-B7DD-53DBF66B7AAD}" presName="parentText" presStyleLbl="node1" presStyleIdx="0" presStyleCnt="4">
        <dgm:presLayoutVars>
          <dgm:chMax val="0"/>
          <dgm:bulletEnabled val="1"/>
        </dgm:presLayoutVars>
      </dgm:prSet>
      <dgm:spPr/>
    </dgm:pt>
    <dgm:pt modelId="{7793BC6D-248F-F949-B44B-94BF4CA2CE0F}" type="pres">
      <dgm:prSet presAssocID="{CE8A4427-2030-4A9F-B835-6EA45A437C01}" presName="spacer" presStyleCnt="0"/>
      <dgm:spPr/>
    </dgm:pt>
    <dgm:pt modelId="{0F41A3B1-E516-454F-B7AA-5FE194FB9E26}" type="pres">
      <dgm:prSet presAssocID="{37BB168F-36EA-4E17-BB5B-FE960536201C}" presName="parentText" presStyleLbl="node1" presStyleIdx="1" presStyleCnt="4">
        <dgm:presLayoutVars>
          <dgm:chMax val="0"/>
          <dgm:bulletEnabled val="1"/>
        </dgm:presLayoutVars>
      </dgm:prSet>
      <dgm:spPr/>
    </dgm:pt>
    <dgm:pt modelId="{A780E736-E398-9745-89AF-8F7F4BF2E92D}" type="pres">
      <dgm:prSet presAssocID="{C6945AB2-BAD5-46AD-8506-F6258FC3FB66}" presName="spacer" presStyleCnt="0"/>
      <dgm:spPr/>
    </dgm:pt>
    <dgm:pt modelId="{32E2D9FD-E306-2A44-A5FD-47F033199A2D}" type="pres">
      <dgm:prSet presAssocID="{52046BB4-C9F8-4E20-BBEC-D4C189D9EF9B}" presName="parentText" presStyleLbl="node1" presStyleIdx="2" presStyleCnt="4">
        <dgm:presLayoutVars>
          <dgm:chMax val="0"/>
          <dgm:bulletEnabled val="1"/>
        </dgm:presLayoutVars>
      </dgm:prSet>
      <dgm:spPr/>
    </dgm:pt>
    <dgm:pt modelId="{7A9AF502-BA60-6243-BD77-CE18330AB402}" type="pres">
      <dgm:prSet presAssocID="{D0FF6110-A3AE-47E9-8591-0510D8624247}" presName="spacer" presStyleCnt="0"/>
      <dgm:spPr/>
    </dgm:pt>
    <dgm:pt modelId="{C2C37E46-5384-3749-ADA3-3B44291516A6}" type="pres">
      <dgm:prSet presAssocID="{F045DD45-81CE-482C-A677-5CA115ABA5E3}" presName="parentText" presStyleLbl="node1" presStyleIdx="3" presStyleCnt="4">
        <dgm:presLayoutVars>
          <dgm:chMax val="0"/>
          <dgm:bulletEnabled val="1"/>
        </dgm:presLayoutVars>
      </dgm:prSet>
      <dgm:spPr/>
    </dgm:pt>
  </dgm:ptLst>
  <dgm:cxnLst>
    <dgm:cxn modelId="{FD228535-527F-2248-AB91-146FC43E0FD5}" type="presOf" srcId="{D80D3877-8412-4DC4-8274-F63D72C958AD}" destId="{6398A981-82A4-E447-A186-19C2BF5F19D2}" srcOrd="0" destOrd="0" presId="urn:microsoft.com/office/officeart/2005/8/layout/vList2"/>
    <dgm:cxn modelId="{FEB70673-154B-45CF-A2D6-3C899955DBF2}" srcId="{D80D3877-8412-4DC4-8274-F63D72C958AD}" destId="{F045DD45-81CE-482C-A677-5CA115ABA5E3}" srcOrd="3" destOrd="0" parTransId="{A9F0BCDF-C1F8-411D-B0DC-FB9DF61CDAF8}" sibTransId="{89212FCC-DBBA-45CC-84AE-297249A7561B}"/>
    <dgm:cxn modelId="{5937077E-91E9-9D46-A586-4E61A79B62C3}" type="presOf" srcId="{A9FB5BDE-E5F1-4CB0-B7DD-53DBF66B7AAD}" destId="{AF926B81-CF9C-E142-B1BE-67422B792809}" srcOrd="0" destOrd="0" presId="urn:microsoft.com/office/officeart/2005/8/layout/vList2"/>
    <dgm:cxn modelId="{A30454AA-D643-497E-9B9A-6832E9E3FFBC}" srcId="{D80D3877-8412-4DC4-8274-F63D72C958AD}" destId="{52046BB4-C9F8-4E20-BBEC-D4C189D9EF9B}" srcOrd="2" destOrd="0" parTransId="{22888302-8674-46A3-A7AA-765BB5CF11F4}" sibTransId="{D0FF6110-A3AE-47E9-8591-0510D8624247}"/>
    <dgm:cxn modelId="{DAB677C9-3DFF-4944-B89B-546DDA4B6183}" type="presOf" srcId="{F045DD45-81CE-482C-A677-5CA115ABA5E3}" destId="{C2C37E46-5384-3749-ADA3-3B44291516A6}" srcOrd="0" destOrd="0" presId="urn:microsoft.com/office/officeart/2005/8/layout/vList2"/>
    <dgm:cxn modelId="{B8A5E7D1-AB49-E046-A13C-927B4C9FF9A7}" type="presOf" srcId="{52046BB4-C9F8-4E20-BBEC-D4C189D9EF9B}" destId="{32E2D9FD-E306-2A44-A5FD-47F033199A2D}" srcOrd="0" destOrd="0" presId="urn:microsoft.com/office/officeart/2005/8/layout/vList2"/>
    <dgm:cxn modelId="{0E901DE8-1AFE-45AD-B070-FDE32202461C}" srcId="{D80D3877-8412-4DC4-8274-F63D72C958AD}" destId="{A9FB5BDE-E5F1-4CB0-B7DD-53DBF66B7AAD}" srcOrd="0" destOrd="0" parTransId="{1381E22A-51D8-449C-B6FB-7ED00532B96C}" sibTransId="{CE8A4427-2030-4A9F-B835-6EA45A437C01}"/>
    <dgm:cxn modelId="{D9B6B3F6-3795-AB47-8AE2-B626F1EA47ED}" type="presOf" srcId="{37BB168F-36EA-4E17-BB5B-FE960536201C}" destId="{0F41A3B1-E516-454F-B7AA-5FE194FB9E26}" srcOrd="0" destOrd="0" presId="urn:microsoft.com/office/officeart/2005/8/layout/vList2"/>
    <dgm:cxn modelId="{CC0216FC-DF65-4FAA-9E6C-C384B361D2A2}" srcId="{D80D3877-8412-4DC4-8274-F63D72C958AD}" destId="{37BB168F-36EA-4E17-BB5B-FE960536201C}" srcOrd="1" destOrd="0" parTransId="{66463CE3-9387-4313-96EA-07CD0E39C90E}" sibTransId="{C6945AB2-BAD5-46AD-8506-F6258FC3FB66}"/>
    <dgm:cxn modelId="{C9719A74-A284-7B4F-8AF6-ACD78486A5AA}" type="presParOf" srcId="{6398A981-82A4-E447-A186-19C2BF5F19D2}" destId="{AF926B81-CF9C-E142-B1BE-67422B792809}" srcOrd="0" destOrd="0" presId="urn:microsoft.com/office/officeart/2005/8/layout/vList2"/>
    <dgm:cxn modelId="{B50F2E0E-5A70-7B4C-9C6A-23FD082719CC}" type="presParOf" srcId="{6398A981-82A4-E447-A186-19C2BF5F19D2}" destId="{7793BC6D-248F-F949-B44B-94BF4CA2CE0F}" srcOrd="1" destOrd="0" presId="urn:microsoft.com/office/officeart/2005/8/layout/vList2"/>
    <dgm:cxn modelId="{5F86CB00-1F4F-1645-9C18-D3BC67F507DB}" type="presParOf" srcId="{6398A981-82A4-E447-A186-19C2BF5F19D2}" destId="{0F41A3B1-E516-454F-B7AA-5FE194FB9E26}" srcOrd="2" destOrd="0" presId="urn:microsoft.com/office/officeart/2005/8/layout/vList2"/>
    <dgm:cxn modelId="{48DC7B34-4272-FC4F-A130-F8A85BA5291E}" type="presParOf" srcId="{6398A981-82A4-E447-A186-19C2BF5F19D2}" destId="{A780E736-E398-9745-89AF-8F7F4BF2E92D}" srcOrd="3" destOrd="0" presId="urn:microsoft.com/office/officeart/2005/8/layout/vList2"/>
    <dgm:cxn modelId="{7DC95882-C29F-A24C-A0D4-A14528583D0C}" type="presParOf" srcId="{6398A981-82A4-E447-A186-19C2BF5F19D2}" destId="{32E2D9FD-E306-2A44-A5FD-47F033199A2D}" srcOrd="4" destOrd="0" presId="urn:microsoft.com/office/officeart/2005/8/layout/vList2"/>
    <dgm:cxn modelId="{43FCC141-C2F0-B84E-8A7C-F95DF8BA1879}" type="presParOf" srcId="{6398A981-82A4-E447-A186-19C2BF5F19D2}" destId="{7A9AF502-BA60-6243-BD77-CE18330AB402}" srcOrd="5" destOrd="0" presId="urn:microsoft.com/office/officeart/2005/8/layout/vList2"/>
    <dgm:cxn modelId="{0991E568-59BE-9545-958D-AD2B04960D91}" type="presParOf" srcId="{6398A981-82A4-E447-A186-19C2BF5F19D2}" destId="{C2C37E46-5384-3749-ADA3-3B44291516A6}"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3CF2A9F-13DC-4311-B26B-7320DA5E7C2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B1FE0C63-11CC-469A-B291-6A09DF2FABEF}">
      <dgm:prSet/>
      <dgm:spPr/>
      <dgm:t>
        <a:bodyPr/>
        <a:lstStyle/>
        <a:p>
          <a:r>
            <a:rPr lang="tr-TR" dirty="0"/>
            <a:t>İşletmelerin sektörel çevresinin temel olarak beş bileşenden oluştuğu belirtilebilir. </a:t>
          </a:r>
          <a:endParaRPr lang="en-US" dirty="0"/>
        </a:p>
      </dgm:t>
    </dgm:pt>
    <dgm:pt modelId="{82015D51-135D-4A14-A01B-F3AA44620C30}" type="parTrans" cxnId="{FD4EDDEF-A6EE-49FB-93A8-9FBF969C6199}">
      <dgm:prSet/>
      <dgm:spPr/>
      <dgm:t>
        <a:bodyPr/>
        <a:lstStyle/>
        <a:p>
          <a:endParaRPr lang="en-US"/>
        </a:p>
      </dgm:t>
    </dgm:pt>
    <dgm:pt modelId="{F18A912C-B105-4C73-A36D-D2045BD3AE4D}" type="sibTrans" cxnId="{FD4EDDEF-A6EE-49FB-93A8-9FBF969C6199}">
      <dgm:prSet/>
      <dgm:spPr/>
      <dgm:t>
        <a:bodyPr/>
        <a:lstStyle/>
        <a:p>
          <a:endParaRPr lang="en-US"/>
        </a:p>
      </dgm:t>
    </dgm:pt>
    <dgm:pt modelId="{C269B8B9-0D3F-4EEC-B554-D10253A5B4B1}">
      <dgm:prSet/>
      <dgm:spPr/>
      <dgm:t>
        <a:bodyPr/>
        <a:lstStyle/>
        <a:p>
          <a:r>
            <a:rPr lang="tr-TR"/>
            <a:t>Bu bileşenler; </a:t>
          </a:r>
          <a:endParaRPr lang="en-US"/>
        </a:p>
      </dgm:t>
    </dgm:pt>
    <dgm:pt modelId="{4FC8223C-68C3-4D0F-8628-EB6173F84BED}" type="parTrans" cxnId="{644FF6F5-58AA-4ED2-8DC6-4A2E4A3E1927}">
      <dgm:prSet/>
      <dgm:spPr/>
      <dgm:t>
        <a:bodyPr/>
        <a:lstStyle/>
        <a:p>
          <a:endParaRPr lang="en-US"/>
        </a:p>
      </dgm:t>
    </dgm:pt>
    <dgm:pt modelId="{CDF03D3E-39CE-47B3-87E3-FC724FCBF9E5}" type="sibTrans" cxnId="{644FF6F5-58AA-4ED2-8DC6-4A2E4A3E1927}">
      <dgm:prSet/>
      <dgm:spPr/>
      <dgm:t>
        <a:bodyPr/>
        <a:lstStyle/>
        <a:p>
          <a:endParaRPr lang="en-US"/>
        </a:p>
      </dgm:t>
    </dgm:pt>
    <dgm:pt modelId="{29F33C5B-59CF-48EF-9008-A0EA5D0CA9A9}">
      <dgm:prSet/>
      <dgm:spPr/>
      <dgm:t>
        <a:bodyPr/>
        <a:lstStyle/>
        <a:p>
          <a:r>
            <a:rPr lang="tr-TR"/>
            <a:t>Rakipler ve rekabet, </a:t>
          </a:r>
          <a:endParaRPr lang="en-US"/>
        </a:p>
      </dgm:t>
    </dgm:pt>
    <dgm:pt modelId="{766EC071-9B13-44E6-B468-6B4D4AAAEC86}" type="parTrans" cxnId="{904870D9-0B1D-47AF-ACAF-3EFB5D480915}">
      <dgm:prSet/>
      <dgm:spPr/>
      <dgm:t>
        <a:bodyPr/>
        <a:lstStyle/>
        <a:p>
          <a:endParaRPr lang="en-US"/>
        </a:p>
      </dgm:t>
    </dgm:pt>
    <dgm:pt modelId="{D4AB0C9D-C2CC-45E0-AF61-FC1D9733A27E}" type="sibTrans" cxnId="{904870D9-0B1D-47AF-ACAF-3EFB5D480915}">
      <dgm:prSet/>
      <dgm:spPr/>
      <dgm:t>
        <a:bodyPr/>
        <a:lstStyle/>
        <a:p>
          <a:endParaRPr lang="en-US"/>
        </a:p>
      </dgm:t>
    </dgm:pt>
    <dgm:pt modelId="{551AA010-E0CD-4155-9ABB-F5CA82CD1BA0}">
      <dgm:prSet/>
      <dgm:spPr/>
      <dgm:t>
        <a:bodyPr/>
        <a:lstStyle/>
        <a:p>
          <a:r>
            <a:rPr lang="tr-TR"/>
            <a:t>Müşteriler, </a:t>
          </a:r>
          <a:endParaRPr lang="en-US"/>
        </a:p>
      </dgm:t>
    </dgm:pt>
    <dgm:pt modelId="{C7551C93-3008-42FE-89EA-590723588369}" type="parTrans" cxnId="{A647595F-858B-4640-B8D7-EA68B77D2AB1}">
      <dgm:prSet/>
      <dgm:spPr/>
      <dgm:t>
        <a:bodyPr/>
        <a:lstStyle/>
        <a:p>
          <a:endParaRPr lang="en-US"/>
        </a:p>
      </dgm:t>
    </dgm:pt>
    <dgm:pt modelId="{8F3E94C1-24A5-4808-A204-79199D12AB56}" type="sibTrans" cxnId="{A647595F-858B-4640-B8D7-EA68B77D2AB1}">
      <dgm:prSet/>
      <dgm:spPr/>
      <dgm:t>
        <a:bodyPr/>
        <a:lstStyle/>
        <a:p>
          <a:endParaRPr lang="en-US"/>
        </a:p>
      </dgm:t>
    </dgm:pt>
    <dgm:pt modelId="{17CEDD43-20ED-48D4-8F8D-DE486ED72602}">
      <dgm:prSet/>
      <dgm:spPr/>
      <dgm:t>
        <a:bodyPr/>
        <a:lstStyle/>
        <a:p>
          <a:r>
            <a:rPr lang="tr-TR"/>
            <a:t>Tedarikçiler ve stratejik ortaklıklar, </a:t>
          </a:r>
          <a:endParaRPr lang="en-US"/>
        </a:p>
      </dgm:t>
    </dgm:pt>
    <dgm:pt modelId="{8EFCD13B-685A-41AE-A5E6-E2323B1D5BD3}" type="parTrans" cxnId="{D8E0FB84-84EA-4824-B806-A471DD536B64}">
      <dgm:prSet/>
      <dgm:spPr/>
      <dgm:t>
        <a:bodyPr/>
        <a:lstStyle/>
        <a:p>
          <a:endParaRPr lang="en-US"/>
        </a:p>
      </dgm:t>
    </dgm:pt>
    <dgm:pt modelId="{92A01F9D-D968-460C-A181-7CFEDD98B216}" type="sibTrans" cxnId="{D8E0FB84-84EA-4824-B806-A471DD536B64}">
      <dgm:prSet/>
      <dgm:spPr/>
      <dgm:t>
        <a:bodyPr/>
        <a:lstStyle/>
        <a:p>
          <a:endParaRPr lang="en-US"/>
        </a:p>
      </dgm:t>
    </dgm:pt>
    <dgm:pt modelId="{F66AA7D7-ABF4-439E-B22B-7D4FCACA8F4A}">
      <dgm:prSet/>
      <dgm:spPr/>
      <dgm:t>
        <a:bodyPr/>
        <a:lstStyle/>
        <a:p>
          <a:r>
            <a:rPr lang="tr-TR"/>
            <a:t>Yasal	düzenleyiciler ve çıkar grupları</a:t>
          </a:r>
          <a:endParaRPr lang="en-US"/>
        </a:p>
      </dgm:t>
    </dgm:pt>
    <dgm:pt modelId="{4109A0F9-7CC7-4F9C-89FE-4C7F67538C7D}" type="parTrans" cxnId="{43B006B3-EEAE-43A2-AA07-ACF15A600B7C}">
      <dgm:prSet/>
      <dgm:spPr/>
      <dgm:t>
        <a:bodyPr/>
        <a:lstStyle/>
        <a:p>
          <a:endParaRPr lang="en-US"/>
        </a:p>
      </dgm:t>
    </dgm:pt>
    <dgm:pt modelId="{3A6734C5-91C9-456A-A6CD-E5A73287DF7C}" type="sibTrans" cxnId="{43B006B3-EEAE-43A2-AA07-ACF15A600B7C}">
      <dgm:prSet/>
      <dgm:spPr/>
      <dgm:t>
        <a:bodyPr/>
        <a:lstStyle/>
        <a:p>
          <a:endParaRPr lang="en-US"/>
        </a:p>
      </dgm:t>
    </dgm:pt>
    <dgm:pt modelId="{E82E5B67-D06B-4BB0-AFFA-4AC9C1AAC02F}">
      <dgm:prSet/>
      <dgm:spPr/>
      <dgm:t>
        <a:bodyPr/>
        <a:lstStyle/>
        <a:p>
          <a:r>
            <a:rPr lang="tr-TR"/>
            <a:t>İşgücü piyasası </a:t>
          </a:r>
          <a:endParaRPr lang="en-US"/>
        </a:p>
      </dgm:t>
    </dgm:pt>
    <dgm:pt modelId="{2B6D65E3-7D2C-4555-9627-CEBA21ED34BC}" type="parTrans" cxnId="{AC0EE3B6-3EC0-4A2A-B8D1-07E2C712D2B8}">
      <dgm:prSet/>
      <dgm:spPr/>
      <dgm:t>
        <a:bodyPr/>
        <a:lstStyle/>
        <a:p>
          <a:endParaRPr lang="en-US"/>
        </a:p>
      </dgm:t>
    </dgm:pt>
    <dgm:pt modelId="{530B09E1-C472-4003-AB48-1F1422E51F02}" type="sibTrans" cxnId="{AC0EE3B6-3EC0-4A2A-B8D1-07E2C712D2B8}">
      <dgm:prSet/>
      <dgm:spPr/>
      <dgm:t>
        <a:bodyPr/>
        <a:lstStyle/>
        <a:p>
          <a:endParaRPr lang="en-US"/>
        </a:p>
      </dgm:t>
    </dgm:pt>
    <dgm:pt modelId="{6C3404DC-0D15-4417-B6A8-C54FB41531FD}">
      <dgm:prSet/>
      <dgm:spPr/>
      <dgm:t>
        <a:bodyPr/>
        <a:lstStyle/>
        <a:p>
          <a:r>
            <a:rPr lang="tr-TR"/>
            <a:t>şeklinde sıralanabilir.</a:t>
          </a:r>
          <a:endParaRPr lang="en-US"/>
        </a:p>
      </dgm:t>
    </dgm:pt>
    <dgm:pt modelId="{3D70A12C-C49D-46EA-821E-C67311BED8DE}" type="parTrans" cxnId="{6B9418CF-2EDA-4300-88C7-6CDC07ACAE92}">
      <dgm:prSet/>
      <dgm:spPr/>
      <dgm:t>
        <a:bodyPr/>
        <a:lstStyle/>
        <a:p>
          <a:endParaRPr lang="en-US"/>
        </a:p>
      </dgm:t>
    </dgm:pt>
    <dgm:pt modelId="{E568B878-148F-4F02-B21A-41600A6EF258}" type="sibTrans" cxnId="{6B9418CF-2EDA-4300-88C7-6CDC07ACAE92}">
      <dgm:prSet/>
      <dgm:spPr/>
      <dgm:t>
        <a:bodyPr/>
        <a:lstStyle/>
        <a:p>
          <a:endParaRPr lang="en-US"/>
        </a:p>
      </dgm:t>
    </dgm:pt>
    <dgm:pt modelId="{C0A3B260-170F-4CF0-B449-B418EDAF2309}" type="pres">
      <dgm:prSet presAssocID="{A3CF2A9F-13DC-4311-B26B-7320DA5E7C22}" presName="vert0" presStyleCnt="0">
        <dgm:presLayoutVars>
          <dgm:dir/>
          <dgm:animOne val="branch"/>
          <dgm:animLvl val="lvl"/>
        </dgm:presLayoutVars>
      </dgm:prSet>
      <dgm:spPr/>
    </dgm:pt>
    <dgm:pt modelId="{FBDB3AC8-DF78-425A-ABE0-A4A181CEA37F}" type="pres">
      <dgm:prSet presAssocID="{B1FE0C63-11CC-469A-B291-6A09DF2FABEF}" presName="thickLine" presStyleLbl="alignNode1" presStyleIdx="0" presStyleCnt="8"/>
      <dgm:spPr/>
    </dgm:pt>
    <dgm:pt modelId="{C0EF96AD-98A2-46E6-93CE-F456418BF18F}" type="pres">
      <dgm:prSet presAssocID="{B1FE0C63-11CC-469A-B291-6A09DF2FABEF}" presName="horz1" presStyleCnt="0"/>
      <dgm:spPr/>
    </dgm:pt>
    <dgm:pt modelId="{8B08138C-7071-4040-B97F-2DBD30CDAE39}" type="pres">
      <dgm:prSet presAssocID="{B1FE0C63-11CC-469A-B291-6A09DF2FABEF}" presName="tx1" presStyleLbl="revTx" presStyleIdx="0" presStyleCnt="8"/>
      <dgm:spPr/>
    </dgm:pt>
    <dgm:pt modelId="{7F8B1705-2C05-4D62-AF2D-BAA9160E3753}" type="pres">
      <dgm:prSet presAssocID="{B1FE0C63-11CC-469A-B291-6A09DF2FABEF}" presName="vert1" presStyleCnt="0"/>
      <dgm:spPr/>
    </dgm:pt>
    <dgm:pt modelId="{09211DA0-F0C3-476E-A561-4039083CCAA8}" type="pres">
      <dgm:prSet presAssocID="{C269B8B9-0D3F-4EEC-B554-D10253A5B4B1}" presName="thickLine" presStyleLbl="alignNode1" presStyleIdx="1" presStyleCnt="8"/>
      <dgm:spPr/>
    </dgm:pt>
    <dgm:pt modelId="{628C6C0A-1EA8-4817-99A0-CB6E16A576FF}" type="pres">
      <dgm:prSet presAssocID="{C269B8B9-0D3F-4EEC-B554-D10253A5B4B1}" presName="horz1" presStyleCnt="0"/>
      <dgm:spPr/>
    </dgm:pt>
    <dgm:pt modelId="{EB0D785C-C2E9-4A61-B75A-3E49EC8EC407}" type="pres">
      <dgm:prSet presAssocID="{C269B8B9-0D3F-4EEC-B554-D10253A5B4B1}" presName="tx1" presStyleLbl="revTx" presStyleIdx="1" presStyleCnt="8"/>
      <dgm:spPr/>
    </dgm:pt>
    <dgm:pt modelId="{6E210DA0-F119-4E75-8993-3217CFDF9E06}" type="pres">
      <dgm:prSet presAssocID="{C269B8B9-0D3F-4EEC-B554-D10253A5B4B1}" presName="vert1" presStyleCnt="0"/>
      <dgm:spPr/>
    </dgm:pt>
    <dgm:pt modelId="{0821276F-3BD4-48C3-9F90-D1B4044EF68F}" type="pres">
      <dgm:prSet presAssocID="{29F33C5B-59CF-48EF-9008-A0EA5D0CA9A9}" presName="thickLine" presStyleLbl="alignNode1" presStyleIdx="2" presStyleCnt="8"/>
      <dgm:spPr/>
    </dgm:pt>
    <dgm:pt modelId="{2A643532-9D3C-4F6B-BE34-C94E5C12E910}" type="pres">
      <dgm:prSet presAssocID="{29F33C5B-59CF-48EF-9008-A0EA5D0CA9A9}" presName="horz1" presStyleCnt="0"/>
      <dgm:spPr/>
    </dgm:pt>
    <dgm:pt modelId="{479B2153-4E0B-4382-AFBE-17A3073DCC4B}" type="pres">
      <dgm:prSet presAssocID="{29F33C5B-59CF-48EF-9008-A0EA5D0CA9A9}" presName="tx1" presStyleLbl="revTx" presStyleIdx="2" presStyleCnt="8"/>
      <dgm:spPr/>
    </dgm:pt>
    <dgm:pt modelId="{3AB9080C-F7E6-43D4-ACEA-D8CE29D9486D}" type="pres">
      <dgm:prSet presAssocID="{29F33C5B-59CF-48EF-9008-A0EA5D0CA9A9}" presName="vert1" presStyleCnt="0"/>
      <dgm:spPr/>
    </dgm:pt>
    <dgm:pt modelId="{4920EB71-0826-4ADA-8983-90F3E5D50909}" type="pres">
      <dgm:prSet presAssocID="{551AA010-E0CD-4155-9ABB-F5CA82CD1BA0}" presName="thickLine" presStyleLbl="alignNode1" presStyleIdx="3" presStyleCnt="8"/>
      <dgm:spPr/>
    </dgm:pt>
    <dgm:pt modelId="{F756A1A4-D0B5-4AD3-A38A-85053198F155}" type="pres">
      <dgm:prSet presAssocID="{551AA010-E0CD-4155-9ABB-F5CA82CD1BA0}" presName="horz1" presStyleCnt="0"/>
      <dgm:spPr/>
    </dgm:pt>
    <dgm:pt modelId="{2621682B-3AC4-4C77-81AA-3736478AB01C}" type="pres">
      <dgm:prSet presAssocID="{551AA010-E0CD-4155-9ABB-F5CA82CD1BA0}" presName="tx1" presStyleLbl="revTx" presStyleIdx="3" presStyleCnt="8"/>
      <dgm:spPr/>
    </dgm:pt>
    <dgm:pt modelId="{E97AE5BE-2F0A-43CA-A2FF-AA6D992F8E7D}" type="pres">
      <dgm:prSet presAssocID="{551AA010-E0CD-4155-9ABB-F5CA82CD1BA0}" presName="vert1" presStyleCnt="0"/>
      <dgm:spPr/>
    </dgm:pt>
    <dgm:pt modelId="{69E280D4-5F90-4696-A26D-EB7D42744211}" type="pres">
      <dgm:prSet presAssocID="{17CEDD43-20ED-48D4-8F8D-DE486ED72602}" presName="thickLine" presStyleLbl="alignNode1" presStyleIdx="4" presStyleCnt="8"/>
      <dgm:spPr/>
    </dgm:pt>
    <dgm:pt modelId="{E164CC31-5D13-4CF4-A47C-64B589144CE0}" type="pres">
      <dgm:prSet presAssocID="{17CEDD43-20ED-48D4-8F8D-DE486ED72602}" presName="horz1" presStyleCnt="0"/>
      <dgm:spPr/>
    </dgm:pt>
    <dgm:pt modelId="{16283817-DDEE-4D38-90EA-BBD001CED155}" type="pres">
      <dgm:prSet presAssocID="{17CEDD43-20ED-48D4-8F8D-DE486ED72602}" presName="tx1" presStyleLbl="revTx" presStyleIdx="4" presStyleCnt="8"/>
      <dgm:spPr/>
    </dgm:pt>
    <dgm:pt modelId="{A84E44FC-407A-4FB0-802A-D8EAC44CF9FD}" type="pres">
      <dgm:prSet presAssocID="{17CEDD43-20ED-48D4-8F8D-DE486ED72602}" presName="vert1" presStyleCnt="0"/>
      <dgm:spPr/>
    </dgm:pt>
    <dgm:pt modelId="{3EFCC099-3762-4947-80D1-3C0E7D3622AA}" type="pres">
      <dgm:prSet presAssocID="{F66AA7D7-ABF4-439E-B22B-7D4FCACA8F4A}" presName="thickLine" presStyleLbl="alignNode1" presStyleIdx="5" presStyleCnt="8"/>
      <dgm:spPr/>
    </dgm:pt>
    <dgm:pt modelId="{24CE8AB0-2813-48B9-8F14-AB8BE86EAD9D}" type="pres">
      <dgm:prSet presAssocID="{F66AA7D7-ABF4-439E-B22B-7D4FCACA8F4A}" presName="horz1" presStyleCnt="0"/>
      <dgm:spPr/>
    </dgm:pt>
    <dgm:pt modelId="{CF6648A5-49E4-4C9E-AA81-7BCFCEE300A6}" type="pres">
      <dgm:prSet presAssocID="{F66AA7D7-ABF4-439E-B22B-7D4FCACA8F4A}" presName="tx1" presStyleLbl="revTx" presStyleIdx="5" presStyleCnt="8"/>
      <dgm:spPr/>
    </dgm:pt>
    <dgm:pt modelId="{1B417243-5D4F-42C7-8139-B01B8B1FF5C4}" type="pres">
      <dgm:prSet presAssocID="{F66AA7D7-ABF4-439E-B22B-7D4FCACA8F4A}" presName="vert1" presStyleCnt="0"/>
      <dgm:spPr/>
    </dgm:pt>
    <dgm:pt modelId="{BAAA832B-D6D1-42BC-B95F-85EB3A6FB577}" type="pres">
      <dgm:prSet presAssocID="{E82E5B67-D06B-4BB0-AFFA-4AC9C1AAC02F}" presName="thickLine" presStyleLbl="alignNode1" presStyleIdx="6" presStyleCnt="8"/>
      <dgm:spPr/>
    </dgm:pt>
    <dgm:pt modelId="{17C8E0B4-F338-4848-AA40-EC96FF1FFC9E}" type="pres">
      <dgm:prSet presAssocID="{E82E5B67-D06B-4BB0-AFFA-4AC9C1AAC02F}" presName="horz1" presStyleCnt="0"/>
      <dgm:spPr/>
    </dgm:pt>
    <dgm:pt modelId="{B50B24D0-8E1E-4445-998C-F32F6EE8EE9B}" type="pres">
      <dgm:prSet presAssocID="{E82E5B67-D06B-4BB0-AFFA-4AC9C1AAC02F}" presName="tx1" presStyleLbl="revTx" presStyleIdx="6" presStyleCnt="8"/>
      <dgm:spPr/>
    </dgm:pt>
    <dgm:pt modelId="{739846BD-3C7B-47B1-9F13-57438A22D23D}" type="pres">
      <dgm:prSet presAssocID="{E82E5B67-D06B-4BB0-AFFA-4AC9C1AAC02F}" presName="vert1" presStyleCnt="0"/>
      <dgm:spPr/>
    </dgm:pt>
    <dgm:pt modelId="{08530DC1-5ADE-4DF4-B167-040ED79DA706}" type="pres">
      <dgm:prSet presAssocID="{6C3404DC-0D15-4417-B6A8-C54FB41531FD}" presName="thickLine" presStyleLbl="alignNode1" presStyleIdx="7" presStyleCnt="8"/>
      <dgm:spPr/>
    </dgm:pt>
    <dgm:pt modelId="{57A922B6-DD3E-4696-9321-9743769D9956}" type="pres">
      <dgm:prSet presAssocID="{6C3404DC-0D15-4417-B6A8-C54FB41531FD}" presName="horz1" presStyleCnt="0"/>
      <dgm:spPr/>
    </dgm:pt>
    <dgm:pt modelId="{4871F6B6-1159-408B-93F9-D86E26E037FE}" type="pres">
      <dgm:prSet presAssocID="{6C3404DC-0D15-4417-B6A8-C54FB41531FD}" presName="tx1" presStyleLbl="revTx" presStyleIdx="7" presStyleCnt="8"/>
      <dgm:spPr/>
    </dgm:pt>
    <dgm:pt modelId="{8F44F800-4796-4D07-8CEE-DBAFBE087F7C}" type="pres">
      <dgm:prSet presAssocID="{6C3404DC-0D15-4417-B6A8-C54FB41531FD}" presName="vert1" presStyleCnt="0"/>
      <dgm:spPr/>
    </dgm:pt>
  </dgm:ptLst>
  <dgm:cxnLst>
    <dgm:cxn modelId="{59332801-D0F3-4F9B-A856-0EF34C0DECD2}" type="presOf" srcId="{17CEDD43-20ED-48D4-8F8D-DE486ED72602}" destId="{16283817-DDEE-4D38-90EA-BBD001CED155}" srcOrd="0" destOrd="0" presId="urn:microsoft.com/office/officeart/2008/layout/LinedList"/>
    <dgm:cxn modelId="{5016EA02-2DB7-4F62-944C-8E5EF31D167C}" type="presOf" srcId="{C269B8B9-0D3F-4EEC-B554-D10253A5B4B1}" destId="{EB0D785C-C2E9-4A61-B75A-3E49EC8EC407}" srcOrd="0" destOrd="0" presId="urn:microsoft.com/office/officeart/2008/layout/LinedList"/>
    <dgm:cxn modelId="{82FFC91B-252C-4211-8E14-0E18BE29A1E0}" type="presOf" srcId="{551AA010-E0CD-4155-9ABB-F5CA82CD1BA0}" destId="{2621682B-3AC4-4C77-81AA-3736478AB01C}" srcOrd="0" destOrd="0" presId="urn:microsoft.com/office/officeart/2008/layout/LinedList"/>
    <dgm:cxn modelId="{0695E739-F526-48DC-AB61-E1065B0AF132}" type="presOf" srcId="{E82E5B67-D06B-4BB0-AFFA-4AC9C1AAC02F}" destId="{B50B24D0-8E1E-4445-998C-F32F6EE8EE9B}" srcOrd="0" destOrd="0" presId="urn:microsoft.com/office/officeart/2008/layout/LinedList"/>
    <dgm:cxn modelId="{A647595F-858B-4640-B8D7-EA68B77D2AB1}" srcId="{A3CF2A9F-13DC-4311-B26B-7320DA5E7C22}" destId="{551AA010-E0CD-4155-9ABB-F5CA82CD1BA0}" srcOrd="3" destOrd="0" parTransId="{C7551C93-3008-42FE-89EA-590723588369}" sibTransId="{8F3E94C1-24A5-4808-A204-79199D12AB56}"/>
    <dgm:cxn modelId="{1D8D9865-B48C-43C9-B2A7-8767AA2A388E}" type="presOf" srcId="{29F33C5B-59CF-48EF-9008-A0EA5D0CA9A9}" destId="{479B2153-4E0B-4382-AFBE-17A3073DCC4B}" srcOrd="0" destOrd="0" presId="urn:microsoft.com/office/officeart/2008/layout/LinedList"/>
    <dgm:cxn modelId="{D8E0FB84-84EA-4824-B806-A471DD536B64}" srcId="{A3CF2A9F-13DC-4311-B26B-7320DA5E7C22}" destId="{17CEDD43-20ED-48D4-8F8D-DE486ED72602}" srcOrd="4" destOrd="0" parTransId="{8EFCD13B-685A-41AE-A5E6-E2323B1D5BD3}" sibTransId="{92A01F9D-D968-460C-A181-7CFEDD98B216}"/>
    <dgm:cxn modelId="{38292095-427C-4F49-815E-E84027F34D73}" type="presOf" srcId="{6C3404DC-0D15-4417-B6A8-C54FB41531FD}" destId="{4871F6B6-1159-408B-93F9-D86E26E037FE}" srcOrd="0" destOrd="0" presId="urn:microsoft.com/office/officeart/2008/layout/LinedList"/>
    <dgm:cxn modelId="{470084B2-6C05-4147-8A2F-DD3A099F92A9}" type="presOf" srcId="{B1FE0C63-11CC-469A-B291-6A09DF2FABEF}" destId="{8B08138C-7071-4040-B97F-2DBD30CDAE39}" srcOrd="0" destOrd="0" presId="urn:microsoft.com/office/officeart/2008/layout/LinedList"/>
    <dgm:cxn modelId="{43B006B3-EEAE-43A2-AA07-ACF15A600B7C}" srcId="{A3CF2A9F-13DC-4311-B26B-7320DA5E7C22}" destId="{F66AA7D7-ABF4-439E-B22B-7D4FCACA8F4A}" srcOrd="5" destOrd="0" parTransId="{4109A0F9-7CC7-4F9C-89FE-4C7F67538C7D}" sibTransId="{3A6734C5-91C9-456A-A6CD-E5A73287DF7C}"/>
    <dgm:cxn modelId="{AC0EE3B6-3EC0-4A2A-B8D1-07E2C712D2B8}" srcId="{A3CF2A9F-13DC-4311-B26B-7320DA5E7C22}" destId="{E82E5B67-D06B-4BB0-AFFA-4AC9C1AAC02F}" srcOrd="6" destOrd="0" parTransId="{2B6D65E3-7D2C-4555-9627-CEBA21ED34BC}" sibTransId="{530B09E1-C472-4003-AB48-1F1422E51F02}"/>
    <dgm:cxn modelId="{6B9418CF-2EDA-4300-88C7-6CDC07ACAE92}" srcId="{A3CF2A9F-13DC-4311-B26B-7320DA5E7C22}" destId="{6C3404DC-0D15-4417-B6A8-C54FB41531FD}" srcOrd="7" destOrd="0" parTransId="{3D70A12C-C49D-46EA-821E-C67311BED8DE}" sibTransId="{E568B878-148F-4F02-B21A-41600A6EF258}"/>
    <dgm:cxn modelId="{D1CFCFCF-7964-408E-BEF1-B82B07CAE251}" type="presOf" srcId="{F66AA7D7-ABF4-439E-B22B-7D4FCACA8F4A}" destId="{CF6648A5-49E4-4C9E-AA81-7BCFCEE300A6}" srcOrd="0" destOrd="0" presId="urn:microsoft.com/office/officeart/2008/layout/LinedList"/>
    <dgm:cxn modelId="{904870D9-0B1D-47AF-ACAF-3EFB5D480915}" srcId="{A3CF2A9F-13DC-4311-B26B-7320DA5E7C22}" destId="{29F33C5B-59CF-48EF-9008-A0EA5D0CA9A9}" srcOrd="2" destOrd="0" parTransId="{766EC071-9B13-44E6-B468-6B4D4AAAEC86}" sibTransId="{D4AB0C9D-C2CC-45E0-AF61-FC1D9733A27E}"/>
    <dgm:cxn modelId="{9BD340DA-B699-46FC-9558-8B5F744823E3}" type="presOf" srcId="{A3CF2A9F-13DC-4311-B26B-7320DA5E7C22}" destId="{C0A3B260-170F-4CF0-B449-B418EDAF2309}" srcOrd="0" destOrd="0" presId="urn:microsoft.com/office/officeart/2008/layout/LinedList"/>
    <dgm:cxn modelId="{FD4EDDEF-A6EE-49FB-93A8-9FBF969C6199}" srcId="{A3CF2A9F-13DC-4311-B26B-7320DA5E7C22}" destId="{B1FE0C63-11CC-469A-B291-6A09DF2FABEF}" srcOrd="0" destOrd="0" parTransId="{82015D51-135D-4A14-A01B-F3AA44620C30}" sibTransId="{F18A912C-B105-4C73-A36D-D2045BD3AE4D}"/>
    <dgm:cxn modelId="{644FF6F5-58AA-4ED2-8DC6-4A2E4A3E1927}" srcId="{A3CF2A9F-13DC-4311-B26B-7320DA5E7C22}" destId="{C269B8B9-0D3F-4EEC-B554-D10253A5B4B1}" srcOrd="1" destOrd="0" parTransId="{4FC8223C-68C3-4D0F-8628-EB6173F84BED}" sibTransId="{CDF03D3E-39CE-47B3-87E3-FC724FCBF9E5}"/>
    <dgm:cxn modelId="{760F47AF-39AF-4351-B326-0277145E8270}" type="presParOf" srcId="{C0A3B260-170F-4CF0-B449-B418EDAF2309}" destId="{FBDB3AC8-DF78-425A-ABE0-A4A181CEA37F}" srcOrd="0" destOrd="0" presId="urn:microsoft.com/office/officeart/2008/layout/LinedList"/>
    <dgm:cxn modelId="{DE432306-2B1A-4B1B-BCD6-5F852A4D53B9}" type="presParOf" srcId="{C0A3B260-170F-4CF0-B449-B418EDAF2309}" destId="{C0EF96AD-98A2-46E6-93CE-F456418BF18F}" srcOrd="1" destOrd="0" presId="urn:microsoft.com/office/officeart/2008/layout/LinedList"/>
    <dgm:cxn modelId="{0215A2FF-9502-4F84-A47D-EBF4F4130C0F}" type="presParOf" srcId="{C0EF96AD-98A2-46E6-93CE-F456418BF18F}" destId="{8B08138C-7071-4040-B97F-2DBD30CDAE39}" srcOrd="0" destOrd="0" presId="urn:microsoft.com/office/officeart/2008/layout/LinedList"/>
    <dgm:cxn modelId="{4DF9B786-3D2D-4836-AE26-230F072C8EDD}" type="presParOf" srcId="{C0EF96AD-98A2-46E6-93CE-F456418BF18F}" destId="{7F8B1705-2C05-4D62-AF2D-BAA9160E3753}" srcOrd="1" destOrd="0" presId="urn:microsoft.com/office/officeart/2008/layout/LinedList"/>
    <dgm:cxn modelId="{12AEEB0B-4804-4804-96AB-F899D60ABDDA}" type="presParOf" srcId="{C0A3B260-170F-4CF0-B449-B418EDAF2309}" destId="{09211DA0-F0C3-476E-A561-4039083CCAA8}" srcOrd="2" destOrd="0" presId="urn:microsoft.com/office/officeart/2008/layout/LinedList"/>
    <dgm:cxn modelId="{CB7B4924-22CE-4F16-B8F0-F983DA881B93}" type="presParOf" srcId="{C0A3B260-170F-4CF0-B449-B418EDAF2309}" destId="{628C6C0A-1EA8-4817-99A0-CB6E16A576FF}" srcOrd="3" destOrd="0" presId="urn:microsoft.com/office/officeart/2008/layout/LinedList"/>
    <dgm:cxn modelId="{33B56AD0-16A0-4872-83A1-9841A20E92E5}" type="presParOf" srcId="{628C6C0A-1EA8-4817-99A0-CB6E16A576FF}" destId="{EB0D785C-C2E9-4A61-B75A-3E49EC8EC407}" srcOrd="0" destOrd="0" presId="urn:microsoft.com/office/officeart/2008/layout/LinedList"/>
    <dgm:cxn modelId="{813AA08C-1D50-4EFB-AF4A-EDBF6EFF2A98}" type="presParOf" srcId="{628C6C0A-1EA8-4817-99A0-CB6E16A576FF}" destId="{6E210DA0-F119-4E75-8993-3217CFDF9E06}" srcOrd="1" destOrd="0" presId="urn:microsoft.com/office/officeart/2008/layout/LinedList"/>
    <dgm:cxn modelId="{FC4B7594-5C61-4957-9E09-B6B221E25092}" type="presParOf" srcId="{C0A3B260-170F-4CF0-B449-B418EDAF2309}" destId="{0821276F-3BD4-48C3-9F90-D1B4044EF68F}" srcOrd="4" destOrd="0" presId="urn:microsoft.com/office/officeart/2008/layout/LinedList"/>
    <dgm:cxn modelId="{27E419B2-A745-4CD5-AAB1-92F071CA77F4}" type="presParOf" srcId="{C0A3B260-170F-4CF0-B449-B418EDAF2309}" destId="{2A643532-9D3C-4F6B-BE34-C94E5C12E910}" srcOrd="5" destOrd="0" presId="urn:microsoft.com/office/officeart/2008/layout/LinedList"/>
    <dgm:cxn modelId="{71B37F40-B2E5-4596-803D-359C4E3CCDC9}" type="presParOf" srcId="{2A643532-9D3C-4F6B-BE34-C94E5C12E910}" destId="{479B2153-4E0B-4382-AFBE-17A3073DCC4B}" srcOrd="0" destOrd="0" presId="urn:microsoft.com/office/officeart/2008/layout/LinedList"/>
    <dgm:cxn modelId="{4DDBB1C6-5CC7-43B7-8507-4517DD422442}" type="presParOf" srcId="{2A643532-9D3C-4F6B-BE34-C94E5C12E910}" destId="{3AB9080C-F7E6-43D4-ACEA-D8CE29D9486D}" srcOrd="1" destOrd="0" presId="urn:microsoft.com/office/officeart/2008/layout/LinedList"/>
    <dgm:cxn modelId="{41514D5C-F26F-4CE3-896F-13DA7DED2D06}" type="presParOf" srcId="{C0A3B260-170F-4CF0-B449-B418EDAF2309}" destId="{4920EB71-0826-4ADA-8983-90F3E5D50909}" srcOrd="6" destOrd="0" presId="urn:microsoft.com/office/officeart/2008/layout/LinedList"/>
    <dgm:cxn modelId="{8BC83B46-2796-46D6-9658-99B156594F1A}" type="presParOf" srcId="{C0A3B260-170F-4CF0-B449-B418EDAF2309}" destId="{F756A1A4-D0B5-4AD3-A38A-85053198F155}" srcOrd="7" destOrd="0" presId="urn:microsoft.com/office/officeart/2008/layout/LinedList"/>
    <dgm:cxn modelId="{3060C229-9166-40BF-AA26-46FA9912E7DA}" type="presParOf" srcId="{F756A1A4-D0B5-4AD3-A38A-85053198F155}" destId="{2621682B-3AC4-4C77-81AA-3736478AB01C}" srcOrd="0" destOrd="0" presId="urn:microsoft.com/office/officeart/2008/layout/LinedList"/>
    <dgm:cxn modelId="{1308BEF4-4596-456B-B9BC-D4D9C0D8A84C}" type="presParOf" srcId="{F756A1A4-D0B5-4AD3-A38A-85053198F155}" destId="{E97AE5BE-2F0A-43CA-A2FF-AA6D992F8E7D}" srcOrd="1" destOrd="0" presId="urn:microsoft.com/office/officeart/2008/layout/LinedList"/>
    <dgm:cxn modelId="{AAEC7748-F52F-4682-9EC8-2A0778ABF573}" type="presParOf" srcId="{C0A3B260-170F-4CF0-B449-B418EDAF2309}" destId="{69E280D4-5F90-4696-A26D-EB7D42744211}" srcOrd="8" destOrd="0" presId="urn:microsoft.com/office/officeart/2008/layout/LinedList"/>
    <dgm:cxn modelId="{A3FD1FFA-1C4F-4336-8265-4F47EC9CE598}" type="presParOf" srcId="{C0A3B260-170F-4CF0-B449-B418EDAF2309}" destId="{E164CC31-5D13-4CF4-A47C-64B589144CE0}" srcOrd="9" destOrd="0" presId="urn:microsoft.com/office/officeart/2008/layout/LinedList"/>
    <dgm:cxn modelId="{3CECECBA-F4F4-406D-8BE0-8BDB68424E18}" type="presParOf" srcId="{E164CC31-5D13-4CF4-A47C-64B589144CE0}" destId="{16283817-DDEE-4D38-90EA-BBD001CED155}" srcOrd="0" destOrd="0" presId="urn:microsoft.com/office/officeart/2008/layout/LinedList"/>
    <dgm:cxn modelId="{C00FE278-3620-48AD-942C-36211F94DDF6}" type="presParOf" srcId="{E164CC31-5D13-4CF4-A47C-64B589144CE0}" destId="{A84E44FC-407A-4FB0-802A-D8EAC44CF9FD}" srcOrd="1" destOrd="0" presId="urn:microsoft.com/office/officeart/2008/layout/LinedList"/>
    <dgm:cxn modelId="{1594C1D6-8536-4E32-BB5C-534FA2427BE1}" type="presParOf" srcId="{C0A3B260-170F-4CF0-B449-B418EDAF2309}" destId="{3EFCC099-3762-4947-80D1-3C0E7D3622AA}" srcOrd="10" destOrd="0" presId="urn:microsoft.com/office/officeart/2008/layout/LinedList"/>
    <dgm:cxn modelId="{0C2F0FB4-4321-40E7-BD25-2AAF3AB0D325}" type="presParOf" srcId="{C0A3B260-170F-4CF0-B449-B418EDAF2309}" destId="{24CE8AB0-2813-48B9-8F14-AB8BE86EAD9D}" srcOrd="11" destOrd="0" presId="urn:microsoft.com/office/officeart/2008/layout/LinedList"/>
    <dgm:cxn modelId="{8A69ECE7-EE1C-4182-916E-005173BB24AD}" type="presParOf" srcId="{24CE8AB0-2813-48B9-8F14-AB8BE86EAD9D}" destId="{CF6648A5-49E4-4C9E-AA81-7BCFCEE300A6}" srcOrd="0" destOrd="0" presId="urn:microsoft.com/office/officeart/2008/layout/LinedList"/>
    <dgm:cxn modelId="{DAAE24A0-E090-45A7-834E-F4D10877EDAA}" type="presParOf" srcId="{24CE8AB0-2813-48B9-8F14-AB8BE86EAD9D}" destId="{1B417243-5D4F-42C7-8139-B01B8B1FF5C4}" srcOrd="1" destOrd="0" presId="urn:microsoft.com/office/officeart/2008/layout/LinedList"/>
    <dgm:cxn modelId="{BC08F705-6119-46C1-8B72-473EB6DAA7A3}" type="presParOf" srcId="{C0A3B260-170F-4CF0-B449-B418EDAF2309}" destId="{BAAA832B-D6D1-42BC-B95F-85EB3A6FB577}" srcOrd="12" destOrd="0" presId="urn:microsoft.com/office/officeart/2008/layout/LinedList"/>
    <dgm:cxn modelId="{FFA997B7-0A93-4B90-AA43-CB4E74E08A75}" type="presParOf" srcId="{C0A3B260-170F-4CF0-B449-B418EDAF2309}" destId="{17C8E0B4-F338-4848-AA40-EC96FF1FFC9E}" srcOrd="13" destOrd="0" presId="urn:microsoft.com/office/officeart/2008/layout/LinedList"/>
    <dgm:cxn modelId="{CBE87AA0-C19A-4D82-8887-181378E0CA9D}" type="presParOf" srcId="{17C8E0B4-F338-4848-AA40-EC96FF1FFC9E}" destId="{B50B24D0-8E1E-4445-998C-F32F6EE8EE9B}" srcOrd="0" destOrd="0" presId="urn:microsoft.com/office/officeart/2008/layout/LinedList"/>
    <dgm:cxn modelId="{F8FBD5B8-4E84-4DCC-ADD9-DF22DC0E03DF}" type="presParOf" srcId="{17C8E0B4-F338-4848-AA40-EC96FF1FFC9E}" destId="{739846BD-3C7B-47B1-9F13-57438A22D23D}" srcOrd="1" destOrd="0" presId="urn:microsoft.com/office/officeart/2008/layout/LinedList"/>
    <dgm:cxn modelId="{1985FDC8-D801-471A-A6D5-F6F605BA5995}" type="presParOf" srcId="{C0A3B260-170F-4CF0-B449-B418EDAF2309}" destId="{08530DC1-5ADE-4DF4-B167-040ED79DA706}" srcOrd="14" destOrd="0" presId="urn:microsoft.com/office/officeart/2008/layout/LinedList"/>
    <dgm:cxn modelId="{681C582D-F7C6-4982-9E68-6DEAEDC99FE1}" type="presParOf" srcId="{C0A3B260-170F-4CF0-B449-B418EDAF2309}" destId="{57A922B6-DD3E-4696-9321-9743769D9956}" srcOrd="15" destOrd="0" presId="urn:microsoft.com/office/officeart/2008/layout/LinedList"/>
    <dgm:cxn modelId="{4CFD295F-579B-42A1-B3CC-1E1289EE78AF}" type="presParOf" srcId="{57A922B6-DD3E-4696-9321-9743769D9956}" destId="{4871F6B6-1159-408B-93F9-D86E26E037FE}" srcOrd="0" destOrd="0" presId="urn:microsoft.com/office/officeart/2008/layout/LinedList"/>
    <dgm:cxn modelId="{F84C6CE6-2C7D-4EA8-936B-197E32583D33}" type="presParOf" srcId="{57A922B6-DD3E-4696-9321-9743769D9956}" destId="{8F44F800-4796-4D07-8CEE-DBAFBE087F7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94486B-23E2-0745-A07E-FC3C901C0DD2}">
      <dsp:nvSpPr>
        <dsp:cNvPr id="0" name=""/>
        <dsp:cNvSpPr/>
      </dsp:nvSpPr>
      <dsp:spPr>
        <a:xfrm>
          <a:off x="0" y="198736"/>
          <a:ext cx="1848802" cy="1109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kern="1200"/>
            <a:t>Bu haftayı tamamladıktan sonra; </a:t>
          </a:r>
          <a:endParaRPr lang="en-US" sz="1200" kern="1200"/>
        </a:p>
      </dsp:txBody>
      <dsp:txXfrm>
        <a:off x="0" y="198736"/>
        <a:ext cx="1848802" cy="1109281"/>
      </dsp:txXfrm>
    </dsp:sp>
    <dsp:sp modelId="{55214AE4-8FF8-C443-B0E0-FE709A3FD87C}">
      <dsp:nvSpPr>
        <dsp:cNvPr id="0" name=""/>
        <dsp:cNvSpPr/>
      </dsp:nvSpPr>
      <dsp:spPr>
        <a:xfrm>
          <a:off x="2033682" y="198736"/>
          <a:ext cx="1848802" cy="1109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kern="1200"/>
            <a:t>İşletme çevresi kavramını tanımlayabilecek, </a:t>
          </a:r>
          <a:endParaRPr lang="en-US" sz="1200" kern="1200"/>
        </a:p>
      </dsp:txBody>
      <dsp:txXfrm>
        <a:off x="2033682" y="198736"/>
        <a:ext cx="1848802" cy="1109281"/>
      </dsp:txXfrm>
    </dsp:sp>
    <dsp:sp modelId="{9AFA717B-C2FD-9944-BA18-78EBFF3F1E70}">
      <dsp:nvSpPr>
        <dsp:cNvPr id="0" name=""/>
        <dsp:cNvSpPr/>
      </dsp:nvSpPr>
      <dsp:spPr>
        <a:xfrm>
          <a:off x="4067365" y="198736"/>
          <a:ext cx="1848802" cy="1109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kern="1200"/>
            <a:t>İşletme çevresinin çok katmanlı yapısını betimleyebilecek,</a:t>
          </a:r>
          <a:endParaRPr lang="en-US" sz="1200" kern="1200"/>
        </a:p>
      </dsp:txBody>
      <dsp:txXfrm>
        <a:off x="4067365" y="198736"/>
        <a:ext cx="1848802" cy="1109281"/>
      </dsp:txXfrm>
    </dsp:sp>
    <dsp:sp modelId="{3EA1E66D-2865-C348-BF92-3C4E6632BAC3}">
      <dsp:nvSpPr>
        <dsp:cNvPr id="0" name=""/>
        <dsp:cNvSpPr/>
      </dsp:nvSpPr>
      <dsp:spPr>
        <a:xfrm>
          <a:off x="0" y="1492898"/>
          <a:ext cx="1848802" cy="1109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kern="1200"/>
            <a:t>İşletmenin genel çevre bileşenlerini ve bu bileşenlerin kendi aralarındaki etkileşimleri açıklayabilecek, </a:t>
          </a:r>
          <a:endParaRPr lang="en-US" sz="1200" kern="1200"/>
        </a:p>
      </dsp:txBody>
      <dsp:txXfrm>
        <a:off x="0" y="1492898"/>
        <a:ext cx="1848802" cy="1109281"/>
      </dsp:txXfrm>
    </dsp:sp>
    <dsp:sp modelId="{0F34B101-C6A6-244A-BAC5-4C39094C6863}">
      <dsp:nvSpPr>
        <dsp:cNvPr id="0" name=""/>
        <dsp:cNvSpPr/>
      </dsp:nvSpPr>
      <dsp:spPr>
        <a:xfrm>
          <a:off x="2033682" y="1492898"/>
          <a:ext cx="1848802" cy="1109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kern="1200" dirty="0"/>
            <a:t>İşletmenin sektörel çevre bileşenlerini ve bu bileşenlerin işletme üzerindeki etkilerini </a:t>
          </a:r>
          <a:r>
            <a:rPr lang="tr-TR" sz="1200" kern="1200" dirty="0" err="1"/>
            <a:t>betimleyebileyecek</a:t>
          </a:r>
          <a:r>
            <a:rPr lang="tr-TR" sz="1200" kern="1200" dirty="0"/>
            <a:t>, </a:t>
          </a:r>
          <a:endParaRPr lang="en-US" sz="1200" kern="1200" dirty="0"/>
        </a:p>
      </dsp:txBody>
      <dsp:txXfrm>
        <a:off x="2033682" y="1492898"/>
        <a:ext cx="1848802" cy="1109281"/>
      </dsp:txXfrm>
    </dsp:sp>
    <dsp:sp modelId="{35CA895F-2EB3-CD41-9FB9-D6B6878A82AA}">
      <dsp:nvSpPr>
        <dsp:cNvPr id="0" name=""/>
        <dsp:cNvSpPr/>
      </dsp:nvSpPr>
      <dsp:spPr>
        <a:xfrm>
          <a:off x="4067365" y="1492898"/>
          <a:ext cx="1848802" cy="1109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kern="1200"/>
            <a:t>İşletmenin iç çevresini ve iç çevre unsurlarını tanımlayabilecek,</a:t>
          </a:r>
          <a:endParaRPr lang="en-US" sz="1200" kern="1200"/>
        </a:p>
      </dsp:txBody>
      <dsp:txXfrm>
        <a:off x="4067365" y="1492898"/>
        <a:ext cx="1848802" cy="1109281"/>
      </dsp:txXfrm>
    </dsp:sp>
    <dsp:sp modelId="{9731C0E0-75DE-4F4C-80B2-373A1AEEF4FC}">
      <dsp:nvSpPr>
        <dsp:cNvPr id="0" name=""/>
        <dsp:cNvSpPr/>
      </dsp:nvSpPr>
      <dsp:spPr>
        <a:xfrm>
          <a:off x="2033682" y="2787060"/>
          <a:ext cx="1848802" cy="11092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tr-TR" sz="1200" kern="1200"/>
            <a:t>Çevresel belirsizlik ve işletme çevresi arasındaki ilişkiyi açıklayabileceksiniz.</a:t>
          </a:r>
          <a:endParaRPr lang="en-US" sz="1200" kern="1200"/>
        </a:p>
      </dsp:txBody>
      <dsp:txXfrm>
        <a:off x="2033682" y="2787060"/>
        <a:ext cx="1848802" cy="11092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26B81-CF9C-E142-B1BE-67422B792809}">
      <dsp:nvSpPr>
        <dsp:cNvPr id="0" name=""/>
        <dsp:cNvSpPr/>
      </dsp:nvSpPr>
      <dsp:spPr>
        <a:xfrm>
          <a:off x="0" y="118630"/>
          <a:ext cx="6949440" cy="134630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tr-TR" sz="1900" kern="1200"/>
            <a:t>Sistem bakış açısıyla işletme çevresi; işletme içinden başlayan ve çeşitli katmanları olan bir yapıyı ifade eder</a:t>
          </a:r>
          <a:endParaRPr lang="en-US" sz="1900" kern="1200"/>
        </a:p>
      </dsp:txBody>
      <dsp:txXfrm>
        <a:off x="65721" y="184351"/>
        <a:ext cx="6817998" cy="1214862"/>
      </dsp:txXfrm>
    </dsp:sp>
    <dsp:sp modelId="{0F41A3B1-E516-454F-B7AA-5FE194FB9E26}">
      <dsp:nvSpPr>
        <dsp:cNvPr id="0" name=""/>
        <dsp:cNvSpPr/>
      </dsp:nvSpPr>
      <dsp:spPr>
        <a:xfrm>
          <a:off x="0" y="1519654"/>
          <a:ext cx="6949440" cy="1346304"/>
        </a:xfrm>
        <a:prstGeom prst="roundRect">
          <a:avLst/>
        </a:prstGeom>
        <a:solidFill>
          <a:schemeClr val="accent2">
            <a:hueOff val="-347110"/>
            <a:satOff val="-7210"/>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tr-TR" sz="1900" kern="1200"/>
            <a:t>İç çevre; işletme sınırları içinde kalan ve işletmenin misyonunu, vizyonunu, temel yeteneklerini, örgüt yapısını ve örgütsel kültürünü içinde barındıran bir alt sistemler topluluğudur.</a:t>
          </a:r>
          <a:endParaRPr lang="en-US" sz="1900" kern="1200"/>
        </a:p>
      </dsp:txBody>
      <dsp:txXfrm>
        <a:off x="65721" y="1585375"/>
        <a:ext cx="6817998" cy="1214862"/>
      </dsp:txXfrm>
    </dsp:sp>
    <dsp:sp modelId="{32E2D9FD-E306-2A44-A5FD-47F033199A2D}">
      <dsp:nvSpPr>
        <dsp:cNvPr id="0" name=""/>
        <dsp:cNvSpPr/>
      </dsp:nvSpPr>
      <dsp:spPr>
        <a:xfrm>
          <a:off x="0" y="2920679"/>
          <a:ext cx="6949440" cy="1346304"/>
        </a:xfrm>
        <a:prstGeom prst="roundRect">
          <a:avLst/>
        </a:prstGeom>
        <a:solidFill>
          <a:schemeClr val="accent2">
            <a:hueOff val="-694219"/>
            <a:satOff val="-14421"/>
            <a:lumOff val="-39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tr-TR" sz="1900" kern="1200" dirty="0"/>
            <a:t>İşletmenin sektörel çevresi, işletmenin yakın dış çevresi veya işletmenin mikro çevresi şeklinde de adlandırılmaktadır.</a:t>
          </a:r>
          <a:endParaRPr lang="en-US" sz="1900" kern="1200" dirty="0"/>
        </a:p>
      </dsp:txBody>
      <dsp:txXfrm>
        <a:off x="65721" y="2986400"/>
        <a:ext cx="6817998" cy="1214862"/>
      </dsp:txXfrm>
    </dsp:sp>
    <dsp:sp modelId="{C2C37E46-5384-3749-ADA3-3B44291516A6}">
      <dsp:nvSpPr>
        <dsp:cNvPr id="0" name=""/>
        <dsp:cNvSpPr/>
      </dsp:nvSpPr>
      <dsp:spPr>
        <a:xfrm>
          <a:off x="0" y="4321703"/>
          <a:ext cx="6949440" cy="1346304"/>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tr-TR" sz="1900" kern="1200" dirty="0"/>
            <a:t>İşletmenin genel çevresi işletmenin makro çevresi olarak da düşünülebilir</a:t>
          </a:r>
          <a:endParaRPr lang="en-US" sz="1900" kern="1200" dirty="0"/>
        </a:p>
      </dsp:txBody>
      <dsp:txXfrm>
        <a:off x="65721" y="4387424"/>
        <a:ext cx="6817998" cy="1214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B3AC8-DF78-425A-ABE0-A4A181CEA37F}">
      <dsp:nvSpPr>
        <dsp:cNvPr id="0" name=""/>
        <dsp:cNvSpPr/>
      </dsp:nvSpPr>
      <dsp:spPr>
        <a:xfrm>
          <a:off x="0" y="0"/>
          <a:ext cx="1065357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08138C-7071-4040-B97F-2DBD30CDAE39}">
      <dsp:nvSpPr>
        <dsp:cNvPr id="0" name=""/>
        <dsp:cNvSpPr/>
      </dsp:nvSpPr>
      <dsp:spPr>
        <a:xfrm>
          <a:off x="0" y="0"/>
          <a:ext cx="10653579" cy="574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tr-TR" sz="2200" kern="1200" dirty="0"/>
            <a:t>İşletmelerin sektörel çevresinin temel olarak beş bileşenden oluştuğu belirtilebilir. </a:t>
          </a:r>
          <a:endParaRPr lang="en-US" sz="2200" kern="1200" dirty="0"/>
        </a:p>
      </dsp:txBody>
      <dsp:txXfrm>
        <a:off x="0" y="0"/>
        <a:ext cx="10653579" cy="574228"/>
      </dsp:txXfrm>
    </dsp:sp>
    <dsp:sp modelId="{09211DA0-F0C3-476E-A561-4039083CCAA8}">
      <dsp:nvSpPr>
        <dsp:cNvPr id="0" name=""/>
        <dsp:cNvSpPr/>
      </dsp:nvSpPr>
      <dsp:spPr>
        <a:xfrm>
          <a:off x="0" y="574228"/>
          <a:ext cx="1065357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0D785C-C2E9-4A61-B75A-3E49EC8EC407}">
      <dsp:nvSpPr>
        <dsp:cNvPr id="0" name=""/>
        <dsp:cNvSpPr/>
      </dsp:nvSpPr>
      <dsp:spPr>
        <a:xfrm>
          <a:off x="0" y="574228"/>
          <a:ext cx="10653579" cy="574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tr-TR" sz="2200" kern="1200"/>
            <a:t>Bu bileşenler; </a:t>
          </a:r>
          <a:endParaRPr lang="en-US" sz="2200" kern="1200"/>
        </a:p>
      </dsp:txBody>
      <dsp:txXfrm>
        <a:off x="0" y="574228"/>
        <a:ext cx="10653579" cy="574228"/>
      </dsp:txXfrm>
    </dsp:sp>
    <dsp:sp modelId="{0821276F-3BD4-48C3-9F90-D1B4044EF68F}">
      <dsp:nvSpPr>
        <dsp:cNvPr id="0" name=""/>
        <dsp:cNvSpPr/>
      </dsp:nvSpPr>
      <dsp:spPr>
        <a:xfrm>
          <a:off x="0" y="1148457"/>
          <a:ext cx="1065357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9B2153-4E0B-4382-AFBE-17A3073DCC4B}">
      <dsp:nvSpPr>
        <dsp:cNvPr id="0" name=""/>
        <dsp:cNvSpPr/>
      </dsp:nvSpPr>
      <dsp:spPr>
        <a:xfrm>
          <a:off x="0" y="1148457"/>
          <a:ext cx="10653579" cy="574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tr-TR" sz="2200" kern="1200"/>
            <a:t>Rakipler ve rekabet, </a:t>
          </a:r>
          <a:endParaRPr lang="en-US" sz="2200" kern="1200"/>
        </a:p>
      </dsp:txBody>
      <dsp:txXfrm>
        <a:off x="0" y="1148457"/>
        <a:ext cx="10653579" cy="574228"/>
      </dsp:txXfrm>
    </dsp:sp>
    <dsp:sp modelId="{4920EB71-0826-4ADA-8983-90F3E5D50909}">
      <dsp:nvSpPr>
        <dsp:cNvPr id="0" name=""/>
        <dsp:cNvSpPr/>
      </dsp:nvSpPr>
      <dsp:spPr>
        <a:xfrm>
          <a:off x="0" y="1722685"/>
          <a:ext cx="1065357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21682B-3AC4-4C77-81AA-3736478AB01C}">
      <dsp:nvSpPr>
        <dsp:cNvPr id="0" name=""/>
        <dsp:cNvSpPr/>
      </dsp:nvSpPr>
      <dsp:spPr>
        <a:xfrm>
          <a:off x="0" y="1722685"/>
          <a:ext cx="10653579" cy="574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tr-TR" sz="2200" kern="1200"/>
            <a:t>Müşteriler, </a:t>
          </a:r>
          <a:endParaRPr lang="en-US" sz="2200" kern="1200"/>
        </a:p>
      </dsp:txBody>
      <dsp:txXfrm>
        <a:off x="0" y="1722685"/>
        <a:ext cx="10653579" cy="574228"/>
      </dsp:txXfrm>
    </dsp:sp>
    <dsp:sp modelId="{69E280D4-5F90-4696-A26D-EB7D42744211}">
      <dsp:nvSpPr>
        <dsp:cNvPr id="0" name=""/>
        <dsp:cNvSpPr/>
      </dsp:nvSpPr>
      <dsp:spPr>
        <a:xfrm>
          <a:off x="0" y="2296914"/>
          <a:ext cx="1065357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283817-DDEE-4D38-90EA-BBD001CED155}">
      <dsp:nvSpPr>
        <dsp:cNvPr id="0" name=""/>
        <dsp:cNvSpPr/>
      </dsp:nvSpPr>
      <dsp:spPr>
        <a:xfrm>
          <a:off x="0" y="2296914"/>
          <a:ext cx="10653579" cy="574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tr-TR" sz="2200" kern="1200"/>
            <a:t>Tedarikçiler ve stratejik ortaklıklar, </a:t>
          </a:r>
          <a:endParaRPr lang="en-US" sz="2200" kern="1200"/>
        </a:p>
      </dsp:txBody>
      <dsp:txXfrm>
        <a:off x="0" y="2296914"/>
        <a:ext cx="10653579" cy="574228"/>
      </dsp:txXfrm>
    </dsp:sp>
    <dsp:sp modelId="{3EFCC099-3762-4947-80D1-3C0E7D3622AA}">
      <dsp:nvSpPr>
        <dsp:cNvPr id="0" name=""/>
        <dsp:cNvSpPr/>
      </dsp:nvSpPr>
      <dsp:spPr>
        <a:xfrm>
          <a:off x="0" y="2871142"/>
          <a:ext cx="1065357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6648A5-49E4-4C9E-AA81-7BCFCEE300A6}">
      <dsp:nvSpPr>
        <dsp:cNvPr id="0" name=""/>
        <dsp:cNvSpPr/>
      </dsp:nvSpPr>
      <dsp:spPr>
        <a:xfrm>
          <a:off x="0" y="2871142"/>
          <a:ext cx="10653579" cy="574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tr-TR" sz="2200" kern="1200"/>
            <a:t>Yasal	düzenleyiciler ve çıkar grupları</a:t>
          </a:r>
          <a:endParaRPr lang="en-US" sz="2200" kern="1200"/>
        </a:p>
      </dsp:txBody>
      <dsp:txXfrm>
        <a:off x="0" y="2871142"/>
        <a:ext cx="10653579" cy="574228"/>
      </dsp:txXfrm>
    </dsp:sp>
    <dsp:sp modelId="{BAAA832B-D6D1-42BC-B95F-85EB3A6FB577}">
      <dsp:nvSpPr>
        <dsp:cNvPr id="0" name=""/>
        <dsp:cNvSpPr/>
      </dsp:nvSpPr>
      <dsp:spPr>
        <a:xfrm>
          <a:off x="0" y="3445371"/>
          <a:ext cx="1065357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0B24D0-8E1E-4445-998C-F32F6EE8EE9B}">
      <dsp:nvSpPr>
        <dsp:cNvPr id="0" name=""/>
        <dsp:cNvSpPr/>
      </dsp:nvSpPr>
      <dsp:spPr>
        <a:xfrm>
          <a:off x="0" y="3445371"/>
          <a:ext cx="10653579" cy="574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tr-TR" sz="2200" kern="1200"/>
            <a:t>İşgücü piyasası </a:t>
          </a:r>
          <a:endParaRPr lang="en-US" sz="2200" kern="1200"/>
        </a:p>
      </dsp:txBody>
      <dsp:txXfrm>
        <a:off x="0" y="3445371"/>
        <a:ext cx="10653579" cy="574228"/>
      </dsp:txXfrm>
    </dsp:sp>
    <dsp:sp modelId="{08530DC1-5ADE-4DF4-B167-040ED79DA706}">
      <dsp:nvSpPr>
        <dsp:cNvPr id="0" name=""/>
        <dsp:cNvSpPr/>
      </dsp:nvSpPr>
      <dsp:spPr>
        <a:xfrm>
          <a:off x="0" y="4019599"/>
          <a:ext cx="1065357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71F6B6-1159-408B-93F9-D86E26E037FE}">
      <dsp:nvSpPr>
        <dsp:cNvPr id="0" name=""/>
        <dsp:cNvSpPr/>
      </dsp:nvSpPr>
      <dsp:spPr>
        <a:xfrm>
          <a:off x="0" y="4019599"/>
          <a:ext cx="10653579" cy="574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tr-TR" sz="2200" kern="1200"/>
            <a:t>şeklinde sıralanabilir.</a:t>
          </a:r>
          <a:endParaRPr lang="en-US" sz="2200" kern="1200"/>
        </a:p>
      </dsp:txBody>
      <dsp:txXfrm>
        <a:off x="0" y="4019599"/>
        <a:ext cx="10653579" cy="57422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C2888-31BF-4BFF-813B-5F4EBAE42AA8}" type="datetimeFigureOut">
              <a:rPr lang="tr-TR" smtClean="0"/>
              <a:t>5.03.2025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E60C60-924F-4D5A-956F-26E1204BF74A}" type="slidenum">
              <a:rPr lang="tr-TR" smtClean="0"/>
              <a:t>‹#›</a:t>
            </a:fld>
            <a:endParaRPr lang="tr-TR"/>
          </a:p>
        </p:txBody>
      </p:sp>
    </p:spTree>
    <p:extLst>
      <p:ext uri="{BB962C8B-B14F-4D97-AF65-F5344CB8AC3E}">
        <p14:creationId xmlns:p14="http://schemas.microsoft.com/office/powerpoint/2010/main" val="4139043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a:t>Daha açık bir şekilde ifade etmek gerekirse Şekil 2.1’de görüldüğü gibi, işletmeyle çevre arasında önemli bir girdi-çıktı ilişkisi vardır (</a:t>
            </a:r>
            <a:r>
              <a:rPr lang="tr-TR" sz="1200" dirty="0" err="1"/>
              <a:t>Hatch</a:t>
            </a:r>
            <a:r>
              <a:rPr lang="tr-TR" sz="1200" dirty="0"/>
              <a:t> ve </a:t>
            </a:r>
            <a:r>
              <a:rPr lang="tr-TR" sz="1200" dirty="0" err="1"/>
              <a:t>Cunliffe</a:t>
            </a:r>
            <a:r>
              <a:rPr lang="tr-TR" sz="1200" dirty="0"/>
              <a:t>, 2006).</a:t>
            </a:r>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4</a:t>
            </a:fld>
            <a:endParaRPr lang="tr-TR"/>
          </a:p>
        </p:txBody>
      </p:sp>
    </p:spTree>
    <p:extLst>
      <p:ext uri="{BB962C8B-B14F-4D97-AF65-F5344CB8AC3E}">
        <p14:creationId xmlns:p14="http://schemas.microsoft.com/office/powerpoint/2010/main" val="3491580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İşletmeler faaliyetlerini sürdürebilmek için gerekli olan çeşitli kaynakları çevrelerinden sağlamakta, bu kaynakları kendi bünyelerinde belli süreçlere tabi tutmakta ve bu süreçler neticesinde yine çevreye çeşitli ürünler sunmaktadırlar. İşletmelerin çevreye sundukları ürünler oldukça çeşitlidir. İşletmeler tarafından çevreye sunulan ürünler somut birer çıktı ise bu tür ürünlere mal denilmektedir. Tuz üreten bir işletmenin çevreye somut bir çıktı sağladığı oldukça açıktır. Fakat unutulmaması gereken nokta her işletmenin çıktısının somut olmadığıdır. Bazı işletme lerin çıktıları belli bir performansı gerektiren soyut ürünlerdir. Bu tür ürünler hizmet olarak adlandırılmaktadır. Örneğin yüksek öğretim konusunda faaliyet gösteren bir kurum olarak üniversite, eğitim hizmeti üretmektedir, bir başka deyişle, üniversitenin temel çıktısı eğitim hizmetidir. Bazı işletmeler ise hem soyut hem de somut çıktılar üretmektedir. Örneğin bir lokanta, hem servis edilen yemeği üreten hem de bu yemeğin servis edilme sürecini gerçekleştiren bir işletmedir.</a:t>
            </a:r>
          </a:p>
        </p:txBody>
      </p:sp>
      <p:sp>
        <p:nvSpPr>
          <p:cNvPr id="4" name="Slayt Numarası Yer Tutucusu 3"/>
          <p:cNvSpPr>
            <a:spLocks noGrp="1"/>
          </p:cNvSpPr>
          <p:nvPr>
            <p:ph type="sldNum" sz="quarter" idx="5"/>
          </p:nvPr>
        </p:nvSpPr>
        <p:spPr/>
        <p:txBody>
          <a:bodyPr/>
          <a:lstStyle/>
          <a:p>
            <a:fld id="{48E60C60-924F-4D5A-956F-26E1204BF74A}" type="slidenum">
              <a:rPr lang="tr-TR" smtClean="0"/>
              <a:t>5</a:t>
            </a:fld>
            <a:endParaRPr lang="tr-TR"/>
          </a:p>
        </p:txBody>
      </p:sp>
    </p:spTree>
    <p:extLst>
      <p:ext uri="{BB962C8B-B14F-4D97-AF65-F5344CB8AC3E}">
        <p14:creationId xmlns:p14="http://schemas.microsoft.com/office/powerpoint/2010/main" val="4053463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D0075-185A-ADA8-C6B1-F1D5E33FC48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8E79CF1-4514-F723-689A-B5235D6BF62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F9C196B-DE38-350D-1091-BBE330BAE9C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3FD9B4E2-8C16-CEC9-F8F9-D9A645D9D990}"/>
              </a:ext>
            </a:extLst>
          </p:cNvPr>
          <p:cNvSpPr>
            <a:spLocks noGrp="1"/>
          </p:cNvSpPr>
          <p:nvPr>
            <p:ph type="sldNum" sz="quarter" idx="5"/>
          </p:nvPr>
        </p:nvSpPr>
        <p:spPr/>
        <p:txBody>
          <a:bodyPr/>
          <a:lstStyle/>
          <a:p>
            <a:fld id="{48E60C60-924F-4D5A-956F-26E1204BF74A}" type="slidenum">
              <a:rPr lang="tr-TR" smtClean="0"/>
              <a:t>6</a:t>
            </a:fld>
            <a:endParaRPr lang="tr-TR"/>
          </a:p>
        </p:txBody>
      </p:sp>
    </p:spTree>
    <p:extLst>
      <p:ext uri="{BB962C8B-B14F-4D97-AF65-F5344CB8AC3E}">
        <p14:creationId xmlns:p14="http://schemas.microsoft.com/office/powerpoint/2010/main" val="100681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7</a:t>
            </a:fld>
            <a:endParaRPr lang="tr-TR"/>
          </a:p>
        </p:txBody>
      </p:sp>
    </p:spTree>
    <p:extLst>
      <p:ext uri="{BB962C8B-B14F-4D97-AF65-F5344CB8AC3E}">
        <p14:creationId xmlns:p14="http://schemas.microsoft.com/office/powerpoint/2010/main" val="3404205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a:t>Bu bakımdan işletmeleri birer açık sistem olarak değerlendirmek önemli bir gerekliliktir. Şekil 2.2 açık bir sistem olarak işletmeyi tasvir etmektedir. </a:t>
            </a:r>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8</a:t>
            </a:fld>
            <a:endParaRPr lang="tr-TR"/>
          </a:p>
        </p:txBody>
      </p:sp>
    </p:spTree>
    <p:extLst>
      <p:ext uri="{BB962C8B-B14F-4D97-AF65-F5344CB8AC3E}">
        <p14:creationId xmlns:p14="http://schemas.microsoft.com/office/powerpoint/2010/main" val="1370546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9</a:t>
            </a:fld>
            <a:endParaRPr lang="tr-TR"/>
          </a:p>
        </p:txBody>
      </p:sp>
    </p:spTree>
    <p:extLst>
      <p:ext uri="{BB962C8B-B14F-4D97-AF65-F5344CB8AC3E}">
        <p14:creationId xmlns:p14="http://schemas.microsoft.com/office/powerpoint/2010/main" val="300724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9E9D9-C524-DDFA-469A-EF9AEF5020AF}"/>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C1828D5-A3EF-F856-2F43-1ABA574708C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EFC31C4-457F-EBEB-4A83-7DF05FA9A717}"/>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15CE23F9-0386-7365-5ECF-2C80B76843A3}"/>
              </a:ext>
            </a:extLst>
          </p:cNvPr>
          <p:cNvSpPr>
            <a:spLocks noGrp="1"/>
          </p:cNvSpPr>
          <p:nvPr>
            <p:ph type="sldNum" sz="quarter" idx="5"/>
          </p:nvPr>
        </p:nvSpPr>
        <p:spPr/>
        <p:txBody>
          <a:bodyPr/>
          <a:lstStyle/>
          <a:p>
            <a:fld id="{48E60C60-924F-4D5A-956F-26E1204BF74A}" type="slidenum">
              <a:rPr lang="tr-TR" smtClean="0"/>
              <a:t>10</a:t>
            </a:fld>
            <a:endParaRPr lang="tr-TR"/>
          </a:p>
        </p:txBody>
      </p:sp>
    </p:spTree>
    <p:extLst>
      <p:ext uri="{BB962C8B-B14F-4D97-AF65-F5344CB8AC3E}">
        <p14:creationId xmlns:p14="http://schemas.microsoft.com/office/powerpoint/2010/main" val="1227713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11</a:t>
            </a:fld>
            <a:endParaRPr lang="tr-TR"/>
          </a:p>
        </p:txBody>
      </p:sp>
    </p:spTree>
    <p:extLst>
      <p:ext uri="{BB962C8B-B14F-4D97-AF65-F5344CB8AC3E}">
        <p14:creationId xmlns:p14="http://schemas.microsoft.com/office/powerpoint/2010/main" val="2068764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E39D7-0B5B-B2DB-C8FB-4DB3F7A8539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AB4D4ED-719E-2A39-0449-E45CB573246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455473A-618E-4276-5C34-30DC2FB8AB1E}"/>
              </a:ext>
            </a:extLst>
          </p:cNvPr>
          <p:cNvSpPr>
            <a:spLocks noGrp="1"/>
          </p:cNvSpPr>
          <p:nvPr>
            <p:ph type="body" idx="1"/>
          </p:nvPr>
        </p:nvSpPr>
        <p:spPr/>
        <p:txBody>
          <a:bodyPr/>
          <a:lstStyle/>
          <a:p>
            <a:r>
              <a:rPr lang="tr-TR" dirty="0"/>
              <a:t>İşletmenin iç çevresi işletme sınırları içinde, işletmenin vizyonunu, misyonunu, temel yeteneğini, örgüt yapısını ve kültürünü içinde barındıran bir çeşit alt sistemler bütünüdür. Bunun aksine dış çevre işletmenin sınırları dışında yer alan ve işletmeyi doğrudan veya dolaylı olarak etkileyebilen çeşitli bileşenleri içeren bir çeşit üst sistemdir. Söz konusu bu üst sistemin işletmeyi doğrudan etkileyen bileşenlerine işletmenin yakın dış çevresi, işletmenin sektörel çevresi veya işletmenin mikro çevresi denilmektedir. Sektörel çevrede meydana gelen değişimler işletmeyi hızlı ve şiddetli bir şekilde etkilemektedir. İşletme üzerindeki etkileri daha dolaylı olan çevresel bileşenler ise işletmenin genel çevresinde yer almaktadırlar. Genel çevre, sektörel çevreye göre daha üst seviyeli bir sistemi ifade etmektedir. Genel çevrenin, işletmenin makro çevresi şeklinde nitelendirildiği de bilinmektedir. Genel çevre bileşenlerindeki değişim ve gelişmeler öncelikle işletmenin sektörel çevresini etkilemekte ve bu etkinin şiddetine göre işletmenin etkilenmesi veya etkilenmemesi söz konusu olmaktadır (</a:t>
            </a:r>
            <a:r>
              <a:rPr lang="tr-TR" dirty="0" err="1"/>
              <a:t>Hitt</a:t>
            </a:r>
            <a:r>
              <a:rPr lang="tr-TR" dirty="0"/>
              <a:t>, Black ve </a:t>
            </a:r>
            <a:r>
              <a:rPr lang="tr-TR" dirty="0" err="1"/>
              <a:t>Parker</a:t>
            </a:r>
            <a:r>
              <a:rPr lang="tr-TR" dirty="0"/>
              <a:t>, 2005).</a:t>
            </a:r>
          </a:p>
        </p:txBody>
      </p:sp>
      <p:sp>
        <p:nvSpPr>
          <p:cNvPr id="4" name="Slayt Numarası Yer Tutucusu 3">
            <a:extLst>
              <a:ext uri="{FF2B5EF4-FFF2-40B4-BE49-F238E27FC236}">
                <a16:creationId xmlns:a16="http://schemas.microsoft.com/office/drawing/2014/main" id="{65D569D8-2BB6-C73B-7787-58BCF290EBCC}"/>
              </a:ext>
            </a:extLst>
          </p:cNvPr>
          <p:cNvSpPr>
            <a:spLocks noGrp="1"/>
          </p:cNvSpPr>
          <p:nvPr>
            <p:ph type="sldNum" sz="quarter" idx="5"/>
          </p:nvPr>
        </p:nvSpPr>
        <p:spPr/>
        <p:txBody>
          <a:bodyPr/>
          <a:lstStyle/>
          <a:p>
            <a:fld id="{48E60C60-924F-4D5A-956F-26E1204BF74A}" type="slidenum">
              <a:rPr lang="tr-TR" smtClean="0"/>
              <a:t>12</a:t>
            </a:fld>
            <a:endParaRPr lang="tr-TR"/>
          </a:p>
        </p:txBody>
      </p:sp>
    </p:spTree>
    <p:extLst>
      <p:ext uri="{BB962C8B-B14F-4D97-AF65-F5344CB8AC3E}">
        <p14:creationId xmlns:p14="http://schemas.microsoft.com/office/powerpoint/2010/main" val="2162226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42B24-D6D5-3EC2-8AA3-F540CD01C0C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44696BA-9071-12E5-FC57-0C0C0B32D12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4D40EA60-6A14-0892-79A9-41A6A236807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ABBD8CB-5511-D2CD-5FD7-8B249BC273DC}"/>
              </a:ext>
            </a:extLst>
          </p:cNvPr>
          <p:cNvSpPr>
            <a:spLocks noGrp="1"/>
          </p:cNvSpPr>
          <p:nvPr>
            <p:ph type="sldNum" sz="quarter" idx="5"/>
          </p:nvPr>
        </p:nvSpPr>
        <p:spPr/>
        <p:txBody>
          <a:bodyPr/>
          <a:lstStyle/>
          <a:p>
            <a:fld id="{48E60C60-924F-4D5A-956F-26E1204BF74A}" type="slidenum">
              <a:rPr lang="tr-TR" smtClean="0"/>
              <a:t>13</a:t>
            </a:fld>
            <a:endParaRPr lang="tr-TR"/>
          </a:p>
        </p:txBody>
      </p:sp>
    </p:spTree>
    <p:extLst>
      <p:ext uri="{BB962C8B-B14F-4D97-AF65-F5344CB8AC3E}">
        <p14:creationId xmlns:p14="http://schemas.microsoft.com/office/powerpoint/2010/main" val="1493779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14</a:t>
            </a:fld>
            <a:endParaRPr lang="tr-TR"/>
          </a:p>
        </p:txBody>
      </p:sp>
    </p:spTree>
    <p:extLst>
      <p:ext uri="{BB962C8B-B14F-4D97-AF65-F5344CB8AC3E}">
        <p14:creationId xmlns:p14="http://schemas.microsoft.com/office/powerpoint/2010/main" val="1196765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15</a:t>
            </a:fld>
            <a:endParaRPr lang="tr-TR"/>
          </a:p>
        </p:txBody>
      </p:sp>
    </p:spTree>
    <p:extLst>
      <p:ext uri="{BB962C8B-B14F-4D97-AF65-F5344CB8AC3E}">
        <p14:creationId xmlns:p14="http://schemas.microsoft.com/office/powerpoint/2010/main" val="2168971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16</a:t>
            </a:fld>
            <a:endParaRPr lang="tr-TR"/>
          </a:p>
        </p:txBody>
      </p:sp>
    </p:spTree>
    <p:extLst>
      <p:ext uri="{BB962C8B-B14F-4D97-AF65-F5344CB8AC3E}">
        <p14:creationId xmlns:p14="http://schemas.microsoft.com/office/powerpoint/2010/main" val="2635672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539FF-E27B-99D7-B5D9-DB66F0078C0A}"/>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24A869B-5393-25D7-BE13-61655922376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EAD2345-AF3A-71E9-61E7-7BCCC1339402}"/>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DD513EF-83C3-D9DF-84F6-6C9ACD2F0E34}"/>
              </a:ext>
            </a:extLst>
          </p:cNvPr>
          <p:cNvSpPr>
            <a:spLocks noGrp="1"/>
          </p:cNvSpPr>
          <p:nvPr>
            <p:ph type="sldNum" sz="quarter" idx="5"/>
          </p:nvPr>
        </p:nvSpPr>
        <p:spPr/>
        <p:txBody>
          <a:bodyPr/>
          <a:lstStyle/>
          <a:p>
            <a:fld id="{48E60C60-924F-4D5A-956F-26E1204BF74A}" type="slidenum">
              <a:rPr lang="tr-TR" smtClean="0"/>
              <a:t>17</a:t>
            </a:fld>
            <a:endParaRPr lang="tr-TR"/>
          </a:p>
        </p:txBody>
      </p:sp>
    </p:spTree>
    <p:extLst>
      <p:ext uri="{BB962C8B-B14F-4D97-AF65-F5344CB8AC3E}">
        <p14:creationId xmlns:p14="http://schemas.microsoft.com/office/powerpoint/2010/main" val="2815820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18</a:t>
            </a:fld>
            <a:endParaRPr lang="tr-TR"/>
          </a:p>
        </p:txBody>
      </p:sp>
    </p:spTree>
    <p:extLst>
      <p:ext uri="{BB962C8B-B14F-4D97-AF65-F5344CB8AC3E}">
        <p14:creationId xmlns:p14="http://schemas.microsoft.com/office/powerpoint/2010/main" val="1413402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37D66-7325-530D-7332-14B8D012EBF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72DF075-3E42-A836-505C-F6B08E57B3E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4380E3B2-0BB9-753D-BDC3-16DE26B44035}"/>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5442B54E-4825-78B1-E277-D04C414653E6}"/>
              </a:ext>
            </a:extLst>
          </p:cNvPr>
          <p:cNvSpPr>
            <a:spLocks noGrp="1"/>
          </p:cNvSpPr>
          <p:nvPr>
            <p:ph type="sldNum" sz="quarter" idx="5"/>
          </p:nvPr>
        </p:nvSpPr>
        <p:spPr/>
        <p:txBody>
          <a:bodyPr/>
          <a:lstStyle/>
          <a:p>
            <a:fld id="{48E60C60-924F-4D5A-956F-26E1204BF74A}" type="slidenum">
              <a:rPr lang="tr-TR" smtClean="0"/>
              <a:t>19</a:t>
            </a:fld>
            <a:endParaRPr lang="tr-TR"/>
          </a:p>
        </p:txBody>
      </p:sp>
    </p:spTree>
    <p:extLst>
      <p:ext uri="{BB962C8B-B14F-4D97-AF65-F5344CB8AC3E}">
        <p14:creationId xmlns:p14="http://schemas.microsoft.com/office/powerpoint/2010/main" val="2337159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D217A-D620-4B0A-1709-CD36FE95334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A8C3C5A-3C14-F75F-4638-629C81E9523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1F0979F-E291-B79D-FA17-8CC0D0CBB1E2}"/>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2260097-AB96-D99E-4381-B6A6FE4ECEC3}"/>
              </a:ext>
            </a:extLst>
          </p:cNvPr>
          <p:cNvSpPr>
            <a:spLocks noGrp="1"/>
          </p:cNvSpPr>
          <p:nvPr>
            <p:ph type="sldNum" sz="quarter" idx="5"/>
          </p:nvPr>
        </p:nvSpPr>
        <p:spPr/>
        <p:txBody>
          <a:bodyPr/>
          <a:lstStyle/>
          <a:p>
            <a:fld id="{48E60C60-924F-4D5A-956F-26E1204BF74A}" type="slidenum">
              <a:rPr lang="tr-TR" smtClean="0"/>
              <a:t>20</a:t>
            </a:fld>
            <a:endParaRPr lang="tr-TR"/>
          </a:p>
        </p:txBody>
      </p:sp>
    </p:spTree>
    <p:extLst>
      <p:ext uri="{BB962C8B-B14F-4D97-AF65-F5344CB8AC3E}">
        <p14:creationId xmlns:p14="http://schemas.microsoft.com/office/powerpoint/2010/main" val="2866206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55407-923B-D36F-129D-90D421243AF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DBD46FA-8E62-7CAE-69DE-9D103987262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478675A-D600-684C-EB24-BB75B636546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2188920-6D74-617B-2769-DD3435DFEE1C}"/>
              </a:ext>
            </a:extLst>
          </p:cNvPr>
          <p:cNvSpPr>
            <a:spLocks noGrp="1"/>
          </p:cNvSpPr>
          <p:nvPr>
            <p:ph type="sldNum" sz="quarter" idx="5"/>
          </p:nvPr>
        </p:nvSpPr>
        <p:spPr/>
        <p:txBody>
          <a:bodyPr/>
          <a:lstStyle/>
          <a:p>
            <a:fld id="{48E60C60-924F-4D5A-956F-26E1204BF74A}" type="slidenum">
              <a:rPr lang="tr-TR" smtClean="0"/>
              <a:t>21</a:t>
            </a:fld>
            <a:endParaRPr lang="tr-TR"/>
          </a:p>
        </p:txBody>
      </p:sp>
    </p:spTree>
    <p:extLst>
      <p:ext uri="{BB962C8B-B14F-4D97-AF65-F5344CB8AC3E}">
        <p14:creationId xmlns:p14="http://schemas.microsoft.com/office/powerpoint/2010/main" val="253040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48E60C60-924F-4D5A-956F-26E1204BF74A}" type="slidenum">
              <a:rPr lang="tr-TR" smtClean="0"/>
              <a:t>22</a:t>
            </a:fld>
            <a:endParaRPr lang="tr-TR"/>
          </a:p>
        </p:txBody>
      </p:sp>
    </p:spTree>
    <p:extLst>
      <p:ext uri="{BB962C8B-B14F-4D97-AF65-F5344CB8AC3E}">
        <p14:creationId xmlns:p14="http://schemas.microsoft.com/office/powerpoint/2010/main" val="2421824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23</a:t>
            </a:fld>
            <a:endParaRPr lang="tr-TR"/>
          </a:p>
        </p:txBody>
      </p:sp>
    </p:spTree>
    <p:extLst>
      <p:ext uri="{BB962C8B-B14F-4D97-AF65-F5344CB8AC3E}">
        <p14:creationId xmlns:p14="http://schemas.microsoft.com/office/powerpoint/2010/main" val="15794773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24</a:t>
            </a:fld>
            <a:endParaRPr lang="tr-TR"/>
          </a:p>
        </p:txBody>
      </p:sp>
    </p:spTree>
    <p:extLst>
      <p:ext uri="{BB962C8B-B14F-4D97-AF65-F5344CB8AC3E}">
        <p14:creationId xmlns:p14="http://schemas.microsoft.com/office/powerpoint/2010/main" val="26676472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8A658-0EE2-AF12-C724-08D761B15D2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403495F-4A27-6683-1AE7-53CE8065459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A67CEB7-C2F7-5AA8-B043-F901687EE82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120EDF9-4067-12F1-6107-E70EF168726A}"/>
              </a:ext>
            </a:extLst>
          </p:cNvPr>
          <p:cNvSpPr>
            <a:spLocks noGrp="1"/>
          </p:cNvSpPr>
          <p:nvPr>
            <p:ph type="sldNum" sz="quarter" idx="5"/>
          </p:nvPr>
        </p:nvSpPr>
        <p:spPr/>
        <p:txBody>
          <a:bodyPr/>
          <a:lstStyle/>
          <a:p>
            <a:fld id="{48E60C60-924F-4D5A-956F-26E1204BF74A}" type="slidenum">
              <a:rPr lang="tr-TR" smtClean="0"/>
              <a:t>25</a:t>
            </a:fld>
            <a:endParaRPr lang="tr-TR"/>
          </a:p>
        </p:txBody>
      </p:sp>
    </p:spTree>
    <p:extLst>
      <p:ext uri="{BB962C8B-B14F-4D97-AF65-F5344CB8AC3E}">
        <p14:creationId xmlns:p14="http://schemas.microsoft.com/office/powerpoint/2010/main" val="40474279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26</a:t>
            </a:fld>
            <a:endParaRPr lang="tr-TR"/>
          </a:p>
        </p:txBody>
      </p:sp>
    </p:spTree>
    <p:extLst>
      <p:ext uri="{BB962C8B-B14F-4D97-AF65-F5344CB8AC3E}">
        <p14:creationId xmlns:p14="http://schemas.microsoft.com/office/powerpoint/2010/main" val="38496354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638C-51A1-948C-F57F-4464ECEC572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777933F-2BAC-5483-B46A-B4DF6970CDA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4E306055-478C-419F-F8C0-641F7382E951}"/>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D99D2365-978A-AFEC-FB75-3F6291A30DB3}"/>
              </a:ext>
            </a:extLst>
          </p:cNvPr>
          <p:cNvSpPr>
            <a:spLocks noGrp="1"/>
          </p:cNvSpPr>
          <p:nvPr>
            <p:ph type="sldNum" sz="quarter" idx="5"/>
          </p:nvPr>
        </p:nvSpPr>
        <p:spPr/>
        <p:txBody>
          <a:bodyPr/>
          <a:lstStyle/>
          <a:p>
            <a:fld id="{48E60C60-924F-4D5A-956F-26E1204BF74A}" type="slidenum">
              <a:rPr lang="tr-TR" smtClean="0"/>
              <a:t>27</a:t>
            </a:fld>
            <a:endParaRPr lang="tr-TR"/>
          </a:p>
        </p:txBody>
      </p:sp>
    </p:spTree>
    <p:extLst>
      <p:ext uri="{BB962C8B-B14F-4D97-AF65-F5344CB8AC3E}">
        <p14:creationId xmlns:p14="http://schemas.microsoft.com/office/powerpoint/2010/main" val="1589827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1AFD5-5C0B-0328-B42F-56F67AD5D64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AC8B6A9-80A0-9304-17A7-08670D86614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5AB994E-0782-FF2A-58D2-FC9A828D7B8F}"/>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99862B60-4AB0-7D97-6178-16BEBE09B375}"/>
              </a:ext>
            </a:extLst>
          </p:cNvPr>
          <p:cNvSpPr>
            <a:spLocks noGrp="1"/>
          </p:cNvSpPr>
          <p:nvPr>
            <p:ph type="sldNum" sz="quarter" idx="5"/>
          </p:nvPr>
        </p:nvSpPr>
        <p:spPr/>
        <p:txBody>
          <a:bodyPr/>
          <a:lstStyle/>
          <a:p>
            <a:fld id="{48E60C60-924F-4D5A-956F-26E1204BF74A}" type="slidenum">
              <a:rPr lang="tr-TR" smtClean="0"/>
              <a:t>28</a:t>
            </a:fld>
            <a:endParaRPr lang="tr-TR"/>
          </a:p>
        </p:txBody>
      </p:sp>
    </p:spTree>
    <p:extLst>
      <p:ext uri="{BB962C8B-B14F-4D97-AF65-F5344CB8AC3E}">
        <p14:creationId xmlns:p14="http://schemas.microsoft.com/office/powerpoint/2010/main" val="1291687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Sektörel çevre, işletmenin iç çevresi ile işletmenin genel çevresi arasında yer alan ve işletme faaliyetleri doğrudan etkileyebilen bir yapıdır.</a:t>
            </a:r>
          </a:p>
        </p:txBody>
      </p:sp>
      <p:sp>
        <p:nvSpPr>
          <p:cNvPr id="4" name="Slayt Numarası Yer Tutucusu 3"/>
          <p:cNvSpPr>
            <a:spLocks noGrp="1"/>
          </p:cNvSpPr>
          <p:nvPr>
            <p:ph type="sldNum" sz="quarter" idx="5"/>
          </p:nvPr>
        </p:nvSpPr>
        <p:spPr/>
        <p:txBody>
          <a:bodyPr/>
          <a:lstStyle/>
          <a:p>
            <a:fld id="{48E60C60-924F-4D5A-956F-26E1204BF74A}" type="slidenum">
              <a:rPr lang="tr-TR" smtClean="0"/>
              <a:t>29</a:t>
            </a:fld>
            <a:endParaRPr lang="tr-TR"/>
          </a:p>
        </p:txBody>
      </p:sp>
    </p:spTree>
    <p:extLst>
      <p:ext uri="{BB962C8B-B14F-4D97-AF65-F5344CB8AC3E}">
        <p14:creationId xmlns:p14="http://schemas.microsoft.com/office/powerpoint/2010/main" val="31041203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6B17F-7BAA-E161-20D1-E1565A3DF90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D3D3CA9-4A82-A75C-3A6B-74CCC37BCA6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4392CCBB-3E24-C44F-225C-1F1D01054E7D}"/>
              </a:ext>
            </a:extLst>
          </p:cNvPr>
          <p:cNvSpPr>
            <a:spLocks noGrp="1"/>
          </p:cNvSpPr>
          <p:nvPr>
            <p:ph type="body" idx="1"/>
          </p:nvPr>
        </p:nvSpPr>
        <p:spPr/>
        <p:txBody>
          <a:bodyPr/>
          <a:lstStyle/>
          <a:p>
            <a:r>
              <a:rPr lang="tr-TR" dirty="0"/>
              <a:t>Sektörel çevre, işletmenin iç çevresi ile işletmenin genel çevresi arasında yer alan ve işletme faaliyetleri doğrudan etkileyebilen bir yapıdır.</a:t>
            </a:r>
          </a:p>
        </p:txBody>
      </p:sp>
      <p:sp>
        <p:nvSpPr>
          <p:cNvPr id="4" name="Slayt Numarası Yer Tutucusu 3">
            <a:extLst>
              <a:ext uri="{FF2B5EF4-FFF2-40B4-BE49-F238E27FC236}">
                <a16:creationId xmlns:a16="http://schemas.microsoft.com/office/drawing/2014/main" id="{C91601D2-F4A7-80B5-D291-5D152D40D425}"/>
              </a:ext>
            </a:extLst>
          </p:cNvPr>
          <p:cNvSpPr>
            <a:spLocks noGrp="1"/>
          </p:cNvSpPr>
          <p:nvPr>
            <p:ph type="sldNum" sz="quarter" idx="5"/>
          </p:nvPr>
        </p:nvSpPr>
        <p:spPr/>
        <p:txBody>
          <a:bodyPr/>
          <a:lstStyle/>
          <a:p>
            <a:fld id="{48E60C60-924F-4D5A-956F-26E1204BF74A}" type="slidenum">
              <a:rPr lang="tr-TR" smtClean="0"/>
              <a:t>30</a:t>
            </a:fld>
            <a:endParaRPr lang="tr-TR"/>
          </a:p>
        </p:txBody>
      </p:sp>
    </p:spTree>
    <p:extLst>
      <p:ext uri="{BB962C8B-B14F-4D97-AF65-F5344CB8AC3E}">
        <p14:creationId xmlns:p14="http://schemas.microsoft.com/office/powerpoint/2010/main" val="3862457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48E60C60-924F-4D5A-956F-26E1204BF74A}" type="slidenum">
              <a:rPr lang="tr-TR" smtClean="0"/>
              <a:t>31</a:t>
            </a:fld>
            <a:endParaRPr lang="tr-TR"/>
          </a:p>
        </p:txBody>
      </p:sp>
    </p:spTree>
    <p:extLst>
      <p:ext uri="{BB962C8B-B14F-4D97-AF65-F5344CB8AC3E}">
        <p14:creationId xmlns:p14="http://schemas.microsoft.com/office/powerpoint/2010/main" val="30216719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32</a:t>
            </a:fld>
            <a:endParaRPr lang="tr-TR"/>
          </a:p>
        </p:txBody>
      </p:sp>
    </p:spTree>
    <p:extLst>
      <p:ext uri="{BB962C8B-B14F-4D97-AF65-F5344CB8AC3E}">
        <p14:creationId xmlns:p14="http://schemas.microsoft.com/office/powerpoint/2010/main" val="17263035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33</a:t>
            </a:fld>
            <a:endParaRPr lang="tr-TR"/>
          </a:p>
        </p:txBody>
      </p:sp>
    </p:spTree>
    <p:extLst>
      <p:ext uri="{BB962C8B-B14F-4D97-AF65-F5344CB8AC3E}">
        <p14:creationId xmlns:p14="http://schemas.microsoft.com/office/powerpoint/2010/main" val="38543209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34</a:t>
            </a:fld>
            <a:endParaRPr lang="tr-TR"/>
          </a:p>
        </p:txBody>
      </p:sp>
    </p:spTree>
    <p:extLst>
      <p:ext uri="{BB962C8B-B14F-4D97-AF65-F5344CB8AC3E}">
        <p14:creationId xmlns:p14="http://schemas.microsoft.com/office/powerpoint/2010/main" val="23713025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E36B7-0BB6-9B2C-B84F-A85C5AB8158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6D0C1CA-F808-FCED-C202-BEA22089826F}"/>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3EED8FC-1EEC-DCCC-3388-7DD9A2C1100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659E96C-0829-43DC-5C51-8F65EDC1ABA2}"/>
              </a:ext>
            </a:extLst>
          </p:cNvPr>
          <p:cNvSpPr>
            <a:spLocks noGrp="1"/>
          </p:cNvSpPr>
          <p:nvPr>
            <p:ph type="sldNum" sz="quarter" idx="5"/>
          </p:nvPr>
        </p:nvSpPr>
        <p:spPr/>
        <p:txBody>
          <a:bodyPr/>
          <a:lstStyle/>
          <a:p>
            <a:fld id="{48E60C60-924F-4D5A-956F-26E1204BF74A}" type="slidenum">
              <a:rPr lang="tr-TR" smtClean="0"/>
              <a:t>35</a:t>
            </a:fld>
            <a:endParaRPr lang="tr-TR"/>
          </a:p>
        </p:txBody>
      </p:sp>
    </p:spTree>
    <p:extLst>
      <p:ext uri="{BB962C8B-B14F-4D97-AF65-F5344CB8AC3E}">
        <p14:creationId xmlns:p14="http://schemas.microsoft.com/office/powerpoint/2010/main" val="19885073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36</a:t>
            </a:fld>
            <a:endParaRPr lang="tr-TR"/>
          </a:p>
        </p:txBody>
      </p:sp>
    </p:spTree>
    <p:extLst>
      <p:ext uri="{BB962C8B-B14F-4D97-AF65-F5344CB8AC3E}">
        <p14:creationId xmlns:p14="http://schemas.microsoft.com/office/powerpoint/2010/main" val="28534874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48E60C60-924F-4D5A-956F-26E1204BF74A}" type="slidenum">
              <a:rPr lang="tr-TR" smtClean="0"/>
              <a:t>37</a:t>
            </a:fld>
            <a:endParaRPr lang="tr-TR"/>
          </a:p>
        </p:txBody>
      </p:sp>
    </p:spTree>
    <p:extLst>
      <p:ext uri="{BB962C8B-B14F-4D97-AF65-F5344CB8AC3E}">
        <p14:creationId xmlns:p14="http://schemas.microsoft.com/office/powerpoint/2010/main" val="15769348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48E60C60-924F-4D5A-956F-26E1204BF74A}" type="slidenum">
              <a:rPr lang="tr-TR" smtClean="0"/>
              <a:t>38</a:t>
            </a:fld>
            <a:endParaRPr lang="tr-TR"/>
          </a:p>
        </p:txBody>
      </p:sp>
    </p:spTree>
    <p:extLst>
      <p:ext uri="{BB962C8B-B14F-4D97-AF65-F5344CB8AC3E}">
        <p14:creationId xmlns:p14="http://schemas.microsoft.com/office/powerpoint/2010/main" val="37450887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6ADCB-1A56-0F79-A03C-AB8BD5C2E6E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E82DB0C-396B-7C77-477B-E27AE33D85E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9AB15C7-3131-0357-7FD3-D8B925F35F2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48B8DD5-3283-23D3-B56C-5D87357ECB4A}"/>
              </a:ext>
            </a:extLst>
          </p:cNvPr>
          <p:cNvSpPr>
            <a:spLocks noGrp="1"/>
          </p:cNvSpPr>
          <p:nvPr>
            <p:ph type="sldNum" sz="quarter" idx="5"/>
          </p:nvPr>
        </p:nvSpPr>
        <p:spPr/>
        <p:txBody>
          <a:bodyPr/>
          <a:lstStyle/>
          <a:p>
            <a:fld id="{48E60C60-924F-4D5A-956F-26E1204BF74A}" type="slidenum">
              <a:rPr lang="tr-TR" smtClean="0"/>
              <a:t>39</a:t>
            </a:fld>
            <a:endParaRPr lang="tr-TR"/>
          </a:p>
        </p:txBody>
      </p:sp>
    </p:spTree>
    <p:extLst>
      <p:ext uri="{BB962C8B-B14F-4D97-AF65-F5344CB8AC3E}">
        <p14:creationId xmlns:p14="http://schemas.microsoft.com/office/powerpoint/2010/main" val="38295159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48E60C60-924F-4D5A-956F-26E1204BF74A}" type="slidenum">
              <a:rPr lang="tr-TR" smtClean="0"/>
              <a:t>40</a:t>
            </a:fld>
            <a:endParaRPr lang="tr-TR"/>
          </a:p>
        </p:txBody>
      </p:sp>
    </p:spTree>
    <p:extLst>
      <p:ext uri="{BB962C8B-B14F-4D97-AF65-F5344CB8AC3E}">
        <p14:creationId xmlns:p14="http://schemas.microsoft.com/office/powerpoint/2010/main" val="24987101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dirty="0"/>
              <a:t>Görselin İçeriği:</a:t>
            </a:r>
          </a:p>
          <a:p>
            <a:pPr>
              <a:buFont typeface="+mj-lt"/>
              <a:buAutoNum type="arabicPeriod"/>
            </a:pPr>
            <a:r>
              <a:rPr lang="tr-TR" b="1" dirty="0"/>
              <a:t>Merkezdeki Organizasyon Şeması:</a:t>
            </a:r>
            <a:endParaRPr lang="tr-TR" dirty="0"/>
          </a:p>
          <a:p>
            <a:pPr marL="742950" lvl="1" indent="-285750">
              <a:buFont typeface="+mj-lt"/>
              <a:buAutoNum type="arabicPeriod"/>
            </a:pPr>
            <a:r>
              <a:rPr lang="tr-TR" dirty="0"/>
              <a:t>İşletmenin iç yapısını temsil eden bir organizasyon şeması bulunmaktadır.</a:t>
            </a:r>
          </a:p>
          <a:p>
            <a:pPr marL="742950" lvl="1" indent="-285750">
              <a:buFont typeface="+mj-lt"/>
              <a:buAutoNum type="arabicPeriod"/>
            </a:pPr>
            <a:r>
              <a:rPr lang="tr-TR" dirty="0"/>
              <a:t>Üst yönetimden alt kademelere doğru bir hiyerarşi yapısı gösterilmektedir.</a:t>
            </a:r>
          </a:p>
          <a:p>
            <a:pPr>
              <a:buFont typeface="+mj-lt"/>
              <a:buAutoNum type="arabicPeriod"/>
            </a:pPr>
            <a:r>
              <a:rPr lang="tr-TR" b="1" dirty="0"/>
              <a:t>İç Çevre Katmanları:</a:t>
            </a:r>
            <a:endParaRPr lang="tr-TR" dirty="0"/>
          </a:p>
          <a:p>
            <a:pPr marL="742950" lvl="1" indent="-285750">
              <a:buFont typeface="+mj-lt"/>
              <a:buAutoNum type="arabicPeriod"/>
            </a:pPr>
            <a:r>
              <a:rPr lang="tr-TR" b="1" dirty="0"/>
              <a:t>Örgüt Kültürü (En İç Katman):</a:t>
            </a:r>
            <a:endParaRPr lang="tr-TR" dirty="0"/>
          </a:p>
          <a:p>
            <a:pPr marL="1143000" lvl="2" indent="-228600">
              <a:buFont typeface="+mj-lt"/>
              <a:buAutoNum type="arabicPeriod"/>
            </a:pPr>
            <a:r>
              <a:rPr lang="tr-TR" dirty="0"/>
              <a:t>İşletmenin çalışma biçimi, değerleri ve kurumsal kimliği ile ilgilidir.</a:t>
            </a:r>
          </a:p>
          <a:p>
            <a:pPr marL="742950" lvl="1" indent="-285750">
              <a:buFont typeface="+mj-lt"/>
              <a:buAutoNum type="arabicPeriod"/>
            </a:pPr>
            <a:r>
              <a:rPr lang="tr-TR" b="1" dirty="0"/>
              <a:t>Misyon, Vizyon ve Temel Yetenekler (Orta Katman):</a:t>
            </a:r>
            <a:endParaRPr lang="tr-TR" dirty="0"/>
          </a:p>
          <a:p>
            <a:pPr marL="1143000" lvl="2" indent="-228600">
              <a:buFont typeface="+mj-lt"/>
              <a:buAutoNum type="arabicPeriod"/>
            </a:pPr>
            <a:r>
              <a:rPr lang="tr-TR" dirty="0"/>
              <a:t>İşletmenin amaçları, gelecekte ulaşmak istediği konum (vizyon) ve sahip olduğu stratejik yetenekleri ifade eder.</a:t>
            </a:r>
          </a:p>
          <a:p>
            <a:pPr marL="742950" lvl="1" indent="-285750">
              <a:buFont typeface="+mj-lt"/>
              <a:buAutoNum type="arabicPeriod"/>
            </a:pPr>
            <a:r>
              <a:rPr lang="tr-TR" b="1" dirty="0"/>
              <a:t>Dış Çevre (En Dış Katman):</a:t>
            </a:r>
            <a:endParaRPr lang="tr-TR" dirty="0"/>
          </a:p>
          <a:p>
            <a:pPr marL="1143000" lvl="2" indent="-228600">
              <a:buFont typeface="+mj-lt"/>
              <a:buAutoNum type="arabicPeriod"/>
            </a:pPr>
            <a:r>
              <a:rPr lang="tr-TR" dirty="0"/>
              <a:t>İşletmenin iç çevresini çevreleyen ve dış faktörlerden etkilendiğini gösteren alan.</a:t>
            </a:r>
          </a:p>
          <a:p>
            <a:r>
              <a:rPr lang="tr-TR" b="1" dirty="0"/>
              <a:t>Görselin Anlamı:</a:t>
            </a:r>
          </a:p>
          <a:p>
            <a:r>
              <a:rPr lang="tr-TR" dirty="0"/>
              <a:t>Bu görsel, işletmenin iç çevresini oluşturan </a:t>
            </a:r>
            <a:r>
              <a:rPr lang="tr-TR" b="1" dirty="0"/>
              <a:t>örgüt kültürü, misyon, vizyon ve temel yeteneklerin</a:t>
            </a:r>
            <a:r>
              <a:rPr lang="tr-TR" dirty="0"/>
              <a:t> organizasyon yapısıyla nasıl bir bütün oluşturduğunu göstermektedir. Aynı zamanda dış çevrenin, işletmenin iç süreçleri üzerindeki dolaylı etkisini vurgulamaktadır.</a:t>
            </a:r>
          </a:p>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41</a:t>
            </a:fld>
            <a:endParaRPr lang="tr-TR"/>
          </a:p>
        </p:txBody>
      </p:sp>
    </p:spTree>
    <p:extLst>
      <p:ext uri="{BB962C8B-B14F-4D97-AF65-F5344CB8AC3E}">
        <p14:creationId xmlns:p14="http://schemas.microsoft.com/office/powerpoint/2010/main" val="37787801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42</a:t>
            </a:fld>
            <a:endParaRPr lang="tr-TR"/>
          </a:p>
        </p:txBody>
      </p:sp>
    </p:spTree>
    <p:extLst>
      <p:ext uri="{BB962C8B-B14F-4D97-AF65-F5344CB8AC3E}">
        <p14:creationId xmlns:p14="http://schemas.microsoft.com/office/powerpoint/2010/main" val="16473011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AA735-1D22-19A8-7730-5E6B0DF2DB7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6199DBC-6915-0427-667B-32A87BCDD4E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2EF42A8-E3BB-CA87-DE15-2AC21466B59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9FEDCA5-9231-147A-0A5A-5702E56493C2}"/>
              </a:ext>
            </a:extLst>
          </p:cNvPr>
          <p:cNvSpPr>
            <a:spLocks noGrp="1"/>
          </p:cNvSpPr>
          <p:nvPr>
            <p:ph type="sldNum" sz="quarter" idx="5"/>
          </p:nvPr>
        </p:nvSpPr>
        <p:spPr/>
        <p:txBody>
          <a:bodyPr/>
          <a:lstStyle/>
          <a:p>
            <a:fld id="{48E60C60-924F-4D5A-956F-26E1204BF74A}" type="slidenum">
              <a:rPr lang="tr-TR" smtClean="0"/>
              <a:t>43</a:t>
            </a:fld>
            <a:endParaRPr lang="tr-TR"/>
          </a:p>
        </p:txBody>
      </p:sp>
    </p:spTree>
    <p:extLst>
      <p:ext uri="{BB962C8B-B14F-4D97-AF65-F5344CB8AC3E}">
        <p14:creationId xmlns:p14="http://schemas.microsoft.com/office/powerpoint/2010/main" val="13786178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AF2EA-8227-2D58-8954-F95A372343E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C787B52-00AA-4AF6-0FC8-7C0662A9B4C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5A23852-DDDB-8800-F5C9-BCB15C51481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21F16BA-91C8-7423-80D8-A5C7F3FE592E}"/>
              </a:ext>
            </a:extLst>
          </p:cNvPr>
          <p:cNvSpPr>
            <a:spLocks noGrp="1"/>
          </p:cNvSpPr>
          <p:nvPr>
            <p:ph type="sldNum" sz="quarter" idx="5"/>
          </p:nvPr>
        </p:nvSpPr>
        <p:spPr/>
        <p:txBody>
          <a:bodyPr/>
          <a:lstStyle/>
          <a:p>
            <a:fld id="{48E60C60-924F-4D5A-956F-26E1204BF74A}" type="slidenum">
              <a:rPr lang="tr-TR" smtClean="0"/>
              <a:t>44</a:t>
            </a:fld>
            <a:endParaRPr lang="tr-TR"/>
          </a:p>
        </p:txBody>
      </p:sp>
    </p:spTree>
    <p:extLst>
      <p:ext uri="{BB962C8B-B14F-4D97-AF65-F5344CB8AC3E}">
        <p14:creationId xmlns:p14="http://schemas.microsoft.com/office/powerpoint/2010/main" val="35387307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8E60C60-924F-4D5A-956F-26E1204BF74A}" type="slidenum">
              <a:rPr lang="tr-TR" smtClean="0"/>
              <a:t>45</a:t>
            </a:fld>
            <a:endParaRPr lang="tr-TR"/>
          </a:p>
        </p:txBody>
      </p:sp>
    </p:spTree>
    <p:extLst>
      <p:ext uri="{BB962C8B-B14F-4D97-AF65-F5344CB8AC3E}">
        <p14:creationId xmlns:p14="http://schemas.microsoft.com/office/powerpoint/2010/main" val="16778330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C215E-E415-AC62-0111-31652A82F76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80700C9-127C-B9EA-D580-96C4483478F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79AA9F9-88FB-43ED-4069-E6815A1CCB71}"/>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9C92F16E-D6B9-584E-D186-A15060C1DB8B}"/>
              </a:ext>
            </a:extLst>
          </p:cNvPr>
          <p:cNvSpPr>
            <a:spLocks noGrp="1"/>
          </p:cNvSpPr>
          <p:nvPr>
            <p:ph type="sldNum" sz="quarter" idx="5"/>
          </p:nvPr>
        </p:nvSpPr>
        <p:spPr/>
        <p:txBody>
          <a:bodyPr/>
          <a:lstStyle/>
          <a:p>
            <a:fld id="{48E60C60-924F-4D5A-956F-26E1204BF74A}" type="slidenum">
              <a:rPr lang="tr-TR" smtClean="0"/>
              <a:t>46</a:t>
            </a:fld>
            <a:endParaRPr lang="tr-TR"/>
          </a:p>
        </p:txBody>
      </p:sp>
    </p:spTree>
    <p:extLst>
      <p:ext uri="{BB962C8B-B14F-4D97-AF65-F5344CB8AC3E}">
        <p14:creationId xmlns:p14="http://schemas.microsoft.com/office/powerpoint/2010/main" val="5170267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48E60C60-924F-4D5A-956F-26E1204BF74A}" type="slidenum">
              <a:rPr lang="tr-TR" smtClean="0"/>
              <a:t>47</a:t>
            </a:fld>
            <a:endParaRPr lang="tr-TR"/>
          </a:p>
        </p:txBody>
      </p:sp>
    </p:spTree>
    <p:extLst>
      <p:ext uri="{BB962C8B-B14F-4D97-AF65-F5344CB8AC3E}">
        <p14:creationId xmlns:p14="http://schemas.microsoft.com/office/powerpoint/2010/main" val="788660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3/5/25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77300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3/5/25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98824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3/5/25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29384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3/5/25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47590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3/5/25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3848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3/5/25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5329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3/5/25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03121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3/5/25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58036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3/5/25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627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3/5/25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45310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3/5/25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14452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3/5/25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187378493"/>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8E44CAF4-3CE5-8E62-0533-4039A56FAE89}"/>
              </a:ext>
            </a:extLst>
          </p:cNvPr>
          <p:cNvPicPr>
            <a:picLocks noChangeAspect="1"/>
          </p:cNvPicPr>
          <p:nvPr/>
        </p:nvPicPr>
        <p:blipFill>
          <a:blip r:embed="rId2"/>
          <a:srcRect t="8558" b="7172"/>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7D064F0-6D2A-219C-C000-14ABD99ECE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06" y="0"/>
            <a:ext cx="4903694" cy="6858001"/>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82FD661-5293-D924-4EBC-3CC2FC3CFEC3}"/>
              </a:ext>
            </a:extLst>
          </p:cNvPr>
          <p:cNvSpPr>
            <a:spLocks noGrp="1"/>
          </p:cNvSpPr>
          <p:nvPr>
            <p:ph type="ctrTitle"/>
          </p:nvPr>
        </p:nvSpPr>
        <p:spPr>
          <a:xfrm>
            <a:off x="7620001" y="822960"/>
            <a:ext cx="4286054" cy="3474720"/>
          </a:xfrm>
        </p:spPr>
        <p:txBody>
          <a:bodyPr anchor="b">
            <a:normAutofit/>
          </a:bodyPr>
          <a:lstStyle/>
          <a:p>
            <a:pPr algn="l"/>
            <a:r>
              <a:rPr lang="tr-TR" sz="5200"/>
              <a:t>İŞLETME BİLİMİNE GİRİŞ</a:t>
            </a:r>
          </a:p>
        </p:txBody>
      </p:sp>
      <p:sp>
        <p:nvSpPr>
          <p:cNvPr id="3" name="Alt Başlık 2">
            <a:extLst>
              <a:ext uri="{FF2B5EF4-FFF2-40B4-BE49-F238E27FC236}">
                <a16:creationId xmlns:a16="http://schemas.microsoft.com/office/drawing/2014/main" id="{0AE54265-FB8C-B7F9-9F5D-2A45669C0B87}"/>
              </a:ext>
            </a:extLst>
          </p:cNvPr>
          <p:cNvSpPr>
            <a:spLocks noGrp="1"/>
          </p:cNvSpPr>
          <p:nvPr>
            <p:ph type="subTitle" idx="1"/>
          </p:nvPr>
        </p:nvSpPr>
        <p:spPr>
          <a:xfrm>
            <a:off x="7620001" y="4419600"/>
            <a:ext cx="3931920" cy="1386840"/>
          </a:xfrm>
        </p:spPr>
        <p:txBody>
          <a:bodyPr anchor="t">
            <a:normAutofit/>
          </a:bodyPr>
          <a:lstStyle/>
          <a:p>
            <a:pPr algn="l">
              <a:lnSpc>
                <a:spcPct val="110000"/>
              </a:lnSpc>
            </a:pPr>
            <a:r>
              <a:rPr lang="tr-TR" sz="2200"/>
              <a:t>2.HAFTA</a:t>
            </a:r>
          </a:p>
          <a:p>
            <a:pPr algn="l">
              <a:lnSpc>
                <a:spcPct val="110000"/>
              </a:lnSpc>
            </a:pPr>
            <a:r>
              <a:rPr lang="tr-TR" sz="2200"/>
              <a:t>DR.ÖĞR.ÜYESİ FATİH ÇALLI</a:t>
            </a:r>
          </a:p>
        </p:txBody>
      </p:sp>
    </p:spTree>
    <p:extLst>
      <p:ext uri="{BB962C8B-B14F-4D97-AF65-F5344CB8AC3E}">
        <p14:creationId xmlns:p14="http://schemas.microsoft.com/office/powerpoint/2010/main" val="340849850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FE23866-27B8-6B9A-4300-3A702A2FFB46}"/>
              </a:ext>
            </a:extLst>
          </p:cNvPr>
          <p:cNvSpPr>
            <a:spLocks noGrp="1"/>
          </p:cNvSpPr>
          <p:nvPr>
            <p:ph type="title"/>
          </p:nvPr>
        </p:nvSpPr>
        <p:spPr/>
        <p:txBody>
          <a:bodyPr/>
          <a:lstStyle/>
          <a:p>
            <a:r>
              <a:rPr lang="tr-TR" dirty="0"/>
              <a:t>GEÇEN HAFTA NELER ÖĞRENDİK?</a:t>
            </a:r>
          </a:p>
        </p:txBody>
      </p:sp>
      <p:sp>
        <p:nvSpPr>
          <p:cNvPr id="3" name="İçerik Yer Tutucusu 2">
            <a:extLst>
              <a:ext uri="{FF2B5EF4-FFF2-40B4-BE49-F238E27FC236}">
                <a16:creationId xmlns:a16="http://schemas.microsoft.com/office/drawing/2014/main" id="{6810E33E-7DA3-536A-0993-9EF2DE89F9C1}"/>
              </a:ext>
            </a:extLst>
          </p:cNvPr>
          <p:cNvSpPr>
            <a:spLocks noGrp="1"/>
          </p:cNvSpPr>
          <p:nvPr>
            <p:ph idx="1"/>
          </p:nvPr>
        </p:nvSpPr>
        <p:spPr/>
        <p:txBody>
          <a:bodyPr>
            <a:normAutofit fontScale="70000" lnSpcReduction="20000"/>
          </a:bodyPr>
          <a:lstStyle/>
          <a:p>
            <a:pPr>
              <a:buFont typeface="+mj-lt"/>
              <a:buAutoNum type="arabicPeriod"/>
            </a:pPr>
            <a:r>
              <a:rPr lang="tr-TR" b="1" dirty="0"/>
              <a:t>İşletme Kavramı</a:t>
            </a:r>
            <a:endParaRPr lang="tr-TR" dirty="0"/>
          </a:p>
          <a:p>
            <a:pPr marL="742950" lvl="1" indent="-285750">
              <a:buFont typeface="+mj-lt"/>
              <a:buAutoNum type="arabicPeriod"/>
            </a:pPr>
            <a:r>
              <a:rPr lang="tr-TR" dirty="0"/>
              <a:t>İşletmelerin tarihsel gelişimi</a:t>
            </a:r>
          </a:p>
          <a:p>
            <a:pPr marL="742950" lvl="1" indent="-285750">
              <a:buFont typeface="+mj-lt"/>
              <a:buAutoNum type="arabicPeriod"/>
            </a:pPr>
            <a:r>
              <a:rPr lang="tr-TR" dirty="0"/>
              <a:t>İnsan ihtiyaçlarıyla işletmeler arasındaki ilişki</a:t>
            </a:r>
          </a:p>
          <a:p>
            <a:pPr marL="742950" lvl="1" indent="-285750">
              <a:buFont typeface="+mj-lt"/>
              <a:buAutoNum type="arabicPeriod"/>
            </a:pPr>
            <a:r>
              <a:rPr lang="tr-TR" dirty="0"/>
              <a:t>İşletmelerin temel amacı: İnsan ihtiyaç ve isteklerini karşılamak</a:t>
            </a:r>
          </a:p>
          <a:p>
            <a:pPr>
              <a:buFont typeface="+mj-lt"/>
              <a:buAutoNum type="arabicPeriod"/>
            </a:pPr>
            <a:r>
              <a:rPr lang="tr-TR" b="1" dirty="0"/>
              <a:t>İhtiyaçlar ve Üretim Faktörleri</a:t>
            </a:r>
            <a:endParaRPr lang="tr-TR" dirty="0"/>
          </a:p>
          <a:p>
            <a:pPr marL="742950" lvl="1" indent="-285750">
              <a:buFont typeface="+mj-lt"/>
              <a:buAutoNum type="arabicPeriod"/>
            </a:pPr>
            <a:r>
              <a:rPr lang="tr-TR" dirty="0"/>
              <a:t>İhtiyaçların sınıflandırılması (</a:t>
            </a:r>
            <a:r>
              <a:rPr lang="tr-TR" dirty="0" err="1"/>
              <a:t>Maslow’un</a:t>
            </a:r>
            <a:r>
              <a:rPr lang="tr-TR" dirty="0"/>
              <a:t> İhtiyaçlar Hiyerarşisi)</a:t>
            </a:r>
          </a:p>
          <a:p>
            <a:pPr marL="742950" lvl="1" indent="-285750">
              <a:buFont typeface="+mj-lt"/>
              <a:buAutoNum type="arabicPeriod"/>
            </a:pPr>
            <a:r>
              <a:rPr lang="tr-TR" dirty="0"/>
              <a:t>Üretim faktörleri: Doğal kaynaklar, emek, sermaye ve girişimcilik</a:t>
            </a:r>
          </a:p>
          <a:p>
            <a:pPr>
              <a:buFont typeface="+mj-lt"/>
              <a:buAutoNum type="arabicPeriod"/>
            </a:pPr>
            <a:r>
              <a:rPr lang="tr-TR" b="1" dirty="0"/>
              <a:t>İnovasyon ve Girişimcilik</a:t>
            </a:r>
            <a:endParaRPr lang="tr-TR" dirty="0"/>
          </a:p>
          <a:p>
            <a:pPr marL="742950" lvl="1" indent="-285750">
              <a:buFont typeface="+mj-lt"/>
              <a:buAutoNum type="arabicPeriod"/>
            </a:pPr>
            <a:r>
              <a:rPr lang="tr-TR" dirty="0" err="1"/>
              <a:t>İnovasyonun</a:t>
            </a:r>
            <a:r>
              <a:rPr lang="tr-TR" dirty="0"/>
              <a:t> işletmelerdeki önemi</a:t>
            </a:r>
          </a:p>
          <a:p>
            <a:pPr marL="742950" lvl="1" indent="-285750">
              <a:buFont typeface="+mj-lt"/>
              <a:buAutoNum type="arabicPeriod"/>
            </a:pPr>
            <a:r>
              <a:rPr lang="tr-TR" dirty="0"/>
              <a:t>Girişimciliğin temel özellikleri ve risk alma süreci</a:t>
            </a:r>
          </a:p>
          <a:p>
            <a:pPr>
              <a:buFont typeface="+mj-lt"/>
              <a:buAutoNum type="arabicPeriod"/>
            </a:pPr>
            <a:r>
              <a:rPr lang="tr-TR" b="1" dirty="0"/>
              <a:t>İşletmenin Tanımı ve İşlevleri</a:t>
            </a:r>
            <a:endParaRPr lang="tr-TR" dirty="0"/>
          </a:p>
          <a:p>
            <a:pPr marL="742950" lvl="1" indent="-285750">
              <a:buFont typeface="+mj-lt"/>
              <a:buAutoNum type="arabicPeriod"/>
            </a:pPr>
            <a:r>
              <a:rPr lang="tr-TR" dirty="0"/>
              <a:t>İşletmenin işlevleri: Yönetim, pazarlama, üretim, finansman, muhasebe, insan kaynakları, Ar-Ge</a:t>
            </a:r>
          </a:p>
          <a:p>
            <a:pPr marL="742950" lvl="1" indent="-285750">
              <a:buFont typeface="+mj-lt"/>
              <a:buAutoNum type="arabicPeriod"/>
            </a:pPr>
            <a:r>
              <a:rPr lang="tr-TR" dirty="0"/>
              <a:t>İşletmelerin sınıflandırılması (büyüklük, faaliyet alanı, sermaye mülkiyeti vb.)</a:t>
            </a:r>
          </a:p>
          <a:p>
            <a:pPr>
              <a:buFont typeface="+mj-lt"/>
              <a:buAutoNum type="arabicPeriod"/>
            </a:pPr>
            <a:r>
              <a:rPr lang="tr-TR" b="1" dirty="0"/>
              <a:t>İşletmelerin Amaçları ve Başarı Kriterleri</a:t>
            </a:r>
            <a:endParaRPr lang="tr-TR" dirty="0"/>
          </a:p>
          <a:p>
            <a:pPr marL="742950" lvl="1" indent="-285750">
              <a:buFont typeface="+mj-lt"/>
              <a:buAutoNum type="arabicPeriod"/>
            </a:pPr>
            <a:r>
              <a:rPr lang="tr-TR" dirty="0"/>
              <a:t>Kârlılık, ekonomik-sosyal-çevresel sürdürülebilirlik</a:t>
            </a:r>
          </a:p>
          <a:p>
            <a:pPr marL="742950" lvl="1" indent="-285750">
              <a:buFont typeface="+mj-lt"/>
              <a:buAutoNum type="arabicPeriod"/>
            </a:pPr>
            <a:r>
              <a:rPr lang="tr-TR" dirty="0"/>
              <a:t>Verimlilik ve yenilikçilik</a:t>
            </a:r>
          </a:p>
          <a:p>
            <a:endParaRPr lang="tr-TR" dirty="0"/>
          </a:p>
        </p:txBody>
      </p:sp>
    </p:spTree>
    <p:extLst>
      <p:ext uri="{BB962C8B-B14F-4D97-AF65-F5344CB8AC3E}">
        <p14:creationId xmlns:p14="http://schemas.microsoft.com/office/powerpoint/2010/main" val="435015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AD9E73-C017-D9F1-1FBC-E967086B99E3}"/>
              </a:ext>
            </a:extLst>
          </p:cNvPr>
          <p:cNvPicPr>
            <a:picLocks noChangeAspect="1"/>
          </p:cNvPicPr>
          <p:nvPr/>
        </p:nvPicPr>
        <p:blipFill>
          <a:blip r:embed="rId2"/>
          <a:srcRect l="17854" r="12159" b="2"/>
          <a:stretch/>
        </p:blipFill>
        <p:spPr>
          <a:xfrm>
            <a:off x="20" y="10"/>
            <a:ext cx="4910308" cy="6857990"/>
          </a:xfrm>
          <a:prstGeom prst="rect">
            <a:avLst/>
          </a:prstGeom>
        </p:spPr>
      </p:pic>
      <p:sp>
        <p:nvSpPr>
          <p:cNvPr id="2" name="Başlık 1">
            <a:extLst>
              <a:ext uri="{FF2B5EF4-FFF2-40B4-BE49-F238E27FC236}">
                <a16:creationId xmlns:a16="http://schemas.microsoft.com/office/drawing/2014/main" id="{E917BC16-D9DB-15A4-EC76-6D91CB9407D4}"/>
              </a:ext>
            </a:extLst>
          </p:cNvPr>
          <p:cNvSpPr>
            <a:spLocks noGrp="1"/>
          </p:cNvSpPr>
          <p:nvPr>
            <p:ph type="title"/>
          </p:nvPr>
        </p:nvSpPr>
        <p:spPr>
          <a:xfrm>
            <a:off x="5568537" y="603504"/>
            <a:ext cx="5916168" cy="1527048"/>
          </a:xfrm>
        </p:spPr>
        <p:txBody>
          <a:bodyPr anchor="b">
            <a:normAutofit/>
          </a:bodyPr>
          <a:lstStyle/>
          <a:p>
            <a:r>
              <a:rPr lang="tr-TR"/>
              <a:t>2.HAFTANIN AMAÇLARI</a:t>
            </a:r>
          </a:p>
        </p:txBody>
      </p:sp>
      <p:graphicFrame>
        <p:nvGraphicFramePr>
          <p:cNvPr id="13" name="İçerik Yer Tutucusu 2">
            <a:extLst>
              <a:ext uri="{FF2B5EF4-FFF2-40B4-BE49-F238E27FC236}">
                <a16:creationId xmlns:a16="http://schemas.microsoft.com/office/drawing/2014/main" id="{FA8853A9-9EE1-F4AB-19F6-B3C4492CE761}"/>
              </a:ext>
            </a:extLst>
          </p:cNvPr>
          <p:cNvGraphicFramePr>
            <a:graphicFrameLocks noGrp="1"/>
          </p:cNvGraphicFramePr>
          <p:nvPr>
            <p:ph idx="1"/>
          </p:nvPr>
        </p:nvGraphicFramePr>
        <p:xfrm>
          <a:off x="5568537" y="2214282"/>
          <a:ext cx="5916168" cy="40950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8670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a:extLst>
              <a:ext uri="{FF2B5EF4-FFF2-40B4-BE49-F238E27FC236}">
                <a16:creationId xmlns:a16="http://schemas.microsoft.com/office/drawing/2014/main" id="{76842B9A-EB89-B14B-3FD6-F866079942D3}"/>
              </a:ext>
            </a:extLst>
          </p:cNvPr>
          <p:cNvPicPr>
            <a:picLocks noChangeAspect="1"/>
          </p:cNvPicPr>
          <p:nvPr/>
        </p:nvPicPr>
        <p:blipFill>
          <a:blip r:embed="rId3"/>
          <a:srcRect l="11795" r="15795" b="-1"/>
          <a:stretch/>
        </p:blipFill>
        <p:spPr>
          <a:xfrm>
            <a:off x="5068388" y="10"/>
            <a:ext cx="7123611" cy="6857990"/>
          </a:xfrm>
          <a:prstGeom prst="rect">
            <a:avLst/>
          </a:prstGeom>
        </p:spPr>
      </p:pic>
      <p:sp>
        <p:nvSpPr>
          <p:cNvPr id="2" name="Başlık 1">
            <a:extLst>
              <a:ext uri="{FF2B5EF4-FFF2-40B4-BE49-F238E27FC236}">
                <a16:creationId xmlns:a16="http://schemas.microsoft.com/office/drawing/2014/main" id="{22ADBD14-FEC1-1FC1-9C16-DAA63DF4E8E7}"/>
              </a:ext>
            </a:extLst>
          </p:cNvPr>
          <p:cNvSpPr>
            <a:spLocks noGrp="1"/>
          </p:cNvSpPr>
          <p:nvPr>
            <p:ph type="title"/>
          </p:nvPr>
        </p:nvSpPr>
        <p:spPr>
          <a:xfrm>
            <a:off x="614681" y="603504"/>
            <a:ext cx="3553412" cy="1527048"/>
          </a:xfrm>
        </p:spPr>
        <p:txBody>
          <a:bodyPr anchor="b">
            <a:normAutofit/>
          </a:bodyPr>
          <a:lstStyle/>
          <a:p>
            <a:r>
              <a:rPr lang="tr-TR"/>
              <a:t>İŞLETMENİN ÇEVRESİ</a:t>
            </a:r>
          </a:p>
        </p:txBody>
      </p:sp>
      <p:sp>
        <p:nvSpPr>
          <p:cNvPr id="3" name="İçerik Yer Tutucusu 2">
            <a:extLst>
              <a:ext uri="{FF2B5EF4-FFF2-40B4-BE49-F238E27FC236}">
                <a16:creationId xmlns:a16="http://schemas.microsoft.com/office/drawing/2014/main" id="{B85A8BDE-D8C4-4217-2896-3FC7D50A8A6C}"/>
              </a:ext>
            </a:extLst>
          </p:cNvPr>
          <p:cNvSpPr>
            <a:spLocks noGrp="1"/>
          </p:cNvSpPr>
          <p:nvPr>
            <p:ph idx="1"/>
          </p:nvPr>
        </p:nvSpPr>
        <p:spPr>
          <a:xfrm>
            <a:off x="614680" y="2212848"/>
            <a:ext cx="4257766" cy="4122420"/>
          </a:xfrm>
        </p:spPr>
        <p:txBody>
          <a:bodyPr>
            <a:normAutofit/>
          </a:bodyPr>
          <a:lstStyle/>
          <a:p>
            <a:pPr algn="just">
              <a:lnSpc>
                <a:spcPct val="110000"/>
              </a:lnSpc>
            </a:pPr>
            <a:r>
              <a:rPr lang="tr-TR" sz="1600" dirty="0"/>
              <a:t>İşletmelerin çevresi en genel ifadesiyle işletme sınırları dışında kalan her şey olarak tanımlanabilir. Tüm işletmeler belli bir çevre içinde faaliyetlerini sürdürmektedir. İşletmelerle çevre arasında karşılıklı bir ilişkinin veya bir başka deyişle etkileşimin var olduğunu belirtmek yanlış olmayacaktır. İşletmeler çevreden kendi faaliyetleri için gerekli olan girdileri alır ve bu faaliyetler sonucunda çevreye çeşitli çıktılar sunarlar. </a:t>
            </a:r>
          </a:p>
        </p:txBody>
      </p:sp>
    </p:spTree>
    <p:extLst>
      <p:ext uri="{BB962C8B-B14F-4D97-AF65-F5344CB8AC3E}">
        <p14:creationId xmlns:p14="http://schemas.microsoft.com/office/powerpoint/2010/main" val="543616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DD7CA-5356-FBD3-A9FD-3F07306302C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1E4B4DC-EBEF-C835-D013-36B0751DC639}"/>
              </a:ext>
            </a:extLst>
          </p:cNvPr>
          <p:cNvSpPr>
            <a:spLocks noGrp="1"/>
          </p:cNvSpPr>
          <p:nvPr>
            <p:ph type="title"/>
          </p:nvPr>
        </p:nvSpPr>
        <p:spPr/>
        <p:txBody>
          <a:bodyPr/>
          <a:lstStyle/>
          <a:p>
            <a:r>
              <a:rPr lang="tr-TR"/>
              <a:t>İŞLETMENİN ÇEVRESİ</a:t>
            </a:r>
          </a:p>
        </p:txBody>
      </p:sp>
      <p:pic>
        <p:nvPicPr>
          <p:cNvPr id="5" name="İçerik Yer Tutucusu 4" descr="metin, ekran görüntüsü, daire, diyagram içeren bir resim&#10;&#10;Yapay zeka tarafından oluşturulan içerik yanlış olabilir.">
            <a:extLst>
              <a:ext uri="{FF2B5EF4-FFF2-40B4-BE49-F238E27FC236}">
                <a16:creationId xmlns:a16="http://schemas.microsoft.com/office/drawing/2014/main" id="{D979D8C5-A936-F24A-2053-7BA4DF06463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03231" y="1680898"/>
            <a:ext cx="10424338" cy="4510896"/>
          </a:xfrm>
        </p:spPr>
      </p:pic>
    </p:spTree>
    <p:extLst>
      <p:ext uri="{BB962C8B-B14F-4D97-AF65-F5344CB8AC3E}">
        <p14:creationId xmlns:p14="http://schemas.microsoft.com/office/powerpoint/2010/main" val="3258193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339352-2C78-7773-BEA9-A9FE8D111986}"/>
            </a:ext>
          </a:extLst>
        </p:cNvPr>
        <p:cNvGrpSpPr/>
        <p:nvPr/>
      </p:nvGrpSpPr>
      <p:grpSpPr>
        <a:xfrm>
          <a:off x="0" y="0"/>
          <a:ext cx="0" cy="0"/>
          <a:chOff x="0" y="0"/>
          <a:chExt cx="0" cy="0"/>
        </a:xfrm>
      </p:grpSpPr>
      <p:sp>
        <p:nvSpPr>
          <p:cNvPr id="2057" name="Rectangle 2054">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3AD39F0-BFD5-706C-01EF-24F21CC5B6D1}"/>
              </a:ext>
            </a:extLst>
          </p:cNvPr>
          <p:cNvSpPr>
            <a:spLocks noGrp="1"/>
          </p:cNvSpPr>
          <p:nvPr>
            <p:ph type="title"/>
          </p:nvPr>
        </p:nvSpPr>
        <p:spPr>
          <a:xfrm>
            <a:off x="612648" y="1114923"/>
            <a:ext cx="4621553" cy="1360728"/>
          </a:xfrm>
        </p:spPr>
        <p:txBody>
          <a:bodyPr anchor="b">
            <a:normAutofit/>
          </a:bodyPr>
          <a:lstStyle/>
          <a:p>
            <a:r>
              <a:rPr lang="tr-TR"/>
              <a:t>İŞLETMENİN ÇEVRESİ</a:t>
            </a:r>
          </a:p>
        </p:txBody>
      </p:sp>
      <p:sp>
        <p:nvSpPr>
          <p:cNvPr id="4" name="İçerik Yer Tutucusu 3">
            <a:extLst>
              <a:ext uri="{FF2B5EF4-FFF2-40B4-BE49-F238E27FC236}">
                <a16:creationId xmlns:a16="http://schemas.microsoft.com/office/drawing/2014/main" id="{9BB448B0-E24F-C435-8915-392408BA5554}"/>
              </a:ext>
            </a:extLst>
          </p:cNvPr>
          <p:cNvSpPr>
            <a:spLocks noGrp="1"/>
          </p:cNvSpPr>
          <p:nvPr>
            <p:ph idx="1"/>
          </p:nvPr>
        </p:nvSpPr>
        <p:spPr>
          <a:xfrm>
            <a:off x="612648" y="2584058"/>
            <a:ext cx="4621553" cy="3159018"/>
          </a:xfrm>
        </p:spPr>
        <p:txBody>
          <a:bodyPr>
            <a:normAutofit/>
          </a:bodyPr>
          <a:lstStyle/>
          <a:p>
            <a:pPr algn="just">
              <a:lnSpc>
                <a:spcPct val="110000"/>
              </a:lnSpc>
            </a:pPr>
            <a:r>
              <a:rPr lang="tr-TR" sz="1300" dirty="0"/>
              <a:t>Faaliyet alanı ne olursa olsun, her işletme söz konusu faaliyetlerini çevreden elde ettiği girdiler sayesinde gerçekleştirmekte ve elde ettiği çıktıları da yine aynı çevreye sunarak devamlılık, kâr elde etme ve sosyal sorumluluk gibi çeşitli işletmecilik amaçlarını yerine getirebilmektedir. Çevre işletmeye çeşitli fırsatlar sunarken bazı tehditleri de bünyesinde barındırmaktadır. Çevre, barındırdığı birçok belirsizlik ve bunun yanında işletmelere sağladığı birçok kaynakla, her işletme yöneticisinin önemle üzerinde durması gereken konulardan biri olarak karşımıza çıkmaktadır. Bu ünitede çeşitli boyutları itibarıyla işletmenin çevresi ele alınarak işletme çevre etkileşiminin daha anlaşılır bir hâle getirilmesi amaçlanmaktadır. </a:t>
            </a:r>
          </a:p>
        </p:txBody>
      </p:sp>
      <p:pic>
        <p:nvPicPr>
          <p:cNvPr id="2050" name="Picture 2" descr="The Ecosystem of Success: Unpacking the Business Environment - Virtuzone">
            <a:extLst>
              <a:ext uri="{FF2B5EF4-FFF2-40B4-BE49-F238E27FC236}">
                <a16:creationId xmlns:a16="http://schemas.microsoft.com/office/drawing/2014/main" id="{700F135D-E552-A24C-D895-ABFC2049C52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91261" y="1504224"/>
            <a:ext cx="5837780" cy="384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06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7C44EEC-5A17-1761-895B-AFBFFBFAC9CF}"/>
              </a:ext>
            </a:extLst>
          </p:cNvPr>
          <p:cNvSpPr>
            <a:spLocks noGrp="1"/>
          </p:cNvSpPr>
          <p:nvPr>
            <p:ph type="title"/>
          </p:nvPr>
        </p:nvSpPr>
        <p:spPr>
          <a:xfrm>
            <a:off x="5906802" y="603504"/>
            <a:ext cx="5577902" cy="1527048"/>
          </a:xfrm>
        </p:spPr>
        <p:txBody>
          <a:bodyPr anchor="b">
            <a:normAutofit/>
          </a:bodyPr>
          <a:lstStyle/>
          <a:p>
            <a:r>
              <a:rPr lang="tr-TR"/>
              <a:t>BİR SİSTEM OLARAK İŞLETME ÇEVRESİ</a:t>
            </a:r>
          </a:p>
        </p:txBody>
      </p:sp>
      <p:sp>
        <p:nvSpPr>
          <p:cNvPr id="3" name="İçerik Yer Tutucusu 2">
            <a:extLst>
              <a:ext uri="{FF2B5EF4-FFF2-40B4-BE49-F238E27FC236}">
                <a16:creationId xmlns:a16="http://schemas.microsoft.com/office/drawing/2014/main" id="{81B5C906-8195-91D4-A5A6-BF2882DC5429}"/>
              </a:ext>
            </a:extLst>
          </p:cNvPr>
          <p:cNvSpPr>
            <a:spLocks noGrp="1"/>
          </p:cNvSpPr>
          <p:nvPr>
            <p:ph idx="1"/>
          </p:nvPr>
        </p:nvSpPr>
        <p:spPr>
          <a:xfrm>
            <a:off x="5906802" y="2212848"/>
            <a:ext cx="5577902" cy="4096512"/>
          </a:xfrm>
        </p:spPr>
        <p:txBody>
          <a:bodyPr>
            <a:normAutofit/>
          </a:bodyPr>
          <a:lstStyle/>
          <a:p>
            <a:pPr algn="just">
              <a:lnSpc>
                <a:spcPct val="110000"/>
              </a:lnSpc>
            </a:pPr>
            <a:r>
              <a:rPr lang="tr-TR" sz="1400" dirty="0"/>
              <a:t>İşletme çevresi, her ne kadar işletme sınırları dışında kalan her şey olarak tanımlansa da, işletme ve çevre arasındaki ilişkiyi tam olarak anlayabilmek daha kapsamlı bir analiz sürecini gerektirmektedir. Bu süreçte işletmecilerin en önemli yol göstericisi Genel Sistem Yaklaşımı’dır. </a:t>
            </a:r>
          </a:p>
          <a:p>
            <a:pPr algn="just">
              <a:lnSpc>
                <a:spcPct val="110000"/>
              </a:lnSpc>
            </a:pPr>
            <a:r>
              <a:rPr lang="tr-TR" sz="1400" dirty="0"/>
              <a:t>Genel Sistem Yaklaşımı olgu, olay veya sistemlerin incelenmesinde karşılıklı ve çevresel ilişkileri de göz önünde bulundurmaktadır. Çevresiyle insan, bilgi, hammadde ve enerji alışverişi olan sistemler açık sistem olarak nitelendirilmektedir. </a:t>
            </a:r>
          </a:p>
          <a:p>
            <a:pPr algn="just">
              <a:lnSpc>
                <a:spcPct val="110000"/>
              </a:lnSpc>
            </a:pPr>
            <a:r>
              <a:rPr lang="tr-TR" sz="1400" dirty="0"/>
              <a:t>Sistem; çevreyle ve birbirleriyle ilişkili çeşitli bileşenlerden veya bir başka deyişle, alt sistemlerden oluşan bir bütündür. Genel Sistem Yaklaşımı, Avusturyalı bir biyolog olan Karl Ludwig </a:t>
            </a:r>
            <a:r>
              <a:rPr lang="tr-TR" sz="1400" dirty="0" err="1"/>
              <a:t>von</a:t>
            </a:r>
            <a:r>
              <a:rPr lang="tr-TR" sz="1400" dirty="0"/>
              <a:t> </a:t>
            </a:r>
            <a:r>
              <a:rPr lang="tr-TR" sz="1400" dirty="0" err="1"/>
              <a:t>Bertallanfy</a:t>
            </a:r>
            <a:r>
              <a:rPr lang="tr-TR" sz="1400" dirty="0"/>
              <a:t> (1901-1972) tarafından, 1920’li yıllardan itibaren geliştirilmiş </a:t>
            </a:r>
            <a:r>
              <a:rPr lang="tr-TR" sz="1400" dirty="0" err="1"/>
              <a:t>disiplinlerarası</a:t>
            </a:r>
            <a:r>
              <a:rPr lang="tr-TR" sz="1400" dirty="0"/>
              <a:t> bir düşünce tarzıdır. </a:t>
            </a:r>
          </a:p>
        </p:txBody>
      </p:sp>
      <p:pic>
        <p:nvPicPr>
          <p:cNvPr id="3074" name="Picture 2" descr="Systems Theories">
            <a:extLst>
              <a:ext uri="{FF2B5EF4-FFF2-40B4-BE49-F238E27FC236}">
                <a16:creationId xmlns:a16="http://schemas.microsoft.com/office/drawing/2014/main" id="{59F7D0A0-571D-DA19-0FD0-BF5D903AE8B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2648" y="1687628"/>
            <a:ext cx="4681506" cy="3511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647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CFC41F-A0BD-17B1-2CEA-142678E4C01E}"/>
            </a:ext>
          </a:extLst>
        </p:cNvPr>
        <p:cNvGrpSpPr/>
        <p:nvPr/>
      </p:nvGrpSpPr>
      <p:grpSpPr>
        <a:xfrm>
          <a:off x="0" y="0"/>
          <a:ext cx="0" cy="0"/>
          <a:chOff x="0" y="0"/>
          <a:chExt cx="0" cy="0"/>
        </a:xfrm>
      </p:grpSpPr>
      <p:sp>
        <p:nvSpPr>
          <p:cNvPr id="4108" name="Rectangle 4107">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0EA8C3F-D3AB-7B4E-1222-A9B5588355EB}"/>
              </a:ext>
            </a:extLst>
          </p:cNvPr>
          <p:cNvSpPr>
            <a:spLocks noGrp="1"/>
          </p:cNvSpPr>
          <p:nvPr>
            <p:ph type="title"/>
          </p:nvPr>
        </p:nvSpPr>
        <p:spPr>
          <a:xfrm>
            <a:off x="612648" y="603504"/>
            <a:ext cx="5862396" cy="1527048"/>
          </a:xfrm>
        </p:spPr>
        <p:txBody>
          <a:bodyPr anchor="b">
            <a:normAutofit/>
          </a:bodyPr>
          <a:lstStyle/>
          <a:p>
            <a:r>
              <a:rPr lang="tr-TR"/>
              <a:t>BİR SİSTEM OLARAK İŞLETME ÇEVRESİ</a:t>
            </a:r>
          </a:p>
        </p:txBody>
      </p:sp>
      <p:sp>
        <p:nvSpPr>
          <p:cNvPr id="3" name="İçerik Yer Tutucusu 2">
            <a:extLst>
              <a:ext uri="{FF2B5EF4-FFF2-40B4-BE49-F238E27FC236}">
                <a16:creationId xmlns:a16="http://schemas.microsoft.com/office/drawing/2014/main" id="{05911875-A3BC-A277-6D93-95ABA170C6B7}"/>
              </a:ext>
            </a:extLst>
          </p:cNvPr>
          <p:cNvSpPr>
            <a:spLocks noGrp="1"/>
          </p:cNvSpPr>
          <p:nvPr>
            <p:ph idx="1"/>
          </p:nvPr>
        </p:nvSpPr>
        <p:spPr>
          <a:xfrm>
            <a:off x="612648" y="2212848"/>
            <a:ext cx="5862396" cy="4096512"/>
          </a:xfrm>
        </p:spPr>
        <p:txBody>
          <a:bodyPr>
            <a:normAutofit/>
          </a:bodyPr>
          <a:lstStyle/>
          <a:p>
            <a:pPr algn="just">
              <a:lnSpc>
                <a:spcPct val="110000"/>
              </a:lnSpc>
            </a:pPr>
            <a:r>
              <a:rPr lang="tr-TR" sz="1500" dirty="0"/>
              <a:t>İşletmeleri bir sistem olarak betimlemeden önce, sistem kavramını tanımlamak oldukça yerinde bir başlangıç noktası olacaktır. Sistem; çevreyle ve birbirleriyle ilişkili çeşitli parçalardan veya bir başka deyişle alt sistemlerden oluşan bir bütün olarak tanımlanabilir (Aydın, 2011). Alt sistem, sistemin kendi içerisinde bütünlük arz eden alt bileşenleridir.</a:t>
            </a:r>
          </a:p>
          <a:p>
            <a:pPr algn="just">
              <a:lnSpc>
                <a:spcPct val="110000"/>
              </a:lnSpc>
            </a:pPr>
            <a:r>
              <a:rPr lang="tr-TR" sz="1500" dirty="0"/>
              <a:t> Çevreyle etkileşimi sırasında sistem, çevreden çeşitli girdiler almakta, bu girdileri belli bir süreç çerçevesinde işlemekte ve bu sürecin sonucu olarak meydana gelen çıktıları yine çevreye sunmaktadır. Bu döngüsel süreç kapsamında, sistem çevreden aldığı geribildirimler ışığında kendisini değiştirmekte veya yeniden düzenlemekte ve bu şekilde uyum yeteneğini arttırmaya çalışmaktadır. İşletmeler de çevreyle olan etkileşimlerini sistem yaklaşımına oldukça benzer bir girdi-çıktı süreci çerçevesinde gerçekleştirmektedirler. </a:t>
            </a:r>
          </a:p>
        </p:txBody>
      </p:sp>
      <p:pic>
        <p:nvPicPr>
          <p:cNvPr id="4098" name="Picture 2" descr="The system and its relationship with subsystems | Download Scientific  Diagram">
            <a:extLst>
              <a:ext uri="{FF2B5EF4-FFF2-40B4-BE49-F238E27FC236}">
                <a16:creationId xmlns:a16="http://schemas.microsoft.com/office/drawing/2014/main" id="{AF7DD843-C5BD-CD0F-E17F-1561E4BA19D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91395" y="1593460"/>
            <a:ext cx="4681506" cy="3699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326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96DAF-4CA8-0EBC-45CE-9024323C773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FD125FC-D39E-39F2-5B91-343419C23B16}"/>
              </a:ext>
            </a:extLst>
          </p:cNvPr>
          <p:cNvSpPr>
            <a:spLocks noGrp="1"/>
          </p:cNvSpPr>
          <p:nvPr>
            <p:ph type="title"/>
          </p:nvPr>
        </p:nvSpPr>
        <p:spPr/>
        <p:txBody>
          <a:bodyPr/>
          <a:lstStyle/>
          <a:p>
            <a:r>
              <a:rPr lang="tr-TR"/>
              <a:t>BİR SİSTEM OLARAK İŞLETME ÇEVRESİ</a:t>
            </a:r>
          </a:p>
        </p:txBody>
      </p:sp>
      <p:pic>
        <p:nvPicPr>
          <p:cNvPr id="5" name="İçerik Yer Tutucusu 4" descr="metin, diyagram, ekran görüntüsü, sayı, numara içeren bir resim&#10;&#10;Yapay zeka tarafından oluşturulan içerik yanlış olabilir.">
            <a:extLst>
              <a:ext uri="{FF2B5EF4-FFF2-40B4-BE49-F238E27FC236}">
                <a16:creationId xmlns:a16="http://schemas.microsoft.com/office/drawing/2014/main" id="{0649195E-4A08-DBB7-98D6-AF7196363C6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17418" y="1114478"/>
            <a:ext cx="10169237" cy="5839032"/>
          </a:xfrm>
        </p:spPr>
      </p:pic>
    </p:spTree>
    <p:extLst>
      <p:ext uri="{BB962C8B-B14F-4D97-AF65-F5344CB8AC3E}">
        <p14:creationId xmlns:p14="http://schemas.microsoft.com/office/powerpoint/2010/main" val="230196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D16D82-E7F5-EC9F-1C77-2EB18589A2B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6" name="Picture 5">
            <a:extLst>
              <a:ext uri="{FF2B5EF4-FFF2-40B4-BE49-F238E27FC236}">
                <a16:creationId xmlns:a16="http://schemas.microsoft.com/office/drawing/2014/main" id="{549737A2-AC1F-84F1-9930-B6F840E1B05C}"/>
              </a:ext>
            </a:extLst>
          </p:cNvPr>
          <p:cNvPicPr>
            <a:picLocks noChangeAspect="1"/>
          </p:cNvPicPr>
          <p:nvPr/>
        </p:nvPicPr>
        <p:blipFill>
          <a:blip r:embed="rId3"/>
          <a:srcRect l="10790" r="16728" b="2"/>
          <a:stretch/>
        </p:blipFill>
        <p:spPr>
          <a:xfrm>
            <a:off x="731521" y="2011679"/>
            <a:ext cx="4684352" cy="4297680"/>
          </a:xfrm>
          <a:prstGeom prst="rect">
            <a:avLst/>
          </a:prstGeom>
        </p:spPr>
      </p:pic>
      <p:sp>
        <p:nvSpPr>
          <p:cNvPr id="2" name="Başlık 1">
            <a:extLst>
              <a:ext uri="{FF2B5EF4-FFF2-40B4-BE49-F238E27FC236}">
                <a16:creationId xmlns:a16="http://schemas.microsoft.com/office/drawing/2014/main" id="{53A7A043-02A1-BEF4-9D93-871B4EC7CFE1}"/>
              </a:ext>
            </a:extLst>
          </p:cNvPr>
          <p:cNvSpPr>
            <a:spLocks noGrp="1"/>
          </p:cNvSpPr>
          <p:nvPr>
            <p:ph type="title"/>
          </p:nvPr>
        </p:nvSpPr>
        <p:spPr>
          <a:xfrm>
            <a:off x="614679" y="548641"/>
            <a:ext cx="4779572" cy="1298448"/>
          </a:xfrm>
        </p:spPr>
        <p:txBody>
          <a:bodyPr anchor="t">
            <a:normAutofit/>
          </a:bodyPr>
          <a:lstStyle/>
          <a:p>
            <a:r>
              <a:rPr lang="tr-TR" sz="3300"/>
              <a:t>BİR SİSTEM OLARAK İŞLETME ÇEVRESİ</a:t>
            </a:r>
          </a:p>
        </p:txBody>
      </p:sp>
      <p:sp>
        <p:nvSpPr>
          <p:cNvPr id="4" name="İçerik Yer Tutucusu 3">
            <a:extLst>
              <a:ext uri="{FF2B5EF4-FFF2-40B4-BE49-F238E27FC236}">
                <a16:creationId xmlns:a16="http://schemas.microsoft.com/office/drawing/2014/main" id="{5675749C-ECA2-3EAD-5F17-726714B8647A}"/>
              </a:ext>
            </a:extLst>
          </p:cNvPr>
          <p:cNvSpPr>
            <a:spLocks noGrp="1"/>
          </p:cNvSpPr>
          <p:nvPr>
            <p:ph idx="1"/>
          </p:nvPr>
        </p:nvSpPr>
        <p:spPr>
          <a:xfrm>
            <a:off x="5569527" y="548638"/>
            <a:ext cx="6007794" cy="6004562"/>
          </a:xfrm>
        </p:spPr>
        <p:txBody>
          <a:bodyPr anchor="t">
            <a:normAutofit fontScale="92500"/>
          </a:bodyPr>
          <a:lstStyle/>
          <a:p>
            <a:pPr algn="just">
              <a:lnSpc>
                <a:spcPct val="110000"/>
              </a:lnSpc>
            </a:pPr>
            <a:r>
              <a:rPr lang="tr-TR" sz="1400" dirty="0"/>
              <a:t>Genel Sistem Yaklaşımı’yla ilgili olarak işletmeciler tarafından göz ardı edilmemesi gereken diğer kavramlar ise şöyledir; •	</a:t>
            </a:r>
          </a:p>
          <a:p>
            <a:pPr algn="just">
              <a:lnSpc>
                <a:spcPct val="110000"/>
              </a:lnSpc>
            </a:pPr>
            <a:r>
              <a:rPr lang="tr-TR" sz="1400" b="1" dirty="0"/>
              <a:t>Sinerji</a:t>
            </a:r>
            <a:r>
              <a:rPr lang="tr-TR" sz="1400" dirty="0"/>
              <a:t>: Bütünün kendisini oluşturan parçaların tek başlarına yaratabilecekleri değerlerin toplamından daha fazla bir değer yaratması durumudur. İşletme çevresinde yer alan çeşitli alt sistemler uyumlu ve etkileşimli bir şekilde çalıştıkları zaman, sistem daha büyük bir çıktı potansiyeline sahip olacaktır. İşletmelerin bünyesinde çeşitli alt sistemler, belli bir uyum içerisinde bir araya getirilmekte ve işletmenin devamlılığının sağlanabilmesi adına her bir alt sistemin bireysel toplamından daha büyük bir ortak değer yaratılmaktadır. </a:t>
            </a:r>
          </a:p>
          <a:p>
            <a:pPr algn="just">
              <a:lnSpc>
                <a:spcPct val="110000"/>
              </a:lnSpc>
            </a:pPr>
            <a:r>
              <a:rPr lang="tr-TR" sz="1400" b="1" dirty="0"/>
              <a:t>Entropi</a:t>
            </a:r>
            <a:r>
              <a:rPr lang="tr-TR" sz="1400" dirty="0"/>
              <a:t>: Doğadaki tüm sistemlerin yok olmaya mahkûm oldukları şeklinde açıklanabilecek bir kavramdır. Sistemler </a:t>
            </a:r>
            <a:r>
              <a:rPr lang="tr-TR" sz="1400" dirty="0" err="1"/>
              <a:t>entropi</a:t>
            </a:r>
            <a:r>
              <a:rPr lang="tr-TR" sz="1400" dirty="0"/>
              <a:t> olgusuna karşı, bünyelerinde gereğinden daha fazla enerji üretmeye çabalamaktadırlar. Sistemlerin bu eğilimi negatif </a:t>
            </a:r>
            <a:r>
              <a:rPr lang="tr-TR" sz="1400" dirty="0" err="1"/>
              <a:t>entropi</a:t>
            </a:r>
            <a:r>
              <a:rPr lang="tr-TR" sz="1400" dirty="0"/>
              <a:t> olarak adlandırılmaktadır. Bir sistem olarak işletmeler, işletmecilik süreçleri sonucunda “artı değer” yaratarak, </a:t>
            </a:r>
            <a:r>
              <a:rPr lang="tr-TR" sz="1400" dirty="0" err="1"/>
              <a:t>entropiyi</a:t>
            </a:r>
            <a:r>
              <a:rPr lang="tr-TR" sz="1400" dirty="0"/>
              <a:t> yenmeye gayret etmelidirler. Aksi takdirde işletmenin faaliyetlerini sürdürmesi zorlaşacak ve işletme, yok olma tehlikesiyle karşı karşıya kalacaktır</a:t>
            </a:r>
          </a:p>
          <a:p>
            <a:pPr algn="just">
              <a:lnSpc>
                <a:spcPct val="110000"/>
              </a:lnSpc>
            </a:pPr>
            <a:r>
              <a:rPr lang="tr-TR" sz="1400" dirty="0"/>
              <a:t> </a:t>
            </a:r>
            <a:r>
              <a:rPr lang="tr-TR" sz="1400" b="1" dirty="0"/>
              <a:t>Ekofinalite</a:t>
            </a:r>
            <a:r>
              <a:rPr lang="tr-TR" sz="1400" dirty="0"/>
              <a:t>: Sistem yaklaşımına göre, belli sonuçlara ulaşmak için izlenebilecek yollar oldukça çeşitlidir. Farklı noktalardan başlayarak veya farklı yolları kullanarak da aynı sonuçlar elde edilebilir. Bu bağlamda işletmeciler tek bir doğruya takılıp kalmamalıdırlar. Çeşitli yenilik arayışlarına imkân sağlayan, motive edici bir işletme ortamı yaratmalı ve işletme çevresini olası yenilikçi yolları bulabilmek adına dikkatli bir şekilde izlemelidirler. </a:t>
            </a:r>
          </a:p>
        </p:txBody>
      </p:sp>
    </p:spTree>
    <p:extLst>
      <p:ext uri="{BB962C8B-B14F-4D97-AF65-F5344CB8AC3E}">
        <p14:creationId xmlns:p14="http://schemas.microsoft.com/office/powerpoint/2010/main" val="432001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4184256-F5B8-9A55-30F9-33F3351D188E}"/>
              </a:ext>
            </a:extLst>
          </p:cNvPr>
          <p:cNvSpPr>
            <a:spLocks noGrp="1"/>
          </p:cNvSpPr>
          <p:nvPr>
            <p:ph type="title"/>
          </p:nvPr>
        </p:nvSpPr>
        <p:spPr>
          <a:xfrm>
            <a:off x="612649" y="548638"/>
            <a:ext cx="3493008" cy="5788152"/>
          </a:xfrm>
        </p:spPr>
        <p:txBody>
          <a:bodyPr anchor="ctr">
            <a:normAutofit/>
          </a:bodyPr>
          <a:lstStyle/>
          <a:p>
            <a:r>
              <a:rPr lang="tr-TR" sz="4000"/>
              <a:t>İŞLETME ÇEVRESİNİN TEMEL SEVİYELERİ</a:t>
            </a:r>
          </a:p>
        </p:txBody>
      </p:sp>
      <p:graphicFrame>
        <p:nvGraphicFramePr>
          <p:cNvPr id="5" name="İçerik Yer Tutucusu 2">
            <a:extLst>
              <a:ext uri="{FF2B5EF4-FFF2-40B4-BE49-F238E27FC236}">
                <a16:creationId xmlns:a16="http://schemas.microsoft.com/office/drawing/2014/main" id="{FE4CDB29-9713-2954-00A4-761D62186003}"/>
              </a:ext>
            </a:extLst>
          </p:cNvPr>
          <p:cNvGraphicFramePr>
            <a:graphicFrameLocks noGrp="1"/>
          </p:cNvGraphicFramePr>
          <p:nvPr>
            <p:ph idx="1"/>
            <p:extLst>
              <p:ext uri="{D42A27DB-BD31-4B8C-83A1-F6EECF244321}">
                <p14:modId xmlns:p14="http://schemas.microsoft.com/office/powerpoint/2010/main" val="3596812716"/>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01792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DA8CC-8B4A-805B-8ADD-BC9123AB2E2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71988B5-EE08-5095-8840-417A7C04D69D}"/>
              </a:ext>
            </a:extLst>
          </p:cNvPr>
          <p:cNvSpPr>
            <a:spLocks noGrp="1"/>
          </p:cNvSpPr>
          <p:nvPr>
            <p:ph type="title"/>
          </p:nvPr>
        </p:nvSpPr>
        <p:spPr>
          <a:xfrm>
            <a:off x="612648" y="292854"/>
            <a:ext cx="10653578" cy="1132258"/>
          </a:xfrm>
        </p:spPr>
        <p:txBody>
          <a:bodyPr/>
          <a:lstStyle/>
          <a:p>
            <a:r>
              <a:rPr lang="tr-TR" dirty="0"/>
              <a:t>İŞLETME ÇEVRESİNİN TEMEL SEVİYELERİ</a:t>
            </a:r>
          </a:p>
        </p:txBody>
      </p:sp>
      <p:pic>
        <p:nvPicPr>
          <p:cNvPr id="5" name="İçerik Yer Tutucusu 4" descr="daire, ekran görüntüsü, metin, diyagram içeren bir resim&#10;&#10;Yapay zeka tarafından oluşturulan içerik yanlış olabilir.">
            <a:extLst>
              <a:ext uri="{FF2B5EF4-FFF2-40B4-BE49-F238E27FC236}">
                <a16:creationId xmlns:a16="http://schemas.microsoft.com/office/drawing/2014/main" id="{2AB4CA08-3896-1B17-7058-7781EA9A874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2648" y="858983"/>
            <a:ext cx="11430175" cy="6081614"/>
          </a:xfrm>
        </p:spPr>
      </p:pic>
    </p:spTree>
    <p:extLst>
      <p:ext uri="{BB962C8B-B14F-4D97-AF65-F5344CB8AC3E}">
        <p14:creationId xmlns:p14="http://schemas.microsoft.com/office/powerpoint/2010/main" val="790544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D0250C-D3DC-D32B-B34C-6EA2E9FD03E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748C7FA-AF84-0351-7E65-EAAC6AA20893}"/>
              </a:ext>
            </a:extLst>
          </p:cNvPr>
          <p:cNvPicPr>
            <a:picLocks noChangeAspect="1"/>
          </p:cNvPicPr>
          <p:nvPr/>
        </p:nvPicPr>
        <p:blipFill>
          <a:blip r:embed="rId3"/>
          <a:srcRect l="18310" r="12615" b="2"/>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0F7CDCC5-F21A-E8CF-60F7-AB8A5CB0A545}"/>
              </a:ext>
            </a:extLst>
          </p:cNvPr>
          <p:cNvSpPr>
            <a:spLocks noGrp="1"/>
          </p:cNvSpPr>
          <p:nvPr>
            <p:ph type="title"/>
          </p:nvPr>
        </p:nvSpPr>
        <p:spPr>
          <a:xfrm>
            <a:off x="612648" y="600075"/>
            <a:ext cx="6035040" cy="1529932"/>
          </a:xfrm>
        </p:spPr>
        <p:txBody>
          <a:bodyPr anchor="b">
            <a:normAutofit/>
          </a:bodyPr>
          <a:lstStyle/>
          <a:p>
            <a:r>
              <a:rPr lang="tr-TR"/>
              <a:t>İŞLETME ÇEVRESİNİN TEMEL SEVİYELERİ</a:t>
            </a:r>
          </a:p>
        </p:txBody>
      </p:sp>
      <p:sp>
        <p:nvSpPr>
          <p:cNvPr id="4" name="İçerik Yer Tutucusu 3">
            <a:extLst>
              <a:ext uri="{FF2B5EF4-FFF2-40B4-BE49-F238E27FC236}">
                <a16:creationId xmlns:a16="http://schemas.microsoft.com/office/drawing/2014/main" id="{FD4472C9-5DF8-909F-F98A-752C9BC792B7}"/>
              </a:ext>
            </a:extLst>
          </p:cNvPr>
          <p:cNvSpPr>
            <a:spLocks noGrp="1"/>
          </p:cNvSpPr>
          <p:nvPr>
            <p:ph idx="1"/>
          </p:nvPr>
        </p:nvSpPr>
        <p:spPr>
          <a:xfrm>
            <a:off x="612648" y="2212848"/>
            <a:ext cx="6035040" cy="4096512"/>
          </a:xfrm>
        </p:spPr>
        <p:txBody>
          <a:bodyPr>
            <a:normAutofit/>
          </a:bodyPr>
          <a:lstStyle/>
          <a:p>
            <a:pPr algn="just">
              <a:lnSpc>
                <a:spcPct val="110000"/>
              </a:lnSpc>
            </a:pPr>
            <a:r>
              <a:rPr lang="tr-TR" sz="1500" dirty="0"/>
              <a:t>İşletmenin Genel Çevresi İşletme çevresinin en dış katmanı işletmenin genel çevresi veya kısaca genel çevre olarak nitelendirilmektedir. İşletmenin genel çevresi işletme faaliyetleri üzerinde dolaylı bir etkiye sahiptir. Genel çevrenin işletme üzerindeki etkisi öncelikle işlemenin sektörel çevresinde kendisini göstermekte, daha sonra söz konusu etkinin şiddetine göre işletmeyi de etkisi altına alabilmektedir. Genel çevrenin işletme faaliyetleri üzerindeki etkisi daha uzun bir zaman diliminde kendisini göstermektedir, bu nedenle genel çevrenin işletmelerin günlük faaliyetleri üzerindeki etkisini saptamak oldukça güçtür. İşletmenin genel çevresi temel olarak beş bileşenden oluşmaktadır. </a:t>
            </a:r>
          </a:p>
          <a:p>
            <a:pPr algn="just">
              <a:lnSpc>
                <a:spcPct val="110000"/>
              </a:lnSpc>
            </a:pPr>
            <a:r>
              <a:rPr lang="tr-TR" sz="1500" dirty="0"/>
              <a:t>Bu </a:t>
            </a:r>
            <a:r>
              <a:rPr lang="tr-TR" sz="1500" b="1" dirty="0"/>
              <a:t>bileşenler siyasal-yasal çevre, ekonomik çevre, sosyokültürel çevre, teknolojik çevre ve doğal çevre </a:t>
            </a:r>
            <a:r>
              <a:rPr lang="tr-TR" sz="1500" dirty="0"/>
              <a:t>olarak isimlendirilmektedir.</a:t>
            </a:r>
          </a:p>
        </p:txBody>
      </p:sp>
    </p:spTree>
    <p:extLst>
      <p:ext uri="{BB962C8B-B14F-4D97-AF65-F5344CB8AC3E}">
        <p14:creationId xmlns:p14="http://schemas.microsoft.com/office/powerpoint/2010/main" val="210638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122" name="Picture 2" descr="Kapsamı, açmazları, tipolojisi ile Siyasal ahlak | Bilim ve Gelecek">
            <a:extLst>
              <a:ext uri="{FF2B5EF4-FFF2-40B4-BE49-F238E27FC236}">
                <a16:creationId xmlns:a16="http://schemas.microsoft.com/office/drawing/2014/main" id="{8BE094CF-4624-7D83-6EBB-E2A314E733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564" r="34192" b="-2"/>
          <a:stretch/>
        </p:blipFill>
        <p:spPr bwMode="auto">
          <a:xfrm>
            <a:off x="731521" y="2011679"/>
            <a:ext cx="4684352" cy="4297680"/>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78072DE1-6EC5-C0D8-7E45-D2FDF82CCEA6}"/>
              </a:ext>
            </a:extLst>
          </p:cNvPr>
          <p:cNvSpPr>
            <a:spLocks noGrp="1"/>
          </p:cNvSpPr>
          <p:nvPr>
            <p:ph type="title"/>
          </p:nvPr>
        </p:nvSpPr>
        <p:spPr>
          <a:xfrm>
            <a:off x="614679" y="548641"/>
            <a:ext cx="4779572" cy="1298448"/>
          </a:xfrm>
        </p:spPr>
        <p:txBody>
          <a:bodyPr anchor="t">
            <a:normAutofit/>
          </a:bodyPr>
          <a:lstStyle/>
          <a:p>
            <a:r>
              <a:rPr lang="tr-TR"/>
              <a:t>Siyasal-Yasal Çevre</a:t>
            </a:r>
          </a:p>
        </p:txBody>
      </p:sp>
      <p:sp>
        <p:nvSpPr>
          <p:cNvPr id="3" name="İçerik Yer Tutucusu 2">
            <a:extLst>
              <a:ext uri="{FF2B5EF4-FFF2-40B4-BE49-F238E27FC236}">
                <a16:creationId xmlns:a16="http://schemas.microsoft.com/office/drawing/2014/main" id="{403C685D-6F64-56D4-7D87-73EA45454961}"/>
              </a:ext>
            </a:extLst>
          </p:cNvPr>
          <p:cNvSpPr>
            <a:spLocks noGrp="1"/>
          </p:cNvSpPr>
          <p:nvPr>
            <p:ph idx="1"/>
          </p:nvPr>
        </p:nvSpPr>
        <p:spPr>
          <a:xfrm>
            <a:off x="6030551" y="548638"/>
            <a:ext cx="5546770" cy="5760721"/>
          </a:xfrm>
        </p:spPr>
        <p:txBody>
          <a:bodyPr anchor="t">
            <a:normAutofit/>
          </a:bodyPr>
          <a:lstStyle/>
          <a:p>
            <a:pPr algn="just">
              <a:lnSpc>
                <a:spcPct val="110000"/>
              </a:lnSpc>
            </a:pPr>
            <a:r>
              <a:rPr lang="tr-TR" sz="1800" dirty="0"/>
              <a:t>Siyasal-yasal çevre faktörlerinin işletmenin faaliyetleri üzerindeki etkisi oldukça güçlüdür. Siyasal-yasal çevre işletmelerin neleri yapıp neleri yapamayacağını kesin çizgilerle belirleyen genel bir çerçeve niteliğindedir. Siyasal-yasal çevre tüm işletmecilik faaliyetlerini etkileyebilme gücündedir. Siyasal-yasal çevrede yaşanan gelişmeler bazı işletmelerin geleceğine yönelik tehditler yaratmakta iken bazı işletmelerin geleceğine yönelik çeşitli fırsatlar sunabilmektedir. Kısaca ifade etmek gerekirse, Siyasal-yasal çevre genel olarak siyasal sistem, yasal ve siyasal kurumlar, yasalar ve diğer çeşitli düzenlemeleri de içine alan bir yapı olarak tanımlanabilir. Siyasal-yasal çevre işletme faaliyetlerini düzenleyen yasaların kaynağıdır. Bu nedenle her işletme tarafından yakından takip edilmelidir.</a:t>
            </a:r>
          </a:p>
        </p:txBody>
      </p:sp>
    </p:spTree>
    <p:extLst>
      <p:ext uri="{BB962C8B-B14F-4D97-AF65-F5344CB8AC3E}">
        <p14:creationId xmlns:p14="http://schemas.microsoft.com/office/powerpoint/2010/main" val="2446619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Ulus-devlet Nedir? - Perspektif">
            <a:extLst>
              <a:ext uri="{FF2B5EF4-FFF2-40B4-BE49-F238E27FC236}">
                <a16:creationId xmlns:a16="http://schemas.microsoft.com/office/drawing/2014/main" id="{4728C353-BA55-DEB2-4F6C-BCCE08341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933" r="-3" b="-3"/>
          <a:stretch/>
        </p:blipFill>
        <p:spPr bwMode="auto">
          <a:xfrm>
            <a:off x="713615" y="681318"/>
            <a:ext cx="4680637" cy="3083858"/>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A25097D9-0DBE-9268-525D-97029AFDF0DC}"/>
              </a:ext>
            </a:extLst>
          </p:cNvPr>
          <p:cNvSpPr>
            <a:spLocks noGrp="1"/>
          </p:cNvSpPr>
          <p:nvPr>
            <p:ph type="title"/>
          </p:nvPr>
        </p:nvSpPr>
        <p:spPr>
          <a:xfrm>
            <a:off x="612646" y="4012142"/>
            <a:ext cx="4781605" cy="2332799"/>
          </a:xfrm>
        </p:spPr>
        <p:txBody>
          <a:bodyPr anchor="t">
            <a:normAutofit/>
          </a:bodyPr>
          <a:lstStyle/>
          <a:p>
            <a:r>
              <a:rPr lang="tr-TR"/>
              <a:t>Siyasal-Yasal Çevre</a:t>
            </a:r>
          </a:p>
        </p:txBody>
      </p:sp>
      <p:sp>
        <p:nvSpPr>
          <p:cNvPr id="3" name="İçerik Yer Tutucusu 2">
            <a:extLst>
              <a:ext uri="{FF2B5EF4-FFF2-40B4-BE49-F238E27FC236}">
                <a16:creationId xmlns:a16="http://schemas.microsoft.com/office/drawing/2014/main" id="{52EA9986-D076-54F6-985B-9F4D2134A5F8}"/>
              </a:ext>
            </a:extLst>
          </p:cNvPr>
          <p:cNvSpPr>
            <a:spLocks noGrp="1"/>
          </p:cNvSpPr>
          <p:nvPr>
            <p:ph idx="1"/>
          </p:nvPr>
        </p:nvSpPr>
        <p:spPr>
          <a:xfrm>
            <a:off x="6030551" y="548639"/>
            <a:ext cx="5548803" cy="5796302"/>
          </a:xfrm>
        </p:spPr>
        <p:txBody>
          <a:bodyPr>
            <a:normAutofit/>
          </a:bodyPr>
          <a:lstStyle/>
          <a:p>
            <a:pPr algn="just"/>
            <a:r>
              <a:rPr lang="tr-TR" sz="1800" dirty="0"/>
              <a:t>Siyasal-yasal çevrenin en güçlü aktörü devlettir. Devlet, yasal düzenlemeler yapabilme gücünün yanında, bilgiye erişimin sağlanması ve paylaşılması gibi işlevler de üstlenmiştir. Bu işlevler rekabetin sağlıklı bir şekilde sürdürülmesi açısından oldukça önemlidir. Devlet yaptığı vergi düzenlemeleriyle işletmecilik faaliyetlerini doğrudan etkileyebilmektedir. Devletin işletmeler üzerindeki bir diğer önemli etkisi de sahip olduğu satın alma gücüdür. Devlet, işletmelerin çeşitli ürünleri için doğrudan veya dolaylı alım yapan önemli bir müşteri niteliğindedir </a:t>
            </a:r>
          </a:p>
        </p:txBody>
      </p:sp>
    </p:spTree>
    <p:extLst>
      <p:ext uri="{BB962C8B-B14F-4D97-AF65-F5344CB8AC3E}">
        <p14:creationId xmlns:p14="http://schemas.microsoft.com/office/powerpoint/2010/main" val="164794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Çamlı Yem Besicilik Sanayii ve Ticaret A.Ş.">
            <a:extLst>
              <a:ext uri="{FF2B5EF4-FFF2-40B4-BE49-F238E27FC236}">
                <a16:creationId xmlns:a16="http://schemas.microsoft.com/office/drawing/2014/main" id="{E8866E03-A6D4-574A-BBE3-C3311CA22B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396" r="5607" b="-2"/>
          <a:stretch/>
        </p:blipFill>
        <p:spPr bwMode="auto">
          <a:xfrm>
            <a:off x="713615" y="681318"/>
            <a:ext cx="4680637" cy="3083858"/>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E90AF1A5-16AC-18E1-ED09-D5311FA31D20}"/>
              </a:ext>
            </a:extLst>
          </p:cNvPr>
          <p:cNvSpPr>
            <a:spLocks noGrp="1"/>
          </p:cNvSpPr>
          <p:nvPr>
            <p:ph type="title"/>
          </p:nvPr>
        </p:nvSpPr>
        <p:spPr>
          <a:xfrm>
            <a:off x="612646" y="4012142"/>
            <a:ext cx="4781605" cy="2332799"/>
          </a:xfrm>
        </p:spPr>
        <p:txBody>
          <a:bodyPr anchor="t">
            <a:normAutofit/>
          </a:bodyPr>
          <a:lstStyle/>
          <a:p>
            <a:r>
              <a:rPr lang="tr-TR"/>
              <a:t>Ekonomik Çevre</a:t>
            </a:r>
          </a:p>
        </p:txBody>
      </p:sp>
      <p:sp>
        <p:nvSpPr>
          <p:cNvPr id="3" name="İçerik Yer Tutucusu 2">
            <a:extLst>
              <a:ext uri="{FF2B5EF4-FFF2-40B4-BE49-F238E27FC236}">
                <a16:creationId xmlns:a16="http://schemas.microsoft.com/office/drawing/2014/main" id="{62045F2D-FECE-9FBE-2330-547809508350}"/>
              </a:ext>
            </a:extLst>
          </p:cNvPr>
          <p:cNvSpPr>
            <a:spLocks noGrp="1"/>
          </p:cNvSpPr>
          <p:nvPr>
            <p:ph idx="1"/>
          </p:nvPr>
        </p:nvSpPr>
        <p:spPr>
          <a:xfrm>
            <a:off x="6030551" y="548639"/>
            <a:ext cx="5548803" cy="5796302"/>
          </a:xfrm>
        </p:spPr>
        <p:txBody>
          <a:bodyPr>
            <a:normAutofit/>
          </a:bodyPr>
          <a:lstStyle/>
          <a:p>
            <a:pPr algn="just"/>
            <a:r>
              <a:rPr lang="tr-TR" sz="1800" dirty="0"/>
              <a:t>İşletmelerin ekonomik çevresi; faaliyette bulundukları ülkedeki ekonomik durumla yakından ilgilidir. İşletmelerin var olan kıt kaynakları kullanarak, sonsuz insan ihtiyaçlarını karşılayabilmek için üretim yaptıkları ortam, işletmenin ekonomik çevresidir. Ekonomik çevre işletme faaliyetlerini oldukça derinden etkileyebilir. Ekonomik çevrenin işletmeler üzerindeki etkileri, üç temel noktada özetlenebilir. Bu noktalar: Ekonominin güncel durumu, ekonominin konjonktürel yapısı ve ekonomide yaşanan yapısal değişimlerdir.</a:t>
            </a:r>
          </a:p>
          <a:p>
            <a:pPr algn="just"/>
            <a:r>
              <a:rPr lang="tr-TR" sz="1800" dirty="0"/>
              <a:t>Ekonomik çevre, işletmelerin var olan kıt kaynakları kullanarak, sonsuz insan ihtiyaçlarını karşılayabilmek için üretim yaptıkları ortamdır.</a:t>
            </a:r>
          </a:p>
        </p:txBody>
      </p:sp>
    </p:spTree>
    <p:extLst>
      <p:ext uri="{BB962C8B-B14F-4D97-AF65-F5344CB8AC3E}">
        <p14:creationId xmlns:p14="http://schemas.microsoft.com/office/powerpoint/2010/main" val="4171708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637B4D-07CE-1206-4A4B-B92E92345CE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FB6A4C4-7D9B-0BFF-EF33-E7EC943EEAF4}"/>
              </a:ext>
            </a:extLst>
          </p:cNvPr>
          <p:cNvPicPr>
            <a:picLocks noChangeAspect="1"/>
          </p:cNvPicPr>
          <p:nvPr/>
        </p:nvPicPr>
        <p:blipFill>
          <a:blip r:embed="rId3"/>
          <a:srcRect l="12658" r="47068"/>
          <a:stretch/>
        </p:blipFill>
        <p:spPr>
          <a:xfrm>
            <a:off x="20" y="10"/>
            <a:ext cx="4910308" cy="6857990"/>
          </a:xfrm>
          <a:prstGeom prst="rect">
            <a:avLst/>
          </a:prstGeom>
        </p:spPr>
      </p:pic>
      <p:sp>
        <p:nvSpPr>
          <p:cNvPr id="2" name="Başlık 1">
            <a:extLst>
              <a:ext uri="{FF2B5EF4-FFF2-40B4-BE49-F238E27FC236}">
                <a16:creationId xmlns:a16="http://schemas.microsoft.com/office/drawing/2014/main" id="{C787ADC3-85ED-FB7A-0826-46681489BBB3}"/>
              </a:ext>
            </a:extLst>
          </p:cNvPr>
          <p:cNvSpPr>
            <a:spLocks noGrp="1"/>
          </p:cNvSpPr>
          <p:nvPr>
            <p:ph type="title"/>
          </p:nvPr>
        </p:nvSpPr>
        <p:spPr>
          <a:xfrm>
            <a:off x="5568537" y="603504"/>
            <a:ext cx="5916168" cy="1527048"/>
          </a:xfrm>
        </p:spPr>
        <p:txBody>
          <a:bodyPr anchor="b">
            <a:normAutofit/>
          </a:bodyPr>
          <a:lstStyle/>
          <a:p>
            <a:r>
              <a:rPr lang="tr-TR"/>
              <a:t>Ekonomik Çevre</a:t>
            </a:r>
          </a:p>
        </p:txBody>
      </p:sp>
      <p:sp>
        <p:nvSpPr>
          <p:cNvPr id="3" name="İçerik Yer Tutucusu 2">
            <a:extLst>
              <a:ext uri="{FF2B5EF4-FFF2-40B4-BE49-F238E27FC236}">
                <a16:creationId xmlns:a16="http://schemas.microsoft.com/office/drawing/2014/main" id="{5CBED640-B7DD-DC36-11F0-FA64D58D6392}"/>
              </a:ext>
            </a:extLst>
          </p:cNvPr>
          <p:cNvSpPr>
            <a:spLocks noGrp="1"/>
          </p:cNvSpPr>
          <p:nvPr>
            <p:ph idx="1"/>
          </p:nvPr>
        </p:nvSpPr>
        <p:spPr>
          <a:xfrm>
            <a:off x="5568537" y="2214282"/>
            <a:ext cx="5916168" cy="4095078"/>
          </a:xfrm>
        </p:spPr>
        <p:txBody>
          <a:bodyPr>
            <a:normAutofit/>
          </a:bodyPr>
          <a:lstStyle/>
          <a:p>
            <a:pPr algn="just">
              <a:lnSpc>
                <a:spcPct val="110000"/>
              </a:lnSpc>
            </a:pPr>
            <a:r>
              <a:rPr lang="tr-TR" sz="1500" dirty="0"/>
              <a:t>Ekonominin güncel durumuna ek olarak, işletmeler ekonominin içinde bulunduğu konjonktürü de dikkate alarak faaliyetlerini sürdürmek durumundadırlar. Ekonomi büyüme, durgunluk, bunalım veya iyileşme gibi çeşitli konjonktürel evrelerde olabilir. Ekonominin içinde bulunduğu konjonktürel evreyi kestirebilmek, işletmelerin geleceğe ilişkin planlarına önemli katkılar sağlayacaktır. İşletmeler faaliyet gösterdikleri sektördeki konjonktürel değişimlerin yapısını iyi bilmeli ve aynı zamanda bu yapı ile ekonomik çevredeki genel konjonktürel değişimleri ilişkilendirmelidirler. İşletmeler ekonominin büyüdüğü veya ekonomide iyileşme eğiliminin hakim olduğu durumlarda daha iyi performans gösterirler. Ekonomik durgunluk veya bunalım dönemleri ise işletmelerin performansı açısından karşı konulamaz bir tehdit unsuru olarak değerlendirilmelidir </a:t>
            </a:r>
          </a:p>
        </p:txBody>
      </p:sp>
    </p:spTree>
    <p:extLst>
      <p:ext uri="{BB962C8B-B14F-4D97-AF65-F5344CB8AC3E}">
        <p14:creationId xmlns:p14="http://schemas.microsoft.com/office/powerpoint/2010/main" val="927857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01" name="Rectangle 819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98D49BE-9132-DC5E-F2C5-F5EA5C3C757C}"/>
              </a:ext>
            </a:extLst>
          </p:cNvPr>
          <p:cNvSpPr>
            <a:spLocks noGrp="1"/>
          </p:cNvSpPr>
          <p:nvPr>
            <p:ph type="title"/>
          </p:nvPr>
        </p:nvSpPr>
        <p:spPr>
          <a:xfrm>
            <a:off x="612648" y="603504"/>
            <a:ext cx="5862396" cy="1527048"/>
          </a:xfrm>
        </p:spPr>
        <p:txBody>
          <a:bodyPr anchor="b">
            <a:normAutofit/>
          </a:bodyPr>
          <a:lstStyle/>
          <a:p>
            <a:r>
              <a:rPr lang="tr-TR"/>
              <a:t>Sosyokültürel Çevre</a:t>
            </a:r>
          </a:p>
        </p:txBody>
      </p:sp>
      <p:sp>
        <p:nvSpPr>
          <p:cNvPr id="3" name="İçerik Yer Tutucusu 2">
            <a:extLst>
              <a:ext uri="{FF2B5EF4-FFF2-40B4-BE49-F238E27FC236}">
                <a16:creationId xmlns:a16="http://schemas.microsoft.com/office/drawing/2014/main" id="{44B13558-E035-D2D5-3135-C745C831F9AC}"/>
              </a:ext>
            </a:extLst>
          </p:cNvPr>
          <p:cNvSpPr>
            <a:spLocks noGrp="1"/>
          </p:cNvSpPr>
          <p:nvPr>
            <p:ph idx="1"/>
          </p:nvPr>
        </p:nvSpPr>
        <p:spPr>
          <a:xfrm>
            <a:off x="612648" y="2212848"/>
            <a:ext cx="5862396" cy="4096512"/>
          </a:xfrm>
        </p:spPr>
        <p:txBody>
          <a:bodyPr>
            <a:normAutofit/>
          </a:bodyPr>
          <a:lstStyle/>
          <a:p>
            <a:pPr algn="just">
              <a:lnSpc>
                <a:spcPct val="110000"/>
              </a:lnSpc>
            </a:pPr>
            <a:r>
              <a:rPr lang="tr-TR" sz="1500" dirty="0"/>
              <a:t>Sosyokültürel çevre adından da anlaşıldığı üzere iki temel boyutta incelenebilen bir kavramdır. Bu boyutlardan ilki sosyal, bir başka deyişle toplumsal boyut, diğeri ise kültürel boyuttur. Sosyal boyut toplumdaki sınıfsal çatışmaları ve yapıyı, demografik özellikleri, yaşam tarzlarını, toplumsal hareketliliği, toplumsal eylem potansiyelini ve eğitim, din, meslekler gibi daha geleneksel toplumsal kurumları içermektedir (</a:t>
            </a:r>
            <a:r>
              <a:rPr lang="tr-TR" sz="1500" dirty="0" err="1"/>
              <a:t>Hatch</a:t>
            </a:r>
            <a:r>
              <a:rPr lang="tr-TR" sz="1500" dirty="0"/>
              <a:t> ve </a:t>
            </a:r>
            <a:r>
              <a:rPr lang="tr-TR" sz="1500" dirty="0" err="1"/>
              <a:t>Cunliffe</a:t>
            </a:r>
            <a:r>
              <a:rPr lang="tr-TR" sz="1500" dirty="0"/>
              <a:t>, 2006).</a:t>
            </a:r>
          </a:p>
          <a:p>
            <a:pPr algn="just">
              <a:lnSpc>
                <a:spcPct val="110000"/>
              </a:lnSpc>
            </a:pPr>
            <a:r>
              <a:rPr lang="tr-TR" sz="1500" dirty="0"/>
              <a:t>Sosyokültürel çevre, işletme çevresindeki toplumsal yapıyı ve işletmenin faaliyet gösterdiği toplumun kültürel değerlerini içeren çevresel bir bileşendir. Bir ülkedeki nüfusun yapısı, güncel durumu ve değişim eğilimleri demografik özellikler olarak tanımlanabilir.</a:t>
            </a:r>
          </a:p>
        </p:txBody>
      </p:sp>
      <p:pic>
        <p:nvPicPr>
          <p:cNvPr id="8194" name="Picture 2" descr="Yükseköğretimde Sosyokültürel Uyum Araştırma Grubu | AVESİS">
            <a:extLst>
              <a:ext uri="{FF2B5EF4-FFF2-40B4-BE49-F238E27FC236}">
                <a16:creationId xmlns:a16="http://schemas.microsoft.com/office/drawing/2014/main" id="{A6AD9B0D-95AA-95F7-A3CB-722E8D02A5A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91395" y="1023810"/>
            <a:ext cx="4681506" cy="4838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707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E18EA5-0327-78D1-A56A-8F90838351B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l ile tutma topu">
            <a:extLst>
              <a:ext uri="{FF2B5EF4-FFF2-40B4-BE49-F238E27FC236}">
                <a16:creationId xmlns:a16="http://schemas.microsoft.com/office/drawing/2014/main" id="{E148BC2E-FA3F-F7FA-2B2E-AD4CDAF23D54}"/>
              </a:ext>
            </a:extLst>
          </p:cNvPr>
          <p:cNvPicPr>
            <a:picLocks noChangeAspect="1"/>
          </p:cNvPicPr>
          <p:nvPr/>
        </p:nvPicPr>
        <p:blipFill>
          <a:blip r:embed="rId3"/>
          <a:srcRect l="28380" r="24627"/>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B267E9FC-7691-BC26-7B37-1A18E0D613E2}"/>
              </a:ext>
            </a:extLst>
          </p:cNvPr>
          <p:cNvSpPr>
            <a:spLocks noGrp="1"/>
          </p:cNvSpPr>
          <p:nvPr>
            <p:ph type="title"/>
          </p:nvPr>
        </p:nvSpPr>
        <p:spPr>
          <a:xfrm>
            <a:off x="612648" y="600075"/>
            <a:ext cx="6035040" cy="1529932"/>
          </a:xfrm>
        </p:spPr>
        <p:txBody>
          <a:bodyPr anchor="b">
            <a:normAutofit/>
          </a:bodyPr>
          <a:lstStyle/>
          <a:p>
            <a:r>
              <a:rPr lang="tr-TR"/>
              <a:t>Sosyokültürel Çevre</a:t>
            </a:r>
          </a:p>
        </p:txBody>
      </p:sp>
      <p:sp>
        <p:nvSpPr>
          <p:cNvPr id="3" name="İçerik Yer Tutucusu 2">
            <a:extLst>
              <a:ext uri="{FF2B5EF4-FFF2-40B4-BE49-F238E27FC236}">
                <a16:creationId xmlns:a16="http://schemas.microsoft.com/office/drawing/2014/main" id="{21B46D53-AF32-68FD-C5AA-59E57F3E8693}"/>
              </a:ext>
            </a:extLst>
          </p:cNvPr>
          <p:cNvSpPr>
            <a:spLocks noGrp="1"/>
          </p:cNvSpPr>
          <p:nvPr>
            <p:ph idx="1"/>
          </p:nvPr>
        </p:nvSpPr>
        <p:spPr>
          <a:xfrm>
            <a:off x="612648" y="2212848"/>
            <a:ext cx="6035040" cy="4096512"/>
          </a:xfrm>
        </p:spPr>
        <p:txBody>
          <a:bodyPr>
            <a:normAutofit/>
          </a:bodyPr>
          <a:lstStyle/>
          <a:p>
            <a:pPr algn="just">
              <a:lnSpc>
                <a:spcPct val="110000"/>
              </a:lnSpc>
            </a:pPr>
            <a:r>
              <a:rPr lang="tr-TR" sz="1500" dirty="0"/>
              <a:t>Sosyokültürel çevrenin sosyal boyutu bağlamında özellikle üzerinde durulması gereken konulardan birisi toplumun demografik özellikleridir. </a:t>
            </a:r>
          </a:p>
          <a:p>
            <a:pPr algn="just">
              <a:lnSpc>
                <a:spcPct val="110000"/>
              </a:lnSpc>
            </a:pPr>
            <a:r>
              <a:rPr lang="tr-TR" sz="1500" dirty="0"/>
              <a:t>Demografik özellikler, gelir durumu, eğitim seviyesi, nüfusun coğrafi dağılımı, nüfus yoğunluğu, nüfusun kadın-erkek oranı, nüfusun etnik yapısı ve ortalama yaş gibi, toplumda yaşayan bireyleri tanımlayan çeşitli özellikler şeklinde düşünülebilir. Demografik özelliklerin, işletmelerin hem girdi potansiyelleri hem de çıktıları üzerinde yoğun bir etkisi vardır. Örneğin nüfusu yaşlanmakta olan bir toplumdaki tüketim kalıplarıyla, yaş ortalaması daha düşük ve nüfusun çoğunluğunu gençlerin oluşturduğu toplumların tüketim kalıpları, önemli farklılıklar gösterecektir. Ayrıca işletmenin faaliyette bulunduğu ülkedeki yaş ortalamasının işletmenin istihdam politikası üzerinde belirleyici bir etkisi vardır (</a:t>
            </a:r>
            <a:r>
              <a:rPr lang="tr-TR" sz="1500" dirty="0" err="1"/>
              <a:t>Hitt</a:t>
            </a:r>
            <a:r>
              <a:rPr lang="tr-TR" sz="1500" dirty="0"/>
              <a:t>, </a:t>
            </a:r>
            <a:r>
              <a:rPr lang="tr-TR" sz="1500" dirty="0" err="1"/>
              <a:t>Blcak</a:t>
            </a:r>
            <a:r>
              <a:rPr lang="tr-TR" sz="1500" dirty="0"/>
              <a:t> ve </a:t>
            </a:r>
            <a:r>
              <a:rPr lang="tr-TR" sz="1500" dirty="0" err="1"/>
              <a:t>Porter</a:t>
            </a:r>
            <a:r>
              <a:rPr lang="tr-TR" sz="1500" dirty="0"/>
              <a:t>, 2005).</a:t>
            </a:r>
          </a:p>
        </p:txBody>
      </p:sp>
    </p:spTree>
    <p:extLst>
      <p:ext uri="{BB962C8B-B14F-4D97-AF65-F5344CB8AC3E}">
        <p14:creationId xmlns:p14="http://schemas.microsoft.com/office/powerpoint/2010/main" val="1228751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6351BB-39E6-5459-8034-98A113DD72E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a:extLst>
              <a:ext uri="{FF2B5EF4-FFF2-40B4-BE49-F238E27FC236}">
                <a16:creationId xmlns:a16="http://schemas.microsoft.com/office/drawing/2014/main" id="{1FCE18C7-340E-312C-78E3-0565A388AC53}"/>
              </a:ext>
            </a:extLst>
          </p:cNvPr>
          <p:cNvPicPr>
            <a:picLocks noChangeAspect="1"/>
          </p:cNvPicPr>
          <p:nvPr/>
        </p:nvPicPr>
        <p:blipFill>
          <a:blip r:embed="rId3"/>
          <a:srcRect l="8014" r="44192" b="-1"/>
          <a:stretch/>
        </p:blipFill>
        <p:spPr>
          <a:xfrm>
            <a:off x="20" y="10"/>
            <a:ext cx="4910308" cy="6857990"/>
          </a:xfrm>
          <a:prstGeom prst="rect">
            <a:avLst/>
          </a:prstGeom>
        </p:spPr>
      </p:pic>
      <p:sp>
        <p:nvSpPr>
          <p:cNvPr id="2" name="Başlık 1">
            <a:extLst>
              <a:ext uri="{FF2B5EF4-FFF2-40B4-BE49-F238E27FC236}">
                <a16:creationId xmlns:a16="http://schemas.microsoft.com/office/drawing/2014/main" id="{D1372BF1-11B8-C45A-631E-DD716947741C}"/>
              </a:ext>
            </a:extLst>
          </p:cNvPr>
          <p:cNvSpPr>
            <a:spLocks noGrp="1"/>
          </p:cNvSpPr>
          <p:nvPr>
            <p:ph type="title"/>
          </p:nvPr>
        </p:nvSpPr>
        <p:spPr>
          <a:xfrm>
            <a:off x="5568537" y="603504"/>
            <a:ext cx="5916168" cy="1527048"/>
          </a:xfrm>
        </p:spPr>
        <p:txBody>
          <a:bodyPr anchor="b">
            <a:normAutofit/>
          </a:bodyPr>
          <a:lstStyle/>
          <a:p>
            <a:r>
              <a:rPr lang="tr-TR"/>
              <a:t>Sosyokültürel Çevre</a:t>
            </a:r>
          </a:p>
        </p:txBody>
      </p:sp>
      <p:sp>
        <p:nvSpPr>
          <p:cNvPr id="3" name="İçerik Yer Tutucusu 2">
            <a:extLst>
              <a:ext uri="{FF2B5EF4-FFF2-40B4-BE49-F238E27FC236}">
                <a16:creationId xmlns:a16="http://schemas.microsoft.com/office/drawing/2014/main" id="{C24E3263-90FE-DAF8-06A0-47971260DFDB}"/>
              </a:ext>
            </a:extLst>
          </p:cNvPr>
          <p:cNvSpPr>
            <a:spLocks noGrp="1"/>
          </p:cNvSpPr>
          <p:nvPr>
            <p:ph idx="1"/>
          </p:nvPr>
        </p:nvSpPr>
        <p:spPr>
          <a:xfrm>
            <a:off x="5568537" y="2214282"/>
            <a:ext cx="5916168" cy="4095078"/>
          </a:xfrm>
        </p:spPr>
        <p:txBody>
          <a:bodyPr>
            <a:normAutofit/>
          </a:bodyPr>
          <a:lstStyle/>
          <a:p>
            <a:pPr algn="just">
              <a:lnSpc>
                <a:spcPct val="110000"/>
              </a:lnSpc>
            </a:pPr>
            <a:r>
              <a:rPr lang="tr-TR" sz="1400" dirty="0"/>
              <a:t>Sosyokültürel çevrenin ikinci temel bileşeni kültürdür. Bir sosyal sistemde meydana gelen gelişmeleri anlayabilmek için, o sistemin kültürünü iyi analiz etmek gerekmektedir. </a:t>
            </a:r>
            <a:r>
              <a:rPr lang="tr-TR" sz="1400" dirty="0" err="1"/>
              <a:t>Antroplojik</a:t>
            </a:r>
            <a:r>
              <a:rPr lang="tr-TR" sz="1400" dirty="0"/>
              <a:t> açıdan kültür insanların doğaya ekledikleri dil, gelenek görenek, tarih, sanat, yaşam tarzı ve dinsel inançlar gibi maddi ve manevi varlıkların toplamı olarak tanımlanabilir (Saruhan ve Yıldız, 2009). Kültür bireylerin bakış açılarını şekillendirmekte ve onların içinde bulundukları dünyayı anlamlandırma çabalarına yol göstermektedir. Kültür, belli davranışların yapılmasını engellerken, belli davranışları </a:t>
            </a:r>
            <a:r>
              <a:rPr lang="tr-TR" sz="1400" dirty="0" err="1"/>
              <a:t>olumlamakta</a:t>
            </a:r>
            <a:r>
              <a:rPr lang="tr-TR" sz="1400" dirty="0"/>
              <a:t>, bir başka deyişle </a:t>
            </a:r>
            <a:r>
              <a:rPr lang="tr-TR" sz="1400" dirty="0" err="1"/>
              <a:t>normlaştırmaktadır</a:t>
            </a:r>
            <a:r>
              <a:rPr lang="tr-TR" sz="1400" dirty="0"/>
              <a:t>. Normlar toplumda yerleşmiş tavır, değer ve davranış kalıpları olarak tanımlanabilir. Normlar bireylerin karar verme süreçlerinde oldukça etkili olmaktadır. Çalışma saatleri, işyerinde tercih edilen giyim tarzı ve profesyonel yaşamda uygun bulunan tavır ve davranışlar iş yaşamına ilişkin toplumsal normlardan bazılarıdır.</a:t>
            </a:r>
          </a:p>
        </p:txBody>
      </p:sp>
    </p:spTree>
    <p:extLst>
      <p:ext uri="{BB962C8B-B14F-4D97-AF65-F5344CB8AC3E}">
        <p14:creationId xmlns:p14="http://schemas.microsoft.com/office/powerpoint/2010/main" val="2038919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71CA18-A088-9D9D-47DC-68891387A61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5F62981-46C7-A103-E133-1156071CB903}"/>
              </a:ext>
            </a:extLst>
          </p:cNvPr>
          <p:cNvSpPr>
            <a:spLocks noGrp="1"/>
          </p:cNvSpPr>
          <p:nvPr>
            <p:ph type="title"/>
          </p:nvPr>
        </p:nvSpPr>
        <p:spPr>
          <a:xfrm>
            <a:off x="5906802" y="603504"/>
            <a:ext cx="5577902" cy="1527048"/>
          </a:xfrm>
        </p:spPr>
        <p:txBody>
          <a:bodyPr anchor="b">
            <a:normAutofit/>
          </a:bodyPr>
          <a:lstStyle/>
          <a:p>
            <a:r>
              <a:rPr lang="tr-TR"/>
              <a:t>Sosyokültürel Çevre</a:t>
            </a:r>
          </a:p>
        </p:txBody>
      </p:sp>
      <p:sp>
        <p:nvSpPr>
          <p:cNvPr id="3" name="İçerik Yer Tutucusu 2">
            <a:extLst>
              <a:ext uri="{FF2B5EF4-FFF2-40B4-BE49-F238E27FC236}">
                <a16:creationId xmlns:a16="http://schemas.microsoft.com/office/drawing/2014/main" id="{43B0984F-7FC8-FFEC-40B5-2A77994BDF2A}"/>
              </a:ext>
            </a:extLst>
          </p:cNvPr>
          <p:cNvSpPr>
            <a:spLocks noGrp="1"/>
          </p:cNvSpPr>
          <p:nvPr>
            <p:ph idx="1"/>
          </p:nvPr>
        </p:nvSpPr>
        <p:spPr>
          <a:xfrm>
            <a:off x="5906802" y="2212848"/>
            <a:ext cx="5577902" cy="4096512"/>
          </a:xfrm>
        </p:spPr>
        <p:txBody>
          <a:bodyPr>
            <a:normAutofit/>
          </a:bodyPr>
          <a:lstStyle/>
          <a:p>
            <a:pPr algn="just">
              <a:lnSpc>
                <a:spcPct val="110000"/>
              </a:lnSpc>
            </a:pPr>
            <a:r>
              <a:rPr lang="tr-TR" sz="1500" dirty="0"/>
              <a:t>Kültür kavramının önemli bileşenlerinden birisi de toplumsal değerlerdir. Birçok toplumsal değer, bireylere gelişme çağlarında aileleri tarafından aktarılmakta ve bireylerin kişiliklerinin ayrılmaz bir parçasını oluşturmaktadır. Bireylerin sahip oldukları bazı değerlerin değişimi zor hatta mümkün değildir. Bu tür değerler temel değerler olarak adlandırılmaktadır. </a:t>
            </a:r>
          </a:p>
          <a:p>
            <a:pPr algn="just">
              <a:lnSpc>
                <a:spcPct val="110000"/>
              </a:lnSpc>
            </a:pPr>
            <a:r>
              <a:rPr lang="tr-TR" sz="1500" dirty="0"/>
              <a:t>Fakat her toplumsal değer, temel değer değildir. Temel değer olmayan ve göreceli olarak daha kolay değiştirilebilen değerler ise ikincil değerler olarak anılmaktadır. İşletmeler, toplumdaki temel değerlere saygı gösterip bu tür değerlerle uyumlu stratejiler izlemeye çabalarken, toplumda değişme eğiliminde olan ikincil değerleri de yakından takip etmelidirler. </a:t>
            </a:r>
          </a:p>
        </p:txBody>
      </p:sp>
      <p:pic>
        <p:nvPicPr>
          <p:cNvPr id="4" name="Resim 3">
            <a:extLst>
              <a:ext uri="{FF2B5EF4-FFF2-40B4-BE49-F238E27FC236}">
                <a16:creationId xmlns:a16="http://schemas.microsoft.com/office/drawing/2014/main" id="{6468F1DD-3833-2E46-CEB1-61E723985941}"/>
              </a:ext>
            </a:extLst>
          </p:cNvPr>
          <p:cNvPicPr>
            <a:picLocks noChangeAspect="1"/>
          </p:cNvPicPr>
          <p:nvPr/>
        </p:nvPicPr>
        <p:blipFill>
          <a:blip r:embed="rId3"/>
          <a:stretch>
            <a:fillRect/>
          </a:stretch>
        </p:blipFill>
        <p:spPr>
          <a:xfrm>
            <a:off x="612648" y="1102440"/>
            <a:ext cx="4681506" cy="4681506"/>
          </a:xfrm>
          <a:prstGeom prst="rect">
            <a:avLst/>
          </a:prstGeom>
        </p:spPr>
      </p:pic>
    </p:spTree>
    <p:extLst>
      <p:ext uri="{BB962C8B-B14F-4D97-AF65-F5344CB8AC3E}">
        <p14:creationId xmlns:p14="http://schemas.microsoft.com/office/powerpoint/2010/main" val="2749712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7" name="Rectangle 10246">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AEA3E2B-2021-6CC7-4E07-78C0453FD19C}"/>
              </a:ext>
            </a:extLst>
          </p:cNvPr>
          <p:cNvSpPr>
            <a:spLocks noGrp="1"/>
          </p:cNvSpPr>
          <p:nvPr>
            <p:ph type="title"/>
          </p:nvPr>
        </p:nvSpPr>
        <p:spPr>
          <a:xfrm>
            <a:off x="5906802" y="603504"/>
            <a:ext cx="5577902" cy="1527048"/>
          </a:xfrm>
        </p:spPr>
        <p:txBody>
          <a:bodyPr anchor="b">
            <a:normAutofit/>
          </a:bodyPr>
          <a:lstStyle/>
          <a:p>
            <a:r>
              <a:rPr lang="tr-TR"/>
              <a:t>Teknolojik Çevre</a:t>
            </a:r>
          </a:p>
        </p:txBody>
      </p:sp>
      <p:sp>
        <p:nvSpPr>
          <p:cNvPr id="3" name="İçerik Yer Tutucusu 2">
            <a:extLst>
              <a:ext uri="{FF2B5EF4-FFF2-40B4-BE49-F238E27FC236}">
                <a16:creationId xmlns:a16="http://schemas.microsoft.com/office/drawing/2014/main" id="{623D5240-AD3F-D54E-E37D-8494FD989A3D}"/>
              </a:ext>
            </a:extLst>
          </p:cNvPr>
          <p:cNvSpPr>
            <a:spLocks noGrp="1"/>
          </p:cNvSpPr>
          <p:nvPr>
            <p:ph idx="1"/>
          </p:nvPr>
        </p:nvSpPr>
        <p:spPr>
          <a:xfrm>
            <a:off x="5906802" y="2212848"/>
            <a:ext cx="5577902" cy="4096512"/>
          </a:xfrm>
        </p:spPr>
        <p:txBody>
          <a:bodyPr>
            <a:normAutofit/>
          </a:bodyPr>
          <a:lstStyle/>
          <a:p>
            <a:pPr algn="just"/>
            <a:r>
              <a:rPr lang="tr-TR" sz="1800" dirty="0"/>
              <a:t>Teknolojik gelişmelerin toplum üzerinde oldukça önemli bir etkisi olduğu yadsınamaz bir gerçektir. Her yeni teknolojik gelişme, toplumsal değerleri, yaşam şekillerini ve bireylerarası ilişkileri etkileme potansiyeline sahiptir. </a:t>
            </a:r>
          </a:p>
          <a:p>
            <a:pPr algn="just"/>
            <a:r>
              <a:rPr lang="tr-TR" sz="1800" dirty="0"/>
              <a:t>Son yıllarda bilgi ve iletişim teknolojilerinde oldukça önemli gelişmeler yaşanmıştır. Bu gelişmeler hem toplumsal hayat üzerinde hem de iş yaşamı üzerinde dönüştürücü bir etki yaratmaktadır (Koçel, 2010).</a:t>
            </a:r>
          </a:p>
        </p:txBody>
      </p:sp>
      <p:pic>
        <p:nvPicPr>
          <p:cNvPr id="10242" name="Picture 2" descr="Why Technology Is A Necessity - THRIVE Project">
            <a:extLst>
              <a:ext uri="{FF2B5EF4-FFF2-40B4-BE49-F238E27FC236}">
                <a16:creationId xmlns:a16="http://schemas.microsoft.com/office/drawing/2014/main" id="{CDDFCB7E-FC70-8050-0FCE-8C416847996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2648" y="1687628"/>
            <a:ext cx="4681506" cy="3511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72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817F40-AB67-30FC-8EA7-B29C126EF56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evre kartından oluşan arka plan">
            <a:extLst>
              <a:ext uri="{FF2B5EF4-FFF2-40B4-BE49-F238E27FC236}">
                <a16:creationId xmlns:a16="http://schemas.microsoft.com/office/drawing/2014/main" id="{743DEA5C-4A1D-4A36-0802-DC2A2D050522}"/>
              </a:ext>
            </a:extLst>
          </p:cNvPr>
          <p:cNvPicPr>
            <a:picLocks noChangeAspect="1"/>
          </p:cNvPicPr>
          <p:nvPr/>
        </p:nvPicPr>
        <p:blipFill>
          <a:blip r:embed="rId3"/>
          <a:srcRect l="8970" r="43417"/>
          <a:stretch/>
        </p:blipFill>
        <p:spPr>
          <a:xfrm>
            <a:off x="20" y="10"/>
            <a:ext cx="4910308" cy="6857990"/>
          </a:xfrm>
          <a:prstGeom prst="rect">
            <a:avLst/>
          </a:prstGeom>
        </p:spPr>
      </p:pic>
      <p:sp>
        <p:nvSpPr>
          <p:cNvPr id="2" name="Başlık 1">
            <a:extLst>
              <a:ext uri="{FF2B5EF4-FFF2-40B4-BE49-F238E27FC236}">
                <a16:creationId xmlns:a16="http://schemas.microsoft.com/office/drawing/2014/main" id="{96AD0424-CFAA-0679-3DF6-3D4B701CB6B4}"/>
              </a:ext>
            </a:extLst>
          </p:cNvPr>
          <p:cNvSpPr>
            <a:spLocks noGrp="1"/>
          </p:cNvSpPr>
          <p:nvPr>
            <p:ph type="title"/>
          </p:nvPr>
        </p:nvSpPr>
        <p:spPr>
          <a:xfrm>
            <a:off x="5568537" y="603504"/>
            <a:ext cx="5916168" cy="1527048"/>
          </a:xfrm>
        </p:spPr>
        <p:txBody>
          <a:bodyPr anchor="b">
            <a:normAutofit/>
          </a:bodyPr>
          <a:lstStyle/>
          <a:p>
            <a:r>
              <a:rPr lang="tr-TR"/>
              <a:t>Teknolojik Çevre</a:t>
            </a:r>
          </a:p>
        </p:txBody>
      </p:sp>
      <p:sp>
        <p:nvSpPr>
          <p:cNvPr id="3" name="İçerik Yer Tutucusu 2">
            <a:extLst>
              <a:ext uri="{FF2B5EF4-FFF2-40B4-BE49-F238E27FC236}">
                <a16:creationId xmlns:a16="http://schemas.microsoft.com/office/drawing/2014/main" id="{6DE02AA3-3536-F218-54FE-099BFE5DEB5B}"/>
              </a:ext>
            </a:extLst>
          </p:cNvPr>
          <p:cNvSpPr>
            <a:spLocks noGrp="1"/>
          </p:cNvSpPr>
          <p:nvPr>
            <p:ph idx="1"/>
          </p:nvPr>
        </p:nvSpPr>
        <p:spPr>
          <a:xfrm>
            <a:off x="5568537" y="2214282"/>
            <a:ext cx="5916168" cy="4095078"/>
          </a:xfrm>
        </p:spPr>
        <p:txBody>
          <a:bodyPr>
            <a:normAutofit lnSpcReduction="10000"/>
          </a:bodyPr>
          <a:lstStyle/>
          <a:p>
            <a:pPr algn="just">
              <a:lnSpc>
                <a:spcPct val="110000"/>
              </a:lnSpc>
            </a:pPr>
            <a:r>
              <a:rPr lang="tr-TR" sz="1800" dirty="0"/>
              <a:t>Teknoloji, genel olarak girdileri çıktılara dönüştürmek için gerekli olan uzmanlık, bilgi, araç ve yetenek şeklinde tanımlanabilir. Bu açıdan ele alındığında, kavramın teknolojik yenilik kavramından daha öte bir anlamı olduğu açıkça görülmektedir. Her işletme faaliyetlerini belli bir teknoloji ışığında sürdürmektedir. Fakat söz konusu bu teknolojinin niteliği işletmeden işletmeye farklılaşabilmektedir.</a:t>
            </a:r>
          </a:p>
          <a:p>
            <a:pPr algn="just">
              <a:lnSpc>
                <a:spcPct val="110000"/>
              </a:lnSpc>
            </a:pPr>
            <a:r>
              <a:rPr lang="tr-TR" sz="1800" dirty="0"/>
              <a:t> Örneğin, danışmanlık hizmeti sunan işletmeler için bireysel bilgi ve yetenekler ön plandadır, bunun aksine üretim işletmeleri için otomasyon, makine ve teçhizat daha önemli olabilir (</a:t>
            </a:r>
            <a:r>
              <a:rPr lang="tr-TR" sz="1800" dirty="0" err="1"/>
              <a:t>Hodge</a:t>
            </a:r>
            <a:r>
              <a:rPr lang="tr-TR" sz="1800" dirty="0"/>
              <a:t>, </a:t>
            </a:r>
            <a:r>
              <a:rPr lang="tr-TR" sz="1800" dirty="0" err="1"/>
              <a:t>Anthony</a:t>
            </a:r>
            <a:r>
              <a:rPr lang="tr-TR" sz="1800" dirty="0"/>
              <a:t>, </a:t>
            </a:r>
            <a:r>
              <a:rPr lang="tr-TR" sz="1800" dirty="0" err="1"/>
              <a:t>Gales</a:t>
            </a:r>
            <a:r>
              <a:rPr lang="tr-TR" sz="1800" dirty="0"/>
              <a:t>, 2002).</a:t>
            </a:r>
          </a:p>
        </p:txBody>
      </p:sp>
    </p:spTree>
    <p:extLst>
      <p:ext uri="{BB962C8B-B14F-4D97-AF65-F5344CB8AC3E}">
        <p14:creationId xmlns:p14="http://schemas.microsoft.com/office/powerpoint/2010/main" val="1258579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onbaharda ormanda Zen duygusu veren şelale">
            <a:extLst>
              <a:ext uri="{FF2B5EF4-FFF2-40B4-BE49-F238E27FC236}">
                <a16:creationId xmlns:a16="http://schemas.microsoft.com/office/drawing/2014/main" id="{DDB2770A-32E7-4988-7DD1-3AF1BC63067A}"/>
              </a:ext>
            </a:extLst>
          </p:cNvPr>
          <p:cNvPicPr>
            <a:picLocks noChangeAspect="1"/>
          </p:cNvPicPr>
          <p:nvPr/>
        </p:nvPicPr>
        <p:blipFill>
          <a:blip r:embed="rId3"/>
          <a:srcRect l="22678" r="30152" b="-1"/>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7E7ACF61-5A77-669A-5589-D868AB499962}"/>
              </a:ext>
            </a:extLst>
          </p:cNvPr>
          <p:cNvSpPr>
            <a:spLocks noGrp="1"/>
          </p:cNvSpPr>
          <p:nvPr>
            <p:ph type="title"/>
          </p:nvPr>
        </p:nvSpPr>
        <p:spPr>
          <a:xfrm>
            <a:off x="612648" y="600075"/>
            <a:ext cx="6035040" cy="1529932"/>
          </a:xfrm>
        </p:spPr>
        <p:txBody>
          <a:bodyPr anchor="b">
            <a:normAutofit/>
          </a:bodyPr>
          <a:lstStyle/>
          <a:p>
            <a:r>
              <a:rPr lang="tr-TR"/>
              <a:t>Doğal Çevre</a:t>
            </a:r>
          </a:p>
        </p:txBody>
      </p:sp>
      <p:sp>
        <p:nvSpPr>
          <p:cNvPr id="3" name="İçerik Yer Tutucusu 2">
            <a:extLst>
              <a:ext uri="{FF2B5EF4-FFF2-40B4-BE49-F238E27FC236}">
                <a16:creationId xmlns:a16="http://schemas.microsoft.com/office/drawing/2014/main" id="{7E3D0F86-2C26-AE35-2E5D-C68158987F91}"/>
              </a:ext>
            </a:extLst>
          </p:cNvPr>
          <p:cNvSpPr>
            <a:spLocks noGrp="1"/>
          </p:cNvSpPr>
          <p:nvPr>
            <p:ph idx="1"/>
          </p:nvPr>
        </p:nvSpPr>
        <p:spPr>
          <a:xfrm>
            <a:off x="612648" y="2212848"/>
            <a:ext cx="6035040" cy="4096512"/>
          </a:xfrm>
        </p:spPr>
        <p:txBody>
          <a:bodyPr>
            <a:normAutofit fontScale="92500"/>
          </a:bodyPr>
          <a:lstStyle/>
          <a:p>
            <a:pPr algn="just">
              <a:lnSpc>
                <a:spcPct val="110000"/>
              </a:lnSpc>
            </a:pPr>
            <a:r>
              <a:rPr lang="tr-TR" sz="1700" dirty="0"/>
              <a:t>İşletmelerin girdi olarak kullandığı doğal kaynaklar ile iklimsel, coğrafi ve jeolojik etkenler işletmelerin doğal çevresini oluşturmaktadır. Doğal çevre, işletmelerin kuruluş yerinin saptanmasında ve işletmecilik faaliyetlerinin verimli bir şekilde sürdürülebilmesinde oldukça etkilidir. </a:t>
            </a:r>
          </a:p>
          <a:p>
            <a:pPr algn="just">
              <a:lnSpc>
                <a:spcPct val="110000"/>
              </a:lnSpc>
            </a:pPr>
            <a:r>
              <a:rPr lang="tr-TR" sz="1700" dirty="0"/>
              <a:t>Örneğin doğal kaynakları çıkarttığı yerde işleyen istihraç işletmeleri için doğal çevre, kuruluş yeri konusunda en önemli belirleyici etkendir. İşletmenin kurulduğu bölgenin iklimi, işletmenin ısıtma veya soğutma ihtiyacına ve maliyetlerine doğrudan etki yapmaktadır. Fırtına, deprem, sel, yangın ve diğer doğal afetler ise işletme faaliyetlerinin kesintiye uğramasına veya tamamen durmasına neden olabilir (</a:t>
            </a:r>
            <a:r>
              <a:rPr lang="tr-TR" sz="1700" dirty="0" err="1"/>
              <a:t>Plunkett</a:t>
            </a:r>
            <a:r>
              <a:rPr lang="tr-TR" sz="1700" dirty="0"/>
              <a:t>, </a:t>
            </a:r>
            <a:r>
              <a:rPr lang="tr-TR" sz="1700" dirty="0" err="1"/>
              <a:t>Attner</a:t>
            </a:r>
            <a:r>
              <a:rPr lang="tr-TR" sz="1700" dirty="0"/>
              <a:t> ve </a:t>
            </a:r>
            <a:r>
              <a:rPr lang="tr-TR" sz="1700" dirty="0" err="1"/>
              <a:t>Allen</a:t>
            </a:r>
            <a:r>
              <a:rPr lang="tr-TR" sz="1700" dirty="0"/>
              <a:t>, 2008).</a:t>
            </a:r>
          </a:p>
        </p:txBody>
      </p:sp>
    </p:spTree>
    <p:extLst>
      <p:ext uri="{BB962C8B-B14F-4D97-AF65-F5344CB8AC3E}">
        <p14:creationId xmlns:p14="http://schemas.microsoft.com/office/powerpoint/2010/main" val="910385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5DCDEA-E072-A0B2-FD21-2368A14D18C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l ile bitişik çiçek görüntüsünü kapat">
            <a:extLst>
              <a:ext uri="{FF2B5EF4-FFF2-40B4-BE49-F238E27FC236}">
                <a16:creationId xmlns:a16="http://schemas.microsoft.com/office/drawing/2014/main" id="{54DC16EC-0F5A-434B-0EE0-9A3937E4B769}"/>
              </a:ext>
            </a:extLst>
          </p:cNvPr>
          <p:cNvPicPr>
            <a:picLocks noChangeAspect="1"/>
          </p:cNvPicPr>
          <p:nvPr/>
        </p:nvPicPr>
        <p:blipFill>
          <a:blip r:embed="rId3"/>
          <a:srcRect l="9443" r="43386" b="-1"/>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DAE326F0-C101-D0A9-0496-1B16AC007D19}"/>
              </a:ext>
            </a:extLst>
          </p:cNvPr>
          <p:cNvSpPr>
            <a:spLocks noGrp="1"/>
          </p:cNvSpPr>
          <p:nvPr>
            <p:ph type="title"/>
          </p:nvPr>
        </p:nvSpPr>
        <p:spPr>
          <a:xfrm>
            <a:off x="612648" y="600075"/>
            <a:ext cx="6035040" cy="1529932"/>
          </a:xfrm>
        </p:spPr>
        <p:txBody>
          <a:bodyPr anchor="b">
            <a:normAutofit/>
          </a:bodyPr>
          <a:lstStyle/>
          <a:p>
            <a:r>
              <a:rPr lang="tr-TR"/>
              <a:t>Doğal Çevre</a:t>
            </a:r>
          </a:p>
        </p:txBody>
      </p:sp>
      <p:sp>
        <p:nvSpPr>
          <p:cNvPr id="3" name="İçerik Yer Tutucusu 2">
            <a:extLst>
              <a:ext uri="{FF2B5EF4-FFF2-40B4-BE49-F238E27FC236}">
                <a16:creationId xmlns:a16="http://schemas.microsoft.com/office/drawing/2014/main" id="{00581998-A9E0-4455-D39A-65646C18E366}"/>
              </a:ext>
            </a:extLst>
          </p:cNvPr>
          <p:cNvSpPr>
            <a:spLocks noGrp="1"/>
          </p:cNvSpPr>
          <p:nvPr>
            <p:ph idx="1"/>
          </p:nvPr>
        </p:nvSpPr>
        <p:spPr>
          <a:xfrm>
            <a:off x="612648" y="2212848"/>
            <a:ext cx="6035040" cy="4096512"/>
          </a:xfrm>
        </p:spPr>
        <p:txBody>
          <a:bodyPr>
            <a:normAutofit/>
          </a:bodyPr>
          <a:lstStyle/>
          <a:p>
            <a:pPr algn="just">
              <a:lnSpc>
                <a:spcPct val="110000"/>
              </a:lnSpc>
            </a:pPr>
            <a:r>
              <a:rPr lang="tr-TR" sz="1700" dirty="0"/>
              <a:t>Doğal afetler gibi doğal çevrede yaşanan bazı gelişmeler, beklenmedik bir şekilde ortaya çıkar ve çoğu zaman işletmeler bu tür gelişmeleri kontrol etme yetisinden yoksundurlar. Doğal afetler gibi beklenmedik olaylar dışında, doğal kaynaklardan hammadde temini gibi konularda yaşanan gelişmelerde ise işletmelerin daha fazla söz sahibi oldukları düşünülebilir. İşletmeler doğal çevrede yaşanan gelişmeleri yakından izlemeli ve bu gelişmeleri tamamen kontrol edemiyor olsalar da, etkisini azaltıcı önlemler almaya çalışmalıdırlar. Çeşitli doğal afetlerin etkilerini azaltabilmek için tüm işletmelerin afet anına ve afet sonrasına ilişkin senaryoların yer aldığı, afet acil durum planları olması gerekmektedir (</a:t>
            </a:r>
            <a:r>
              <a:rPr lang="tr-TR" sz="1700" dirty="0" err="1"/>
              <a:t>Hodge</a:t>
            </a:r>
            <a:r>
              <a:rPr lang="tr-TR" sz="1700" dirty="0"/>
              <a:t>, </a:t>
            </a:r>
            <a:r>
              <a:rPr lang="tr-TR" sz="1700" dirty="0" err="1"/>
              <a:t>Anthony</a:t>
            </a:r>
            <a:r>
              <a:rPr lang="tr-TR" sz="1700" dirty="0"/>
              <a:t>, </a:t>
            </a:r>
            <a:r>
              <a:rPr lang="tr-TR" sz="1700" dirty="0" err="1"/>
              <a:t>Gales</a:t>
            </a:r>
            <a:r>
              <a:rPr lang="tr-TR" sz="1700" dirty="0"/>
              <a:t>, 2002).</a:t>
            </a:r>
          </a:p>
        </p:txBody>
      </p:sp>
    </p:spTree>
    <p:extLst>
      <p:ext uri="{BB962C8B-B14F-4D97-AF65-F5344CB8AC3E}">
        <p14:creationId xmlns:p14="http://schemas.microsoft.com/office/powerpoint/2010/main" val="2857380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Kar küre resmi">
            <a:extLst>
              <a:ext uri="{FF2B5EF4-FFF2-40B4-BE49-F238E27FC236}">
                <a16:creationId xmlns:a16="http://schemas.microsoft.com/office/drawing/2014/main" id="{838588FA-C70C-F949-C746-28EB89FB064B}"/>
              </a:ext>
            </a:extLst>
          </p:cNvPr>
          <p:cNvPicPr>
            <a:picLocks noChangeAspect="1"/>
          </p:cNvPicPr>
          <p:nvPr/>
        </p:nvPicPr>
        <p:blipFill>
          <a:blip r:embed="rId3"/>
          <a:srcRect l="18007" r="31874" b="1"/>
          <a:stretch/>
        </p:blipFill>
        <p:spPr>
          <a:xfrm>
            <a:off x="20" y="10"/>
            <a:ext cx="4910308" cy="6857990"/>
          </a:xfrm>
          <a:prstGeom prst="rect">
            <a:avLst/>
          </a:prstGeom>
        </p:spPr>
      </p:pic>
      <p:sp>
        <p:nvSpPr>
          <p:cNvPr id="2" name="Başlık 1">
            <a:extLst>
              <a:ext uri="{FF2B5EF4-FFF2-40B4-BE49-F238E27FC236}">
                <a16:creationId xmlns:a16="http://schemas.microsoft.com/office/drawing/2014/main" id="{16C1E052-217C-3DA2-FC49-0F743A222E32}"/>
              </a:ext>
            </a:extLst>
          </p:cNvPr>
          <p:cNvSpPr>
            <a:spLocks noGrp="1"/>
          </p:cNvSpPr>
          <p:nvPr>
            <p:ph type="title"/>
          </p:nvPr>
        </p:nvSpPr>
        <p:spPr>
          <a:xfrm>
            <a:off x="5568537" y="603504"/>
            <a:ext cx="5916168" cy="1527048"/>
          </a:xfrm>
        </p:spPr>
        <p:txBody>
          <a:bodyPr anchor="b">
            <a:normAutofit/>
          </a:bodyPr>
          <a:lstStyle/>
          <a:p>
            <a:r>
              <a:rPr lang="tr-TR"/>
              <a:t>Küresel Çevre</a:t>
            </a:r>
          </a:p>
        </p:txBody>
      </p:sp>
      <p:sp>
        <p:nvSpPr>
          <p:cNvPr id="3" name="İçerik Yer Tutucusu 2">
            <a:extLst>
              <a:ext uri="{FF2B5EF4-FFF2-40B4-BE49-F238E27FC236}">
                <a16:creationId xmlns:a16="http://schemas.microsoft.com/office/drawing/2014/main" id="{AF7F68BE-9FFE-2992-2AA2-C0DE373932A1}"/>
              </a:ext>
            </a:extLst>
          </p:cNvPr>
          <p:cNvSpPr>
            <a:spLocks noGrp="1"/>
          </p:cNvSpPr>
          <p:nvPr>
            <p:ph idx="1"/>
          </p:nvPr>
        </p:nvSpPr>
        <p:spPr>
          <a:xfrm>
            <a:off x="5568537" y="2214282"/>
            <a:ext cx="5916168" cy="4095078"/>
          </a:xfrm>
        </p:spPr>
        <p:txBody>
          <a:bodyPr>
            <a:normAutofit/>
          </a:bodyPr>
          <a:lstStyle/>
          <a:p>
            <a:pPr algn="just">
              <a:lnSpc>
                <a:spcPct val="110000"/>
              </a:lnSpc>
            </a:pPr>
            <a:r>
              <a:rPr lang="tr-TR" sz="1500" dirty="0"/>
              <a:t>İşletmelerin siyasal-yasal, ekonomik, sosyokültürel, teknolojik ve doğal çevre faktörlerini etkileme potansiyeli olan ve dolayısıyla tüm çevresini bir anlamda kapsayabilen genel çevre bileşeni küresel çevre olarak adlandırılmaktadır. İşletme faaliyetlerinin uluslarasılaşması, işletmenin küresel çevreyle olan etkileşiminin yoğunluğu üzerinde etkili olmaktadır.</a:t>
            </a:r>
          </a:p>
          <a:p>
            <a:pPr algn="just">
              <a:lnSpc>
                <a:spcPct val="110000"/>
              </a:lnSpc>
            </a:pPr>
            <a:r>
              <a:rPr lang="tr-TR" sz="1500" dirty="0"/>
              <a:t> Sadece ithalat-ihracat faaliyetleri olan yerel bir işletmeyle, tüm dünyayı tek bir pazar hâline getirmiş, çokuluslu bir işletmenin küresel çevreyle olan etkileşimi, doğal olarak farklılık gösterecektir. Küresel çevre konusunda altı çizilmesi gereken bir diğer nokta, işletmelerin hiçbir uluslararası faaliyeti olmasa da küresel çevrenin etki alanında oldukları gerçeğidir (Ülgen ve </a:t>
            </a:r>
            <a:r>
              <a:rPr lang="tr-TR" sz="1500" dirty="0" err="1"/>
              <a:t>Mirze</a:t>
            </a:r>
            <a:r>
              <a:rPr lang="tr-TR" sz="1500" dirty="0"/>
              <a:t>, 2004).</a:t>
            </a:r>
          </a:p>
        </p:txBody>
      </p:sp>
    </p:spTree>
    <p:extLst>
      <p:ext uri="{BB962C8B-B14F-4D97-AF65-F5344CB8AC3E}">
        <p14:creationId xmlns:p14="http://schemas.microsoft.com/office/powerpoint/2010/main" val="165424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D546B1-3900-616F-54DB-FB18BC77CAA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landan dünya görünümü">
            <a:extLst>
              <a:ext uri="{FF2B5EF4-FFF2-40B4-BE49-F238E27FC236}">
                <a16:creationId xmlns:a16="http://schemas.microsoft.com/office/drawing/2014/main" id="{CB84341D-76CA-238D-D015-EF8409CD6956}"/>
              </a:ext>
            </a:extLst>
          </p:cNvPr>
          <p:cNvPicPr>
            <a:picLocks noChangeAspect="1"/>
          </p:cNvPicPr>
          <p:nvPr/>
        </p:nvPicPr>
        <p:blipFill>
          <a:blip r:embed="rId3"/>
          <a:srcRect l="32283" r="28497"/>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0BA4CC75-E20D-DA3F-8BF5-D673F6AC660E}"/>
              </a:ext>
            </a:extLst>
          </p:cNvPr>
          <p:cNvSpPr>
            <a:spLocks noGrp="1"/>
          </p:cNvSpPr>
          <p:nvPr>
            <p:ph type="title"/>
          </p:nvPr>
        </p:nvSpPr>
        <p:spPr>
          <a:xfrm>
            <a:off x="612648" y="600075"/>
            <a:ext cx="6035040" cy="1529932"/>
          </a:xfrm>
        </p:spPr>
        <p:txBody>
          <a:bodyPr anchor="b">
            <a:normAutofit/>
          </a:bodyPr>
          <a:lstStyle/>
          <a:p>
            <a:r>
              <a:rPr lang="tr-TR"/>
              <a:t>Küresel Çevre</a:t>
            </a:r>
          </a:p>
        </p:txBody>
      </p:sp>
      <p:sp>
        <p:nvSpPr>
          <p:cNvPr id="3" name="İçerik Yer Tutucusu 2">
            <a:extLst>
              <a:ext uri="{FF2B5EF4-FFF2-40B4-BE49-F238E27FC236}">
                <a16:creationId xmlns:a16="http://schemas.microsoft.com/office/drawing/2014/main" id="{C6BCF018-81E4-57C9-0119-5C4653738617}"/>
              </a:ext>
            </a:extLst>
          </p:cNvPr>
          <p:cNvSpPr>
            <a:spLocks noGrp="1"/>
          </p:cNvSpPr>
          <p:nvPr>
            <p:ph idx="1"/>
          </p:nvPr>
        </p:nvSpPr>
        <p:spPr>
          <a:xfrm>
            <a:off x="612648" y="2212848"/>
            <a:ext cx="6035040" cy="4096512"/>
          </a:xfrm>
        </p:spPr>
        <p:txBody>
          <a:bodyPr>
            <a:normAutofit/>
          </a:bodyPr>
          <a:lstStyle/>
          <a:p>
            <a:pPr algn="just">
              <a:lnSpc>
                <a:spcPct val="110000"/>
              </a:lnSpc>
            </a:pPr>
            <a:r>
              <a:rPr lang="tr-TR" sz="1800" dirty="0"/>
              <a:t>Küresel çevre, tüm genel çevre bileşenlerini etkileyebilmektedir. Çin’in dünya ekonomisindeki varlığı ve artan ağırlığı, tüm işletmelerin ekonomik çevreleri üzerinde etkili olmaktadır. Uluslararası terörizm işletmelerin siyasal-yasal çevresini derinden etkileyebilmektedir. Sosyokültürel değerlerin küreselleşmesi, aynı marka ayakkabı giyen, aynı marka kafelerde zaman geçiren ve aynı sosyal medya ortamlarında kendini ifade eden yeni bir nesil yaratmaktadır. Doğal çevreye ilişkin duyarlılık yalnızca ulusal boyutta kalmamakta, toplumlar çok uzak topraklarda meydana gelen doğal afetler için eşgüdümlü bir yardım girişimi başlatabilmektedirler. </a:t>
            </a:r>
          </a:p>
        </p:txBody>
      </p:sp>
    </p:spTree>
    <p:extLst>
      <p:ext uri="{BB962C8B-B14F-4D97-AF65-F5344CB8AC3E}">
        <p14:creationId xmlns:p14="http://schemas.microsoft.com/office/powerpoint/2010/main" val="1041737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517DB1-4728-9221-FFDC-F5566B22EAF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A642772-2521-3FAB-B405-4D946823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3A7BD97-2BAF-446E-C916-D0DA4D573C9A}"/>
              </a:ext>
            </a:extLst>
          </p:cNvPr>
          <p:cNvSpPr>
            <a:spLocks noGrp="1"/>
          </p:cNvSpPr>
          <p:nvPr>
            <p:ph type="title"/>
          </p:nvPr>
        </p:nvSpPr>
        <p:spPr>
          <a:xfrm>
            <a:off x="8208747" y="1548606"/>
            <a:ext cx="3473179" cy="2241755"/>
          </a:xfrm>
        </p:spPr>
        <p:txBody>
          <a:bodyPr vert="horz" lIns="91440" tIns="45720" rIns="91440" bIns="45720" rtlCol="0" anchor="b">
            <a:normAutofit/>
          </a:bodyPr>
          <a:lstStyle/>
          <a:p>
            <a:r>
              <a:rPr lang="en-US" sz="4000"/>
              <a:t>Küresel Çevre</a:t>
            </a:r>
          </a:p>
        </p:txBody>
      </p:sp>
      <p:pic>
        <p:nvPicPr>
          <p:cNvPr id="5" name="İçerik Yer Tutucusu 4" descr="metin, ekran görüntüsü, yazı tipi, sayı, numara içeren bir resim&#10;&#10;Yapay zeka tarafından oluşturulan içerik yanlış olabilir.">
            <a:extLst>
              <a:ext uri="{FF2B5EF4-FFF2-40B4-BE49-F238E27FC236}">
                <a16:creationId xmlns:a16="http://schemas.microsoft.com/office/drawing/2014/main" id="{155F58E2-7297-86DE-91E1-D741FCB2D06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0073" y="657601"/>
            <a:ext cx="7365843" cy="5542797"/>
          </a:xfrm>
          <a:prstGeom prst="rect">
            <a:avLst/>
          </a:prstGeom>
        </p:spPr>
      </p:pic>
    </p:spTree>
    <p:extLst>
      <p:ext uri="{BB962C8B-B14F-4D97-AF65-F5344CB8AC3E}">
        <p14:creationId xmlns:p14="http://schemas.microsoft.com/office/powerpoint/2010/main" val="1349267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0FA0C3C-5C4E-47A9-D75C-EAF5FB4EEE72}"/>
              </a:ext>
            </a:extLst>
          </p:cNvPr>
          <p:cNvPicPr>
            <a:picLocks noChangeAspect="1"/>
          </p:cNvPicPr>
          <p:nvPr/>
        </p:nvPicPr>
        <p:blipFill>
          <a:blip r:embed="rId3"/>
          <a:srcRect l="27421" r="24249"/>
          <a:stretch/>
        </p:blipFill>
        <p:spPr>
          <a:xfrm>
            <a:off x="20" y="10"/>
            <a:ext cx="4910308" cy="6857990"/>
          </a:xfrm>
          <a:prstGeom prst="rect">
            <a:avLst/>
          </a:prstGeom>
        </p:spPr>
      </p:pic>
      <p:sp>
        <p:nvSpPr>
          <p:cNvPr id="2" name="Başlık 1">
            <a:extLst>
              <a:ext uri="{FF2B5EF4-FFF2-40B4-BE49-F238E27FC236}">
                <a16:creationId xmlns:a16="http://schemas.microsoft.com/office/drawing/2014/main" id="{736C2B5E-544C-1D41-B6DB-526CD056B90D}"/>
              </a:ext>
            </a:extLst>
          </p:cNvPr>
          <p:cNvSpPr>
            <a:spLocks noGrp="1"/>
          </p:cNvSpPr>
          <p:nvPr>
            <p:ph type="title"/>
          </p:nvPr>
        </p:nvSpPr>
        <p:spPr>
          <a:xfrm>
            <a:off x="5568537" y="603504"/>
            <a:ext cx="5916168" cy="1527048"/>
          </a:xfrm>
        </p:spPr>
        <p:txBody>
          <a:bodyPr anchor="b">
            <a:normAutofit/>
          </a:bodyPr>
          <a:lstStyle/>
          <a:p>
            <a:r>
              <a:rPr lang="tr-TR" dirty="0"/>
              <a:t>İşletmenin Sektörel Çevresi</a:t>
            </a:r>
          </a:p>
        </p:txBody>
      </p:sp>
      <p:sp>
        <p:nvSpPr>
          <p:cNvPr id="3" name="İçerik Yer Tutucusu 2">
            <a:extLst>
              <a:ext uri="{FF2B5EF4-FFF2-40B4-BE49-F238E27FC236}">
                <a16:creationId xmlns:a16="http://schemas.microsoft.com/office/drawing/2014/main" id="{C818402B-17A8-C4B0-51D6-EAA6EDC92043}"/>
              </a:ext>
            </a:extLst>
          </p:cNvPr>
          <p:cNvSpPr>
            <a:spLocks noGrp="1"/>
          </p:cNvSpPr>
          <p:nvPr>
            <p:ph idx="1"/>
          </p:nvPr>
        </p:nvSpPr>
        <p:spPr>
          <a:xfrm>
            <a:off x="5568537" y="2214282"/>
            <a:ext cx="5916168" cy="4095078"/>
          </a:xfrm>
        </p:spPr>
        <p:txBody>
          <a:bodyPr>
            <a:normAutofit/>
          </a:bodyPr>
          <a:lstStyle/>
          <a:p>
            <a:pPr algn="just">
              <a:lnSpc>
                <a:spcPct val="110000"/>
              </a:lnSpc>
            </a:pPr>
            <a:r>
              <a:rPr lang="tr-TR" sz="1400" dirty="0"/>
              <a:t>İşletmenin sektörel çevresi, işletme dış çevresinin bir alt sistemidir ve işletme genel çevresiyle işletme iç çevresi arasında bir konumda yer almaktadır. İşletmenin sektörel çevresi, görev çevresi olarak da anılmaktadır. Sektör; benzer ürünler üreten, bu üretim için benzer girdiler kullanan, benzer stratejik iş birliklerinin içinde yer almaya çalışan, benzer yasal düzenlemelere uymakla yükümlü olan ve benzer nitelikte çalışanları bünyesine katmak için çabalayan işletmelerden oluşmaktadır. İşletmenin sektörel çevresi ile olan etkileşimi, işletmenin başarısı ve başarısızlığı üzerinde oldukça önemli bir etkiye sahiptir. Her sektör, bünyesinde faaliyet gösteren işletmelerin devamlılıklarını sağlayabilmeleri için çeşitli fırsatlar sunmaktadır. Fakat işletmecilik faaliyetlerini tehlikeye sokan birçok tehdit unsurunun da işletmenin sektörel çevresinde yer aldığı unutulmamalıdır. Bu fırsatları ve tehditleri algılayabilmek ve gerekli adımları atabilmek işletmecilerin önemle üzerinde durmaları gereken konular arasındadır (</a:t>
            </a:r>
          </a:p>
        </p:txBody>
      </p:sp>
    </p:spTree>
    <p:extLst>
      <p:ext uri="{BB962C8B-B14F-4D97-AF65-F5344CB8AC3E}">
        <p14:creationId xmlns:p14="http://schemas.microsoft.com/office/powerpoint/2010/main" val="1585404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AA6C8-0BE5-A490-33C7-713B4731BE5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68ACC43-29FA-B24C-2D24-32481E81ED72}"/>
              </a:ext>
            </a:extLst>
          </p:cNvPr>
          <p:cNvSpPr>
            <a:spLocks noGrp="1"/>
          </p:cNvSpPr>
          <p:nvPr>
            <p:ph type="title"/>
          </p:nvPr>
        </p:nvSpPr>
        <p:spPr/>
        <p:txBody>
          <a:bodyPr/>
          <a:lstStyle/>
          <a:p>
            <a:r>
              <a:rPr lang="tr-TR" dirty="0"/>
              <a:t>İşletmenin Sektörel Çevresi</a:t>
            </a:r>
          </a:p>
        </p:txBody>
      </p:sp>
      <p:graphicFrame>
        <p:nvGraphicFramePr>
          <p:cNvPr id="5" name="İçerik Yer Tutucusu 2">
            <a:extLst>
              <a:ext uri="{FF2B5EF4-FFF2-40B4-BE49-F238E27FC236}">
                <a16:creationId xmlns:a16="http://schemas.microsoft.com/office/drawing/2014/main" id="{9A623AFB-6035-0814-227C-A6589A766D92}"/>
              </a:ext>
            </a:extLst>
          </p:cNvPr>
          <p:cNvGraphicFramePr>
            <a:graphicFrameLocks noGrp="1"/>
          </p:cNvGraphicFramePr>
          <p:nvPr>
            <p:ph idx="1"/>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7675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Verimlilik öğeleri bulunan masa">
            <a:extLst>
              <a:ext uri="{FF2B5EF4-FFF2-40B4-BE49-F238E27FC236}">
                <a16:creationId xmlns:a16="http://schemas.microsoft.com/office/drawing/2014/main" id="{E84142A9-9EB6-90AD-898D-78511DCDF605}"/>
              </a:ext>
            </a:extLst>
          </p:cNvPr>
          <p:cNvPicPr>
            <a:picLocks noChangeAspect="1"/>
          </p:cNvPicPr>
          <p:nvPr/>
        </p:nvPicPr>
        <p:blipFill>
          <a:blip r:embed="rId3"/>
          <a:srcRect l="34040" r="18790" b="-1"/>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1653B8DA-824A-8621-AC16-280495FA85F6}"/>
              </a:ext>
            </a:extLst>
          </p:cNvPr>
          <p:cNvSpPr>
            <a:spLocks noGrp="1"/>
          </p:cNvSpPr>
          <p:nvPr>
            <p:ph type="title"/>
          </p:nvPr>
        </p:nvSpPr>
        <p:spPr>
          <a:xfrm>
            <a:off x="612648" y="600075"/>
            <a:ext cx="6035040" cy="1529932"/>
          </a:xfrm>
        </p:spPr>
        <p:txBody>
          <a:bodyPr anchor="b">
            <a:normAutofit/>
          </a:bodyPr>
          <a:lstStyle/>
          <a:p>
            <a:r>
              <a:rPr lang="tr-TR"/>
              <a:t>Rakipler ve Rekabet</a:t>
            </a:r>
          </a:p>
        </p:txBody>
      </p:sp>
      <p:sp>
        <p:nvSpPr>
          <p:cNvPr id="3" name="İçerik Yer Tutucusu 2">
            <a:extLst>
              <a:ext uri="{FF2B5EF4-FFF2-40B4-BE49-F238E27FC236}">
                <a16:creationId xmlns:a16="http://schemas.microsoft.com/office/drawing/2014/main" id="{E07C9F6D-7468-03DE-52F2-EC74D2100E47}"/>
              </a:ext>
            </a:extLst>
          </p:cNvPr>
          <p:cNvSpPr>
            <a:spLocks noGrp="1"/>
          </p:cNvSpPr>
          <p:nvPr>
            <p:ph idx="1"/>
          </p:nvPr>
        </p:nvSpPr>
        <p:spPr>
          <a:xfrm>
            <a:off x="612648" y="2212848"/>
            <a:ext cx="6035040" cy="4096512"/>
          </a:xfrm>
        </p:spPr>
        <p:txBody>
          <a:bodyPr>
            <a:normAutofit fontScale="92500"/>
          </a:bodyPr>
          <a:lstStyle/>
          <a:p>
            <a:pPr algn="just">
              <a:lnSpc>
                <a:spcPct val="110000"/>
              </a:lnSpc>
            </a:pPr>
            <a:r>
              <a:rPr lang="tr-TR" sz="1700" dirty="0"/>
              <a:t>Aynı veya benzer ürünleri üreterek piyasaya sunan herhangi bir işletme, aynı sektörde faaliyet gösteren bir başka işletmenin rakibi olarak tanımlanmaktadır. İşletmeler rakipleriyle fiyat, ürün kalitesi, ürün çeşitliliği, ürünlerin kolay erişilebilirliği, ürünlerin özellikleri ve müşterilere sağladıkları satış sonrası hizmetlerin kalitesi gibi konularda rekabet etmektedirler (</a:t>
            </a:r>
            <a:r>
              <a:rPr lang="tr-TR" sz="1700" dirty="0" err="1"/>
              <a:t>Plunkett</a:t>
            </a:r>
            <a:r>
              <a:rPr lang="tr-TR" sz="1700" dirty="0"/>
              <a:t>, </a:t>
            </a:r>
            <a:r>
              <a:rPr lang="tr-TR" sz="1700" dirty="0" err="1"/>
              <a:t>Attner</a:t>
            </a:r>
            <a:r>
              <a:rPr lang="tr-TR" sz="1700" dirty="0"/>
              <a:t> ve </a:t>
            </a:r>
            <a:r>
              <a:rPr lang="tr-TR" sz="1700" dirty="0" err="1"/>
              <a:t>Allen</a:t>
            </a:r>
            <a:r>
              <a:rPr lang="tr-TR" sz="1700" dirty="0"/>
              <a:t>, 2008). </a:t>
            </a:r>
          </a:p>
          <a:p>
            <a:pPr algn="just">
              <a:lnSpc>
                <a:spcPct val="110000"/>
              </a:lnSpc>
            </a:pPr>
            <a:r>
              <a:rPr lang="tr-TR" sz="1700" dirty="0"/>
              <a:t>Rakiplerin çeşitli faaliyetleri ve işletmelerin bu faaliyetlere cevap vermek üzere geliştirdikleri stratejiler, işletmelerin başarısı üzerinde oldukça belirleyici olmaktadır. İşletmelerin rakipleriyle olan rekabeti dışında, işletmenin faaliyet gösterdiği sektörde var olan rekabetin yoğunluğu da işletmeleri önemli ölçüde etkilemektedir</a:t>
            </a:r>
          </a:p>
        </p:txBody>
      </p:sp>
    </p:spTree>
    <p:extLst>
      <p:ext uri="{BB962C8B-B14F-4D97-AF65-F5344CB8AC3E}">
        <p14:creationId xmlns:p14="http://schemas.microsoft.com/office/powerpoint/2010/main" val="1955693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DC0FB6-3617-34D5-7DCF-3DD827CE181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Kırmızı bir satırla bağlanan küpler">
            <a:extLst>
              <a:ext uri="{FF2B5EF4-FFF2-40B4-BE49-F238E27FC236}">
                <a16:creationId xmlns:a16="http://schemas.microsoft.com/office/drawing/2014/main" id="{8AB55B09-8325-47E8-D9D6-6A7EFA2E6395}"/>
              </a:ext>
            </a:extLst>
          </p:cNvPr>
          <p:cNvPicPr>
            <a:picLocks noChangeAspect="1"/>
          </p:cNvPicPr>
          <p:nvPr/>
        </p:nvPicPr>
        <p:blipFill>
          <a:blip r:embed="rId3"/>
          <a:srcRect l="28149" r="16719" b="-1"/>
          <a:stretch/>
        </p:blipFill>
        <p:spPr>
          <a:xfrm>
            <a:off x="20" y="10"/>
            <a:ext cx="4910308" cy="6857990"/>
          </a:xfrm>
          <a:prstGeom prst="rect">
            <a:avLst/>
          </a:prstGeom>
        </p:spPr>
      </p:pic>
      <p:sp>
        <p:nvSpPr>
          <p:cNvPr id="2" name="Başlık 1">
            <a:extLst>
              <a:ext uri="{FF2B5EF4-FFF2-40B4-BE49-F238E27FC236}">
                <a16:creationId xmlns:a16="http://schemas.microsoft.com/office/drawing/2014/main" id="{7F6A349D-B488-4331-6301-1ACEB5A548DC}"/>
              </a:ext>
            </a:extLst>
          </p:cNvPr>
          <p:cNvSpPr>
            <a:spLocks noGrp="1"/>
          </p:cNvSpPr>
          <p:nvPr>
            <p:ph type="title"/>
          </p:nvPr>
        </p:nvSpPr>
        <p:spPr>
          <a:xfrm>
            <a:off x="5568537" y="603504"/>
            <a:ext cx="5916168" cy="1527048"/>
          </a:xfrm>
        </p:spPr>
        <p:txBody>
          <a:bodyPr anchor="b">
            <a:normAutofit/>
          </a:bodyPr>
          <a:lstStyle/>
          <a:p>
            <a:r>
              <a:rPr lang="tr-TR"/>
              <a:t>Rakipler ve Rekabet</a:t>
            </a:r>
          </a:p>
        </p:txBody>
      </p:sp>
      <p:sp>
        <p:nvSpPr>
          <p:cNvPr id="3" name="İçerik Yer Tutucusu 2">
            <a:extLst>
              <a:ext uri="{FF2B5EF4-FFF2-40B4-BE49-F238E27FC236}">
                <a16:creationId xmlns:a16="http://schemas.microsoft.com/office/drawing/2014/main" id="{FD282434-64D5-683E-E520-173B42DA34D8}"/>
              </a:ext>
            </a:extLst>
          </p:cNvPr>
          <p:cNvSpPr>
            <a:spLocks noGrp="1"/>
          </p:cNvSpPr>
          <p:nvPr>
            <p:ph idx="1"/>
          </p:nvPr>
        </p:nvSpPr>
        <p:spPr>
          <a:xfrm>
            <a:off x="5568537" y="2214282"/>
            <a:ext cx="5916168" cy="4095078"/>
          </a:xfrm>
        </p:spPr>
        <p:txBody>
          <a:bodyPr>
            <a:normAutofit/>
          </a:bodyPr>
          <a:lstStyle/>
          <a:p>
            <a:pPr algn="just">
              <a:lnSpc>
                <a:spcPct val="110000"/>
              </a:lnSpc>
            </a:pPr>
            <a:r>
              <a:rPr lang="tr-TR" sz="1300" dirty="0"/>
              <a:t>Bazı sektörler yeni işletmelerin giriş yapmasına izin vermeyen çeşitli engeller içermektedir. Bu durum, sektörde faaliyet gösteren rakipler arasındaki rekabeti olumsuz bir şekilde etkileyebilir. Yeni işletmelerin bazı sektörlere giriş yapamamalarının nedenleri arasında (</a:t>
            </a:r>
            <a:r>
              <a:rPr lang="tr-TR" sz="1300" dirty="0" err="1"/>
              <a:t>Hodge</a:t>
            </a:r>
            <a:r>
              <a:rPr lang="tr-TR" sz="1300" dirty="0"/>
              <a:t>, </a:t>
            </a:r>
            <a:r>
              <a:rPr lang="tr-TR" sz="1300" dirty="0" err="1"/>
              <a:t>Anthony</a:t>
            </a:r>
            <a:r>
              <a:rPr lang="tr-TR" sz="1300" dirty="0"/>
              <a:t> ve </a:t>
            </a:r>
            <a:r>
              <a:rPr lang="tr-TR" sz="1300" dirty="0" err="1"/>
              <a:t>Gales</a:t>
            </a:r>
            <a:r>
              <a:rPr lang="tr-TR" sz="1300" dirty="0"/>
              <a:t>, 2002); </a:t>
            </a:r>
          </a:p>
          <a:p>
            <a:pPr>
              <a:lnSpc>
                <a:spcPct val="110000"/>
              </a:lnSpc>
            </a:pPr>
            <a:r>
              <a:rPr lang="tr-TR" sz="1300" dirty="0"/>
              <a:t>Sektörde iş yapmak için gerekli işletme hacminin oldukça büyük olması, </a:t>
            </a:r>
          </a:p>
          <a:p>
            <a:pPr>
              <a:lnSpc>
                <a:spcPct val="110000"/>
              </a:lnSpc>
            </a:pPr>
            <a:r>
              <a:rPr lang="tr-TR" sz="1300" dirty="0"/>
              <a:t>Sektörde iş yapmak için gereken sermaye birikiminin oldukça fazla olması, </a:t>
            </a:r>
          </a:p>
          <a:p>
            <a:pPr>
              <a:lnSpc>
                <a:spcPct val="110000"/>
              </a:lnSpc>
            </a:pPr>
            <a:r>
              <a:rPr lang="tr-TR" sz="1300" dirty="0"/>
              <a:t>Sektörde yer alan işletmelerin ürünlerinin oldukça farklılaşmış, yenilikçi  ürünler olması, </a:t>
            </a:r>
          </a:p>
          <a:p>
            <a:pPr>
              <a:lnSpc>
                <a:spcPct val="110000"/>
              </a:lnSpc>
            </a:pPr>
            <a:r>
              <a:rPr lang="tr-TR" sz="1300" dirty="0"/>
              <a:t>Değişim maliyetlerinin yüksekliği,</a:t>
            </a:r>
          </a:p>
          <a:p>
            <a:pPr>
              <a:lnSpc>
                <a:spcPct val="110000"/>
              </a:lnSpc>
            </a:pPr>
            <a:r>
              <a:rPr lang="tr-TR" sz="1300" dirty="0"/>
              <a:t> Dağıtım kanallarına erişiminin kısıtlı olması ve	</a:t>
            </a:r>
          </a:p>
          <a:p>
            <a:pPr algn="just">
              <a:lnSpc>
                <a:spcPct val="110000"/>
              </a:lnSpc>
            </a:pPr>
            <a:r>
              <a:rPr lang="tr-TR" sz="1300" dirty="0"/>
              <a:t>Sektöre girişte çeşitli yasal engellerin  bulunması gibi etkenler yer almaktadır</a:t>
            </a:r>
          </a:p>
        </p:txBody>
      </p:sp>
    </p:spTree>
    <p:extLst>
      <p:ext uri="{BB962C8B-B14F-4D97-AF65-F5344CB8AC3E}">
        <p14:creationId xmlns:p14="http://schemas.microsoft.com/office/powerpoint/2010/main" val="3998178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0">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Markaları Sadık Müşteriler mi Yeni Müşteriler mi Büyütür? - Temel Aksoy Blog">
            <a:extLst>
              <a:ext uri="{FF2B5EF4-FFF2-40B4-BE49-F238E27FC236}">
                <a16:creationId xmlns:a16="http://schemas.microsoft.com/office/drawing/2014/main" id="{F88B57E3-A680-8C33-726D-5868F478F9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119" r="29312" b="-1"/>
          <a:stretch/>
        </p:blipFill>
        <p:spPr bwMode="auto">
          <a:xfrm>
            <a:off x="1" y="10"/>
            <a:ext cx="6373368"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8B60C103-F607-6FC4-9A34-A258C1682611}"/>
              </a:ext>
            </a:extLst>
          </p:cNvPr>
          <p:cNvSpPr>
            <a:spLocks noGrp="1"/>
          </p:cNvSpPr>
          <p:nvPr>
            <p:ph type="title"/>
          </p:nvPr>
        </p:nvSpPr>
        <p:spPr>
          <a:xfrm>
            <a:off x="7123015" y="603504"/>
            <a:ext cx="4361689" cy="1527048"/>
          </a:xfrm>
        </p:spPr>
        <p:txBody>
          <a:bodyPr anchor="b">
            <a:normAutofit/>
          </a:bodyPr>
          <a:lstStyle/>
          <a:p>
            <a:r>
              <a:rPr lang="tr-TR"/>
              <a:t>Müşteriler</a:t>
            </a:r>
          </a:p>
        </p:txBody>
      </p:sp>
      <p:sp>
        <p:nvSpPr>
          <p:cNvPr id="3" name="İçerik Yer Tutucusu 2">
            <a:extLst>
              <a:ext uri="{FF2B5EF4-FFF2-40B4-BE49-F238E27FC236}">
                <a16:creationId xmlns:a16="http://schemas.microsoft.com/office/drawing/2014/main" id="{ED57E091-AB50-70EF-7C88-26DCBD661AD3}"/>
              </a:ext>
            </a:extLst>
          </p:cNvPr>
          <p:cNvSpPr>
            <a:spLocks noGrp="1"/>
          </p:cNvSpPr>
          <p:nvPr>
            <p:ph idx="1"/>
          </p:nvPr>
        </p:nvSpPr>
        <p:spPr>
          <a:xfrm>
            <a:off x="7123017" y="2212848"/>
            <a:ext cx="4361688" cy="4096512"/>
          </a:xfrm>
        </p:spPr>
        <p:txBody>
          <a:bodyPr>
            <a:normAutofit/>
          </a:bodyPr>
          <a:lstStyle/>
          <a:p>
            <a:pPr>
              <a:lnSpc>
                <a:spcPct val="110000"/>
              </a:lnSpc>
            </a:pPr>
            <a:r>
              <a:rPr lang="tr-TR" sz="1500"/>
              <a:t>İşletmelerin sektörel çevresinin temel bileşenlerinden birisi de müşterilerdir. Müşteriler, işletmelerin sundukları ürünleri kendi bireysel ihtiyaçlarını karşılamak için talep edebilecekleri gibi, yeniden satmak veya kendi üretim süreçlerinde kullanmak üzere de talep edebilirler. Kendi bireysel ihtiyaçları için işletmelerin çeşitli çıktılarını talep eden müşteriler, bireysel müşteri olarak nitelendirilmektedir. Bunun yanında işletmelerin ürünlerini yeniden satmak veya kendi üretim süreçlerinde kullanmak için talep eden müşteriler, endüstriyel müşteri olarak adlandırılmaktadır (Mirze, 2010).</a:t>
            </a:r>
          </a:p>
        </p:txBody>
      </p:sp>
    </p:spTree>
    <p:extLst>
      <p:ext uri="{BB962C8B-B14F-4D97-AF65-F5344CB8AC3E}">
        <p14:creationId xmlns:p14="http://schemas.microsoft.com/office/powerpoint/2010/main" val="974894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C345883-854A-DFA4-4B2E-D24B48919767}"/>
              </a:ext>
            </a:extLst>
          </p:cNvPr>
          <p:cNvSpPr>
            <a:spLocks noGrp="1"/>
          </p:cNvSpPr>
          <p:nvPr>
            <p:ph type="title"/>
          </p:nvPr>
        </p:nvSpPr>
        <p:spPr>
          <a:xfrm>
            <a:off x="614679" y="548640"/>
            <a:ext cx="4779572" cy="2067705"/>
          </a:xfrm>
        </p:spPr>
        <p:txBody>
          <a:bodyPr anchor="t">
            <a:normAutofit/>
          </a:bodyPr>
          <a:lstStyle/>
          <a:p>
            <a:r>
              <a:rPr lang="tr-TR"/>
              <a:t>Tedarikçiler ve Stratejik Ortaklıklar</a:t>
            </a:r>
          </a:p>
        </p:txBody>
      </p:sp>
      <p:sp>
        <p:nvSpPr>
          <p:cNvPr id="3" name="İçerik Yer Tutucusu 2">
            <a:extLst>
              <a:ext uri="{FF2B5EF4-FFF2-40B4-BE49-F238E27FC236}">
                <a16:creationId xmlns:a16="http://schemas.microsoft.com/office/drawing/2014/main" id="{D8A8948B-F1F6-D517-B470-78B18CBA3DAD}"/>
              </a:ext>
            </a:extLst>
          </p:cNvPr>
          <p:cNvSpPr>
            <a:spLocks noGrp="1"/>
          </p:cNvSpPr>
          <p:nvPr>
            <p:ph idx="1"/>
          </p:nvPr>
        </p:nvSpPr>
        <p:spPr>
          <a:xfrm>
            <a:off x="6030551" y="548638"/>
            <a:ext cx="5546770" cy="5760721"/>
          </a:xfrm>
        </p:spPr>
        <p:txBody>
          <a:bodyPr anchor="t">
            <a:normAutofit/>
          </a:bodyPr>
          <a:lstStyle/>
          <a:p>
            <a:r>
              <a:rPr lang="tr-TR" sz="1800"/>
              <a:t>İşletmelerin ihtiyaç duydukları girdilerin birçoğu, işletmelerin birlikte çalıştığı tedarikçiler tarafından sağlanmaktadır. Tedarikçiler işletmelerin üretim süreçlerinde ihtiyaç duyacağı girdileri sağlayan kişi veya kuruluşlar şeklinde tanımlanmaktadır (Mirze, 2010). Tedarikçiler tarafından işletmelere sağlanan girdiler oldukça çeşitlidir. Bu girdiler hammadde ve malzeme gibi daha somut girdileri içerebileceği gibi deneyim veya bilgi gibi daha soyut girdileri de içerebilir. Tedarikçilerin işletmeyle olan bağları da farklılık göstermektedir. Bazı tedarikçiler işletmeden ayrı bir işletme niteliğinde yapılanmışken bazı tedarikçiler işletme şemsiyesi altında faaliyet gösteren işletme birimleri şeklinde yapılanmış olabilmektedirler.</a:t>
            </a:r>
          </a:p>
        </p:txBody>
      </p:sp>
      <p:pic>
        <p:nvPicPr>
          <p:cNvPr id="2050" name="Picture 2" descr="What You Need to Know to Select the Best Suppliers for Your Business">
            <a:extLst>
              <a:ext uri="{FF2B5EF4-FFF2-40B4-BE49-F238E27FC236}">
                <a16:creationId xmlns:a16="http://schemas.microsoft.com/office/drawing/2014/main" id="{4B902FCD-918B-FC73-521E-F2FD6A96FD3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590951"/>
            <a:ext cx="4673754" cy="2718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246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6353FC-AC84-8BC8-C18E-BF5F9B1252CD}"/>
            </a:ext>
          </a:extLst>
        </p:cNvPr>
        <p:cNvGrpSpPr/>
        <p:nvPr/>
      </p:nvGrpSpPr>
      <p:grpSpPr>
        <a:xfrm>
          <a:off x="0" y="0"/>
          <a:ext cx="0" cy="0"/>
          <a:chOff x="0" y="0"/>
          <a:chExt cx="0" cy="0"/>
        </a:xfrm>
      </p:grpSpPr>
      <p:sp>
        <p:nvSpPr>
          <p:cNvPr id="3079" name="Rectangle 3078">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90D54D0-CDEE-B80E-4ECD-44F5002E8744}"/>
              </a:ext>
            </a:extLst>
          </p:cNvPr>
          <p:cNvSpPr>
            <a:spLocks noGrp="1"/>
          </p:cNvSpPr>
          <p:nvPr>
            <p:ph type="title"/>
          </p:nvPr>
        </p:nvSpPr>
        <p:spPr>
          <a:xfrm>
            <a:off x="614679" y="548640"/>
            <a:ext cx="4779572" cy="2067705"/>
          </a:xfrm>
        </p:spPr>
        <p:txBody>
          <a:bodyPr anchor="t">
            <a:normAutofit/>
          </a:bodyPr>
          <a:lstStyle/>
          <a:p>
            <a:r>
              <a:rPr lang="tr-TR"/>
              <a:t>Tedarikçiler ve Stratejik Ortaklıklar</a:t>
            </a:r>
          </a:p>
        </p:txBody>
      </p:sp>
      <p:sp>
        <p:nvSpPr>
          <p:cNvPr id="3" name="İçerik Yer Tutucusu 2">
            <a:extLst>
              <a:ext uri="{FF2B5EF4-FFF2-40B4-BE49-F238E27FC236}">
                <a16:creationId xmlns:a16="http://schemas.microsoft.com/office/drawing/2014/main" id="{A9F65D69-4034-D335-F914-BA1785236A2F}"/>
              </a:ext>
            </a:extLst>
          </p:cNvPr>
          <p:cNvSpPr>
            <a:spLocks noGrp="1"/>
          </p:cNvSpPr>
          <p:nvPr>
            <p:ph idx="1"/>
          </p:nvPr>
        </p:nvSpPr>
        <p:spPr>
          <a:xfrm>
            <a:off x="6030551" y="548638"/>
            <a:ext cx="5546770" cy="5760721"/>
          </a:xfrm>
        </p:spPr>
        <p:txBody>
          <a:bodyPr anchor="t">
            <a:normAutofit/>
          </a:bodyPr>
          <a:lstStyle/>
          <a:p>
            <a:r>
              <a:rPr lang="tr-TR" sz="1800"/>
              <a:t>Girdi temelli tedarik zinciri yaklaşımına ek olarak, işletmelerin sektörel çevre içinde daha etkin bir rol almaları adına giriştikleri bir diğer yol da farklı işletmelerle stratejik ortaklıklar kurmaktır. İşletmeler çeşitli ortak hedeflere etkin bir şekilde ulaşabilmek için bazı işletmelerle oldukça yakın iş ilişkileri kurmak durumundadırlar. İşletmelerin bu tür bir etkileşim içinde oldukları işletmeler, söz konusu işletmenin stratejik ortakları olarak adlandırılmaktadır. Stratejik ortaklıklarda işletmelerin ortaklığa katılım seviyeleri farklılık gösterebilir. Bu noktada bilinmesi gereken stratejik ortaklıklar sayesinde çeşitli işletmelerin bir araya gelerek, sektörel çevre bağlamında daha güçlü bir yapı oluşturma eğiliminde olduklarıdır. </a:t>
            </a:r>
          </a:p>
        </p:txBody>
      </p:sp>
      <p:pic>
        <p:nvPicPr>
          <p:cNvPr id="3074" name="Picture 2" descr="How To Choose The Right Supplier For Your Business - GIS user technology  news">
            <a:extLst>
              <a:ext uri="{FF2B5EF4-FFF2-40B4-BE49-F238E27FC236}">
                <a16:creationId xmlns:a16="http://schemas.microsoft.com/office/drawing/2014/main" id="{395E9646-2C4B-001C-8170-EB6151927BB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201311"/>
            <a:ext cx="4673754" cy="3108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93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098" name="Picture 2" descr="IMPO | Clear Minds - İş Gücü Piyasa Analizi">
            <a:extLst>
              <a:ext uri="{FF2B5EF4-FFF2-40B4-BE49-F238E27FC236}">
                <a16:creationId xmlns:a16="http://schemas.microsoft.com/office/drawing/2014/main" id="{F482FA14-299F-4571-6F74-0D6E88CF4E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120" r="16570" b="1"/>
          <a:stretch/>
        </p:blipFill>
        <p:spPr bwMode="auto">
          <a:xfrm>
            <a:off x="731521" y="2011679"/>
            <a:ext cx="4684352" cy="4297680"/>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A904BDD0-0EE6-B818-802A-9E8DCBACA3AE}"/>
              </a:ext>
            </a:extLst>
          </p:cNvPr>
          <p:cNvSpPr>
            <a:spLocks noGrp="1"/>
          </p:cNvSpPr>
          <p:nvPr>
            <p:ph type="title"/>
          </p:nvPr>
        </p:nvSpPr>
        <p:spPr>
          <a:xfrm>
            <a:off x="614679" y="548641"/>
            <a:ext cx="4779572" cy="1298448"/>
          </a:xfrm>
        </p:spPr>
        <p:txBody>
          <a:bodyPr anchor="t">
            <a:normAutofit/>
          </a:bodyPr>
          <a:lstStyle/>
          <a:p>
            <a:r>
              <a:rPr lang="tr-TR"/>
              <a:t>İşgücü Piyasası</a:t>
            </a:r>
          </a:p>
        </p:txBody>
      </p:sp>
      <p:sp>
        <p:nvSpPr>
          <p:cNvPr id="3" name="İçerik Yer Tutucusu 2">
            <a:extLst>
              <a:ext uri="{FF2B5EF4-FFF2-40B4-BE49-F238E27FC236}">
                <a16:creationId xmlns:a16="http://schemas.microsoft.com/office/drawing/2014/main" id="{18EFDD1D-EE00-9390-E46F-0E9ECFABADD4}"/>
              </a:ext>
            </a:extLst>
          </p:cNvPr>
          <p:cNvSpPr>
            <a:spLocks noGrp="1"/>
          </p:cNvSpPr>
          <p:nvPr>
            <p:ph idx="1"/>
          </p:nvPr>
        </p:nvSpPr>
        <p:spPr>
          <a:xfrm>
            <a:off x="6030551" y="548638"/>
            <a:ext cx="5546770" cy="5760721"/>
          </a:xfrm>
        </p:spPr>
        <p:txBody>
          <a:bodyPr anchor="t">
            <a:normAutofit/>
          </a:bodyPr>
          <a:lstStyle/>
          <a:p>
            <a:pPr algn="just">
              <a:lnSpc>
                <a:spcPct val="110000"/>
              </a:lnSpc>
            </a:pPr>
            <a:r>
              <a:rPr lang="tr-TR" sz="1700" dirty="0"/>
              <a:t>İşletmelerin performansı üzerinde etkili olan bir diğer sektörel çevre bileşeni de işgücüdür. İşletmeler faaliyetlerini sürdürmek için gerek duydukları işgücünü genelde işletme sınırları dışından temin etmek zorundadırlar. İşletme gereksinimlerine uygun işgücünün bulunması ve daha sonrasında seçilmesi işletmelerin insan kaynakları bölümlerince yürütülen temel işlevlerden biridir. Bu seçimin sonuçları işletmenin başarısı üzerinde oldukça önemli bir etkiye sahiptir (</a:t>
            </a:r>
            <a:r>
              <a:rPr lang="tr-TR" sz="1700" dirty="0" err="1"/>
              <a:t>Lussier</a:t>
            </a:r>
            <a:r>
              <a:rPr lang="tr-TR" sz="1700" dirty="0"/>
              <a:t>, 2006). Hiçbir işletme, işgücü olmadan faaliyetlerini sürdüremez. İşletmeler gereksinim duydukları işgücünü işgücü piyasasından temin ederler. İşgücü piyasasında oluşan işgücü arzı ve talebi arasındaki denge, işletmenin başarısı üzerinde oldukça belirleyici bir etkiye sahiptir. İşletmenin işgücü talebi, iş gücü piyasasında var olan işgücü arzından fazla olursa işgücü maliyetleri kaçınılmaz olarak artacaktır.</a:t>
            </a:r>
          </a:p>
        </p:txBody>
      </p:sp>
    </p:spTree>
    <p:extLst>
      <p:ext uri="{BB962C8B-B14F-4D97-AF65-F5344CB8AC3E}">
        <p14:creationId xmlns:p14="http://schemas.microsoft.com/office/powerpoint/2010/main" val="3355889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9" name="Rectangle 5126">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1E6B3B1-9820-D90B-A75D-583F3744E0DD}"/>
              </a:ext>
            </a:extLst>
          </p:cNvPr>
          <p:cNvSpPr>
            <a:spLocks noGrp="1"/>
          </p:cNvSpPr>
          <p:nvPr>
            <p:ph type="title"/>
          </p:nvPr>
        </p:nvSpPr>
        <p:spPr>
          <a:xfrm>
            <a:off x="614677" y="603504"/>
            <a:ext cx="10872216" cy="1527048"/>
          </a:xfrm>
        </p:spPr>
        <p:txBody>
          <a:bodyPr anchor="b">
            <a:normAutofit/>
          </a:bodyPr>
          <a:lstStyle/>
          <a:p>
            <a:r>
              <a:rPr lang="tr-TR"/>
              <a:t>Düzenleyici Kurumlar ve Çıkar Grupları</a:t>
            </a:r>
          </a:p>
        </p:txBody>
      </p:sp>
      <p:sp>
        <p:nvSpPr>
          <p:cNvPr id="3" name="İçerik Yer Tutucusu 2">
            <a:extLst>
              <a:ext uri="{FF2B5EF4-FFF2-40B4-BE49-F238E27FC236}">
                <a16:creationId xmlns:a16="http://schemas.microsoft.com/office/drawing/2014/main" id="{74522ACB-466C-8FD3-B1C2-F7602C2D74E2}"/>
              </a:ext>
            </a:extLst>
          </p:cNvPr>
          <p:cNvSpPr>
            <a:spLocks noGrp="1"/>
          </p:cNvSpPr>
          <p:nvPr>
            <p:ph idx="1"/>
          </p:nvPr>
        </p:nvSpPr>
        <p:spPr>
          <a:xfrm>
            <a:off x="6096000" y="2441273"/>
            <a:ext cx="5385816" cy="3817942"/>
          </a:xfrm>
        </p:spPr>
        <p:txBody>
          <a:bodyPr anchor="t">
            <a:normAutofit/>
          </a:bodyPr>
          <a:lstStyle/>
          <a:p>
            <a:pPr algn="just">
              <a:lnSpc>
                <a:spcPct val="110000"/>
              </a:lnSpc>
            </a:pPr>
            <a:r>
              <a:rPr lang="tr-TR" sz="1800" dirty="0"/>
              <a:t>İşletmelerin sektörel çevresinde yer alan düzenleyici kurumların ve çıkar gruplarının işletmelerin faaliyetleri üzerinde önemli bir yaptırım gücü vardır. Düzenleyici kurumlar; devlet tarafından kamu yararını korumak amacıyla kurulmuş, belli uzmanlık alanlarında faaliyet gösteren, bu alanlardaki uygulama kalıplarını belirleyen veya çeşitli düzenlemeler yapan resmi kuruluşlardır. Düzenleyici kurumlar tarafından yapılan işletmecilik faaliyetlerine ilişkin düzenlemeler, işletmeler açısından bağlayıcı nitelik taşımaktadır</a:t>
            </a:r>
          </a:p>
        </p:txBody>
      </p:sp>
      <p:pic>
        <p:nvPicPr>
          <p:cNvPr id="5122" name="Picture 2" descr="Denetleyici ve Düzenleyici Kurumlar Nelerdir? - Av. Ahmet Ekin">
            <a:extLst>
              <a:ext uri="{FF2B5EF4-FFF2-40B4-BE49-F238E27FC236}">
                <a16:creationId xmlns:a16="http://schemas.microsoft.com/office/drawing/2014/main" id="{71736767-59FB-9B7E-B2A7-DBAB504B0AA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4678" y="2441274"/>
            <a:ext cx="5173647" cy="283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55290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71DC26-9ABC-8557-17D6-C3075131894F}"/>
            </a:ext>
          </a:extLst>
        </p:cNvPr>
        <p:cNvGrpSpPr/>
        <p:nvPr/>
      </p:nvGrpSpPr>
      <p:grpSpPr>
        <a:xfrm>
          <a:off x="0" y="0"/>
          <a:ext cx="0" cy="0"/>
          <a:chOff x="0" y="0"/>
          <a:chExt cx="0" cy="0"/>
        </a:xfrm>
      </p:grpSpPr>
      <p:sp>
        <p:nvSpPr>
          <p:cNvPr id="6156" name="Rectangle 6155">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95E6FE3-10D6-BE08-E0DB-FAF7EFC042A6}"/>
              </a:ext>
            </a:extLst>
          </p:cNvPr>
          <p:cNvSpPr>
            <a:spLocks noGrp="1"/>
          </p:cNvSpPr>
          <p:nvPr>
            <p:ph type="title"/>
          </p:nvPr>
        </p:nvSpPr>
        <p:spPr>
          <a:xfrm>
            <a:off x="614679" y="548640"/>
            <a:ext cx="4779572" cy="2067705"/>
          </a:xfrm>
        </p:spPr>
        <p:txBody>
          <a:bodyPr anchor="t">
            <a:normAutofit/>
          </a:bodyPr>
          <a:lstStyle/>
          <a:p>
            <a:r>
              <a:rPr lang="tr-TR"/>
              <a:t>Düzenleyici Kurumlar ve Çıkar Grupları</a:t>
            </a:r>
          </a:p>
        </p:txBody>
      </p:sp>
      <p:sp>
        <p:nvSpPr>
          <p:cNvPr id="3" name="İçerik Yer Tutucusu 2">
            <a:extLst>
              <a:ext uri="{FF2B5EF4-FFF2-40B4-BE49-F238E27FC236}">
                <a16:creationId xmlns:a16="http://schemas.microsoft.com/office/drawing/2014/main" id="{F036F01C-A584-3A31-CF84-ACCB92703F1A}"/>
              </a:ext>
            </a:extLst>
          </p:cNvPr>
          <p:cNvSpPr>
            <a:spLocks noGrp="1"/>
          </p:cNvSpPr>
          <p:nvPr>
            <p:ph idx="1"/>
          </p:nvPr>
        </p:nvSpPr>
        <p:spPr>
          <a:xfrm>
            <a:off x="6030551" y="548638"/>
            <a:ext cx="5546770" cy="5760721"/>
          </a:xfrm>
        </p:spPr>
        <p:txBody>
          <a:bodyPr anchor="t">
            <a:normAutofit/>
          </a:bodyPr>
          <a:lstStyle/>
          <a:p>
            <a:pPr algn="just">
              <a:lnSpc>
                <a:spcPct val="110000"/>
              </a:lnSpc>
            </a:pPr>
            <a:r>
              <a:rPr lang="tr-TR" sz="1800" dirty="0"/>
              <a:t>Yukarıda verilen düzenleyici kurum tanımıyla tutarlı bir yapıya sahip, ülkemizde faaliyet gösteren düzenleyici kurumlardan biri olan Sermaye Piyasası Kurulu (SPK)’</a:t>
            </a:r>
            <a:r>
              <a:rPr lang="tr-TR" sz="1800" dirty="0" err="1"/>
              <a:t>nun</a:t>
            </a:r>
            <a:r>
              <a:rPr lang="tr-TR" sz="1800" dirty="0"/>
              <a:t> görevi aşağıda belirtilmiştir; </a:t>
            </a:r>
          </a:p>
          <a:p>
            <a:pPr algn="just">
              <a:lnSpc>
                <a:spcPct val="110000"/>
              </a:lnSpc>
            </a:pPr>
            <a:r>
              <a:rPr lang="tr-TR" sz="1800" dirty="0"/>
              <a:t>“Sermaye Piyasası Kurulu, 1981 yılında 2499 sayılı Sermaye Piyasası Kanunu ile kurulmuştur. Yetkilerini kendi sorumluluğu altında bağımsız olarak kullanan, idari ve mali özerkliğe sahip düzenleyici bir kamu kurumudur. İlgili olduğu bakanlık, Başbakan tarafından görevlendirilen Devlet Bakanlığı’dır. Merkezi Ankara’da olan kurulun İstanbul’da bir temsilciliği bulunmaktadır. Kurul’un temel görevi; sermaye piyasasının güven, açıklık ve kararlılık içinde çalışmasını ve tasarruf sahiplerinin yani yatırımcıların hak ve yararlarının korunmasını sağlamaktır.”</a:t>
            </a:r>
          </a:p>
        </p:txBody>
      </p:sp>
      <p:pic>
        <p:nvPicPr>
          <p:cNvPr id="6148" name="Picture 4" descr="Sermaye Piyasası Kurulu 50 Uzman Yardımcısı Alacak - Memurlar.Net">
            <a:extLst>
              <a:ext uri="{FF2B5EF4-FFF2-40B4-BE49-F238E27FC236}">
                <a16:creationId xmlns:a16="http://schemas.microsoft.com/office/drawing/2014/main" id="{F54999A0-FC9F-113E-BBBF-3BEF825B6F6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972481"/>
            <a:ext cx="4673754" cy="2336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2632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D82B5C-D559-F7CB-7225-5743DF3FDA10}"/>
            </a:ext>
          </a:extLst>
        </p:cNvPr>
        <p:cNvGrpSpPr/>
        <p:nvPr/>
      </p:nvGrpSpPr>
      <p:grpSpPr>
        <a:xfrm>
          <a:off x="0" y="0"/>
          <a:ext cx="0" cy="0"/>
          <a:chOff x="0" y="0"/>
          <a:chExt cx="0" cy="0"/>
        </a:xfrm>
      </p:grpSpPr>
      <p:sp>
        <p:nvSpPr>
          <p:cNvPr id="7175" name="Rectangle 717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654B24B-E12B-26F0-6DE9-09B3D808BB46}"/>
              </a:ext>
            </a:extLst>
          </p:cNvPr>
          <p:cNvSpPr>
            <a:spLocks noGrp="1"/>
          </p:cNvSpPr>
          <p:nvPr>
            <p:ph type="title"/>
          </p:nvPr>
        </p:nvSpPr>
        <p:spPr>
          <a:xfrm>
            <a:off x="614679" y="548640"/>
            <a:ext cx="4779572" cy="2067705"/>
          </a:xfrm>
        </p:spPr>
        <p:txBody>
          <a:bodyPr anchor="t">
            <a:normAutofit/>
          </a:bodyPr>
          <a:lstStyle/>
          <a:p>
            <a:r>
              <a:rPr lang="tr-TR"/>
              <a:t>Düzenleyici Kurumlar ve Çıkar Grupları</a:t>
            </a:r>
          </a:p>
        </p:txBody>
      </p:sp>
      <p:sp>
        <p:nvSpPr>
          <p:cNvPr id="3" name="İçerik Yer Tutucusu 2">
            <a:extLst>
              <a:ext uri="{FF2B5EF4-FFF2-40B4-BE49-F238E27FC236}">
                <a16:creationId xmlns:a16="http://schemas.microsoft.com/office/drawing/2014/main" id="{FBE49EDC-42D8-D39F-F31A-3CCBB7BDAAA2}"/>
              </a:ext>
            </a:extLst>
          </p:cNvPr>
          <p:cNvSpPr>
            <a:spLocks noGrp="1"/>
          </p:cNvSpPr>
          <p:nvPr>
            <p:ph idx="1"/>
          </p:nvPr>
        </p:nvSpPr>
        <p:spPr>
          <a:xfrm>
            <a:off x="6030551" y="548638"/>
            <a:ext cx="5546770" cy="5760721"/>
          </a:xfrm>
        </p:spPr>
        <p:txBody>
          <a:bodyPr anchor="t">
            <a:normAutofit/>
          </a:bodyPr>
          <a:lstStyle/>
          <a:p>
            <a:pPr>
              <a:lnSpc>
                <a:spcPct val="110000"/>
              </a:lnSpc>
            </a:pPr>
            <a:r>
              <a:rPr lang="tr-TR" sz="1500"/>
              <a:t>Görüldüğü üzere SPK oldukça geniş bir faaliyet alanında düzenleme yetkisiyle donatılmış bir kurum niteliği taşımaktadır. Fakat her düzenleyici kurum için durum böyle değildir.</a:t>
            </a:r>
          </a:p>
          <a:p>
            <a:pPr>
              <a:lnSpc>
                <a:spcPct val="110000"/>
              </a:lnSpc>
            </a:pPr>
            <a:r>
              <a:rPr lang="tr-TR" sz="1500"/>
              <a:t>Örneğin Enerji Piyasası Düzenleme ve Denetleme Kurumu (EPDK) daha sektörel bir düzenleyici kurum konumundadır. EPDK’nin görevleri ve yapısına ilişkin bilgiler aşağıda yer almaktadır; </a:t>
            </a:r>
          </a:p>
          <a:p>
            <a:pPr>
              <a:lnSpc>
                <a:spcPct val="110000"/>
              </a:lnSpc>
            </a:pPr>
            <a:r>
              <a:rPr lang="tr-TR" sz="1500"/>
              <a:t>“Kurum; 4628 sayılı Elektrik Piyasası Kanunu (2001), 4646 sayılı Doğal Gaz Piyasası Kanunu (2001), 5015 sayılı Petrol Piyasası Kanunu (2003), 5307 sayılı Sıvılaştırılmış Petrol Gazları (LPG) Piyasası Kanunu (2005) ile kendisine verilen görevleri ifa etmekte ve yetkileri kullanmaktadır. Söz konusu Kanunlar ile elektrik, doğal gaz, petrol ve LPG’nin; yeterli, kaliteli, sürekli, düşük maliyetli ve çevreyle uyumlu bir şekilde tüketicilerin kullanımına sunulması için, rekabet ortamında özel hukuk hükümlerine göre faaliyet gösterebilecek, mali açıdan güçlü, istikrarlı ve şeffaf bir enerji piyasasının oluşturulması ve bu piyasada bağımsız bir düzenleme ve denetimin sağlanması amaçlanmaktadır.”</a:t>
            </a:r>
          </a:p>
        </p:txBody>
      </p:sp>
      <p:pic>
        <p:nvPicPr>
          <p:cNvPr id="7170" name="Picture 2" descr="Denetleyici ve Düzenleyici Kurumlar Nelerdir? - Av. Ahmet Ekin">
            <a:extLst>
              <a:ext uri="{FF2B5EF4-FFF2-40B4-BE49-F238E27FC236}">
                <a16:creationId xmlns:a16="http://schemas.microsoft.com/office/drawing/2014/main" id="{FEA0CCA0-4027-ADF2-56C2-00B5FC6BA1B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867321"/>
            <a:ext cx="4673754" cy="2442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552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11A5211-FF0B-991C-FB29-760883A3A561}"/>
              </a:ext>
            </a:extLst>
          </p:cNvPr>
          <p:cNvSpPr>
            <a:spLocks noGrp="1"/>
          </p:cNvSpPr>
          <p:nvPr>
            <p:ph type="title"/>
          </p:nvPr>
        </p:nvSpPr>
        <p:spPr>
          <a:xfrm>
            <a:off x="614679" y="548640"/>
            <a:ext cx="4779572" cy="2067705"/>
          </a:xfrm>
        </p:spPr>
        <p:txBody>
          <a:bodyPr anchor="t">
            <a:normAutofit/>
          </a:bodyPr>
          <a:lstStyle/>
          <a:p>
            <a:r>
              <a:rPr lang="tr-TR"/>
              <a:t>İşletmenin İç Çevresi</a:t>
            </a:r>
          </a:p>
        </p:txBody>
      </p:sp>
      <p:sp>
        <p:nvSpPr>
          <p:cNvPr id="3" name="İçerik Yer Tutucusu 2">
            <a:extLst>
              <a:ext uri="{FF2B5EF4-FFF2-40B4-BE49-F238E27FC236}">
                <a16:creationId xmlns:a16="http://schemas.microsoft.com/office/drawing/2014/main" id="{00D26CCA-04E8-8CA1-C734-11DBAA97EE7D}"/>
              </a:ext>
            </a:extLst>
          </p:cNvPr>
          <p:cNvSpPr>
            <a:spLocks noGrp="1"/>
          </p:cNvSpPr>
          <p:nvPr>
            <p:ph idx="1"/>
          </p:nvPr>
        </p:nvSpPr>
        <p:spPr>
          <a:xfrm>
            <a:off x="6030551" y="548638"/>
            <a:ext cx="5546770" cy="5760721"/>
          </a:xfrm>
        </p:spPr>
        <p:txBody>
          <a:bodyPr anchor="t">
            <a:normAutofit lnSpcReduction="10000"/>
          </a:bodyPr>
          <a:lstStyle/>
          <a:p>
            <a:pPr algn="just"/>
            <a:r>
              <a:rPr lang="tr-TR" sz="1700" dirty="0"/>
              <a:t>İşletmenin çevresi, sistem bakış açısıyla incelendiğinde, her işletmenin kendisine özgü bir iç çevresi olduğu açıkça görülecektir. İç çevre, işletme sisteminin en derinde yer alan alt sistemi olarak düşünülebilir. İşletmelerin iç çevresinin işletmeden işletmeye farklılık göstermesi, işletmelerin iç çevre bileşenlerinin değişen yapısıyla açıklanmaktadır. İşletmeciler işletmelerin dış çevreyle olan etkileşimlerini analiz ederken ve yönetirken, işletmenin iç çevre dinamiklerini de göz ardı etmemelidirler. </a:t>
            </a:r>
          </a:p>
          <a:p>
            <a:pPr algn="just"/>
            <a:r>
              <a:rPr lang="tr-TR" sz="1700" dirty="0"/>
              <a:t>Bu derste işletme iç çevresi misyon, vizyon ve temel yetenekler, örgüt yapısı ve örgüt kültürü olmak üzere üç alt başlıkta incelenecektir. Söz konusu üç alt başlığın işletmenin içyapısını tam olarak ortaya koyması beklenmemeli, bu noktalar işletmeyi ve çevresini anlayabilmek adına bir başlangıç noktası olarak değerlendirilmelidir.</a:t>
            </a:r>
          </a:p>
        </p:txBody>
      </p:sp>
      <p:pic>
        <p:nvPicPr>
          <p:cNvPr id="8194" name="Picture 2" descr="Vision and mission statements, core values - Wind4Change">
            <a:extLst>
              <a:ext uri="{FF2B5EF4-FFF2-40B4-BE49-F238E27FC236}">
                <a16:creationId xmlns:a16="http://schemas.microsoft.com/office/drawing/2014/main" id="{95670115-6F69-DF08-DE98-DC06DAEB573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2976281"/>
            <a:ext cx="3469430" cy="3333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8402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F69C1-F58B-488A-EC7C-D34A1AD0A2B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CA8DB80-085F-D841-757C-DDEA3F0326C7}"/>
              </a:ext>
            </a:extLst>
          </p:cNvPr>
          <p:cNvSpPr>
            <a:spLocks noGrp="1"/>
          </p:cNvSpPr>
          <p:nvPr>
            <p:ph type="title"/>
          </p:nvPr>
        </p:nvSpPr>
        <p:spPr/>
        <p:txBody>
          <a:bodyPr/>
          <a:lstStyle/>
          <a:p>
            <a:r>
              <a:rPr lang="tr-TR"/>
              <a:t>İşletmenin İç Çevresi</a:t>
            </a:r>
          </a:p>
        </p:txBody>
      </p:sp>
      <p:pic>
        <p:nvPicPr>
          <p:cNvPr id="5" name="İçerik Yer Tutucusu 4" descr="metin, diyagram, ekran görüntüsü, daire içeren bir resim&#10;&#10;Yapay zeka tarafından oluşturulan içerik yanlış olabilir.">
            <a:extLst>
              <a:ext uri="{FF2B5EF4-FFF2-40B4-BE49-F238E27FC236}">
                <a16:creationId xmlns:a16="http://schemas.microsoft.com/office/drawing/2014/main" id="{25E135C9-EE96-E3C7-257C-C403AC6A1BD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43891" y="981344"/>
            <a:ext cx="10979893" cy="5591144"/>
          </a:xfrm>
        </p:spPr>
      </p:pic>
    </p:spTree>
    <p:extLst>
      <p:ext uri="{BB962C8B-B14F-4D97-AF65-F5344CB8AC3E}">
        <p14:creationId xmlns:p14="http://schemas.microsoft.com/office/powerpoint/2010/main" val="2538143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252760-2445-8D05-9715-BD936FEE63F8}"/>
            </a:ext>
          </a:extLst>
        </p:cNvPr>
        <p:cNvGrpSpPr/>
        <p:nvPr/>
      </p:nvGrpSpPr>
      <p:grpSpPr>
        <a:xfrm>
          <a:off x="0" y="0"/>
          <a:ext cx="0" cy="0"/>
          <a:chOff x="0" y="0"/>
          <a:chExt cx="0" cy="0"/>
        </a:xfrm>
      </p:grpSpPr>
      <p:sp useBgFill="1">
        <p:nvSpPr>
          <p:cNvPr id="9225" name="Rectangle 9222">
            <a:extLst>
              <a:ext uri="{FF2B5EF4-FFF2-40B4-BE49-F238E27FC236}">
                <a16:creationId xmlns:a16="http://schemas.microsoft.com/office/drawing/2014/main" id="{064D2207-AA67-DAD1-D42E-7A07328C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9218" name="Picture 2" descr="Strategic Planning Components Stock Image - Image of direction, values:  32341373">
            <a:extLst>
              <a:ext uri="{FF2B5EF4-FFF2-40B4-BE49-F238E27FC236}">
                <a16:creationId xmlns:a16="http://schemas.microsoft.com/office/drawing/2014/main" id="{BFAA84AF-3160-1889-18B9-77E92FED61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2577"/>
          <a:stretch/>
        </p:blipFill>
        <p:spPr bwMode="auto">
          <a:xfrm>
            <a:off x="727382" y="2008094"/>
            <a:ext cx="3494314" cy="4301265"/>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CE6A2240-439B-496A-2734-5511B5FF2689}"/>
              </a:ext>
            </a:extLst>
          </p:cNvPr>
          <p:cNvSpPr>
            <a:spLocks noGrp="1"/>
          </p:cNvSpPr>
          <p:nvPr>
            <p:ph type="title"/>
          </p:nvPr>
        </p:nvSpPr>
        <p:spPr>
          <a:xfrm>
            <a:off x="614681" y="548639"/>
            <a:ext cx="3657600" cy="1294379"/>
          </a:xfrm>
        </p:spPr>
        <p:txBody>
          <a:bodyPr anchor="t">
            <a:normAutofit/>
          </a:bodyPr>
          <a:lstStyle/>
          <a:p>
            <a:r>
              <a:rPr lang="tr-TR"/>
              <a:t>İşletmenin İç Çevresi</a:t>
            </a:r>
          </a:p>
        </p:txBody>
      </p:sp>
      <p:sp>
        <p:nvSpPr>
          <p:cNvPr id="4" name="İçerik Yer Tutucusu 3">
            <a:extLst>
              <a:ext uri="{FF2B5EF4-FFF2-40B4-BE49-F238E27FC236}">
                <a16:creationId xmlns:a16="http://schemas.microsoft.com/office/drawing/2014/main" id="{ABF7EB69-BDFD-CFEF-3400-68C37DC7BF39}"/>
              </a:ext>
            </a:extLst>
          </p:cNvPr>
          <p:cNvSpPr>
            <a:spLocks noGrp="1"/>
          </p:cNvSpPr>
          <p:nvPr>
            <p:ph idx="1"/>
          </p:nvPr>
        </p:nvSpPr>
        <p:spPr>
          <a:xfrm>
            <a:off x="5015885" y="548638"/>
            <a:ext cx="6561437" cy="5760721"/>
          </a:xfrm>
        </p:spPr>
        <p:txBody>
          <a:bodyPr anchor="t">
            <a:normAutofit lnSpcReduction="10000"/>
          </a:bodyPr>
          <a:lstStyle/>
          <a:p>
            <a:pPr algn="just"/>
            <a:r>
              <a:rPr lang="tr-TR" sz="1800" dirty="0"/>
              <a:t>Misyon, Vizyon ve Temel Yetenekler İşletmelerin misyon, vizyon ve temel yetenekleri, yaptıkları işle ve bu işi nasıl yaptıklarıyla yakından ilgilidir. Misyon kavramı, bir işletmenin var olma nedeni olarak tanımlanabilir. İşletmelerin misyonu, misyon ifadelerinde kendine yer bulmaktadır. Misyon ifadeleri, işletmeler için her türlü karar alma sürecinde etkili olan bir nirengi noktası olarak düşünülebilir. İşletme misyonu, işletmenin amacını ortaya koymalı, işletmenin kime, nasıl ve neden hizmet ettiğini açıklayabilmelidir. </a:t>
            </a:r>
          </a:p>
          <a:p>
            <a:pPr algn="just"/>
            <a:r>
              <a:rPr lang="tr-TR" sz="1800" dirty="0"/>
              <a:t>Vizyon kavramı ise işletmenin gelecekte kendini görmek istediği konumu tanımlamaktadır. Vizyon kavramı yapısında, doğal olarak, bir parça hayalci unsurlar bulundurabilir. Vizyon kavramı işletmeler için ulaşmaya çalıştıkça uzaklaşan ve işletmenin faaliyetlerine yön veren bir kutup yıldızı olarak betimlenebilir. Bir işletmenin her konuda uzman olması beklenemez</a:t>
            </a:r>
          </a:p>
        </p:txBody>
      </p:sp>
    </p:spTree>
    <p:extLst>
      <p:ext uri="{BB962C8B-B14F-4D97-AF65-F5344CB8AC3E}">
        <p14:creationId xmlns:p14="http://schemas.microsoft.com/office/powerpoint/2010/main" val="9049240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6E165C-2BCC-D861-4851-6CB4C22A3667}"/>
            </a:ext>
          </a:extLst>
        </p:cNvPr>
        <p:cNvGrpSpPr/>
        <p:nvPr/>
      </p:nvGrpSpPr>
      <p:grpSpPr>
        <a:xfrm>
          <a:off x="0" y="0"/>
          <a:ext cx="0" cy="0"/>
          <a:chOff x="0" y="0"/>
          <a:chExt cx="0" cy="0"/>
        </a:xfrm>
      </p:grpSpPr>
      <p:sp>
        <p:nvSpPr>
          <p:cNvPr id="10247" name="Rectangle 10246">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C7EB9E2-C266-E602-8BB2-863E49F5DD6D}"/>
              </a:ext>
            </a:extLst>
          </p:cNvPr>
          <p:cNvSpPr>
            <a:spLocks noGrp="1"/>
          </p:cNvSpPr>
          <p:nvPr>
            <p:ph type="title"/>
          </p:nvPr>
        </p:nvSpPr>
        <p:spPr>
          <a:xfrm>
            <a:off x="614678" y="548640"/>
            <a:ext cx="10872216" cy="1133856"/>
          </a:xfrm>
        </p:spPr>
        <p:txBody>
          <a:bodyPr anchor="t">
            <a:normAutofit/>
          </a:bodyPr>
          <a:lstStyle/>
          <a:p>
            <a:r>
              <a:rPr lang="tr-TR"/>
              <a:t>İşletmenin İç Çevresi</a:t>
            </a:r>
          </a:p>
        </p:txBody>
      </p:sp>
      <p:sp>
        <p:nvSpPr>
          <p:cNvPr id="4" name="İçerik Yer Tutucusu 3">
            <a:extLst>
              <a:ext uri="{FF2B5EF4-FFF2-40B4-BE49-F238E27FC236}">
                <a16:creationId xmlns:a16="http://schemas.microsoft.com/office/drawing/2014/main" id="{FFFECA8C-2093-BCAE-1D7F-FD3A4EB54A69}"/>
              </a:ext>
            </a:extLst>
          </p:cNvPr>
          <p:cNvSpPr>
            <a:spLocks noGrp="1"/>
          </p:cNvSpPr>
          <p:nvPr>
            <p:ph idx="1"/>
          </p:nvPr>
        </p:nvSpPr>
        <p:spPr>
          <a:xfrm>
            <a:off x="4882551" y="1792224"/>
            <a:ext cx="6602154" cy="4517136"/>
          </a:xfrm>
        </p:spPr>
        <p:txBody>
          <a:bodyPr anchor="t">
            <a:normAutofit/>
          </a:bodyPr>
          <a:lstStyle/>
          <a:p>
            <a:r>
              <a:rPr lang="tr-TR" sz="1800" dirty="0"/>
              <a:t>Örgüt Yapısı:</a:t>
            </a:r>
          </a:p>
          <a:p>
            <a:pPr algn="just"/>
            <a:r>
              <a:rPr lang="tr-TR" sz="1800" dirty="0"/>
              <a:t>Örgütleme kavramı, işletme kaynaklarının stratejik hedefler doğrultusunda işletme içinde yayılımının sağlanması şeklinde tanımlanabilir. Bir başka ifadeyle örgütleme, bir işletmede kimin, neyi, hangi yetkiyle gerçekleştireceğinin ortaya konması sürecidir. Bu süreç sonunda kaynakların nasıl konumlandırıldığını, yapılacak görevlere ilişkin ne tür bir işbölümüne gidildiğini ve işletme içindeki birimlerin nasıl koordine edildiklerini gösteren bir yapı ortaya çıkmaktadır. Söz konusu bu yapı işletmecilikte örgüt yapısı olarak adlandırılmaktadır.</a:t>
            </a:r>
          </a:p>
        </p:txBody>
      </p:sp>
      <p:pic>
        <p:nvPicPr>
          <p:cNvPr id="10242" name="Picture 2" descr="What is an Organizational Structures? - Management Square">
            <a:extLst>
              <a:ext uri="{FF2B5EF4-FFF2-40B4-BE49-F238E27FC236}">
                <a16:creationId xmlns:a16="http://schemas.microsoft.com/office/drawing/2014/main" id="{0D96A695-DE07-8DD5-4988-5115F47FA05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1792223"/>
            <a:ext cx="3698530" cy="2594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8236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CFCD26-3BCE-3E43-00CF-E3AD37A07041}"/>
            </a:ext>
          </a:extLst>
        </p:cNvPr>
        <p:cNvGrpSpPr/>
        <p:nvPr/>
      </p:nvGrpSpPr>
      <p:grpSpPr>
        <a:xfrm>
          <a:off x="0" y="0"/>
          <a:ext cx="0" cy="0"/>
          <a:chOff x="0" y="0"/>
          <a:chExt cx="0" cy="0"/>
        </a:xfrm>
      </p:grpSpPr>
      <p:sp>
        <p:nvSpPr>
          <p:cNvPr id="11271" name="Rectangle 1127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268D31F-A55C-5C5B-464B-A6395E988B5E}"/>
              </a:ext>
            </a:extLst>
          </p:cNvPr>
          <p:cNvSpPr>
            <a:spLocks noGrp="1"/>
          </p:cNvSpPr>
          <p:nvPr>
            <p:ph type="title"/>
          </p:nvPr>
        </p:nvSpPr>
        <p:spPr>
          <a:xfrm>
            <a:off x="612648" y="1114923"/>
            <a:ext cx="4621553" cy="1360728"/>
          </a:xfrm>
        </p:spPr>
        <p:txBody>
          <a:bodyPr anchor="b">
            <a:normAutofit/>
          </a:bodyPr>
          <a:lstStyle/>
          <a:p>
            <a:r>
              <a:rPr lang="tr-TR"/>
              <a:t>İşletmenin İç Çevresi</a:t>
            </a:r>
          </a:p>
        </p:txBody>
      </p:sp>
      <p:sp>
        <p:nvSpPr>
          <p:cNvPr id="4" name="İçerik Yer Tutucusu 3">
            <a:extLst>
              <a:ext uri="{FF2B5EF4-FFF2-40B4-BE49-F238E27FC236}">
                <a16:creationId xmlns:a16="http://schemas.microsoft.com/office/drawing/2014/main" id="{2FDE29F7-4880-D4FE-F3AD-4ADE3AD4FE8E}"/>
              </a:ext>
            </a:extLst>
          </p:cNvPr>
          <p:cNvSpPr>
            <a:spLocks noGrp="1"/>
          </p:cNvSpPr>
          <p:nvPr>
            <p:ph idx="1"/>
          </p:nvPr>
        </p:nvSpPr>
        <p:spPr>
          <a:xfrm>
            <a:off x="612648" y="2584057"/>
            <a:ext cx="4818334" cy="3941433"/>
          </a:xfrm>
        </p:spPr>
        <p:txBody>
          <a:bodyPr>
            <a:normAutofit fontScale="92500" lnSpcReduction="10000"/>
          </a:bodyPr>
          <a:lstStyle/>
          <a:p>
            <a:pPr>
              <a:lnSpc>
                <a:spcPct val="110000"/>
              </a:lnSpc>
            </a:pPr>
            <a:r>
              <a:rPr lang="tr-TR" sz="1800" dirty="0"/>
              <a:t>Örgüt Kültürü:</a:t>
            </a:r>
          </a:p>
          <a:p>
            <a:pPr algn="just">
              <a:lnSpc>
                <a:spcPct val="110000"/>
              </a:lnSpc>
            </a:pPr>
            <a:r>
              <a:rPr lang="tr-TR" sz="1800" dirty="0"/>
              <a:t> İşletmelerin genel çevresi konusunda sosyokültürel boyuta ilişkin açıklamalar yaparken işletmelerin belli bir ulusal ve/veya küresel kültür içinde faaliyetlerini sürdürdükleri belirtilmişti. İşletmelere ilişkin makro boyutlu bu değerlendirmeye benzer bir durum, mikro boyutta, bir başka deyişle işletmenin iç çevresinde de kendini göstermektedir. Her işletmenin kendi yapısına has bir kültürü vardır. Örgüt kültürü, işletmelerin beşeri boyutuyla ve toplum işletme etkileşimiyle yakından ilgili bir kavramdır.</a:t>
            </a:r>
          </a:p>
        </p:txBody>
      </p:sp>
      <p:pic>
        <p:nvPicPr>
          <p:cNvPr id="11266" name="Picture 2" descr="5 elements of a great organizational culture - Achievers">
            <a:extLst>
              <a:ext uri="{FF2B5EF4-FFF2-40B4-BE49-F238E27FC236}">
                <a16:creationId xmlns:a16="http://schemas.microsoft.com/office/drawing/2014/main" id="{0CC5F669-36FF-E1AE-336B-5FB4A3B31D5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91261" y="1794421"/>
            <a:ext cx="5837780" cy="326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678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7" name="Rectangle 1229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12290" name="Picture 2" descr="Environmental Uncertainty Complexity in Virtual Team Environments">
            <a:extLst>
              <a:ext uri="{FF2B5EF4-FFF2-40B4-BE49-F238E27FC236}">
                <a16:creationId xmlns:a16="http://schemas.microsoft.com/office/drawing/2014/main" id="{B6074716-A31E-E9CE-69C9-0990AB1F1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467" r="2" b="2"/>
          <a:stretch/>
        </p:blipFill>
        <p:spPr bwMode="auto">
          <a:xfrm>
            <a:off x="731521" y="2011679"/>
            <a:ext cx="4684352" cy="4297680"/>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19DF30BC-C3B7-E43F-91D5-0922992F9807}"/>
              </a:ext>
            </a:extLst>
          </p:cNvPr>
          <p:cNvSpPr>
            <a:spLocks noGrp="1"/>
          </p:cNvSpPr>
          <p:nvPr>
            <p:ph type="title"/>
          </p:nvPr>
        </p:nvSpPr>
        <p:spPr>
          <a:xfrm>
            <a:off x="614679" y="548641"/>
            <a:ext cx="4779572" cy="1298448"/>
          </a:xfrm>
        </p:spPr>
        <p:txBody>
          <a:bodyPr anchor="t">
            <a:normAutofit/>
          </a:bodyPr>
          <a:lstStyle/>
          <a:p>
            <a:r>
              <a:rPr lang="tr-TR" sz="2800"/>
              <a:t>İŞLETMELER VE ÇEVRESEL BELİRSİZLİK</a:t>
            </a:r>
          </a:p>
        </p:txBody>
      </p:sp>
      <p:sp>
        <p:nvSpPr>
          <p:cNvPr id="3" name="İçerik Yer Tutucusu 2">
            <a:extLst>
              <a:ext uri="{FF2B5EF4-FFF2-40B4-BE49-F238E27FC236}">
                <a16:creationId xmlns:a16="http://schemas.microsoft.com/office/drawing/2014/main" id="{7F442E54-5677-9BC5-F651-4FE6D3E5629A}"/>
              </a:ext>
            </a:extLst>
          </p:cNvPr>
          <p:cNvSpPr>
            <a:spLocks noGrp="1"/>
          </p:cNvSpPr>
          <p:nvPr>
            <p:ph idx="1"/>
          </p:nvPr>
        </p:nvSpPr>
        <p:spPr>
          <a:xfrm>
            <a:off x="6030551" y="548638"/>
            <a:ext cx="5546770" cy="5760721"/>
          </a:xfrm>
        </p:spPr>
        <p:txBody>
          <a:bodyPr anchor="t">
            <a:normAutofit/>
          </a:bodyPr>
          <a:lstStyle/>
          <a:p>
            <a:pPr algn="just"/>
            <a:r>
              <a:rPr lang="tr-TR" sz="1800" dirty="0"/>
              <a:t>İşletme çevresini, iç çevre ve dış çevre olmak üzere ikiye ayırarak incelemek, işletme dış çevresini, genel çevre ve sektörel çevre şeklinde ele almak, genel çevreyi siyasal-yasal, ekonomik, sosyokültürel, teknolojik ve doğal çevre boyutları kapsamında değerlendirmek, işletmelerin sektörel çevresini rakipler ve rekabet, müşteriler, tedarikçiler ve stratejik ortaklıklar, işgücü piyasası, düzenleyici kurumlar ve çıkar grupları şeklinde alt bileşenlerine ayırarak analiz etmek, işletme çevresi konusunu daha kolay anlatabilmek adına tercih edilmiş bir yaklaşımdır. Fakat iş yaşamındaki işletme çevresinin, etkileşim düzeyi çok yüksek, genel ve sektörel çevre itibariyle iç içe geçmiş çeşitli alt bileşenlerden oluşan bir yapı olduğunu unutmamak gerekmektedir.</a:t>
            </a:r>
          </a:p>
        </p:txBody>
      </p:sp>
    </p:spTree>
    <p:extLst>
      <p:ext uri="{BB962C8B-B14F-4D97-AF65-F5344CB8AC3E}">
        <p14:creationId xmlns:p14="http://schemas.microsoft.com/office/powerpoint/2010/main" val="34338836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11BC0-2F61-DD1F-F027-04BE4BD4321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BB4F868-388A-FE73-7FF4-C4250B28757B}"/>
              </a:ext>
            </a:extLst>
          </p:cNvPr>
          <p:cNvSpPr>
            <a:spLocks noGrp="1"/>
          </p:cNvSpPr>
          <p:nvPr>
            <p:ph type="title"/>
          </p:nvPr>
        </p:nvSpPr>
        <p:spPr/>
        <p:txBody>
          <a:bodyPr/>
          <a:lstStyle/>
          <a:p>
            <a:r>
              <a:rPr lang="tr-TR"/>
              <a:t>İŞLETMELER VE ÇEVRESEL BELİRSİZLİK</a:t>
            </a:r>
          </a:p>
        </p:txBody>
      </p:sp>
      <p:pic>
        <p:nvPicPr>
          <p:cNvPr id="5" name="İçerik Yer Tutucusu 4" descr="metin, ekran görüntüsü, çizgi, sayı, numara içeren bir resim&#10;&#10;Yapay zeka tarafından oluşturulan içerik yanlış olabilir.">
            <a:extLst>
              <a:ext uri="{FF2B5EF4-FFF2-40B4-BE49-F238E27FC236}">
                <a16:creationId xmlns:a16="http://schemas.microsoft.com/office/drawing/2014/main" id="{DEAD4DAB-3F0A-1047-CD18-824D9E81D59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43310" y="1343891"/>
            <a:ext cx="9534528" cy="4678571"/>
          </a:xfrm>
        </p:spPr>
      </p:pic>
    </p:spTree>
    <p:extLst>
      <p:ext uri="{BB962C8B-B14F-4D97-AF65-F5344CB8AC3E}">
        <p14:creationId xmlns:p14="http://schemas.microsoft.com/office/powerpoint/2010/main" val="18618717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E819C7A-F3A5-80DE-8406-0C928D87F6A7}"/>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1F8B9C3E-EBA8-4594-90B3-3664CAD493DF}"/>
              </a:ext>
            </a:extLst>
          </p:cNvPr>
          <p:cNvSpPr>
            <a:spLocks noGrp="1"/>
          </p:cNvSpPr>
          <p:nvPr>
            <p:ph idx="1"/>
          </p:nvPr>
        </p:nvSpPr>
        <p:spPr/>
        <p:txBody>
          <a:bodyPr/>
          <a:lstStyle/>
          <a:p>
            <a:r>
              <a:rPr lang="tr-TR" dirty="0"/>
              <a:t>TEŞEKKÜRLER </a:t>
            </a:r>
            <a:r>
              <a:rPr lang="tr-TR" dirty="0">
                <a:sym typeface="Wingdings" pitchFamily="2" charset="2"/>
              </a:rPr>
              <a:t></a:t>
            </a:r>
            <a:endParaRPr lang="tr-TR" dirty="0"/>
          </a:p>
        </p:txBody>
      </p:sp>
    </p:spTree>
    <p:extLst>
      <p:ext uri="{BB962C8B-B14F-4D97-AF65-F5344CB8AC3E}">
        <p14:creationId xmlns:p14="http://schemas.microsoft.com/office/powerpoint/2010/main" val="100005229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419</TotalTime>
  <Words>4630</Words>
  <Application>Microsoft Macintosh PowerPoint</Application>
  <PresentationFormat>Geniş ekran</PresentationFormat>
  <Paragraphs>211</Paragraphs>
  <Slides>47</Slides>
  <Notes>44</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47</vt:i4>
      </vt:variant>
    </vt:vector>
  </HeadingPairs>
  <TitlesOfParts>
    <vt:vector size="51" baseType="lpstr">
      <vt:lpstr>Aptos</vt:lpstr>
      <vt:lpstr>Arial</vt:lpstr>
      <vt:lpstr>Neue Haas Grotesk Text Pro</vt:lpstr>
      <vt:lpstr>VanillaVTI</vt:lpstr>
      <vt:lpstr>İŞLETME BİLİMİNE GİRİŞ</vt:lpstr>
      <vt:lpstr>GEÇEN HAFTA NELER ÖĞRENDİK?</vt:lpstr>
      <vt:lpstr>2.HAFTANIN AMAÇLARI</vt:lpstr>
      <vt:lpstr>İŞLETMENİN ÇEVRESİ</vt:lpstr>
      <vt:lpstr>İŞLETMENİN ÇEVRESİ</vt:lpstr>
      <vt:lpstr>İŞLETMENİN ÇEVRESİ</vt:lpstr>
      <vt:lpstr>BİR SİSTEM OLARAK İŞLETME ÇEVRESİ</vt:lpstr>
      <vt:lpstr>BİR SİSTEM OLARAK İŞLETME ÇEVRESİ</vt:lpstr>
      <vt:lpstr>BİR SİSTEM OLARAK İŞLETME ÇEVRESİ</vt:lpstr>
      <vt:lpstr>BİR SİSTEM OLARAK İŞLETME ÇEVRESİ</vt:lpstr>
      <vt:lpstr>İŞLETME ÇEVRESİNİN TEMEL SEVİYELERİ</vt:lpstr>
      <vt:lpstr>İŞLETME ÇEVRESİNİN TEMEL SEVİYELERİ</vt:lpstr>
      <vt:lpstr>İŞLETME ÇEVRESİNİN TEMEL SEVİYELERİ</vt:lpstr>
      <vt:lpstr>Siyasal-Yasal Çevre</vt:lpstr>
      <vt:lpstr>Siyasal-Yasal Çevre</vt:lpstr>
      <vt:lpstr>Ekonomik Çevre</vt:lpstr>
      <vt:lpstr>Ekonomik Çevre</vt:lpstr>
      <vt:lpstr>Sosyokültürel Çevre</vt:lpstr>
      <vt:lpstr>Sosyokültürel Çevre</vt:lpstr>
      <vt:lpstr>Sosyokültürel Çevre</vt:lpstr>
      <vt:lpstr>Sosyokültürel Çevre</vt:lpstr>
      <vt:lpstr>Teknolojik Çevre</vt:lpstr>
      <vt:lpstr>Teknolojik Çevre</vt:lpstr>
      <vt:lpstr>Doğal Çevre</vt:lpstr>
      <vt:lpstr>Doğal Çevre</vt:lpstr>
      <vt:lpstr>Küresel Çevre</vt:lpstr>
      <vt:lpstr>Küresel Çevre</vt:lpstr>
      <vt:lpstr>Küresel Çevre</vt:lpstr>
      <vt:lpstr>İşletmenin Sektörel Çevresi</vt:lpstr>
      <vt:lpstr>İşletmenin Sektörel Çevresi</vt:lpstr>
      <vt:lpstr>Rakipler ve Rekabet</vt:lpstr>
      <vt:lpstr>Rakipler ve Rekabet</vt:lpstr>
      <vt:lpstr>Müşteriler</vt:lpstr>
      <vt:lpstr>Tedarikçiler ve Stratejik Ortaklıklar</vt:lpstr>
      <vt:lpstr>Tedarikçiler ve Stratejik Ortaklıklar</vt:lpstr>
      <vt:lpstr>İşgücü Piyasası</vt:lpstr>
      <vt:lpstr>Düzenleyici Kurumlar ve Çıkar Grupları</vt:lpstr>
      <vt:lpstr>Düzenleyici Kurumlar ve Çıkar Grupları</vt:lpstr>
      <vt:lpstr>Düzenleyici Kurumlar ve Çıkar Grupları</vt:lpstr>
      <vt:lpstr>İşletmenin İç Çevresi</vt:lpstr>
      <vt:lpstr>İşletmenin İç Çevresi</vt:lpstr>
      <vt:lpstr>İşletmenin İç Çevresi</vt:lpstr>
      <vt:lpstr>İşletmenin İç Çevresi</vt:lpstr>
      <vt:lpstr>İşletmenin İç Çevresi</vt:lpstr>
      <vt:lpstr>İŞLETMELER VE ÇEVRESEL BELİRSİZLİK</vt:lpstr>
      <vt:lpstr>İŞLETMELER VE ÇEVRESEL BELİRSİZLİK</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İŞLETME BİLİMİNE GİRİŞ</dc:title>
  <dc:creator>Fatih Çallı</dc:creator>
  <cp:lastModifiedBy>Fatih Çallı</cp:lastModifiedBy>
  <cp:revision>8</cp:revision>
  <dcterms:created xsi:type="dcterms:W3CDTF">2025-02-24T11:05:06Z</dcterms:created>
  <dcterms:modified xsi:type="dcterms:W3CDTF">2025-03-05T10:22:15Z</dcterms:modified>
</cp:coreProperties>
</file>