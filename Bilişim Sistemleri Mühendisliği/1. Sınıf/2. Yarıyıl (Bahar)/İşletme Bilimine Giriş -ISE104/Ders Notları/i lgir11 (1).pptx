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notesMasterIdLst>
    <p:notesMasterId r:id="rId56"/>
  </p:notesMasterIdLst>
  <p:sldIdLst>
    <p:sldId id="256" r:id="rId2"/>
    <p:sldId id="257" r:id="rId3"/>
    <p:sldId id="331" r:id="rId4"/>
    <p:sldId id="322" r:id="rId5"/>
    <p:sldId id="363" r:id="rId6"/>
    <p:sldId id="323" r:id="rId7"/>
    <p:sldId id="325" r:id="rId8"/>
    <p:sldId id="320" r:id="rId9"/>
    <p:sldId id="337" r:id="rId10"/>
    <p:sldId id="336" r:id="rId11"/>
    <p:sldId id="340" r:id="rId12"/>
    <p:sldId id="339" r:id="rId13"/>
    <p:sldId id="341" r:id="rId14"/>
    <p:sldId id="364" r:id="rId15"/>
    <p:sldId id="342" r:id="rId16"/>
    <p:sldId id="365" r:id="rId17"/>
    <p:sldId id="343" r:id="rId18"/>
    <p:sldId id="344" r:id="rId19"/>
    <p:sldId id="358" r:id="rId20"/>
    <p:sldId id="357" r:id="rId21"/>
    <p:sldId id="361" r:id="rId22"/>
    <p:sldId id="366" r:id="rId23"/>
    <p:sldId id="362" r:id="rId24"/>
    <p:sldId id="367" r:id="rId25"/>
    <p:sldId id="368"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76911" autoAdjust="0"/>
  </p:normalViewPr>
  <p:slideViewPr>
    <p:cSldViewPr snapToGrid="0">
      <p:cViewPr varScale="1">
        <p:scale>
          <a:sx n="67" d="100"/>
          <a:sy n="67" d="100"/>
        </p:scale>
        <p:origin x="14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76CC79-7AA5-444F-B7D7-06E626CD136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5540A20-EA9B-4006-B948-9E64CB9592F7}">
      <dgm:prSet/>
      <dgm:spPr/>
      <dgm:t>
        <a:bodyPr/>
        <a:lstStyle/>
        <a:p>
          <a:r>
            <a:rPr lang="tr-TR" b="1"/>
            <a:t>Bilim</a:t>
          </a:r>
          <a:r>
            <a:rPr lang="tr-TR"/>
            <a:t>; nesnel</a:t>
          </a:r>
          <a:r>
            <a:rPr lang="tr-TR" u="sng"/>
            <a:t>, </a:t>
          </a:r>
          <a:r>
            <a:rPr lang="tr-TR"/>
            <a:t>evrensel ve genelleyicidir.</a:t>
          </a:r>
          <a:endParaRPr lang="en-US"/>
        </a:p>
      </dgm:t>
    </dgm:pt>
    <dgm:pt modelId="{0A83A750-CE21-4550-91C7-DF9B2016D5D7}" type="parTrans" cxnId="{A06CFF41-4587-4B04-AF89-41DA0CF6D055}">
      <dgm:prSet/>
      <dgm:spPr/>
      <dgm:t>
        <a:bodyPr/>
        <a:lstStyle/>
        <a:p>
          <a:endParaRPr lang="en-US"/>
        </a:p>
      </dgm:t>
    </dgm:pt>
    <dgm:pt modelId="{9C037AAA-73C7-4D58-995B-23823BC588CE}" type="sibTrans" cxnId="{A06CFF41-4587-4B04-AF89-41DA0CF6D055}">
      <dgm:prSet/>
      <dgm:spPr/>
      <dgm:t>
        <a:bodyPr/>
        <a:lstStyle/>
        <a:p>
          <a:endParaRPr lang="en-US"/>
        </a:p>
      </dgm:t>
    </dgm:pt>
    <dgm:pt modelId="{CA8F5FE9-4E70-4F20-BE21-FCC052AB7B40}">
      <dgm:prSet/>
      <dgm:spPr/>
      <dgm:t>
        <a:bodyPr/>
        <a:lstStyle/>
        <a:p>
          <a:r>
            <a:rPr lang="tr-TR"/>
            <a:t>Bilim; </a:t>
          </a:r>
          <a:r>
            <a:rPr lang="tr-TR" u="sng"/>
            <a:t>fiziki, biyolojik ve sosyal bilimler </a:t>
          </a:r>
          <a:r>
            <a:rPr lang="tr-TR"/>
            <a:t>olarak ayrılmaktadır. </a:t>
          </a:r>
          <a:endParaRPr lang="en-US"/>
        </a:p>
      </dgm:t>
    </dgm:pt>
    <dgm:pt modelId="{C84BC758-B8BB-43FB-994C-38F824E346F8}" type="parTrans" cxnId="{A58D1A2A-32EB-474A-B01C-73EDB90A15C2}">
      <dgm:prSet/>
      <dgm:spPr/>
      <dgm:t>
        <a:bodyPr/>
        <a:lstStyle/>
        <a:p>
          <a:endParaRPr lang="en-US"/>
        </a:p>
      </dgm:t>
    </dgm:pt>
    <dgm:pt modelId="{EC0DC4DD-426A-438C-8EAD-F37D96765546}" type="sibTrans" cxnId="{A58D1A2A-32EB-474A-B01C-73EDB90A15C2}">
      <dgm:prSet/>
      <dgm:spPr/>
      <dgm:t>
        <a:bodyPr/>
        <a:lstStyle/>
        <a:p>
          <a:endParaRPr lang="en-US"/>
        </a:p>
      </dgm:t>
    </dgm:pt>
    <dgm:pt modelId="{4B27EC83-3FD0-4807-BB9A-19AF2DFE6A24}">
      <dgm:prSet/>
      <dgm:spPr/>
      <dgm:t>
        <a:bodyPr/>
        <a:lstStyle/>
        <a:p>
          <a:r>
            <a:rPr lang="tr-TR"/>
            <a:t>Bu ayrımın temelini de pozitif ve normatif algısı oluşturmaktadır.</a:t>
          </a:r>
          <a:endParaRPr lang="en-US"/>
        </a:p>
      </dgm:t>
    </dgm:pt>
    <dgm:pt modelId="{C03CACBF-B0CD-4BC6-BB88-944EAEA12B59}" type="parTrans" cxnId="{E21A244B-4569-4FC9-9A01-4298E5A75429}">
      <dgm:prSet/>
      <dgm:spPr/>
      <dgm:t>
        <a:bodyPr/>
        <a:lstStyle/>
        <a:p>
          <a:endParaRPr lang="en-US"/>
        </a:p>
      </dgm:t>
    </dgm:pt>
    <dgm:pt modelId="{FB304540-CE3F-46E4-99FB-A44E779DF05F}" type="sibTrans" cxnId="{E21A244B-4569-4FC9-9A01-4298E5A75429}">
      <dgm:prSet/>
      <dgm:spPr/>
      <dgm:t>
        <a:bodyPr/>
        <a:lstStyle/>
        <a:p>
          <a:endParaRPr lang="en-US"/>
        </a:p>
      </dgm:t>
    </dgm:pt>
    <dgm:pt modelId="{6138029B-D121-4D37-A448-2A71E164DCB1}">
      <dgm:prSet/>
      <dgm:spPr/>
      <dgm:t>
        <a:bodyPr/>
        <a:lstStyle/>
        <a:p>
          <a:r>
            <a:rPr lang="tr-TR"/>
            <a:t>Pozitif Bilim: Düşüncede değil, somut olarak var olan olay ve olguları inceler. (fizik, kimya gibi doğa bilimleri)</a:t>
          </a:r>
          <a:endParaRPr lang="en-US"/>
        </a:p>
      </dgm:t>
    </dgm:pt>
    <dgm:pt modelId="{AE58B96C-7036-4B90-A311-3B234407759D}" type="parTrans" cxnId="{6716DB4F-8BFC-4C51-BC8E-549D526F702A}">
      <dgm:prSet/>
      <dgm:spPr/>
      <dgm:t>
        <a:bodyPr/>
        <a:lstStyle/>
        <a:p>
          <a:endParaRPr lang="en-US"/>
        </a:p>
      </dgm:t>
    </dgm:pt>
    <dgm:pt modelId="{82B3DCB2-6887-4A56-B3CA-63EFFB3E5FFB}" type="sibTrans" cxnId="{6716DB4F-8BFC-4C51-BC8E-549D526F702A}">
      <dgm:prSet/>
      <dgm:spPr/>
      <dgm:t>
        <a:bodyPr/>
        <a:lstStyle/>
        <a:p>
          <a:endParaRPr lang="en-US"/>
        </a:p>
      </dgm:t>
    </dgm:pt>
    <dgm:pt modelId="{2451007C-1A84-4A0B-9ECC-88D47286B627}">
      <dgm:prSet/>
      <dgm:spPr/>
      <dgm:t>
        <a:bodyPr/>
        <a:lstStyle/>
        <a:p>
          <a:r>
            <a:rPr lang="tr-TR"/>
            <a:t>Normatif Bilim: Olanlar değil, olması gerekenlerle ilgilenir. (edebiyat, din, mantık..). Doğru düşünmeyi amaçlar.</a:t>
          </a:r>
          <a:endParaRPr lang="en-US"/>
        </a:p>
      </dgm:t>
    </dgm:pt>
    <dgm:pt modelId="{E611904B-844C-4CFF-A665-D5A1EBDB1DBC}" type="parTrans" cxnId="{9493399D-1D29-4CDC-90D6-47B7C3F3AD92}">
      <dgm:prSet/>
      <dgm:spPr/>
      <dgm:t>
        <a:bodyPr/>
        <a:lstStyle/>
        <a:p>
          <a:endParaRPr lang="en-US"/>
        </a:p>
      </dgm:t>
    </dgm:pt>
    <dgm:pt modelId="{31BE98AC-DF72-4DBC-A37B-B8AE112133E7}" type="sibTrans" cxnId="{9493399D-1D29-4CDC-90D6-47B7C3F3AD92}">
      <dgm:prSet/>
      <dgm:spPr/>
      <dgm:t>
        <a:bodyPr/>
        <a:lstStyle/>
        <a:p>
          <a:endParaRPr lang="en-US"/>
        </a:p>
      </dgm:t>
    </dgm:pt>
    <dgm:pt modelId="{705B0E4D-9400-4A56-B3A3-34828ACCD16E}" type="pres">
      <dgm:prSet presAssocID="{F976CC79-7AA5-444F-B7D7-06E626CD1367}" presName="linear" presStyleCnt="0">
        <dgm:presLayoutVars>
          <dgm:animLvl val="lvl"/>
          <dgm:resizeHandles val="exact"/>
        </dgm:presLayoutVars>
      </dgm:prSet>
      <dgm:spPr/>
    </dgm:pt>
    <dgm:pt modelId="{2C113F95-632F-4056-BC6A-86D126C03B9A}" type="pres">
      <dgm:prSet presAssocID="{85540A20-EA9B-4006-B948-9E64CB9592F7}" presName="parentText" presStyleLbl="node1" presStyleIdx="0" presStyleCnt="3">
        <dgm:presLayoutVars>
          <dgm:chMax val="0"/>
          <dgm:bulletEnabled val="1"/>
        </dgm:presLayoutVars>
      </dgm:prSet>
      <dgm:spPr/>
    </dgm:pt>
    <dgm:pt modelId="{D4511873-838A-46BD-980E-58753F2A6943}" type="pres">
      <dgm:prSet presAssocID="{9C037AAA-73C7-4D58-995B-23823BC588CE}" presName="spacer" presStyleCnt="0"/>
      <dgm:spPr/>
    </dgm:pt>
    <dgm:pt modelId="{77AFD974-1DC2-4ADD-8629-899F123C7FEC}" type="pres">
      <dgm:prSet presAssocID="{CA8F5FE9-4E70-4F20-BE21-FCC052AB7B40}" presName="parentText" presStyleLbl="node1" presStyleIdx="1" presStyleCnt="3">
        <dgm:presLayoutVars>
          <dgm:chMax val="0"/>
          <dgm:bulletEnabled val="1"/>
        </dgm:presLayoutVars>
      </dgm:prSet>
      <dgm:spPr/>
    </dgm:pt>
    <dgm:pt modelId="{D125D2E1-91EF-4D7F-B8E1-1C90F4643B77}" type="pres">
      <dgm:prSet presAssocID="{EC0DC4DD-426A-438C-8EAD-F37D96765546}" presName="spacer" presStyleCnt="0"/>
      <dgm:spPr/>
    </dgm:pt>
    <dgm:pt modelId="{8F4DF99C-0D98-4340-92C2-07663D1FF8C0}" type="pres">
      <dgm:prSet presAssocID="{4B27EC83-3FD0-4807-BB9A-19AF2DFE6A24}" presName="parentText" presStyleLbl="node1" presStyleIdx="2" presStyleCnt="3">
        <dgm:presLayoutVars>
          <dgm:chMax val="0"/>
          <dgm:bulletEnabled val="1"/>
        </dgm:presLayoutVars>
      </dgm:prSet>
      <dgm:spPr/>
    </dgm:pt>
    <dgm:pt modelId="{240ADE13-CD7A-4A5A-AF90-89B6740102CB}" type="pres">
      <dgm:prSet presAssocID="{4B27EC83-3FD0-4807-BB9A-19AF2DFE6A24}" presName="childText" presStyleLbl="revTx" presStyleIdx="0" presStyleCnt="1">
        <dgm:presLayoutVars>
          <dgm:bulletEnabled val="1"/>
        </dgm:presLayoutVars>
      </dgm:prSet>
      <dgm:spPr/>
    </dgm:pt>
  </dgm:ptLst>
  <dgm:cxnLst>
    <dgm:cxn modelId="{A58D1A2A-32EB-474A-B01C-73EDB90A15C2}" srcId="{F976CC79-7AA5-444F-B7D7-06E626CD1367}" destId="{CA8F5FE9-4E70-4F20-BE21-FCC052AB7B40}" srcOrd="1" destOrd="0" parTransId="{C84BC758-B8BB-43FB-994C-38F824E346F8}" sibTransId="{EC0DC4DD-426A-438C-8EAD-F37D96765546}"/>
    <dgm:cxn modelId="{A06CFF41-4587-4B04-AF89-41DA0CF6D055}" srcId="{F976CC79-7AA5-444F-B7D7-06E626CD1367}" destId="{85540A20-EA9B-4006-B948-9E64CB9592F7}" srcOrd="0" destOrd="0" parTransId="{0A83A750-CE21-4550-91C7-DF9B2016D5D7}" sibTransId="{9C037AAA-73C7-4D58-995B-23823BC588CE}"/>
    <dgm:cxn modelId="{0E1EF049-0D3D-423F-837E-4A4DE964FA14}" type="presOf" srcId="{85540A20-EA9B-4006-B948-9E64CB9592F7}" destId="{2C113F95-632F-4056-BC6A-86D126C03B9A}" srcOrd="0" destOrd="0" presId="urn:microsoft.com/office/officeart/2005/8/layout/vList2"/>
    <dgm:cxn modelId="{400B0A4A-DD68-4477-8FA0-E0AEC5FBD971}" type="presOf" srcId="{4B27EC83-3FD0-4807-BB9A-19AF2DFE6A24}" destId="{8F4DF99C-0D98-4340-92C2-07663D1FF8C0}" srcOrd="0" destOrd="0" presId="urn:microsoft.com/office/officeart/2005/8/layout/vList2"/>
    <dgm:cxn modelId="{E21A244B-4569-4FC9-9A01-4298E5A75429}" srcId="{F976CC79-7AA5-444F-B7D7-06E626CD1367}" destId="{4B27EC83-3FD0-4807-BB9A-19AF2DFE6A24}" srcOrd="2" destOrd="0" parTransId="{C03CACBF-B0CD-4BC6-BB88-944EAEA12B59}" sibTransId="{FB304540-CE3F-46E4-99FB-A44E779DF05F}"/>
    <dgm:cxn modelId="{6716DB4F-8BFC-4C51-BC8E-549D526F702A}" srcId="{4B27EC83-3FD0-4807-BB9A-19AF2DFE6A24}" destId="{6138029B-D121-4D37-A448-2A71E164DCB1}" srcOrd="0" destOrd="0" parTransId="{AE58B96C-7036-4B90-A311-3B234407759D}" sibTransId="{82B3DCB2-6887-4A56-B3CA-63EFFB3E5FFB}"/>
    <dgm:cxn modelId="{9493399D-1D29-4CDC-90D6-47B7C3F3AD92}" srcId="{4B27EC83-3FD0-4807-BB9A-19AF2DFE6A24}" destId="{2451007C-1A84-4A0B-9ECC-88D47286B627}" srcOrd="1" destOrd="0" parTransId="{E611904B-844C-4CFF-A665-D5A1EBDB1DBC}" sibTransId="{31BE98AC-DF72-4DBC-A37B-B8AE112133E7}"/>
    <dgm:cxn modelId="{3E3A8BCD-8264-41FA-87E6-AE570DC4E23A}" type="presOf" srcId="{6138029B-D121-4D37-A448-2A71E164DCB1}" destId="{240ADE13-CD7A-4A5A-AF90-89B6740102CB}" srcOrd="0" destOrd="0" presId="urn:microsoft.com/office/officeart/2005/8/layout/vList2"/>
    <dgm:cxn modelId="{1D77B2E1-391E-4285-B867-0641B1B872DC}" type="presOf" srcId="{CA8F5FE9-4E70-4F20-BE21-FCC052AB7B40}" destId="{77AFD974-1DC2-4ADD-8629-899F123C7FEC}" srcOrd="0" destOrd="0" presId="urn:microsoft.com/office/officeart/2005/8/layout/vList2"/>
    <dgm:cxn modelId="{D1751AFA-885B-4F5B-9661-15D628C49BD4}" type="presOf" srcId="{F976CC79-7AA5-444F-B7D7-06E626CD1367}" destId="{705B0E4D-9400-4A56-B3A3-34828ACCD16E}" srcOrd="0" destOrd="0" presId="urn:microsoft.com/office/officeart/2005/8/layout/vList2"/>
    <dgm:cxn modelId="{9109FEFB-4313-4ECD-A94B-C811959A5E6D}" type="presOf" srcId="{2451007C-1A84-4A0B-9ECC-88D47286B627}" destId="{240ADE13-CD7A-4A5A-AF90-89B6740102CB}" srcOrd="0" destOrd="1" presId="urn:microsoft.com/office/officeart/2005/8/layout/vList2"/>
    <dgm:cxn modelId="{3A9F74F2-D19D-482B-9030-C36A860EB717}" type="presParOf" srcId="{705B0E4D-9400-4A56-B3A3-34828ACCD16E}" destId="{2C113F95-632F-4056-BC6A-86D126C03B9A}" srcOrd="0" destOrd="0" presId="urn:microsoft.com/office/officeart/2005/8/layout/vList2"/>
    <dgm:cxn modelId="{3C78E3D6-98AF-4564-8243-A98C4C4A6578}" type="presParOf" srcId="{705B0E4D-9400-4A56-B3A3-34828ACCD16E}" destId="{D4511873-838A-46BD-980E-58753F2A6943}" srcOrd="1" destOrd="0" presId="urn:microsoft.com/office/officeart/2005/8/layout/vList2"/>
    <dgm:cxn modelId="{FE035A8F-B3A0-41B8-8069-98FD36E5E184}" type="presParOf" srcId="{705B0E4D-9400-4A56-B3A3-34828ACCD16E}" destId="{77AFD974-1DC2-4ADD-8629-899F123C7FEC}" srcOrd="2" destOrd="0" presId="urn:microsoft.com/office/officeart/2005/8/layout/vList2"/>
    <dgm:cxn modelId="{063DE871-552E-403C-B014-525937FB7238}" type="presParOf" srcId="{705B0E4D-9400-4A56-B3A3-34828ACCD16E}" destId="{D125D2E1-91EF-4D7F-B8E1-1C90F4643B77}" srcOrd="3" destOrd="0" presId="urn:microsoft.com/office/officeart/2005/8/layout/vList2"/>
    <dgm:cxn modelId="{5AC685A0-CDA8-413B-8857-F1CA30AAEABA}" type="presParOf" srcId="{705B0E4D-9400-4A56-B3A3-34828ACCD16E}" destId="{8F4DF99C-0D98-4340-92C2-07663D1FF8C0}" srcOrd="4" destOrd="0" presId="urn:microsoft.com/office/officeart/2005/8/layout/vList2"/>
    <dgm:cxn modelId="{5E2BA534-4F17-43BC-B42E-BFBB8AD5907B}" type="presParOf" srcId="{705B0E4D-9400-4A56-B3A3-34828ACCD16E}" destId="{240ADE13-CD7A-4A5A-AF90-89B6740102CB}"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113F95-632F-4056-BC6A-86D126C03B9A}">
      <dsp:nvSpPr>
        <dsp:cNvPr id="0" name=""/>
        <dsp:cNvSpPr/>
      </dsp:nvSpPr>
      <dsp:spPr>
        <a:xfrm>
          <a:off x="0" y="45225"/>
          <a:ext cx="5401492" cy="9945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tr-TR" sz="2500" b="1" kern="1200"/>
            <a:t>Bilim</a:t>
          </a:r>
          <a:r>
            <a:rPr lang="tr-TR" sz="2500" kern="1200"/>
            <a:t>; nesnel</a:t>
          </a:r>
          <a:r>
            <a:rPr lang="tr-TR" sz="2500" u="sng" kern="1200"/>
            <a:t>, </a:t>
          </a:r>
          <a:r>
            <a:rPr lang="tr-TR" sz="2500" kern="1200"/>
            <a:t>evrensel ve genelleyicidir.</a:t>
          </a:r>
          <a:endParaRPr lang="en-US" sz="2500" kern="1200"/>
        </a:p>
      </dsp:txBody>
      <dsp:txXfrm>
        <a:off x="48547" y="93772"/>
        <a:ext cx="5304398" cy="897406"/>
      </dsp:txXfrm>
    </dsp:sp>
    <dsp:sp modelId="{77AFD974-1DC2-4ADD-8629-899F123C7FEC}">
      <dsp:nvSpPr>
        <dsp:cNvPr id="0" name=""/>
        <dsp:cNvSpPr/>
      </dsp:nvSpPr>
      <dsp:spPr>
        <a:xfrm>
          <a:off x="0" y="1111725"/>
          <a:ext cx="5401492" cy="994500"/>
        </a:xfrm>
        <a:prstGeom prst="roundRect">
          <a:avLst/>
        </a:prstGeom>
        <a:solidFill>
          <a:schemeClr val="accent2">
            <a:hueOff val="10047584"/>
            <a:satOff val="-216"/>
            <a:lumOff val="35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tr-TR" sz="2500" kern="1200"/>
            <a:t>Bilim; </a:t>
          </a:r>
          <a:r>
            <a:rPr lang="tr-TR" sz="2500" u="sng" kern="1200"/>
            <a:t>fiziki, biyolojik ve sosyal bilimler </a:t>
          </a:r>
          <a:r>
            <a:rPr lang="tr-TR" sz="2500" kern="1200"/>
            <a:t>olarak ayrılmaktadır. </a:t>
          </a:r>
          <a:endParaRPr lang="en-US" sz="2500" kern="1200"/>
        </a:p>
      </dsp:txBody>
      <dsp:txXfrm>
        <a:off x="48547" y="1160272"/>
        <a:ext cx="5304398" cy="897406"/>
      </dsp:txXfrm>
    </dsp:sp>
    <dsp:sp modelId="{8F4DF99C-0D98-4340-92C2-07663D1FF8C0}">
      <dsp:nvSpPr>
        <dsp:cNvPr id="0" name=""/>
        <dsp:cNvSpPr/>
      </dsp:nvSpPr>
      <dsp:spPr>
        <a:xfrm>
          <a:off x="0" y="2178225"/>
          <a:ext cx="5401492" cy="994500"/>
        </a:xfrm>
        <a:prstGeom prst="roundRect">
          <a:avLst/>
        </a:prstGeom>
        <a:solidFill>
          <a:schemeClr val="accent2">
            <a:hueOff val="20095168"/>
            <a:satOff val="-433"/>
            <a:lumOff val="70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tr-TR" sz="2500" kern="1200"/>
            <a:t>Bu ayrımın temelini de pozitif ve normatif algısı oluşturmaktadır.</a:t>
          </a:r>
          <a:endParaRPr lang="en-US" sz="2500" kern="1200"/>
        </a:p>
      </dsp:txBody>
      <dsp:txXfrm>
        <a:off x="48547" y="2226772"/>
        <a:ext cx="5304398" cy="897406"/>
      </dsp:txXfrm>
    </dsp:sp>
    <dsp:sp modelId="{240ADE13-CD7A-4A5A-AF90-89B6740102CB}">
      <dsp:nvSpPr>
        <dsp:cNvPr id="0" name=""/>
        <dsp:cNvSpPr/>
      </dsp:nvSpPr>
      <dsp:spPr>
        <a:xfrm>
          <a:off x="0" y="3172725"/>
          <a:ext cx="5401492" cy="181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9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tr-TR" sz="2000" kern="1200"/>
            <a:t>Pozitif Bilim: Düşüncede değil, somut olarak var olan olay ve olguları inceler. (fizik, kimya gibi doğa bilimleri)</a:t>
          </a:r>
          <a:endParaRPr lang="en-US" sz="2000" kern="1200"/>
        </a:p>
        <a:p>
          <a:pPr marL="228600" lvl="1" indent="-228600" algn="l" defTabSz="889000">
            <a:lnSpc>
              <a:spcPct val="90000"/>
            </a:lnSpc>
            <a:spcBef>
              <a:spcPct val="0"/>
            </a:spcBef>
            <a:spcAft>
              <a:spcPct val="20000"/>
            </a:spcAft>
            <a:buChar char="•"/>
          </a:pPr>
          <a:r>
            <a:rPr lang="tr-TR" sz="2000" kern="1200"/>
            <a:t>Normatif Bilim: Olanlar değil, olması gerekenlerle ilgilenir. (edebiyat, din, mantık..). Doğru düşünmeyi amaçlar.</a:t>
          </a:r>
          <a:endParaRPr lang="en-US" sz="2000" kern="1200"/>
        </a:p>
      </dsp:txBody>
      <dsp:txXfrm>
        <a:off x="0" y="3172725"/>
        <a:ext cx="5401492" cy="18112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544911-B0FD-402E-AAC2-511028DD0541}" type="datetimeFigureOut">
              <a:rPr lang="tr-TR" smtClean="0"/>
              <a:t>30.04.2026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3311A5-5041-4ED4-BF2C-D535DD848BED}" type="slidenum">
              <a:rPr lang="tr-TR" smtClean="0"/>
              <a:t>‹#›</a:t>
            </a:fld>
            <a:endParaRPr lang="tr-TR"/>
          </a:p>
        </p:txBody>
      </p:sp>
    </p:spTree>
    <p:extLst>
      <p:ext uri="{BB962C8B-B14F-4D97-AF65-F5344CB8AC3E}">
        <p14:creationId xmlns:p14="http://schemas.microsoft.com/office/powerpoint/2010/main" val="296677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İktisadı bireylerin, firmaların, kurumların ve devletin yani iktisadi karar birimlerinin karar verme süreçlerini ve bu kararların sonuçlarını inceleyen sosyal bir bilim dalı olarak tanımlayabiliriz. İktisat bir sosyal bilim olarak her ne kadar karmaşık gibi gözükse de aslında hepimizin gündelik davranışlarını ve günlük yaşamımızda karşılaştığımız durum ve sorunları inceleyen ve açıklayan bir bilim dalıdır. </a:t>
            </a:r>
          </a:p>
          <a:p>
            <a:endParaRPr lang="tr-TR"/>
          </a:p>
        </p:txBody>
      </p:sp>
      <p:sp>
        <p:nvSpPr>
          <p:cNvPr id="4" name="Slayt Numarası Yer Tutucusu 3"/>
          <p:cNvSpPr>
            <a:spLocks noGrp="1"/>
          </p:cNvSpPr>
          <p:nvPr>
            <p:ph type="sldNum" sz="quarter" idx="5"/>
          </p:nvPr>
        </p:nvSpPr>
        <p:spPr/>
        <p:txBody>
          <a:bodyPr/>
          <a:lstStyle/>
          <a:p>
            <a:fld id="{4D3311A5-5041-4ED4-BF2C-D535DD848BED}" type="slidenum">
              <a:rPr lang="tr-TR" smtClean="0"/>
              <a:t>2</a:t>
            </a:fld>
            <a:endParaRPr lang="tr-TR"/>
          </a:p>
        </p:txBody>
      </p:sp>
    </p:spTree>
    <p:extLst>
      <p:ext uri="{BB962C8B-B14F-4D97-AF65-F5344CB8AC3E}">
        <p14:creationId xmlns:p14="http://schemas.microsoft.com/office/powerpoint/2010/main" val="36004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"Ekonomi sadece para ve borsa demek değildir; aslında tercihlerimizin bilimidir. Bu derste sadece teorileri değil, her gün verdiğiniz kararların arkasındaki 'görünmez' mantığı göreceğiz."</a:t>
            </a:r>
          </a:p>
        </p:txBody>
      </p:sp>
      <p:sp>
        <p:nvSpPr>
          <p:cNvPr id="4" name="Slayt Numarası Yer Tutucusu 3"/>
          <p:cNvSpPr>
            <a:spLocks noGrp="1"/>
          </p:cNvSpPr>
          <p:nvPr>
            <p:ph type="sldNum" sz="quarter" idx="5"/>
          </p:nvPr>
        </p:nvSpPr>
        <p:spPr/>
        <p:txBody>
          <a:bodyPr/>
          <a:lstStyle/>
          <a:p>
            <a:fld id="{4D3311A5-5041-4ED4-BF2C-D535DD848BED}" type="slidenum">
              <a:rPr lang="tr-TR" smtClean="0"/>
              <a:t>3</a:t>
            </a:fld>
            <a:endParaRPr lang="tr-TR"/>
          </a:p>
        </p:txBody>
      </p:sp>
    </p:spTree>
    <p:extLst>
      <p:ext uri="{BB962C8B-B14F-4D97-AF65-F5344CB8AC3E}">
        <p14:creationId xmlns:p14="http://schemas.microsoft.com/office/powerpoint/2010/main" val="3315818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"Neden evleniriz? Neden bazı ülkeler savaşır? İlk bakışta duygusal veya siyasi görünen bu olayların temelinde 'maliyet-fayda' analizi yatar. Örneğin; suç oranları ile işsizlik oranları arasındaki ilişki tamamen iktisadi bir dengedir.«</a:t>
            </a:r>
          </a:p>
          <a:p>
            <a:r>
              <a:rPr lang="tr-TR"/>
              <a:t>"Biyolojik ihtiyaçlarımız (yemek) sınırlıdır; ancak kültürel ihtiyaçlarımız (moda, teknoloji) sınırsızdır. İktisat, bu sınırsız iştahı sınırlı kaynaklarla nasıl doyuracağımızı araştırır.«</a:t>
            </a:r>
          </a:p>
          <a:p>
            <a:r>
              <a:rPr lang="tr-TR"/>
              <a:t>"İhtiyaçlar dinamiktir. 20 yıl önce internet bir lükstü, bugün bir 'zaruri ihtiyaç'. Tartışma: Bir ihtiyacın 'zaruri' mi yoksa 'kültürel' mi olduğuna kim karar verir? Reklamlar mı, biz mi?"</a:t>
            </a:r>
          </a:p>
        </p:txBody>
      </p:sp>
      <p:sp>
        <p:nvSpPr>
          <p:cNvPr id="4" name="Slayt Numarası Yer Tutucusu 3"/>
          <p:cNvSpPr>
            <a:spLocks noGrp="1"/>
          </p:cNvSpPr>
          <p:nvPr>
            <p:ph type="sldNum" sz="quarter" idx="5"/>
          </p:nvPr>
        </p:nvSpPr>
        <p:spPr/>
        <p:txBody>
          <a:bodyPr/>
          <a:lstStyle/>
          <a:p>
            <a:fld id="{4D3311A5-5041-4ED4-BF2C-D535DD848BED}" type="slidenum">
              <a:rPr lang="tr-TR" smtClean="0"/>
              <a:t>5</a:t>
            </a:fld>
            <a:endParaRPr lang="tr-TR"/>
          </a:p>
        </p:txBody>
      </p:sp>
    </p:spTree>
    <p:extLst>
      <p:ext uri="{BB962C8B-B14F-4D97-AF65-F5344CB8AC3E}">
        <p14:creationId xmlns:p14="http://schemas.microsoft.com/office/powerpoint/2010/main" val="929808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Dijitalleşen dünyada mal ve hizmet ayrımı siliniyor. Bir oyun CD'si 'mal' iken, onu internetten indirmek 'hizmet' mi sayılır? </a:t>
            </a:r>
          </a:p>
        </p:txBody>
      </p:sp>
      <p:sp>
        <p:nvSpPr>
          <p:cNvPr id="4" name="Slayt Numarası Yer Tutucusu 3"/>
          <p:cNvSpPr>
            <a:spLocks noGrp="1"/>
          </p:cNvSpPr>
          <p:nvPr>
            <p:ph type="sldNum" sz="quarter" idx="5"/>
          </p:nvPr>
        </p:nvSpPr>
        <p:spPr/>
        <p:txBody>
          <a:bodyPr/>
          <a:lstStyle/>
          <a:p>
            <a:fld id="{4D3311A5-5041-4ED4-BF2C-D535DD848BED}" type="slidenum">
              <a:rPr lang="tr-TR" smtClean="0"/>
              <a:t>6</a:t>
            </a:fld>
            <a:endParaRPr lang="tr-TR"/>
          </a:p>
        </p:txBody>
      </p:sp>
    </p:spTree>
    <p:extLst>
      <p:ext uri="{BB962C8B-B14F-4D97-AF65-F5344CB8AC3E}">
        <p14:creationId xmlns:p14="http://schemas.microsoft.com/office/powerpoint/2010/main" val="2004342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"Hanehalkı sadece kan bağı olan aile değildir; aynı bütçeyi paylaşan öğrenci evi de bir hanehalkıdır. Üretim ise sadece fabrikada bir şey yapmak değil; bir elmayı manava taşımak da bir üretimdir (yer faydası)."</a:t>
            </a:r>
          </a:p>
        </p:txBody>
      </p:sp>
      <p:sp>
        <p:nvSpPr>
          <p:cNvPr id="4" name="Slayt Numarası Yer Tutucusu 3"/>
          <p:cNvSpPr>
            <a:spLocks noGrp="1"/>
          </p:cNvSpPr>
          <p:nvPr>
            <p:ph type="sldNum" sz="quarter" idx="5"/>
          </p:nvPr>
        </p:nvSpPr>
        <p:spPr/>
        <p:txBody>
          <a:bodyPr/>
          <a:lstStyle/>
          <a:p>
            <a:fld id="{4D3311A5-5041-4ED4-BF2C-D535DD848BED}" type="slidenum">
              <a:rPr lang="tr-TR" smtClean="0"/>
              <a:t>7</a:t>
            </a:fld>
            <a:endParaRPr lang="tr-TR"/>
          </a:p>
        </p:txBody>
      </p:sp>
    </p:spTree>
    <p:extLst>
      <p:ext uri="{BB962C8B-B14F-4D97-AF65-F5344CB8AC3E}">
        <p14:creationId xmlns:p14="http://schemas.microsoft.com/office/powerpoint/2010/main" val="1840775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"Homo Economicus idealize edilmiş bir 'robot' gibidir. Her zaman en ucuzunu ve en kalitelisini arar. </a:t>
            </a:r>
          </a:p>
          <a:p>
            <a:r>
              <a:rPr lang="tr-TR"/>
              <a:t>Soru: Duygusal davranıp daha pahalı ama 'marka' olanı almak rasyonel midir?"</a:t>
            </a:r>
          </a:p>
        </p:txBody>
      </p:sp>
      <p:sp>
        <p:nvSpPr>
          <p:cNvPr id="4" name="Slayt Numarası Yer Tutucusu 3"/>
          <p:cNvSpPr>
            <a:spLocks noGrp="1"/>
          </p:cNvSpPr>
          <p:nvPr>
            <p:ph type="sldNum" sz="quarter" idx="5"/>
          </p:nvPr>
        </p:nvSpPr>
        <p:spPr/>
        <p:txBody>
          <a:bodyPr/>
          <a:lstStyle/>
          <a:p>
            <a:fld id="{4D3311A5-5041-4ED4-BF2C-D535DD848BED}" type="slidenum">
              <a:rPr lang="tr-TR" smtClean="0"/>
              <a:t>9</a:t>
            </a:fld>
            <a:endParaRPr lang="tr-TR"/>
          </a:p>
        </p:txBody>
      </p:sp>
    </p:spTree>
    <p:extLst>
      <p:ext uri="{BB962C8B-B14F-4D97-AF65-F5344CB8AC3E}">
        <p14:creationId xmlns:p14="http://schemas.microsoft.com/office/powerpoint/2010/main" val="3493588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"Pozitif iktisat laboratuvar sonuçları gibidir (Enflasyon %50). Normatif iktisat ise doktorun tavsiyesi gibidir (Enflasyon düşmesi için faiz artmalı). İktisatçılar genelde verilerde değil, 'ne yapılması gerektiği' konusunda anlaşamazlar."</a:t>
            </a:r>
          </a:p>
        </p:txBody>
      </p:sp>
      <p:sp>
        <p:nvSpPr>
          <p:cNvPr id="4" name="Slayt Numarası Yer Tutucusu 3"/>
          <p:cNvSpPr>
            <a:spLocks noGrp="1"/>
          </p:cNvSpPr>
          <p:nvPr>
            <p:ph type="sldNum" sz="quarter" idx="5"/>
          </p:nvPr>
        </p:nvSpPr>
        <p:spPr/>
        <p:txBody>
          <a:bodyPr/>
          <a:lstStyle/>
          <a:p>
            <a:fld id="{4D3311A5-5041-4ED4-BF2C-D535DD848BED}" type="slidenum">
              <a:rPr lang="tr-TR" smtClean="0"/>
              <a:t>11</a:t>
            </a:fld>
            <a:endParaRPr lang="tr-TR"/>
          </a:p>
        </p:txBody>
      </p:sp>
    </p:spTree>
    <p:extLst>
      <p:ext uri="{BB962C8B-B14F-4D97-AF65-F5344CB8AC3E}">
        <p14:creationId xmlns:p14="http://schemas.microsoft.com/office/powerpoint/2010/main" val="37663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"İktisat bir sosyal bilimdir. İnsan davranışları fizik kanunları gibi sabit değildir. Altı iktisatçıdan yedi görüş çıkmasının sebebi, her birinin farklı bir sosyal 'ideal' peşinde olmasıdır."</a:t>
            </a:r>
          </a:p>
        </p:txBody>
      </p:sp>
      <p:sp>
        <p:nvSpPr>
          <p:cNvPr id="4" name="Slayt Numarası Yer Tutucusu 3"/>
          <p:cNvSpPr>
            <a:spLocks noGrp="1"/>
          </p:cNvSpPr>
          <p:nvPr>
            <p:ph type="sldNum" sz="quarter" idx="5"/>
          </p:nvPr>
        </p:nvSpPr>
        <p:spPr/>
        <p:txBody>
          <a:bodyPr/>
          <a:lstStyle/>
          <a:p>
            <a:fld id="{4D3311A5-5041-4ED4-BF2C-D535DD848BED}" type="slidenum">
              <a:rPr lang="tr-TR" smtClean="0"/>
              <a:t>12</a:t>
            </a:fld>
            <a:endParaRPr lang="tr-TR"/>
          </a:p>
        </p:txBody>
      </p:sp>
    </p:spTree>
    <p:extLst>
      <p:ext uri="{BB962C8B-B14F-4D97-AF65-F5344CB8AC3E}">
        <p14:creationId xmlns:p14="http://schemas.microsoft.com/office/powerpoint/2010/main" val="2355292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Bu ilkeler </a:t>
            </a:r>
            <a:r>
              <a:rPr lang="tr-TR" b="1"/>
              <a:t>serbest piyasa ekonomisinin</a:t>
            </a:r>
            <a:r>
              <a:rPr lang="tr-TR"/>
              <a:t> temelini oluşturur ve günümüz kapitalizminin teorik altyapısını açıklar. Ancak modern ekonomilerde devlet, vergilendirme, sosyal politikalar ve düzenleyici kurumlarla ekonomiye belirli ölçüde müdahale etmektedir.</a:t>
            </a:r>
          </a:p>
        </p:txBody>
      </p:sp>
      <p:sp>
        <p:nvSpPr>
          <p:cNvPr id="4" name="Slayt Numarası Yer Tutucusu 3"/>
          <p:cNvSpPr>
            <a:spLocks noGrp="1"/>
          </p:cNvSpPr>
          <p:nvPr>
            <p:ph type="sldNum" sz="quarter" idx="5"/>
          </p:nvPr>
        </p:nvSpPr>
        <p:spPr/>
        <p:txBody>
          <a:bodyPr/>
          <a:lstStyle/>
          <a:p>
            <a:fld id="{4D3311A5-5041-4ED4-BF2C-D535DD848BED}" type="slidenum">
              <a:rPr lang="tr-TR" smtClean="0"/>
              <a:t>19</a:t>
            </a:fld>
            <a:endParaRPr lang="tr-TR"/>
          </a:p>
        </p:txBody>
      </p:sp>
    </p:spTree>
    <p:extLst>
      <p:ext uri="{BB962C8B-B14F-4D97-AF65-F5344CB8AC3E}">
        <p14:creationId xmlns:p14="http://schemas.microsoft.com/office/powerpoint/2010/main" val="2642595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"Smith'e göre; kasap bize eti sevdiği için değil, para kazanmak istediği için satar. Onun kendi çıkarını düşünmesi, bizim akşam yemeği yememizi sağlar. İşte bu 'Görünmez El'dir."</a:t>
            </a:r>
          </a:p>
        </p:txBody>
      </p:sp>
      <p:sp>
        <p:nvSpPr>
          <p:cNvPr id="4" name="Slayt Numarası Yer Tutucusu 3"/>
          <p:cNvSpPr>
            <a:spLocks noGrp="1"/>
          </p:cNvSpPr>
          <p:nvPr>
            <p:ph type="sldNum" sz="quarter" idx="5"/>
          </p:nvPr>
        </p:nvSpPr>
        <p:spPr/>
        <p:txBody>
          <a:bodyPr/>
          <a:lstStyle/>
          <a:p>
            <a:fld id="{4D3311A5-5041-4ED4-BF2C-D535DD848BED}" type="slidenum">
              <a:rPr lang="tr-TR" smtClean="0"/>
              <a:t>20</a:t>
            </a:fld>
            <a:endParaRPr lang="tr-TR"/>
          </a:p>
        </p:txBody>
      </p:sp>
    </p:spTree>
    <p:extLst>
      <p:ext uri="{BB962C8B-B14F-4D97-AF65-F5344CB8AC3E}">
        <p14:creationId xmlns:p14="http://schemas.microsoft.com/office/powerpoint/2010/main" val="3993328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"Kuzey Kore örneği verilebilir. 'Herkesin ne yiyeceğine devlet karar verirse kuyruklar neden oluşur?' sorusunu sorun. Rekabetin olmadığı yerde inovasyonun neden durduğunu tartışın."</a:t>
            </a:r>
          </a:p>
        </p:txBody>
      </p:sp>
      <p:sp>
        <p:nvSpPr>
          <p:cNvPr id="4" name="Slayt Numarası Yer Tutucusu 3"/>
          <p:cNvSpPr>
            <a:spLocks noGrp="1"/>
          </p:cNvSpPr>
          <p:nvPr>
            <p:ph type="sldNum" sz="quarter" idx="5"/>
          </p:nvPr>
        </p:nvSpPr>
        <p:spPr/>
        <p:txBody>
          <a:bodyPr/>
          <a:lstStyle/>
          <a:p>
            <a:fld id="{4D3311A5-5041-4ED4-BF2C-D535DD848BED}" type="slidenum">
              <a:rPr lang="tr-TR" smtClean="0"/>
              <a:t>21</a:t>
            </a:fld>
            <a:endParaRPr lang="tr-TR"/>
          </a:p>
        </p:txBody>
      </p:sp>
    </p:spTree>
    <p:extLst>
      <p:ext uri="{BB962C8B-B14F-4D97-AF65-F5344CB8AC3E}">
        <p14:creationId xmlns:p14="http://schemas.microsoft.com/office/powerpoint/2010/main" val="1231125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a:t>Örnek Ülkeler:</a:t>
            </a:r>
          </a:p>
          <a:p>
            <a:pPr>
              <a:buFont typeface="Arial" panose="020B0604020202020204" pitchFamily="34" charset="0"/>
              <a:buChar char="•"/>
            </a:pPr>
            <a:r>
              <a:rPr lang="tr-TR" sz="1200" b="1"/>
              <a:t>Eski Sovyetler Birliği (SSCB)</a:t>
            </a:r>
            <a:endParaRPr lang="tr-TR" sz="1200"/>
          </a:p>
          <a:p>
            <a:pPr>
              <a:buFont typeface="Arial" panose="020B0604020202020204" pitchFamily="34" charset="0"/>
              <a:buChar char="•"/>
            </a:pPr>
            <a:r>
              <a:rPr lang="tr-TR" sz="1200" b="1"/>
              <a:t>Küba</a:t>
            </a:r>
            <a:endParaRPr lang="tr-TR" sz="1200"/>
          </a:p>
          <a:p>
            <a:pPr>
              <a:buFont typeface="Arial" panose="020B0604020202020204" pitchFamily="34" charset="0"/>
              <a:buChar char="•"/>
            </a:pPr>
            <a:r>
              <a:rPr lang="tr-TR" sz="1200" b="1"/>
              <a:t>Kuzey Kore</a:t>
            </a:r>
            <a:endParaRPr lang="tr-TR" sz="1200"/>
          </a:p>
          <a:p>
            <a:pPr>
              <a:buFont typeface="Arial" panose="020B0604020202020204" pitchFamily="34" charset="0"/>
              <a:buChar char="•"/>
            </a:pPr>
            <a:r>
              <a:rPr lang="tr-TR" sz="1200" b="1"/>
              <a:t>Çin</a:t>
            </a:r>
            <a:r>
              <a:rPr lang="tr-TR" sz="1200"/>
              <a:t> (1980’lerden önce)</a:t>
            </a:r>
          </a:p>
          <a:p>
            <a:r>
              <a:rPr lang="tr-TR" sz="1200"/>
              <a:t>Bu modelde devlet, ekonomik kaynakları sosyal refahı maksimize edecek şekilde dağıtmayı amaçlar. Ancak genellikle </a:t>
            </a:r>
            <a:r>
              <a:rPr lang="tr-TR" sz="1200" b="1"/>
              <a:t>verimsizlik, bürokrasi ve yenilikçilik eksikliği</a:t>
            </a:r>
            <a:r>
              <a:rPr lang="tr-TR" sz="1200"/>
              <a:t> gibi sorunlarla karşılaşır.</a:t>
            </a:r>
          </a:p>
          <a:p>
            <a:endParaRPr lang="tr-TR"/>
          </a:p>
        </p:txBody>
      </p:sp>
      <p:sp>
        <p:nvSpPr>
          <p:cNvPr id="4" name="Slayt Numarası Yer Tutucusu 3"/>
          <p:cNvSpPr>
            <a:spLocks noGrp="1"/>
          </p:cNvSpPr>
          <p:nvPr>
            <p:ph type="sldNum" sz="quarter" idx="5"/>
          </p:nvPr>
        </p:nvSpPr>
        <p:spPr/>
        <p:txBody>
          <a:bodyPr/>
          <a:lstStyle/>
          <a:p>
            <a:fld id="{4D3311A5-5041-4ED4-BF2C-D535DD848BED}" type="slidenum">
              <a:rPr lang="tr-TR" smtClean="0"/>
              <a:t>22</a:t>
            </a:fld>
            <a:endParaRPr lang="tr-TR"/>
          </a:p>
        </p:txBody>
      </p:sp>
    </p:spTree>
    <p:extLst>
      <p:ext uri="{BB962C8B-B14F-4D97-AF65-F5344CB8AC3E}">
        <p14:creationId xmlns:p14="http://schemas.microsoft.com/office/powerpoint/2010/main" val="4241793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"Günümüzde tamamen saf bir sistem yoktur. ABD bile bazen müdahale eder. Türkiye'nin 1930'lardaki devletçilik hamlesi, yokluk içinde bir sanayi kurma zorunluluğuydu."</a:t>
            </a:r>
          </a:p>
        </p:txBody>
      </p:sp>
      <p:sp>
        <p:nvSpPr>
          <p:cNvPr id="4" name="Slayt Numarası Yer Tutucusu 3"/>
          <p:cNvSpPr>
            <a:spLocks noGrp="1"/>
          </p:cNvSpPr>
          <p:nvPr>
            <p:ph type="sldNum" sz="quarter" idx="5"/>
          </p:nvPr>
        </p:nvSpPr>
        <p:spPr/>
        <p:txBody>
          <a:bodyPr/>
          <a:lstStyle/>
          <a:p>
            <a:fld id="{4D3311A5-5041-4ED4-BF2C-D535DD848BED}" type="slidenum">
              <a:rPr lang="tr-TR" smtClean="0"/>
              <a:t>23</a:t>
            </a:fld>
            <a:endParaRPr lang="tr-TR"/>
          </a:p>
        </p:txBody>
      </p:sp>
    </p:spTree>
    <p:extLst>
      <p:ext uri="{BB962C8B-B14F-4D97-AF65-F5344CB8AC3E}">
        <p14:creationId xmlns:p14="http://schemas.microsoft.com/office/powerpoint/2010/main" val="2617148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Tıpkı mühendisler, mimarlar gibi iktisatçılarda teorilerini geliştirirken modellerden faydalanırlar. Nasıl ki bir mimar binayı inşa etmeden önce bir bilgisayar programı yardımı ile inşa edilecek binayı çiziyor, yani modelliyorsa, ya da bir otomobil tasarımcısı yeni bir otomobili önce bilgisayarda tasarlıyorsa, iktisatçılarda iktisadi olayları modelleyerek açıklamaya çalışırlar. </a:t>
            </a:r>
          </a:p>
        </p:txBody>
      </p:sp>
      <p:sp>
        <p:nvSpPr>
          <p:cNvPr id="4" name="Slayt Numarası Yer Tutucusu 3"/>
          <p:cNvSpPr>
            <a:spLocks noGrp="1"/>
          </p:cNvSpPr>
          <p:nvPr>
            <p:ph type="sldNum" sz="quarter" idx="5"/>
          </p:nvPr>
        </p:nvSpPr>
        <p:spPr/>
        <p:txBody>
          <a:bodyPr/>
          <a:lstStyle/>
          <a:p>
            <a:fld id="{4D3311A5-5041-4ED4-BF2C-D535DD848BED}" type="slidenum">
              <a:rPr lang="tr-TR" smtClean="0"/>
              <a:t>26</a:t>
            </a:fld>
            <a:endParaRPr lang="tr-TR"/>
          </a:p>
        </p:txBody>
      </p:sp>
    </p:spTree>
    <p:extLst>
      <p:ext uri="{BB962C8B-B14F-4D97-AF65-F5344CB8AC3E}">
        <p14:creationId xmlns:p14="http://schemas.microsoft.com/office/powerpoint/2010/main" val="3985729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İktisatçılar geleceği tahmin etmek için kurdukları modellerde teorileri kullanırlar. Çünkü iktisadi hayatta geleceği tahmin edebilmek her şeydir. Bir iktisatçı eğer ekonomi sürekli cari açık veriyorsa yabancı paraların Türk Lirası karşısında er yada geç değer kazanacağını tahmin eder. Yine bir iktisatçı bir ürünün ithalatına kısıtlama getirildiğinde, o ürünün yurtiçi fiyatının artacağını tahmin eder. </a:t>
            </a:r>
          </a:p>
        </p:txBody>
      </p:sp>
      <p:sp>
        <p:nvSpPr>
          <p:cNvPr id="4" name="Slayt Numarası Yer Tutucusu 3"/>
          <p:cNvSpPr>
            <a:spLocks noGrp="1"/>
          </p:cNvSpPr>
          <p:nvPr>
            <p:ph type="sldNum" sz="quarter" idx="5"/>
          </p:nvPr>
        </p:nvSpPr>
        <p:spPr/>
        <p:txBody>
          <a:bodyPr/>
          <a:lstStyle/>
          <a:p>
            <a:fld id="{4D3311A5-5041-4ED4-BF2C-D535DD848BED}" type="slidenum">
              <a:rPr lang="tr-TR" smtClean="0"/>
              <a:t>27</a:t>
            </a:fld>
            <a:endParaRPr lang="tr-TR"/>
          </a:p>
        </p:txBody>
      </p:sp>
    </p:spTree>
    <p:extLst>
      <p:ext uri="{BB962C8B-B14F-4D97-AF65-F5344CB8AC3E}">
        <p14:creationId xmlns:p14="http://schemas.microsoft.com/office/powerpoint/2010/main" val="167045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"2024 dış ticaret açığı bir gerçektir (Pozitif). Ancak 'İthalat kısıtlanmalı' demek bir görüştür (Normatif). Çünkü ithalatı kısıtlamak bazı üretimleri durdurabilir."</a:t>
            </a:r>
          </a:p>
        </p:txBody>
      </p:sp>
      <p:sp>
        <p:nvSpPr>
          <p:cNvPr id="4" name="Slayt Numarası Yer Tutucusu 3"/>
          <p:cNvSpPr>
            <a:spLocks noGrp="1"/>
          </p:cNvSpPr>
          <p:nvPr>
            <p:ph type="sldNum" sz="quarter" idx="5"/>
          </p:nvPr>
        </p:nvSpPr>
        <p:spPr/>
        <p:txBody>
          <a:bodyPr/>
          <a:lstStyle/>
          <a:p>
            <a:fld id="{4D3311A5-5041-4ED4-BF2C-D535DD848BED}" type="slidenum">
              <a:rPr lang="tr-TR" smtClean="0"/>
              <a:t>29</a:t>
            </a:fld>
            <a:endParaRPr lang="tr-TR"/>
          </a:p>
        </p:txBody>
      </p:sp>
    </p:spTree>
    <p:extLst>
      <p:ext uri="{BB962C8B-B14F-4D97-AF65-F5344CB8AC3E}">
        <p14:creationId xmlns:p14="http://schemas.microsoft.com/office/powerpoint/2010/main" val="3184485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O yüzden mikro ve makro iktisadı çok keskin çizgilerde birbirinden ayırmak oldukça güçtür. Zira bir makro politika değişikliğinin mikro etkileri olurken, mikro ekonomik politikalarda değişiklikte makro değişkenleri etkilemektedir. Örneğin bir mal ya da hizmetin katma değer vergisi (KDV) oranında yapılacak mikro bir değişiklik, bir makro değişken olan bütçe açığını pekâlâ etkileyebilecektir. </a:t>
            </a:r>
          </a:p>
          <a:p>
            <a:r>
              <a:rPr lang="tr-TR" b="1"/>
              <a:t>Not:</a:t>
            </a:r>
            <a:r>
              <a:rPr lang="tr-TR"/>
              <a:t> "Mikro iktisat mikroskoptur (Sizin cüzdanınız). Makro iktisat teleskoptur (Ülkenin tamamı). Bazen mikro düzeyde doğru olan (tasarruf yapmak), makro düzeyde yanlıştır (tüketim durursa ekonomi çöker)."</a:t>
            </a:r>
          </a:p>
        </p:txBody>
      </p:sp>
      <p:sp>
        <p:nvSpPr>
          <p:cNvPr id="4" name="Slayt Numarası Yer Tutucusu 3"/>
          <p:cNvSpPr>
            <a:spLocks noGrp="1"/>
          </p:cNvSpPr>
          <p:nvPr>
            <p:ph type="sldNum" sz="quarter" idx="5"/>
          </p:nvPr>
        </p:nvSpPr>
        <p:spPr/>
        <p:txBody>
          <a:bodyPr/>
          <a:lstStyle/>
          <a:p>
            <a:fld id="{4D3311A5-5041-4ED4-BF2C-D535DD848BED}" type="slidenum">
              <a:rPr lang="tr-TR" smtClean="0"/>
              <a:t>30</a:t>
            </a:fld>
            <a:endParaRPr lang="tr-TR"/>
          </a:p>
        </p:txBody>
      </p:sp>
    </p:spTree>
    <p:extLst>
      <p:ext uri="{BB962C8B-B14F-4D97-AF65-F5344CB8AC3E}">
        <p14:creationId xmlns:p14="http://schemas.microsoft.com/office/powerpoint/2010/main" val="1547714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Kıtlık sorunu ile karşı karşıya kalmayan bir bireyden söz etmek mümkün değildir. Kimimizin parası kıt olabilir, kimimizin toprağı kıt olabilir, kimimizin zamanı kıt olabilir. Tıpkı bireyler gibi toplumların, ülkelerin de kaynakları kıttır. Eğer ihtiyaçları karşılayan mallar ihtiyaçlar kadar olsaydı, o zaman kıtlık sorunu ile karşı karşıya kalmayacaktık. Fakat maalesef ihtiyaçları giderecek olan malların miktarı çoğu zaman ihtiyaç duyulan miktardan daha azdır. İhtiyacımız kadar var olan mallara örnek olarak, o da şimdilik, havayı gösterebiliriz. Dünyanın neresine giderseniz gidin hava için para ödemezsiniz ve istediğiniz kadar tüketebilirsiniz. İktisat biliminde bu tür mallara serbest mallar diyoruz. </a:t>
            </a:r>
          </a:p>
        </p:txBody>
      </p:sp>
      <p:sp>
        <p:nvSpPr>
          <p:cNvPr id="4" name="Slayt Numarası Yer Tutucusu 3"/>
          <p:cNvSpPr>
            <a:spLocks noGrp="1"/>
          </p:cNvSpPr>
          <p:nvPr>
            <p:ph type="sldNum" sz="quarter" idx="5"/>
          </p:nvPr>
        </p:nvSpPr>
        <p:spPr/>
        <p:txBody>
          <a:bodyPr/>
          <a:lstStyle/>
          <a:p>
            <a:fld id="{4D3311A5-5041-4ED4-BF2C-D535DD848BED}" type="slidenum">
              <a:rPr lang="tr-TR" smtClean="0"/>
              <a:t>32</a:t>
            </a:fld>
            <a:endParaRPr lang="tr-TR"/>
          </a:p>
        </p:txBody>
      </p:sp>
    </p:spTree>
    <p:extLst>
      <p:ext uri="{BB962C8B-B14F-4D97-AF65-F5344CB8AC3E}">
        <p14:creationId xmlns:p14="http://schemas.microsoft.com/office/powerpoint/2010/main" val="35932525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Sonsuz olan ihtiyaçlar karşısında ihtiyaçları karşılayacak olan kaynaklar kıt olması bir tercih (seçim) yapma zorunluğu doğurur. Aslında iktisat biliminin özüdür seçim. İktisat bilimi, hem bu seçimin nasıl yapılacağı hem de bu seçimin sonuçları ile ilgilenir.</a:t>
            </a:r>
          </a:p>
          <a:p>
            <a:r>
              <a:rPr lang="tr-TR" b="1"/>
              <a:t>Not:</a:t>
            </a:r>
            <a:r>
              <a:rPr lang="tr-TR"/>
              <a:t> "Zenginler de kıtlık yaşar. Onların kıtlığı 'zaman'dır. Herkes için ortak olan kıtlık; aynı anda iki yerde olamamaktır."</a:t>
            </a:r>
          </a:p>
        </p:txBody>
      </p:sp>
      <p:sp>
        <p:nvSpPr>
          <p:cNvPr id="4" name="Slayt Numarası Yer Tutucusu 3"/>
          <p:cNvSpPr>
            <a:spLocks noGrp="1"/>
          </p:cNvSpPr>
          <p:nvPr>
            <p:ph type="sldNum" sz="quarter" idx="5"/>
          </p:nvPr>
        </p:nvSpPr>
        <p:spPr/>
        <p:txBody>
          <a:bodyPr/>
          <a:lstStyle/>
          <a:p>
            <a:fld id="{4D3311A5-5041-4ED4-BF2C-D535DD848BED}" type="slidenum">
              <a:rPr lang="tr-TR" smtClean="0"/>
              <a:t>33</a:t>
            </a:fld>
            <a:endParaRPr lang="tr-TR"/>
          </a:p>
        </p:txBody>
      </p:sp>
    </p:spTree>
    <p:extLst>
      <p:ext uri="{BB962C8B-B14F-4D97-AF65-F5344CB8AC3E}">
        <p14:creationId xmlns:p14="http://schemas.microsoft.com/office/powerpoint/2010/main" val="2527171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İktisatta amaçlarına ulaşmak üzere sistematik ve bilinçli olarak mevcut alternatifler arasında yapabileceğinin en iyisini yapmayı rasyonel davranış olarak tanımlayabiliriz. Rasyonel davranış, davranışı sergileyen açısından tüm yarar ve zararları düşünülmüş, kendi içerisinde tutarlı ve karar alıcının amacına en iyi şekilde ulaşmasını sağlayan davranış biçimidir. İktisatçılar ekonomik birimlerin karar alırlarken rasyonel davrandıklarını ve dolayısıyla da yaptıkları seçimin rasyonel seçim olduğunu varsayarlar. Firmalar üretim miktarı ile ilgili kararlarını alırlarken, ne kadar işçi çalıştıracaklarına karar verirlerken, tüketiciler ne kadar çalışıp ne kadar harcayacaklarına karar verirlerken, hazine ne kadar hazine bonosu çıkaracağına karar verirken rasyonel davranır. </a:t>
            </a:r>
          </a:p>
        </p:txBody>
      </p:sp>
      <p:sp>
        <p:nvSpPr>
          <p:cNvPr id="4" name="Slayt Numarası Yer Tutucusu 3"/>
          <p:cNvSpPr>
            <a:spLocks noGrp="1"/>
          </p:cNvSpPr>
          <p:nvPr>
            <p:ph type="sldNum" sz="quarter" idx="5"/>
          </p:nvPr>
        </p:nvSpPr>
        <p:spPr/>
        <p:txBody>
          <a:bodyPr/>
          <a:lstStyle/>
          <a:p>
            <a:fld id="{4D3311A5-5041-4ED4-BF2C-D535DD848BED}" type="slidenum">
              <a:rPr lang="tr-TR" smtClean="0"/>
              <a:t>34</a:t>
            </a:fld>
            <a:endParaRPr lang="tr-TR"/>
          </a:p>
        </p:txBody>
      </p:sp>
    </p:spTree>
    <p:extLst>
      <p:ext uri="{BB962C8B-B14F-4D97-AF65-F5344CB8AC3E}">
        <p14:creationId xmlns:p14="http://schemas.microsoft.com/office/powerpoint/2010/main" val="4106531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Örnek:</a:t>
            </a:r>
            <a:br>
              <a:rPr lang="tr-TR"/>
            </a:br>
            <a:r>
              <a:rPr lang="tr-TR"/>
              <a:t>Bir taksi şoförü, 2 saatlik bir sinema filmi izlemeye gitmek istiyor.</a:t>
            </a:r>
          </a:p>
          <a:p>
            <a:pPr>
              <a:buFont typeface="Arial" panose="020B0604020202020204" pitchFamily="34" charset="0"/>
              <a:buChar char="•"/>
            </a:pPr>
            <a:r>
              <a:rPr lang="tr-TR" b="1"/>
              <a:t>Parasal Maliyet:</a:t>
            </a:r>
            <a:r>
              <a:rPr lang="tr-TR"/>
              <a:t> Sinema bileti ücreti 100 TL.</a:t>
            </a:r>
          </a:p>
          <a:p>
            <a:pPr>
              <a:buFont typeface="Arial" panose="020B0604020202020204" pitchFamily="34" charset="0"/>
              <a:buChar char="•"/>
            </a:pPr>
            <a:r>
              <a:rPr lang="tr-TR" b="1"/>
              <a:t>Fırsat Maliyeti:</a:t>
            </a:r>
            <a:r>
              <a:rPr lang="tr-TR"/>
              <a:t> Şoför, bu 2 saatte taksiyle çalışıp 500 TL kazanabilirdi.</a:t>
            </a:r>
          </a:p>
          <a:p>
            <a:r>
              <a:rPr lang="tr-TR"/>
              <a:t>Bu durumda sinemaya gitmenin toplam maliyeti </a:t>
            </a:r>
            <a:r>
              <a:rPr lang="tr-TR" b="1"/>
              <a:t>600 TL (100 TL parasal maliyet + 500 TL fırsat maliyeti)</a:t>
            </a:r>
            <a:r>
              <a:rPr lang="tr-TR"/>
              <a:t> olur. Tabi taksicinin sinemaya giderek vazgeçtiği 500 Tl’den sağladığı fayda, gitmeyerek kazanacağı 20T’nin sağlayacağı faydadan daha yüksek olabilir. Gittiğine göre muhtemelen öyledir. </a:t>
            </a:r>
          </a:p>
          <a:p>
            <a:r>
              <a:rPr lang="tr-TR" b="1"/>
              <a:t>Not:</a:t>
            </a:r>
            <a:r>
              <a:rPr lang="tr-TR"/>
              <a:t> "Şu an bu derste olmanın gerçek maliyeti nedir? Ödediğiniz para mı, yoksa bu saatte uyuyarak veya çalışarak kaçırdığınız keyif/kazanç mı?"</a:t>
            </a:r>
          </a:p>
          <a:p>
            <a:endParaRPr lang="tr-TR"/>
          </a:p>
        </p:txBody>
      </p:sp>
      <p:sp>
        <p:nvSpPr>
          <p:cNvPr id="4" name="Slayt Numarası Yer Tutucusu 3"/>
          <p:cNvSpPr>
            <a:spLocks noGrp="1"/>
          </p:cNvSpPr>
          <p:nvPr>
            <p:ph type="sldNum" sz="quarter" idx="5"/>
          </p:nvPr>
        </p:nvSpPr>
        <p:spPr/>
        <p:txBody>
          <a:bodyPr/>
          <a:lstStyle/>
          <a:p>
            <a:fld id="{4D3311A5-5041-4ED4-BF2C-D535DD848BED}" type="slidenum">
              <a:rPr lang="tr-TR" smtClean="0"/>
              <a:t>35</a:t>
            </a:fld>
            <a:endParaRPr lang="tr-TR"/>
          </a:p>
        </p:txBody>
      </p:sp>
    </p:spTree>
    <p:extLst>
      <p:ext uri="{BB962C8B-B14F-4D97-AF65-F5344CB8AC3E}">
        <p14:creationId xmlns:p14="http://schemas.microsoft.com/office/powerpoint/2010/main" val="3000279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Ekonomilerin tercihlerini, dolayısıyla kararlarının fırsat maliyetini, üretim imkanları sınırı (eğrisi) ile gösterebiliyoruz. Üretim imkanları sınırı bir ekonominin tüm kaynaklarını ve sahip olduğu teknolojiyi kullanarak gerçekleştirebileceği üretimin sınırlarını gösterir. Bu eğrinin negatif eğimli olması her tercihin bir fırsat maliyeti olduğunu, dolayısıyla iki seçenek arasında bir ödünleşmenin olduğunu gösterir.</a:t>
            </a:r>
          </a:p>
        </p:txBody>
      </p:sp>
      <p:sp>
        <p:nvSpPr>
          <p:cNvPr id="4" name="Slayt Numarası Yer Tutucusu 3"/>
          <p:cNvSpPr>
            <a:spLocks noGrp="1"/>
          </p:cNvSpPr>
          <p:nvPr>
            <p:ph type="sldNum" sz="quarter" idx="5"/>
          </p:nvPr>
        </p:nvSpPr>
        <p:spPr/>
        <p:txBody>
          <a:bodyPr/>
          <a:lstStyle/>
          <a:p>
            <a:fld id="{4D3311A5-5041-4ED4-BF2C-D535DD848BED}" type="slidenum">
              <a:rPr lang="tr-TR" smtClean="0"/>
              <a:t>36</a:t>
            </a:fld>
            <a:endParaRPr lang="tr-TR"/>
          </a:p>
        </p:txBody>
      </p:sp>
    </p:spTree>
    <p:extLst>
      <p:ext uri="{BB962C8B-B14F-4D97-AF65-F5344CB8AC3E}">
        <p14:creationId xmlns:p14="http://schemas.microsoft.com/office/powerpoint/2010/main" val="3751559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"Silah mı, tereyağı mı? (Savunma mı, Refah mı?). Bir ülke kaynaklarını savaşa ayırırsa halkının ekmeğinden vazgeçmiş olur. Grafik üzerindeki 'E' noktası bugünkü teknolojiyle imkansızdır, ancak gelecekteki büyüme hedefidir."</a:t>
            </a:r>
          </a:p>
        </p:txBody>
      </p:sp>
      <p:sp>
        <p:nvSpPr>
          <p:cNvPr id="4" name="Slayt Numarası Yer Tutucusu 3"/>
          <p:cNvSpPr>
            <a:spLocks noGrp="1"/>
          </p:cNvSpPr>
          <p:nvPr>
            <p:ph type="sldNum" sz="quarter" idx="5"/>
          </p:nvPr>
        </p:nvSpPr>
        <p:spPr/>
        <p:txBody>
          <a:bodyPr/>
          <a:lstStyle/>
          <a:p>
            <a:fld id="{4D3311A5-5041-4ED4-BF2C-D535DD848BED}" type="slidenum">
              <a:rPr lang="tr-TR" smtClean="0"/>
              <a:t>37</a:t>
            </a:fld>
            <a:endParaRPr lang="tr-TR"/>
          </a:p>
        </p:txBody>
      </p:sp>
    </p:spTree>
    <p:extLst>
      <p:ext uri="{BB962C8B-B14F-4D97-AF65-F5344CB8AC3E}">
        <p14:creationId xmlns:p14="http://schemas.microsoft.com/office/powerpoint/2010/main" val="3542809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Aslında bir kararın ya da eylemin doğrudan parasal maliyeti ya da fırsat maliyeti o kararı almak için yeterli değildir. İktisatçıların daha çok üzerinde durduğu bir eylemin doğurduğu ilave maliyet ile ilave yarardır. Bir şeyi yapmanın yarattığı ilave maliyete marjinal maliyet, o eylemden elde edilen ilave yarara ise marjinal fayda denir. Bir kararın ya da eylemin marjinal fayda ve maliyetini göz önünde bulundurarak karar vermeye ise marjinal analiz denir. Marjinal analiz, sadece iktisadın değil günlük yaşamın karar alma süreçlerinin temel yöntemlerindendir. Çünkü insanlar bir şeyi yapmak ya da yapmamaktan çok, ne kadar yapacağına karar vermek zorundadır. </a:t>
            </a:r>
          </a:p>
        </p:txBody>
      </p:sp>
      <p:sp>
        <p:nvSpPr>
          <p:cNvPr id="4" name="Slayt Numarası Yer Tutucusu 3"/>
          <p:cNvSpPr>
            <a:spLocks noGrp="1"/>
          </p:cNvSpPr>
          <p:nvPr>
            <p:ph type="sldNum" sz="quarter" idx="5"/>
          </p:nvPr>
        </p:nvSpPr>
        <p:spPr/>
        <p:txBody>
          <a:bodyPr/>
          <a:lstStyle/>
          <a:p>
            <a:fld id="{4D3311A5-5041-4ED4-BF2C-D535DD848BED}" type="slidenum">
              <a:rPr lang="tr-TR" smtClean="0"/>
              <a:t>38</a:t>
            </a:fld>
            <a:endParaRPr lang="tr-TR"/>
          </a:p>
        </p:txBody>
      </p:sp>
    </p:spTree>
    <p:extLst>
      <p:ext uri="{BB962C8B-B14F-4D97-AF65-F5344CB8AC3E}">
        <p14:creationId xmlns:p14="http://schemas.microsoft.com/office/powerpoint/2010/main" val="23369905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Kıt kaynakların en etkin şekilde kullanımının yolu bir kararın marjinal fayda ve maliyetini göz önünde bulundurmaktır. Eğer bir eylemin yarattığı marjinal fayda onun marjinal maliyetinden fazla ise, bu eylemi gerçekleştirmek mantıklıdır. Bu şekilde alınan kararlar optimal (en iyi) karar alarak adlandırılabilir.</a:t>
            </a:r>
          </a:p>
          <a:p>
            <a:r>
              <a:rPr lang="tr-TR" b="1"/>
              <a:t>Not:</a:t>
            </a:r>
            <a:r>
              <a:rPr lang="tr-TR"/>
              <a:t> "Açken yediğiniz ilk lahmacun muhteşemdir. Beşinci lahmacun ise artık rahatsızlık verir. Marjinal fayda düştüğünde tüketimi durdurmalısınız. Şirketler de 'Bir işçi daha alırsam kârım ne kadar artar?' diye bakar."</a:t>
            </a:r>
          </a:p>
        </p:txBody>
      </p:sp>
      <p:sp>
        <p:nvSpPr>
          <p:cNvPr id="4" name="Slayt Numarası Yer Tutucusu 3"/>
          <p:cNvSpPr>
            <a:spLocks noGrp="1"/>
          </p:cNvSpPr>
          <p:nvPr>
            <p:ph type="sldNum" sz="quarter" idx="5"/>
          </p:nvPr>
        </p:nvSpPr>
        <p:spPr/>
        <p:txBody>
          <a:bodyPr/>
          <a:lstStyle/>
          <a:p>
            <a:fld id="{4D3311A5-5041-4ED4-BF2C-D535DD848BED}" type="slidenum">
              <a:rPr lang="tr-TR" smtClean="0"/>
              <a:t>39</a:t>
            </a:fld>
            <a:endParaRPr lang="tr-TR"/>
          </a:p>
        </p:txBody>
      </p:sp>
    </p:spTree>
    <p:extLst>
      <p:ext uri="{BB962C8B-B14F-4D97-AF65-F5344CB8AC3E}">
        <p14:creationId xmlns:p14="http://schemas.microsoft.com/office/powerpoint/2010/main" val="2578423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"Benzin fiyatı artınca insanların toplu taşımaya yönelmesi bir 'ikame'dir. Devletin sigara vergisini artırması ise bir 'negatif teşvik' (cezalandırma) yoluyla tüketimi azaltma çabasıdır."</a:t>
            </a:r>
          </a:p>
        </p:txBody>
      </p:sp>
      <p:sp>
        <p:nvSpPr>
          <p:cNvPr id="4" name="Slayt Numarası Yer Tutucusu 3"/>
          <p:cNvSpPr>
            <a:spLocks noGrp="1"/>
          </p:cNvSpPr>
          <p:nvPr>
            <p:ph type="sldNum" sz="quarter" idx="5"/>
          </p:nvPr>
        </p:nvSpPr>
        <p:spPr/>
        <p:txBody>
          <a:bodyPr/>
          <a:lstStyle/>
          <a:p>
            <a:fld id="{4D3311A5-5041-4ED4-BF2C-D535DD848BED}" type="slidenum">
              <a:rPr lang="tr-TR" smtClean="0"/>
              <a:t>40</a:t>
            </a:fld>
            <a:endParaRPr lang="tr-TR"/>
          </a:p>
        </p:txBody>
      </p:sp>
    </p:spTree>
    <p:extLst>
      <p:ext uri="{BB962C8B-B14F-4D97-AF65-F5344CB8AC3E}">
        <p14:creationId xmlns:p14="http://schemas.microsoft.com/office/powerpoint/2010/main" val="150271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Tüm Dünya’da sigara tüketimini azaltmak için hükümetler sigaradan alınan vergileri artırmıştır. Bu ise sigara fiyatının yükselmesine ve insanları da az sigara içmeye teşvik etmiştir. O yüzden teşvikler ekonomik birimlerin davranışlarının düzenlenmesinde son derece önemli role sahiptir. </a:t>
            </a:r>
          </a:p>
        </p:txBody>
      </p:sp>
      <p:sp>
        <p:nvSpPr>
          <p:cNvPr id="4" name="Slayt Numarası Yer Tutucusu 3"/>
          <p:cNvSpPr>
            <a:spLocks noGrp="1"/>
          </p:cNvSpPr>
          <p:nvPr>
            <p:ph type="sldNum" sz="quarter" idx="5"/>
          </p:nvPr>
        </p:nvSpPr>
        <p:spPr/>
        <p:txBody>
          <a:bodyPr/>
          <a:lstStyle/>
          <a:p>
            <a:fld id="{4D3311A5-5041-4ED4-BF2C-D535DD848BED}" type="slidenum">
              <a:rPr lang="tr-TR" smtClean="0"/>
              <a:t>42</a:t>
            </a:fld>
            <a:endParaRPr lang="tr-TR"/>
          </a:p>
        </p:txBody>
      </p:sp>
    </p:spTree>
    <p:extLst>
      <p:ext uri="{BB962C8B-B14F-4D97-AF65-F5344CB8AC3E}">
        <p14:creationId xmlns:p14="http://schemas.microsoft.com/office/powerpoint/2010/main" val="3109720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Not:</a:t>
            </a:r>
            <a:r>
              <a:rPr lang="tr-TR"/>
              <a:t> "Walkman neden öldü? Çünkü piyasa mekanizması 'ne üretilecek' sorusuna yeni bir cevap verdi: Akıllı telefonlar. Apple, tüketicinin ne istediğini onlardan önce tahmin ederek bu soruları yönetir."</a:t>
            </a:r>
          </a:p>
        </p:txBody>
      </p:sp>
      <p:sp>
        <p:nvSpPr>
          <p:cNvPr id="4" name="Slayt Numarası Yer Tutucusu 3"/>
          <p:cNvSpPr>
            <a:spLocks noGrp="1"/>
          </p:cNvSpPr>
          <p:nvPr>
            <p:ph type="sldNum" sz="quarter" idx="5"/>
          </p:nvPr>
        </p:nvSpPr>
        <p:spPr/>
        <p:txBody>
          <a:bodyPr/>
          <a:lstStyle/>
          <a:p>
            <a:fld id="{4D3311A5-5041-4ED4-BF2C-D535DD848BED}" type="slidenum">
              <a:rPr lang="tr-TR" smtClean="0"/>
              <a:t>43</a:t>
            </a:fld>
            <a:endParaRPr lang="tr-TR"/>
          </a:p>
        </p:txBody>
      </p:sp>
    </p:spTree>
    <p:extLst>
      <p:ext uri="{BB962C8B-B14F-4D97-AF65-F5344CB8AC3E}">
        <p14:creationId xmlns:p14="http://schemas.microsoft.com/office/powerpoint/2010/main" val="40320823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Hangi üretim faktörü ekonomide bol ise, o üretim faktörünün fiyatı düşük olacaktır. O yüzden ürünlerin nasıl üretileceğini üretim faktörlerinin miktarı belirleyecektir. Emeğin son derece yoğun olduğu bir ekonomide ürünler daha fazla emek-yoğun teknolojilerle üretilirken, sermayenin bol olduğu ekonomilerde daha çok sermaye yoğun bir üretim biçimi tercih edilecektir. Kuşkusuz mal ya da hizmetlerin nasıl üretileceğinin en önemli belirleyicilerinden biri de teknoloji düzeyi olacaktır. Nasıl ki 20. yy.’ın başlarında robotlarla otomobil üretimi söz konusu değilken, 21. yy. ’da da el yapımı otomobil bulmak zor olacaktır. Dolayısıyla teknolojinin ileri olduğu ekonomilerde daha ileri teknoloji kullanan üretim süreçlerine rastlanılırken, teknolojinin daha az geliştiği ekonomilerle daha düşük teknoloji yoğun üretim süreçleri göze çarpacaktır. </a:t>
            </a:r>
          </a:p>
        </p:txBody>
      </p:sp>
      <p:sp>
        <p:nvSpPr>
          <p:cNvPr id="4" name="Slayt Numarası Yer Tutucusu 3"/>
          <p:cNvSpPr>
            <a:spLocks noGrp="1"/>
          </p:cNvSpPr>
          <p:nvPr>
            <p:ph type="sldNum" sz="quarter" idx="5"/>
          </p:nvPr>
        </p:nvSpPr>
        <p:spPr/>
        <p:txBody>
          <a:bodyPr/>
          <a:lstStyle/>
          <a:p>
            <a:fld id="{4D3311A5-5041-4ED4-BF2C-D535DD848BED}" type="slidenum">
              <a:rPr lang="tr-TR" smtClean="0"/>
              <a:t>46</a:t>
            </a:fld>
            <a:endParaRPr lang="tr-TR"/>
          </a:p>
        </p:txBody>
      </p:sp>
    </p:spTree>
    <p:extLst>
      <p:ext uri="{BB962C8B-B14F-4D97-AF65-F5344CB8AC3E}">
        <p14:creationId xmlns:p14="http://schemas.microsoft.com/office/powerpoint/2010/main" val="26310289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C254-B95E-69D9-FA2F-C744D912E37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5538ACE-BC67-83EC-3136-047461CEB68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2C532C0-F260-9359-C9D1-2472E2422662}"/>
              </a:ext>
            </a:extLst>
          </p:cNvPr>
          <p:cNvSpPr>
            <a:spLocks noGrp="1"/>
          </p:cNvSpPr>
          <p:nvPr>
            <p:ph type="body" idx="1"/>
          </p:nvPr>
        </p:nvSpPr>
        <p:spPr/>
        <p:txBody>
          <a:bodyPr/>
          <a:lstStyle/>
          <a:p>
            <a:r>
              <a:rPr lang="tr-TR"/>
              <a:t>Serbest piyasa ekonomilerinde neyin, ne kadar ve nasıl üretileceğine kendi çıkarlarının maksimizasyonunu amaçlayan bireyler (tüketiciler) ve firmalar (üreticiler) tarafından karar verilir. Piyasa ekonomilerinde, bireyler gelir kısıtları altında faydalarını maksimize eden tüketim tercihlerini yaparken, firmalarda kârlarını maksimize eden üretim kararlarını alıyor olacaklardır. Günümüzde tam anlamıyla ne kumanda ekonomilerinin ne de serbest piyasa ekonomilerinin varlığından söz edebiliriz. Dünyadaki birçok ekonomide her ne kadar derecesi faklı olsa da, devletin piyasalara çeşitli mekanizmalarla müdahale ettiği karma ekonomik sistem uygulanmaktadır. Ekonomilerin temel amacı hem üretimde hem de tüketimde etkinliği sağlamaktır. Ne serbest piyasa ekonomileri ne de kumanda ekonomileri üretimde ve tüketimde kaynakların etkin dağılımı için yeterli olabilmektedir. Bu tür durumlarda devlet piyasaya müdahalelerde bulunarak kaynakların daha etkin dağılmasını sağlamaktadır. Devletin bu rolünün önemi 2008 yılında patlak veren küresel krizle birlikte daha da öne çıkmıştır. </a:t>
            </a:r>
          </a:p>
        </p:txBody>
      </p:sp>
      <p:sp>
        <p:nvSpPr>
          <p:cNvPr id="4" name="Slayt Numarası Yer Tutucusu 3">
            <a:extLst>
              <a:ext uri="{FF2B5EF4-FFF2-40B4-BE49-F238E27FC236}">
                <a16:creationId xmlns:a16="http://schemas.microsoft.com/office/drawing/2014/main" id="{4F16BC0C-D553-C588-A813-224DC87E7349}"/>
              </a:ext>
            </a:extLst>
          </p:cNvPr>
          <p:cNvSpPr>
            <a:spLocks noGrp="1"/>
          </p:cNvSpPr>
          <p:nvPr>
            <p:ph type="sldNum" sz="quarter" idx="5"/>
          </p:nvPr>
        </p:nvSpPr>
        <p:spPr/>
        <p:txBody>
          <a:bodyPr/>
          <a:lstStyle/>
          <a:p>
            <a:fld id="{4D3311A5-5041-4ED4-BF2C-D535DD848BED}" type="slidenum">
              <a:rPr lang="tr-TR" smtClean="0"/>
              <a:t>47</a:t>
            </a:fld>
            <a:endParaRPr lang="tr-TR"/>
          </a:p>
        </p:txBody>
      </p:sp>
    </p:spTree>
    <p:extLst>
      <p:ext uri="{BB962C8B-B14F-4D97-AF65-F5344CB8AC3E}">
        <p14:creationId xmlns:p14="http://schemas.microsoft.com/office/powerpoint/2010/main" val="21506000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Tabii ki bireyler tüketecekleri mal ve hizmetlerle ilgili tercihlerini yaparlarken, o mal ve hizmetin sağlayacağı faydayı göz önünde bulundururlar. Tüketiciler sadece bir mal ya da hizmetten sağlayacakları faydayı göz önünde bulundurarak tüketim kararlarını veremezler. Çünkü hiçbir iktisadi mal ücretsiz değil ve hiçbir tüketicinin geliri sonsuz değildir. O zaman tüketiciler harcama olanaklarını göz önünde bulundurarak kendileri en fazla faydayı sağlayacak olan tüketim bileşimi seçmelidirler.</a:t>
            </a:r>
          </a:p>
        </p:txBody>
      </p:sp>
      <p:sp>
        <p:nvSpPr>
          <p:cNvPr id="4" name="Slayt Numarası Yer Tutucusu 3"/>
          <p:cNvSpPr>
            <a:spLocks noGrp="1"/>
          </p:cNvSpPr>
          <p:nvPr>
            <p:ph type="sldNum" sz="quarter" idx="5"/>
          </p:nvPr>
        </p:nvSpPr>
        <p:spPr/>
        <p:txBody>
          <a:bodyPr/>
          <a:lstStyle/>
          <a:p>
            <a:fld id="{4D3311A5-5041-4ED4-BF2C-D535DD848BED}" type="slidenum">
              <a:rPr lang="tr-TR" smtClean="0"/>
              <a:t>49</a:t>
            </a:fld>
            <a:endParaRPr lang="tr-TR"/>
          </a:p>
        </p:txBody>
      </p:sp>
    </p:spTree>
    <p:extLst>
      <p:ext uri="{BB962C8B-B14F-4D97-AF65-F5344CB8AC3E}">
        <p14:creationId xmlns:p14="http://schemas.microsoft.com/office/powerpoint/2010/main" val="7334462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D3311A5-5041-4ED4-BF2C-D535DD848BED}" type="slidenum">
              <a:rPr lang="tr-TR" smtClean="0"/>
              <a:t>50</a:t>
            </a:fld>
            <a:endParaRPr lang="tr-TR"/>
          </a:p>
        </p:txBody>
      </p:sp>
    </p:spTree>
    <p:extLst>
      <p:ext uri="{BB962C8B-B14F-4D97-AF65-F5344CB8AC3E}">
        <p14:creationId xmlns:p14="http://schemas.microsoft.com/office/powerpoint/2010/main" val="1297799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5F7C-C74D-ADC2-0A5B-EF55E6B4DC8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E61C3D0-CACE-AA6B-6218-0365945A146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83E9DE0-C588-F9D0-C4FE-3E105673575C}"/>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9E470112-9482-2F6A-3790-EE6489159331}"/>
              </a:ext>
            </a:extLst>
          </p:cNvPr>
          <p:cNvSpPr>
            <a:spLocks noGrp="1"/>
          </p:cNvSpPr>
          <p:nvPr>
            <p:ph type="sldNum" sz="quarter" idx="5"/>
          </p:nvPr>
        </p:nvSpPr>
        <p:spPr/>
        <p:txBody>
          <a:bodyPr/>
          <a:lstStyle/>
          <a:p>
            <a:fld id="{4D3311A5-5041-4ED4-BF2C-D535DD848BED}" type="slidenum">
              <a:rPr lang="tr-TR" smtClean="0"/>
              <a:t>51</a:t>
            </a:fld>
            <a:endParaRPr lang="tr-TR"/>
          </a:p>
        </p:txBody>
      </p:sp>
    </p:spTree>
    <p:extLst>
      <p:ext uri="{BB962C8B-B14F-4D97-AF65-F5344CB8AC3E}">
        <p14:creationId xmlns:p14="http://schemas.microsoft.com/office/powerpoint/2010/main" val="24364185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BF639-6C49-51DF-65B7-20C39DAAEE5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AC68AD9-D97E-C114-ED0F-01F88785BCA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0BA2734-F952-6E86-1E17-E8891E207AFC}"/>
              </a:ext>
            </a:extLst>
          </p:cNvPr>
          <p:cNvSpPr>
            <a:spLocks noGrp="1"/>
          </p:cNvSpPr>
          <p:nvPr>
            <p:ph type="body" idx="1"/>
          </p:nvPr>
        </p:nvSpPr>
        <p:spPr/>
        <p:txBody>
          <a:bodyPr/>
          <a:lstStyle/>
          <a:p>
            <a:r>
              <a:rPr lang="tr-TR" b="1"/>
              <a:t>Not:</a:t>
            </a:r>
            <a:r>
              <a:rPr lang="tr-TR"/>
              <a:t> "Tabloyu incelerken; toplam fayda artarken marjinal faydanın neden hızla düştüğüne odaklanın. 10. günde tatilcinin marjinal faydası 0 (sıfır). Yani artık evine dönmek istiyor, tatil ona ek bir mutluluk vermiyor."</a:t>
            </a:r>
          </a:p>
        </p:txBody>
      </p:sp>
      <p:sp>
        <p:nvSpPr>
          <p:cNvPr id="4" name="Slayt Numarası Yer Tutucusu 3">
            <a:extLst>
              <a:ext uri="{FF2B5EF4-FFF2-40B4-BE49-F238E27FC236}">
                <a16:creationId xmlns:a16="http://schemas.microsoft.com/office/drawing/2014/main" id="{9ADE1970-CF0B-8AF9-9510-0C5E49027332}"/>
              </a:ext>
            </a:extLst>
          </p:cNvPr>
          <p:cNvSpPr>
            <a:spLocks noGrp="1"/>
          </p:cNvSpPr>
          <p:nvPr>
            <p:ph type="sldNum" sz="quarter" idx="5"/>
          </p:nvPr>
        </p:nvSpPr>
        <p:spPr/>
        <p:txBody>
          <a:bodyPr/>
          <a:lstStyle/>
          <a:p>
            <a:fld id="{4D3311A5-5041-4ED4-BF2C-D535DD848BED}" type="slidenum">
              <a:rPr lang="tr-TR" smtClean="0"/>
              <a:t>52</a:t>
            </a:fld>
            <a:endParaRPr lang="tr-TR"/>
          </a:p>
        </p:txBody>
      </p:sp>
    </p:spTree>
    <p:extLst>
      <p:ext uri="{BB962C8B-B14F-4D97-AF65-F5344CB8AC3E}">
        <p14:creationId xmlns:p14="http://schemas.microsoft.com/office/powerpoint/2010/main" val="29600211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D3368-59D9-C508-8C00-352F28A0B87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7630171-E668-E3E6-0AB9-7A1BBB66451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7B4AE8C-A513-465E-47F9-5B75AA4A7296}"/>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926177A8-46FC-1C42-5C40-EED59F45AB5D}"/>
              </a:ext>
            </a:extLst>
          </p:cNvPr>
          <p:cNvSpPr>
            <a:spLocks noGrp="1"/>
          </p:cNvSpPr>
          <p:nvPr>
            <p:ph type="sldNum" sz="quarter" idx="5"/>
          </p:nvPr>
        </p:nvSpPr>
        <p:spPr/>
        <p:txBody>
          <a:bodyPr/>
          <a:lstStyle/>
          <a:p>
            <a:fld id="{4D3311A5-5041-4ED4-BF2C-D535DD848BED}" type="slidenum">
              <a:rPr lang="tr-TR" smtClean="0"/>
              <a:t>53</a:t>
            </a:fld>
            <a:endParaRPr lang="tr-TR"/>
          </a:p>
        </p:txBody>
      </p:sp>
    </p:spTree>
    <p:extLst>
      <p:ext uri="{BB962C8B-B14F-4D97-AF65-F5344CB8AC3E}">
        <p14:creationId xmlns:p14="http://schemas.microsoft.com/office/powerpoint/2010/main" val="108180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608406" y="4512376"/>
            <a:ext cx="8639776" cy="900190"/>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608406" y="1720884"/>
            <a:ext cx="8639775" cy="2734693"/>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3903974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717943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622474" y="2413788"/>
            <a:ext cx="8085116" cy="2737521"/>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622474" y="1351721"/>
            <a:ext cx="8085118" cy="993913"/>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918052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a:xfrm>
            <a:off x="1615817" y="1272209"/>
            <a:ext cx="9164725" cy="1033670"/>
          </a:xfrm>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615817" y="2425148"/>
            <a:ext cx="4188635" cy="31606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371355" y="2425148"/>
            <a:ext cx="4188635" cy="31606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912963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017442" y="600817"/>
            <a:ext cx="10079497" cy="1168706"/>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017442" y="1798488"/>
            <a:ext cx="4599587"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017442" y="2777279"/>
            <a:ext cx="4599587"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497352" y="1798488"/>
            <a:ext cx="4599588"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497352" y="2777279"/>
            <a:ext cx="4599588"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CC2C9B9-B4B7-45CC-A7EB-16F8BADE9045}"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571185" y="2593591"/>
            <a:ext cx="4525755"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107503" y="2593591"/>
            <a:ext cx="4509526"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344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594462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945788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80121" y="1391478"/>
            <a:ext cx="3288432" cy="1951414"/>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03235" y="920080"/>
            <a:ext cx="5312467" cy="502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80121" y="3566727"/>
            <a:ext cx="3288432" cy="1766325"/>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11" name="Rectangle 10">
            <a:extLst>
              <a:ext uri="{FF2B5EF4-FFF2-40B4-BE49-F238E27FC236}">
                <a16:creationId xmlns:a16="http://schemas.microsoft.com/office/drawing/2014/main" id="{96AAC029-BE5C-900C-E7D2-DE6E31789D1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0331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80120" y="1391478"/>
            <a:ext cx="3322510" cy="2037522"/>
          </a:xfrm>
        </p:spPr>
        <p:txBody>
          <a:bodyPr anchor="t">
            <a:normAutofit/>
          </a:bodyPr>
          <a:lstStyle>
            <a:lvl1pPr>
              <a:defRPr sz="2400"/>
            </a:lvl1pPr>
          </a:lstStyle>
          <a:p>
            <a:r>
              <a:rPr lang="en-US" dirty="0"/>
              <a:t>Click to edit Master title style</a:t>
            </a:r>
          </a:p>
        </p:txBody>
      </p:sp>
      <p:sp useBgFill="1">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907143" y="931857"/>
            <a:ext cx="5351659" cy="499630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80120" y="3742792"/>
            <a:ext cx="3322510" cy="1590261"/>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9" name="Rectangle 8">
            <a:extLst>
              <a:ext uri="{FF2B5EF4-FFF2-40B4-BE49-F238E27FC236}">
                <a16:creationId xmlns:a16="http://schemas.microsoft.com/office/drawing/2014/main" id="{4DD8EE65-D4F9-418A-1628-F5DFD3DBA24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921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a:xfrm>
            <a:off x="1624338" y="1255172"/>
            <a:ext cx="9297346" cy="1050707"/>
          </a:xfrm>
        </p:spPr>
        <p:txBody>
          <a:bodyPr anchor="b"/>
          <a:lstStyle/>
          <a:p>
            <a:r>
              <a:rPr lang="en-US" dirty="0"/>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a:xfrm>
            <a:off x="1624338" y="2419468"/>
            <a:ext cx="9297346" cy="32543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3140828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26961" y="1414196"/>
            <a:ext cx="1817441" cy="4100602"/>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1346042" y="1414196"/>
            <a:ext cx="7780919" cy="410060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622078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620442" y="1233199"/>
            <a:ext cx="8977511" cy="107382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620444" y="2419639"/>
            <a:ext cx="8977509" cy="314178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n-lt"/>
              </a:defRPr>
            </a:lvl1pPr>
          </a:lstStyle>
          <a:p>
            <a:fld id="{E7736193-EDE3-4BB5-AE5F-E6E5472AB8BE}" type="datetimeFigureOut">
              <a:rPr lang="en-US" smtClean="0"/>
              <a:t>4/30/2026</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696577" y="6199188"/>
            <a:ext cx="619125" cy="365125"/>
          </a:xfrm>
          <a:prstGeom prst="rect">
            <a:avLst/>
          </a:prstGeom>
        </p:spPr>
        <p:txBody>
          <a:bodyPr vert="horz" lIns="91440" tIns="45720" rIns="91440" bIns="45720" rtlCol="0" anchor="ctr"/>
          <a:lstStyle>
            <a:lvl1pPr algn="r">
              <a:defRPr sz="1050">
                <a:solidFill>
                  <a:schemeClr val="tx1"/>
                </a:solidFill>
                <a:latin typeface="+mn-lt"/>
              </a:defRPr>
            </a:lvl1pPr>
          </a:lstStyle>
          <a:p>
            <a:fld id="{1CC2C9B9-B4B7-45CC-A7EB-16F8BADE9045}" type="slidenum">
              <a:rPr lang="en-US" smtClean="0"/>
              <a:t>‹#›</a:t>
            </a:fld>
            <a:endParaRPr lang="en-US"/>
          </a:p>
        </p:txBody>
      </p:sp>
      <p:sp>
        <p:nvSpPr>
          <p:cNvPr id="8" name="Rectangle 7">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2495265"/>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120000"/>
        </a:lnSpc>
        <a:spcBef>
          <a:spcPct val="0"/>
        </a:spcBef>
        <a:buNone/>
        <a:defRPr sz="2800" b="1"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2CB9FF-7D0E-C6EE-FD1E-5414C1C2F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AF4B06-53F0-C847-8C21-2E98F1814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4ADBB05-0C9F-FF75-DA53-B1A707D7E511}"/>
              </a:ext>
            </a:extLst>
          </p:cNvPr>
          <p:cNvPicPr>
            <a:picLocks noChangeAspect="1"/>
          </p:cNvPicPr>
          <p:nvPr/>
        </p:nvPicPr>
        <p:blipFill>
          <a:blip r:embed="rId2">
            <a:alphaModFix amt="50000"/>
          </a:blip>
          <a:srcRect t="10000"/>
          <a:stretch/>
        </p:blipFill>
        <p:spPr>
          <a:xfrm>
            <a:off x="-6057" y="10"/>
            <a:ext cx="12192000" cy="6857990"/>
          </a:xfrm>
          <a:prstGeom prst="rect">
            <a:avLst/>
          </a:prstGeom>
        </p:spPr>
      </p:pic>
      <p:sp>
        <p:nvSpPr>
          <p:cNvPr id="13" name="Freeform: Shape 12">
            <a:extLst>
              <a:ext uri="{FF2B5EF4-FFF2-40B4-BE49-F238E27FC236}">
                <a16:creationId xmlns:a16="http://schemas.microsoft.com/office/drawing/2014/main" id="{141773DC-FA35-0DC3-E6BA-EB1DBCE7E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05349" y="938623"/>
            <a:ext cx="10372250" cy="4987842"/>
          </a:xfrm>
          <a:custGeom>
            <a:avLst/>
            <a:gdLst>
              <a:gd name="connsiteX0" fmla="*/ 0 w 4116027"/>
              <a:gd name="connsiteY0" fmla="*/ 0 h 5058263"/>
              <a:gd name="connsiteX1" fmla="*/ 3203647 w 4116027"/>
              <a:gd name="connsiteY1" fmla="*/ 0 h 5058263"/>
              <a:gd name="connsiteX2" fmla="*/ 3203647 w 4116027"/>
              <a:gd name="connsiteY2" fmla="*/ 1439014 h 5058263"/>
              <a:gd name="connsiteX3" fmla="*/ 4116027 w 4116027"/>
              <a:gd name="connsiteY3" fmla="*/ 1439014 h 5058263"/>
              <a:gd name="connsiteX4" fmla="*/ 4116027 w 4116027"/>
              <a:gd name="connsiteY4" fmla="*/ 5058263 h 5058263"/>
              <a:gd name="connsiteX5" fmla="*/ 0 w 4116027"/>
              <a:gd name="connsiteY5" fmla="*/ 5058263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6" fmla="*/ 3295087 w 4116027"/>
              <a:gd name="connsiteY6" fmla="*/ 1530454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0" fmla="*/ 4116027 w 4116027"/>
              <a:gd name="connsiteY0" fmla="*/ 1439014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556812 w 4116027"/>
              <a:gd name="connsiteY4" fmla="*/ 6142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 name="connsiteX0" fmla="*/ 4109005 w 4116027"/>
              <a:gd name="connsiteY0" fmla="*/ 1610052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 name="connsiteX0" fmla="*/ 4109005 w 4116027"/>
              <a:gd name="connsiteY0" fmla="*/ 1610052 h 5058263"/>
              <a:gd name="connsiteX1" fmla="*/ 4116027 w 4116027"/>
              <a:gd name="connsiteY1" fmla="*/ 5058263 h 5058263"/>
              <a:gd name="connsiteX2" fmla="*/ 0 w 4116027"/>
              <a:gd name="connsiteY2" fmla="*/ 5058263 h 5058263"/>
              <a:gd name="connsiteX3" fmla="*/ 0 w 4116027"/>
              <a:gd name="connsiteY3" fmla="*/ 0 h 5058263"/>
              <a:gd name="connsiteX4" fmla="*/ 2304495 w 4116027"/>
              <a:gd name="connsiteY4" fmla="*/ 1434 h 5058263"/>
              <a:gd name="connsiteX0" fmla="*/ 4107074 w 4116027"/>
              <a:gd name="connsiteY0" fmla="*/ 1393022 h 5058263"/>
              <a:gd name="connsiteX1" fmla="*/ 4116027 w 4116027"/>
              <a:gd name="connsiteY1" fmla="*/ 5058263 h 5058263"/>
              <a:gd name="connsiteX2" fmla="*/ 0 w 4116027"/>
              <a:gd name="connsiteY2" fmla="*/ 5058263 h 5058263"/>
              <a:gd name="connsiteX3" fmla="*/ 0 w 4116027"/>
              <a:gd name="connsiteY3" fmla="*/ 0 h 5058263"/>
              <a:gd name="connsiteX4" fmla="*/ 2304495 w 4116027"/>
              <a:gd name="connsiteY4" fmla="*/ 1434 h 5058263"/>
              <a:gd name="connsiteX0" fmla="*/ 4110935 w 4116027"/>
              <a:gd name="connsiteY0" fmla="*/ 1402887 h 5058263"/>
              <a:gd name="connsiteX1" fmla="*/ 4116027 w 4116027"/>
              <a:gd name="connsiteY1" fmla="*/ 5058263 h 5058263"/>
              <a:gd name="connsiteX2" fmla="*/ 0 w 4116027"/>
              <a:gd name="connsiteY2" fmla="*/ 5058263 h 5058263"/>
              <a:gd name="connsiteX3" fmla="*/ 0 w 4116027"/>
              <a:gd name="connsiteY3" fmla="*/ 0 h 5058263"/>
              <a:gd name="connsiteX4" fmla="*/ 2304495 w 4116027"/>
              <a:gd name="connsiteY4" fmla="*/ 1434 h 5058263"/>
              <a:gd name="connsiteX0" fmla="*/ 4111900 w 4116027"/>
              <a:gd name="connsiteY0" fmla="*/ 1496605 h 5058263"/>
              <a:gd name="connsiteX1" fmla="*/ 4116027 w 4116027"/>
              <a:gd name="connsiteY1" fmla="*/ 5058263 h 5058263"/>
              <a:gd name="connsiteX2" fmla="*/ 0 w 4116027"/>
              <a:gd name="connsiteY2" fmla="*/ 5058263 h 5058263"/>
              <a:gd name="connsiteX3" fmla="*/ 0 w 4116027"/>
              <a:gd name="connsiteY3" fmla="*/ 0 h 5058263"/>
              <a:gd name="connsiteX4" fmla="*/ 2304495 w 4116027"/>
              <a:gd name="connsiteY4" fmla="*/ 1434 h 5058263"/>
              <a:gd name="connsiteX0" fmla="*/ 4111900 w 4116027"/>
              <a:gd name="connsiteY0" fmla="*/ 1501537 h 5058263"/>
              <a:gd name="connsiteX1" fmla="*/ 4116027 w 4116027"/>
              <a:gd name="connsiteY1" fmla="*/ 5058263 h 5058263"/>
              <a:gd name="connsiteX2" fmla="*/ 0 w 4116027"/>
              <a:gd name="connsiteY2" fmla="*/ 5058263 h 5058263"/>
              <a:gd name="connsiteX3" fmla="*/ 0 w 4116027"/>
              <a:gd name="connsiteY3" fmla="*/ 0 h 5058263"/>
              <a:gd name="connsiteX4" fmla="*/ 2304495 w 4116027"/>
              <a:gd name="connsiteY4" fmla="*/ 1434 h 5058263"/>
              <a:gd name="connsiteX0" fmla="*/ 4116727 w 4117216"/>
              <a:gd name="connsiteY0" fmla="*/ 1511402 h 5058263"/>
              <a:gd name="connsiteX1" fmla="*/ 4116027 w 4117216"/>
              <a:gd name="connsiteY1" fmla="*/ 5058263 h 5058263"/>
              <a:gd name="connsiteX2" fmla="*/ 0 w 4117216"/>
              <a:gd name="connsiteY2" fmla="*/ 5058263 h 5058263"/>
              <a:gd name="connsiteX3" fmla="*/ 0 w 4117216"/>
              <a:gd name="connsiteY3" fmla="*/ 0 h 5058263"/>
              <a:gd name="connsiteX4" fmla="*/ 2304495 w 4117216"/>
              <a:gd name="connsiteY4" fmla="*/ 1434 h 5058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7216" h="5058263">
                <a:moveTo>
                  <a:pt x="4116727" y="1511402"/>
                </a:moveTo>
                <a:cubicBezTo>
                  <a:pt x="4118666" y="2681024"/>
                  <a:pt x="4114088" y="3888641"/>
                  <a:pt x="4116027" y="5058263"/>
                </a:cubicBezTo>
                <a:lnTo>
                  <a:pt x="0" y="5058263"/>
                </a:lnTo>
                <a:lnTo>
                  <a:pt x="0" y="0"/>
                </a:lnTo>
                <a:lnTo>
                  <a:pt x="2304495" y="1434"/>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3975D7F6-A006-8C02-9157-48E738BA95D9}"/>
              </a:ext>
            </a:extLst>
          </p:cNvPr>
          <p:cNvSpPr>
            <a:spLocks noGrp="1"/>
          </p:cNvSpPr>
          <p:nvPr>
            <p:ph type="ctrTitle"/>
          </p:nvPr>
        </p:nvSpPr>
        <p:spPr>
          <a:xfrm>
            <a:off x="793626" y="5143817"/>
            <a:ext cx="4850027" cy="991252"/>
          </a:xfrm>
          <a:noFill/>
        </p:spPr>
        <p:txBody>
          <a:bodyPr anchor="b">
            <a:normAutofit/>
          </a:bodyPr>
          <a:lstStyle/>
          <a:p>
            <a:pPr>
              <a:lnSpc>
                <a:spcPct val="110000"/>
              </a:lnSpc>
            </a:pPr>
            <a:r>
              <a:rPr lang="tr-TR" sz="2700">
                <a:solidFill>
                  <a:schemeClr val="accent1">
                    <a:lumMod val="60000"/>
                    <a:lumOff val="40000"/>
                  </a:schemeClr>
                </a:solidFill>
              </a:rPr>
              <a:t>İŞLETMEYE GİRİŞ</a:t>
            </a:r>
          </a:p>
        </p:txBody>
      </p:sp>
      <p:sp>
        <p:nvSpPr>
          <p:cNvPr id="3" name="Alt Başlık 2">
            <a:extLst>
              <a:ext uri="{FF2B5EF4-FFF2-40B4-BE49-F238E27FC236}">
                <a16:creationId xmlns:a16="http://schemas.microsoft.com/office/drawing/2014/main" id="{E9AD00EA-70F9-F214-F475-38DBDC78B399}"/>
              </a:ext>
            </a:extLst>
          </p:cNvPr>
          <p:cNvSpPr>
            <a:spLocks noGrp="1"/>
          </p:cNvSpPr>
          <p:nvPr>
            <p:ph type="subTitle" idx="1"/>
          </p:nvPr>
        </p:nvSpPr>
        <p:spPr>
          <a:xfrm>
            <a:off x="803353" y="4420887"/>
            <a:ext cx="4683045" cy="687996"/>
          </a:xfrm>
        </p:spPr>
        <p:txBody>
          <a:bodyPr anchor="ctr">
            <a:normAutofit/>
          </a:bodyPr>
          <a:lstStyle/>
          <a:p>
            <a:pPr>
              <a:lnSpc>
                <a:spcPct val="110000"/>
              </a:lnSpc>
            </a:pPr>
            <a:r>
              <a:rPr lang="tr-TR" sz="1400">
                <a:solidFill>
                  <a:schemeClr val="accent1">
                    <a:lumMod val="60000"/>
                    <a:lumOff val="40000"/>
                  </a:schemeClr>
                </a:solidFill>
              </a:rPr>
              <a:t>DR.ÖĞR.ÜYESİ FATİH ÇALLI</a:t>
            </a:r>
          </a:p>
          <a:p>
            <a:pPr>
              <a:lnSpc>
                <a:spcPct val="110000"/>
              </a:lnSpc>
            </a:pPr>
            <a:r>
              <a:rPr lang="tr-TR" sz="1400">
                <a:solidFill>
                  <a:schemeClr val="accent1">
                    <a:lumMod val="60000"/>
                    <a:lumOff val="40000"/>
                  </a:schemeClr>
                </a:solidFill>
              </a:rPr>
              <a:t>11.hafta</a:t>
            </a:r>
          </a:p>
        </p:txBody>
      </p:sp>
    </p:spTree>
    <p:extLst>
      <p:ext uri="{BB962C8B-B14F-4D97-AF65-F5344CB8AC3E}">
        <p14:creationId xmlns:p14="http://schemas.microsoft.com/office/powerpoint/2010/main" val="2946534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ot defteri">
            <a:extLst>
              <a:ext uri="{FF2B5EF4-FFF2-40B4-BE49-F238E27FC236}">
                <a16:creationId xmlns:a16="http://schemas.microsoft.com/office/drawing/2014/main" id="{905D913F-2279-B316-DC63-AFC74F1F0AE7}"/>
              </a:ext>
            </a:extLst>
          </p:cNvPr>
          <p:cNvPicPr>
            <a:picLocks noChangeAspect="1"/>
          </p:cNvPicPr>
          <p:nvPr/>
        </p:nvPicPr>
        <p:blipFill>
          <a:blip r:embed="rId3">
            <a:alphaModFix amt="50000"/>
          </a:blip>
          <a:srcRect l="19200" r="35499"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ADA89D7A-4260-4247-CEDF-529F3AF7F038}"/>
              </a:ext>
            </a:extLst>
          </p:cNvPr>
          <p:cNvSpPr>
            <a:spLocks noGrp="1"/>
          </p:cNvSpPr>
          <p:nvPr>
            <p:ph type="title"/>
          </p:nvPr>
        </p:nvSpPr>
        <p:spPr>
          <a:xfrm>
            <a:off x="738786" y="1319622"/>
            <a:ext cx="3481988" cy="1591492"/>
          </a:xfrm>
          <a:noFill/>
        </p:spPr>
        <p:txBody>
          <a:bodyPr>
            <a:normAutofit/>
          </a:bodyPr>
          <a:lstStyle/>
          <a:p>
            <a:pPr>
              <a:lnSpc>
                <a:spcPct val="110000"/>
              </a:lnSpc>
            </a:pPr>
            <a:r>
              <a:rPr lang="tr-TR" sz="2400">
                <a:solidFill>
                  <a:schemeClr val="accent1">
                    <a:lumMod val="60000"/>
                    <a:lumOff val="40000"/>
                  </a:schemeClr>
                </a:solidFill>
              </a:rPr>
              <a:t>Temel Kavramlar ve Tüketici Davranışı</a:t>
            </a:r>
          </a:p>
        </p:txBody>
      </p:sp>
      <p:sp>
        <p:nvSpPr>
          <p:cNvPr id="3" name="İçerik Yer Tutucusu 2">
            <a:extLst>
              <a:ext uri="{FF2B5EF4-FFF2-40B4-BE49-F238E27FC236}">
                <a16:creationId xmlns:a16="http://schemas.microsoft.com/office/drawing/2014/main" id="{3AEB8C6E-06B4-5F6F-8889-121C468CD892}"/>
              </a:ext>
            </a:extLst>
          </p:cNvPr>
          <p:cNvSpPr>
            <a:spLocks noGrp="1"/>
          </p:cNvSpPr>
          <p:nvPr>
            <p:ph idx="1"/>
          </p:nvPr>
        </p:nvSpPr>
        <p:spPr>
          <a:xfrm>
            <a:off x="5562600" y="1495741"/>
            <a:ext cx="4988781" cy="3996716"/>
          </a:xfrm>
        </p:spPr>
        <p:txBody>
          <a:bodyPr>
            <a:normAutofit/>
          </a:bodyPr>
          <a:lstStyle/>
          <a:p>
            <a:pPr>
              <a:lnSpc>
                <a:spcPct val="110000"/>
              </a:lnSpc>
            </a:pPr>
            <a:r>
              <a:rPr lang="tr-TR" sz="1700"/>
              <a:t>Televizyonda, gazetede, internette gördüğünüz ya da günlük hayatta karşılaştığınız olayların birçoğunun arkasında yatan nedenin ekonomik olduğunu söyleyebiliriz. Hatta ilk bakışta iktisadi bir olay gibi görünmeyen durumların bile arkasında mutlaka bir iktisadi boyut aramak gerekir. Bir intiharın, hırsızlığın, cinayetin, boşanmanın, kırılan bir rekorun, bulunan yeni bir icadın, savaşın, barışın, çevre kirliliğinin yada yeni bir teknolojinin ortaya çıkışındaki iktisadi nedenler çoğu zaman iktisadi olmayan nedenlerden çok daha fazladır. İşte bu yüzden iktisat tüm bireyleri, kurumları, toplumları ilgilendiren bir bilim dalıdır. </a:t>
            </a:r>
          </a:p>
        </p:txBody>
      </p:sp>
    </p:spTree>
    <p:extLst>
      <p:ext uri="{BB962C8B-B14F-4D97-AF65-F5344CB8AC3E}">
        <p14:creationId xmlns:p14="http://schemas.microsoft.com/office/powerpoint/2010/main" val="1146327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1" name="Picture 4100" descr="Eller tutan kişiler">
            <a:extLst>
              <a:ext uri="{FF2B5EF4-FFF2-40B4-BE49-F238E27FC236}">
                <a16:creationId xmlns:a16="http://schemas.microsoft.com/office/drawing/2014/main" id="{882A573F-2E0F-3E3A-E14D-6FD166F50C08}"/>
              </a:ext>
            </a:extLst>
          </p:cNvPr>
          <p:cNvPicPr>
            <a:picLocks noChangeAspect="1"/>
          </p:cNvPicPr>
          <p:nvPr/>
        </p:nvPicPr>
        <p:blipFill>
          <a:blip r:embed="rId3"/>
          <a:srcRect l="33430" r="21268" b="-2"/>
          <a:stretch/>
        </p:blipFill>
        <p:spPr>
          <a:xfrm>
            <a:off x="7537704" y="-2"/>
            <a:ext cx="4654296" cy="6857999"/>
          </a:xfrm>
          <a:prstGeom prst="rect">
            <a:avLst/>
          </a:prstGeom>
        </p:spPr>
      </p:pic>
      <p:sp>
        <p:nvSpPr>
          <p:cNvPr id="4107" name="Rectangle 4106">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1 Başlık">
            <a:extLst>
              <a:ext uri="{FF2B5EF4-FFF2-40B4-BE49-F238E27FC236}">
                <a16:creationId xmlns:a16="http://schemas.microsoft.com/office/drawing/2014/main" id="{C60BBEBD-7022-F49B-4FF1-50A0838AC26E}"/>
              </a:ext>
            </a:extLst>
          </p:cNvPr>
          <p:cNvSpPr>
            <a:spLocks noGrp="1"/>
          </p:cNvSpPr>
          <p:nvPr>
            <p:ph type="title"/>
          </p:nvPr>
        </p:nvSpPr>
        <p:spPr>
          <a:xfrm>
            <a:off x="782418" y="1280160"/>
            <a:ext cx="5670400" cy="1152144"/>
          </a:xfrm>
        </p:spPr>
        <p:txBody>
          <a:bodyPr>
            <a:normAutofit/>
          </a:bodyPr>
          <a:lstStyle/>
          <a:p>
            <a:r>
              <a:rPr lang="tr-TR" altLang="tr-TR"/>
              <a:t>            Ekonomi Hakkında</a:t>
            </a:r>
          </a:p>
        </p:txBody>
      </p:sp>
      <p:sp>
        <p:nvSpPr>
          <p:cNvPr id="4099" name="2 İçerik Yer Tutucusu">
            <a:extLst>
              <a:ext uri="{FF2B5EF4-FFF2-40B4-BE49-F238E27FC236}">
                <a16:creationId xmlns:a16="http://schemas.microsoft.com/office/drawing/2014/main" id="{E008F349-40D2-D836-66C7-1F189621B870}"/>
              </a:ext>
            </a:extLst>
          </p:cNvPr>
          <p:cNvSpPr>
            <a:spLocks noGrp="1"/>
          </p:cNvSpPr>
          <p:nvPr>
            <p:ph idx="1"/>
          </p:nvPr>
        </p:nvSpPr>
        <p:spPr>
          <a:xfrm>
            <a:off x="1620445" y="2890881"/>
            <a:ext cx="4832373" cy="2633866"/>
          </a:xfrm>
        </p:spPr>
        <p:txBody>
          <a:bodyPr>
            <a:normAutofit/>
          </a:bodyPr>
          <a:lstStyle/>
          <a:p>
            <a:pPr eaLnBrk="1" hangingPunct="1">
              <a:lnSpc>
                <a:spcPct val="110000"/>
              </a:lnSpc>
              <a:buFont typeface="Wingdings" panose="05000000000000000000" pitchFamily="2" charset="2"/>
              <a:buNone/>
            </a:pPr>
            <a:endParaRPr lang="tr-TR" altLang="tr-TR" sz="1500"/>
          </a:p>
          <a:p>
            <a:pPr eaLnBrk="1" hangingPunct="1">
              <a:lnSpc>
                <a:spcPct val="110000"/>
              </a:lnSpc>
              <a:buFont typeface="Wingdings" panose="05000000000000000000" pitchFamily="2" charset="2"/>
              <a:buNone/>
            </a:pPr>
            <a:r>
              <a:rPr lang="tr-TR" altLang="tr-TR" sz="1500"/>
              <a:t>İnsanın, </a:t>
            </a:r>
            <a:r>
              <a:rPr lang="tr-TR" altLang="tr-TR" sz="1500" u="sng"/>
              <a:t>manevi ve maddi ihtiyaçları</a:t>
            </a:r>
            <a:r>
              <a:rPr lang="tr-TR" altLang="tr-TR" sz="1500"/>
              <a:t> vardır.</a:t>
            </a:r>
          </a:p>
          <a:p>
            <a:pPr eaLnBrk="1" hangingPunct="1">
              <a:lnSpc>
                <a:spcPct val="110000"/>
              </a:lnSpc>
              <a:buFont typeface="Wingdings" panose="05000000000000000000" pitchFamily="2" charset="2"/>
              <a:buNone/>
            </a:pPr>
            <a:r>
              <a:rPr lang="tr-TR" altLang="tr-TR" sz="1500"/>
              <a:t>İktisat ise;</a:t>
            </a:r>
          </a:p>
          <a:p>
            <a:pPr eaLnBrk="1" hangingPunct="1">
              <a:lnSpc>
                <a:spcPct val="110000"/>
              </a:lnSpc>
              <a:buFont typeface="Wingdings" panose="05000000000000000000" pitchFamily="2" charset="2"/>
              <a:buNone/>
            </a:pPr>
            <a:r>
              <a:rPr lang="tr-TR" altLang="tr-TR" sz="1500"/>
              <a:t>-Maddi ihtiyaçları karşılamak ve maddi refahın artırımıyla ilgilenir.</a:t>
            </a:r>
          </a:p>
          <a:p>
            <a:pPr eaLnBrk="1" hangingPunct="1">
              <a:lnSpc>
                <a:spcPct val="110000"/>
              </a:lnSpc>
              <a:buFont typeface="Wingdings" panose="05000000000000000000" pitchFamily="2" charset="2"/>
              <a:buNone/>
            </a:pPr>
            <a:r>
              <a:rPr lang="tr-TR" altLang="tr-TR" sz="1500"/>
              <a:t>Yeme, içme, giyinme, v.b. (biyolojik)(hayati)</a:t>
            </a:r>
          </a:p>
          <a:p>
            <a:pPr eaLnBrk="1" hangingPunct="1">
              <a:lnSpc>
                <a:spcPct val="110000"/>
              </a:lnSpc>
              <a:buFont typeface="Wingdings" panose="05000000000000000000" pitchFamily="2" charset="2"/>
              <a:buNone/>
            </a:pPr>
            <a:r>
              <a:rPr lang="tr-TR" altLang="tr-TR" sz="1500"/>
              <a:t>Toplumsal davranışlar; evlilik, v.b. (sosyal)(kültürel)</a:t>
            </a:r>
          </a:p>
          <a:p>
            <a:pPr>
              <a:lnSpc>
                <a:spcPct val="110000"/>
              </a:lnSpc>
            </a:pPr>
            <a:endParaRPr lang="tr-TR" altLang="tr-T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5" name="Picture 5124" descr="Yazı tahtası üzerinde yazılan formüller">
            <a:extLst>
              <a:ext uri="{FF2B5EF4-FFF2-40B4-BE49-F238E27FC236}">
                <a16:creationId xmlns:a16="http://schemas.microsoft.com/office/drawing/2014/main" id="{55B12FA0-AFC2-407D-9656-B0F9D775F7CC}"/>
              </a:ext>
            </a:extLst>
          </p:cNvPr>
          <p:cNvPicPr>
            <a:picLocks noChangeAspect="1"/>
          </p:cNvPicPr>
          <p:nvPr/>
        </p:nvPicPr>
        <p:blipFill>
          <a:blip r:embed="rId2">
            <a:alphaModFix amt="50000"/>
          </a:blip>
          <a:srcRect l="25450" r="29248" b="-2"/>
          <a:stretch/>
        </p:blipFill>
        <p:spPr>
          <a:xfrm>
            <a:off x="20" y="-1"/>
            <a:ext cx="4654276" cy="6857999"/>
          </a:xfrm>
          <a:prstGeom prst="rect">
            <a:avLst/>
          </a:prstGeom>
        </p:spPr>
      </p:pic>
      <p:sp>
        <p:nvSpPr>
          <p:cNvPr id="5133" name="Freeform: Shape 513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22" name="Rectangle 2">
            <a:extLst>
              <a:ext uri="{FF2B5EF4-FFF2-40B4-BE49-F238E27FC236}">
                <a16:creationId xmlns:a16="http://schemas.microsoft.com/office/drawing/2014/main" id="{71FAA2C0-EDB1-D262-AA49-6FC30235EC32}"/>
              </a:ext>
            </a:extLst>
          </p:cNvPr>
          <p:cNvSpPr>
            <a:spLocks noGrp="1" noChangeArrowheads="1"/>
          </p:cNvSpPr>
          <p:nvPr>
            <p:ph type="title"/>
          </p:nvPr>
        </p:nvSpPr>
        <p:spPr>
          <a:xfrm>
            <a:off x="738786" y="1319622"/>
            <a:ext cx="3481988" cy="1591492"/>
          </a:xfrm>
          <a:noFill/>
        </p:spPr>
        <p:txBody>
          <a:bodyPr>
            <a:normAutofit/>
          </a:bodyPr>
          <a:lstStyle/>
          <a:p>
            <a:pPr eaLnBrk="1" hangingPunct="1"/>
            <a:r>
              <a:rPr lang="tr-TR" altLang="tr-TR">
                <a:solidFill>
                  <a:schemeClr val="accent1">
                    <a:lumMod val="60000"/>
                    <a:lumOff val="40000"/>
                  </a:schemeClr>
                </a:solidFill>
              </a:rPr>
              <a:t>       TERİM VE KAVRAMLAR</a:t>
            </a:r>
          </a:p>
        </p:txBody>
      </p:sp>
      <p:sp>
        <p:nvSpPr>
          <p:cNvPr id="5123" name="Rectangle 3">
            <a:extLst>
              <a:ext uri="{FF2B5EF4-FFF2-40B4-BE49-F238E27FC236}">
                <a16:creationId xmlns:a16="http://schemas.microsoft.com/office/drawing/2014/main" id="{8E4D897A-9A02-69D2-D7A9-D43902892C8E}"/>
              </a:ext>
            </a:extLst>
          </p:cNvPr>
          <p:cNvSpPr>
            <a:spLocks noGrp="1" noChangeArrowheads="1"/>
          </p:cNvSpPr>
          <p:nvPr>
            <p:ph type="body" idx="1"/>
          </p:nvPr>
        </p:nvSpPr>
        <p:spPr>
          <a:xfrm>
            <a:off x="5562600" y="1495741"/>
            <a:ext cx="4988781" cy="3996716"/>
          </a:xfrm>
        </p:spPr>
        <p:txBody>
          <a:bodyPr>
            <a:normAutofit/>
          </a:bodyPr>
          <a:lstStyle/>
          <a:p>
            <a:pPr eaLnBrk="1" hangingPunct="1">
              <a:buFont typeface="Wingdings" panose="05000000000000000000" pitchFamily="2" charset="2"/>
              <a:buNone/>
            </a:pPr>
            <a:endParaRPr lang="tr-TR" altLang="tr-TR"/>
          </a:p>
          <a:p>
            <a:pPr eaLnBrk="1" hangingPunct="1">
              <a:buFont typeface="Wingdings" panose="05000000000000000000" pitchFamily="2" charset="2"/>
              <a:buNone/>
            </a:pPr>
            <a:r>
              <a:rPr lang="tr-TR" altLang="tr-TR"/>
              <a:t>   Bütün bilimler gibi iktisat birçok terim ve kavrama sahiptir. Bu terim ve kavramlar tüm bilim dallarında olduğu gibi günlük kullanıldıkları anlamlardan</a:t>
            </a:r>
            <a:r>
              <a:rPr lang="tr-TR" altLang="tr-TR" b="1"/>
              <a:t> </a:t>
            </a:r>
            <a:r>
              <a:rPr lang="tr-TR" altLang="tr-TR"/>
              <a:t>farklı anlamlar taşıyabilirler.</a:t>
            </a:r>
          </a:p>
          <a:p>
            <a:pPr eaLnBrk="1" hangingPunct="1"/>
            <a:endParaRPr lang="tr-TR" altLang="tr-TR"/>
          </a:p>
          <a:p>
            <a:pPr eaLnBrk="1" hangingPunct="1">
              <a:buFont typeface="Wingdings" panose="05000000000000000000" pitchFamily="2" charset="2"/>
              <a:buNone/>
            </a:pPr>
            <a:r>
              <a:rPr lang="tr-TR" altLang="tr-TR"/>
              <a:t>   Terimler ve kavramlar gereği gibi öğrenilemezse; iktisatçının ne dediği anlaşılmaz ya da yanlış anlaşılır.</a:t>
            </a:r>
          </a:p>
          <a:p>
            <a:pPr eaLnBrk="1" hangingPunct="1">
              <a:buFont typeface="Wingdings" panose="05000000000000000000" pitchFamily="2" charset="2"/>
              <a:buNone/>
            </a:pPr>
            <a:endParaRPr lang="tr-TR" alt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159" name="Rectangle 6158">
            <a:extLst>
              <a:ext uri="{FF2B5EF4-FFF2-40B4-BE49-F238E27FC236}">
                <a16:creationId xmlns:a16="http://schemas.microsoft.com/office/drawing/2014/main" id="{1FE4C150-80D5-770F-7B10-707225E54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1" name="Rectangle 6160">
            <a:extLst>
              <a:ext uri="{FF2B5EF4-FFF2-40B4-BE49-F238E27FC236}">
                <a16:creationId xmlns:a16="http://schemas.microsoft.com/office/drawing/2014/main" id="{D150D424-378A-5EAF-BEF3-AB85F9E35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4639" y="929119"/>
            <a:ext cx="3713561" cy="4998841"/>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Rectangle 2">
            <a:extLst>
              <a:ext uri="{FF2B5EF4-FFF2-40B4-BE49-F238E27FC236}">
                <a16:creationId xmlns:a16="http://schemas.microsoft.com/office/drawing/2014/main" id="{80E8AA88-513A-BD37-8D29-7E8788ACB50A}"/>
              </a:ext>
            </a:extLst>
          </p:cNvPr>
          <p:cNvSpPr>
            <a:spLocks noGrp="1" noChangeArrowheads="1"/>
          </p:cNvSpPr>
          <p:nvPr>
            <p:ph type="title"/>
          </p:nvPr>
        </p:nvSpPr>
        <p:spPr>
          <a:xfrm>
            <a:off x="1204685" y="1573427"/>
            <a:ext cx="2971899" cy="1589903"/>
          </a:xfrm>
        </p:spPr>
        <p:txBody>
          <a:bodyPr anchor="t">
            <a:normAutofit/>
          </a:bodyPr>
          <a:lstStyle/>
          <a:p>
            <a:pPr eaLnBrk="1" hangingPunct="1"/>
            <a:r>
              <a:rPr lang="tr-TR" altLang="tr-TR"/>
              <a:t>  TERİM VE KAVRAMLAR</a:t>
            </a:r>
          </a:p>
        </p:txBody>
      </p:sp>
      <p:sp>
        <p:nvSpPr>
          <p:cNvPr id="6147" name="Rectangle 3">
            <a:extLst>
              <a:ext uri="{FF2B5EF4-FFF2-40B4-BE49-F238E27FC236}">
                <a16:creationId xmlns:a16="http://schemas.microsoft.com/office/drawing/2014/main" id="{E40EFD70-E796-7C2F-1471-8C8256EF055C}"/>
              </a:ext>
            </a:extLst>
          </p:cNvPr>
          <p:cNvSpPr>
            <a:spLocks noGrp="1" noChangeArrowheads="1"/>
          </p:cNvSpPr>
          <p:nvPr>
            <p:ph type="body" idx="1"/>
          </p:nvPr>
        </p:nvSpPr>
        <p:spPr>
          <a:xfrm>
            <a:off x="5432957" y="944759"/>
            <a:ext cx="5810857" cy="4998841"/>
          </a:xfrm>
        </p:spPr>
        <p:txBody>
          <a:bodyPr anchor="t">
            <a:normAutofit/>
          </a:bodyPr>
          <a:lstStyle/>
          <a:p>
            <a:pPr eaLnBrk="1" hangingPunct="1">
              <a:buFont typeface="Wingdings" panose="05000000000000000000" pitchFamily="2" charset="2"/>
              <a:buNone/>
            </a:pPr>
            <a:r>
              <a:rPr lang="tr-TR" altLang="tr-TR" sz="1700" b="1"/>
              <a:t>   </a:t>
            </a:r>
          </a:p>
          <a:p>
            <a:pPr eaLnBrk="1" hangingPunct="1">
              <a:buFont typeface="Wingdings" panose="05000000000000000000" pitchFamily="2" charset="2"/>
              <a:buNone/>
            </a:pPr>
            <a:r>
              <a:rPr lang="tr-TR" altLang="tr-TR" sz="1700" b="1"/>
              <a:t>İhtiyaç</a:t>
            </a:r>
            <a:r>
              <a:rPr lang="tr-TR" altLang="tr-TR" sz="1700"/>
              <a:t>: Karşılandığında haz, fayda ve zevk karşılanmadığında elem, üzüntü veren, </a:t>
            </a:r>
            <a:r>
              <a:rPr lang="tr-TR" altLang="tr-TR" sz="1700" u="sng"/>
              <a:t>PSİKOLOJİK</a:t>
            </a:r>
            <a:r>
              <a:rPr lang="tr-TR" altLang="tr-TR" sz="1700"/>
              <a:t> bir kavramdır. </a:t>
            </a:r>
          </a:p>
          <a:p>
            <a:pPr eaLnBrk="1" hangingPunct="1">
              <a:buFont typeface="Wingdings" panose="05000000000000000000" pitchFamily="2" charset="2"/>
              <a:buNone/>
            </a:pPr>
            <a:r>
              <a:rPr lang="tr-TR" altLang="tr-TR" sz="1700"/>
              <a:t>Özellikleri açısından;</a:t>
            </a:r>
          </a:p>
          <a:p>
            <a:pPr eaLnBrk="1" hangingPunct="1">
              <a:buFont typeface="Wingdings" panose="05000000000000000000" pitchFamily="2" charset="2"/>
              <a:buAutoNum type="alphaLcPeriod"/>
            </a:pPr>
            <a:r>
              <a:rPr lang="tr-TR" altLang="tr-TR" sz="1700"/>
              <a:t>Dinamik bir yapıdadırlar. Devamlı bir genişleme ve yenilenme halindedirler. Sayı bakımından sonsuzdurlar.</a:t>
            </a:r>
          </a:p>
          <a:p>
            <a:pPr eaLnBrk="1" hangingPunct="1">
              <a:buFont typeface="Wingdings" panose="05000000000000000000" pitchFamily="2" charset="2"/>
              <a:buAutoNum type="alphaLcPeriod"/>
            </a:pPr>
            <a:r>
              <a:rPr lang="tr-TR" altLang="tr-TR" sz="1700"/>
              <a:t>Tekrarlanırlar. Bu tekrarlanma yemek gibi zaruri ihtiyaçlarda sık, sinemaya gitme gibi medeni ihtiyaçlarda sınırlıdır.</a:t>
            </a:r>
          </a:p>
          <a:p>
            <a:pPr eaLnBrk="1" hangingPunct="1">
              <a:buFont typeface="Wingdings" panose="05000000000000000000" pitchFamily="2" charset="2"/>
              <a:buAutoNum type="alphaLcPeriod"/>
            </a:pPr>
            <a:r>
              <a:rPr lang="tr-TR" altLang="tr-TR" sz="1700"/>
              <a:t>İhtiyaçların şiddet dereceleri vardır. </a:t>
            </a:r>
          </a:p>
          <a:p>
            <a:pPr eaLnBrk="1" hangingPunct="1">
              <a:buFont typeface="Wingdings" panose="05000000000000000000" pitchFamily="2" charset="2"/>
              <a:buAutoNum type="alphaLcPeriod"/>
            </a:pPr>
            <a:r>
              <a:rPr lang="tr-TR" altLang="tr-TR" sz="1700"/>
              <a:t>İkame özelliğine sahiptirler. Bir ihtiyacın yerine diğeri geçebilir, şarap fiyatları yükselince bira tüketimi artabilir. </a:t>
            </a:r>
          </a:p>
          <a:p>
            <a:pPr eaLnBrk="1" hangingPunct="1">
              <a:buFont typeface="Wingdings" panose="05000000000000000000" pitchFamily="2" charset="2"/>
              <a:buAutoNum type="alphaLcPeriod"/>
            </a:pPr>
            <a:endParaRPr lang="tr-TR" altLang="tr-TR" sz="1700"/>
          </a:p>
          <a:p>
            <a:pPr eaLnBrk="1" hangingPunct="1">
              <a:buFont typeface="Wingdings" panose="05000000000000000000" pitchFamily="2" charset="2"/>
              <a:buNone/>
            </a:pPr>
            <a:endParaRPr lang="tr-TR" altLang="tr-TR" sz="1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Rectangle 7178">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3" name="Picture 7172" descr="Üzerinde doktorların kullandığı gereçler bulunan pembe bir masa">
            <a:extLst>
              <a:ext uri="{FF2B5EF4-FFF2-40B4-BE49-F238E27FC236}">
                <a16:creationId xmlns:a16="http://schemas.microsoft.com/office/drawing/2014/main" id="{5B1EBD76-DCCE-C6D8-595B-134A78BEB371}"/>
              </a:ext>
            </a:extLst>
          </p:cNvPr>
          <p:cNvPicPr>
            <a:picLocks noChangeAspect="1"/>
          </p:cNvPicPr>
          <p:nvPr/>
        </p:nvPicPr>
        <p:blipFill>
          <a:blip r:embed="rId3">
            <a:alphaModFix amt="50000"/>
          </a:blip>
          <a:srcRect l="48617" r="6082" b="-2"/>
          <a:stretch/>
        </p:blipFill>
        <p:spPr>
          <a:xfrm>
            <a:off x="20" y="-1"/>
            <a:ext cx="4654276" cy="6857999"/>
          </a:xfrm>
          <a:prstGeom prst="rect">
            <a:avLst/>
          </a:prstGeom>
        </p:spPr>
      </p:pic>
      <p:sp>
        <p:nvSpPr>
          <p:cNvPr id="7181" name="Freeform: Shape 7180">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70" name="Rectangle 2">
            <a:extLst>
              <a:ext uri="{FF2B5EF4-FFF2-40B4-BE49-F238E27FC236}">
                <a16:creationId xmlns:a16="http://schemas.microsoft.com/office/drawing/2014/main" id="{957C92B2-251B-58AA-8727-FFF62400FFA5}"/>
              </a:ext>
            </a:extLst>
          </p:cNvPr>
          <p:cNvSpPr>
            <a:spLocks noGrp="1" noChangeArrowheads="1"/>
          </p:cNvSpPr>
          <p:nvPr>
            <p:ph type="title"/>
          </p:nvPr>
        </p:nvSpPr>
        <p:spPr>
          <a:xfrm>
            <a:off x="738786" y="1319622"/>
            <a:ext cx="3481988" cy="1591492"/>
          </a:xfrm>
          <a:noFill/>
        </p:spPr>
        <p:txBody>
          <a:bodyPr>
            <a:normAutofit/>
          </a:bodyPr>
          <a:lstStyle/>
          <a:p>
            <a:pPr eaLnBrk="1" hangingPunct="1"/>
            <a:r>
              <a:rPr lang="tr-TR" altLang="tr-TR">
                <a:solidFill>
                  <a:schemeClr val="accent1">
                    <a:lumMod val="60000"/>
                    <a:lumOff val="40000"/>
                  </a:schemeClr>
                </a:solidFill>
              </a:rPr>
              <a:t>       TERİM VE KAVRAMLAR</a:t>
            </a:r>
          </a:p>
        </p:txBody>
      </p:sp>
      <p:sp>
        <p:nvSpPr>
          <p:cNvPr id="7171" name="Rectangle 3">
            <a:extLst>
              <a:ext uri="{FF2B5EF4-FFF2-40B4-BE49-F238E27FC236}">
                <a16:creationId xmlns:a16="http://schemas.microsoft.com/office/drawing/2014/main" id="{142C7DE9-8180-BF16-10BA-7FB920AA3DFA}"/>
              </a:ext>
            </a:extLst>
          </p:cNvPr>
          <p:cNvSpPr>
            <a:spLocks noGrp="1" noChangeArrowheads="1"/>
          </p:cNvSpPr>
          <p:nvPr>
            <p:ph type="body" idx="1"/>
          </p:nvPr>
        </p:nvSpPr>
        <p:spPr>
          <a:xfrm>
            <a:off x="5562600" y="1495741"/>
            <a:ext cx="4988781" cy="3996716"/>
          </a:xfrm>
        </p:spPr>
        <p:txBody>
          <a:bodyPr>
            <a:normAutofit/>
          </a:bodyPr>
          <a:lstStyle/>
          <a:p>
            <a:pPr eaLnBrk="1" hangingPunct="1">
              <a:buFont typeface="Wingdings" panose="05000000000000000000" pitchFamily="2" charset="2"/>
              <a:buNone/>
            </a:pPr>
            <a:endParaRPr lang="tr-TR" altLang="tr-TR"/>
          </a:p>
          <a:p>
            <a:pPr eaLnBrk="1" hangingPunct="1">
              <a:buFont typeface="Wingdings" panose="05000000000000000000" pitchFamily="2" charset="2"/>
              <a:buNone/>
            </a:pPr>
            <a:r>
              <a:rPr lang="tr-TR" altLang="tr-TR" b="1"/>
              <a:t>Mal ve Hizmet</a:t>
            </a:r>
            <a:r>
              <a:rPr lang="tr-TR" altLang="tr-TR"/>
              <a:t>: Mal (elbise, kitap, ekmek) fiziki bir varlıktır. </a:t>
            </a:r>
          </a:p>
          <a:p>
            <a:pPr eaLnBrk="1" hangingPunct="1">
              <a:buFont typeface="Wingdings" panose="05000000000000000000" pitchFamily="2" charset="2"/>
              <a:buNone/>
            </a:pPr>
            <a:r>
              <a:rPr lang="tr-TR" altLang="tr-TR"/>
              <a:t> Hizmet (eğitim, sağlık, v.b.) ise; fiziki bir varlığa sahip bulunmamaktadır. </a:t>
            </a:r>
          </a:p>
          <a:p>
            <a:pPr eaLnBrk="1" hangingPunct="1">
              <a:buFont typeface="Wingdings" panose="05000000000000000000" pitchFamily="2" charset="2"/>
              <a:buNone/>
            </a:pPr>
            <a:r>
              <a:rPr lang="tr-TR" altLang="tr-TR"/>
              <a:t>Malları yapı ve tüketim şekillerine göre sınıflandırmak mümkündür</a:t>
            </a:r>
          </a:p>
          <a:p>
            <a:pPr eaLnBrk="1" hangingPunct="1">
              <a:buFont typeface="Wingdings" panose="05000000000000000000" pitchFamily="2" charset="2"/>
              <a:buNone/>
            </a:pPr>
            <a:endParaRPr lang="tr-TR" alt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1" name="Picture 9220" descr="Metalik çit ipucu.">
            <a:extLst>
              <a:ext uri="{FF2B5EF4-FFF2-40B4-BE49-F238E27FC236}">
                <a16:creationId xmlns:a16="http://schemas.microsoft.com/office/drawing/2014/main" id="{964E0A80-7F97-A720-9387-14D343176C18}"/>
              </a:ext>
            </a:extLst>
          </p:cNvPr>
          <p:cNvPicPr>
            <a:picLocks noChangeAspect="1"/>
          </p:cNvPicPr>
          <p:nvPr/>
        </p:nvPicPr>
        <p:blipFill>
          <a:blip r:embed="rId3"/>
          <a:srcRect l="18179" r="36519" b="-2"/>
          <a:stretch/>
        </p:blipFill>
        <p:spPr>
          <a:xfrm>
            <a:off x="7537704" y="-2"/>
            <a:ext cx="4654296" cy="6857999"/>
          </a:xfrm>
          <a:prstGeom prst="rect">
            <a:avLst/>
          </a:prstGeom>
        </p:spPr>
      </p:pic>
      <p:sp>
        <p:nvSpPr>
          <p:cNvPr id="9227" name="Rectangle 9226">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8" name="Rectangle 2">
            <a:extLst>
              <a:ext uri="{FF2B5EF4-FFF2-40B4-BE49-F238E27FC236}">
                <a16:creationId xmlns:a16="http://schemas.microsoft.com/office/drawing/2014/main" id="{E2508FB2-A6ED-1BD8-7E90-8DA30B88DFCC}"/>
              </a:ext>
            </a:extLst>
          </p:cNvPr>
          <p:cNvSpPr>
            <a:spLocks noGrp="1" noChangeArrowheads="1"/>
          </p:cNvSpPr>
          <p:nvPr>
            <p:ph type="title"/>
          </p:nvPr>
        </p:nvSpPr>
        <p:spPr>
          <a:xfrm>
            <a:off x="782418" y="1280160"/>
            <a:ext cx="5670400" cy="1152144"/>
          </a:xfrm>
        </p:spPr>
        <p:txBody>
          <a:bodyPr>
            <a:normAutofit/>
          </a:bodyPr>
          <a:lstStyle/>
          <a:p>
            <a:pPr eaLnBrk="1" hangingPunct="1">
              <a:lnSpc>
                <a:spcPct val="110000"/>
              </a:lnSpc>
            </a:pPr>
            <a:r>
              <a:rPr lang="tr-TR" altLang="tr-TR" sz="2400"/>
              <a:t>      TERİM VE KAVRAMLAR</a:t>
            </a:r>
            <a:br>
              <a:rPr lang="tr-TR" altLang="tr-TR" sz="2400"/>
            </a:br>
            <a:r>
              <a:rPr lang="tr-TR" altLang="tr-TR" sz="2400"/>
              <a:t>             (EKONOMİK BİRİMLER)</a:t>
            </a:r>
          </a:p>
        </p:txBody>
      </p:sp>
      <p:sp>
        <p:nvSpPr>
          <p:cNvPr id="9219" name="Rectangle 3">
            <a:extLst>
              <a:ext uri="{FF2B5EF4-FFF2-40B4-BE49-F238E27FC236}">
                <a16:creationId xmlns:a16="http://schemas.microsoft.com/office/drawing/2014/main" id="{8F176725-0BDB-7702-A62F-2C6235931654}"/>
              </a:ext>
            </a:extLst>
          </p:cNvPr>
          <p:cNvSpPr>
            <a:spLocks noGrp="1" noChangeArrowheads="1"/>
          </p:cNvSpPr>
          <p:nvPr>
            <p:ph type="body" idx="1"/>
          </p:nvPr>
        </p:nvSpPr>
        <p:spPr>
          <a:xfrm>
            <a:off x="1233714" y="2432304"/>
            <a:ext cx="6057131" cy="3092443"/>
          </a:xfrm>
        </p:spPr>
        <p:txBody>
          <a:bodyPr>
            <a:normAutofit/>
          </a:bodyPr>
          <a:lstStyle/>
          <a:p>
            <a:pPr>
              <a:lnSpc>
                <a:spcPct val="110000"/>
              </a:lnSpc>
              <a:buFont typeface="Wingdings" panose="05000000000000000000" pitchFamily="2" charset="2"/>
              <a:buNone/>
            </a:pPr>
            <a:r>
              <a:rPr lang="tr-TR" altLang="tr-TR" sz="1600" b="1"/>
              <a:t>Hanehalkı</a:t>
            </a:r>
            <a:r>
              <a:rPr lang="tr-TR" altLang="tr-TR" sz="1600"/>
              <a:t>: Aynı çatı altında yaşayan ve ortak finansal kararlar alan bütün insanlara hane halkı denir.</a:t>
            </a:r>
          </a:p>
          <a:p>
            <a:pPr>
              <a:lnSpc>
                <a:spcPct val="110000"/>
              </a:lnSpc>
            </a:pPr>
            <a:endParaRPr lang="tr-TR" altLang="tr-TR" sz="1600"/>
          </a:p>
          <a:p>
            <a:pPr>
              <a:lnSpc>
                <a:spcPct val="110000"/>
              </a:lnSpc>
              <a:buFont typeface="Wingdings" panose="05000000000000000000" pitchFamily="2" charset="2"/>
              <a:buNone/>
            </a:pPr>
            <a:r>
              <a:rPr lang="tr-TR" altLang="tr-TR" sz="1600" b="1"/>
              <a:t>Firma</a:t>
            </a:r>
            <a:r>
              <a:rPr lang="tr-TR" altLang="tr-TR" sz="1600"/>
              <a:t>: Üretime katkı yapan, kaynakları kullanan ve ne üretileceğine karar veren özel/devlet üretici birimleridir.</a:t>
            </a:r>
          </a:p>
          <a:p>
            <a:pPr>
              <a:lnSpc>
                <a:spcPct val="110000"/>
              </a:lnSpc>
            </a:pPr>
            <a:endParaRPr lang="tr-TR" altLang="tr-TR" sz="1600"/>
          </a:p>
          <a:p>
            <a:pPr>
              <a:lnSpc>
                <a:spcPct val="110000"/>
              </a:lnSpc>
              <a:buFont typeface="Wingdings" panose="05000000000000000000" pitchFamily="2" charset="2"/>
              <a:buNone/>
            </a:pPr>
            <a:r>
              <a:rPr lang="tr-TR" altLang="tr-TR" sz="1600" b="1"/>
              <a:t>Devlet</a:t>
            </a:r>
            <a:r>
              <a:rPr lang="tr-TR" altLang="tr-TR" sz="1600"/>
              <a:t>: M/h alır satar, vergi toplar, mülkiyet hakkını düzenler, düzenlemeler yapar yani piyasa aktörleri arasında dağılımı sağlayan temel aktördür.</a:t>
            </a:r>
          </a:p>
          <a:p>
            <a:pPr eaLnBrk="1" hangingPunct="1">
              <a:lnSpc>
                <a:spcPct val="110000"/>
              </a:lnSpc>
              <a:buFont typeface="Wingdings" panose="05000000000000000000" pitchFamily="2" charset="2"/>
              <a:buNone/>
            </a:pPr>
            <a:endParaRPr lang="tr-TR" altLang="tr-TR" sz="1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401" name="Rectangle 16400">
            <a:extLst>
              <a:ext uri="{FF2B5EF4-FFF2-40B4-BE49-F238E27FC236}">
                <a16:creationId xmlns:a16="http://schemas.microsoft.com/office/drawing/2014/main" id="{178DC1FE-8814-4858-2D62-947BC8044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3" name="Rectangle 16402">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5670400"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Rectangle 2">
            <a:extLst>
              <a:ext uri="{FF2B5EF4-FFF2-40B4-BE49-F238E27FC236}">
                <a16:creationId xmlns:a16="http://schemas.microsoft.com/office/drawing/2014/main" id="{5B3CAEB7-6774-14AF-495D-BA0E76F0B7A0}"/>
              </a:ext>
            </a:extLst>
          </p:cNvPr>
          <p:cNvSpPr>
            <a:spLocks noGrp="1" noChangeArrowheads="1"/>
          </p:cNvSpPr>
          <p:nvPr>
            <p:ph type="title"/>
          </p:nvPr>
        </p:nvSpPr>
        <p:spPr>
          <a:xfrm>
            <a:off x="782418" y="1279153"/>
            <a:ext cx="5313582" cy="1150329"/>
          </a:xfrm>
        </p:spPr>
        <p:txBody>
          <a:bodyPr>
            <a:normAutofit/>
          </a:bodyPr>
          <a:lstStyle/>
          <a:p>
            <a:pPr eaLnBrk="1" hangingPunct="1"/>
            <a:r>
              <a:rPr lang="tr-TR" altLang="tr-TR"/>
              <a:t>      TERİM VE KAVRAMLAR</a:t>
            </a:r>
          </a:p>
        </p:txBody>
      </p:sp>
      <p:sp>
        <p:nvSpPr>
          <p:cNvPr id="10243" name="Rectangle 3">
            <a:extLst>
              <a:ext uri="{FF2B5EF4-FFF2-40B4-BE49-F238E27FC236}">
                <a16:creationId xmlns:a16="http://schemas.microsoft.com/office/drawing/2014/main" id="{FE5EB768-2395-8713-2620-9EFB7F72412F}"/>
              </a:ext>
            </a:extLst>
          </p:cNvPr>
          <p:cNvSpPr>
            <a:spLocks noGrp="1" noChangeArrowheads="1"/>
          </p:cNvSpPr>
          <p:nvPr>
            <p:ph type="body" idx="1"/>
          </p:nvPr>
        </p:nvSpPr>
        <p:spPr>
          <a:xfrm>
            <a:off x="1254034" y="2429482"/>
            <a:ext cx="4593874" cy="3095265"/>
          </a:xfrm>
        </p:spPr>
        <p:txBody>
          <a:bodyPr>
            <a:normAutofit/>
          </a:bodyPr>
          <a:lstStyle/>
          <a:p>
            <a:pPr lvl="1" eaLnBrk="1" hangingPunct="1">
              <a:buFont typeface="Wingdings" panose="05000000000000000000" pitchFamily="2" charset="2"/>
              <a:buNone/>
            </a:pPr>
            <a:r>
              <a:rPr lang="tr-TR" altLang="tr-TR" sz="1500" b="1"/>
              <a:t>Tüketim</a:t>
            </a:r>
            <a:r>
              <a:rPr lang="tr-TR" altLang="tr-TR" sz="1500"/>
              <a:t>: Mal/hizmetlerin(m/h), insan ihtiyaçlarının doğrudan doğruya giderecek şekilde kullanılmasıdır. Mal ve hizmetlerin yok edilmesidir.</a:t>
            </a:r>
            <a:endParaRPr lang="tr-TR" altLang="tr-TR" sz="1500" b="1"/>
          </a:p>
          <a:p>
            <a:pPr lvl="1" eaLnBrk="1" hangingPunct="1">
              <a:buFont typeface="Wingdings" panose="05000000000000000000" pitchFamily="2" charset="2"/>
              <a:buNone/>
            </a:pPr>
            <a:r>
              <a:rPr lang="tr-TR" altLang="tr-TR" sz="1500" b="1"/>
              <a:t>Üretim</a:t>
            </a:r>
            <a:r>
              <a:rPr lang="tr-TR" altLang="tr-TR" sz="1500"/>
              <a:t>  : İnsan ihtiyaçlarını gidermekte kullanılacak m/h yapılması, elde edilmesi, meydana getirilmesi, bunların bir yerden başka bir yere taşınması ve ilerde kullanılmak üzere saklanmasıdır. </a:t>
            </a:r>
          </a:p>
        </p:txBody>
      </p:sp>
      <p:pic>
        <p:nvPicPr>
          <p:cNvPr id="16386" name="Picture 2" descr="Üretim – Tüketim Diyalektiği">
            <a:extLst>
              <a:ext uri="{FF2B5EF4-FFF2-40B4-BE49-F238E27FC236}">
                <a16:creationId xmlns:a16="http://schemas.microsoft.com/office/drawing/2014/main" id="{469F0D40-57A5-4FE5-848E-E870FC71DF4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37704" y="2211516"/>
            <a:ext cx="3739896" cy="24349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03" name="Rectangle 20497">
            <a:extLst>
              <a:ext uri="{FF2B5EF4-FFF2-40B4-BE49-F238E27FC236}">
                <a16:creationId xmlns:a16="http://schemas.microsoft.com/office/drawing/2014/main" id="{EA7E8276-E7F8-D393-6F54-0BF8862C3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4" name="Rectangle 20499">
            <a:extLst>
              <a:ext uri="{FF2B5EF4-FFF2-40B4-BE49-F238E27FC236}">
                <a16:creationId xmlns:a16="http://schemas.microsoft.com/office/drawing/2014/main" id="{667DFE30-E9B4-B520-D9CF-5181D140E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482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85" name="Picture 20484" descr="İki beyaz şekil satırının önünde kırmızı oyuncak kişi">
            <a:extLst>
              <a:ext uri="{FF2B5EF4-FFF2-40B4-BE49-F238E27FC236}">
                <a16:creationId xmlns:a16="http://schemas.microsoft.com/office/drawing/2014/main" id="{196E54AD-0B89-DDBF-AAAA-8D265299285E}"/>
              </a:ext>
            </a:extLst>
          </p:cNvPr>
          <p:cNvPicPr>
            <a:picLocks noChangeAspect="1"/>
          </p:cNvPicPr>
          <p:nvPr/>
        </p:nvPicPr>
        <p:blipFill>
          <a:blip r:embed="rId3">
            <a:alphaModFix amt="50000"/>
          </a:blip>
          <a:srcRect l="29671" r="25765"/>
          <a:stretch/>
        </p:blipFill>
        <p:spPr>
          <a:xfrm>
            <a:off x="-1" y="10"/>
            <a:ext cx="4648201" cy="6857989"/>
          </a:xfrm>
          <a:prstGeom prst="rect">
            <a:avLst/>
          </a:prstGeom>
        </p:spPr>
      </p:pic>
      <p:sp>
        <p:nvSpPr>
          <p:cNvPr id="20482" name="1 Başlık">
            <a:extLst>
              <a:ext uri="{FF2B5EF4-FFF2-40B4-BE49-F238E27FC236}">
                <a16:creationId xmlns:a16="http://schemas.microsoft.com/office/drawing/2014/main" id="{9D6C1958-4295-2CFC-EFA9-2AE6A629A10E}"/>
              </a:ext>
            </a:extLst>
          </p:cNvPr>
          <p:cNvSpPr>
            <a:spLocks noGrp="1"/>
          </p:cNvSpPr>
          <p:nvPr>
            <p:ph type="title"/>
          </p:nvPr>
        </p:nvSpPr>
        <p:spPr>
          <a:xfrm>
            <a:off x="738786" y="3994511"/>
            <a:ext cx="2797917" cy="1591492"/>
          </a:xfrm>
          <a:noFill/>
        </p:spPr>
        <p:txBody>
          <a:bodyPr>
            <a:normAutofit/>
          </a:bodyPr>
          <a:lstStyle/>
          <a:p>
            <a:r>
              <a:rPr lang="tr-TR" altLang="tr-TR">
                <a:solidFill>
                  <a:schemeClr val="accent1">
                    <a:lumMod val="60000"/>
                    <a:lumOff val="40000"/>
                  </a:schemeClr>
                </a:solidFill>
              </a:rPr>
              <a:t> İKTİSADİ FAALİYETLER</a:t>
            </a:r>
          </a:p>
        </p:txBody>
      </p:sp>
      <p:sp>
        <p:nvSpPr>
          <p:cNvPr id="20483" name="2 İçerik Yer Tutucusu">
            <a:extLst>
              <a:ext uri="{FF2B5EF4-FFF2-40B4-BE49-F238E27FC236}">
                <a16:creationId xmlns:a16="http://schemas.microsoft.com/office/drawing/2014/main" id="{52EC04CC-BE8C-2E5F-5E06-8CBC8D051CCF}"/>
              </a:ext>
            </a:extLst>
          </p:cNvPr>
          <p:cNvSpPr>
            <a:spLocks noGrp="1"/>
          </p:cNvSpPr>
          <p:nvPr>
            <p:ph idx="1"/>
          </p:nvPr>
        </p:nvSpPr>
        <p:spPr>
          <a:xfrm>
            <a:off x="5562600" y="914400"/>
            <a:ext cx="5708943" cy="4991099"/>
          </a:xfrm>
        </p:spPr>
        <p:txBody>
          <a:bodyPr>
            <a:normAutofit/>
          </a:bodyPr>
          <a:lstStyle/>
          <a:p>
            <a:pPr eaLnBrk="1" hangingPunct="1">
              <a:buFont typeface="Wingdings" panose="05000000000000000000" pitchFamily="2" charset="2"/>
              <a:buNone/>
            </a:pPr>
            <a:r>
              <a:rPr lang="tr-TR" altLang="tr-TR"/>
              <a:t>Akılcı davranma zorunluluğu İktisadi teorilerin temel varsayımıdır.</a:t>
            </a:r>
          </a:p>
          <a:p>
            <a:pPr eaLnBrk="1" hangingPunct="1">
              <a:buFont typeface="Wingdings" panose="05000000000000000000" pitchFamily="2" charset="2"/>
              <a:buNone/>
            </a:pPr>
            <a:r>
              <a:rPr lang="tr-TR" altLang="tr-TR" b="1"/>
              <a:t>Homoeconomicus (iktisadi birey):</a:t>
            </a:r>
            <a:r>
              <a:rPr lang="tr-TR" altLang="tr-TR"/>
              <a:t>Kişi, işletme, kurum ulaşmak istedikleri hedefleri en yüksek düzeyde gerçekleştirecek biçimde (fayda/kar) hareket etmesini sağlar.</a:t>
            </a:r>
          </a:p>
          <a:p>
            <a:pPr eaLnBrk="1" hangingPunct="1">
              <a:buFont typeface="Wingdings" panose="05000000000000000000" pitchFamily="2" charset="2"/>
              <a:buNone/>
            </a:pPr>
            <a:r>
              <a:rPr lang="tr-TR" altLang="tr-TR" b="1"/>
              <a:t> ‘İktisadi insan‘:</a:t>
            </a:r>
            <a:r>
              <a:rPr lang="tr-TR" altLang="tr-TR"/>
              <a:t>davranışlarında akılcı, seçimlerinde tutarlı olan kuramsal bir insan tipidir. İşadamı olarak en yüksek kâr , işçi olarak en yüksek ücret, tüketici olarak en yüksek fayda peşinde koşar. </a:t>
            </a:r>
          </a:p>
          <a:p>
            <a:pPr eaLnBrk="1" hangingPunct="1">
              <a:buFont typeface="Wingdings" panose="05000000000000000000" pitchFamily="2" charset="2"/>
              <a:buNone/>
            </a:pPr>
            <a:endParaRPr lang="tr-TR" altLang="tr-TR"/>
          </a:p>
          <a:p>
            <a:endParaRPr lang="tr-TR" altLang="tr-TR"/>
          </a:p>
        </p:txBody>
      </p:sp>
      <p:sp>
        <p:nvSpPr>
          <p:cNvPr id="20502" name="Freeform: Shape 20501">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35883" y="935882"/>
            <a:ext cx="2797917" cy="4993618"/>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512" name="Rectangle 21511">
            <a:extLst>
              <a:ext uri="{FF2B5EF4-FFF2-40B4-BE49-F238E27FC236}">
                <a16:creationId xmlns:a16="http://schemas.microsoft.com/office/drawing/2014/main" id="{1FE4C150-80D5-770F-7B10-707225E54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4" name="Rectangle 21513">
            <a:extLst>
              <a:ext uri="{FF2B5EF4-FFF2-40B4-BE49-F238E27FC236}">
                <a16:creationId xmlns:a16="http://schemas.microsoft.com/office/drawing/2014/main" id="{D150D424-378A-5EAF-BEF3-AB85F9E35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4639" y="929119"/>
            <a:ext cx="3713561" cy="4998841"/>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1 Başlık">
            <a:extLst>
              <a:ext uri="{FF2B5EF4-FFF2-40B4-BE49-F238E27FC236}">
                <a16:creationId xmlns:a16="http://schemas.microsoft.com/office/drawing/2014/main" id="{F57A469A-0E85-30AA-809C-0B1BE54547B0}"/>
              </a:ext>
            </a:extLst>
          </p:cNvPr>
          <p:cNvSpPr>
            <a:spLocks noGrp="1"/>
          </p:cNvSpPr>
          <p:nvPr>
            <p:ph type="title"/>
          </p:nvPr>
        </p:nvSpPr>
        <p:spPr>
          <a:xfrm>
            <a:off x="758715" y="1573427"/>
            <a:ext cx="3417870" cy="1589903"/>
          </a:xfrm>
        </p:spPr>
        <p:txBody>
          <a:bodyPr anchor="t">
            <a:normAutofit/>
          </a:bodyPr>
          <a:lstStyle/>
          <a:p>
            <a:r>
              <a:rPr lang="tr-TR" altLang="tr-TR"/>
              <a:t> İKTİSAT NEDİR?</a:t>
            </a:r>
          </a:p>
        </p:txBody>
      </p:sp>
      <p:sp>
        <p:nvSpPr>
          <p:cNvPr id="21507" name="2 İçerik Yer Tutucusu">
            <a:extLst>
              <a:ext uri="{FF2B5EF4-FFF2-40B4-BE49-F238E27FC236}">
                <a16:creationId xmlns:a16="http://schemas.microsoft.com/office/drawing/2014/main" id="{A36BA1FA-CD43-1776-BB26-4D3D7B29E4B3}"/>
              </a:ext>
            </a:extLst>
          </p:cNvPr>
          <p:cNvSpPr>
            <a:spLocks noGrp="1"/>
          </p:cNvSpPr>
          <p:nvPr>
            <p:ph idx="1"/>
          </p:nvPr>
        </p:nvSpPr>
        <p:spPr>
          <a:xfrm>
            <a:off x="5432957" y="944759"/>
            <a:ext cx="5810857" cy="4998841"/>
          </a:xfrm>
        </p:spPr>
        <p:txBody>
          <a:bodyPr anchor="t">
            <a:normAutofit/>
          </a:bodyPr>
          <a:lstStyle/>
          <a:p>
            <a:pPr eaLnBrk="1" hangingPunct="1"/>
            <a:r>
              <a:rPr lang="tr-TR" altLang="tr-TR"/>
              <a:t>İhtiyaçların sonsuz ancak m/h ise kıt olduğunu ve bunun için bir seçim yapma zorunda olduğumuzu öğrendik. İşte bu sorunu araştıran bilimin adı İKTİSAT’tır. Dolaysıyla;iktisatı aşağıdaki şekilde tarif edebiliriz.</a:t>
            </a:r>
          </a:p>
          <a:p>
            <a:pPr eaLnBrk="1" hangingPunct="1"/>
            <a:r>
              <a:rPr lang="tr-TR" altLang="tr-TR" b="1"/>
              <a:t> İktisat:</a:t>
            </a:r>
            <a:r>
              <a:rPr lang="tr-TR" altLang="tr-TR"/>
              <a:t> Sonsuz olan ihtiyaçların sınırlı kaynaklarla karşılanmasını inceleyen bilimdir.</a:t>
            </a:r>
            <a:endParaRPr lang="tr-TR" altLang="tr-TR" u="sng"/>
          </a:p>
          <a:p>
            <a:pPr lvl="1" eaLnBrk="1" hangingPunct="1"/>
            <a:r>
              <a:rPr lang="tr-TR" altLang="tr-TR"/>
              <a:t>Arapçada “kasd” kelimesinden gelir. Anlamı, aşırılıktan kaçma, tutumlu davranmadır.</a:t>
            </a:r>
          </a:p>
          <a:p>
            <a:pPr lvl="1" eaLnBrk="1" hangingPunct="1"/>
            <a:r>
              <a:rPr lang="tr-TR" altLang="tr-TR"/>
              <a:t>Eski Yunanda “okio” “nomos” yani ev yönetimi anlamına gelmektedir.</a:t>
            </a:r>
          </a:p>
          <a:p>
            <a:endParaRPr lang="tr-TR" altLang="tr-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547" name="Rectangle 22541">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8" name="Rectangle 22543">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descr="Otuz Günde Ekonomi! İktisat Nedir? | by Mustafa DİKER | Jan, 2025 | Türkiye  UP">
            <a:extLst>
              <a:ext uri="{FF2B5EF4-FFF2-40B4-BE49-F238E27FC236}">
                <a16:creationId xmlns:a16="http://schemas.microsoft.com/office/drawing/2014/main" id="{7A3CE598-EFF6-0B78-5420-6B6D22CE70F8}"/>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l="14628" r="17506"/>
          <a:stretch/>
        </p:blipFill>
        <p:spPr bwMode="auto">
          <a:xfrm>
            <a:off x="20" y="-1"/>
            <a:ext cx="4654276" cy="6857999"/>
          </a:xfrm>
          <a:prstGeom prst="rect">
            <a:avLst/>
          </a:prstGeom>
          <a:noFill/>
          <a:extLst>
            <a:ext uri="{909E8E84-426E-40DD-AFC4-6F175D3DCCD1}">
              <a14:hiddenFill xmlns:a14="http://schemas.microsoft.com/office/drawing/2010/main">
                <a:solidFill>
                  <a:srgbClr val="FFFFFF"/>
                </a:solidFill>
              </a14:hiddenFill>
            </a:ext>
          </a:extLst>
        </p:spPr>
      </p:pic>
      <p:sp>
        <p:nvSpPr>
          <p:cNvPr id="22546" name="Freeform: Shape 22545">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530" name="1 Başlık">
            <a:extLst>
              <a:ext uri="{FF2B5EF4-FFF2-40B4-BE49-F238E27FC236}">
                <a16:creationId xmlns:a16="http://schemas.microsoft.com/office/drawing/2014/main" id="{2FED85D5-6366-9BD8-0150-817C2EC4BA48}"/>
              </a:ext>
            </a:extLst>
          </p:cNvPr>
          <p:cNvSpPr>
            <a:spLocks noGrp="1"/>
          </p:cNvSpPr>
          <p:nvPr>
            <p:ph type="title"/>
          </p:nvPr>
        </p:nvSpPr>
        <p:spPr>
          <a:xfrm>
            <a:off x="738786" y="1319622"/>
            <a:ext cx="3481988" cy="1591492"/>
          </a:xfrm>
          <a:noFill/>
        </p:spPr>
        <p:txBody>
          <a:bodyPr>
            <a:normAutofit/>
          </a:bodyPr>
          <a:lstStyle/>
          <a:p>
            <a:r>
              <a:rPr lang="tr-TR" altLang="tr-TR">
                <a:solidFill>
                  <a:schemeClr val="accent1">
                    <a:lumMod val="60000"/>
                    <a:lumOff val="40000"/>
                  </a:schemeClr>
                </a:solidFill>
              </a:rPr>
              <a:t> İKTİSAT NEDİR?</a:t>
            </a:r>
          </a:p>
        </p:txBody>
      </p:sp>
      <p:sp>
        <p:nvSpPr>
          <p:cNvPr id="3" name="2 İçerik Yer Tutucusu">
            <a:extLst>
              <a:ext uri="{FF2B5EF4-FFF2-40B4-BE49-F238E27FC236}">
                <a16:creationId xmlns:a16="http://schemas.microsoft.com/office/drawing/2014/main" id="{C26298ED-41AB-5602-9521-3C4D7EDB00DA}"/>
              </a:ext>
            </a:extLst>
          </p:cNvPr>
          <p:cNvSpPr>
            <a:spLocks noGrp="1"/>
          </p:cNvSpPr>
          <p:nvPr>
            <p:ph idx="1"/>
          </p:nvPr>
        </p:nvSpPr>
        <p:spPr>
          <a:xfrm>
            <a:off x="5562600" y="1495741"/>
            <a:ext cx="4988781" cy="3996716"/>
          </a:xfrm>
        </p:spPr>
        <p:txBody>
          <a:bodyPr>
            <a:normAutofit/>
          </a:bodyPr>
          <a:lstStyle/>
          <a:p>
            <a:pPr eaLnBrk="1" hangingPunct="1">
              <a:lnSpc>
                <a:spcPct val="110000"/>
              </a:lnSpc>
              <a:buFont typeface="Wingdings" panose="05000000000000000000" pitchFamily="2" charset="2"/>
              <a:buNone/>
              <a:defRPr/>
            </a:pPr>
            <a:r>
              <a:rPr lang="tr-TR" sz="1500"/>
              <a:t>İktisat: kıt üretim faktörlerinin çeşitli mal ve hizmetlerin üretiminde kullanılmak üzere nasıl seçileceğinin ve üretilen malların tüketim amacıyla toplumun bireyleri arasındaki dağıtımının inceler.</a:t>
            </a:r>
          </a:p>
          <a:p>
            <a:pPr marL="609600" indent="-609600">
              <a:lnSpc>
                <a:spcPct val="110000"/>
              </a:lnSpc>
              <a:buNone/>
              <a:defRPr/>
            </a:pPr>
            <a:r>
              <a:rPr lang="tr-TR" sz="1500"/>
              <a:t>İktisat; halkın günlük faaliyetlerini, gelir kazanmasını ve yaşamını sürdürmesini inceler.</a:t>
            </a:r>
          </a:p>
          <a:p>
            <a:pPr marL="609600" indent="-609600">
              <a:lnSpc>
                <a:spcPct val="110000"/>
              </a:lnSpc>
              <a:buNone/>
              <a:defRPr/>
            </a:pPr>
            <a:r>
              <a:rPr lang="tr-TR" sz="1500"/>
              <a:t>İktisat; insanların tüketim ve üretim faaliyetlerini nasıl organize ettikleri konusunu inceler.</a:t>
            </a:r>
          </a:p>
          <a:p>
            <a:pPr marL="609600" indent="-609600">
              <a:lnSpc>
                <a:spcPct val="110000"/>
              </a:lnSpc>
              <a:buNone/>
              <a:defRPr/>
            </a:pPr>
            <a:r>
              <a:rPr lang="tr-TR" sz="1500"/>
              <a:t>İktisat; serveti inceler.</a:t>
            </a:r>
          </a:p>
          <a:p>
            <a:pPr marL="609600" indent="-609600">
              <a:lnSpc>
                <a:spcPct val="110000"/>
              </a:lnSpc>
              <a:buNone/>
              <a:defRPr/>
            </a:pPr>
            <a:r>
              <a:rPr lang="tr-TR" sz="1500"/>
              <a:t>İktisat; toplumların nasıl geliştiğini ve medeniyetin nasıl oluştuğunu inceler.</a:t>
            </a:r>
          </a:p>
          <a:p>
            <a:pPr>
              <a:lnSpc>
                <a:spcPct val="110000"/>
              </a:lnSpc>
              <a:defRPr/>
            </a:pPr>
            <a:endParaRPr lang="tr-TR"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560" name="Rectangle 23559">
            <a:extLst>
              <a:ext uri="{FF2B5EF4-FFF2-40B4-BE49-F238E27FC236}">
                <a16:creationId xmlns:a16="http://schemas.microsoft.com/office/drawing/2014/main" id="{1FE4C150-80D5-770F-7B10-707225E54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2" name="Rectangle 23561">
            <a:extLst>
              <a:ext uri="{FF2B5EF4-FFF2-40B4-BE49-F238E27FC236}">
                <a16:creationId xmlns:a16="http://schemas.microsoft.com/office/drawing/2014/main" id="{D150D424-378A-5EAF-BEF3-AB85F9E35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4639" y="929119"/>
            <a:ext cx="3713561" cy="4998841"/>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1 Başlık">
            <a:extLst>
              <a:ext uri="{FF2B5EF4-FFF2-40B4-BE49-F238E27FC236}">
                <a16:creationId xmlns:a16="http://schemas.microsoft.com/office/drawing/2014/main" id="{18FFE5DD-9319-1007-DCBE-EA9AD1A4916D}"/>
              </a:ext>
            </a:extLst>
          </p:cNvPr>
          <p:cNvSpPr>
            <a:spLocks noGrp="1"/>
          </p:cNvSpPr>
          <p:nvPr>
            <p:ph type="title"/>
          </p:nvPr>
        </p:nvSpPr>
        <p:spPr>
          <a:xfrm>
            <a:off x="758715" y="1573427"/>
            <a:ext cx="3417870" cy="1589903"/>
          </a:xfrm>
        </p:spPr>
        <p:txBody>
          <a:bodyPr anchor="t">
            <a:normAutofit/>
          </a:bodyPr>
          <a:lstStyle/>
          <a:p>
            <a:r>
              <a:rPr lang="tr-TR" altLang="tr-TR"/>
              <a:t>      İktisat Bilim midir ? </a:t>
            </a:r>
          </a:p>
        </p:txBody>
      </p:sp>
      <p:graphicFrame>
        <p:nvGraphicFramePr>
          <p:cNvPr id="23556" name="2 İçerik Yer Tutucusu">
            <a:extLst>
              <a:ext uri="{FF2B5EF4-FFF2-40B4-BE49-F238E27FC236}">
                <a16:creationId xmlns:a16="http://schemas.microsoft.com/office/drawing/2014/main" id="{A641BC29-8358-2FDD-6065-EEED52428A98}"/>
              </a:ext>
            </a:extLst>
          </p:cNvPr>
          <p:cNvGraphicFramePr>
            <a:graphicFrameLocks noGrp="1"/>
          </p:cNvGraphicFramePr>
          <p:nvPr>
            <p:ph idx="1"/>
            <p:extLst>
              <p:ext uri="{D42A27DB-BD31-4B8C-83A1-F6EECF244321}">
                <p14:modId xmlns:p14="http://schemas.microsoft.com/office/powerpoint/2010/main" val="1871628308"/>
              </p:ext>
            </p:extLst>
          </p:nvPr>
        </p:nvGraphicFramePr>
        <p:xfrm>
          <a:off x="5662749" y="914400"/>
          <a:ext cx="5401492" cy="5029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4583" name="Rectangle 24582">
            <a:extLst>
              <a:ext uri="{FF2B5EF4-FFF2-40B4-BE49-F238E27FC236}">
                <a16:creationId xmlns:a16="http://schemas.microsoft.com/office/drawing/2014/main" id="{BD12CE6E-EFBF-F92D-EFCE-D0EAEE4F3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5" name="Rectangle 24584">
            <a:extLst>
              <a:ext uri="{FF2B5EF4-FFF2-40B4-BE49-F238E27FC236}">
                <a16:creationId xmlns:a16="http://schemas.microsoft.com/office/drawing/2014/main" id="{2DDB27D6-FE98-671F-C939-C1648AB11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0159" y="936478"/>
            <a:ext cx="10314136" cy="498228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1 Başlık">
            <a:extLst>
              <a:ext uri="{FF2B5EF4-FFF2-40B4-BE49-F238E27FC236}">
                <a16:creationId xmlns:a16="http://schemas.microsoft.com/office/drawing/2014/main" id="{087B3B39-CBB5-B069-B7D7-9A7F337EFC94}"/>
              </a:ext>
            </a:extLst>
          </p:cNvPr>
          <p:cNvSpPr>
            <a:spLocks noGrp="1"/>
          </p:cNvSpPr>
          <p:nvPr>
            <p:ph type="title"/>
          </p:nvPr>
        </p:nvSpPr>
        <p:spPr>
          <a:xfrm>
            <a:off x="1045123" y="1581663"/>
            <a:ext cx="3132998" cy="1688758"/>
          </a:xfrm>
        </p:spPr>
        <p:txBody>
          <a:bodyPr anchor="t">
            <a:normAutofit/>
          </a:bodyPr>
          <a:lstStyle/>
          <a:p>
            <a:r>
              <a:rPr lang="tr-TR" altLang="tr-TR"/>
              <a:t>     İktisat Bilim midir ? </a:t>
            </a:r>
          </a:p>
        </p:txBody>
      </p:sp>
      <p:sp>
        <p:nvSpPr>
          <p:cNvPr id="3" name="2 İçerik Yer Tutucusu">
            <a:extLst>
              <a:ext uri="{FF2B5EF4-FFF2-40B4-BE49-F238E27FC236}">
                <a16:creationId xmlns:a16="http://schemas.microsoft.com/office/drawing/2014/main" id="{98C59999-8B02-36FF-B331-C2FD7C4D9C6C}"/>
              </a:ext>
            </a:extLst>
          </p:cNvPr>
          <p:cNvSpPr>
            <a:spLocks noGrp="1"/>
          </p:cNvSpPr>
          <p:nvPr>
            <p:ph idx="1"/>
          </p:nvPr>
        </p:nvSpPr>
        <p:spPr>
          <a:xfrm>
            <a:off x="4648200" y="1581663"/>
            <a:ext cx="5903181" cy="3910793"/>
          </a:xfrm>
        </p:spPr>
        <p:txBody>
          <a:bodyPr>
            <a:normAutofit/>
          </a:bodyPr>
          <a:lstStyle/>
          <a:p>
            <a:pPr eaLnBrk="1" hangingPunct="1"/>
            <a:r>
              <a:rPr lang="tr-TR" altLang="tr-TR" b="1"/>
              <a:t>İktisat : </a:t>
            </a:r>
            <a:r>
              <a:rPr lang="tr-TR" altLang="tr-TR"/>
              <a:t>hem sosyal bilim hem de doğa bilimlerinin tekniklerini kullanan komplike bir bilimdir. </a:t>
            </a:r>
          </a:p>
          <a:p>
            <a:pPr eaLnBrk="1" hangingPunct="1"/>
            <a:r>
              <a:rPr lang="tr-TR" altLang="tr-TR" b="1"/>
              <a:t>İktisat</a:t>
            </a:r>
            <a:r>
              <a:rPr lang="tr-TR" altLang="tr-TR" b="1" u="sng">
                <a:effectLst>
                  <a:outerShdw blurRad="38100" dist="38100" dir="2700000" algn="tl">
                    <a:srgbClr val="C0C0C0"/>
                  </a:outerShdw>
                </a:effectLst>
              </a:rPr>
              <a:t>:</a:t>
            </a:r>
            <a:r>
              <a:rPr lang="tr-TR" altLang="tr-TR"/>
              <a:t> diğer sosyal bilimler gibi insani ilişkileri incelerken doğa bilimlerinin metotlarını  kullanmaya çalışmaktadır.</a:t>
            </a:r>
          </a:p>
          <a:p>
            <a:pPr>
              <a:buFont typeface="Wingdings" panose="05000000000000000000" pitchFamily="2" charset="2"/>
              <a:buNone/>
            </a:pPr>
            <a:r>
              <a:rPr lang="tr-TR" altLang="tr-TR"/>
              <a:t>Dolayısıyla dünya görüşünüze veya algılarınıza göre iktisadı ya pozitif ya da normatif olarak kabul edebilirsiniz.</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esap makinesi, kalem, pusula, para ve üzerinde grafik yazılı kağıt">
            <a:extLst>
              <a:ext uri="{FF2B5EF4-FFF2-40B4-BE49-F238E27FC236}">
                <a16:creationId xmlns:a16="http://schemas.microsoft.com/office/drawing/2014/main" id="{52501702-C493-21B5-EAEE-4F402BD8416B}"/>
              </a:ext>
            </a:extLst>
          </p:cNvPr>
          <p:cNvPicPr>
            <a:picLocks noChangeAspect="1"/>
          </p:cNvPicPr>
          <p:nvPr/>
        </p:nvPicPr>
        <p:blipFill>
          <a:blip r:embed="rId2"/>
          <a:srcRect l="31666" r="27443" b="-2"/>
          <a:stretch/>
        </p:blipFill>
        <p:spPr>
          <a:xfrm>
            <a:off x="7537704" y="-2"/>
            <a:ext cx="4654296" cy="6857999"/>
          </a:xfrm>
          <a:prstGeom prst="rect">
            <a:avLst/>
          </a:prstGeom>
        </p:spPr>
      </p:pic>
      <p:sp>
        <p:nvSpPr>
          <p:cNvPr id="11" name="Rectangle 10">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350A567-4F75-5C60-827D-CB450E35ACAC}"/>
              </a:ext>
            </a:extLst>
          </p:cNvPr>
          <p:cNvSpPr>
            <a:spLocks noGrp="1"/>
          </p:cNvSpPr>
          <p:nvPr>
            <p:ph type="title"/>
          </p:nvPr>
        </p:nvSpPr>
        <p:spPr>
          <a:xfrm>
            <a:off x="782418" y="1280160"/>
            <a:ext cx="5670400" cy="1152144"/>
          </a:xfrm>
        </p:spPr>
        <p:txBody>
          <a:bodyPr>
            <a:normAutofit/>
          </a:bodyPr>
          <a:lstStyle/>
          <a:p>
            <a:r>
              <a:rPr lang="tr-TR" sz="2600" b="1"/>
              <a:t>İktisadın Bilimsel Yönleri:</a:t>
            </a:r>
            <a:br>
              <a:rPr lang="tr-TR" sz="2600" b="1"/>
            </a:br>
            <a:endParaRPr lang="tr-TR" sz="2600"/>
          </a:p>
        </p:txBody>
      </p:sp>
      <p:sp>
        <p:nvSpPr>
          <p:cNvPr id="3" name="İçerik Yer Tutucusu 2">
            <a:extLst>
              <a:ext uri="{FF2B5EF4-FFF2-40B4-BE49-F238E27FC236}">
                <a16:creationId xmlns:a16="http://schemas.microsoft.com/office/drawing/2014/main" id="{2175503C-E657-1ECD-7AF1-7BB73DE8EBE4}"/>
              </a:ext>
            </a:extLst>
          </p:cNvPr>
          <p:cNvSpPr>
            <a:spLocks noGrp="1"/>
          </p:cNvSpPr>
          <p:nvPr>
            <p:ph idx="1"/>
          </p:nvPr>
        </p:nvSpPr>
        <p:spPr>
          <a:xfrm>
            <a:off x="1204687" y="2002971"/>
            <a:ext cx="5670400" cy="3923172"/>
          </a:xfrm>
        </p:spPr>
        <p:txBody>
          <a:bodyPr>
            <a:normAutofit/>
          </a:bodyPr>
          <a:lstStyle/>
          <a:p>
            <a:pPr>
              <a:lnSpc>
                <a:spcPct val="110000"/>
              </a:lnSpc>
              <a:buFont typeface="+mj-lt"/>
              <a:buAutoNum type="arabicPeriod"/>
            </a:pPr>
            <a:r>
              <a:rPr lang="tr-TR" sz="1600" b="1"/>
              <a:t>Gözlem ve Veri Analizi:</a:t>
            </a:r>
            <a:r>
              <a:rPr lang="tr-TR" sz="1600"/>
              <a:t> İktisatçılar ekonomik olayları gözlemler, verileri toplar ve analiz eder (örneğin enflasyon oranları, işsizlik verileri).</a:t>
            </a:r>
          </a:p>
          <a:p>
            <a:pPr>
              <a:lnSpc>
                <a:spcPct val="110000"/>
              </a:lnSpc>
              <a:buFont typeface="+mj-lt"/>
              <a:buAutoNum type="arabicPeriod"/>
            </a:pPr>
            <a:r>
              <a:rPr lang="tr-TR" sz="1600" b="1"/>
              <a:t>Teoriler ve Modeller:</a:t>
            </a:r>
            <a:r>
              <a:rPr lang="tr-TR" sz="1600"/>
              <a:t> İktisat, ekonomik olayları açıklamak için teoriler ve matematiksel modeller geliştirir (örneğin Arz-Talep modeli).</a:t>
            </a:r>
          </a:p>
          <a:p>
            <a:pPr>
              <a:lnSpc>
                <a:spcPct val="110000"/>
              </a:lnSpc>
              <a:buFont typeface="+mj-lt"/>
              <a:buAutoNum type="arabicPeriod"/>
            </a:pPr>
            <a:r>
              <a:rPr lang="tr-TR" sz="1600" b="1"/>
              <a:t>Hipotez ve Test:</a:t>
            </a:r>
            <a:r>
              <a:rPr lang="tr-TR" sz="1600"/>
              <a:t> İktisatçılar hipotezler oluşturur ve bunları gerçek dünya verileriyle test eder (örneğin fiyat artışının tüketici talebi üzerindeki etkisi).</a:t>
            </a:r>
          </a:p>
          <a:p>
            <a:pPr>
              <a:lnSpc>
                <a:spcPct val="110000"/>
              </a:lnSpc>
              <a:buFont typeface="+mj-lt"/>
              <a:buAutoNum type="arabicPeriod"/>
            </a:pPr>
            <a:r>
              <a:rPr lang="tr-TR" sz="1600" b="1"/>
              <a:t>Neden-Sonuç İlişkisi:</a:t>
            </a:r>
            <a:r>
              <a:rPr lang="tr-TR" sz="1600"/>
              <a:t> Ekonomik olaylar arasındaki ilişkiyi analiz eder (örneğin faiz oranlarının yatırım kararları üzerindeki etkisi).</a:t>
            </a:r>
          </a:p>
          <a:p>
            <a:pPr>
              <a:lnSpc>
                <a:spcPct val="110000"/>
              </a:lnSpc>
            </a:pPr>
            <a:endParaRPr lang="tr-TR" sz="1100"/>
          </a:p>
        </p:txBody>
      </p:sp>
    </p:spTree>
    <p:extLst>
      <p:ext uri="{BB962C8B-B14F-4D97-AF65-F5344CB8AC3E}">
        <p14:creationId xmlns:p14="http://schemas.microsoft.com/office/powerpoint/2010/main" val="2331397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608" name="Rectangle 25607">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604" name="Picture 25603" descr="El ile ulaşma">
            <a:extLst>
              <a:ext uri="{FF2B5EF4-FFF2-40B4-BE49-F238E27FC236}">
                <a16:creationId xmlns:a16="http://schemas.microsoft.com/office/drawing/2014/main" id="{EAB1DBF7-7BAB-8F2E-8E37-B308CFB958A1}"/>
              </a:ext>
            </a:extLst>
          </p:cNvPr>
          <p:cNvPicPr>
            <a:picLocks noChangeAspect="1"/>
          </p:cNvPicPr>
          <p:nvPr/>
        </p:nvPicPr>
        <p:blipFill>
          <a:blip r:embed="rId2"/>
          <a:srcRect l="11927" r="42771" b="-2"/>
          <a:stretch/>
        </p:blipFill>
        <p:spPr>
          <a:xfrm>
            <a:off x="7537704" y="-2"/>
            <a:ext cx="4654296" cy="6857999"/>
          </a:xfrm>
          <a:prstGeom prst="rect">
            <a:avLst/>
          </a:prstGeom>
        </p:spPr>
      </p:pic>
      <p:sp>
        <p:nvSpPr>
          <p:cNvPr id="25610" name="Rectangle 25609">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1 Başlık">
            <a:extLst>
              <a:ext uri="{FF2B5EF4-FFF2-40B4-BE49-F238E27FC236}">
                <a16:creationId xmlns:a16="http://schemas.microsoft.com/office/drawing/2014/main" id="{F4FCD65C-373C-3196-3663-2F52D37B14B0}"/>
              </a:ext>
            </a:extLst>
          </p:cNvPr>
          <p:cNvSpPr>
            <a:spLocks noGrp="1"/>
          </p:cNvSpPr>
          <p:nvPr>
            <p:ph type="title"/>
          </p:nvPr>
        </p:nvSpPr>
        <p:spPr>
          <a:xfrm>
            <a:off x="782418" y="1280160"/>
            <a:ext cx="5937696" cy="1152144"/>
          </a:xfrm>
        </p:spPr>
        <p:txBody>
          <a:bodyPr>
            <a:normAutofit/>
          </a:bodyPr>
          <a:lstStyle/>
          <a:p>
            <a:r>
              <a:rPr lang="tr-TR" altLang="tr-TR"/>
              <a:t>           İktisat Bilim midir? </a:t>
            </a:r>
          </a:p>
        </p:txBody>
      </p:sp>
      <p:sp>
        <p:nvSpPr>
          <p:cNvPr id="3" name="2 İçerik Yer Tutucusu">
            <a:extLst>
              <a:ext uri="{FF2B5EF4-FFF2-40B4-BE49-F238E27FC236}">
                <a16:creationId xmlns:a16="http://schemas.microsoft.com/office/drawing/2014/main" id="{3B161B4B-AFE8-D98B-9341-2F5094821110}"/>
              </a:ext>
            </a:extLst>
          </p:cNvPr>
          <p:cNvSpPr>
            <a:spLocks noGrp="1"/>
          </p:cNvSpPr>
          <p:nvPr>
            <p:ph idx="1"/>
          </p:nvPr>
        </p:nvSpPr>
        <p:spPr>
          <a:xfrm>
            <a:off x="1290418" y="2569029"/>
            <a:ext cx="5937695" cy="2955718"/>
          </a:xfrm>
        </p:spPr>
        <p:txBody>
          <a:bodyPr>
            <a:normAutofit/>
          </a:bodyPr>
          <a:lstStyle/>
          <a:p>
            <a:pPr marL="609600" indent="-609600">
              <a:lnSpc>
                <a:spcPct val="110000"/>
              </a:lnSpc>
              <a:buNone/>
            </a:pPr>
            <a:r>
              <a:rPr lang="tr-TR" altLang="tr-TR" sz="1600" b="1">
                <a:effectLst>
                  <a:outerShdw blurRad="38100" dist="38100" dir="2700000" algn="tl">
                    <a:srgbClr val="C0C0C0"/>
                  </a:outerShdw>
                </a:effectLst>
              </a:rPr>
              <a:t>Pozitif İktisat: </a:t>
            </a:r>
            <a:r>
              <a:rPr lang="tr-TR" altLang="tr-TR" sz="1600"/>
              <a:t>Ne, nasıl, nerede, ne zaman, ne kadar gibi objektif önermelerle ilgilenir.</a:t>
            </a:r>
          </a:p>
          <a:p>
            <a:pPr marL="609600" indent="-609600">
              <a:lnSpc>
                <a:spcPct val="110000"/>
              </a:lnSpc>
              <a:buNone/>
            </a:pPr>
            <a:r>
              <a:rPr lang="tr-TR" altLang="tr-TR" sz="1600" b="1"/>
              <a:t>Normatif İktisat:</a:t>
            </a:r>
            <a:r>
              <a:rPr lang="tr-TR" altLang="tr-TR" sz="1600"/>
              <a:t>İyi-kötü, güzel-çirkin, doğru-yanlış gibi subjektif değer yargılarıyla ilgilenir.</a:t>
            </a:r>
          </a:p>
          <a:p>
            <a:pPr marL="609600" indent="-609600">
              <a:lnSpc>
                <a:spcPct val="110000"/>
              </a:lnSpc>
              <a:buNone/>
            </a:pPr>
            <a:r>
              <a:rPr lang="tr-TR" altLang="tr-TR" sz="1600"/>
              <a:t> Pozitif iktisat içeriğini belirlerken gerçeğin araştırılmasında kişisel görüşlerini karıştırmamış mıdır?</a:t>
            </a:r>
          </a:p>
          <a:p>
            <a:pPr marL="609600" indent="-609600">
              <a:lnSpc>
                <a:spcPct val="110000"/>
              </a:lnSpc>
              <a:buNone/>
            </a:pPr>
            <a:r>
              <a:rPr lang="tr-TR" altLang="tr-TR" sz="1600"/>
              <a:t>Evet, çünkü iktisadi olayları anlamak için birçok değişkeni yok saymak da subjektif bir davranıştır.</a:t>
            </a:r>
          </a:p>
          <a:p>
            <a:pPr marL="609600" indent="-609600">
              <a:lnSpc>
                <a:spcPct val="110000"/>
              </a:lnSpc>
              <a:buNone/>
            </a:pPr>
            <a:endParaRPr lang="tr-TR" altLang="tr-TR" sz="1400"/>
          </a:p>
          <a:p>
            <a:pPr marL="609600" indent="-609600">
              <a:lnSpc>
                <a:spcPct val="110000"/>
              </a:lnSpc>
              <a:buNone/>
            </a:pPr>
            <a:endParaRPr lang="tr-TR" altLang="tr-TR" sz="1400"/>
          </a:p>
          <a:p>
            <a:pPr marL="609600" indent="-609600">
              <a:lnSpc>
                <a:spcPct val="110000"/>
              </a:lnSpc>
            </a:pPr>
            <a:endParaRPr lang="tr-TR" altLang="tr-TR"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27F92E-485D-72AB-B308-3EB2BCF04FFA}"/>
              </a:ext>
            </a:extLst>
          </p:cNvPr>
          <p:cNvSpPr>
            <a:spLocks noGrp="1"/>
          </p:cNvSpPr>
          <p:nvPr>
            <p:ph type="title"/>
          </p:nvPr>
        </p:nvSpPr>
        <p:spPr/>
        <p:txBody>
          <a:bodyPr/>
          <a:lstStyle/>
          <a:p>
            <a:r>
              <a:rPr lang="tr-TR" b="1"/>
              <a:t>Pozitif ve Normatif İktisat Ayrımı:</a:t>
            </a:r>
            <a:br>
              <a:rPr lang="tr-TR" b="1"/>
            </a:br>
            <a:endParaRPr lang="tr-TR"/>
          </a:p>
        </p:txBody>
      </p:sp>
      <p:sp>
        <p:nvSpPr>
          <p:cNvPr id="3" name="İçerik Yer Tutucusu 2">
            <a:extLst>
              <a:ext uri="{FF2B5EF4-FFF2-40B4-BE49-F238E27FC236}">
                <a16:creationId xmlns:a16="http://schemas.microsoft.com/office/drawing/2014/main" id="{A4866124-A143-D0A9-5861-4AA8C9AD85AB}"/>
              </a:ext>
            </a:extLst>
          </p:cNvPr>
          <p:cNvSpPr>
            <a:spLocks noGrp="1"/>
          </p:cNvSpPr>
          <p:nvPr>
            <p:ph idx="1"/>
          </p:nvPr>
        </p:nvSpPr>
        <p:spPr/>
        <p:txBody>
          <a:bodyPr>
            <a:normAutofit/>
          </a:bodyPr>
          <a:lstStyle/>
          <a:p>
            <a:pPr>
              <a:buFont typeface="Arial" panose="020B0604020202020204" pitchFamily="34" charset="0"/>
              <a:buChar char="•"/>
            </a:pPr>
            <a:r>
              <a:rPr lang="tr-TR" b="1"/>
              <a:t>Pozitif İktisat:</a:t>
            </a:r>
            <a:r>
              <a:rPr lang="tr-TR"/>
              <a:t> “Ne oldu?” sorusuna objektif ve bilimsel yanıtlar arar. Örneğin, “Enflasyon oranı %10 arttı.”</a:t>
            </a:r>
          </a:p>
          <a:p>
            <a:pPr>
              <a:buFont typeface="Arial" panose="020B0604020202020204" pitchFamily="34" charset="0"/>
              <a:buChar char="•"/>
            </a:pPr>
            <a:r>
              <a:rPr lang="tr-TR" b="1"/>
              <a:t>Normatif İktisat:</a:t>
            </a:r>
            <a:r>
              <a:rPr lang="tr-TR"/>
              <a:t> “Ne olmalı?” sorusuna subjektif ve değer yargılarına dayalı cevaplar verir. Örneğin, “Devlet enflasyonu düşürmek için faizleri artırmalı.”</a:t>
            </a:r>
          </a:p>
          <a:p>
            <a:r>
              <a:rPr lang="tr-TR" b="1"/>
              <a:t>Sonuç:</a:t>
            </a:r>
          </a:p>
          <a:p>
            <a:r>
              <a:rPr lang="tr-TR"/>
              <a:t>İktisat, </a:t>
            </a:r>
            <a:r>
              <a:rPr lang="tr-TR" b="1"/>
              <a:t>toplumların kaynakları nasıl kullandığını inceleyen sistematik bir sosyal bilimdir</a:t>
            </a:r>
            <a:r>
              <a:rPr lang="tr-TR"/>
              <a:t>. Ancak, doğa bilimlerindeki gibi kesin ve değişmez yasalar oluşturmak yerine, insan davranışlarındaki değişkenliği göz önünde bulundurarak ekonomik modeller geliştirir.</a:t>
            </a:r>
          </a:p>
          <a:p>
            <a:endParaRPr lang="tr-TR"/>
          </a:p>
        </p:txBody>
      </p:sp>
    </p:spTree>
    <p:extLst>
      <p:ext uri="{BB962C8B-B14F-4D97-AF65-F5344CB8AC3E}">
        <p14:creationId xmlns:p14="http://schemas.microsoft.com/office/powerpoint/2010/main" val="3083331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633" name="Rectangle 26632">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629" name="Picture 26628" descr="İplikler">
            <a:extLst>
              <a:ext uri="{FF2B5EF4-FFF2-40B4-BE49-F238E27FC236}">
                <a16:creationId xmlns:a16="http://schemas.microsoft.com/office/drawing/2014/main" id="{A6201860-032F-8E7C-A601-78F3CA5F34A5}"/>
              </a:ext>
            </a:extLst>
          </p:cNvPr>
          <p:cNvPicPr>
            <a:picLocks noChangeAspect="1"/>
          </p:cNvPicPr>
          <p:nvPr/>
        </p:nvPicPr>
        <p:blipFill>
          <a:blip r:embed="rId2"/>
          <a:srcRect l="27418" r="27280" b="-2"/>
          <a:stretch/>
        </p:blipFill>
        <p:spPr>
          <a:xfrm>
            <a:off x="7537704" y="-2"/>
            <a:ext cx="4654296" cy="6857999"/>
          </a:xfrm>
          <a:prstGeom prst="rect">
            <a:avLst/>
          </a:prstGeom>
        </p:spPr>
      </p:pic>
      <p:sp>
        <p:nvSpPr>
          <p:cNvPr id="26635" name="Rectangle 26634">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1 Başlık">
            <a:extLst>
              <a:ext uri="{FF2B5EF4-FFF2-40B4-BE49-F238E27FC236}">
                <a16:creationId xmlns:a16="http://schemas.microsoft.com/office/drawing/2014/main" id="{3B26CE35-FFA6-2A5D-1120-45C8A778E5AE}"/>
              </a:ext>
            </a:extLst>
          </p:cNvPr>
          <p:cNvSpPr>
            <a:spLocks noGrp="1"/>
          </p:cNvSpPr>
          <p:nvPr>
            <p:ph type="title"/>
          </p:nvPr>
        </p:nvSpPr>
        <p:spPr>
          <a:xfrm>
            <a:off x="782418" y="1280160"/>
            <a:ext cx="6648896" cy="1152144"/>
          </a:xfrm>
        </p:spPr>
        <p:txBody>
          <a:bodyPr>
            <a:normAutofit/>
          </a:bodyPr>
          <a:lstStyle/>
          <a:p>
            <a:r>
              <a:rPr lang="tr-TR" altLang="tr-TR"/>
              <a:t>             İktisat Gerekli mi?</a:t>
            </a:r>
          </a:p>
        </p:txBody>
      </p:sp>
      <p:sp>
        <p:nvSpPr>
          <p:cNvPr id="26627" name="2 İçerik Yer Tutucusu">
            <a:extLst>
              <a:ext uri="{FF2B5EF4-FFF2-40B4-BE49-F238E27FC236}">
                <a16:creationId xmlns:a16="http://schemas.microsoft.com/office/drawing/2014/main" id="{7255017D-5819-ED5B-FC5C-53EDFBE058DB}"/>
              </a:ext>
            </a:extLst>
          </p:cNvPr>
          <p:cNvSpPr>
            <a:spLocks noGrp="1"/>
          </p:cNvSpPr>
          <p:nvPr>
            <p:ph idx="1"/>
          </p:nvPr>
        </p:nvSpPr>
        <p:spPr>
          <a:xfrm>
            <a:off x="1146629" y="2432304"/>
            <a:ext cx="6023428" cy="3300839"/>
          </a:xfrm>
        </p:spPr>
        <p:txBody>
          <a:bodyPr>
            <a:normAutofit fontScale="92500"/>
          </a:bodyPr>
          <a:lstStyle/>
          <a:p>
            <a:pPr eaLnBrk="1" hangingPunct="1">
              <a:lnSpc>
                <a:spcPct val="110000"/>
              </a:lnSpc>
              <a:buFont typeface="Wingdings" panose="05000000000000000000" pitchFamily="2" charset="2"/>
              <a:buNone/>
            </a:pPr>
            <a:r>
              <a:rPr lang="tr-TR" altLang="tr-TR" sz="1600"/>
              <a:t>Evet!!</a:t>
            </a:r>
          </a:p>
          <a:p>
            <a:pPr eaLnBrk="1" hangingPunct="1">
              <a:lnSpc>
                <a:spcPct val="110000"/>
              </a:lnSpc>
              <a:buFont typeface="Wingdings" panose="05000000000000000000" pitchFamily="2" charset="2"/>
              <a:buNone/>
            </a:pPr>
            <a:r>
              <a:rPr lang="tr-TR" altLang="tr-TR" sz="1600"/>
              <a:t>Çünkü; gelişi güzel açtığınız her gazetede; enflasyon, işsizlik, bütçe açığı, devalüasyon, döviz kuru, faiz oranı, dış ticaret açıkları gibi konular göze çarpmaktadır.</a:t>
            </a:r>
          </a:p>
          <a:p>
            <a:pPr eaLnBrk="1" hangingPunct="1">
              <a:lnSpc>
                <a:spcPct val="110000"/>
              </a:lnSpc>
              <a:buFont typeface="Wingdings" panose="05000000000000000000" pitchFamily="2" charset="2"/>
              <a:buNone/>
            </a:pPr>
            <a:r>
              <a:rPr lang="tr-TR" altLang="tr-TR" sz="1600"/>
              <a:t>Neden? </a:t>
            </a:r>
          </a:p>
          <a:p>
            <a:pPr eaLnBrk="1" hangingPunct="1">
              <a:lnSpc>
                <a:spcPct val="110000"/>
              </a:lnSpc>
              <a:buFont typeface="Wingdings" panose="05000000000000000000" pitchFamily="2" charset="2"/>
              <a:buNone/>
            </a:pPr>
            <a:r>
              <a:rPr lang="tr-TR" altLang="tr-TR" sz="1600"/>
              <a:t>Çünkü; insan yaşamı kıtlık sorununa karşı verilen mücadele ile geçmiş, geçiyor ve geçecektir.Yaşanan sorunların (askeri , siyasi ve sosyal) temelinde mutlaka ekonomik bir neden bulabilirsiniz.Böylece; iktisat eğitimi ile yaşadığınız toplumu daha iyi anlayabilir, iç içe olduğunuz ekonomik sorunlarla alakalı çözümleri geliştirebilir, maddi yaşamdaki ilişkileri düzenleyebilir ve tutarlı kararları alabilirsiniz.</a:t>
            </a:r>
          </a:p>
          <a:p>
            <a:pPr>
              <a:lnSpc>
                <a:spcPct val="110000"/>
              </a:lnSpc>
              <a:buFont typeface="Wingdings" panose="05000000000000000000" pitchFamily="2" charset="2"/>
              <a:buNone/>
            </a:pPr>
            <a:endParaRPr lang="tr-TR" altLang="tr-TR"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657" name="Rectangle 27656">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653" name="Picture 27652" descr="Sticky notes on a wall">
            <a:extLst>
              <a:ext uri="{FF2B5EF4-FFF2-40B4-BE49-F238E27FC236}">
                <a16:creationId xmlns:a16="http://schemas.microsoft.com/office/drawing/2014/main" id="{A374AE14-D1F9-14DF-587C-7A34606CC720}"/>
              </a:ext>
            </a:extLst>
          </p:cNvPr>
          <p:cNvPicPr>
            <a:picLocks noChangeAspect="1"/>
          </p:cNvPicPr>
          <p:nvPr/>
        </p:nvPicPr>
        <p:blipFill>
          <a:blip r:embed="rId2"/>
          <a:srcRect l="26200" r="26463" b="1"/>
          <a:stretch/>
        </p:blipFill>
        <p:spPr>
          <a:xfrm>
            <a:off x="7537704" y="-2"/>
            <a:ext cx="4654296" cy="6857999"/>
          </a:xfrm>
          <a:prstGeom prst="rect">
            <a:avLst/>
          </a:prstGeom>
        </p:spPr>
      </p:pic>
      <p:sp>
        <p:nvSpPr>
          <p:cNvPr id="27659" name="Rectangle 27658">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1 Başlık">
            <a:extLst>
              <a:ext uri="{FF2B5EF4-FFF2-40B4-BE49-F238E27FC236}">
                <a16:creationId xmlns:a16="http://schemas.microsoft.com/office/drawing/2014/main" id="{27E10DAE-88FD-AD38-4B4D-E18F71124E41}"/>
              </a:ext>
            </a:extLst>
          </p:cNvPr>
          <p:cNvSpPr>
            <a:spLocks noGrp="1"/>
          </p:cNvSpPr>
          <p:nvPr>
            <p:ph type="title"/>
          </p:nvPr>
        </p:nvSpPr>
        <p:spPr>
          <a:xfrm>
            <a:off x="782418" y="1280160"/>
            <a:ext cx="5670400" cy="1152144"/>
          </a:xfrm>
        </p:spPr>
        <p:txBody>
          <a:bodyPr>
            <a:normAutofit/>
          </a:bodyPr>
          <a:lstStyle/>
          <a:p>
            <a:r>
              <a:rPr lang="tr-TR" altLang="tr-TR"/>
              <a:t>   İKTİSATÇILAR NEDEN ANLAŞAMAZLAR</a:t>
            </a:r>
          </a:p>
        </p:txBody>
      </p:sp>
      <p:sp>
        <p:nvSpPr>
          <p:cNvPr id="27651" name="2 İçerik Yer Tutucusu">
            <a:extLst>
              <a:ext uri="{FF2B5EF4-FFF2-40B4-BE49-F238E27FC236}">
                <a16:creationId xmlns:a16="http://schemas.microsoft.com/office/drawing/2014/main" id="{CE9A0085-79F7-A68D-17BB-8C494B0E05FD}"/>
              </a:ext>
            </a:extLst>
          </p:cNvPr>
          <p:cNvSpPr>
            <a:spLocks noGrp="1"/>
          </p:cNvSpPr>
          <p:nvPr>
            <p:ph idx="1"/>
          </p:nvPr>
        </p:nvSpPr>
        <p:spPr>
          <a:xfrm>
            <a:off x="1620445" y="2890881"/>
            <a:ext cx="4832373" cy="2633866"/>
          </a:xfrm>
        </p:spPr>
        <p:txBody>
          <a:bodyPr>
            <a:normAutofit lnSpcReduction="10000"/>
          </a:bodyPr>
          <a:lstStyle/>
          <a:p>
            <a:pPr marL="552450" indent="-552450">
              <a:lnSpc>
                <a:spcPct val="110000"/>
              </a:lnSpc>
              <a:buNone/>
            </a:pPr>
            <a:r>
              <a:rPr lang="tr-TR" altLang="tr-TR" sz="1400"/>
              <a:t>“Altı iktisatçı bir araya geldiğinde, yedi ayrı görüş doğar!!”</a:t>
            </a:r>
          </a:p>
          <a:p>
            <a:pPr marL="552450" indent="-552450">
              <a:lnSpc>
                <a:spcPct val="110000"/>
              </a:lnSpc>
            </a:pPr>
            <a:endParaRPr lang="tr-TR" altLang="tr-TR" sz="1400"/>
          </a:p>
          <a:p>
            <a:pPr marL="933450" lvl="1" indent="-476250">
              <a:lnSpc>
                <a:spcPct val="110000"/>
              </a:lnSpc>
              <a:buFont typeface="Wingdings" panose="05000000000000000000" pitchFamily="2" charset="2"/>
              <a:buAutoNum type="arabicPeriod"/>
            </a:pPr>
            <a:r>
              <a:rPr lang="tr-TR" altLang="tr-TR" sz="1400"/>
              <a:t>Konuların normatif özelliği</a:t>
            </a:r>
          </a:p>
          <a:p>
            <a:pPr marL="933450" lvl="1" indent="-476250">
              <a:lnSpc>
                <a:spcPct val="110000"/>
              </a:lnSpc>
              <a:buFont typeface="Wingdings" panose="05000000000000000000" pitchFamily="2" charset="2"/>
              <a:buAutoNum type="arabicPeriod"/>
            </a:pPr>
            <a:r>
              <a:rPr lang="tr-TR" altLang="tr-TR" sz="1400"/>
              <a:t>İktisadi Teoriler</a:t>
            </a:r>
          </a:p>
          <a:p>
            <a:pPr marL="933450" lvl="1" indent="-476250">
              <a:lnSpc>
                <a:spcPct val="110000"/>
              </a:lnSpc>
              <a:buFont typeface="Wingdings" panose="05000000000000000000" pitchFamily="2" charset="2"/>
              <a:buAutoNum type="arabicPeriod"/>
            </a:pPr>
            <a:r>
              <a:rPr lang="tr-TR" altLang="tr-TR" sz="1400"/>
              <a:t>Grup görüş/çıkarlarının savunulması</a:t>
            </a:r>
          </a:p>
          <a:p>
            <a:pPr marL="933450" lvl="1" indent="-476250">
              <a:lnSpc>
                <a:spcPct val="110000"/>
              </a:lnSpc>
              <a:buFont typeface="Wingdings" panose="05000000000000000000" pitchFamily="2" charset="2"/>
              <a:buAutoNum type="arabicPeriod"/>
            </a:pPr>
            <a:r>
              <a:rPr lang="tr-TR" altLang="tr-TR" sz="1400"/>
              <a:t>Terimlerin günlük dildeki anlamlarından farklılığı</a:t>
            </a:r>
          </a:p>
          <a:p>
            <a:pPr marL="933450" lvl="1" indent="-476250">
              <a:lnSpc>
                <a:spcPct val="110000"/>
              </a:lnSpc>
              <a:buFont typeface="Wingdings" panose="05000000000000000000" pitchFamily="2" charset="2"/>
              <a:buAutoNum type="arabicPeriod"/>
            </a:pPr>
            <a:r>
              <a:rPr lang="tr-TR" altLang="tr-TR" sz="1400"/>
              <a:t>Bileşenleri bütüne yaymaktaki yanlışlık</a:t>
            </a:r>
          </a:p>
          <a:p>
            <a:pPr marL="933450" lvl="1" indent="-476250">
              <a:lnSpc>
                <a:spcPct val="110000"/>
              </a:lnSpc>
              <a:buFont typeface="Wingdings" panose="05000000000000000000" pitchFamily="2" charset="2"/>
              <a:buAutoNum type="arabicPeriod"/>
            </a:pPr>
            <a:r>
              <a:rPr lang="tr-TR" altLang="tr-TR" sz="1400"/>
              <a:t>Nedenselliğin yönünü belirlemede karşılaşılan güçlükler</a:t>
            </a:r>
          </a:p>
          <a:p>
            <a:pPr marL="552450" indent="-552450">
              <a:lnSpc>
                <a:spcPct val="110000"/>
              </a:lnSpc>
            </a:pPr>
            <a:endParaRPr lang="tr-TR" altLang="tr-TR"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E0FEA777-1A99-F20D-9443-EF409644A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1" name="Rectangle 28680">
            <a:extLst>
              <a:ext uri="{FF2B5EF4-FFF2-40B4-BE49-F238E27FC236}">
                <a16:creationId xmlns:a16="http://schemas.microsoft.com/office/drawing/2014/main" id="{D150D424-378A-5EAF-BEF3-AB85F9E35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0159" y="936478"/>
            <a:ext cx="10314136" cy="498228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1 Başlık">
            <a:extLst>
              <a:ext uri="{FF2B5EF4-FFF2-40B4-BE49-F238E27FC236}">
                <a16:creationId xmlns:a16="http://schemas.microsoft.com/office/drawing/2014/main" id="{53287FA6-6D64-E899-BCD8-E7E754001950}"/>
              </a:ext>
            </a:extLst>
          </p:cNvPr>
          <p:cNvSpPr>
            <a:spLocks noGrp="1"/>
          </p:cNvSpPr>
          <p:nvPr>
            <p:ph type="title"/>
          </p:nvPr>
        </p:nvSpPr>
        <p:spPr>
          <a:xfrm>
            <a:off x="1873893" y="876444"/>
            <a:ext cx="8066842" cy="1126525"/>
          </a:xfrm>
        </p:spPr>
        <p:txBody>
          <a:bodyPr anchor="ctr">
            <a:normAutofit/>
          </a:bodyPr>
          <a:lstStyle/>
          <a:p>
            <a:r>
              <a:rPr lang="tr-TR" altLang="tr-TR"/>
              <a:t>        İKTİSADİ SİSTEMLER</a:t>
            </a:r>
          </a:p>
        </p:txBody>
      </p:sp>
      <p:sp>
        <p:nvSpPr>
          <p:cNvPr id="3" name="2 İçerik Yer Tutucusu">
            <a:extLst>
              <a:ext uri="{FF2B5EF4-FFF2-40B4-BE49-F238E27FC236}">
                <a16:creationId xmlns:a16="http://schemas.microsoft.com/office/drawing/2014/main" id="{E8E52EA9-E807-6C80-7014-ED7C5202FC9F}"/>
              </a:ext>
            </a:extLst>
          </p:cNvPr>
          <p:cNvSpPr>
            <a:spLocks noGrp="1"/>
          </p:cNvSpPr>
          <p:nvPr>
            <p:ph idx="1"/>
          </p:nvPr>
        </p:nvSpPr>
        <p:spPr>
          <a:xfrm>
            <a:off x="1320800" y="2002970"/>
            <a:ext cx="9173029" cy="3915791"/>
          </a:xfrm>
        </p:spPr>
        <p:txBody>
          <a:bodyPr>
            <a:normAutofit fontScale="62500" lnSpcReduction="20000"/>
          </a:bodyPr>
          <a:lstStyle/>
          <a:p>
            <a:r>
              <a:rPr lang="tr-TR" b="1"/>
              <a:t>Kapitalizm</a:t>
            </a:r>
            <a:r>
              <a:rPr lang="tr-TR"/>
              <a:t> </a:t>
            </a:r>
          </a:p>
          <a:p>
            <a:r>
              <a:rPr lang="tr-TR" b="1"/>
              <a:t>Adam Smith’in ekonomik görüşlerindeki</a:t>
            </a:r>
            <a:r>
              <a:rPr lang="tr-TR"/>
              <a:t> ana noktalar şunlardır:</a:t>
            </a:r>
          </a:p>
          <a:p>
            <a:pPr>
              <a:buFont typeface="+mj-lt"/>
              <a:buAutoNum type="arabicPeriod"/>
            </a:pPr>
            <a:r>
              <a:rPr lang="tr-TR" b="1"/>
              <a:t>İnsanlar Çıkarcı Varlıklardır (Homo Economicus):</a:t>
            </a:r>
            <a:endParaRPr lang="tr-TR"/>
          </a:p>
          <a:p>
            <a:pPr marL="742950" lvl="1" indent="-285750">
              <a:buFont typeface="+mj-lt"/>
              <a:buAutoNum type="arabicPeriod"/>
            </a:pPr>
            <a:r>
              <a:rPr lang="tr-TR"/>
              <a:t>İnsanlar ekonomik kararlarını kendi çıkarlarını maksimize etmek için alırlar.</a:t>
            </a:r>
          </a:p>
          <a:p>
            <a:pPr marL="742950" lvl="1" indent="-285750">
              <a:buFont typeface="+mj-lt"/>
              <a:buAutoNum type="arabicPeriod"/>
            </a:pPr>
            <a:r>
              <a:rPr lang="tr-TR"/>
              <a:t>Piyasada bireysel çıkarlar rekabeti teşvik eder ve ekonomik büyümeyi sağlar.</a:t>
            </a:r>
          </a:p>
          <a:p>
            <a:pPr>
              <a:buFont typeface="+mj-lt"/>
              <a:buAutoNum type="arabicPeriod"/>
            </a:pPr>
            <a:r>
              <a:rPr lang="tr-TR" b="1"/>
              <a:t>“Bırakınız Yapsınlar, Bırakınız Geçsinler” (Laissez-faire, laissez-passer):</a:t>
            </a:r>
            <a:endParaRPr lang="tr-TR"/>
          </a:p>
          <a:p>
            <a:pPr marL="742950" lvl="1" indent="-285750">
              <a:buFont typeface="+mj-lt"/>
              <a:buAutoNum type="arabicPeriod"/>
            </a:pPr>
            <a:r>
              <a:rPr lang="tr-TR"/>
              <a:t>Devlet ekonomiye müdahale etmemeli, piyasa kendi kendine düzenlenmelidir.</a:t>
            </a:r>
          </a:p>
          <a:p>
            <a:pPr marL="742950" lvl="1" indent="-285750">
              <a:buFont typeface="+mj-lt"/>
              <a:buAutoNum type="arabicPeriod"/>
            </a:pPr>
            <a:r>
              <a:rPr lang="tr-TR"/>
              <a:t>Serbest piyasa ekonomisinin temel ilkelerindendir.</a:t>
            </a:r>
          </a:p>
          <a:p>
            <a:pPr>
              <a:buFont typeface="+mj-lt"/>
              <a:buAutoNum type="arabicPeriod"/>
            </a:pPr>
            <a:r>
              <a:rPr lang="tr-TR" b="1"/>
              <a:t>“Görünmez El” (Invisible Hand):</a:t>
            </a:r>
            <a:endParaRPr lang="tr-TR"/>
          </a:p>
          <a:p>
            <a:pPr marL="742950" lvl="1" indent="-285750">
              <a:buFont typeface="+mj-lt"/>
              <a:buAutoNum type="arabicPeriod"/>
            </a:pPr>
            <a:r>
              <a:rPr lang="tr-TR"/>
              <a:t>Bireyler kendi çıkarlarını takip ederken, istemeden de olsa toplumun genel refahına katkıda bulunurlar.</a:t>
            </a:r>
          </a:p>
          <a:p>
            <a:pPr marL="742950" lvl="1" indent="-285750">
              <a:buFont typeface="+mj-lt"/>
              <a:buAutoNum type="arabicPeriod"/>
            </a:pPr>
            <a:r>
              <a:rPr lang="tr-TR"/>
              <a:t>Piyasada </a:t>
            </a:r>
            <a:r>
              <a:rPr lang="tr-TR" b="1"/>
              <a:t>arz ve talep mekanizması</a:t>
            </a:r>
            <a:r>
              <a:rPr lang="tr-TR"/>
              <a:t>, üretim ve tüketim kararlarını yönlendirir.</a:t>
            </a:r>
          </a:p>
          <a:p>
            <a:pPr marL="742950" lvl="1" indent="-285750">
              <a:buFont typeface="+mj-lt"/>
              <a:buAutoNum type="arabicPeriod"/>
            </a:pPr>
            <a:r>
              <a:rPr lang="tr-TR"/>
              <a:t>Devletin ekonomiye müdahalesi olmadan piyasa dengeye ulaşır.</a:t>
            </a:r>
          </a:p>
          <a:p>
            <a:pPr>
              <a:buFont typeface="+mj-lt"/>
              <a:buAutoNum type="arabicPeriod"/>
            </a:pPr>
            <a:r>
              <a:rPr lang="tr-TR" b="1"/>
              <a:t>Fiyat Mekanizması:</a:t>
            </a:r>
            <a:endParaRPr lang="tr-TR"/>
          </a:p>
          <a:p>
            <a:pPr marL="742950" lvl="1" indent="-285750">
              <a:buFont typeface="+mj-lt"/>
              <a:buAutoNum type="arabicPeriod"/>
            </a:pPr>
            <a:r>
              <a:rPr lang="tr-TR"/>
              <a:t>Ürünlerin fiyatı arz ve talep dengesiyle belirlenir.</a:t>
            </a:r>
          </a:p>
          <a:p>
            <a:pPr marL="742950" lvl="1" indent="-285750">
              <a:buFont typeface="+mj-lt"/>
              <a:buAutoNum type="arabicPeriod"/>
            </a:pPr>
            <a:r>
              <a:rPr lang="tr-TR"/>
              <a:t>Fiyat değişimleri, üreticilere ve tüketicilere sinyaller göndererek kaynak tahsisinde etkinliği sağlar.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705" name="Rectangle 29704">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7" name="Rectangle 29706">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00" name="Picture 4">
            <a:extLst>
              <a:ext uri="{FF2B5EF4-FFF2-40B4-BE49-F238E27FC236}">
                <a16:creationId xmlns:a16="http://schemas.microsoft.com/office/drawing/2014/main" id="{3B425722-6D65-0D58-6AEC-61C3BFB4587C}"/>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r="1" b="123"/>
          <a:stretch/>
        </p:blipFill>
        <p:spPr bwMode="auto">
          <a:xfrm>
            <a:off x="20" y="-1"/>
            <a:ext cx="4654276" cy="68579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9" name="Freeform: Shape 29708">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698" name="1 Başlık">
            <a:extLst>
              <a:ext uri="{FF2B5EF4-FFF2-40B4-BE49-F238E27FC236}">
                <a16:creationId xmlns:a16="http://schemas.microsoft.com/office/drawing/2014/main" id="{2D922777-2E82-5572-BB1C-D112C74A3978}"/>
              </a:ext>
            </a:extLst>
          </p:cNvPr>
          <p:cNvSpPr>
            <a:spLocks noGrp="1"/>
          </p:cNvSpPr>
          <p:nvPr>
            <p:ph type="title"/>
          </p:nvPr>
        </p:nvSpPr>
        <p:spPr>
          <a:xfrm>
            <a:off x="738786" y="1319622"/>
            <a:ext cx="3481988" cy="1591492"/>
          </a:xfrm>
          <a:noFill/>
        </p:spPr>
        <p:txBody>
          <a:bodyPr>
            <a:normAutofit/>
          </a:bodyPr>
          <a:lstStyle/>
          <a:p>
            <a:r>
              <a:rPr lang="tr-TR" altLang="tr-TR">
                <a:solidFill>
                  <a:schemeClr val="accent1">
                    <a:lumMod val="60000"/>
                    <a:lumOff val="40000"/>
                  </a:schemeClr>
                </a:solidFill>
              </a:rPr>
              <a:t>         İKTİSADİ SİSTEMLER</a:t>
            </a:r>
          </a:p>
        </p:txBody>
      </p:sp>
      <p:sp>
        <p:nvSpPr>
          <p:cNvPr id="29699" name="2 İçerik Yer Tutucusu">
            <a:extLst>
              <a:ext uri="{FF2B5EF4-FFF2-40B4-BE49-F238E27FC236}">
                <a16:creationId xmlns:a16="http://schemas.microsoft.com/office/drawing/2014/main" id="{DDA09819-72CD-224C-C1F8-9459BFAF6278}"/>
              </a:ext>
            </a:extLst>
          </p:cNvPr>
          <p:cNvSpPr>
            <a:spLocks noGrp="1"/>
          </p:cNvSpPr>
          <p:nvPr>
            <p:ph idx="1"/>
          </p:nvPr>
        </p:nvSpPr>
        <p:spPr>
          <a:xfrm>
            <a:off x="5562600" y="1495741"/>
            <a:ext cx="4988781" cy="3996716"/>
          </a:xfrm>
        </p:spPr>
        <p:txBody>
          <a:bodyPr>
            <a:normAutofit/>
          </a:bodyPr>
          <a:lstStyle/>
          <a:p>
            <a:pPr eaLnBrk="1" hangingPunct="1">
              <a:lnSpc>
                <a:spcPct val="110000"/>
              </a:lnSpc>
            </a:pPr>
            <a:r>
              <a:rPr lang="tr-TR" altLang="tr-TR" sz="1500">
                <a:cs typeface="Times New Roman" panose="02020603050405020304" pitchFamily="18" charset="0"/>
              </a:rPr>
              <a:t>Adam Smith (1723 -1790) Glasgow'da başladığı üniversite öğrenimini Oxford'da tamamlamış.1776 da kendisine ekonomi bil</a:t>
            </a:r>
            <a:r>
              <a:rPr lang="tr-TR" altLang="tr-TR" sz="1500"/>
              <a:t>i</a:t>
            </a:r>
            <a:r>
              <a:rPr lang="tr-TR" altLang="tr-TR" sz="1500">
                <a:cs typeface="Times New Roman" panose="02020603050405020304" pitchFamily="18" charset="0"/>
              </a:rPr>
              <a:t>minin kurucusu dedirten ünlü yapıtı «Ulusların Zenginliklerinin Sebepleri ve Nitelikleri Üzerine Araştırma» (An Enquiry into the Nature and Causes of the Wealth of Nations) adlı kitabını yayınlamıştır.  Liberal kapitalizmin merkantilizme </a:t>
            </a:r>
            <a:r>
              <a:rPr lang="tr-TR" altLang="tr-TR" sz="1500"/>
              <a:t>göre</a:t>
            </a:r>
            <a:r>
              <a:rPr lang="tr-TR" altLang="tr-TR" sz="1500">
                <a:cs typeface="Times New Roman" panose="02020603050405020304" pitchFamily="18" charset="0"/>
              </a:rPr>
              <a:t>  daha ileri bir ekonomi düzeni  olduğunu savunmuştur. Ona göre diğer akımların ulusal  zenginliğin kaynağı hakkındaki  görüşleri doğru değildir.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733" name="Rectangle 30728">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4" name="Rectangle 30730">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936887"/>
            <a:ext cx="5160067" cy="496861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2" name="1 Başlık">
            <a:extLst>
              <a:ext uri="{FF2B5EF4-FFF2-40B4-BE49-F238E27FC236}">
                <a16:creationId xmlns:a16="http://schemas.microsoft.com/office/drawing/2014/main" id="{83165066-6193-BA1D-C79D-B5F3018822A4}"/>
              </a:ext>
            </a:extLst>
          </p:cNvPr>
          <p:cNvSpPr>
            <a:spLocks noGrp="1"/>
          </p:cNvSpPr>
          <p:nvPr>
            <p:ph type="title"/>
          </p:nvPr>
        </p:nvSpPr>
        <p:spPr>
          <a:xfrm>
            <a:off x="914397" y="950441"/>
            <a:ext cx="3476578" cy="1801455"/>
          </a:xfrm>
          <a:noFill/>
        </p:spPr>
        <p:txBody>
          <a:bodyPr>
            <a:normAutofit/>
          </a:bodyPr>
          <a:lstStyle/>
          <a:p>
            <a:r>
              <a:rPr lang="tr-TR" altLang="tr-TR"/>
              <a:t> İKTİSADİ SİSTEMLER</a:t>
            </a:r>
          </a:p>
        </p:txBody>
      </p:sp>
      <p:sp>
        <p:nvSpPr>
          <p:cNvPr id="30723" name="2 İçerik Yer Tutucusu">
            <a:extLst>
              <a:ext uri="{FF2B5EF4-FFF2-40B4-BE49-F238E27FC236}">
                <a16:creationId xmlns:a16="http://schemas.microsoft.com/office/drawing/2014/main" id="{9852C54C-9394-0663-1E0F-B31723876D82}"/>
              </a:ext>
            </a:extLst>
          </p:cNvPr>
          <p:cNvSpPr>
            <a:spLocks noGrp="1"/>
          </p:cNvSpPr>
          <p:nvPr>
            <p:ph idx="1"/>
          </p:nvPr>
        </p:nvSpPr>
        <p:spPr>
          <a:xfrm>
            <a:off x="914400" y="2890881"/>
            <a:ext cx="4049486" cy="3408319"/>
          </a:xfrm>
        </p:spPr>
        <p:txBody>
          <a:bodyPr>
            <a:normAutofit fontScale="92500" lnSpcReduction="10000"/>
          </a:bodyPr>
          <a:lstStyle/>
          <a:p>
            <a:pPr eaLnBrk="1" hangingPunct="1">
              <a:lnSpc>
                <a:spcPct val="110000"/>
              </a:lnSpc>
              <a:buFont typeface="Wingdings" panose="05000000000000000000" pitchFamily="2" charset="2"/>
              <a:buNone/>
            </a:pPr>
            <a:r>
              <a:rPr lang="tr-TR" altLang="tr-TR" sz="1600"/>
              <a:t>2) Merkezi Planlı Ekonomi</a:t>
            </a:r>
          </a:p>
          <a:p>
            <a:pPr eaLnBrk="1" hangingPunct="1">
              <a:lnSpc>
                <a:spcPct val="110000"/>
              </a:lnSpc>
              <a:buFont typeface="Wingdings" panose="05000000000000000000" pitchFamily="2" charset="2"/>
              <a:buNone/>
            </a:pPr>
            <a:r>
              <a:rPr lang="tr-TR" altLang="tr-TR" sz="1600"/>
              <a:t> Güdümlü Ekonomi, Sosyalist Ekonomi, Komünist Ekonomi, Mülkiyet devlete aittir.Kararları merkezi planlama komitesi verir.</a:t>
            </a:r>
          </a:p>
          <a:p>
            <a:pPr eaLnBrk="1" hangingPunct="1">
              <a:lnSpc>
                <a:spcPct val="110000"/>
              </a:lnSpc>
              <a:buFont typeface="Wingdings" panose="05000000000000000000" pitchFamily="2" charset="2"/>
              <a:buNone/>
            </a:pPr>
            <a:r>
              <a:rPr lang="tr-TR" altLang="tr-TR" sz="1600"/>
              <a:t>Planlı bir ekonomide neyin üretileceği ve kaynakların nasıl tahsis edileceği hakkındaki tüm kararları hükümet alır. </a:t>
            </a:r>
          </a:p>
          <a:p>
            <a:pPr eaLnBrk="1" hangingPunct="1">
              <a:lnSpc>
                <a:spcPct val="110000"/>
              </a:lnSpc>
              <a:buFont typeface="Wingdings" panose="05000000000000000000" pitchFamily="2" charset="2"/>
              <a:buNone/>
            </a:pPr>
            <a:r>
              <a:rPr lang="tr-TR" altLang="tr-TR" sz="1600"/>
              <a:t>-Eşit gelir dağılımı </a:t>
            </a:r>
          </a:p>
          <a:p>
            <a:pPr eaLnBrk="1" hangingPunct="1">
              <a:lnSpc>
                <a:spcPct val="110000"/>
              </a:lnSpc>
              <a:buFont typeface="Wingdings" panose="05000000000000000000" pitchFamily="2" charset="2"/>
              <a:buNone/>
            </a:pPr>
            <a:r>
              <a:rPr lang="tr-TR" altLang="tr-TR" sz="1600"/>
              <a:t>-Fiyat kontrolü </a:t>
            </a:r>
          </a:p>
          <a:p>
            <a:pPr eaLnBrk="1" hangingPunct="1">
              <a:lnSpc>
                <a:spcPct val="110000"/>
              </a:lnSpc>
              <a:buFont typeface="Wingdings" panose="05000000000000000000" pitchFamily="2" charset="2"/>
              <a:buNone/>
            </a:pPr>
            <a:r>
              <a:rPr lang="tr-TR" altLang="tr-TR" sz="1600"/>
              <a:t>-Rekabet yok</a:t>
            </a:r>
          </a:p>
          <a:p>
            <a:pPr eaLnBrk="1" hangingPunct="1">
              <a:lnSpc>
                <a:spcPct val="110000"/>
              </a:lnSpc>
              <a:buFont typeface="Wingdings" panose="05000000000000000000" pitchFamily="2" charset="2"/>
              <a:buNone/>
            </a:pPr>
            <a:endParaRPr lang="tr-TR" altLang="tr-TR" sz="1100"/>
          </a:p>
          <a:p>
            <a:pPr>
              <a:lnSpc>
                <a:spcPct val="110000"/>
              </a:lnSpc>
            </a:pPr>
            <a:endParaRPr lang="tr-TR" altLang="tr-TR" sz="1100"/>
          </a:p>
        </p:txBody>
      </p:sp>
      <p:pic>
        <p:nvPicPr>
          <p:cNvPr id="30724" name="Picture 4" descr="click to zoom">
            <a:extLst>
              <a:ext uri="{FF2B5EF4-FFF2-40B4-BE49-F238E27FC236}">
                <a16:creationId xmlns:a16="http://schemas.microsoft.com/office/drawing/2014/main" id="{97BB18E1-D4C3-E557-E1DB-8E1D59DE043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26912" y="1606437"/>
            <a:ext cx="5269122" cy="354348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FA1702-BBFC-8B74-AFD3-EC0A27AC7FC6}"/>
              </a:ext>
            </a:extLst>
          </p:cNvPr>
          <p:cNvSpPr>
            <a:spLocks noGrp="1"/>
          </p:cNvSpPr>
          <p:nvPr>
            <p:ph type="title"/>
          </p:nvPr>
        </p:nvSpPr>
        <p:spPr>
          <a:xfrm>
            <a:off x="2946400" y="1233199"/>
            <a:ext cx="7651553" cy="581087"/>
          </a:xfrm>
        </p:spPr>
        <p:txBody>
          <a:bodyPr/>
          <a:lstStyle/>
          <a:p>
            <a:r>
              <a:rPr lang="tr-TR"/>
              <a:t>Merkez planlı ekonomi</a:t>
            </a:r>
          </a:p>
        </p:txBody>
      </p:sp>
      <p:sp>
        <p:nvSpPr>
          <p:cNvPr id="3" name="İçerik Yer Tutucusu 2">
            <a:extLst>
              <a:ext uri="{FF2B5EF4-FFF2-40B4-BE49-F238E27FC236}">
                <a16:creationId xmlns:a16="http://schemas.microsoft.com/office/drawing/2014/main" id="{85779705-2001-00D2-1490-48C43A6818EA}"/>
              </a:ext>
            </a:extLst>
          </p:cNvPr>
          <p:cNvSpPr>
            <a:spLocks noGrp="1"/>
          </p:cNvSpPr>
          <p:nvPr>
            <p:ph idx="1"/>
          </p:nvPr>
        </p:nvSpPr>
        <p:spPr>
          <a:xfrm>
            <a:off x="1190172" y="1814287"/>
            <a:ext cx="9724572" cy="4049484"/>
          </a:xfrm>
        </p:spPr>
        <p:txBody>
          <a:bodyPr>
            <a:normAutofit fontScale="32500" lnSpcReduction="20000"/>
          </a:bodyPr>
          <a:lstStyle/>
          <a:p>
            <a:r>
              <a:rPr lang="tr-TR" sz="3700" b="1"/>
              <a:t>Merkezi Planlı Ekonomi Nedir?</a:t>
            </a:r>
          </a:p>
          <a:p>
            <a:r>
              <a:rPr lang="tr-TR" sz="4000"/>
              <a:t>Merkezi planlı ekonomi, ekonomik kararların bireyler ve şirketler yerine devlet tarafından alındığı ekonomik sistemdir.</a:t>
            </a:r>
          </a:p>
          <a:p>
            <a:r>
              <a:rPr lang="tr-TR" sz="4000" b="1"/>
              <a:t>Temel Özellikleri:</a:t>
            </a:r>
          </a:p>
          <a:p>
            <a:pPr>
              <a:buFont typeface="+mj-lt"/>
              <a:buAutoNum type="arabicPeriod"/>
            </a:pPr>
            <a:r>
              <a:rPr lang="tr-TR" sz="4000" b="1"/>
              <a:t>Devlet Mülkiyeti:</a:t>
            </a:r>
            <a:endParaRPr lang="tr-TR" sz="4000"/>
          </a:p>
          <a:p>
            <a:pPr marL="742950" lvl="1" indent="-285750">
              <a:buFont typeface="+mj-lt"/>
              <a:buAutoNum type="arabicPeriod"/>
            </a:pPr>
            <a:r>
              <a:rPr lang="tr-TR" sz="4000"/>
              <a:t>Üretim araçları (fabrikalar, toprak, sermaye) devlete aittir.</a:t>
            </a:r>
          </a:p>
          <a:p>
            <a:pPr>
              <a:buFont typeface="+mj-lt"/>
              <a:buAutoNum type="arabicPeriod"/>
            </a:pPr>
            <a:r>
              <a:rPr lang="tr-TR" sz="4000" b="1"/>
              <a:t>Merkezi Planlama:</a:t>
            </a:r>
            <a:endParaRPr lang="tr-TR" sz="4000"/>
          </a:p>
          <a:p>
            <a:pPr marL="742950" lvl="1" indent="-285750">
              <a:buFont typeface="+mj-lt"/>
              <a:buAutoNum type="arabicPeriod"/>
            </a:pPr>
            <a:r>
              <a:rPr lang="tr-TR" sz="4000"/>
              <a:t>Üretim, tüketim ve yatırım kararları merkezi bir planlama komitesi tarafından belirlenir.</a:t>
            </a:r>
          </a:p>
          <a:p>
            <a:pPr>
              <a:buFont typeface="+mj-lt"/>
              <a:buAutoNum type="arabicPeriod"/>
            </a:pPr>
            <a:r>
              <a:rPr lang="tr-TR" sz="4000" b="1"/>
              <a:t>Gelir Dağılımında Eşitlik:</a:t>
            </a:r>
            <a:endParaRPr lang="tr-TR" sz="4000"/>
          </a:p>
          <a:p>
            <a:pPr marL="742950" lvl="1" indent="-285750">
              <a:buFont typeface="+mj-lt"/>
              <a:buAutoNum type="arabicPeriod"/>
            </a:pPr>
            <a:r>
              <a:rPr lang="tr-TR" sz="4000"/>
              <a:t>Ekonomik eşitliği sağlamak için gelirler devlet tarafından düzenlenir.</a:t>
            </a:r>
          </a:p>
          <a:p>
            <a:pPr>
              <a:buFont typeface="+mj-lt"/>
              <a:buAutoNum type="arabicPeriod"/>
            </a:pPr>
            <a:r>
              <a:rPr lang="tr-TR" sz="4000" b="1"/>
              <a:t>Fiyat Kontrolü:</a:t>
            </a:r>
            <a:endParaRPr lang="tr-TR" sz="4000"/>
          </a:p>
          <a:p>
            <a:pPr marL="742950" lvl="1" indent="-285750">
              <a:buFont typeface="+mj-lt"/>
              <a:buAutoNum type="arabicPeriod"/>
            </a:pPr>
            <a:r>
              <a:rPr lang="tr-TR" sz="4000"/>
              <a:t>Arz ve talebe göre değil, devlet politikalarına göre fiyatlar belirlenir.</a:t>
            </a:r>
          </a:p>
          <a:p>
            <a:pPr>
              <a:buFont typeface="+mj-lt"/>
              <a:buAutoNum type="arabicPeriod"/>
            </a:pPr>
            <a:r>
              <a:rPr lang="tr-TR" sz="4000" b="1"/>
              <a:t>Rekabetin Olmaması:</a:t>
            </a:r>
            <a:endParaRPr lang="tr-TR" sz="4000"/>
          </a:p>
          <a:p>
            <a:pPr marL="742950" lvl="1" indent="-285750">
              <a:buFont typeface="+mj-lt"/>
              <a:buAutoNum type="arabicPeriod"/>
            </a:pPr>
            <a:r>
              <a:rPr lang="tr-TR" sz="4000"/>
              <a:t>Özel sektör yoktur veya çok sınırlıdır, devlet tüm ekonomik faaliyetleri yönetir.</a:t>
            </a:r>
          </a:p>
          <a:p>
            <a:endParaRPr lang="tr-TR"/>
          </a:p>
        </p:txBody>
      </p:sp>
    </p:spTree>
    <p:extLst>
      <p:ext uri="{BB962C8B-B14F-4D97-AF65-F5344CB8AC3E}">
        <p14:creationId xmlns:p14="http://schemas.microsoft.com/office/powerpoint/2010/main" val="2395015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E0FEA777-1A99-F20D-9443-EF409644A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4" name="Rectangle 31753">
            <a:extLst>
              <a:ext uri="{FF2B5EF4-FFF2-40B4-BE49-F238E27FC236}">
                <a16:creationId xmlns:a16="http://schemas.microsoft.com/office/drawing/2014/main" id="{D150D424-378A-5EAF-BEF3-AB85F9E35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0159" y="936478"/>
            <a:ext cx="10314136" cy="498228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1 Başlık">
            <a:extLst>
              <a:ext uri="{FF2B5EF4-FFF2-40B4-BE49-F238E27FC236}">
                <a16:creationId xmlns:a16="http://schemas.microsoft.com/office/drawing/2014/main" id="{F6A77DCD-FB0E-2327-97A7-1288BBF81231}"/>
              </a:ext>
            </a:extLst>
          </p:cNvPr>
          <p:cNvSpPr>
            <a:spLocks noGrp="1"/>
          </p:cNvSpPr>
          <p:nvPr>
            <p:ph type="title"/>
          </p:nvPr>
        </p:nvSpPr>
        <p:spPr>
          <a:xfrm>
            <a:off x="766915" y="1295399"/>
            <a:ext cx="8066842" cy="1126525"/>
          </a:xfrm>
        </p:spPr>
        <p:txBody>
          <a:bodyPr anchor="ctr">
            <a:normAutofit/>
          </a:bodyPr>
          <a:lstStyle/>
          <a:p>
            <a:r>
              <a:rPr lang="tr-TR" altLang="tr-TR"/>
              <a:t>         İKTİSADİ SİSTEMLER</a:t>
            </a:r>
          </a:p>
        </p:txBody>
      </p:sp>
      <p:sp>
        <p:nvSpPr>
          <p:cNvPr id="31747" name="2 İçerik Yer Tutucusu">
            <a:extLst>
              <a:ext uri="{FF2B5EF4-FFF2-40B4-BE49-F238E27FC236}">
                <a16:creationId xmlns:a16="http://schemas.microsoft.com/office/drawing/2014/main" id="{055AAA64-347C-0E66-5827-21189F17B8CC}"/>
              </a:ext>
            </a:extLst>
          </p:cNvPr>
          <p:cNvSpPr>
            <a:spLocks noGrp="1"/>
          </p:cNvSpPr>
          <p:nvPr>
            <p:ph idx="1"/>
          </p:nvPr>
        </p:nvSpPr>
        <p:spPr>
          <a:xfrm>
            <a:off x="1436914" y="2075543"/>
            <a:ext cx="9429560" cy="3429776"/>
          </a:xfrm>
        </p:spPr>
        <p:txBody>
          <a:bodyPr>
            <a:normAutofit fontScale="62500" lnSpcReduction="20000"/>
          </a:bodyPr>
          <a:lstStyle/>
          <a:p>
            <a:pPr eaLnBrk="1" hangingPunct="1">
              <a:lnSpc>
                <a:spcPct val="110000"/>
              </a:lnSpc>
              <a:buFont typeface="Wingdings" panose="05000000000000000000" pitchFamily="2" charset="2"/>
              <a:buNone/>
            </a:pPr>
            <a:endParaRPr lang="tr-TR" altLang="tr-TR" sz="900"/>
          </a:p>
          <a:p>
            <a:r>
              <a:rPr lang="tr-TR" b="1"/>
              <a:t>Karma Ekonomi Nedir?</a:t>
            </a:r>
          </a:p>
          <a:p>
            <a:r>
              <a:rPr lang="tr-TR"/>
              <a:t>Karma ekonomi, </a:t>
            </a:r>
            <a:r>
              <a:rPr lang="tr-TR" b="1"/>
              <a:t>serbest piyasa ekonomisi ile merkezi planlı ekonominin özelliklerini birleştiren ekonomik sistemdir</a:t>
            </a:r>
            <a:r>
              <a:rPr lang="tr-TR"/>
              <a:t>. Hem devlet hem de özel sektör ekonomik faaliyetlerde rol alır.</a:t>
            </a:r>
          </a:p>
          <a:p>
            <a:r>
              <a:rPr lang="tr-TR" b="1"/>
              <a:t>Temel Özellikleri:</a:t>
            </a:r>
          </a:p>
          <a:p>
            <a:pPr>
              <a:buFont typeface="+mj-lt"/>
              <a:buAutoNum type="arabicPeriod"/>
            </a:pPr>
            <a:r>
              <a:rPr lang="tr-TR" b="1"/>
              <a:t>Fiyat Mekanizmasına Dayalıdır:</a:t>
            </a:r>
            <a:endParaRPr lang="tr-TR"/>
          </a:p>
          <a:p>
            <a:pPr marL="742950" lvl="1" indent="-285750">
              <a:buFont typeface="+mj-lt"/>
              <a:buAutoNum type="arabicPeriod"/>
            </a:pPr>
            <a:r>
              <a:rPr lang="tr-TR"/>
              <a:t>Piyasada fiyatlar arz ve talep dengesiyle belirlenir, ancak devlet belirli alanlara müdahale edebilir.</a:t>
            </a:r>
          </a:p>
          <a:p>
            <a:pPr>
              <a:buFont typeface="+mj-lt"/>
              <a:buAutoNum type="arabicPeriod"/>
            </a:pPr>
            <a:r>
              <a:rPr lang="tr-TR" b="1"/>
              <a:t>Devletin Rolü:</a:t>
            </a:r>
            <a:endParaRPr lang="tr-TR"/>
          </a:p>
          <a:p>
            <a:pPr marL="742950" lvl="1" indent="-285750">
              <a:buFont typeface="+mj-lt"/>
              <a:buAutoNum type="arabicPeriod"/>
            </a:pPr>
            <a:r>
              <a:rPr lang="tr-TR" b="1"/>
              <a:t>Yönlendirici ve teşvik edici</a:t>
            </a:r>
            <a:r>
              <a:rPr lang="tr-TR"/>
              <a:t> bir konumda bulunur.</a:t>
            </a:r>
          </a:p>
          <a:p>
            <a:pPr marL="742950" lvl="1" indent="-285750">
              <a:buFont typeface="+mj-lt"/>
              <a:buAutoNum type="arabicPeriod"/>
            </a:pPr>
            <a:r>
              <a:rPr lang="tr-TR"/>
              <a:t>Hukuk ve düzeni sağlar.</a:t>
            </a:r>
          </a:p>
          <a:p>
            <a:pPr marL="742950" lvl="1" indent="-285750">
              <a:buFont typeface="+mj-lt"/>
              <a:buAutoNum type="arabicPeriod"/>
            </a:pPr>
            <a:r>
              <a:rPr lang="tr-TR" b="1"/>
              <a:t>Eğitim, sağlık, altyapı gibi temel hizmetleri sunar.</a:t>
            </a:r>
            <a:endParaRPr lang="tr-TR"/>
          </a:p>
          <a:p>
            <a:pPr>
              <a:buFont typeface="+mj-lt"/>
              <a:buAutoNum type="arabicPeriod"/>
            </a:pPr>
            <a:r>
              <a:rPr lang="tr-TR" b="1"/>
              <a:t>Özel ve Kamu Sektörü Birlikte Çalışır:</a:t>
            </a:r>
            <a:endParaRPr lang="tr-TR"/>
          </a:p>
          <a:p>
            <a:pPr marL="742950" lvl="1" indent="-285750">
              <a:buFont typeface="+mj-lt"/>
              <a:buAutoNum type="arabicPeriod"/>
            </a:pPr>
            <a:r>
              <a:rPr lang="tr-TR"/>
              <a:t>Özel sektör girişimciliği ve verimliliği artırırken, devlet kritik sektörlerde (savunma, enerji, ulaşım vb.) düzenleyici ve yatırımcı olabilir.</a:t>
            </a:r>
          </a:p>
          <a:p>
            <a:pPr>
              <a:lnSpc>
                <a:spcPct val="110000"/>
              </a:lnSpc>
              <a:buFont typeface="Wingdings" panose="05000000000000000000" pitchFamily="2" charset="2"/>
              <a:buNone/>
            </a:pPr>
            <a:endParaRPr lang="tr-TR" altLang="tr-TR"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2C09B57-E440-421F-666F-5662129D4B2B}"/>
            </a:ext>
          </a:extLst>
        </p:cNvPr>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60AB718D-36F2-C737-4049-7541A6FDB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4" name="Rectangle 31753">
            <a:extLst>
              <a:ext uri="{FF2B5EF4-FFF2-40B4-BE49-F238E27FC236}">
                <a16:creationId xmlns:a16="http://schemas.microsoft.com/office/drawing/2014/main" id="{6D564D93-DAD1-4BDF-43D6-73FDFF2CC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0159" y="936478"/>
            <a:ext cx="10314136" cy="498228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1 Başlık">
            <a:extLst>
              <a:ext uri="{FF2B5EF4-FFF2-40B4-BE49-F238E27FC236}">
                <a16:creationId xmlns:a16="http://schemas.microsoft.com/office/drawing/2014/main" id="{0960439D-624B-04F9-3818-573D5981CBEE}"/>
              </a:ext>
            </a:extLst>
          </p:cNvPr>
          <p:cNvSpPr>
            <a:spLocks noGrp="1"/>
          </p:cNvSpPr>
          <p:nvPr>
            <p:ph type="title"/>
          </p:nvPr>
        </p:nvSpPr>
        <p:spPr>
          <a:xfrm>
            <a:off x="766915" y="1295399"/>
            <a:ext cx="8066842" cy="1126525"/>
          </a:xfrm>
        </p:spPr>
        <p:txBody>
          <a:bodyPr anchor="ctr">
            <a:normAutofit/>
          </a:bodyPr>
          <a:lstStyle/>
          <a:p>
            <a:r>
              <a:rPr lang="tr-TR" altLang="tr-TR"/>
              <a:t>         İKTİSADİ SİSTEMLER</a:t>
            </a:r>
          </a:p>
        </p:txBody>
      </p:sp>
      <p:sp>
        <p:nvSpPr>
          <p:cNvPr id="31747" name="2 İçerik Yer Tutucusu">
            <a:extLst>
              <a:ext uri="{FF2B5EF4-FFF2-40B4-BE49-F238E27FC236}">
                <a16:creationId xmlns:a16="http://schemas.microsoft.com/office/drawing/2014/main" id="{DDE3C51A-774B-34C2-CFE1-A043B44EF5FC}"/>
              </a:ext>
            </a:extLst>
          </p:cNvPr>
          <p:cNvSpPr>
            <a:spLocks noGrp="1"/>
          </p:cNvSpPr>
          <p:nvPr>
            <p:ph idx="1"/>
          </p:nvPr>
        </p:nvSpPr>
        <p:spPr>
          <a:xfrm>
            <a:off x="1436914" y="2075543"/>
            <a:ext cx="8374351" cy="3429776"/>
          </a:xfrm>
        </p:spPr>
        <p:txBody>
          <a:bodyPr>
            <a:normAutofit fontScale="77500" lnSpcReduction="20000"/>
          </a:bodyPr>
          <a:lstStyle/>
          <a:p>
            <a:pPr eaLnBrk="1" hangingPunct="1">
              <a:lnSpc>
                <a:spcPct val="110000"/>
              </a:lnSpc>
              <a:buFont typeface="Wingdings" panose="05000000000000000000" pitchFamily="2" charset="2"/>
              <a:buNone/>
            </a:pPr>
            <a:endParaRPr lang="tr-TR" altLang="tr-TR" sz="900"/>
          </a:p>
          <a:p>
            <a:pPr marL="0" indent="0">
              <a:buNone/>
            </a:pPr>
            <a:r>
              <a:rPr lang="tr-TR" b="1"/>
              <a:t>Karma Ekonomi Nedir?</a:t>
            </a:r>
          </a:p>
          <a:p>
            <a:pPr marL="0" indent="0">
              <a:buNone/>
            </a:pPr>
            <a:r>
              <a:rPr lang="tr-TR" b="1"/>
              <a:t>4. Planlı Ekonomi ile Piyasayı Birleştirir:</a:t>
            </a:r>
            <a:endParaRPr lang="tr-TR"/>
          </a:p>
          <a:p>
            <a:pPr marL="742950" lvl="1" indent="-285750">
              <a:buFont typeface="+mj-lt"/>
              <a:buAutoNum type="arabicPeriod"/>
            </a:pPr>
            <a:r>
              <a:rPr lang="tr-TR" b="1"/>
              <a:t>Serbest piyasanın verimliliği ile devlet müdahalesinin istikrarını dengelemeye çalışır.</a:t>
            </a:r>
            <a:endParaRPr lang="tr-TR"/>
          </a:p>
          <a:p>
            <a:pPr marL="742950" lvl="1" indent="-285750">
              <a:buFont typeface="+mj-lt"/>
              <a:buAutoNum type="arabicPeriod"/>
            </a:pPr>
            <a:r>
              <a:rPr lang="tr-TR"/>
              <a:t>Devlet, ekonomide </a:t>
            </a:r>
            <a:r>
              <a:rPr lang="tr-TR" b="1"/>
              <a:t>aşırı dalgalanmaları</a:t>
            </a:r>
            <a:r>
              <a:rPr lang="tr-TR"/>
              <a:t> kontrol altında tutar.</a:t>
            </a:r>
          </a:p>
          <a:p>
            <a:pPr marL="0" indent="0">
              <a:buNone/>
            </a:pPr>
            <a:r>
              <a:rPr lang="tr-TR" b="1"/>
              <a:t>5. Tekel Oluşumları Engellenir:</a:t>
            </a:r>
            <a:endParaRPr lang="tr-TR"/>
          </a:p>
          <a:p>
            <a:pPr marL="742950" lvl="1" indent="-285750">
              <a:buFont typeface="+mj-lt"/>
              <a:buAutoNum type="arabicPeriod"/>
            </a:pPr>
            <a:r>
              <a:rPr lang="tr-TR"/>
              <a:t>Devlet, büyük şirketlerin piyasayı tamamen ele geçirmesini önlemek için </a:t>
            </a:r>
            <a:r>
              <a:rPr lang="tr-TR" b="1"/>
              <a:t>rekabet yasalarını uygular.</a:t>
            </a:r>
            <a:endParaRPr lang="tr-TR"/>
          </a:p>
          <a:p>
            <a:pPr marL="0" indent="0">
              <a:buNone/>
            </a:pPr>
            <a:r>
              <a:rPr lang="tr-TR" b="1"/>
              <a:t>6. Kısmi Korumacılık:</a:t>
            </a:r>
            <a:endParaRPr lang="tr-TR"/>
          </a:p>
          <a:p>
            <a:pPr marL="742950" lvl="1" indent="-285750">
              <a:buFont typeface="+mj-lt"/>
              <a:buAutoNum type="arabicPeriod"/>
            </a:pPr>
            <a:r>
              <a:rPr lang="tr-TR"/>
              <a:t>Ülkenin ekonomik çıkarlarını korumak için </a:t>
            </a:r>
            <a:r>
              <a:rPr lang="tr-TR" b="1"/>
              <a:t>gümrük vergileri, teşvikler, sübvansiyonlar</a:t>
            </a:r>
            <a:r>
              <a:rPr lang="tr-TR"/>
              <a:t> gibi araçlar kullanılır.</a:t>
            </a:r>
          </a:p>
          <a:p>
            <a:pPr marL="0" indent="0">
              <a:buNone/>
            </a:pPr>
            <a:r>
              <a:rPr lang="tr-TR" b="1"/>
              <a:t>7. Dışsallıklar Dikkate Alınır:</a:t>
            </a:r>
            <a:endParaRPr lang="tr-TR"/>
          </a:p>
          <a:p>
            <a:pPr marL="742950" lvl="1" indent="-285750">
              <a:buFont typeface="+mj-lt"/>
              <a:buAutoNum type="arabicPeriod"/>
            </a:pPr>
            <a:r>
              <a:rPr lang="tr-TR" b="1"/>
              <a:t>Çevre kirliliği, kamu sağlığı, sosyal refah gibi piyasanın dikkate almadığı faktörler devlet tarafından düzenlenir.</a:t>
            </a:r>
            <a:endParaRPr lang="tr-TR"/>
          </a:p>
          <a:p>
            <a:pPr>
              <a:lnSpc>
                <a:spcPct val="110000"/>
              </a:lnSpc>
              <a:buFont typeface="Wingdings" panose="05000000000000000000" pitchFamily="2" charset="2"/>
              <a:buNone/>
            </a:pPr>
            <a:endParaRPr lang="tr-TR" altLang="tr-TR" sz="900"/>
          </a:p>
        </p:txBody>
      </p:sp>
    </p:spTree>
    <p:extLst>
      <p:ext uri="{BB962C8B-B14F-4D97-AF65-F5344CB8AC3E}">
        <p14:creationId xmlns:p14="http://schemas.microsoft.com/office/powerpoint/2010/main" val="974693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914EF7-7E48-A0B9-17FE-8EC56492730F}"/>
            </a:ext>
          </a:extLst>
        </p:cNvPr>
        <p:cNvGrpSpPr/>
        <p:nvPr/>
      </p:nvGrpSpPr>
      <p:grpSpPr>
        <a:xfrm>
          <a:off x="0" y="0"/>
          <a:ext cx="0" cy="0"/>
          <a:chOff x="0" y="0"/>
          <a:chExt cx="0" cy="0"/>
        </a:xfrm>
      </p:grpSpPr>
      <p:sp useBgFill="1">
        <p:nvSpPr>
          <p:cNvPr id="31760" name="Rectangle 31759">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2" name="Rectangle 31761">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756" name="Picture 31755" descr="Hesap makinesi, kalem, pusula, para ve üzerinde grafik yazılı kağıt">
            <a:extLst>
              <a:ext uri="{FF2B5EF4-FFF2-40B4-BE49-F238E27FC236}">
                <a16:creationId xmlns:a16="http://schemas.microsoft.com/office/drawing/2014/main" id="{4A72D791-9CDC-C607-5C29-77F70533C78A}"/>
              </a:ext>
            </a:extLst>
          </p:cNvPr>
          <p:cNvPicPr>
            <a:picLocks noChangeAspect="1"/>
          </p:cNvPicPr>
          <p:nvPr/>
        </p:nvPicPr>
        <p:blipFill>
          <a:blip r:embed="rId2">
            <a:alphaModFix amt="50000"/>
          </a:blip>
          <a:srcRect l="31667" r="27443" b="-2"/>
          <a:stretch/>
        </p:blipFill>
        <p:spPr>
          <a:xfrm>
            <a:off x="20" y="-1"/>
            <a:ext cx="4654276" cy="6857999"/>
          </a:xfrm>
          <a:prstGeom prst="rect">
            <a:avLst/>
          </a:prstGeom>
        </p:spPr>
      </p:pic>
      <p:sp>
        <p:nvSpPr>
          <p:cNvPr id="31764" name="Freeform: Shape 31763">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746" name="1 Başlık">
            <a:extLst>
              <a:ext uri="{FF2B5EF4-FFF2-40B4-BE49-F238E27FC236}">
                <a16:creationId xmlns:a16="http://schemas.microsoft.com/office/drawing/2014/main" id="{1613C1CC-6AD7-0543-798E-3E5C293EA6D6}"/>
              </a:ext>
            </a:extLst>
          </p:cNvPr>
          <p:cNvSpPr>
            <a:spLocks noGrp="1"/>
          </p:cNvSpPr>
          <p:nvPr>
            <p:ph type="title"/>
          </p:nvPr>
        </p:nvSpPr>
        <p:spPr>
          <a:xfrm>
            <a:off x="738786" y="1319622"/>
            <a:ext cx="3481988" cy="1591492"/>
          </a:xfrm>
          <a:noFill/>
        </p:spPr>
        <p:txBody>
          <a:bodyPr>
            <a:normAutofit/>
          </a:bodyPr>
          <a:lstStyle/>
          <a:p>
            <a:r>
              <a:rPr lang="tr-TR" altLang="tr-TR">
                <a:solidFill>
                  <a:schemeClr val="accent1">
                    <a:lumMod val="60000"/>
                    <a:lumOff val="40000"/>
                  </a:schemeClr>
                </a:solidFill>
              </a:rPr>
              <a:t>         İKTİSADİ SİSTEMLER</a:t>
            </a:r>
          </a:p>
        </p:txBody>
      </p:sp>
      <p:sp>
        <p:nvSpPr>
          <p:cNvPr id="31747" name="2 İçerik Yer Tutucusu">
            <a:extLst>
              <a:ext uri="{FF2B5EF4-FFF2-40B4-BE49-F238E27FC236}">
                <a16:creationId xmlns:a16="http://schemas.microsoft.com/office/drawing/2014/main" id="{74CB2C6B-408E-E886-8BFB-7D9F255FF605}"/>
              </a:ext>
            </a:extLst>
          </p:cNvPr>
          <p:cNvSpPr>
            <a:spLocks noGrp="1"/>
          </p:cNvSpPr>
          <p:nvPr>
            <p:ph idx="1"/>
          </p:nvPr>
        </p:nvSpPr>
        <p:spPr>
          <a:xfrm>
            <a:off x="5562600" y="1495741"/>
            <a:ext cx="4988781" cy="3996716"/>
          </a:xfrm>
        </p:spPr>
        <p:txBody>
          <a:bodyPr>
            <a:normAutofit/>
          </a:bodyPr>
          <a:lstStyle/>
          <a:p>
            <a:pPr eaLnBrk="1" hangingPunct="1">
              <a:lnSpc>
                <a:spcPct val="110000"/>
              </a:lnSpc>
              <a:buFont typeface="Wingdings" panose="05000000000000000000" pitchFamily="2" charset="2"/>
              <a:buNone/>
            </a:pPr>
            <a:endParaRPr lang="tr-TR" altLang="tr-TR" sz="1300"/>
          </a:p>
          <a:p>
            <a:pPr>
              <a:lnSpc>
                <a:spcPct val="110000"/>
              </a:lnSpc>
            </a:pPr>
            <a:r>
              <a:rPr lang="tr-TR" sz="1300" b="1"/>
              <a:t>Türkiye’de Karma Ekonomi Örneği: DEVLETÇİLİK</a:t>
            </a:r>
          </a:p>
          <a:p>
            <a:pPr>
              <a:lnSpc>
                <a:spcPct val="110000"/>
              </a:lnSpc>
              <a:buFont typeface="Arial" panose="020B0604020202020204" pitchFamily="34" charset="0"/>
              <a:buChar char="•"/>
            </a:pPr>
            <a:r>
              <a:rPr lang="tr-TR" sz="1300" b="1"/>
              <a:t>1930’larda uygulanan devletçilik politikası</a:t>
            </a:r>
            <a:r>
              <a:rPr lang="tr-TR" sz="1300"/>
              <a:t>, Türkiye’de karma ekonominin ilk örneklerinden biridir.</a:t>
            </a:r>
          </a:p>
          <a:p>
            <a:pPr>
              <a:lnSpc>
                <a:spcPct val="110000"/>
              </a:lnSpc>
              <a:buFont typeface="Arial" panose="020B0604020202020204" pitchFamily="34" charset="0"/>
              <a:buChar char="•"/>
            </a:pPr>
            <a:r>
              <a:rPr lang="tr-TR" sz="1300"/>
              <a:t>Devlet, sanayileşmeyi hızlandırmak için fabrikalar kurmuş, ulaşım ve enerji sektörlerinde yatırımlar yapmıştır.</a:t>
            </a:r>
          </a:p>
          <a:p>
            <a:pPr>
              <a:lnSpc>
                <a:spcPct val="110000"/>
              </a:lnSpc>
              <a:buFont typeface="Arial" panose="020B0604020202020204" pitchFamily="34" charset="0"/>
              <a:buChar char="•"/>
            </a:pPr>
            <a:r>
              <a:rPr lang="tr-TR" sz="1300"/>
              <a:t>Günümüzde de devletin </a:t>
            </a:r>
            <a:r>
              <a:rPr lang="tr-TR" sz="1300" b="1"/>
              <a:t>BOTAŞ, TCDD, TÜBİTAK, THY gibi kamu kuruluşlarıyla ekonomik faaliyetlere katılımı sürmektedir.</a:t>
            </a:r>
            <a:endParaRPr lang="tr-TR" sz="1300"/>
          </a:p>
          <a:p>
            <a:pPr>
              <a:lnSpc>
                <a:spcPct val="110000"/>
              </a:lnSpc>
            </a:pPr>
            <a:r>
              <a:rPr lang="tr-TR" sz="1300" b="1"/>
              <a:t>Sonuç:</a:t>
            </a:r>
            <a:br>
              <a:rPr lang="tr-TR" sz="1300"/>
            </a:br>
            <a:r>
              <a:rPr lang="tr-TR" sz="1300"/>
              <a:t>Karma ekonomi, </a:t>
            </a:r>
            <a:r>
              <a:rPr lang="tr-TR" sz="1300" b="1"/>
              <a:t>kapitalizmin verimliliği ile sosyalizmin adalet anlayışını dengelemeye çalışan</a:t>
            </a:r>
            <a:r>
              <a:rPr lang="tr-TR" sz="1300"/>
              <a:t> bir sistemdir. Çoğu modern ekonomi, </a:t>
            </a:r>
            <a:r>
              <a:rPr lang="tr-TR" sz="1300" b="1"/>
              <a:t>ABD, Almanya, Fransa, Türkiye gibi ülkeler</a:t>
            </a:r>
            <a:r>
              <a:rPr lang="tr-TR" sz="1300"/>
              <a:t> karma ekonomi modelini benimsemiştir.</a:t>
            </a:r>
          </a:p>
          <a:p>
            <a:pPr>
              <a:lnSpc>
                <a:spcPct val="110000"/>
              </a:lnSpc>
              <a:buFont typeface="Wingdings" panose="05000000000000000000" pitchFamily="2" charset="2"/>
              <a:buNone/>
            </a:pPr>
            <a:endParaRPr lang="tr-TR" altLang="tr-TR" sz="1300"/>
          </a:p>
        </p:txBody>
      </p:sp>
    </p:spTree>
    <p:extLst>
      <p:ext uri="{BB962C8B-B14F-4D97-AF65-F5344CB8AC3E}">
        <p14:creationId xmlns:p14="http://schemas.microsoft.com/office/powerpoint/2010/main" val="508300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descr="Masanın üzerinde açık bir kitap ve bir kalem">
            <a:extLst>
              <a:ext uri="{FF2B5EF4-FFF2-40B4-BE49-F238E27FC236}">
                <a16:creationId xmlns:a16="http://schemas.microsoft.com/office/drawing/2014/main" id="{C431C4AA-0B08-7EE5-4BC8-AD7007E17F73}"/>
              </a:ext>
            </a:extLst>
          </p:cNvPr>
          <p:cNvPicPr>
            <a:picLocks noChangeAspect="1"/>
          </p:cNvPicPr>
          <p:nvPr/>
        </p:nvPicPr>
        <p:blipFill>
          <a:blip r:embed="rId3">
            <a:alphaModFix amt="50000"/>
          </a:blip>
          <a:srcRect l="35071" r="19798"/>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FB24F8F4-DD51-133C-A211-2060F5F93198}"/>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EKONOMİK MODEL</a:t>
            </a:r>
          </a:p>
        </p:txBody>
      </p:sp>
      <p:sp>
        <p:nvSpPr>
          <p:cNvPr id="3" name="İçerik Yer Tutucusu 2">
            <a:extLst>
              <a:ext uri="{FF2B5EF4-FFF2-40B4-BE49-F238E27FC236}">
                <a16:creationId xmlns:a16="http://schemas.microsoft.com/office/drawing/2014/main" id="{AF4CFC4B-CF4D-6AA9-19FE-7F60DBE53477}"/>
              </a:ext>
            </a:extLst>
          </p:cNvPr>
          <p:cNvSpPr>
            <a:spLocks noGrp="1"/>
          </p:cNvSpPr>
          <p:nvPr>
            <p:ph idx="1"/>
          </p:nvPr>
        </p:nvSpPr>
        <p:spPr>
          <a:xfrm>
            <a:off x="5562600" y="1495741"/>
            <a:ext cx="4988781" cy="3996716"/>
          </a:xfrm>
        </p:spPr>
        <p:txBody>
          <a:bodyPr>
            <a:normAutofit/>
          </a:bodyPr>
          <a:lstStyle/>
          <a:p>
            <a:r>
              <a:rPr lang="tr-TR"/>
              <a:t>İnsanoğlunun günlük hayatının sıradan ilişkileri ya da iktisadi dünyanın nasıl işlediği iktisadi modeller oluşturularak anlaşılabilir. Ekonomik model ekonomik değişkenlerin ve bu değişkenler arasındaki ilişkilerin çoğu zaman matematiksel ifadesidir. Ekonomik model aslında gerçek dünyadaki ilişkilerin daha basit bir şekilde tanımlanmasıdır. Eğer kurulan ekonomik modelin işleyişi ve sonuçları gerçek dünya ile uyumlu ise, o zaman o konuda bir ekonomik teori geliştirilebilir.</a:t>
            </a:r>
          </a:p>
        </p:txBody>
      </p:sp>
    </p:spTree>
    <p:extLst>
      <p:ext uri="{BB962C8B-B14F-4D97-AF65-F5344CB8AC3E}">
        <p14:creationId xmlns:p14="http://schemas.microsoft.com/office/powerpoint/2010/main" val="1792614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936887"/>
            <a:ext cx="5160067" cy="496861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E7DF6B7-A31E-24FA-DA95-0DA293303FD1}"/>
              </a:ext>
            </a:extLst>
          </p:cNvPr>
          <p:cNvSpPr>
            <a:spLocks noGrp="1"/>
          </p:cNvSpPr>
          <p:nvPr>
            <p:ph type="title"/>
          </p:nvPr>
        </p:nvSpPr>
        <p:spPr>
          <a:xfrm>
            <a:off x="914397" y="950441"/>
            <a:ext cx="3476578" cy="1801455"/>
          </a:xfrm>
          <a:noFill/>
        </p:spPr>
        <p:txBody>
          <a:bodyPr>
            <a:normAutofit/>
          </a:bodyPr>
          <a:lstStyle/>
          <a:p>
            <a:r>
              <a:rPr lang="tr-TR"/>
              <a:t>EKONOMİK MODEL</a:t>
            </a:r>
          </a:p>
        </p:txBody>
      </p:sp>
      <p:sp>
        <p:nvSpPr>
          <p:cNvPr id="3" name="İçerik Yer Tutucusu 2">
            <a:extLst>
              <a:ext uri="{FF2B5EF4-FFF2-40B4-BE49-F238E27FC236}">
                <a16:creationId xmlns:a16="http://schemas.microsoft.com/office/drawing/2014/main" id="{9A387050-E701-B6DC-088E-940A80EA4A15}"/>
              </a:ext>
            </a:extLst>
          </p:cNvPr>
          <p:cNvSpPr>
            <a:spLocks noGrp="1"/>
          </p:cNvSpPr>
          <p:nvPr>
            <p:ph idx="1"/>
          </p:nvPr>
        </p:nvSpPr>
        <p:spPr>
          <a:xfrm>
            <a:off x="914399" y="2890881"/>
            <a:ext cx="5082363" cy="3052719"/>
          </a:xfrm>
        </p:spPr>
        <p:txBody>
          <a:bodyPr>
            <a:normAutofit/>
          </a:bodyPr>
          <a:lstStyle/>
          <a:p>
            <a:pPr>
              <a:lnSpc>
                <a:spcPct val="110000"/>
              </a:lnSpc>
            </a:pPr>
            <a:r>
              <a:rPr lang="tr-TR" sz="1600"/>
              <a:t>Teori varsayım ve hipotezlerden oluşur. Hipotezler çeşitli varsayımlar altında modellenerek iktisadi olaylar ile ilgili sonuçlar çıkarılabilir. Aslında teoriler mantıksal ifadelerden başka bir şey değildir. Eğer hipotezler doğruysa, çıkarılan sonuçlarda doğru olacaktır. Örneğin, eğer tüm üniversite mezunları üniversite mezunu olmayanlardan daha fazla ücret alıyorsa ve Seda eğer üniversite mezunuysa o zaman Seda’nın üniversite mezunu olmayan birine göre daha fazla ücret alıyor olması gerekir.</a:t>
            </a:r>
          </a:p>
        </p:txBody>
      </p:sp>
      <p:pic>
        <p:nvPicPr>
          <p:cNvPr id="7" name="Graphic 6" descr="Sorular">
            <a:extLst>
              <a:ext uri="{FF2B5EF4-FFF2-40B4-BE49-F238E27FC236}">
                <a16:creationId xmlns:a16="http://schemas.microsoft.com/office/drawing/2014/main" id="{BBF19BAC-C802-1685-F2DD-64C0C2118F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9986" y="1606437"/>
            <a:ext cx="3646047" cy="3646047"/>
          </a:xfrm>
          <a:prstGeom prst="rect">
            <a:avLst/>
          </a:prstGeom>
        </p:spPr>
      </p:pic>
    </p:spTree>
    <p:extLst>
      <p:ext uri="{BB962C8B-B14F-4D97-AF65-F5344CB8AC3E}">
        <p14:creationId xmlns:p14="http://schemas.microsoft.com/office/powerpoint/2010/main" val="654580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559" name="Rectangle 2355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1" name="Rectangle 2356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4" name="Picture 2" descr="İktisadın Bilimselliği Ve Bilim Felsefesi Bağlamında Pozitif-Normatif  İktisat Ayrımı – Veysel Karagöl – İktisat ve Toplum Dergisi">
            <a:extLst>
              <a:ext uri="{FF2B5EF4-FFF2-40B4-BE49-F238E27FC236}">
                <a16:creationId xmlns:a16="http://schemas.microsoft.com/office/drawing/2014/main" id="{E7E84BA2-6965-0726-4E28-5D33DADF515B}"/>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l="46869" r="14108" b="-1"/>
          <a:stretch/>
        </p:blipFill>
        <p:spPr bwMode="auto">
          <a:xfrm>
            <a:off x="20" y="-1"/>
            <a:ext cx="4654276" cy="6857999"/>
          </a:xfrm>
          <a:prstGeom prst="rect">
            <a:avLst/>
          </a:prstGeom>
          <a:noFill/>
          <a:extLst>
            <a:ext uri="{909E8E84-426E-40DD-AFC4-6F175D3DCCD1}">
              <a14:hiddenFill xmlns:a14="http://schemas.microsoft.com/office/drawing/2010/main">
                <a:solidFill>
                  <a:srgbClr val="FFFFFF"/>
                </a:solidFill>
              </a14:hiddenFill>
            </a:ext>
          </a:extLst>
        </p:spPr>
      </p:pic>
      <p:sp>
        <p:nvSpPr>
          <p:cNvPr id="23563" name="Freeform: Shape 2356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159FF2A6-B76D-896A-EA74-8D337F550002}"/>
              </a:ext>
            </a:extLst>
          </p:cNvPr>
          <p:cNvSpPr>
            <a:spLocks noGrp="1"/>
          </p:cNvSpPr>
          <p:nvPr>
            <p:ph type="title"/>
          </p:nvPr>
        </p:nvSpPr>
        <p:spPr>
          <a:xfrm>
            <a:off x="738786" y="1319622"/>
            <a:ext cx="3481988" cy="1591492"/>
          </a:xfrm>
          <a:noFill/>
        </p:spPr>
        <p:txBody>
          <a:bodyPr>
            <a:normAutofit/>
          </a:bodyPr>
          <a:lstStyle/>
          <a:p>
            <a:pPr>
              <a:lnSpc>
                <a:spcPct val="110000"/>
              </a:lnSpc>
            </a:pPr>
            <a:r>
              <a:rPr lang="tr-TR">
                <a:solidFill>
                  <a:schemeClr val="accent1">
                    <a:lumMod val="60000"/>
                    <a:lumOff val="40000"/>
                  </a:schemeClr>
                </a:solidFill>
              </a:rPr>
              <a:t>Pozitif – Normatif İktisat</a:t>
            </a:r>
          </a:p>
        </p:txBody>
      </p:sp>
      <p:sp>
        <p:nvSpPr>
          <p:cNvPr id="3" name="İçerik Yer Tutucusu 2">
            <a:extLst>
              <a:ext uri="{FF2B5EF4-FFF2-40B4-BE49-F238E27FC236}">
                <a16:creationId xmlns:a16="http://schemas.microsoft.com/office/drawing/2014/main" id="{2C833CE3-98C0-193F-C871-ED6E90E5F11F}"/>
              </a:ext>
            </a:extLst>
          </p:cNvPr>
          <p:cNvSpPr>
            <a:spLocks noGrp="1"/>
          </p:cNvSpPr>
          <p:nvPr>
            <p:ph idx="1"/>
          </p:nvPr>
        </p:nvSpPr>
        <p:spPr>
          <a:xfrm>
            <a:off x="5562600" y="1495741"/>
            <a:ext cx="4988781" cy="3996716"/>
          </a:xfrm>
        </p:spPr>
        <p:txBody>
          <a:bodyPr>
            <a:normAutofit/>
          </a:bodyPr>
          <a:lstStyle/>
          <a:p>
            <a:pPr>
              <a:lnSpc>
                <a:spcPct val="110000"/>
              </a:lnSpc>
            </a:pPr>
            <a:r>
              <a:rPr lang="tr-TR" sz="1700"/>
              <a:t>Gazetelerde yazılarını okuyup, televizyonlarda izlediğiniz iktisatçıların hemen hemen hepsinin farklı görüşlere sahip olduklarına hepimiz şahit olmuşuzdur. Bu bir sosyal bilim ve politika aracı olarak iktisadın pozitif ve normatif özelliğinden kaynaklanmaktadır. Pozitif iktisat bir iktisadi olayın ne olduğu, normatif iktisat ise ne olması gerektiği ile ilgilidir. Pozitif iktisat mevcut durumu açıklayan iktisattır. Örneğin “Türkiye’nin 2024 yılı dış ticaret açığı yüksektir” ifadesi bir pozitif iktisat ifadesidir. Bu ifadenin doğru olup olmadığını dış ticaret verilerine bakarak test edebiliriz. Bu ifadenin içerisinde herhangi bir değer yargısı yoktur.</a:t>
            </a:r>
          </a:p>
        </p:txBody>
      </p:sp>
    </p:spTree>
    <p:extLst>
      <p:ext uri="{BB962C8B-B14F-4D97-AF65-F5344CB8AC3E}">
        <p14:creationId xmlns:p14="http://schemas.microsoft.com/office/powerpoint/2010/main" val="1088300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72BC81-9072-6B1E-B061-5D3590D725C5}"/>
            </a:ext>
          </a:extLst>
        </p:cNvPr>
        <p:cNvGrpSpPr/>
        <p:nvPr/>
      </p:nvGrpSpPr>
      <p:grpSpPr>
        <a:xfrm>
          <a:off x="0" y="0"/>
          <a:ext cx="0" cy="0"/>
          <a:chOff x="0" y="0"/>
          <a:chExt cx="0" cy="0"/>
        </a:xfrm>
      </p:grpSpPr>
      <p:sp useBgFill="1">
        <p:nvSpPr>
          <p:cNvPr id="24583" name="Rectangle 24582">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5" name="Rectangle 24584">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78" name="Picture 2" descr="POZİTİF-NORMATİF İKTİSAT | Yaşar Alibekiroğlu">
            <a:extLst>
              <a:ext uri="{FF2B5EF4-FFF2-40B4-BE49-F238E27FC236}">
                <a16:creationId xmlns:a16="http://schemas.microsoft.com/office/drawing/2014/main" id="{2E80585C-D568-47E8-8EFB-97659BAA9283}"/>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l="20417" r="34281" b="-2"/>
          <a:stretch/>
        </p:blipFill>
        <p:spPr bwMode="auto">
          <a:xfrm>
            <a:off x="20" y="-1"/>
            <a:ext cx="4654276" cy="6857999"/>
          </a:xfrm>
          <a:prstGeom prst="rect">
            <a:avLst/>
          </a:prstGeom>
          <a:noFill/>
          <a:extLst>
            <a:ext uri="{909E8E84-426E-40DD-AFC4-6F175D3DCCD1}">
              <a14:hiddenFill xmlns:a14="http://schemas.microsoft.com/office/drawing/2010/main">
                <a:solidFill>
                  <a:srgbClr val="FFFFFF"/>
                </a:solidFill>
              </a14:hiddenFill>
            </a:ext>
          </a:extLst>
        </p:spPr>
      </p:pic>
      <p:sp>
        <p:nvSpPr>
          <p:cNvPr id="24587" name="Freeform: Shape 24586">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DBABB111-6AA7-C0DC-0F17-42D425E1EC57}"/>
              </a:ext>
            </a:extLst>
          </p:cNvPr>
          <p:cNvSpPr>
            <a:spLocks noGrp="1"/>
          </p:cNvSpPr>
          <p:nvPr>
            <p:ph type="title"/>
          </p:nvPr>
        </p:nvSpPr>
        <p:spPr>
          <a:xfrm>
            <a:off x="738786" y="1319622"/>
            <a:ext cx="3481988" cy="1591492"/>
          </a:xfrm>
          <a:noFill/>
        </p:spPr>
        <p:txBody>
          <a:bodyPr>
            <a:normAutofit/>
          </a:bodyPr>
          <a:lstStyle/>
          <a:p>
            <a:pPr>
              <a:lnSpc>
                <a:spcPct val="110000"/>
              </a:lnSpc>
            </a:pPr>
            <a:r>
              <a:rPr lang="tr-TR">
                <a:solidFill>
                  <a:schemeClr val="accent1">
                    <a:lumMod val="60000"/>
                    <a:lumOff val="40000"/>
                  </a:schemeClr>
                </a:solidFill>
              </a:rPr>
              <a:t>Pozitif – Normatif İktisat</a:t>
            </a:r>
          </a:p>
        </p:txBody>
      </p:sp>
      <p:sp>
        <p:nvSpPr>
          <p:cNvPr id="3" name="İçerik Yer Tutucusu 2">
            <a:extLst>
              <a:ext uri="{FF2B5EF4-FFF2-40B4-BE49-F238E27FC236}">
                <a16:creationId xmlns:a16="http://schemas.microsoft.com/office/drawing/2014/main" id="{3B7F9A7E-AFA0-D3BB-0640-3E5BFDBFFA1C}"/>
              </a:ext>
            </a:extLst>
          </p:cNvPr>
          <p:cNvSpPr>
            <a:spLocks noGrp="1"/>
          </p:cNvSpPr>
          <p:nvPr>
            <p:ph idx="1"/>
          </p:nvPr>
        </p:nvSpPr>
        <p:spPr>
          <a:xfrm>
            <a:off x="5562600" y="1495741"/>
            <a:ext cx="4988781" cy="3996716"/>
          </a:xfrm>
        </p:spPr>
        <p:txBody>
          <a:bodyPr>
            <a:normAutofit/>
          </a:bodyPr>
          <a:lstStyle/>
          <a:p>
            <a:r>
              <a:rPr lang="tr-TR" sz="1700"/>
              <a:t>Normatif iktisat ise daha çok görüş ve değer yargıları içerir. “Türkiye’nin dış ticaret açığı azaltmak için bazı ithal mallar Türkiye’de üretilmelidir” ifadesi ise bir normatif ifadedir. Zira bu öneriye herkes katılmayabilir. Veya dış ticaret açığı başka önlemlerle de azaltılabilir. Normatif bir ifadeyi doğrudan test etmek mümkün olmayabilir. Her ne kadar pozitif ve normatif iktisat birbirinden ayrılsa da, normatif iktisadı belirleyen kişisel görüş ve inançlarla birlikte pozitif iktisadın olgularıdır. O yüzden iktisatçılar daha çok pozitif iktisadın neden ve sonuçları ile ilgilenirler. </a:t>
            </a:r>
          </a:p>
        </p:txBody>
      </p:sp>
    </p:spTree>
    <p:extLst>
      <p:ext uri="{BB962C8B-B14F-4D97-AF65-F5344CB8AC3E}">
        <p14:creationId xmlns:p14="http://schemas.microsoft.com/office/powerpoint/2010/main" val="262632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607" name="Rectangle 25606">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9" name="Rectangle 25608">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936887"/>
            <a:ext cx="5160067" cy="496861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FE9C7A9-AF0B-A13A-1A43-C3CB1144B010}"/>
              </a:ext>
            </a:extLst>
          </p:cNvPr>
          <p:cNvSpPr>
            <a:spLocks noGrp="1"/>
          </p:cNvSpPr>
          <p:nvPr>
            <p:ph type="title"/>
          </p:nvPr>
        </p:nvSpPr>
        <p:spPr>
          <a:xfrm>
            <a:off x="914397" y="950441"/>
            <a:ext cx="3476578" cy="1801455"/>
          </a:xfrm>
          <a:noFill/>
        </p:spPr>
        <p:txBody>
          <a:bodyPr>
            <a:normAutofit/>
          </a:bodyPr>
          <a:lstStyle/>
          <a:p>
            <a:r>
              <a:rPr lang="tr-TR"/>
              <a:t>Mikroiktisat – Makroiktisat</a:t>
            </a:r>
          </a:p>
        </p:txBody>
      </p:sp>
      <p:sp>
        <p:nvSpPr>
          <p:cNvPr id="3" name="İçerik Yer Tutucusu 2">
            <a:extLst>
              <a:ext uri="{FF2B5EF4-FFF2-40B4-BE49-F238E27FC236}">
                <a16:creationId xmlns:a16="http://schemas.microsoft.com/office/drawing/2014/main" id="{35B2819E-B7D2-FA59-5431-14CC63423438}"/>
              </a:ext>
            </a:extLst>
          </p:cNvPr>
          <p:cNvSpPr>
            <a:spLocks noGrp="1"/>
          </p:cNvSpPr>
          <p:nvPr>
            <p:ph idx="1"/>
          </p:nvPr>
        </p:nvSpPr>
        <p:spPr>
          <a:xfrm>
            <a:off x="914399" y="2890881"/>
            <a:ext cx="4521567" cy="3052719"/>
          </a:xfrm>
        </p:spPr>
        <p:txBody>
          <a:bodyPr>
            <a:normAutofit/>
          </a:bodyPr>
          <a:lstStyle/>
          <a:p>
            <a:pPr>
              <a:lnSpc>
                <a:spcPct val="110000"/>
              </a:lnSpc>
            </a:pPr>
            <a:r>
              <a:rPr lang="tr-TR" sz="1200"/>
              <a:t>Her ne kadar kendi içerisinde çok farklı alt bilim dallarına ayrılsa da, iktisat en temel olarak mikro ve makro iktisat olmak üzere iki ana bilim dalına ayrılır. Mikro iktisat bireylerin yani tüketicilerin ve irmaların davranışlarını ve bu iki grubun karşılıklı etkileşimini inceler. Bir mal ya da hizmetin fiyatı ve ne kadar arz edileceğinin belirlenmesi ya da bir bireyin çalışma boş zaman tercihi, firmanın faaliyetleri ile ilgili aldığı kararlar mikro iktisadın konuları arasındadır. Makro iktisat ise ulusal ya da küresel iktisadi olay ve değişkenleri inceler. Bir ekonomideki enflasyon, işsizlik, dış ticaret, döviz kurları, uluslararası sermaye hareketleri vb. konular ise makro iktisadın inceleme alanına girmektedir. Her ne kadar mikro ve makro iktisat farklı konuları inceliyor olsa da, iktisadi birçok problemin hem mikro hem de makro dinamiklere sahip olduğu unutulmamalıdır. </a:t>
            </a:r>
          </a:p>
        </p:txBody>
      </p:sp>
      <p:pic>
        <p:nvPicPr>
          <p:cNvPr id="25602" name="Picture 2" descr="Microeconomics vs. Macroeconomics - Concept, Difference, Micro &amp; Macro  Economic Interdependence.">
            <a:extLst>
              <a:ext uri="{FF2B5EF4-FFF2-40B4-BE49-F238E27FC236}">
                <a16:creationId xmlns:a16="http://schemas.microsoft.com/office/drawing/2014/main" id="{55E0A2A4-C37A-7015-314C-FD15D27ABBA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26912" y="1606437"/>
            <a:ext cx="5269122" cy="2963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870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631" name="Rectangle 26630">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3" name="Rectangle 26632">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936887"/>
            <a:ext cx="5160067" cy="496861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F22FF62-FBE4-00CC-3067-E74A63FC5E70}"/>
              </a:ext>
            </a:extLst>
          </p:cNvPr>
          <p:cNvSpPr>
            <a:spLocks noGrp="1"/>
          </p:cNvSpPr>
          <p:nvPr>
            <p:ph type="title"/>
          </p:nvPr>
        </p:nvSpPr>
        <p:spPr>
          <a:xfrm>
            <a:off x="914397" y="950441"/>
            <a:ext cx="3476578" cy="1801455"/>
          </a:xfrm>
          <a:noFill/>
        </p:spPr>
        <p:txBody>
          <a:bodyPr>
            <a:normAutofit/>
          </a:bodyPr>
          <a:lstStyle/>
          <a:p>
            <a:r>
              <a:rPr lang="tr-TR"/>
              <a:t>Piyasalar</a:t>
            </a:r>
          </a:p>
        </p:txBody>
      </p:sp>
      <p:sp>
        <p:nvSpPr>
          <p:cNvPr id="3" name="İçerik Yer Tutucusu 2">
            <a:extLst>
              <a:ext uri="{FF2B5EF4-FFF2-40B4-BE49-F238E27FC236}">
                <a16:creationId xmlns:a16="http://schemas.microsoft.com/office/drawing/2014/main" id="{8C64B3F8-4214-7ECF-FDFA-35D8967DCD63}"/>
              </a:ext>
            </a:extLst>
          </p:cNvPr>
          <p:cNvSpPr>
            <a:spLocks noGrp="1"/>
          </p:cNvSpPr>
          <p:nvPr>
            <p:ph idx="1"/>
          </p:nvPr>
        </p:nvSpPr>
        <p:spPr>
          <a:xfrm>
            <a:off x="914399" y="2890881"/>
            <a:ext cx="4521567" cy="3052719"/>
          </a:xfrm>
        </p:spPr>
        <p:txBody>
          <a:bodyPr>
            <a:normAutofit lnSpcReduction="10000"/>
          </a:bodyPr>
          <a:lstStyle/>
          <a:p>
            <a:pPr>
              <a:lnSpc>
                <a:spcPct val="110000"/>
              </a:lnSpc>
            </a:pPr>
            <a:r>
              <a:rPr lang="tr-TR" sz="1200"/>
              <a:t>Günlük kullanımda piyasa ile belli bir mal ya da hizmetin alınıp satıldığı yer kastedilir. Otomobil piyasası, altın piyasası, balık piyasası bunlara örnek gösterilebilir. İktisatta kullanılan piyasanın çok daha geniş bir anlamı vardır. Bu anlamda piyasa, bir iktisadi malın alıcı ve satıcılarının bir araya geldiği yer olarak tanımlanabilir. Alıcı ve satıcıların bir araya geldiği yerin sebze hali gibi fiziksel bir mekan olması gerekmemektedir. Örneğin İstanbul Menkul Kıymetler Piyasası’nda (İMKB) hisse senedi alıcı ve satıcıları fiziksel olarak bir araya gelmek zorunda değillerdir. İşlemler internet üzerinden ya da telefonla işlemler yapılabilir. Piyasalar mal ve faktör piyasaları olmak üzere ikiye ayrılırlar. Mal ve hizmetlerin alınıp satıldığı piyasalara mal piyasaları, emek ve sermaye gibi üretim faktörlerinin alınıp satıldığı piyasalar ise faktör piyasaları denir. Piyasaların en önemli fonksiyonu karar alıcıların kararlanın koordinasyonunu sağlamasıdır.</a:t>
            </a:r>
          </a:p>
        </p:txBody>
      </p:sp>
      <p:pic>
        <p:nvPicPr>
          <p:cNvPr id="26626" name="Picture 2" descr="Küresel piyasalar, ABD'nin enflasyon politikaları ve FOMC tutanaklarına  odaklandı - EKOTÜRK">
            <a:extLst>
              <a:ext uri="{FF2B5EF4-FFF2-40B4-BE49-F238E27FC236}">
                <a16:creationId xmlns:a16="http://schemas.microsoft.com/office/drawing/2014/main" id="{184420B1-2DDD-DB00-35D2-981B76478B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26912" y="1606437"/>
            <a:ext cx="5269122" cy="2950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23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üyüyen bitki">
            <a:extLst>
              <a:ext uri="{FF2B5EF4-FFF2-40B4-BE49-F238E27FC236}">
                <a16:creationId xmlns:a16="http://schemas.microsoft.com/office/drawing/2014/main" id="{73F956E6-DB05-E856-E93F-40DC7AA9EDB5}"/>
              </a:ext>
            </a:extLst>
          </p:cNvPr>
          <p:cNvPicPr>
            <a:picLocks noChangeAspect="1"/>
          </p:cNvPicPr>
          <p:nvPr/>
        </p:nvPicPr>
        <p:blipFill>
          <a:blip r:embed="rId3">
            <a:alphaModFix amt="50000"/>
          </a:blip>
          <a:srcRect l="28258" r="26440"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850D5BC5-F6B4-E3E8-D252-C508B7137316}"/>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KITLIK VE TERCİH</a:t>
            </a:r>
          </a:p>
        </p:txBody>
      </p:sp>
      <p:sp>
        <p:nvSpPr>
          <p:cNvPr id="3" name="İçerik Yer Tutucusu 2">
            <a:extLst>
              <a:ext uri="{FF2B5EF4-FFF2-40B4-BE49-F238E27FC236}">
                <a16:creationId xmlns:a16="http://schemas.microsoft.com/office/drawing/2014/main" id="{7F4935C4-6EB9-5AFF-2564-ED74C87B08C4}"/>
              </a:ext>
            </a:extLst>
          </p:cNvPr>
          <p:cNvSpPr>
            <a:spLocks noGrp="1"/>
          </p:cNvSpPr>
          <p:nvPr>
            <p:ph idx="1"/>
          </p:nvPr>
        </p:nvSpPr>
        <p:spPr>
          <a:xfrm>
            <a:off x="5562600" y="1495741"/>
            <a:ext cx="4988781" cy="3996716"/>
          </a:xfrm>
        </p:spPr>
        <p:txBody>
          <a:bodyPr>
            <a:normAutofit/>
          </a:bodyPr>
          <a:lstStyle/>
          <a:p>
            <a:pPr>
              <a:lnSpc>
                <a:spcPct val="110000"/>
              </a:lnSpc>
            </a:pPr>
            <a:r>
              <a:rPr lang="tr-TR" sz="1500"/>
              <a:t>Ekonomik sorunlar isteklerin (ihtiyaçların) sahip olduklarımızdan (kaynaklardan) daha fazla olmasından kaynaklanmaktadır. İhtiyaçların kaynaklardan fazla olması durumuna iktisatta “kıtlık” diyoruz. Kıtlık için tüm iktisadi problemlerin merkezidir dersek yanılmış olmayız. Kıtlık herkesin karşı karşıya kalabileceği bir durumdur. İktisatta kıtlık mutlaka su, ekmek gibi temel ihtiyaçlardan mahrum olmak anlamına gelmez. Yani 1 liralık bir dondurma almak isteyen fakat cebinde 50 kuruşu olan bir çocuğun karşı karşıya kaldığı durum da, Kanarya Adaları’nda tatil yapmak isteyen fakat bu tatile gitmesini sağlayacak kadar parası olmayan orta gelir düzeyine sahip bir devlet memurunun karşı karşıya kaldığı durum da kıtlık olarak tanımlanabilir.</a:t>
            </a:r>
          </a:p>
        </p:txBody>
      </p:sp>
    </p:spTree>
    <p:extLst>
      <p:ext uri="{BB962C8B-B14F-4D97-AF65-F5344CB8AC3E}">
        <p14:creationId xmlns:p14="http://schemas.microsoft.com/office/powerpoint/2010/main" val="24382794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655" name="Rectangle 27654">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7" name="Rectangle 27656">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2436" y="936887"/>
            <a:ext cx="3733630" cy="4337163"/>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7CEF9A0-CB9D-E7BA-5A33-88417169957C}"/>
              </a:ext>
            </a:extLst>
          </p:cNvPr>
          <p:cNvSpPr>
            <a:spLocks noGrp="1"/>
          </p:cNvSpPr>
          <p:nvPr>
            <p:ph type="title"/>
          </p:nvPr>
        </p:nvSpPr>
        <p:spPr>
          <a:xfrm>
            <a:off x="914397" y="965110"/>
            <a:ext cx="4735964" cy="1771535"/>
          </a:xfrm>
          <a:noFill/>
        </p:spPr>
        <p:txBody>
          <a:bodyPr>
            <a:normAutofit/>
          </a:bodyPr>
          <a:lstStyle/>
          <a:p>
            <a:r>
              <a:rPr lang="tr-TR"/>
              <a:t>KITLIK VE TERCİH</a:t>
            </a:r>
          </a:p>
        </p:txBody>
      </p:sp>
      <p:sp>
        <p:nvSpPr>
          <p:cNvPr id="3" name="İçerik Yer Tutucusu 2">
            <a:extLst>
              <a:ext uri="{FF2B5EF4-FFF2-40B4-BE49-F238E27FC236}">
                <a16:creationId xmlns:a16="http://schemas.microsoft.com/office/drawing/2014/main" id="{9232DACD-F101-6BD2-250B-8DB2C8FA3910}"/>
              </a:ext>
            </a:extLst>
          </p:cNvPr>
          <p:cNvSpPr>
            <a:spLocks noGrp="1"/>
          </p:cNvSpPr>
          <p:nvPr>
            <p:ph idx="1"/>
          </p:nvPr>
        </p:nvSpPr>
        <p:spPr>
          <a:xfrm>
            <a:off x="914400" y="2890881"/>
            <a:ext cx="4679206" cy="3052719"/>
          </a:xfrm>
        </p:spPr>
        <p:txBody>
          <a:bodyPr>
            <a:normAutofit/>
          </a:bodyPr>
          <a:lstStyle/>
          <a:p>
            <a:pPr>
              <a:lnSpc>
                <a:spcPct val="110000"/>
              </a:lnSpc>
            </a:pPr>
            <a:r>
              <a:rPr lang="tr-TR" sz="1400"/>
              <a:t>İnsan ihtiyaçlarının giderilmesinde kullanılan ve çoğu zaman ihtiyaç duyulan miktardan daha az bulunan ve dolayısıyla iktisadın inceleme alanına giren mallara iktisadi mallar diyoruz. Burada mal ile kastedilen sadece otomobil, buzdolabı, ekmek gibi elle tutulabilen mallar değildir. İnsan ihtiyaçlarının giderilmesinde en az onlar kadar önemli olan kuaför, ulaşım, eğitim, sağlık, güvenlik gibi kullanıldığından insanlara fayda sağlayan hizmetler de iktisadi mallar arasında yer almaktadır. Her ikisinin de ortak özelliği tüketimi ya da kullanımı ile bireylere fayda sağlamalarıdır.</a:t>
            </a:r>
          </a:p>
        </p:txBody>
      </p:sp>
      <p:pic>
        <p:nvPicPr>
          <p:cNvPr id="27650" name="Picture 2" descr="Kıtlık ve Tercih » Bilgiustam">
            <a:extLst>
              <a:ext uri="{FF2B5EF4-FFF2-40B4-BE49-F238E27FC236}">
                <a16:creationId xmlns:a16="http://schemas.microsoft.com/office/drawing/2014/main" id="{0BB80F94-0FCC-86A5-FE9F-2ACC2E639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0816" r="6905" b="-1"/>
          <a:stretch/>
        </p:blipFill>
        <p:spPr bwMode="auto">
          <a:xfrm>
            <a:off x="6817011" y="1606437"/>
            <a:ext cx="3779022" cy="433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318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1" name="Rectangle 28680">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936887"/>
            <a:ext cx="5160067" cy="496861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462B12D-7369-38A3-C69A-62CC060FB76D}"/>
              </a:ext>
            </a:extLst>
          </p:cNvPr>
          <p:cNvSpPr>
            <a:spLocks noGrp="1"/>
          </p:cNvSpPr>
          <p:nvPr>
            <p:ph type="title"/>
          </p:nvPr>
        </p:nvSpPr>
        <p:spPr>
          <a:xfrm>
            <a:off x="914397" y="950441"/>
            <a:ext cx="3476578" cy="1801455"/>
          </a:xfrm>
          <a:noFill/>
        </p:spPr>
        <p:txBody>
          <a:bodyPr>
            <a:normAutofit/>
          </a:bodyPr>
          <a:lstStyle/>
          <a:p>
            <a:r>
              <a:rPr lang="tr-TR"/>
              <a:t>Rasyonel Davranış</a:t>
            </a:r>
          </a:p>
        </p:txBody>
      </p:sp>
      <p:sp>
        <p:nvSpPr>
          <p:cNvPr id="3" name="İçerik Yer Tutucusu 2">
            <a:extLst>
              <a:ext uri="{FF2B5EF4-FFF2-40B4-BE49-F238E27FC236}">
                <a16:creationId xmlns:a16="http://schemas.microsoft.com/office/drawing/2014/main" id="{2D87FC72-D48F-B078-FD18-4C64B01931D0}"/>
              </a:ext>
            </a:extLst>
          </p:cNvPr>
          <p:cNvSpPr>
            <a:spLocks noGrp="1"/>
          </p:cNvSpPr>
          <p:nvPr>
            <p:ph idx="1"/>
          </p:nvPr>
        </p:nvSpPr>
        <p:spPr>
          <a:xfrm>
            <a:off x="914399" y="2890881"/>
            <a:ext cx="4245665" cy="3052719"/>
          </a:xfrm>
        </p:spPr>
        <p:txBody>
          <a:bodyPr>
            <a:normAutofit/>
          </a:bodyPr>
          <a:lstStyle/>
          <a:p>
            <a:pPr>
              <a:lnSpc>
                <a:spcPct val="110000"/>
              </a:lnSpc>
            </a:pPr>
            <a:r>
              <a:rPr lang="tr-TR" sz="1500"/>
              <a:t>Kaynakların kıtken ihtiyaçların sonsuz olması çoğu zaman alternatifler arasında bir seçim yapmayı yani bir karar almayı gerektirir. Peki, insanlar nasıl karar alırlar? İktisat biliminde insanların karar alırlarken rasyonel davrandıklarını varsayarız. Kendi çıkarının peşinde koşan iktisadi insanın (homo economicus) en önemli özelliği rasyonel (akılcı) davranış sergilemesidir. </a:t>
            </a:r>
          </a:p>
        </p:txBody>
      </p:sp>
      <p:pic>
        <p:nvPicPr>
          <p:cNvPr id="28674" name="Picture 2" descr="Duyguların Rasyonel İktisadi Kararlarımız Üzerindeki Etkisi | İslam İktisadı">
            <a:extLst>
              <a:ext uri="{FF2B5EF4-FFF2-40B4-BE49-F238E27FC236}">
                <a16:creationId xmlns:a16="http://schemas.microsoft.com/office/drawing/2014/main" id="{7E7B20DA-5303-8993-A788-A053F9CBAB2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26912" y="1606437"/>
            <a:ext cx="5269122" cy="2146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371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6CBFA15-77CE-9953-B4B0-B5E29546DF83}"/>
              </a:ext>
            </a:extLst>
          </p:cNvPr>
          <p:cNvSpPr>
            <a:spLocks noGrp="1"/>
          </p:cNvSpPr>
          <p:nvPr>
            <p:ph type="title"/>
          </p:nvPr>
        </p:nvSpPr>
        <p:spPr>
          <a:xfrm>
            <a:off x="914397" y="965110"/>
            <a:ext cx="4328163" cy="1771535"/>
          </a:xfrm>
          <a:noFill/>
        </p:spPr>
        <p:txBody>
          <a:bodyPr>
            <a:normAutofit/>
          </a:bodyPr>
          <a:lstStyle/>
          <a:p>
            <a:r>
              <a:rPr lang="tr-TR"/>
              <a:t>Fırsat Maliyeti - Parasal Maliyet</a:t>
            </a:r>
          </a:p>
        </p:txBody>
      </p:sp>
      <p:sp>
        <p:nvSpPr>
          <p:cNvPr id="3" name="İçerik Yer Tutucusu 2">
            <a:extLst>
              <a:ext uri="{FF2B5EF4-FFF2-40B4-BE49-F238E27FC236}">
                <a16:creationId xmlns:a16="http://schemas.microsoft.com/office/drawing/2014/main" id="{688FAC93-C9E1-0C33-9DE0-2CD94452B6A1}"/>
              </a:ext>
            </a:extLst>
          </p:cNvPr>
          <p:cNvSpPr>
            <a:spLocks noGrp="1"/>
          </p:cNvSpPr>
          <p:nvPr>
            <p:ph idx="1"/>
          </p:nvPr>
        </p:nvSpPr>
        <p:spPr>
          <a:xfrm>
            <a:off x="1368169" y="2890881"/>
            <a:ext cx="4171393" cy="3052719"/>
          </a:xfrm>
        </p:spPr>
        <p:txBody>
          <a:bodyPr>
            <a:normAutofit/>
          </a:bodyPr>
          <a:lstStyle/>
          <a:p>
            <a:pPr>
              <a:lnSpc>
                <a:spcPct val="110000"/>
              </a:lnSpc>
            </a:pPr>
            <a:r>
              <a:rPr lang="tr-TR" sz="1500"/>
              <a:t>Fırsat Maliyeti: Bir tercihte bulunurken vazgeçilen en iyi alternatifin maliyetidir. Başka bir deyişle, bir seçimin getirdiği en büyük fedakarlıktır. Örneğin, üniversiteye gitmeyi seçtiğinizde, çalışarak kazanabileceğiniz maaştan vazgeçmiş olursunuz. İşte bu, eğitimin fırsat maliyetidir.</a:t>
            </a:r>
          </a:p>
          <a:p>
            <a:pPr>
              <a:lnSpc>
                <a:spcPct val="110000"/>
              </a:lnSpc>
            </a:pPr>
            <a:r>
              <a:rPr lang="tr-TR" sz="1500"/>
              <a:t>Parasal Maliyet: Bir mal veya hizmeti elde etmek için doğrudan ödenen para miktarıdır. Örneğin, bir sinema bileti almak için ödediğiniz ücret parasal maliyettir.</a:t>
            </a:r>
          </a:p>
        </p:txBody>
      </p:sp>
      <p:sp>
        <p:nvSpPr>
          <p:cNvPr id="1035" name="Rectangle 1034">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5243" y="936887"/>
            <a:ext cx="4490823" cy="4337163"/>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Fırsat maliyeti nedir? | Ekonomi 101">
            <a:extLst>
              <a:ext uri="{FF2B5EF4-FFF2-40B4-BE49-F238E27FC236}">
                <a16:creationId xmlns:a16="http://schemas.microsoft.com/office/drawing/2014/main" id="{F8631752-46B1-7A3F-2A8B-BCC2123E57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539" r="23476" b="-2"/>
          <a:stretch/>
        </p:blipFill>
        <p:spPr bwMode="auto">
          <a:xfrm>
            <a:off x="6576034" y="1606437"/>
            <a:ext cx="4328163" cy="433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15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r metro 'in açık tramı">
            <a:extLst>
              <a:ext uri="{FF2B5EF4-FFF2-40B4-BE49-F238E27FC236}">
                <a16:creationId xmlns:a16="http://schemas.microsoft.com/office/drawing/2014/main" id="{176F2654-9EFB-8FEA-E173-7DEF77BE60FA}"/>
              </a:ext>
            </a:extLst>
          </p:cNvPr>
          <p:cNvPicPr>
            <a:picLocks noChangeAspect="1"/>
          </p:cNvPicPr>
          <p:nvPr/>
        </p:nvPicPr>
        <p:blipFill>
          <a:blip r:embed="rId3"/>
          <a:srcRect l="16703" r="37995" b="-2"/>
          <a:stretch/>
        </p:blipFill>
        <p:spPr>
          <a:xfrm>
            <a:off x="7537704" y="-2"/>
            <a:ext cx="4654296" cy="6857999"/>
          </a:xfrm>
          <a:prstGeom prst="rect">
            <a:avLst/>
          </a:prstGeom>
        </p:spPr>
      </p:pic>
      <p:sp>
        <p:nvSpPr>
          <p:cNvPr id="11" name="Rectangle 10">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4D37CDA-BD21-C588-AAED-9A9C83F1B260}"/>
              </a:ext>
            </a:extLst>
          </p:cNvPr>
          <p:cNvSpPr>
            <a:spLocks noGrp="1"/>
          </p:cNvSpPr>
          <p:nvPr>
            <p:ph type="title"/>
          </p:nvPr>
        </p:nvSpPr>
        <p:spPr>
          <a:xfrm>
            <a:off x="782418" y="1280160"/>
            <a:ext cx="5670400" cy="1152144"/>
          </a:xfrm>
        </p:spPr>
        <p:txBody>
          <a:bodyPr>
            <a:normAutofit/>
          </a:bodyPr>
          <a:lstStyle/>
          <a:p>
            <a:r>
              <a:rPr lang="tr-TR"/>
              <a:t>Üretim İmkanları Sınırı</a:t>
            </a:r>
          </a:p>
        </p:txBody>
      </p:sp>
      <p:sp>
        <p:nvSpPr>
          <p:cNvPr id="3" name="İçerik Yer Tutucusu 2">
            <a:extLst>
              <a:ext uri="{FF2B5EF4-FFF2-40B4-BE49-F238E27FC236}">
                <a16:creationId xmlns:a16="http://schemas.microsoft.com/office/drawing/2014/main" id="{A4D6CCF8-F436-825E-FF13-4A07784EC5AA}"/>
              </a:ext>
            </a:extLst>
          </p:cNvPr>
          <p:cNvSpPr>
            <a:spLocks noGrp="1"/>
          </p:cNvSpPr>
          <p:nvPr>
            <p:ph idx="1"/>
          </p:nvPr>
        </p:nvSpPr>
        <p:spPr>
          <a:xfrm>
            <a:off x="1620445" y="2890881"/>
            <a:ext cx="4832373" cy="2633866"/>
          </a:xfrm>
        </p:spPr>
        <p:txBody>
          <a:bodyPr>
            <a:normAutofit/>
          </a:bodyPr>
          <a:lstStyle/>
          <a:p>
            <a:pPr>
              <a:lnSpc>
                <a:spcPct val="110000"/>
              </a:lnSpc>
            </a:pPr>
            <a:r>
              <a:rPr lang="tr-TR" sz="1300"/>
              <a:t>Tıpkı bireyler gibi toplumların (ekonomilerin) da kaynakları kıttır. Toplumun ihtiyaçlarını karşılayacak olan kaynakların kıt olması, onları bir tercih yapmaya zorlayacaktır. Acaba Türkiye ekonomisi tüm büyük şehirlerini hızlı tren hatları ile birbirine bağlayacak bir yatırım mı yapmalıdır, yoksa eğitime ayrılan bütçesini iki katına çıkararak daha eğitimli bir nesil mi yaratmalıdır? Aşikâr olan tek şey bunun ikisinin aynı anda yapılamayacağıdır. O zaman Türkiye bir karar vermek, bir tercih yapmak zorundadır. Fakat her tercihin bir maliyeti olacaktır. Eğer hızlı tren projesini yapmak isterse, eğitime yapılacak yatırımlardan vazgeçmek zorunda kalacaktır. </a:t>
            </a:r>
          </a:p>
        </p:txBody>
      </p:sp>
    </p:spTree>
    <p:extLst>
      <p:ext uri="{BB962C8B-B14F-4D97-AF65-F5344CB8AC3E}">
        <p14:creationId xmlns:p14="http://schemas.microsoft.com/office/powerpoint/2010/main" val="2130320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4C80C4-97BA-5932-2FDC-3ABF99C977DC}"/>
              </a:ext>
            </a:extLst>
          </p:cNvPr>
          <p:cNvSpPr>
            <a:spLocks noGrp="1"/>
          </p:cNvSpPr>
          <p:nvPr>
            <p:ph type="title"/>
          </p:nvPr>
        </p:nvSpPr>
        <p:spPr/>
        <p:txBody>
          <a:bodyPr/>
          <a:lstStyle/>
          <a:p>
            <a:r>
              <a:rPr lang="tr-TR"/>
              <a:t>Üretim İmkanları Sınırı</a:t>
            </a:r>
          </a:p>
        </p:txBody>
      </p:sp>
      <p:pic>
        <p:nvPicPr>
          <p:cNvPr id="5" name="İçerik Yer Tutucusu 4" descr="metin, diyagram, ekran görüntüsü, çizgi içeren bir resim&#10;&#10;Yapay zeka tarafından oluşturulan içerik yanlış olabilir.">
            <a:extLst>
              <a:ext uri="{FF2B5EF4-FFF2-40B4-BE49-F238E27FC236}">
                <a16:creationId xmlns:a16="http://schemas.microsoft.com/office/drawing/2014/main" id="{64D52BCC-672B-23AC-CAED-DD05E37795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28820" y="2419350"/>
            <a:ext cx="6561348" cy="3141663"/>
          </a:xfrm>
        </p:spPr>
      </p:pic>
    </p:spTree>
    <p:extLst>
      <p:ext uri="{BB962C8B-B14F-4D97-AF65-F5344CB8AC3E}">
        <p14:creationId xmlns:p14="http://schemas.microsoft.com/office/powerpoint/2010/main" val="2113975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azı elıns ile eski kırışıklı eller">
            <a:extLst>
              <a:ext uri="{FF2B5EF4-FFF2-40B4-BE49-F238E27FC236}">
                <a16:creationId xmlns:a16="http://schemas.microsoft.com/office/drawing/2014/main" id="{DAE80066-9356-8B42-69E2-59594C2C417A}"/>
              </a:ext>
            </a:extLst>
          </p:cNvPr>
          <p:cNvPicPr>
            <a:picLocks noChangeAspect="1"/>
          </p:cNvPicPr>
          <p:nvPr/>
        </p:nvPicPr>
        <p:blipFill>
          <a:blip r:embed="rId3">
            <a:alphaModFix amt="50000"/>
          </a:blip>
          <a:srcRect l="16891" r="37807"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0DD2318D-6DB9-82D8-6AFA-56B254EF0EF5}"/>
              </a:ext>
            </a:extLst>
          </p:cNvPr>
          <p:cNvSpPr>
            <a:spLocks noGrp="1"/>
          </p:cNvSpPr>
          <p:nvPr>
            <p:ph type="title"/>
          </p:nvPr>
        </p:nvSpPr>
        <p:spPr>
          <a:xfrm>
            <a:off x="738786" y="1319622"/>
            <a:ext cx="3481988" cy="1591492"/>
          </a:xfrm>
          <a:noFill/>
        </p:spPr>
        <p:txBody>
          <a:bodyPr>
            <a:normAutofit/>
          </a:bodyPr>
          <a:lstStyle/>
          <a:p>
            <a:pPr>
              <a:lnSpc>
                <a:spcPct val="110000"/>
              </a:lnSpc>
            </a:pPr>
            <a:r>
              <a:rPr lang="tr-TR">
                <a:solidFill>
                  <a:schemeClr val="accent1">
                    <a:lumMod val="60000"/>
                    <a:lumOff val="40000"/>
                  </a:schemeClr>
                </a:solidFill>
              </a:rPr>
              <a:t>Marjinal Maliyet - Marjinal Fayda</a:t>
            </a:r>
          </a:p>
        </p:txBody>
      </p:sp>
      <p:sp>
        <p:nvSpPr>
          <p:cNvPr id="3" name="İçerik Yer Tutucusu 2">
            <a:extLst>
              <a:ext uri="{FF2B5EF4-FFF2-40B4-BE49-F238E27FC236}">
                <a16:creationId xmlns:a16="http://schemas.microsoft.com/office/drawing/2014/main" id="{3EB25C6B-CB10-7A42-C8EE-DEE20A42DC19}"/>
              </a:ext>
            </a:extLst>
          </p:cNvPr>
          <p:cNvSpPr>
            <a:spLocks noGrp="1"/>
          </p:cNvSpPr>
          <p:nvPr>
            <p:ph idx="1"/>
          </p:nvPr>
        </p:nvSpPr>
        <p:spPr>
          <a:xfrm>
            <a:off x="5562600" y="1495741"/>
            <a:ext cx="4988781" cy="3996716"/>
          </a:xfrm>
        </p:spPr>
        <p:txBody>
          <a:bodyPr>
            <a:normAutofit/>
          </a:bodyPr>
          <a:lstStyle/>
          <a:p>
            <a:r>
              <a:rPr lang="tr-TR"/>
              <a:t>Marjinal Maliyet (MM): Üretimde veya tüketimde yapılan bir birimlik artışın getirdiği ek maliyettir. Yani, bir mal veya hizmetin bir tane daha üretilmesi veya tüketilmesi sonucu katlanılan ek maliyet anlamına gelir.</a:t>
            </a:r>
          </a:p>
          <a:p>
            <a:r>
              <a:rPr lang="tr-TR"/>
              <a:t>Marjinal Fayda (MF): Bir mal veya hizmetin bir birim daha tüketilmesiyle elde edilen ek faydadır. İlk tüketimden yüksek fayda sağlanırken, sonraki tüketimlerde elde edilen ek fayda genellikle azalır (Azalan Marjinal Fayda İlkesi).</a:t>
            </a:r>
          </a:p>
        </p:txBody>
      </p:sp>
    </p:spTree>
    <p:extLst>
      <p:ext uri="{BB962C8B-B14F-4D97-AF65-F5344CB8AC3E}">
        <p14:creationId xmlns:p14="http://schemas.microsoft.com/office/powerpoint/2010/main" val="2001084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eyaz arka plan üzerinde kahve">
            <a:extLst>
              <a:ext uri="{FF2B5EF4-FFF2-40B4-BE49-F238E27FC236}">
                <a16:creationId xmlns:a16="http://schemas.microsoft.com/office/drawing/2014/main" id="{1411E677-A856-38D0-2B68-F3F97B10AA1E}"/>
              </a:ext>
            </a:extLst>
          </p:cNvPr>
          <p:cNvPicPr>
            <a:picLocks noChangeAspect="1"/>
          </p:cNvPicPr>
          <p:nvPr/>
        </p:nvPicPr>
        <p:blipFill>
          <a:blip r:embed="rId3">
            <a:alphaModFix amt="50000"/>
          </a:blip>
          <a:srcRect l="1454" r="53245"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BCF5E4F1-8029-C418-9FEF-AE27CCB2DB6C}"/>
              </a:ext>
            </a:extLst>
          </p:cNvPr>
          <p:cNvSpPr>
            <a:spLocks noGrp="1"/>
          </p:cNvSpPr>
          <p:nvPr>
            <p:ph type="title"/>
          </p:nvPr>
        </p:nvSpPr>
        <p:spPr>
          <a:xfrm>
            <a:off x="738786" y="1319622"/>
            <a:ext cx="3481988" cy="1591492"/>
          </a:xfrm>
          <a:noFill/>
        </p:spPr>
        <p:txBody>
          <a:bodyPr>
            <a:normAutofit/>
          </a:bodyPr>
          <a:lstStyle/>
          <a:p>
            <a:pPr>
              <a:lnSpc>
                <a:spcPct val="110000"/>
              </a:lnSpc>
            </a:pPr>
            <a:r>
              <a:rPr lang="tr-TR">
                <a:solidFill>
                  <a:schemeClr val="accent1">
                    <a:lumMod val="60000"/>
                    <a:lumOff val="40000"/>
                  </a:schemeClr>
                </a:solidFill>
              </a:rPr>
              <a:t>Marjinal Maliyet - Marjinal Fayda</a:t>
            </a:r>
          </a:p>
        </p:txBody>
      </p:sp>
      <p:sp>
        <p:nvSpPr>
          <p:cNvPr id="3" name="İçerik Yer Tutucusu 2">
            <a:extLst>
              <a:ext uri="{FF2B5EF4-FFF2-40B4-BE49-F238E27FC236}">
                <a16:creationId xmlns:a16="http://schemas.microsoft.com/office/drawing/2014/main" id="{CEDAE67E-446F-A95C-B329-69738AC19CEC}"/>
              </a:ext>
            </a:extLst>
          </p:cNvPr>
          <p:cNvSpPr>
            <a:spLocks noGrp="1"/>
          </p:cNvSpPr>
          <p:nvPr>
            <p:ph idx="1"/>
          </p:nvPr>
        </p:nvSpPr>
        <p:spPr>
          <a:xfrm>
            <a:off x="5562600" y="1495741"/>
            <a:ext cx="5692174" cy="4324488"/>
          </a:xfrm>
        </p:spPr>
        <p:txBody>
          <a:bodyPr>
            <a:normAutofit/>
          </a:bodyPr>
          <a:lstStyle/>
          <a:p>
            <a:pPr>
              <a:lnSpc>
                <a:spcPct val="110000"/>
              </a:lnSpc>
            </a:pPr>
            <a:r>
              <a:rPr lang="tr-TR" sz="1200" b="1"/>
              <a:t>Örnek:</a:t>
            </a:r>
          </a:p>
          <a:p>
            <a:pPr>
              <a:lnSpc>
                <a:spcPct val="110000"/>
              </a:lnSpc>
            </a:pPr>
            <a:r>
              <a:rPr lang="tr-TR" sz="1200"/>
              <a:t>Bir öğrenci bir fincan kahve içiyor:</a:t>
            </a:r>
          </a:p>
          <a:p>
            <a:pPr>
              <a:lnSpc>
                <a:spcPct val="110000"/>
              </a:lnSpc>
              <a:buFont typeface="Arial" panose="020B0604020202020204" pitchFamily="34" charset="0"/>
              <a:buChar char="•"/>
            </a:pPr>
            <a:r>
              <a:rPr lang="tr-TR" sz="1200" b="1"/>
              <a:t>1. kahve:</a:t>
            </a:r>
            <a:r>
              <a:rPr lang="tr-TR" sz="1200"/>
              <a:t> Çok uykulu olduğu için büyük bir fayda sağlıyor (MF yüksek).</a:t>
            </a:r>
          </a:p>
          <a:p>
            <a:pPr>
              <a:lnSpc>
                <a:spcPct val="110000"/>
              </a:lnSpc>
              <a:buFont typeface="Arial" panose="020B0604020202020204" pitchFamily="34" charset="0"/>
              <a:buChar char="•"/>
            </a:pPr>
            <a:r>
              <a:rPr lang="tr-TR" sz="1200" b="1"/>
              <a:t>2. kahve:</a:t>
            </a:r>
            <a:r>
              <a:rPr lang="tr-TR" sz="1200"/>
              <a:t> Biraz daha enerji veriyor ama ilk kadar değil.</a:t>
            </a:r>
          </a:p>
          <a:p>
            <a:pPr>
              <a:lnSpc>
                <a:spcPct val="110000"/>
              </a:lnSpc>
              <a:buFont typeface="Arial" panose="020B0604020202020204" pitchFamily="34" charset="0"/>
              <a:buChar char="•"/>
            </a:pPr>
            <a:r>
              <a:rPr lang="tr-TR" sz="1200" b="1"/>
              <a:t>3. kahve:</a:t>
            </a:r>
            <a:r>
              <a:rPr lang="tr-TR" sz="1200"/>
              <a:t> Artık fazla bir fayda sağlamıyor, hatta mide rahatsızlığı bile yapabilir.</a:t>
            </a:r>
          </a:p>
          <a:p>
            <a:pPr>
              <a:lnSpc>
                <a:spcPct val="110000"/>
              </a:lnSpc>
            </a:pPr>
            <a:r>
              <a:rPr lang="tr-TR" sz="1200"/>
              <a:t>Burada </a:t>
            </a:r>
            <a:r>
              <a:rPr lang="tr-TR" sz="1200" b="1"/>
              <a:t>marjinal fayda azalarak sıfıra veya negatif bir değere inebilir</a:t>
            </a:r>
            <a:r>
              <a:rPr lang="tr-TR" sz="1200"/>
              <a:t>. Eğer marjinal maliyet (kahvenin fiyatı) marjinal faydadan fazla olursa, öğrenci artık kahve almamalıdır.</a:t>
            </a:r>
          </a:p>
          <a:p>
            <a:pPr>
              <a:lnSpc>
                <a:spcPct val="110000"/>
              </a:lnSpc>
            </a:pPr>
            <a:r>
              <a:rPr lang="tr-TR" sz="1200" b="1"/>
              <a:t>Karar Alma Kuralı:</a:t>
            </a:r>
            <a:endParaRPr lang="tr-TR" sz="1200"/>
          </a:p>
          <a:p>
            <a:pPr>
              <a:lnSpc>
                <a:spcPct val="110000"/>
              </a:lnSpc>
              <a:buFont typeface="Arial" panose="020B0604020202020204" pitchFamily="34" charset="0"/>
              <a:buChar char="•"/>
            </a:pPr>
            <a:r>
              <a:rPr lang="tr-TR" sz="1200" b="1"/>
              <a:t>MF &gt; MM →</a:t>
            </a:r>
            <a:r>
              <a:rPr lang="tr-TR" sz="1200"/>
              <a:t> Tüketim artırılmalı.</a:t>
            </a:r>
          </a:p>
          <a:p>
            <a:pPr>
              <a:lnSpc>
                <a:spcPct val="110000"/>
              </a:lnSpc>
              <a:buFont typeface="Arial" panose="020B0604020202020204" pitchFamily="34" charset="0"/>
              <a:buChar char="•"/>
            </a:pPr>
            <a:r>
              <a:rPr lang="tr-TR" sz="1200" b="1"/>
              <a:t>MF = MM →</a:t>
            </a:r>
            <a:r>
              <a:rPr lang="tr-TR" sz="1200"/>
              <a:t> Optimum noktaya ulaşıldı.</a:t>
            </a:r>
          </a:p>
          <a:p>
            <a:pPr>
              <a:lnSpc>
                <a:spcPct val="110000"/>
              </a:lnSpc>
              <a:buFont typeface="Arial" panose="020B0604020202020204" pitchFamily="34" charset="0"/>
              <a:buChar char="•"/>
            </a:pPr>
            <a:r>
              <a:rPr lang="tr-TR" sz="1200" b="1"/>
              <a:t>MF &lt; MM →</a:t>
            </a:r>
            <a:r>
              <a:rPr lang="tr-TR" sz="1200"/>
              <a:t> Tüketim azaltılmalı.</a:t>
            </a:r>
          </a:p>
          <a:p>
            <a:pPr>
              <a:lnSpc>
                <a:spcPct val="110000"/>
              </a:lnSpc>
            </a:pPr>
            <a:r>
              <a:rPr lang="tr-TR" sz="1200"/>
              <a:t>Bu kural işletmeler için de geçerlidir. </a:t>
            </a:r>
            <a:r>
              <a:rPr lang="tr-TR" sz="1200" b="1"/>
              <a:t>Bir firma, bir birim daha üretim yaparken sağlanan ek gelir (marjinal gelir) marjinal maliyetten fazla ise üretimi artırmalıdır.</a:t>
            </a:r>
            <a:endParaRPr lang="tr-TR" sz="1200"/>
          </a:p>
          <a:p>
            <a:pPr>
              <a:lnSpc>
                <a:spcPct val="110000"/>
              </a:lnSpc>
            </a:pPr>
            <a:endParaRPr lang="tr-TR" sz="1000"/>
          </a:p>
        </p:txBody>
      </p:sp>
    </p:spTree>
    <p:extLst>
      <p:ext uri="{BB962C8B-B14F-4D97-AF65-F5344CB8AC3E}">
        <p14:creationId xmlns:p14="http://schemas.microsoft.com/office/powerpoint/2010/main" val="37423073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A7E8276-E7F8-D393-6F54-0BF8862C3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7DFE30-E9B4-B520-D9CF-5181D140E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34648"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A2CFB1F-73AE-DD47-5212-F651AD86F284}"/>
              </a:ext>
            </a:extLst>
          </p:cNvPr>
          <p:cNvPicPr>
            <a:picLocks noChangeAspect="1"/>
          </p:cNvPicPr>
          <p:nvPr/>
        </p:nvPicPr>
        <p:blipFill>
          <a:blip r:embed="rId3">
            <a:alphaModFix amt="50000"/>
          </a:blip>
          <a:srcRect l="31537" r="6663"/>
          <a:stretch/>
        </p:blipFill>
        <p:spPr>
          <a:xfrm>
            <a:off x="-1" y="10"/>
            <a:ext cx="7534649" cy="6857989"/>
          </a:xfrm>
          <a:prstGeom prst="rect">
            <a:avLst/>
          </a:prstGeom>
        </p:spPr>
      </p:pic>
      <p:sp>
        <p:nvSpPr>
          <p:cNvPr id="2" name="Başlık 1">
            <a:extLst>
              <a:ext uri="{FF2B5EF4-FFF2-40B4-BE49-F238E27FC236}">
                <a16:creationId xmlns:a16="http://schemas.microsoft.com/office/drawing/2014/main" id="{BF3B6980-891D-A53E-8999-4D322991D362}"/>
              </a:ext>
            </a:extLst>
          </p:cNvPr>
          <p:cNvSpPr>
            <a:spLocks noGrp="1"/>
          </p:cNvSpPr>
          <p:nvPr>
            <p:ph type="title"/>
          </p:nvPr>
        </p:nvSpPr>
        <p:spPr>
          <a:xfrm>
            <a:off x="738785" y="3994511"/>
            <a:ext cx="4054887" cy="1591492"/>
          </a:xfrm>
          <a:noFill/>
        </p:spPr>
        <p:txBody>
          <a:bodyPr>
            <a:normAutofit/>
          </a:bodyPr>
          <a:lstStyle/>
          <a:p>
            <a:r>
              <a:rPr lang="tr-TR">
                <a:solidFill>
                  <a:schemeClr val="accent1">
                    <a:lumMod val="60000"/>
                    <a:lumOff val="40000"/>
                  </a:schemeClr>
                </a:solidFill>
              </a:rPr>
              <a:t>İkame ve Teşvik</a:t>
            </a:r>
          </a:p>
        </p:txBody>
      </p:sp>
      <p:sp>
        <p:nvSpPr>
          <p:cNvPr id="3" name="İçerik Yer Tutucusu 2">
            <a:extLst>
              <a:ext uri="{FF2B5EF4-FFF2-40B4-BE49-F238E27FC236}">
                <a16:creationId xmlns:a16="http://schemas.microsoft.com/office/drawing/2014/main" id="{79B1C041-E04A-27CA-2017-60CA6737365D}"/>
              </a:ext>
            </a:extLst>
          </p:cNvPr>
          <p:cNvSpPr>
            <a:spLocks noGrp="1"/>
          </p:cNvSpPr>
          <p:nvPr>
            <p:ph idx="1"/>
          </p:nvPr>
        </p:nvSpPr>
        <p:spPr>
          <a:xfrm>
            <a:off x="7731743" y="914400"/>
            <a:ext cx="3542482" cy="5029200"/>
          </a:xfrm>
        </p:spPr>
        <p:txBody>
          <a:bodyPr>
            <a:normAutofit fontScale="92500"/>
          </a:bodyPr>
          <a:lstStyle/>
          <a:p>
            <a:pPr>
              <a:lnSpc>
                <a:spcPct val="110000"/>
              </a:lnSpc>
            </a:pPr>
            <a:r>
              <a:rPr lang="tr-TR" sz="1400"/>
              <a:t>Ekonomik birimlerin kararlarını etkileyen, değişmesine neden olan iki temel faktör vardır. Birincisi hemen hemen birçok eylemin bir ikamesinin var olmasıdır. İkame bir şeyin başka bir şeyin yerine geçmesidir. Eğer bir eylemin, bir karanın fırsat maliyeti artarsa ekonomik birimler bu eylemi başka bir eylem ile ikame edebilir. Örneğin Eskişehir’den Ankara’ya toplu taşıma aracı kullanarak gitmenin iki yolu olabilir. Bunlar tren ve şehirlerarası otobüstür. Dolayısıyla Eskişehir’den Ankara’ya otobüs ile gitmenin ikamesi trenle gitmektir. Eğer Eskişehir-Ankara otobüs fiyatları artarsa, Eskişehir’den Ankara’ya otobüs ile gitmenin fırsat maliyeti artmış olur. O zaman yolcular Ankara’ya tren ile gitmeyi tercih edebilirler. Bir kararın ya da aktivitenin fırsat maliyetinde bir değişim olursa ve bu aktivitenin yakın ikamesi varsa, o zaman bir mal yada hizmetin fırsat maliyeti değiştiğinde başka bir mal yada hizmet ile ikame edilme derecesi artacaktır.</a:t>
            </a:r>
          </a:p>
        </p:txBody>
      </p:sp>
      <p:sp>
        <p:nvSpPr>
          <p:cNvPr id="13" name="Freeform: Shape 12">
            <a:extLst>
              <a:ext uri="{FF2B5EF4-FFF2-40B4-BE49-F238E27FC236}">
                <a16:creationId xmlns:a16="http://schemas.microsoft.com/office/drawing/2014/main" id="{F4A35A5E-99B4-DBDF-D46C-B415D1F42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35881" y="931855"/>
            <a:ext cx="5657097" cy="4992273"/>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86327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6BB344B-436C-FF56-02E5-6F84177E880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oş otobüsün içi">
            <a:extLst>
              <a:ext uri="{FF2B5EF4-FFF2-40B4-BE49-F238E27FC236}">
                <a16:creationId xmlns:a16="http://schemas.microsoft.com/office/drawing/2014/main" id="{A8DA0701-13C0-86B1-02E9-199D9C315504}"/>
              </a:ext>
            </a:extLst>
          </p:cNvPr>
          <p:cNvPicPr>
            <a:picLocks noChangeAspect="1"/>
          </p:cNvPicPr>
          <p:nvPr/>
        </p:nvPicPr>
        <p:blipFill>
          <a:blip r:embed="rId2">
            <a:alphaModFix amt="50000"/>
          </a:blip>
          <a:srcRect l="28040" r="26659"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C03D4CBA-F540-E5F7-F110-5FC64E6FF09C}"/>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İkame ve Teşvik</a:t>
            </a:r>
          </a:p>
        </p:txBody>
      </p:sp>
      <p:sp>
        <p:nvSpPr>
          <p:cNvPr id="3" name="İçerik Yer Tutucusu 2">
            <a:extLst>
              <a:ext uri="{FF2B5EF4-FFF2-40B4-BE49-F238E27FC236}">
                <a16:creationId xmlns:a16="http://schemas.microsoft.com/office/drawing/2014/main" id="{8A3A2314-EFB2-E655-5B35-9E87DBAC7209}"/>
              </a:ext>
            </a:extLst>
          </p:cNvPr>
          <p:cNvSpPr>
            <a:spLocks noGrp="1"/>
          </p:cNvSpPr>
          <p:nvPr>
            <p:ph idx="1"/>
          </p:nvPr>
        </p:nvSpPr>
        <p:spPr>
          <a:xfrm>
            <a:off x="5562600" y="1495741"/>
            <a:ext cx="4988781" cy="3996716"/>
          </a:xfrm>
        </p:spPr>
        <p:txBody>
          <a:bodyPr>
            <a:normAutofit/>
          </a:bodyPr>
          <a:lstStyle/>
          <a:p>
            <a:r>
              <a:rPr lang="tr-TR"/>
              <a:t>Örneğin, Eskişehir-Ankara otobüs ve tren fiyatları değişmezken, yüksek hızlı tren ile Eskişehir’den Ankara’ya gitmek 3 saatten 1,5 saate düşmüşse, o zaman Eskişehir’den Ankara’ya otobüs ile gitmenin parasal maliyeti aynı olmakla birlikte, fırsat maliyeti artmıştır. Bu durumda rasyonel bir yolcu, otobüs seyahatini tren seyahati ile ikame etmelidir. </a:t>
            </a:r>
          </a:p>
        </p:txBody>
      </p:sp>
    </p:spTree>
    <p:extLst>
      <p:ext uri="{BB962C8B-B14F-4D97-AF65-F5344CB8AC3E}">
        <p14:creationId xmlns:p14="http://schemas.microsoft.com/office/powerpoint/2010/main" val="4010199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9C212D-0EC8-4BF1-46BD-17BE57821BB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5815BE-7621-32D9-43F8-998DAB0AC1DF}"/>
              </a:ext>
            </a:extLst>
          </p:cNvPr>
          <p:cNvPicPr>
            <a:picLocks noChangeAspect="1"/>
          </p:cNvPicPr>
          <p:nvPr/>
        </p:nvPicPr>
        <p:blipFill>
          <a:blip r:embed="rId3"/>
          <a:srcRect l="28225" r="33600"/>
          <a:stretch/>
        </p:blipFill>
        <p:spPr>
          <a:xfrm>
            <a:off x="7537704" y="-2"/>
            <a:ext cx="4654296" cy="6857999"/>
          </a:xfrm>
          <a:prstGeom prst="rect">
            <a:avLst/>
          </a:prstGeom>
        </p:spPr>
      </p:pic>
      <p:sp>
        <p:nvSpPr>
          <p:cNvPr id="11" name="Rectangle 10">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6EC54B4-ABFB-A4F8-6E94-2A2D5476EEF0}"/>
              </a:ext>
            </a:extLst>
          </p:cNvPr>
          <p:cNvSpPr>
            <a:spLocks noGrp="1"/>
          </p:cNvSpPr>
          <p:nvPr>
            <p:ph type="title"/>
          </p:nvPr>
        </p:nvSpPr>
        <p:spPr>
          <a:xfrm>
            <a:off x="782418" y="1280160"/>
            <a:ext cx="5670400" cy="1152144"/>
          </a:xfrm>
        </p:spPr>
        <p:txBody>
          <a:bodyPr>
            <a:normAutofit/>
          </a:bodyPr>
          <a:lstStyle/>
          <a:p>
            <a:r>
              <a:rPr lang="tr-TR"/>
              <a:t>İkame ve Teşvik</a:t>
            </a:r>
          </a:p>
        </p:txBody>
      </p:sp>
      <p:sp>
        <p:nvSpPr>
          <p:cNvPr id="3" name="İçerik Yer Tutucusu 2">
            <a:extLst>
              <a:ext uri="{FF2B5EF4-FFF2-40B4-BE49-F238E27FC236}">
                <a16:creationId xmlns:a16="http://schemas.microsoft.com/office/drawing/2014/main" id="{A797ADD8-CECE-9C5A-310A-0DCF5AFAEE68}"/>
              </a:ext>
            </a:extLst>
          </p:cNvPr>
          <p:cNvSpPr>
            <a:spLocks noGrp="1"/>
          </p:cNvSpPr>
          <p:nvPr>
            <p:ph idx="1"/>
          </p:nvPr>
        </p:nvSpPr>
        <p:spPr>
          <a:xfrm>
            <a:off x="1620445" y="2890881"/>
            <a:ext cx="4832373" cy="2633866"/>
          </a:xfrm>
        </p:spPr>
        <p:txBody>
          <a:bodyPr>
            <a:normAutofit/>
          </a:bodyPr>
          <a:lstStyle/>
          <a:p>
            <a:pPr>
              <a:lnSpc>
                <a:spcPct val="110000"/>
              </a:lnSpc>
            </a:pPr>
            <a:r>
              <a:rPr lang="tr-TR" sz="1300"/>
              <a:t>Bir davranışın fırsat maliyetinin değişmesi sonucu başka bir davranış ile ikame edilmesinin nedeni ortaya çıkan teşviktir. Teşvik bir davranışın ortaya çıkmasını özendirmektir. Teşvik bazen bir ödül olabileceği gibi bazen de bir ceza olabilir. Her iki durumda da, amaç bir davranışın ortaya çıkmasını ya da çıkmamasını sağlamaktır. Ekonomik birimler teşviklere tepki verirler. O yüzden doğrudan bir davranışı düzenlemek yerine onu etkileyecek teşvikler sunmak daha etkili olacaktır. İnsanlara daha az elektrik kullanın demek yerine, elektriği daha pahalı hale getirecek bir vergi düzenlemesi, insanları daha az elektrik kullanmaya teşvik edecektir.</a:t>
            </a:r>
          </a:p>
        </p:txBody>
      </p:sp>
    </p:spTree>
    <p:extLst>
      <p:ext uri="{BB962C8B-B14F-4D97-AF65-F5344CB8AC3E}">
        <p14:creationId xmlns:p14="http://schemas.microsoft.com/office/powerpoint/2010/main" val="1068085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54A4B6-954D-84E7-C747-A99E9DD75046}"/>
              </a:ext>
            </a:extLst>
          </p:cNvPr>
          <p:cNvSpPr>
            <a:spLocks noGrp="1"/>
          </p:cNvSpPr>
          <p:nvPr>
            <p:ph type="title"/>
          </p:nvPr>
        </p:nvSpPr>
        <p:spPr/>
        <p:txBody>
          <a:bodyPr/>
          <a:lstStyle/>
          <a:p>
            <a:r>
              <a:rPr lang="tr-TR"/>
              <a:t>İKTİSADIN TEMEL SORULARI</a:t>
            </a:r>
          </a:p>
        </p:txBody>
      </p:sp>
      <p:sp>
        <p:nvSpPr>
          <p:cNvPr id="3" name="İçerik Yer Tutucusu 2">
            <a:extLst>
              <a:ext uri="{FF2B5EF4-FFF2-40B4-BE49-F238E27FC236}">
                <a16:creationId xmlns:a16="http://schemas.microsoft.com/office/drawing/2014/main" id="{D238624B-64A3-7447-55D8-57DEF8B1D691}"/>
              </a:ext>
            </a:extLst>
          </p:cNvPr>
          <p:cNvSpPr>
            <a:spLocks noGrp="1"/>
          </p:cNvSpPr>
          <p:nvPr>
            <p:ph idx="1"/>
          </p:nvPr>
        </p:nvSpPr>
        <p:spPr/>
        <p:txBody>
          <a:bodyPr/>
          <a:lstStyle/>
          <a:p>
            <a:r>
              <a:rPr lang="tr-TR"/>
              <a:t>Kıtlık ve tercih sorunu ile ilgili olarak farklı kaynaklarda farklı sayıda soru ortaya atılsa da iktisat biliminin cevaplandırmasını gereken dört temel soru bulunmaktadır.</a:t>
            </a:r>
          </a:p>
          <a:p>
            <a:r>
              <a:rPr lang="tr-TR"/>
              <a:t> Bunlar: </a:t>
            </a:r>
          </a:p>
          <a:p>
            <a:r>
              <a:rPr lang="tr-TR"/>
              <a:t>1. Ne üretilecek, </a:t>
            </a:r>
          </a:p>
          <a:p>
            <a:r>
              <a:rPr lang="tr-TR"/>
              <a:t>2. Ne kadar üretilecek, </a:t>
            </a:r>
          </a:p>
          <a:p>
            <a:r>
              <a:rPr lang="tr-TR"/>
              <a:t>3. Nasıl üretilecek, </a:t>
            </a:r>
          </a:p>
          <a:p>
            <a:r>
              <a:rPr lang="tr-TR"/>
              <a:t>4. Kim üretecek.</a:t>
            </a:r>
          </a:p>
        </p:txBody>
      </p:sp>
    </p:spTree>
    <p:extLst>
      <p:ext uri="{BB962C8B-B14F-4D97-AF65-F5344CB8AC3E}">
        <p14:creationId xmlns:p14="http://schemas.microsoft.com/office/powerpoint/2010/main" val="1751390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A3D83D0-646C-0EAA-0DC7-9F82E6ADDF18}"/>
            </a:ext>
          </a:extLst>
        </p:cNvPr>
        <p:cNvGrpSpPr/>
        <p:nvPr/>
      </p:nvGrpSpPr>
      <p:grpSpPr>
        <a:xfrm>
          <a:off x="0" y="0"/>
          <a:ext cx="0" cy="0"/>
          <a:chOff x="0" y="0"/>
          <a:chExt cx="0" cy="0"/>
        </a:xfrm>
      </p:grpSpPr>
      <p:sp useBgFill="1">
        <p:nvSpPr>
          <p:cNvPr id="29703" name="Rectangle 29702">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5" name="Rectangle 29704">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98" name="Picture 2" descr="Sony Walkman ad (1982) : r/vintageads">
            <a:extLst>
              <a:ext uri="{FF2B5EF4-FFF2-40B4-BE49-F238E27FC236}">
                <a16:creationId xmlns:a16="http://schemas.microsoft.com/office/drawing/2014/main" id="{746E081F-D6A8-3456-3519-FCC36B25F1D1}"/>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l="1063" r="5969"/>
          <a:stretch/>
        </p:blipFill>
        <p:spPr bwMode="auto">
          <a:xfrm>
            <a:off x="20" y="-1"/>
            <a:ext cx="4654276" cy="6857999"/>
          </a:xfrm>
          <a:prstGeom prst="rect">
            <a:avLst/>
          </a:prstGeom>
          <a:noFill/>
          <a:extLst>
            <a:ext uri="{909E8E84-426E-40DD-AFC4-6F175D3DCCD1}">
              <a14:hiddenFill xmlns:a14="http://schemas.microsoft.com/office/drawing/2010/main">
                <a:solidFill>
                  <a:srgbClr val="FFFFFF"/>
                </a:solidFill>
              </a14:hiddenFill>
            </a:ext>
          </a:extLst>
        </p:spPr>
      </p:pic>
      <p:sp>
        <p:nvSpPr>
          <p:cNvPr id="29707" name="Freeform: Shape 29706">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1E0DED7C-80DD-6C2E-340F-3D2E68FB4907}"/>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İKTİSADIN TEMEL SORULARI</a:t>
            </a:r>
          </a:p>
        </p:txBody>
      </p:sp>
      <p:sp>
        <p:nvSpPr>
          <p:cNvPr id="3" name="İçerik Yer Tutucusu 2">
            <a:extLst>
              <a:ext uri="{FF2B5EF4-FFF2-40B4-BE49-F238E27FC236}">
                <a16:creationId xmlns:a16="http://schemas.microsoft.com/office/drawing/2014/main" id="{FE319687-B77D-5090-2B25-3F4175B28F85}"/>
              </a:ext>
            </a:extLst>
          </p:cNvPr>
          <p:cNvSpPr>
            <a:spLocks noGrp="1"/>
          </p:cNvSpPr>
          <p:nvPr>
            <p:ph idx="1"/>
          </p:nvPr>
        </p:nvSpPr>
        <p:spPr>
          <a:xfrm>
            <a:off x="5562600" y="1495741"/>
            <a:ext cx="4988781" cy="3996716"/>
          </a:xfrm>
        </p:spPr>
        <p:txBody>
          <a:bodyPr>
            <a:normAutofit/>
          </a:bodyPr>
          <a:lstStyle/>
          <a:p>
            <a:pPr marL="342900" indent="-342900">
              <a:lnSpc>
                <a:spcPct val="110000"/>
              </a:lnSpc>
              <a:buAutoNum type="arabicPeriod"/>
            </a:pPr>
            <a:r>
              <a:rPr lang="tr-TR" sz="1100"/>
              <a:t>Ne üretilecek ?</a:t>
            </a:r>
          </a:p>
          <a:p>
            <a:pPr marL="0" indent="0">
              <a:lnSpc>
                <a:spcPct val="110000"/>
              </a:lnSpc>
              <a:buNone/>
            </a:pPr>
            <a:r>
              <a:rPr lang="tr-TR" sz="1100"/>
              <a:t>1978’de Sony’nin mühendisi Nobutoshi Kihara’da tarafından icat edilen, 1979’da ticarileştiğinde müzik dinleme alışkanlıklarında devrim etkisi yaratan, insanların hareket halindeyken müzik dinlemesine olanak veren kasetçalar “Walkman” 2000’li yıllarda neden üretilmiyor? Ya da nasıl oluyor da patenti 1873’te alınan meşhur Levi’s marka kotlar hala üretilip tüm dünyada alıcı bulabiliyor? İşte iktisat biliminin cevaplaması gereken sorulardan birincisi “Ne üretilecek?” sorusudur. Bu soruya serbest piyasa ekonomilerinde firma ve tüketiciler ve bunların karşılıklı etkileşimi ile cevap bulunabilmektedir. Serbest piyasa ekonomilerinde ne üretileceğinin kararının verilmesinde en önemli rolü “fiyat”lar üstlenir. Firmalar fiyatı maliyetine göre daha yüksek, dolayısıyla kâr oranı yüksek olan mal ya da hizmetleri üretirken, fiyatı maliyetinden daha düşük olan malları üretmezler. Bazı durumlarda ne üretilecek sorusunun cevabını devlette verebilir. Örneğin Cumhuriyet’in ilk yıllarında özel teşebbüs yeterince gelişmediğinden “ne üretilecek?” sorularının önemli bir kısmının cevabı devlet tarafından verilmiştir. </a:t>
            </a:r>
          </a:p>
        </p:txBody>
      </p:sp>
    </p:spTree>
    <p:extLst>
      <p:ext uri="{BB962C8B-B14F-4D97-AF65-F5344CB8AC3E}">
        <p14:creationId xmlns:p14="http://schemas.microsoft.com/office/powerpoint/2010/main" val="715645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A1C57EE-59A7-80C4-35F6-EEDDCBE12C5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rlak renklerde plastik kapsayıcılar">
            <a:extLst>
              <a:ext uri="{FF2B5EF4-FFF2-40B4-BE49-F238E27FC236}">
                <a16:creationId xmlns:a16="http://schemas.microsoft.com/office/drawing/2014/main" id="{9A1D80ED-3DF5-3A1D-B5EB-C6BF0798F8BD}"/>
              </a:ext>
            </a:extLst>
          </p:cNvPr>
          <p:cNvPicPr>
            <a:picLocks noChangeAspect="1"/>
          </p:cNvPicPr>
          <p:nvPr/>
        </p:nvPicPr>
        <p:blipFill>
          <a:blip r:embed="rId2">
            <a:alphaModFix amt="50000"/>
          </a:blip>
          <a:srcRect l="26127" r="28572"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66E60F99-076B-4F9D-8950-B7B95D7F011A}"/>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İKTİSADIN TEMEL SORULARI</a:t>
            </a:r>
          </a:p>
        </p:txBody>
      </p:sp>
      <p:sp>
        <p:nvSpPr>
          <p:cNvPr id="3" name="İçerik Yer Tutucusu 2">
            <a:extLst>
              <a:ext uri="{FF2B5EF4-FFF2-40B4-BE49-F238E27FC236}">
                <a16:creationId xmlns:a16="http://schemas.microsoft.com/office/drawing/2014/main" id="{16843E48-2294-9D35-EF65-0E148DDB8058}"/>
              </a:ext>
            </a:extLst>
          </p:cNvPr>
          <p:cNvSpPr>
            <a:spLocks noGrp="1"/>
          </p:cNvSpPr>
          <p:nvPr>
            <p:ph idx="1"/>
          </p:nvPr>
        </p:nvSpPr>
        <p:spPr>
          <a:xfrm>
            <a:off x="5562600" y="1495741"/>
            <a:ext cx="4988781" cy="3996716"/>
          </a:xfrm>
        </p:spPr>
        <p:txBody>
          <a:bodyPr>
            <a:normAutofit/>
          </a:bodyPr>
          <a:lstStyle/>
          <a:p>
            <a:pPr marL="0" indent="0">
              <a:lnSpc>
                <a:spcPct val="110000"/>
              </a:lnSpc>
              <a:buNone/>
            </a:pPr>
            <a:r>
              <a:rPr lang="tr-TR" sz="1300"/>
              <a:t>2. Ne kadar üretilecek ?</a:t>
            </a:r>
          </a:p>
          <a:p>
            <a:pPr marL="0" indent="0">
              <a:lnSpc>
                <a:spcPct val="110000"/>
              </a:lnSpc>
              <a:buNone/>
            </a:pPr>
            <a:r>
              <a:rPr lang="tr-TR" sz="1300"/>
              <a:t>İktisat biliminin cevaplaması gereken ikinci soru olan “bir ekonomide ne kadar mal ya da hizmet üretileceği” sorusu da mevcut ekonomik sisteme göre değişiklik gösterecektir. Serbest piyasa ekonomilerinde, yani ürün fiyatının arz ve talep tarafından belirlendiği ekonomilerde, bir ürünün ne kadar üretileceği fiyatlar tarafından belirlenecektir. Eğer ürün arz miktarı talep miktarından fazla ise, bu ürünün fiyatının düşmesine neden olacak, bu fiyat düşüşü de bir taraftan bazı firmaların üretim miktarını azaltmasına neden olacak, diğer taraftan da düşük fiyat talebin artmasına neden olacak ve piyasada arz ve talebi eşitleyen bir fiyat ortaya çıkacaktır. Fiyatlar devlet müdahalesinin olduğu durumlarda ise, bu fonksiyonunu yerine getiremeyecektir. Örneğin, Türkiye’de yıllarca konut talebinin arzından yüksek olması, hem konut fiyatlarının hem de konut kiralarının yüksek olmasına neden olmuş, bu ise hem özel konut üretimini teşvik etmiş, hem de devletin bu piyasada aktif olarak yer almasına neden olmuştur. </a:t>
            </a:r>
          </a:p>
        </p:txBody>
      </p:sp>
    </p:spTree>
    <p:extLst>
      <p:ext uri="{BB962C8B-B14F-4D97-AF65-F5344CB8AC3E}">
        <p14:creationId xmlns:p14="http://schemas.microsoft.com/office/powerpoint/2010/main" val="2649950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F95A0A-A1C3-6357-E459-F7A6203313C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psayıcılardaki en üstteki sıces görünümü">
            <a:extLst>
              <a:ext uri="{FF2B5EF4-FFF2-40B4-BE49-F238E27FC236}">
                <a16:creationId xmlns:a16="http://schemas.microsoft.com/office/drawing/2014/main" id="{32D047B9-C55F-58B1-746C-988D504AD267}"/>
              </a:ext>
            </a:extLst>
          </p:cNvPr>
          <p:cNvPicPr>
            <a:picLocks noChangeAspect="1"/>
          </p:cNvPicPr>
          <p:nvPr/>
        </p:nvPicPr>
        <p:blipFill>
          <a:blip r:embed="rId3">
            <a:alphaModFix amt="50000"/>
          </a:blip>
          <a:srcRect l="25350" r="15946" b="1"/>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87C4878D-C713-E4B0-6CA5-4174A1331FC6}"/>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İKTİSADIN TEMEL SORULARI</a:t>
            </a:r>
          </a:p>
        </p:txBody>
      </p:sp>
      <p:sp>
        <p:nvSpPr>
          <p:cNvPr id="3" name="İçerik Yer Tutucusu 2">
            <a:extLst>
              <a:ext uri="{FF2B5EF4-FFF2-40B4-BE49-F238E27FC236}">
                <a16:creationId xmlns:a16="http://schemas.microsoft.com/office/drawing/2014/main" id="{49FEA23B-C1EC-2D3F-E1F2-D6B8FDF03A17}"/>
              </a:ext>
            </a:extLst>
          </p:cNvPr>
          <p:cNvSpPr>
            <a:spLocks noGrp="1"/>
          </p:cNvSpPr>
          <p:nvPr>
            <p:ph idx="1"/>
          </p:nvPr>
        </p:nvSpPr>
        <p:spPr>
          <a:xfrm>
            <a:off x="5562600" y="1495741"/>
            <a:ext cx="4988781" cy="3996716"/>
          </a:xfrm>
        </p:spPr>
        <p:txBody>
          <a:bodyPr>
            <a:normAutofit/>
          </a:bodyPr>
          <a:lstStyle/>
          <a:p>
            <a:pPr marL="0" indent="0">
              <a:lnSpc>
                <a:spcPct val="110000"/>
              </a:lnSpc>
              <a:buNone/>
            </a:pPr>
            <a:r>
              <a:rPr lang="tr-TR" sz="1500"/>
              <a:t>3. Nasıl Üretilecek? </a:t>
            </a:r>
          </a:p>
          <a:p>
            <a:pPr marL="0" indent="0">
              <a:lnSpc>
                <a:spcPct val="110000"/>
              </a:lnSpc>
              <a:buNone/>
            </a:pPr>
            <a:r>
              <a:rPr lang="tr-TR" sz="1500"/>
              <a:t>Mal ya da hizmetlerin nasıl üretileceği sorusunun cevabını belirleyen en önemli faktör ekonominin sahip olduğu kaynaklar, diğer bir ifade ile üretim faktörleridir. Bireylerin ihtiyaçlarını karşılayan mal ve hizmetlerin üretimi için gerekli olan kaynaklara üretim faktörleri denir. Temel olarak dört üretim faktörü vardır. Bunlar:</a:t>
            </a:r>
          </a:p>
          <a:p>
            <a:pPr marL="0" indent="0">
              <a:lnSpc>
                <a:spcPct val="110000"/>
              </a:lnSpc>
              <a:buNone/>
            </a:pPr>
            <a:r>
              <a:rPr lang="tr-TR" sz="1500"/>
              <a:t>Emek </a:t>
            </a:r>
          </a:p>
          <a:p>
            <a:pPr marL="0" indent="0">
              <a:lnSpc>
                <a:spcPct val="110000"/>
              </a:lnSpc>
              <a:buNone/>
            </a:pPr>
            <a:r>
              <a:rPr lang="tr-TR" sz="1500"/>
              <a:t>Sermaye </a:t>
            </a:r>
          </a:p>
          <a:p>
            <a:pPr marL="0" indent="0">
              <a:lnSpc>
                <a:spcPct val="110000"/>
              </a:lnSpc>
              <a:buNone/>
            </a:pPr>
            <a:r>
              <a:rPr lang="tr-TR" sz="1500"/>
              <a:t>Toprak</a:t>
            </a:r>
          </a:p>
          <a:p>
            <a:pPr marL="0" indent="0">
              <a:lnSpc>
                <a:spcPct val="110000"/>
              </a:lnSpc>
              <a:buNone/>
            </a:pPr>
            <a:r>
              <a:rPr lang="tr-TR" sz="1500"/>
              <a:t>Girişimciliktir.</a:t>
            </a:r>
          </a:p>
        </p:txBody>
      </p:sp>
    </p:spTree>
    <p:extLst>
      <p:ext uri="{BB962C8B-B14F-4D97-AF65-F5344CB8AC3E}">
        <p14:creationId xmlns:p14="http://schemas.microsoft.com/office/powerpoint/2010/main" val="3959238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0F17-2694-EE5C-AF42-D3740EE4365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CA96552-EB28-9646-DB22-A82963566802}"/>
              </a:ext>
            </a:extLst>
          </p:cNvPr>
          <p:cNvSpPr>
            <a:spLocks noGrp="1"/>
          </p:cNvSpPr>
          <p:nvPr>
            <p:ph type="title"/>
          </p:nvPr>
        </p:nvSpPr>
        <p:spPr/>
        <p:txBody>
          <a:bodyPr/>
          <a:lstStyle/>
          <a:p>
            <a:r>
              <a:rPr lang="tr-TR"/>
              <a:t>İKTİSADIN TEMEL SORULARI</a:t>
            </a:r>
          </a:p>
        </p:txBody>
      </p:sp>
      <p:sp>
        <p:nvSpPr>
          <p:cNvPr id="3" name="İçerik Yer Tutucusu 2">
            <a:extLst>
              <a:ext uri="{FF2B5EF4-FFF2-40B4-BE49-F238E27FC236}">
                <a16:creationId xmlns:a16="http://schemas.microsoft.com/office/drawing/2014/main" id="{8EC5CA68-A5E6-6F51-540B-F56AAD522666}"/>
              </a:ext>
            </a:extLst>
          </p:cNvPr>
          <p:cNvSpPr>
            <a:spLocks noGrp="1"/>
          </p:cNvSpPr>
          <p:nvPr>
            <p:ph idx="1"/>
          </p:nvPr>
        </p:nvSpPr>
        <p:spPr/>
        <p:txBody>
          <a:bodyPr>
            <a:normAutofit fontScale="92500" lnSpcReduction="10000"/>
          </a:bodyPr>
          <a:lstStyle/>
          <a:p>
            <a:pPr marL="0" indent="0">
              <a:buNone/>
            </a:pPr>
            <a:r>
              <a:rPr lang="tr-TR"/>
              <a:t>4. Kim Üretecek?</a:t>
            </a:r>
          </a:p>
          <a:p>
            <a:pPr marL="0" indent="0">
              <a:buNone/>
            </a:pPr>
            <a:r>
              <a:rPr lang="tr-TR"/>
              <a:t>Kim üretecek sorusunun şöyle sormak ta mümkündür: Ne, ne kadar ve nasıl üretilecek sorularının cevabını kim verecek? Bu soruların cevabı uygulanan ekonomik sistem’e göre farklılıklar gösterecektir. Merkezi planlama ekonomilerinde (ya da kumanda ekonomileri) ne, ne kadar ve nasıl üretileceği sorularının cevabını devlet verir. Merkezi planlama ekonomilerine günümüzde sayıca oldukça az olan sosyalist ekonomiler örnek gösterilebilir. Serbest piyasa ekonomilerinde neyin, ne kadar ve nasıl üretileceğine kendi çıkarlarının maksimizasyonunu amaçlayan bireyler (tüketiciler) ve firmalar (üreticiler) tarafından karar verilir. Piyasa ekonomilerinde, bireyler gelir kısıtları altında faydalarını maksimize eden tüketim tercihlerini yaparken, firmalarda kârlarını maksimize eden üretim kararlarını alıyor olacaklardır. </a:t>
            </a:r>
          </a:p>
        </p:txBody>
      </p:sp>
    </p:spTree>
    <p:extLst>
      <p:ext uri="{BB962C8B-B14F-4D97-AF65-F5344CB8AC3E}">
        <p14:creationId xmlns:p14="http://schemas.microsoft.com/office/powerpoint/2010/main" val="30861308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nkli grafikler ve grafikler">
            <a:extLst>
              <a:ext uri="{FF2B5EF4-FFF2-40B4-BE49-F238E27FC236}">
                <a16:creationId xmlns:a16="http://schemas.microsoft.com/office/drawing/2014/main" id="{C236A3FD-FC71-C9AE-4CA7-CB2ED06945A2}"/>
              </a:ext>
            </a:extLst>
          </p:cNvPr>
          <p:cNvPicPr>
            <a:picLocks noChangeAspect="1"/>
          </p:cNvPicPr>
          <p:nvPr/>
        </p:nvPicPr>
        <p:blipFill>
          <a:blip r:embed="rId2">
            <a:alphaModFix amt="50000"/>
          </a:blip>
          <a:srcRect l="29401" r="25298" b="-2"/>
          <a:stretch/>
        </p:blipFill>
        <p:spPr>
          <a:xfrm>
            <a:off x="20" y="-1"/>
            <a:ext cx="4654276" cy="6857999"/>
          </a:xfrm>
          <a:prstGeom prst="rect">
            <a:avLst/>
          </a:prstGeom>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F7ED8F78-28CD-C144-E30C-BC0C6A09999B}"/>
              </a:ext>
            </a:extLst>
          </p:cNvPr>
          <p:cNvSpPr>
            <a:spLocks noGrp="1"/>
          </p:cNvSpPr>
          <p:nvPr>
            <p:ph type="title"/>
          </p:nvPr>
        </p:nvSpPr>
        <p:spPr>
          <a:xfrm>
            <a:off x="738786" y="1319622"/>
            <a:ext cx="3481988" cy="1591492"/>
          </a:xfrm>
          <a:noFill/>
        </p:spPr>
        <p:txBody>
          <a:bodyPr>
            <a:normAutofit/>
          </a:bodyPr>
          <a:lstStyle/>
          <a:p>
            <a:r>
              <a:rPr lang="tr-TR">
                <a:solidFill>
                  <a:schemeClr val="accent1">
                    <a:lumMod val="60000"/>
                    <a:lumOff val="40000"/>
                  </a:schemeClr>
                </a:solidFill>
              </a:rPr>
              <a:t>İKTİSADIN TEMEL SORULARI</a:t>
            </a:r>
          </a:p>
        </p:txBody>
      </p:sp>
      <p:sp>
        <p:nvSpPr>
          <p:cNvPr id="3" name="İçerik Yer Tutucusu 2">
            <a:extLst>
              <a:ext uri="{FF2B5EF4-FFF2-40B4-BE49-F238E27FC236}">
                <a16:creationId xmlns:a16="http://schemas.microsoft.com/office/drawing/2014/main" id="{766C90B0-D906-D74A-9B98-C269B0B326C1}"/>
              </a:ext>
            </a:extLst>
          </p:cNvPr>
          <p:cNvSpPr>
            <a:spLocks noGrp="1"/>
          </p:cNvSpPr>
          <p:nvPr>
            <p:ph idx="1"/>
          </p:nvPr>
        </p:nvSpPr>
        <p:spPr>
          <a:xfrm>
            <a:off x="5562600" y="1495741"/>
            <a:ext cx="4988781" cy="3996716"/>
          </a:xfrm>
        </p:spPr>
        <p:txBody>
          <a:bodyPr>
            <a:normAutofit/>
          </a:bodyPr>
          <a:lstStyle/>
          <a:p>
            <a:pPr>
              <a:lnSpc>
                <a:spcPct val="110000"/>
              </a:lnSpc>
            </a:pPr>
            <a:r>
              <a:rPr lang="tr-TR" sz="1400"/>
              <a:t>Aslında yukardaki dört temel sorunun cevabı sistematik ve planlı süreçler sonucunda verilmeyebilir. En azından şu an Dünya’daki ülkelerin birçoğunda uygulanan farklı derecelerdeki serbest piyasa ekonomilerinde durum böyledir. Bu tür ekonomilerde ekonomik birimlerin kendi çıkarlarını maksimize etmek üzere, verdikleri rasyonel kararlar yukarıdaki dört temel sorunun cevabını otomatik olarak verir. Bunu iktisadın bir bilim olmasına önemli katkıları olan, modern iktisadın kurucusu olarak niteleyebileceğimiz 18.yy. iktisatçısı Adam Smith “görünmez el” olarak adlandırmıştır. Smith’e göre bireylerin, firmaların yani ekonomik birimlerin kendi çıkarları peşinde koşması toplumun çıkarları ile doğrudan ilişkilidir ve eğer her birey ya da ekonomik birim kendi çıkarını en çoğa çıkarmaya çabalarsa toplum çıkarı da en çoğa çıkabilir. </a:t>
            </a:r>
          </a:p>
        </p:txBody>
      </p:sp>
    </p:spTree>
    <p:extLst>
      <p:ext uri="{BB962C8B-B14F-4D97-AF65-F5344CB8AC3E}">
        <p14:creationId xmlns:p14="http://schemas.microsoft.com/office/powerpoint/2010/main" val="36480183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751" name="Rectangle 31750">
            <a:extLst>
              <a:ext uri="{FF2B5EF4-FFF2-40B4-BE49-F238E27FC236}">
                <a16:creationId xmlns:a16="http://schemas.microsoft.com/office/drawing/2014/main" id="{63EAABAC-2289-7074-014F-97B788AAD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3" name="Rectangle 31752">
            <a:extLst>
              <a:ext uri="{FF2B5EF4-FFF2-40B4-BE49-F238E27FC236}">
                <a16:creationId xmlns:a16="http://schemas.microsoft.com/office/drawing/2014/main" id="{1BF24CF1-EE7F-86B3-94A8-3CD26A1AD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30092" y="914400"/>
            <a:ext cx="3335424" cy="5017787"/>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CE7484A-DFDC-B44D-F143-8ACABECD41D4}"/>
              </a:ext>
            </a:extLst>
          </p:cNvPr>
          <p:cNvSpPr>
            <a:spLocks noGrp="1"/>
          </p:cNvSpPr>
          <p:nvPr>
            <p:ph type="title"/>
          </p:nvPr>
        </p:nvSpPr>
        <p:spPr>
          <a:xfrm>
            <a:off x="921813" y="1159418"/>
            <a:ext cx="5438325" cy="1380805"/>
          </a:xfrm>
          <a:noFill/>
        </p:spPr>
        <p:txBody>
          <a:bodyPr>
            <a:normAutofit/>
          </a:bodyPr>
          <a:lstStyle/>
          <a:p>
            <a:r>
              <a:rPr lang="tr-TR"/>
              <a:t>TÜKETİCİ DAVRANIŞLARI VE FAYDA</a:t>
            </a:r>
          </a:p>
        </p:txBody>
      </p:sp>
      <p:sp>
        <p:nvSpPr>
          <p:cNvPr id="3" name="İçerik Yer Tutucusu 2">
            <a:extLst>
              <a:ext uri="{FF2B5EF4-FFF2-40B4-BE49-F238E27FC236}">
                <a16:creationId xmlns:a16="http://schemas.microsoft.com/office/drawing/2014/main" id="{C12B1FE2-C95C-6D93-7AA5-7BB28F2EBEF2}"/>
              </a:ext>
            </a:extLst>
          </p:cNvPr>
          <p:cNvSpPr>
            <a:spLocks noGrp="1"/>
          </p:cNvSpPr>
          <p:nvPr>
            <p:ph idx="1"/>
          </p:nvPr>
        </p:nvSpPr>
        <p:spPr>
          <a:xfrm>
            <a:off x="921815" y="2890881"/>
            <a:ext cx="5438325" cy="3052719"/>
          </a:xfrm>
        </p:spPr>
        <p:txBody>
          <a:bodyPr>
            <a:normAutofit/>
          </a:bodyPr>
          <a:lstStyle/>
          <a:p>
            <a:pPr>
              <a:lnSpc>
                <a:spcPct val="110000"/>
              </a:lnSpc>
            </a:pPr>
            <a:r>
              <a:rPr lang="tr-TR" sz="1400"/>
              <a:t>Daha öncede belirttiğimiz gibi sonsuz olan insan ihtiyaçları karşısında bu ihtiyaçları giderecek olan kaynakların kıt olması insanları tercih yapmaya zorlar. İnsanlar ne yiyeceklerini, ne giyeceklerini, hangi otomobili alacaklarını, tatile gidip gitmeyeceklerini ve buna benzer birçok problemle ilgili bir karar almak zorundadırlar. Hem alternatiflerin fazla olması hem de her alternatifin kendine özgü bir fırsat maliyetinin olması insanları bir seçim yapmak zorunda bırakır. Peki, insanlar seçimlerini neye göre yaparlar? Çok basit olarak bu soruya şöyle cevap verebiliriz: İnsanlar tercihlerini elde edecekleri faydayı göz önünde bulundurarak yaparlar. Bireylerin mal ve hizmetlerin tüketimi sonucu elde ettikleri tatmin duygusuna </a:t>
            </a:r>
            <a:r>
              <a:rPr lang="tr-TR" sz="1400" b="1"/>
              <a:t>fayda</a:t>
            </a:r>
            <a:r>
              <a:rPr lang="tr-TR" sz="1400"/>
              <a:t> diyoruz. </a:t>
            </a:r>
          </a:p>
        </p:txBody>
      </p:sp>
      <p:pic>
        <p:nvPicPr>
          <p:cNvPr id="31746" name="Picture 2" descr="Consumer Behavior-An Overview">
            <a:extLst>
              <a:ext uri="{FF2B5EF4-FFF2-40B4-BE49-F238E27FC236}">
                <a16:creationId xmlns:a16="http://schemas.microsoft.com/office/drawing/2014/main" id="{D8477ED6-8228-B7E6-9CE5-0984CAA6C42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50733" y="2413340"/>
            <a:ext cx="3335423" cy="2097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0367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CB6B284-AB3E-022F-DE52-A40B6339A3AF}"/>
              </a:ext>
            </a:extLst>
          </p:cNvPr>
          <p:cNvSpPr>
            <a:spLocks noGrp="1"/>
          </p:cNvSpPr>
          <p:nvPr>
            <p:ph type="title"/>
          </p:nvPr>
        </p:nvSpPr>
        <p:spPr/>
        <p:txBody>
          <a:bodyPr/>
          <a:lstStyle/>
          <a:p>
            <a:r>
              <a:rPr lang="tr-TR"/>
              <a:t>Toplam ve Marjinal Fayda</a:t>
            </a:r>
          </a:p>
        </p:txBody>
      </p:sp>
      <p:sp>
        <p:nvSpPr>
          <p:cNvPr id="3" name="İçerik Yer Tutucusu 2">
            <a:extLst>
              <a:ext uri="{FF2B5EF4-FFF2-40B4-BE49-F238E27FC236}">
                <a16:creationId xmlns:a16="http://schemas.microsoft.com/office/drawing/2014/main" id="{BB2841C7-62E7-5874-CDAE-BA343AA58FD5}"/>
              </a:ext>
            </a:extLst>
          </p:cNvPr>
          <p:cNvSpPr>
            <a:spLocks noGrp="1"/>
          </p:cNvSpPr>
          <p:nvPr>
            <p:ph idx="1"/>
          </p:nvPr>
        </p:nvSpPr>
        <p:spPr/>
        <p:txBody>
          <a:bodyPr/>
          <a:lstStyle/>
          <a:p>
            <a:r>
              <a:rPr lang="tr-TR"/>
              <a:t>Mal ve hizmetlerin tüketimi ile sağlanan faydayı ölçmek mümkün değildir. Fakat konunun anlaşılması bakımından şimdilik faydayı ölçebildiğimizi varsayalım. Bir tane mal tüketen bir tüketicinin bu tüketimden elde ettiği toplam tatmine toplam fayda (U) diyoruz. Bir malın tüketimden elde edilen toplam fayda en azından belli bir tüketim düzeyine kadar artan bir eğilim gösterir. Fakat ilave her birim tüketimin sağladığı ilave fayda için aynı şeyi söyleyemeyiz. Bir malın en son tüketilen biriminden elde edilen ilave faydaya marjinal fayda (MU) denir. Marjinal fayda faydadaki değişimin tüketim miktarındaki değişime oranı olarak formüle edilir. O zaman X malının marjinal faydasını (MUx) şöyle yazabiliriz:</a:t>
            </a:r>
          </a:p>
        </p:txBody>
      </p:sp>
      <p:pic>
        <p:nvPicPr>
          <p:cNvPr id="7" name="Resim 6" descr="metin, yazı tipi, beyaz, çizgi içeren bir resim&#10;&#10;Yapay zeka tarafından oluşturulan içerik yanlış olabilir.">
            <a:extLst>
              <a:ext uri="{FF2B5EF4-FFF2-40B4-BE49-F238E27FC236}">
                <a16:creationId xmlns:a16="http://schemas.microsoft.com/office/drawing/2014/main" id="{266C8832-0005-4C24-7CD5-7070E6C86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9739" y="5168683"/>
            <a:ext cx="3124636" cy="552527"/>
          </a:xfrm>
          <a:prstGeom prst="rect">
            <a:avLst/>
          </a:prstGeom>
        </p:spPr>
      </p:pic>
    </p:spTree>
    <p:extLst>
      <p:ext uri="{BB962C8B-B14F-4D97-AF65-F5344CB8AC3E}">
        <p14:creationId xmlns:p14="http://schemas.microsoft.com/office/powerpoint/2010/main" val="37227486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7FFB96A-59AB-A7E6-10F9-7260CE3E211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22E14B-4FF3-5229-CA86-75E25F37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niz 'da büyük bir dalga">
            <a:extLst>
              <a:ext uri="{FF2B5EF4-FFF2-40B4-BE49-F238E27FC236}">
                <a16:creationId xmlns:a16="http://schemas.microsoft.com/office/drawing/2014/main" id="{1B77A5B5-2C1E-FE53-4C51-7F3A009CE3BD}"/>
              </a:ext>
            </a:extLst>
          </p:cNvPr>
          <p:cNvPicPr>
            <a:picLocks noChangeAspect="1"/>
          </p:cNvPicPr>
          <p:nvPr/>
        </p:nvPicPr>
        <p:blipFill>
          <a:blip r:embed="rId3"/>
          <a:srcRect l="36596" r="18102" b="-2"/>
          <a:stretch/>
        </p:blipFill>
        <p:spPr>
          <a:xfrm>
            <a:off x="7537704" y="-2"/>
            <a:ext cx="4654296" cy="6857999"/>
          </a:xfrm>
          <a:prstGeom prst="rect">
            <a:avLst/>
          </a:prstGeom>
        </p:spPr>
      </p:pic>
      <p:sp>
        <p:nvSpPr>
          <p:cNvPr id="11" name="Rectangle 10">
            <a:extLst>
              <a:ext uri="{FF2B5EF4-FFF2-40B4-BE49-F238E27FC236}">
                <a16:creationId xmlns:a16="http://schemas.microsoft.com/office/drawing/2014/main" id="{FA6B968A-A417-B33C-613C-7B1B45542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B399EA4-3D42-F11A-F4B4-D765FA0D371A}"/>
              </a:ext>
            </a:extLst>
          </p:cNvPr>
          <p:cNvSpPr>
            <a:spLocks noGrp="1"/>
          </p:cNvSpPr>
          <p:nvPr>
            <p:ph type="title"/>
          </p:nvPr>
        </p:nvSpPr>
        <p:spPr>
          <a:xfrm>
            <a:off x="782418" y="1280160"/>
            <a:ext cx="5670400" cy="1152144"/>
          </a:xfrm>
        </p:spPr>
        <p:txBody>
          <a:bodyPr>
            <a:normAutofit/>
          </a:bodyPr>
          <a:lstStyle/>
          <a:p>
            <a:r>
              <a:rPr lang="tr-TR"/>
              <a:t>Toplam ve Marjinal Fayda</a:t>
            </a:r>
          </a:p>
        </p:txBody>
      </p:sp>
      <p:sp>
        <p:nvSpPr>
          <p:cNvPr id="3" name="İçerik Yer Tutucusu 2">
            <a:extLst>
              <a:ext uri="{FF2B5EF4-FFF2-40B4-BE49-F238E27FC236}">
                <a16:creationId xmlns:a16="http://schemas.microsoft.com/office/drawing/2014/main" id="{C1A52BF4-C47D-85F9-B9BF-6A94D39E6141}"/>
              </a:ext>
            </a:extLst>
          </p:cNvPr>
          <p:cNvSpPr>
            <a:spLocks noGrp="1"/>
          </p:cNvSpPr>
          <p:nvPr>
            <p:ph idx="1"/>
          </p:nvPr>
        </p:nvSpPr>
        <p:spPr>
          <a:xfrm>
            <a:off x="1297173" y="2432304"/>
            <a:ext cx="5155646" cy="3092443"/>
          </a:xfrm>
        </p:spPr>
        <p:txBody>
          <a:bodyPr>
            <a:normAutofit fontScale="92500" lnSpcReduction="10000"/>
          </a:bodyPr>
          <a:lstStyle/>
          <a:p>
            <a:pPr>
              <a:lnSpc>
                <a:spcPct val="110000"/>
              </a:lnSpc>
            </a:pPr>
            <a:r>
              <a:rPr lang="tr-TR" sz="1600"/>
              <a:t>Marjinal fayda genelde azalan bir seyir izler. Yani bir malın tüketim miktarı artıkça tüketicinin elde ettiği toplam fayda artarken, marjinal fayda azalır. Buna iktisat biliminde azalan marjinal fayda diyoruz. Örneğin 10 gün için deniz kıyısında tatile giden bir tatilcinin, tatilinin birinci gününde elde ettiği fayda ile beşinci gününde elde ettiği fayda aynı olmayacaktır. Onuncu günün tatilciye sağladığı fayda birinci günün faydasından çok daha düşük olacaktır. On gün için tatile çıkan tatilcinin toplam ve marjinal faydaları Tablo 1’de verilmektedir. Dikkat edilirse tatilcinin toplam faydası 10. güne kadar bir azalma göstermezken, marjinal faydası ilk günden ibaren azalmaktadır.</a:t>
            </a:r>
          </a:p>
        </p:txBody>
      </p:sp>
    </p:spTree>
    <p:extLst>
      <p:ext uri="{BB962C8B-B14F-4D97-AF65-F5344CB8AC3E}">
        <p14:creationId xmlns:p14="http://schemas.microsoft.com/office/powerpoint/2010/main" val="4013062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F72-E96F-77BD-14B5-B8901021842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FC77E2F-1E86-6ED2-3B2F-881F565F8FF5}"/>
              </a:ext>
            </a:extLst>
          </p:cNvPr>
          <p:cNvSpPr>
            <a:spLocks noGrp="1"/>
          </p:cNvSpPr>
          <p:nvPr>
            <p:ph type="title"/>
          </p:nvPr>
        </p:nvSpPr>
        <p:spPr/>
        <p:txBody>
          <a:bodyPr/>
          <a:lstStyle/>
          <a:p>
            <a:r>
              <a:rPr lang="tr-TR"/>
              <a:t>Toplam ve Marjinal Fayda</a:t>
            </a:r>
          </a:p>
        </p:txBody>
      </p:sp>
      <p:pic>
        <p:nvPicPr>
          <p:cNvPr id="5" name="İçerik Yer Tutucusu 4" descr="metin, sayı, numara, ekran görüntüsü, yazı tipi içeren bir resim">
            <a:extLst>
              <a:ext uri="{FF2B5EF4-FFF2-40B4-BE49-F238E27FC236}">
                <a16:creationId xmlns:a16="http://schemas.microsoft.com/office/drawing/2014/main" id="{BF003635-4214-015E-9C4C-1910DB66387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68377" y="2306638"/>
            <a:ext cx="5028258" cy="3141662"/>
          </a:xfrm>
        </p:spPr>
      </p:pic>
    </p:spTree>
    <p:extLst>
      <p:ext uri="{BB962C8B-B14F-4D97-AF65-F5344CB8AC3E}">
        <p14:creationId xmlns:p14="http://schemas.microsoft.com/office/powerpoint/2010/main" val="19505446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0858983-BADE-46DD-0C0C-529914DC084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2D0267C2-9A87-5888-0384-969AD93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8570" y="930513"/>
            <a:ext cx="3740452" cy="4989589"/>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7AAA07F-7A3A-73A4-4250-4BBB127B4684}"/>
              </a:ext>
            </a:extLst>
          </p:cNvPr>
          <p:cNvSpPr>
            <a:spLocks noGrp="1"/>
          </p:cNvSpPr>
          <p:nvPr>
            <p:ph type="title"/>
          </p:nvPr>
        </p:nvSpPr>
        <p:spPr>
          <a:xfrm>
            <a:off x="745044" y="2743199"/>
            <a:ext cx="3355901" cy="1828800"/>
          </a:xfrm>
        </p:spPr>
        <p:txBody>
          <a:bodyPr vert="horz" lIns="91440" tIns="45720" rIns="91440" bIns="45720" rtlCol="0" anchor="b">
            <a:normAutofit/>
          </a:bodyPr>
          <a:lstStyle/>
          <a:p>
            <a:r>
              <a:rPr lang="en-US" sz="3200" spc="530"/>
              <a:t>Toplam ve Marjinal Fayda</a:t>
            </a:r>
          </a:p>
        </p:txBody>
      </p:sp>
      <p:pic>
        <p:nvPicPr>
          <p:cNvPr id="7" name="İçerik Yer Tutucusu 6" descr="metin, çizgi, diyagram, yazı tipi içeren bir resim&#10;&#10;Yapay zeka tarafından oluşturulan içerik yanlış olabilir.">
            <a:extLst>
              <a:ext uri="{FF2B5EF4-FFF2-40B4-BE49-F238E27FC236}">
                <a16:creationId xmlns:a16="http://schemas.microsoft.com/office/drawing/2014/main" id="{AAA8F855-7A41-DE27-D622-77BC02CABA0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67176" y="1361599"/>
            <a:ext cx="5558809" cy="4127416"/>
          </a:xfrm>
          <a:prstGeom prst="rect">
            <a:avLst/>
          </a:prstGeom>
        </p:spPr>
      </p:pic>
    </p:spTree>
    <p:extLst>
      <p:ext uri="{BB962C8B-B14F-4D97-AF65-F5344CB8AC3E}">
        <p14:creationId xmlns:p14="http://schemas.microsoft.com/office/powerpoint/2010/main" val="1832920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3F5D9D-6E28-16DE-7593-10D6597AF121}"/>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34C6D8F-14AE-29D8-C436-02EECD1215FC}"/>
              </a:ext>
            </a:extLst>
          </p:cNvPr>
          <p:cNvSpPr>
            <a:spLocks noGrp="1"/>
          </p:cNvSpPr>
          <p:nvPr>
            <p:ph idx="1"/>
          </p:nvPr>
        </p:nvSpPr>
        <p:spPr/>
        <p:txBody>
          <a:bodyPr/>
          <a:lstStyle/>
          <a:p>
            <a:r>
              <a:rPr lang="tr-TR"/>
              <a:t>TEŞEKKÜRLER </a:t>
            </a:r>
            <a:r>
              <a:rPr lang="tr-TR">
                <a:sym typeface="Wingdings" panose="05000000000000000000" pitchFamily="2" charset="2"/>
              </a:rPr>
              <a:t></a:t>
            </a:r>
            <a:endParaRPr lang="tr-TR"/>
          </a:p>
        </p:txBody>
      </p:sp>
    </p:spTree>
    <p:extLst>
      <p:ext uri="{BB962C8B-B14F-4D97-AF65-F5344CB8AC3E}">
        <p14:creationId xmlns:p14="http://schemas.microsoft.com/office/powerpoint/2010/main" val="3983166263"/>
      </p:ext>
    </p:extLst>
  </p:cSld>
  <p:clrMapOvr>
    <a:masterClrMapping/>
  </p:clrMapOvr>
</p:sld>
</file>

<file path=ppt/theme/theme1.xml><?xml version="1.0" encoding="utf-8"?>
<a:theme xmlns:a="http://schemas.openxmlformats.org/drawingml/2006/main" name="LimelightVTI">
  <a:themeElements>
    <a:clrScheme name="AnalogousFromDarkSeedLeftStep">
      <a:dk1>
        <a:srgbClr val="000000"/>
      </a:dk1>
      <a:lt1>
        <a:srgbClr val="FFFFFF"/>
      </a:lt1>
      <a:dk2>
        <a:srgbClr val="1E2734"/>
      </a:dk2>
      <a:lt2>
        <a:srgbClr val="E2E5E8"/>
      </a:lt2>
      <a:accent1>
        <a:srgbClr val="C5864B"/>
      </a:accent1>
      <a:accent2>
        <a:srgbClr val="B34239"/>
      </a:accent2>
      <a:accent3>
        <a:srgbClr val="C54B75"/>
      </a:accent3>
      <a:accent4>
        <a:srgbClr val="B33996"/>
      </a:accent4>
      <a:accent5>
        <a:srgbClr val="AF4BC5"/>
      </a:accent5>
      <a:accent6>
        <a:srgbClr val="6A39B3"/>
      </a:accent6>
      <a:hlink>
        <a:srgbClr val="BD3FBF"/>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melightVTI" id="{7936DCFD-B587-41FD-9126-64F2709ED40B}" vid="{74F41540-78F1-4C56-9EAA-6FA6E9F1D776}"/>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6407</Words>
  <Application>Microsoft Office PowerPoint</Application>
  <PresentationFormat>Geniş ekran</PresentationFormat>
  <Paragraphs>326</Paragraphs>
  <Slides>54</Slides>
  <Notes>35</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54</vt:i4>
      </vt:variant>
    </vt:vector>
  </HeadingPairs>
  <TitlesOfParts>
    <vt:vector size="61" baseType="lpstr">
      <vt:lpstr>Aptos</vt:lpstr>
      <vt:lpstr>Arial</vt:lpstr>
      <vt:lpstr>Times New Roman</vt:lpstr>
      <vt:lpstr>Trade Gothic Next Cond</vt:lpstr>
      <vt:lpstr>Trade Gothic Next Light</vt:lpstr>
      <vt:lpstr>Wingdings</vt:lpstr>
      <vt:lpstr>LimelightVTI</vt:lpstr>
      <vt:lpstr>İŞLETMEYE GİRİŞ</vt:lpstr>
      <vt:lpstr>Temel Kavramlar ve Tüketici Davranışı</vt:lpstr>
      <vt:lpstr>            Ekonomi Hakkında</vt:lpstr>
      <vt:lpstr>       TERİM VE KAVRAMLAR</vt:lpstr>
      <vt:lpstr>  TERİM VE KAVRAMLAR</vt:lpstr>
      <vt:lpstr>       TERİM VE KAVRAMLAR</vt:lpstr>
      <vt:lpstr>      TERİM VE KAVRAMLAR              (EKONOMİK BİRİMLER)</vt:lpstr>
      <vt:lpstr>      TERİM VE KAVRAMLAR</vt:lpstr>
      <vt:lpstr> İKTİSADİ FAALİYETLER</vt:lpstr>
      <vt:lpstr> İKTİSAT NEDİR?</vt:lpstr>
      <vt:lpstr> İKTİSAT NEDİR?</vt:lpstr>
      <vt:lpstr>      İktisat Bilim midir ? </vt:lpstr>
      <vt:lpstr>     İktisat Bilim midir ? </vt:lpstr>
      <vt:lpstr>İktisadın Bilimsel Yönleri: </vt:lpstr>
      <vt:lpstr>           İktisat Bilim midir? </vt:lpstr>
      <vt:lpstr>Pozitif ve Normatif İktisat Ayrımı: </vt:lpstr>
      <vt:lpstr>             İktisat Gerekli mi?</vt:lpstr>
      <vt:lpstr>   İKTİSATÇILAR NEDEN ANLAŞAMAZLAR</vt:lpstr>
      <vt:lpstr>        İKTİSADİ SİSTEMLER</vt:lpstr>
      <vt:lpstr>         İKTİSADİ SİSTEMLER</vt:lpstr>
      <vt:lpstr> İKTİSADİ SİSTEMLER</vt:lpstr>
      <vt:lpstr>Merkez planlı ekonomi</vt:lpstr>
      <vt:lpstr>         İKTİSADİ SİSTEMLER</vt:lpstr>
      <vt:lpstr>         İKTİSADİ SİSTEMLER</vt:lpstr>
      <vt:lpstr>         İKTİSADİ SİSTEMLER</vt:lpstr>
      <vt:lpstr>EKONOMİK MODEL</vt:lpstr>
      <vt:lpstr>EKONOMİK MODEL</vt:lpstr>
      <vt:lpstr>Pozitif – Normatif İktisat</vt:lpstr>
      <vt:lpstr>Pozitif – Normatif İktisat</vt:lpstr>
      <vt:lpstr>Mikroiktisat – Makroiktisat</vt:lpstr>
      <vt:lpstr>Piyasalar</vt:lpstr>
      <vt:lpstr>KITLIK VE TERCİH</vt:lpstr>
      <vt:lpstr>KITLIK VE TERCİH</vt:lpstr>
      <vt:lpstr>Rasyonel Davranış</vt:lpstr>
      <vt:lpstr>Fırsat Maliyeti - Parasal Maliyet</vt:lpstr>
      <vt:lpstr>Üretim İmkanları Sınırı</vt:lpstr>
      <vt:lpstr>Üretim İmkanları Sınırı</vt:lpstr>
      <vt:lpstr>Marjinal Maliyet - Marjinal Fayda</vt:lpstr>
      <vt:lpstr>Marjinal Maliyet - Marjinal Fayda</vt:lpstr>
      <vt:lpstr>İkame ve Teşvik</vt:lpstr>
      <vt:lpstr>İkame ve Teşvik</vt:lpstr>
      <vt:lpstr>İkame ve Teşvik</vt:lpstr>
      <vt:lpstr>İKTİSADIN TEMEL SORULARI</vt:lpstr>
      <vt:lpstr>İKTİSADIN TEMEL SORULARI</vt:lpstr>
      <vt:lpstr>İKTİSADIN TEMEL SORULARI</vt:lpstr>
      <vt:lpstr>İKTİSADIN TEMEL SORULARI</vt:lpstr>
      <vt:lpstr>İKTİSADIN TEMEL SORULARI</vt:lpstr>
      <vt:lpstr>İKTİSADIN TEMEL SORULARI</vt:lpstr>
      <vt:lpstr>TÜKETİCİ DAVRANIŞLARI VE FAYDA</vt:lpstr>
      <vt:lpstr>Toplam ve Marjinal Fayda</vt:lpstr>
      <vt:lpstr>Toplam ve Marjinal Fayda</vt:lpstr>
      <vt:lpstr>Toplam ve Marjinal Fayda</vt:lpstr>
      <vt:lpstr>Toplam ve Marjinal Fayda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Fatih Çallı</dc:creator>
  <cp:lastModifiedBy>Office</cp:lastModifiedBy>
  <cp:revision>5</cp:revision>
  <dcterms:created xsi:type="dcterms:W3CDTF">2025-02-19T10:02:57Z</dcterms:created>
  <dcterms:modified xsi:type="dcterms:W3CDTF">2026-04-30T09:06:30Z</dcterms:modified>
</cp:coreProperties>
</file>