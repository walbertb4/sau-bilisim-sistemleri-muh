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327"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5"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79412" autoAdjust="0"/>
  </p:normalViewPr>
  <p:slideViewPr>
    <p:cSldViewPr snapToGrid="0">
      <p:cViewPr varScale="1">
        <p:scale>
          <a:sx n="87" d="100"/>
          <a:sy n="87" d="100"/>
        </p:scale>
        <p:origin x="12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_rels/data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307CC-F7B4-4B64-8000-545E2A0FB7B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0E93F9C1-76B4-4691-8F4B-CCC6DDB7787A}">
      <dgm:prSet/>
      <dgm:spPr/>
      <dgm:t>
        <a:bodyPr/>
        <a:lstStyle/>
        <a:p>
          <a:pPr>
            <a:lnSpc>
              <a:spcPct val="100000"/>
            </a:lnSpc>
          </a:pPr>
          <a:r>
            <a:rPr lang="tr-TR" b="1" baseline="0"/>
            <a:t>Ürün üreten işletmeler</a:t>
          </a:r>
          <a:r>
            <a:rPr lang="tr-TR" baseline="0"/>
            <a:t>: bunlara imalatçı ya da üretici işletmeler de denir. Bu işletmeler gözle görülebilen, elle tutulabilen, somut ve maddi olan şeyleri, yani ürünleri üretirler. Üretimde çeşitli girdileri işleyerek insanların dün, bugün ve gelecekteki sorunlarını çözecek, istek ve ihtiyaçlarını giderecek şekilde faydalı somut çıktılar üretirler. </a:t>
          </a:r>
          <a:endParaRPr lang="en-US"/>
        </a:p>
      </dgm:t>
    </dgm:pt>
    <dgm:pt modelId="{AA24E484-6D67-4F18-8D16-14145D5FF5E8}" type="parTrans" cxnId="{9EE5D082-67FC-4F02-B3E7-4774B7FEA3BF}">
      <dgm:prSet/>
      <dgm:spPr/>
      <dgm:t>
        <a:bodyPr/>
        <a:lstStyle/>
        <a:p>
          <a:endParaRPr lang="en-US"/>
        </a:p>
      </dgm:t>
    </dgm:pt>
    <dgm:pt modelId="{635E2704-DE9F-49ED-AF0B-A11F3BEF4FAF}" type="sibTrans" cxnId="{9EE5D082-67FC-4F02-B3E7-4774B7FEA3BF}">
      <dgm:prSet/>
      <dgm:spPr/>
      <dgm:t>
        <a:bodyPr/>
        <a:lstStyle/>
        <a:p>
          <a:endParaRPr lang="en-US"/>
        </a:p>
      </dgm:t>
    </dgm:pt>
    <dgm:pt modelId="{4BD6A146-0F8B-448F-9EF1-F4760A84829F}">
      <dgm:prSet/>
      <dgm:spPr/>
      <dgm:t>
        <a:bodyPr/>
        <a:lstStyle/>
        <a:p>
          <a:pPr>
            <a:lnSpc>
              <a:spcPct val="100000"/>
            </a:lnSpc>
          </a:pPr>
          <a:r>
            <a:rPr lang="tr-TR" b="1" baseline="0"/>
            <a:t>Hizmet üreten işletmeler: </a:t>
          </a:r>
          <a:r>
            <a:rPr lang="tr-TR" baseline="0"/>
            <a:t>hizmet, maddi olmayan, soyut, stok edilemeyen ama insan ihtiyacı olan çıktılardır. Bunlar da tüketilir, satılır ve satın alınırlar. Yine aynı şekilde isteklerden ve ihtiyaçlardan doğmuşlardır. İnsanlar bunları satın alarak hayatlarını kolaylaştırır ve yaşam kalitelerini yükseltir. Hastaneler, oteller, eğlence yerleri, bankalar, hava yolları, demir yolları, bakım işletmeleri örnek olarak gösterilebilir. </a:t>
          </a:r>
          <a:endParaRPr lang="en-US"/>
        </a:p>
      </dgm:t>
    </dgm:pt>
    <dgm:pt modelId="{0EA8EB17-A23B-40ED-9B11-AD816D7372BF}" type="parTrans" cxnId="{625534A3-8252-43E1-BC7B-DE375A45895B}">
      <dgm:prSet/>
      <dgm:spPr/>
      <dgm:t>
        <a:bodyPr/>
        <a:lstStyle/>
        <a:p>
          <a:endParaRPr lang="en-US"/>
        </a:p>
      </dgm:t>
    </dgm:pt>
    <dgm:pt modelId="{0DF7402E-2396-4BE6-89FD-3D32228AD984}" type="sibTrans" cxnId="{625534A3-8252-43E1-BC7B-DE375A45895B}">
      <dgm:prSet/>
      <dgm:spPr/>
      <dgm:t>
        <a:bodyPr/>
        <a:lstStyle/>
        <a:p>
          <a:endParaRPr lang="en-US"/>
        </a:p>
      </dgm:t>
    </dgm:pt>
    <dgm:pt modelId="{54EC6131-4AEF-4F00-9B0A-EEABA3502062}">
      <dgm:prSet/>
      <dgm:spPr/>
      <dgm:t>
        <a:bodyPr/>
        <a:lstStyle/>
        <a:p>
          <a:pPr>
            <a:lnSpc>
              <a:spcPct val="100000"/>
            </a:lnSpc>
          </a:pPr>
          <a:r>
            <a:rPr lang="tr-TR" b="1" baseline="0"/>
            <a:t>Ticaret işletmeleri</a:t>
          </a:r>
          <a:r>
            <a:rPr lang="tr-TR" baseline="0"/>
            <a:t>: ticaret işletmeleri ürün üreten işletmelerle tüketiciler arasındaki fonksiyonları yaparlar. Bu fonksiyonlar; taşıma, depolama, dağıtım, tutundurma ve satıştır. Ticaret işletmelerinde üretim olmadığı için yapılan işler hizmettir ve bu işletmelerde hizmet işletmesi olarak algılanmalıdır görüşü vardır. Ancak bazıları da sonuçta ticaret işletmelerinin tüketicilere somut ürünler sunduğu, bu nedenle de hizmet işletmesi olamayacağı şeklinde yorumlar yapmaktadır. Üretim işletmelerinden bazıları ürünlerini tüketicilere kendisi satmaktadır. Bütün işletmelerin aynı şeyi yapması mümkün değildir. Aksi takdirde, hemen hemen ürün sayısı kadar satış noktası ortaya çıkar ki bu da imkânsızdır. Bu durumda üretim işletmelerinde üretilen ürünlerin bir kısmı, başka bir işletme tarafından satılmak zorundadır.</a:t>
          </a:r>
          <a:endParaRPr lang="en-US"/>
        </a:p>
      </dgm:t>
    </dgm:pt>
    <dgm:pt modelId="{C33DCD63-1EF1-40F5-8088-934D49D62C4F}" type="parTrans" cxnId="{7E554DBB-AB98-4434-8AEB-74674179702D}">
      <dgm:prSet/>
      <dgm:spPr/>
      <dgm:t>
        <a:bodyPr/>
        <a:lstStyle/>
        <a:p>
          <a:endParaRPr lang="en-US"/>
        </a:p>
      </dgm:t>
    </dgm:pt>
    <dgm:pt modelId="{1313BE79-E366-4ED0-AF49-11E48570D364}" type="sibTrans" cxnId="{7E554DBB-AB98-4434-8AEB-74674179702D}">
      <dgm:prSet/>
      <dgm:spPr/>
      <dgm:t>
        <a:bodyPr/>
        <a:lstStyle/>
        <a:p>
          <a:endParaRPr lang="en-US"/>
        </a:p>
      </dgm:t>
    </dgm:pt>
    <dgm:pt modelId="{35BD1217-CCB7-421B-A885-3A4D2F88FFF2}" type="pres">
      <dgm:prSet presAssocID="{C04307CC-F7B4-4B64-8000-545E2A0FB7B0}" presName="root" presStyleCnt="0">
        <dgm:presLayoutVars>
          <dgm:dir/>
          <dgm:resizeHandles val="exact"/>
        </dgm:presLayoutVars>
      </dgm:prSet>
      <dgm:spPr/>
    </dgm:pt>
    <dgm:pt modelId="{7A3CFF1B-B1B9-4A78-89CB-5EAD0F74800B}" type="pres">
      <dgm:prSet presAssocID="{0E93F9C1-76B4-4691-8F4B-CCC6DDB7787A}" presName="compNode" presStyleCnt="0"/>
      <dgm:spPr/>
    </dgm:pt>
    <dgm:pt modelId="{F2705354-CC5B-40D1-B443-59491332770A}" type="pres">
      <dgm:prSet presAssocID="{0E93F9C1-76B4-4691-8F4B-CCC6DDB7787A}" presName="bgRect" presStyleLbl="bgShp" presStyleIdx="0" presStyleCnt="3"/>
      <dgm:spPr/>
    </dgm:pt>
    <dgm:pt modelId="{C96DCDD0-FAB7-4E94-8693-9ABCF1FC26F3}" type="pres">
      <dgm:prSet presAssocID="{0E93F9C1-76B4-4691-8F4B-CCC6DDB778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abrika"/>
        </a:ext>
      </dgm:extLst>
    </dgm:pt>
    <dgm:pt modelId="{94643FAF-C211-49C1-8720-CA815E74F70F}" type="pres">
      <dgm:prSet presAssocID="{0E93F9C1-76B4-4691-8F4B-CCC6DDB7787A}" presName="spaceRect" presStyleCnt="0"/>
      <dgm:spPr/>
    </dgm:pt>
    <dgm:pt modelId="{525E8388-4439-4E7B-A4BC-215FE0E5A45A}" type="pres">
      <dgm:prSet presAssocID="{0E93F9C1-76B4-4691-8F4B-CCC6DDB7787A}" presName="parTx" presStyleLbl="revTx" presStyleIdx="0" presStyleCnt="3">
        <dgm:presLayoutVars>
          <dgm:chMax val="0"/>
          <dgm:chPref val="0"/>
        </dgm:presLayoutVars>
      </dgm:prSet>
      <dgm:spPr/>
    </dgm:pt>
    <dgm:pt modelId="{B7934B2A-C6A1-4BFB-B9BB-1B3B7600415A}" type="pres">
      <dgm:prSet presAssocID="{635E2704-DE9F-49ED-AF0B-A11F3BEF4FAF}" presName="sibTrans" presStyleCnt="0"/>
      <dgm:spPr/>
    </dgm:pt>
    <dgm:pt modelId="{0204EABD-C327-48C0-A558-61D0527786B6}" type="pres">
      <dgm:prSet presAssocID="{4BD6A146-0F8B-448F-9EF1-F4760A84829F}" presName="compNode" presStyleCnt="0"/>
      <dgm:spPr/>
    </dgm:pt>
    <dgm:pt modelId="{A5F71465-8DDE-4766-82DE-638EA7DB52D0}" type="pres">
      <dgm:prSet presAssocID="{4BD6A146-0F8B-448F-9EF1-F4760A84829F}" presName="bgRect" presStyleLbl="bgShp" presStyleIdx="1" presStyleCnt="3"/>
      <dgm:spPr/>
    </dgm:pt>
    <dgm:pt modelId="{99DBAFB0-9D84-4008-8ED3-DCF3B22D586C}" type="pres">
      <dgm:prSet presAssocID="{4BD6A146-0F8B-448F-9EF1-F4760A84829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x trolley"/>
        </a:ext>
      </dgm:extLst>
    </dgm:pt>
    <dgm:pt modelId="{0FA24451-239D-4900-A598-FF446D34FE64}" type="pres">
      <dgm:prSet presAssocID="{4BD6A146-0F8B-448F-9EF1-F4760A84829F}" presName="spaceRect" presStyleCnt="0"/>
      <dgm:spPr/>
    </dgm:pt>
    <dgm:pt modelId="{072B8709-29F3-4D64-BD8D-B30690567E6E}" type="pres">
      <dgm:prSet presAssocID="{4BD6A146-0F8B-448F-9EF1-F4760A84829F}" presName="parTx" presStyleLbl="revTx" presStyleIdx="1" presStyleCnt="3">
        <dgm:presLayoutVars>
          <dgm:chMax val="0"/>
          <dgm:chPref val="0"/>
        </dgm:presLayoutVars>
      </dgm:prSet>
      <dgm:spPr/>
    </dgm:pt>
    <dgm:pt modelId="{548DBEB1-A139-49FA-9CFD-68B7A1FF017A}" type="pres">
      <dgm:prSet presAssocID="{0DF7402E-2396-4BE6-89FD-3D32228AD984}" presName="sibTrans" presStyleCnt="0"/>
      <dgm:spPr/>
    </dgm:pt>
    <dgm:pt modelId="{2D919936-A2DE-4F8C-B72E-8569B9CF042E}" type="pres">
      <dgm:prSet presAssocID="{54EC6131-4AEF-4F00-9B0A-EEABA3502062}" presName="compNode" presStyleCnt="0"/>
      <dgm:spPr/>
    </dgm:pt>
    <dgm:pt modelId="{A7726859-5429-4F12-9715-0B6F1E7AE3AC}" type="pres">
      <dgm:prSet presAssocID="{54EC6131-4AEF-4F00-9B0A-EEABA3502062}" presName="bgRect" presStyleLbl="bgShp" presStyleIdx="2" presStyleCnt="3"/>
      <dgm:spPr/>
    </dgm:pt>
    <dgm:pt modelId="{0657E197-093F-42DC-8802-18E479A2E540}" type="pres">
      <dgm:prSet presAssocID="{54EC6131-4AEF-4F00-9B0A-EEABA350206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Kiosk"/>
        </a:ext>
      </dgm:extLst>
    </dgm:pt>
    <dgm:pt modelId="{14A50C6F-9EDC-400F-9E28-1401B9070A7D}" type="pres">
      <dgm:prSet presAssocID="{54EC6131-4AEF-4F00-9B0A-EEABA3502062}" presName="spaceRect" presStyleCnt="0"/>
      <dgm:spPr/>
    </dgm:pt>
    <dgm:pt modelId="{B9890250-0388-4A9D-A4CB-C793DD5CBD9C}" type="pres">
      <dgm:prSet presAssocID="{54EC6131-4AEF-4F00-9B0A-EEABA3502062}" presName="parTx" presStyleLbl="revTx" presStyleIdx="2" presStyleCnt="3">
        <dgm:presLayoutVars>
          <dgm:chMax val="0"/>
          <dgm:chPref val="0"/>
        </dgm:presLayoutVars>
      </dgm:prSet>
      <dgm:spPr/>
    </dgm:pt>
  </dgm:ptLst>
  <dgm:cxnLst>
    <dgm:cxn modelId="{AB235419-4E68-4098-9B62-A20B2C80E9E9}" type="presOf" srcId="{0E93F9C1-76B4-4691-8F4B-CCC6DDB7787A}" destId="{525E8388-4439-4E7B-A4BC-215FE0E5A45A}" srcOrd="0" destOrd="0" presId="urn:microsoft.com/office/officeart/2018/2/layout/IconVerticalSolidList"/>
    <dgm:cxn modelId="{B8A5AA4C-007F-4F3B-B84D-11B66C1CFFD7}" type="presOf" srcId="{54EC6131-4AEF-4F00-9B0A-EEABA3502062}" destId="{B9890250-0388-4A9D-A4CB-C793DD5CBD9C}" srcOrd="0" destOrd="0" presId="urn:microsoft.com/office/officeart/2018/2/layout/IconVerticalSolidList"/>
    <dgm:cxn modelId="{DA343C55-63FD-4EC5-8BE8-4D723DC0A4B0}" type="presOf" srcId="{4BD6A146-0F8B-448F-9EF1-F4760A84829F}" destId="{072B8709-29F3-4D64-BD8D-B30690567E6E}" srcOrd="0" destOrd="0" presId="urn:microsoft.com/office/officeart/2018/2/layout/IconVerticalSolidList"/>
    <dgm:cxn modelId="{9EE5D082-67FC-4F02-B3E7-4774B7FEA3BF}" srcId="{C04307CC-F7B4-4B64-8000-545E2A0FB7B0}" destId="{0E93F9C1-76B4-4691-8F4B-CCC6DDB7787A}" srcOrd="0" destOrd="0" parTransId="{AA24E484-6D67-4F18-8D16-14145D5FF5E8}" sibTransId="{635E2704-DE9F-49ED-AF0B-A11F3BEF4FAF}"/>
    <dgm:cxn modelId="{625534A3-8252-43E1-BC7B-DE375A45895B}" srcId="{C04307CC-F7B4-4B64-8000-545E2A0FB7B0}" destId="{4BD6A146-0F8B-448F-9EF1-F4760A84829F}" srcOrd="1" destOrd="0" parTransId="{0EA8EB17-A23B-40ED-9B11-AD816D7372BF}" sibTransId="{0DF7402E-2396-4BE6-89FD-3D32228AD984}"/>
    <dgm:cxn modelId="{7E554DBB-AB98-4434-8AEB-74674179702D}" srcId="{C04307CC-F7B4-4B64-8000-545E2A0FB7B0}" destId="{54EC6131-4AEF-4F00-9B0A-EEABA3502062}" srcOrd="2" destOrd="0" parTransId="{C33DCD63-1EF1-40F5-8088-934D49D62C4F}" sibTransId="{1313BE79-E366-4ED0-AF49-11E48570D364}"/>
    <dgm:cxn modelId="{894745FE-E15A-4C34-BC0F-BB03054E9F77}" type="presOf" srcId="{C04307CC-F7B4-4B64-8000-545E2A0FB7B0}" destId="{35BD1217-CCB7-421B-A885-3A4D2F88FFF2}" srcOrd="0" destOrd="0" presId="urn:microsoft.com/office/officeart/2018/2/layout/IconVerticalSolidList"/>
    <dgm:cxn modelId="{68F0AF60-FD9D-43AC-911D-1BAB55AF91F2}" type="presParOf" srcId="{35BD1217-CCB7-421B-A885-3A4D2F88FFF2}" destId="{7A3CFF1B-B1B9-4A78-89CB-5EAD0F74800B}" srcOrd="0" destOrd="0" presId="urn:microsoft.com/office/officeart/2018/2/layout/IconVerticalSolidList"/>
    <dgm:cxn modelId="{70CD2403-807D-4CCA-8532-A1ACE1421D00}" type="presParOf" srcId="{7A3CFF1B-B1B9-4A78-89CB-5EAD0F74800B}" destId="{F2705354-CC5B-40D1-B443-59491332770A}" srcOrd="0" destOrd="0" presId="urn:microsoft.com/office/officeart/2018/2/layout/IconVerticalSolidList"/>
    <dgm:cxn modelId="{0F37100C-DD82-479D-8D39-88288A5EED97}" type="presParOf" srcId="{7A3CFF1B-B1B9-4A78-89CB-5EAD0F74800B}" destId="{C96DCDD0-FAB7-4E94-8693-9ABCF1FC26F3}" srcOrd="1" destOrd="0" presId="urn:microsoft.com/office/officeart/2018/2/layout/IconVerticalSolidList"/>
    <dgm:cxn modelId="{A8FB3862-CE88-4011-9F68-BE18C3C78A06}" type="presParOf" srcId="{7A3CFF1B-B1B9-4A78-89CB-5EAD0F74800B}" destId="{94643FAF-C211-49C1-8720-CA815E74F70F}" srcOrd="2" destOrd="0" presId="urn:microsoft.com/office/officeart/2018/2/layout/IconVerticalSolidList"/>
    <dgm:cxn modelId="{279DCBE1-FF8D-4868-A99C-86D1457A0B94}" type="presParOf" srcId="{7A3CFF1B-B1B9-4A78-89CB-5EAD0F74800B}" destId="{525E8388-4439-4E7B-A4BC-215FE0E5A45A}" srcOrd="3" destOrd="0" presId="urn:microsoft.com/office/officeart/2018/2/layout/IconVerticalSolidList"/>
    <dgm:cxn modelId="{52C6ABCA-6928-4253-BEC4-3DE1A85A6E1A}" type="presParOf" srcId="{35BD1217-CCB7-421B-A885-3A4D2F88FFF2}" destId="{B7934B2A-C6A1-4BFB-B9BB-1B3B7600415A}" srcOrd="1" destOrd="0" presId="urn:microsoft.com/office/officeart/2018/2/layout/IconVerticalSolidList"/>
    <dgm:cxn modelId="{F30B58CB-2097-4279-84FA-D0242032C6F1}" type="presParOf" srcId="{35BD1217-CCB7-421B-A885-3A4D2F88FFF2}" destId="{0204EABD-C327-48C0-A558-61D0527786B6}" srcOrd="2" destOrd="0" presId="urn:microsoft.com/office/officeart/2018/2/layout/IconVerticalSolidList"/>
    <dgm:cxn modelId="{D39ECF2E-8D64-430A-A5AC-A55EEA476E6D}" type="presParOf" srcId="{0204EABD-C327-48C0-A558-61D0527786B6}" destId="{A5F71465-8DDE-4766-82DE-638EA7DB52D0}" srcOrd="0" destOrd="0" presId="urn:microsoft.com/office/officeart/2018/2/layout/IconVerticalSolidList"/>
    <dgm:cxn modelId="{B10CAAB8-F50C-4979-AB64-161279A8D803}" type="presParOf" srcId="{0204EABD-C327-48C0-A558-61D0527786B6}" destId="{99DBAFB0-9D84-4008-8ED3-DCF3B22D586C}" srcOrd="1" destOrd="0" presId="urn:microsoft.com/office/officeart/2018/2/layout/IconVerticalSolidList"/>
    <dgm:cxn modelId="{BF26FFA1-B08B-4185-B25A-C722EAFE9654}" type="presParOf" srcId="{0204EABD-C327-48C0-A558-61D0527786B6}" destId="{0FA24451-239D-4900-A598-FF446D34FE64}" srcOrd="2" destOrd="0" presId="urn:microsoft.com/office/officeart/2018/2/layout/IconVerticalSolidList"/>
    <dgm:cxn modelId="{90F4A136-3A1C-45F7-9C89-E6E6FC78DB18}" type="presParOf" srcId="{0204EABD-C327-48C0-A558-61D0527786B6}" destId="{072B8709-29F3-4D64-BD8D-B30690567E6E}" srcOrd="3" destOrd="0" presId="urn:microsoft.com/office/officeart/2018/2/layout/IconVerticalSolidList"/>
    <dgm:cxn modelId="{3D7062BE-8EF5-4968-9CAC-FD425D831745}" type="presParOf" srcId="{35BD1217-CCB7-421B-A885-3A4D2F88FFF2}" destId="{548DBEB1-A139-49FA-9CFD-68B7A1FF017A}" srcOrd="3" destOrd="0" presId="urn:microsoft.com/office/officeart/2018/2/layout/IconVerticalSolidList"/>
    <dgm:cxn modelId="{0BB1B932-3321-4B23-B161-0CC896C4F02A}" type="presParOf" srcId="{35BD1217-CCB7-421B-A885-3A4D2F88FFF2}" destId="{2D919936-A2DE-4F8C-B72E-8569B9CF042E}" srcOrd="4" destOrd="0" presId="urn:microsoft.com/office/officeart/2018/2/layout/IconVerticalSolidList"/>
    <dgm:cxn modelId="{BBEDB0CD-A668-43D8-8799-43CCEE85EA19}" type="presParOf" srcId="{2D919936-A2DE-4F8C-B72E-8569B9CF042E}" destId="{A7726859-5429-4F12-9715-0B6F1E7AE3AC}" srcOrd="0" destOrd="0" presId="urn:microsoft.com/office/officeart/2018/2/layout/IconVerticalSolidList"/>
    <dgm:cxn modelId="{F1647970-2298-43D0-BE6B-0C01522D7DC5}" type="presParOf" srcId="{2D919936-A2DE-4F8C-B72E-8569B9CF042E}" destId="{0657E197-093F-42DC-8802-18E479A2E540}" srcOrd="1" destOrd="0" presId="urn:microsoft.com/office/officeart/2018/2/layout/IconVerticalSolidList"/>
    <dgm:cxn modelId="{D2CF284F-671C-4870-AEC6-8B460AC81506}" type="presParOf" srcId="{2D919936-A2DE-4F8C-B72E-8569B9CF042E}" destId="{14A50C6F-9EDC-400F-9E28-1401B9070A7D}" srcOrd="2" destOrd="0" presId="urn:microsoft.com/office/officeart/2018/2/layout/IconVerticalSolidList"/>
    <dgm:cxn modelId="{79AADCC7-ACCA-40C3-A56D-8FDD73656F0B}" type="presParOf" srcId="{2D919936-A2DE-4F8C-B72E-8569B9CF042E}" destId="{B9890250-0388-4A9D-A4CB-C793DD5CBD9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05354-CC5B-40D1-B443-59491332770A}">
      <dsp:nvSpPr>
        <dsp:cNvPr id="0" name=""/>
        <dsp:cNvSpPr/>
      </dsp:nvSpPr>
      <dsp:spPr>
        <a:xfrm>
          <a:off x="0" y="4167"/>
          <a:ext cx="10364452" cy="11080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6DCDD0-FAB7-4E94-8693-9ABCF1FC26F3}">
      <dsp:nvSpPr>
        <dsp:cNvPr id="0" name=""/>
        <dsp:cNvSpPr/>
      </dsp:nvSpPr>
      <dsp:spPr>
        <a:xfrm>
          <a:off x="335176" y="253472"/>
          <a:ext cx="610006" cy="6094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5E8388-4439-4E7B-A4BC-215FE0E5A45A}">
      <dsp:nvSpPr>
        <dsp:cNvPr id="0" name=""/>
        <dsp:cNvSpPr/>
      </dsp:nvSpPr>
      <dsp:spPr>
        <a:xfrm>
          <a:off x="1280359" y="4167"/>
          <a:ext cx="8682325" cy="1246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24" tIns="131924" rIns="131924" bIns="131924" numCol="1" spcCol="1270" anchor="ctr" anchorCtr="0">
          <a:noAutofit/>
        </a:bodyPr>
        <a:lstStyle/>
        <a:p>
          <a:pPr marL="0" lvl="0" indent="0" algn="l" defTabSz="622300">
            <a:lnSpc>
              <a:spcPct val="100000"/>
            </a:lnSpc>
            <a:spcBef>
              <a:spcPct val="0"/>
            </a:spcBef>
            <a:spcAft>
              <a:spcPct val="35000"/>
            </a:spcAft>
            <a:buNone/>
          </a:pPr>
          <a:r>
            <a:rPr lang="tr-TR" sz="1400" b="1" kern="1200" baseline="0"/>
            <a:t>Ürün üreten işletmeler</a:t>
          </a:r>
          <a:r>
            <a:rPr lang="tr-TR" sz="1400" kern="1200" baseline="0"/>
            <a:t>: bunlara imalatçı ya da üretici işletmeler de denir. Bu işletmeler gözle görülebilen, elle tutulabilen, somut ve maddi olan şeyleri, yani ürünleri üretirler. Üretimde çeşitli girdileri işleyerek insanların dün, bugün ve gelecekteki sorunlarını çözecek, istek ve ihtiyaçlarını giderecek şekilde faydalı somut çıktılar üretirler. </a:t>
          </a:r>
          <a:endParaRPr lang="en-US" sz="1400" kern="1200"/>
        </a:p>
      </dsp:txBody>
      <dsp:txXfrm>
        <a:off x="1280359" y="4167"/>
        <a:ext cx="8682325" cy="1246522"/>
      </dsp:txXfrm>
    </dsp:sp>
    <dsp:sp modelId="{A5F71465-8DDE-4766-82DE-638EA7DB52D0}">
      <dsp:nvSpPr>
        <dsp:cNvPr id="0" name=""/>
        <dsp:cNvSpPr/>
      </dsp:nvSpPr>
      <dsp:spPr>
        <a:xfrm>
          <a:off x="0" y="1462864"/>
          <a:ext cx="10364452" cy="11080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DBAFB0-9D84-4008-8ED3-DCF3B22D586C}">
      <dsp:nvSpPr>
        <dsp:cNvPr id="0" name=""/>
        <dsp:cNvSpPr/>
      </dsp:nvSpPr>
      <dsp:spPr>
        <a:xfrm>
          <a:off x="335176" y="1712169"/>
          <a:ext cx="610006" cy="6094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72B8709-29F3-4D64-BD8D-B30690567E6E}">
      <dsp:nvSpPr>
        <dsp:cNvPr id="0" name=""/>
        <dsp:cNvSpPr/>
      </dsp:nvSpPr>
      <dsp:spPr>
        <a:xfrm>
          <a:off x="1280359" y="1462864"/>
          <a:ext cx="8682325" cy="1246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24" tIns="131924" rIns="131924" bIns="131924" numCol="1" spcCol="1270" anchor="ctr" anchorCtr="0">
          <a:noAutofit/>
        </a:bodyPr>
        <a:lstStyle/>
        <a:p>
          <a:pPr marL="0" lvl="0" indent="0" algn="l" defTabSz="622300">
            <a:lnSpc>
              <a:spcPct val="100000"/>
            </a:lnSpc>
            <a:spcBef>
              <a:spcPct val="0"/>
            </a:spcBef>
            <a:spcAft>
              <a:spcPct val="35000"/>
            </a:spcAft>
            <a:buNone/>
          </a:pPr>
          <a:r>
            <a:rPr lang="tr-TR" sz="1400" b="1" kern="1200" baseline="0"/>
            <a:t>Hizmet üreten işletmeler: </a:t>
          </a:r>
          <a:r>
            <a:rPr lang="tr-TR" sz="1400" kern="1200" baseline="0"/>
            <a:t>hizmet, maddi olmayan, soyut, stok edilemeyen ama insan ihtiyacı olan çıktılardır. Bunlar da tüketilir, satılır ve satın alınırlar. Yine aynı şekilde isteklerden ve ihtiyaçlardan doğmuşlardır. İnsanlar bunları satın alarak hayatlarını kolaylaştırır ve yaşam kalitelerini yükseltir. Hastaneler, oteller, eğlence yerleri, bankalar, hava yolları, demir yolları, bakım işletmeleri örnek olarak gösterilebilir. </a:t>
          </a:r>
          <a:endParaRPr lang="en-US" sz="1400" kern="1200"/>
        </a:p>
      </dsp:txBody>
      <dsp:txXfrm>
        <a:off x="1280359" y="1462864"/>
        <a:ext cx="8682325" cy="1246522"/>
      </dsp:txXfrm>
    </dsp:sp>
    <dsp:sp modelId="{A7726859-5429-4F12-9715-0B6F1E7AE3AC}">
      <dsp:nvSpPr>
        <dsp:cNvPr id="0" name=""/>
        <dsp:cNvSpPr/>
      </dsp:nvSpPr>
      <dsp:spPr>
        <a:xfrm>
          <a:off x="0" y="2921561"/>
          <a:ext cx="10364452" cy="11080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57E197-093F-42DC-8802-18E479A2E540}">
      <dsp:nvSpPr>
        <dsp:cNvPr id="0" name=""/>
        <dsp:cNvSpPr/>
      </dsp:nvSpPr>
      <dsp:spPr>
        <a:xfrm>
          <a:off x="335503" y="3170865"/>
          <a:ext cx="610006" cy="6094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890250-0388-4A9D-A4CB-C793DD5CBD9C}">
      <dsp:nvSpPr>
        <dsp:cNvPr id="0" name=""/>
        <dsp:cNvSpPr/>
      </dsp:nvSpPr>
      <dsp:spPr>
        <a:xfrm>
          <a:off x="1281014" y="2921561"/>
          <a:ext cx="8682325" cy="12465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924" tIns="131924" rIns="131924" bIns="131924" numCol="1" spcCol="1270" anchor="ctr" anchorCtr="0">
          <a:noAutofit/>
        </a:bodyPr>
        <a:lstStyle/>
        <a:p>
          <a:pPr marL="0" lvl="0" indent="0" algn="l" defTabSz="622300">
            <a:lnSpc>
              <a:spcPct val="100000"/>
            </a:lnSpc>
            <a:spcBef>
              <a:spcPct val="0"/>
            </a:spcBef>
            <a:spcAft>
              <a:spcPct val="35000"/>
            </a:spcAft>
            <a:buNone/>
          </a:pPr>
          <a:r>
            <a:rPr lang="tr-TR" sz="1400" b="1" kern="1200" baseline="0"/>
            <a:t>Ticaret işletmeleri</a:t>
          </a:r>
          <a:r>
            <a:rPr lang="tr-TR" sz="1400" kern="1200" baseline="0"/>
            <a:t>: ticaret işletmeleri ürün üreten işletmelerle tüketiciler arasındaki fonksiyonları yaparlar. Bu fonksiyonlar; taşıma, depolama, dağıtım, tutundurma ve satıştır. Ticaret işletmelerinde üretim olmadığı için yapılan işler hizmettir ve bu işletmelerde hizmet işletmesi olarak algılanmalıdır görüşü vardır. Ancak bazıları da sonuçta ticaret işletmelerinin tüketicilere somut ürünler sunduğu, bu nedenle de hizmet işletmesi olamayacağı şeklinde yorumlar yapmaktadır. Üretim işletmelerinden bazıları ürünlerini tüketicilere kendisi satmaktadır. Bütün işletmelerin aynı şeyi yapması mümkün değildir. Aksi takdirde, hemen hemen ürün sayısı kadar satış noktası ortaya çıkar ki bu da imkânsızdır. Bu durumda üretim işletmelerinde üretilen ürünlerin bir kısmı, başka bir işletme tarafından satılmak zorundadır.</a:t>
          </a:r>
          <a:endParaRPr lang="en-US" sz="1400" kern="1200"/>
        </a:p>
      </dsp:txBody>
      <dsp:txXfrm>
        <a:off x="1281014" y="2921561"/>
        <a:ext cx="8682325" cy="124652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843385-B6B3-4890-9E5B-FAA8D76B9BC1}" type="datetimeFigureOut">
              <a:rPr lang="tr-TR" smtClean="0"/>
              <a:t>24.02.2025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8C181-9F96-4ABE-ACDE-74A8F6765FD6}" type="slidenum">
              <a:rPr lang="tr-TR" smtClean="0"/>
              <a:t>‹#›</a:t>
            </a:fld>
            <a:endParaRPr lang="tr-TR"/>
          </a:p>
        </p:txBody>
      </p:sp>
    </p:spTree>
    <p:extLst>
      <p:ext uri="{BB962C8B-B14F-4D97-AF65-F5344CB8AC3E}">
        <p14:creationId xmlns:p14="http://schemas.microsoft.com/office/powerpoint/2010/main" val="3935027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1</a:t>
            </a:fld>
            <a:endParaRPr lang="tr-TR"/>
          </a:p>
        </p:txBody>
      </p:sp>
    </p:spTree>
    <p:extLst>
      <p:ext uri="{BB962C8B-B14F-4D97-AF65-F5344CB8AC3E}">
        <p14:creationId xmlns:p14="http://schemas.microsoft.com/office/powerpoint/2010/main" val="1036573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3</a:t>
            </a:fld>
            <a:endParaRPr lang="tr-TR"/>
          </a:p>
        </p:txBody>
      </p:sp>
    </p:spTree>
    <p:extLst>
      <p:ext uri="{BB962C8B-B14F-4D97-AF65-F5344CB8AC3E}">
        <p14:creationId xmlns:p14="http://schemas.microsoft.com/office/powerpoint/2010/main" val="3188272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141EB-9F06-ACD0-544A-161FDD4F2FED}"/>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02D386B1-01D5-7F08-DB08-C1C71EFCEBA8}"/>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E33D2163-3433-49A0-2EC1-02CCF90A60A1}"/>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4FF5711-4622-8099-6553-83F0C641334C}"/>
              </a:ext>
            </a:extLst>
          </p:cNvPr>
          <p:cNvSpPr>
            <a:spLocks noGrp="1"/>
          </p:cNvSpPr>
          <p:nvPr>
            <p:ph type="sldNum" sz="quarter" idx="5"/>
          </p:nvPr>
        </p:nvSpPr>
        <p:spPr/>
        <p:txBody>
          <a:bodyPr/>
          <a:lstStyle/>
          <a:p>
            <a:fld id="{FB08C181-9F96-4ABE-ACDE-74A8F6765FD6}" type="slidenum">
              <a:rPr lang="tr-TR" smtClean="0"/>
              <a:t>4</a:t>
            </a:fld>
            <a:endParaRPr lang="tr-TR"/>
          </a:p>
        </p:txBody>
      </p:sp>
    </p:spTree>
    <p:extLst>
      <p:ext uri="{BB962C8B-B14F-4D97-AF65-F5344CB8AC3E}">
        <p14:creationId xmlns:p14="http://schemas.microsoft.com/office/powerpoint/2010/main" val="3647300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6</a:t>
            </a:fld>
            <a:endParaRPr lang="tr-TR"/>
          </a:p>
        </p:txBody>
      </p:sp>
    </p:spTree>
    <p:extLst>
      <p:ext uri="{BB962C8B-B14F-4D97-AF65-F5344CB8AC3E}">
        <p14:creationId xmlns:p14="http://schemas.microsoft.com/office/powerpoint/2010/main" val="3618052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9420-AC3A-C4F3-E82C-755DC514DD00}"/>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794265FA-F230-0C4D-ACD9-A6B7E32324F6}"/>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9A752B3D-ED8A-62F7-19FC-AC6A79434A37}"/>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2932675-607C-DAB8-C24B-671DA671F1F6}"/>
              </a:ext>
            </a:extLst>
          </p:cNvPr>
          <p:cNvSpPr>
            <a:spLocks noGrp="1"/>
          </p:cNvSpPr>
          <p:nvPr>
            <p:ph type="sldNum" sz="quarter" idx="5"/>
          </p:nvPr>
        </p:nvSpPr>
        <p:spPr/>
        <p:txBody>
          <a:bodyPr/>
          <a:lstStyle/>
          <a:p>
            <a:fld id="{FB08C181-9F96-4ABE-ACDE-74A8F6765FD6}" type="slidenum">
              <a:rPr lang="tr-TR" smtClean="0"/>
              <a:t>14</a:t>
            </a:fld>
            <a:endParaRPr lang="tr-TR"/>
          </a:p>
        </p:txBody>
      </p:sp>
    </p:spTree>
    <p:extLst>
      <p:ext uri="{BB962C8B-B14F-4D97-AF65-F5344CB8AC3E}">
        <p14:creationId xmlns:p14="http://schemas.microsoft.com/office/powerpoint/2010/main" val="25568096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958B2-5268-89CC-F49F-5F9A85AD33E3}"/>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FE62A52C-5C14-96D8-B50C-E454A9C6FE5D}"/>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5C4CDCFE-0CD3-2090-2BEF-8AABA3BB128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71B677CE-4471-5CE7-B0FA-A02E13AD28FF}"/>
              </a:ext>
            </a:extLst>
          </p:cNvPr>
          <p:cNvSpPr>
            <a:spLocks noGrp="1"/>
          </p:cNvSpPr>
          <p:nvPr>
            <p:ph type="sldNum" sz="quarter" idx="5"/>
          </p:nvPr>
        </p:nvSpPr>
        <p:spPr/>
        <p:txBody>
          <a:bodyPr/>
          <a:lstStyle/>
          <a:p>
            <a:fld id="{FB08C181-9F96-4ABE-ACDE-74A8F6765FD6}" type="slidenum">
              <a:rPr lang="tr-TR" smtClean="0"/>
              <a:t>15</a:t>
            </a:fld>
            <a:endParaRPr lang="tr-TR"/>
          </a:p>
        </p:txBody>
      </p:sp>
    </p:spTree>
    <p:extLst>
      <p:ext uri="{BB962C8B-B14F-4D97-AF65-F5344CB8AC3E}">
        <p14:creationId xmlns:p14="http://schemas.microsoft.com/office/powerpoint/2010/main" val="2551599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a:t> </a:t>
            </a:r>
          </a:p>
        </p:txBody>
      </p:sp>
      <p:sp>
        <p:nvSpPr>
          <p:cNvPr id="4" name="Slayt Numarası Yer Tutucusu 3"/>
          <p:cNvSpPr>
            <a:spLocks noGrp="1"/>
          </p:cNvSpPr>
          <p:nvPr>
            <p:ph type="sldNum" sz="quarter" idx="5"/>
          </p:nvPr>
        </p:nvSpPr>
        <p:spPr/>
        <p:txBody>
          <a:bodyPr/>
          <a:lstStyle/>
          <a:p>
            <a:fld id="{FB08C181-9F96-4ABE-ACDE-74A8F6765FD6}" type="slidenum">
              <a:rPr lang="tr-TR" smtClean="0"/>
              <a:t>19</a:t>
            </a:fld>
            <a:endParaRPr lang="tr-TR"/>
          </a:p>
        </p:txBody>
      </p:sp>
    </p:spTree>
    <p:extLst>
      <p:ext uri="{BB962C8B-B14F-4D97-AF65-F5344CB8AC3E}">
        <p14:creationId xmlns:p14="http://schemas.microsoft.com/office/powerpoint/2010/main" val="1988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20</a:t>
            </a:fld>
            <a:endParaRPr lang="tr-TR"/>
          </a:p>
        </p:txBody>
      </p:sp>
    </p:spTree>
    <p:extLst>
      <p:ext uri="{BB962C8B-B14F-4D97-AF65-F5344CB8AC3E}">
        <p14:creationId xmlns:p14="http://schemas.microsoft.com/office/powerpoint/2010/main" val="465645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21</a:t>
            </a:fld>
            <a:endParaRPr lang="tr-TR"/>
          </a:p>
        </p:txBody>
      </p:sp>
    </p:spTree>
    <p:extLst>
      <p:ext uri="{BB962C8B-B14F-4D97-AF65-F5344CB8AC3E}">
        <p14:creationId xmlns:p14="http://schemas.microsoft.com/office/powerpoint/2010/main" val="36001328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22</a:t>
            </a:fld>
            <a:endParaRPr lang="tr-TR"/>
          </a:p>
        </p:txBody>
      </p:sp>
    </p:spTree>
    <p:extLst>
      <p:ext uri="{BB962C8B-B14F-4D97-AF65-F5344CB8AC3E}">
        <p14:creationId xmlns:p14="http://schemas.microsoft.com/office/powerpoint/2010/main" val="144358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24</a:t>
            </a:fld>
            <a:endParaRPr lang="tr-TR"/>
          </a:p>
        </p:txBody>
      </p:sp>
    </p:spTree>
    <p:extLst>
      <p:ext uri="{BB962C8B-B14F-4D97-AF65-F5344CB8AC3E}">
        <p14:creationId xmlns:p14="http://schemas.microsoft.com/office/powerpoint/2010/main" val="14595628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3FE9C-9AC1-24FB-BB8D-41A3A9C989EC}"/>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05F1652-0772-9B56-D261-B581DF78FCC9}"/>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B701294-84D8-156C-FFF7-302A9F0DC8DE}"/>
              </a:ext>
            </a:extLst>
          </p:cNvPr>
          <p:cNvSpPr>
            <a:spLocks noGrp="1"/>
          </p:cNvSpPr>
          <p:nvPr>
            <p:ph type="body" idx="1"/>
          </p:nvPr>
        </p:nvSpPr>
        <p:spPr/>
        <p:txBody>
          <a:bodyPr/>
          <a:lstStyle/>
          <a:p>
            <a:r>
              <a:rPr lang="tr-TR" dirty="0"/>
              <a:t>İnovasyon, piyasaya çıkabilen ticari hâle gelen yeniliğe denir.</a:t>
            </a:r>
          </a:p>
        </p:txBody>
      </p:sp>
      <p:sp>
        <p:nvSpPr>
          <p:cNvPr id="4" name="Slayt Numarası Yer Tutucusu 3">
            <a:extLst>
              <a:ext uri="{FF2B5EF4-FFF2-40B4-BE49-F238E27FC236}">
                <a16:creationId xmlns:a16="http://schemas.microsoft.com/office/drawing/2014/main" id="{ECAF15D7-853E-773C-183C-3163D4154FA8}"/>
              </a:ext>
            </a:extLst>
          </p:cNvPr>
          <p:cNvSpPr>
            <a:spLocks noGrp="1"/>
          </p:cNvSpPr>
          <p:nvPr>
            <p:ph type="sldNum" sz="quarter" idx="5"/>
          </p:nvPr>
        </p:nvSpPr>
        <p:spPr/>
        <p:txBody>
          <a:bodyPr/>
          <a:lstStyle/>
          <a:p>
            <a:fld id="{FB08C181-9F96-4ABE-ACDE-74A8F6765FD6}" type="slidenum">
              <a:rPr lang="tr-TR" smtClean="0"/>
              <a:t>25</a:t>
            </a:fld>
            <a:endParaRPr lang="tr-TR"/>
          </a:p>
        </p:txBody>
      </p:sp>
    </p:spTree>
    <p:extLst>
      <p:ext uri="{BB962C8B-B14F-4D97-AF65-F5344CB8AC3E}">
        <p14:creationId xmlns:p14="http://schemas.microsoft.com/office/powerpoint/2010/main" val="2970349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35</a:t>
            </a:fld>
            <a:endParaRPr lang="tr-TR"/>
          </a:p>
        </p:txBody>
      </p:sp>
    </p:spTree>
    <p:extLst>
      <p:ext uri="{BB962C8B-B14F-4D97-AF65-F5344CB8AC3E}">
        <p14:creationId xmlns:p14="http://schemas.microsoft.com/office/powerpoint/2010/main" val="2679765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B08C181-9F96-4ABE-ACDE-74A8F6765FD6}" type="slidenum">
              <a:rPr lang="tr-TR" smtClean="0"/>
              <a:t>37</a:t>
            </a:fld>
            <a:endParaRPr lang="tr-TR"/>
          </a:p>
        </p:txBody>
      </p:sp>
    </p:spTree>
    <p:extLst>
      <p:ext uri="{BB962C8B-B14F-4D97-AF65-F5344CB8AC3E}">
        <p14:creationId xmlns:p14="http://schemas.microsoft.com/office/powerpoint/2010/main" val="3783031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39</a:t>
            </a:fld>
            <a:endParaRPr lang="tr-TR"/>
          </a:p>
        </p:txBody>
      </p:sp>
    </p:spTree>
    <p:extLst>
      <p:ext uri="{BB962C8B-B14F-4D97-AF65-F5344CB8AC3E}">
        <p14:creationId xmlns:p14="http://schemas.microsoft.com/office/powerpoint/2010/main" val="33420132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2879-C88D-A62C-D96A-3BFADD5AF985}"/>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B6E4520A-6625-1D6E-6B6C-16EF2010877A}"/>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236EFBD7-250F-B80F-A2AC-4016FA50FA06}"/>
              </a:ext>
            </a:extLst>
          </p:cNvPr>
          <p:cNvSpPr>
            <a:spLocks noGrp="1"/>
          </p:cNvSpPr>
          <p:nvPr>
            <p:ph type="body" idx="1"/>
          </p:nvPr>
        </p:nvSpPr>
        <p:spPr/>
        <p:txBody>
          <a:bodyPr/>
          <a:lstStyle/>
          <a:p>
            <a:endParaRPr lang="tr-TR" dirty="0"/>
          </a:p>
        </p:txBody>
      </p:sp>
      <p:sp>
        <p:nvSpPr>
          <p:cNvPr id="4" name="Slayt Numarası Yer Tutucusu 3">
            <a:extLst>
              <a:ext uri="{FF2B5EF4-FFF2-40B4-BE49-F238E27FC236}">
                <a16:creationId xmlns:a16="http://schemas.microsoft.com/office/drawing/2014/main" id="{0B873A73-E75E-7D71-FBCC-7505BA69C3DA}"/>
              </a:ext>
            </a:extLst>
          </p:cNvPr>
          <p:cNvSpPr>
            <a:spLocks noGrp="1"/>
          </p:cNvSpPr>
          <p:nvPr>
            <p:ph type="sldNum" sz="quarter" idx="5"/>
          </p:nvPr>
        </p:nvSpPr>
        <p:spPr/>
        <p:txBody>
          <a:bodyPr/>
          <a:lstStyle/>
          <a:p>
            <a:fld id="{FB08C181-9F96-4ABE-ACDE-74A8F6765FD6}" type="slidenum">
              <a:rPr lang="tr-TR" smtClean="0"/>
              <a:t>40</a:t>
            </a:fld>
            <a:endParaRPr lang="tr-TR"/>
          </a:p>
        </p:txBody>
      </p:sp>
    </p:spTree>
    <p:extLst>
      <p:ext uri="{BB962C8B-B14F-4D97-AF65-F5344CB8AC3E}">
        <p14:creationId xmlns:p14="http://schemas.microsoft.com/office/powerpoint/2010/main" val="28377577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41</a:t>
            </a:fld>
            <a:endParaRPr lang="tr-TR"/>
          </a:p>
        </p:txBody>
      </p:sp>
    </p:spTree>
    <p:extLst>
      <p:ext uri="{BB962C8B-B14F-4D97-AF65-F5344CB8AC3E}">
        <p14:creationId xmlns:p14="http://schemas.microsoft.com/office/powerpoint/2010/main" val="173518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42</a:t>
            </a:fld>
            <a:endParaRPr lang="tr-TR"/>
          </a:p>
        </p:txBody>
      </p:sp>
    </p:spTree>
    <p:extLst>
      <p:ext uri="{BB962C8B-B14F-4D97-AF65-F5344CB8AC3E}">
        <p14:creationId xmlns:p14="http://schemas.microsoft.com/office/powerpoint/2010/main" val="163163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43</a:t>
            </a:fld>
            <a:endParaRPr lang="tr-TR"/>
          </a:p>
        </p:txBody>
      </p:sp>
    </p:spTree>
    <p:extLst>
      <p:ext uri="{BB962C8B-B14F-4D97-AF65-F5344CB8AC3E}">
        <p14:creationId xmlns:p14="http://schemas.microsoft.com/office/powerpoint/2010/main" val="64301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45</a:t>
            </a:fld>
            <a:endParaRPr lang="tr-TR"/>
          </a:p>
        </p:txBody>
      </p:sp>
    </p:spTree>
    <p:extLst>
      <p:ext uri="{BB962C8B-B14F-4D97-AF65-F5344CB8AC3E}">
        <p14:creationId xmlns:p14="http://schemas.microsoft.com/office/powerpoint/2010/main" val="2418176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C929E-A59A-1341-AA8D-41B81755B424}"/>
            </a:ext>
          </a:extLst>
        </p:cNvPr>
        <p:cNvGrpSpPr/>
        <p:nvPr/>
      </p:nvGrpSpPr>
      <p:grpSpPr>
        <a:xfrm>
          <a:off x="0" y="0"/>
          <a:ext cx="0" cy="0"/>
          <a:chOff x="0" y="0"/>
          <a:chExt cx="0" cy="0"/>
        </a:xfrm>
      </p:grpSpPr>
      <p:sp>
        <p:nvSpPr>
          <p:cNvPr id="2" name="Slayt Resmi Yer Tutucusu 1">
            <a:extLst>
              <a:ext uri="{FF2B5EF4-FFF2-40B4-BE49-F238E27FC236}">
                <a16:creationId xmlns:a16="http://schemas.microsoft.com/office/drawing/2014/main" id="{A79A2F38-5148-3DA1-19C6-7C24C6092FAB}"/>
              </a:ext>
            </a:extLst>
          </p:cNvPr>
          <p:cNvSpPr>
            <a:spLocks noGrp="1" noRot="1" noChangeAspect="1"/>
          </p:cNvSpPr>
          <p:nvPr>
            <p:ph type="sldImg"/>
          </p:nvPr>
        </p:nvSpPr>
        <p:spPr/>
      </p:sp>
      <p:sp>
        <p:nvSpPr>
          <p:cNvPr id="3" name="Not Yer Tutucusu 2">
            <a:extLst>
              <a:ext uri="{FF2B5EF4-FFF2-40B4-BE49-F238E27FC236}">
                <a16:creationId xmlns:a16="http://schemas.microsoft.com/office/drawing/2014/main" id="{F61A6702-6FD4-4414-A4F3-6A9830BDB2E2}"/>
              </a:ext>
            </a:extLst>
          </p:cNvPr>
          <p:cNvSpPr>
            <a:spLocks noGrp="1"/>
          </p:cNvSpPr>
          <p:nvPr>
            <p:ph type="body" idx="1"/>
          </p:nvPr>
        </p:nvSpPr>
        <p:spPr/>
        <p:txBody>
          <a:bodyPr/>
          <a:lstStyle/>
          <a:p>
            <a:endParaRPr lang="tr-TR"/>
          </a:p>
        </p:txBody>
      </p:sp>
      <p:sp>
        <p:nvSpPr>
          <p:cNvPr id="4" name="Slayt Numarası Yer Tutucusu 3">
            <a:extLst>
              <a:ext uri="{FF2B5EF4-FFF2-40B4-BE49-F238E27FC236}">
                <a16:creationId xmlns:a16="http://schemas.microsoft.com/office/drawing/2014/main" id="{16D01688-49DD-9A4D-78BA-A74078444690}"/>
              </a:ext>
            </a:extLst>
          </p:cNvPr>
          <p:cNvSpPr>
            <a:spLocks noGrp="1"/>
          </p:cNvSpPr>
          <p:nvPr>
            <p:ph type="sldNum" sz="quarter" idx="5"/>
          </p:nvPr>
        </p:nvSpPr>
        <p:spPr/>
        <p:txBody>
          <a:bodyPr/>
          <a:lstStyle/>
          <a:p>
            <a:fld id="{FB08C181-9F96-4ABE-ACDE-74A8F6765FD6}" type="slidenum">
              <a:rPr lang="tr-TR" smtClean="0"/>
              <a:t>46</a:t>
            </a:fld>
            <a:endParaRPr lang="tr-TR"/>
          </a:p>
        </p:txBody>
      </p:sp>
    </p:spTree>
    <p:extLst>
      <p:ext uri="{BB962C8B-B14F-4D97-AF65-F5344CB8AC3E}">
        <p14:creationId xmlns:p14="http://schemas.microsoft.com/office/powerpoint/2010/main" val="179091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47</a:t>
            </a:fld>
            <a:endParaRPr lang="tr-TR"/>
          </a:p>
        </p:txBody>
      </p:sp>
    </p:spTree>
    <p:extLst>
      <p:ext uri="{BB962C8B-B14F-4D97-AF65-F5344CB8AC3E}">
        <p14:creationId xmlns:p14="http://schemas.microsoft.com/office/powerpoint/2010/main" val="16600726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48</a:t>
            </a:fld>
            <a:endParaRPr lang="tr-TR"/>
          </a:p>
        </p:txBody>
      </p:sp>
    </p:spTree>
    <p:extLst>
      <p:ext uri="{BB962C8B-B14F-4D97-AF65-F5344CB8AC3E}">
        <p14:creationId xmlns:p14="http://schemas.microsoft.com/office/powerpoint/2010/main" val="21369777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49</a:t>
            </a:fld>
            <a:endParaRPr lang="tr-TR"/>
          </a:p>
        </p:txBody>
      </p:sp>
    </p:spTree>
    <p:extLst>
      <p:ext uri="{BB962C8B-B14F-4D97-AF65-F5344CB8AC3E}">
        <p14:creationId xmlns:p14="http://schemas.microsoft.com/office/powerpoint/2010/main" val="22430790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52</a:t>
            </a:fld>
            <a:endParaRPr lang="tr-TR"/>
          </a:p>
        </p:txBody>
      </p:sp>
    </p:spTree>
    <p:extLst>
      <p:ext uri="{BB962C8B-B14F-4D97-AF65-F5344CB8AC3E}">
        <p14:creationId xmlns:p14="http://schemas.microsoft.com/office/powerpoint/2010/main" val="380394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53</a:t>
            </a:fld>
            <a:endParaRPr lang="tr-TR"/>
          </a:p>
        </p:txBody>
      </p:sp>
    </p:spTree>
    <p:extLst>
      <p:ext uri="{BB962C8B-B14F-4D97-AF65-F5344CB8AC3E}">
        <p14:creationId xmlns:p14="http://schemas.microsoft.com/office/powerpoint/2010/main" val="38245445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55</a:t>
            </a:fld>
            <a:endParaRPr lang="tr-TR"/>
          </a:p>
        </p:txBody>
      </p:sp>
    </p:spTree>
    <p:extLst>
      <p:ext uri="{BB962C8B-B14F-4D97-AF65-F5344CB8AC3E}">
        <p14:creationId xmlns:p14="http://schemas.microsoft.com/office/powerpoint/2010/main" val="40069544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60</a:t>
            </a:fld>
            <a:endParaRPr lang="tr-TR"/>
          </a:p>
        </p:txBody>
      </p:sp>
    </p:spTree>
    <p:extLst>
      <p:ext uri="{BB962C8B-B14F-4D97-AF65-F5344CB8AC3E}">
        <p14:creationId xmlns:p14="http://schemas.microsoft.com/office/powerpoint/2010/main" val="35048222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B08C181-9F96-4ABE-ACDE-74A8F6765FD6}" type="slidenum">
              <a:rPr lang="tr-TR" smtClean="0"/>
              <a:t>65</a:t>
            </a:fld>
            <a:endParaRPr lang="tr-TR"/>
          </a:p>
        </p:txBody>
      </p:sp>
    </p:spTree>
    <p:extLst>
      <p:ext uri="{BB962C8B-B14F-4D97-AF65-F5344CB8AC3E}">
        <p14:creationId xmlns:p14="http://schemas.microsoft.com/office/powerpoint/2010/main" val="3626706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FB08C181-9F96-4ABE-ACDE-74A8F6765FD6}" type="slidenum">
              <a:rPr lang="tr-TR" smtClean="0"/>
              <a:t>68</a:t>
            </a:fld>
            <a:endParaRPr lang="tr-TR"/>
          </a:p>
        </p:txBody>
      </p:sp>
    </p:spTree>
    <p:extLst>
      <p:ext uri="{BB962C8B-B14F-4D97-AF65-F5344CB8AC3E}">
        <p14:creationId xmlns:p14="http://schemas.microsoft.com/office/powerpoint/2010/main" val="2971326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2/24/25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244768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2/24/25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61208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7DA38F49-B3E2-4BF0-BEC7-C30D34ABBB8D}" type="datetime1">
              <a:rPr lang="en-US" smtClean="0"/>
              <a:t>2/24/25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782707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tr-TR"/>
              <a:t>Asıl başlık stilini düzenlemek için tıklayın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044482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Content Placeholder 3"/>
          <p:cNvSpPr>
            <a:spLocks noGrp="1"/>
          </p:cNvSpPr>
          <p:nvPr>
            <p:ph sz="quarter" idx="13"/>
          </p:nvPr>
        </p:nvSpPr>
        <p:spPr>
          <a:xfrm>
            <a:off x="913774" y="3051012"/>
            <a:ext cx="5106027" cy="274018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3" name="Content Placeholder 5"/>
          <p:cNvSpPr>
            <a:spLocks noGrp="1"/>
          </p:cNvSpPr>
          <p:nvPr>
            <p:ph sz="quarter" idx="14"/>
          </p:nvPr>
        </p:nvSpPr>
        <p:spPr>
          <a:xfrm>
            <a:off x="6172200" y="3051012"/>
            <a:ext cx="5105401" cy="274018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DA38F49-B3E2-4BF0-BEC7-C30D34ABBB8D}" type="datetime1">
              <a:rPr lang="en-US" smtClean="0"/>
              <a:t>2/24/25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586490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7DA38F49-B3E2-4BF0-BEC7-C30D34ABBB8D}" type="datetime1">
              <a:rPr lang="en-US" smtClean="0"/>
              <a:t>2/24/25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452218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DA38F49-B3E2-4BF0-BEC7-C30D34ABBB8D}" type="datetime1">
              <a:rPr lang="en-US" smtClean="0"/>
              <a:t>2/24/25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8720278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tr-TR"/>
              <a:t>Asıl başlık stilini düzenlemek için tıklayın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6460959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724582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195369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337725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5748121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7DA38F49-B3E2-4BF0-BEC7-C30D34ABBB8D}" type="datetime1">
              <a:rPr lang="en-US" smtClean="0"/>
              <a:t>2/24/25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930599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7DA38F49-B3E2-4BF0-BEC7-C30D34ABBB8D}" type="datetime1">
              <a:rPr lang="en-US" smtClean="0"/>
              <a:t>2/24/25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332826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7DA38F49-B3E2-4BF0-BEC7-C30D34ABBB8D}" type="datetime1">
              <a:rPr lang="en-US" smtClean="0"/>
              <a:t>2/24/25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8660098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2/24/25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751171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tr-TR"/>
              <a:t>Asıl başlık stilini düzenlemek için tıklayın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DA38F49-B3E2-4BF0-BEC7-C30D34ABBB8D}" type="datetime1">
              <a:rPr lang="en-US" smtClean="0"/>
              <a:t>2/24/25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9591921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2/24/25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57733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7DA38F49-B3E2-4BF0-BEC7-C30D34ABBB8D}" type="datetime1">
              <a:rPr lang="en-US" smtClean="0"/>
              <a:t>2/24/25</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70C12960-6E85-460F-B6E3-5B82CB31AF3D}" type="slidenum">
              <a:rPr lang="en-US" smtClean="0"/>
              <a:t>‹#›</a:t>
            </a:fld>
            <a:endParaRPr lang="en-US"/>
          </a:p>
        </p:txBody>
      </p:sp>
    </p:spTree>
    <p:extLst>
      <p:ext uri="{BB962C8B-B14F-4D97-AF65-F5344CB8AC3E}">
        <p14:creationId xmlns:p14="http://schemas.microsoft.com/office/powerpoint/2010/main" val="22984509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2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3.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6.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4.jpeg"/><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8.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41.tmp"/><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3" Type="http://schemas.openxmlformats.org/officeDocument/2006/relationships/image" Target="../media/image43.tmp"/><Relationship Id="rId2" Type="http://schemas.openxmlformats.org/officeDocument/2006/relationships/image" Target="../media/image42.tmp"/><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 Id="rId5" Type="http://schemas.openxmlformats.org/officeDocument/2006/relationships/image" Target="../media/image44.tmp"/><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25" name="Rectangle 7">
            <a:extLst>
              <a:ext uri="{FF2B5EF4-FFF2-40B4-BE49-F238E27FC236}">
                <a16:creationId xmlns:a16="http://schemas.microsoft.com/office/drawing/2014/main" id="{3595E478-612A-42ED-816A-0DD5B5C895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9">
            <a:extLst>
              <a:ext uri="{FF2B5EF4-FFF2-40B4-BE49-F238E27FC236}">
                <a16:creationId xmlns:a16="http://schemas.microsoft.com/office/drawing/2014/main" id="{CB226365-E8CD-4F1B-B318-7598AA28AE7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91927" t="72411" b="13751"/>
          <a:stretch/>
        </p:blipFill>
        <p:spPr>
          <a:xfrm>
            <a:off x="150925"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27" name="Picture 11">
            <a:extLst>
              <a:ext uri="{FF2B5EF4-FFF2-40B4-BE49-F238E27FC236}">
                <a16:creationId xmlns:a16="http://schemas.microsoft.com/office/drawing/2014/main" id="{86F8589D-19E8-4616-A2D6-95125B4528F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3623" t="43915" r="1" b="18252"/>
          <a:stretch/>
        </p:blipFill>
        <p:spPr>
          <a:xfrm>
            <a:off x="7586661" y="3142319"/>
            <a:ext cx="4605339" cy="3715682"/>
          </a:xfrm>
          <a:prstGeom prst="rect">
            <a:avLst/>
          </a:prstGeom>
        </p:spPr>
      </p:pic>
      <p:pic>
        <p:nvPicPr>
          <p:cNvPr id="28" name="Picture 13">
            <a:extLst>
              <a:ext uri="{FF2B5EF4-FFF2-40B4-BE49-F238E27FC236}">
                <a16:creationId xmlns:a16="http://schemas.microsoft.com/office/drawing/2014/main" id="{5F9D2829-9A1B-41D9-A712-382721D3A7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46466" t="75007" r="30510"/>
          <a:stretch/>
        </p:blipFill>
        <p:spPr>
          <a:xfrm>
            <a:off x="7586661" y="815472"/>
            <a:ext cx="4817288" cy="2941444"/>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2" name="Başlık 1">
            <a:extLst>
              <a:ext uri="{FF2B5EF4-FFF2-40B4-BE49-F238E27FC236}">
                <a16:creationId xmlns:a16="http://schemas.microsoft.com/office/drawing/2014/main" id="{5BDEC750-7A64-4FD3-B657-D9DE864CD422}"/>
              </a:ext>
            </a:extLst>
          </p:cNvPr>
          <p:cNvSpPr>
            <a:spLocks noGrp="1"/>
          </p:cNvSpPr>
          <p:nvPr>
            <p:ph type="ctrTitle"/>
          </p:nvPr>
        </p:nvSpPr>
        <p:spPr>
          <a:xfrm>
            <a:off x="913774" y="955040"/>
            <a:ext cx="7216098" cy="3616960"/>
          </a:xfrm>
        </p:spPr>
        <p:txBody>
          <a:bodyPr anchor="ctr">
            <a:normAutofit/>
          </a:bodyPr>
          <a:lstStyle/>
          <a:p>
            <a:pPr algn="l"/>
            <a:r>
              <a:rPr lang="tr-TR" sz="6600"/>
              <a:t>İŞLETME BİLİMİNE GİRİŞ</a:t>
            </a:r>
          </a:p>
        </p:txBody>
      </p:sp>
      <p:sp>
        <p:nvSpPr>
          <p:cNvPr id="3" name="Alt Başlık 2">
            <a:extLst>
              <a:ext uri="{FF2B5EF4-FFF2-40B4-BE49-F238E27FC236}">
                <a16:creationId xmlns:a16="http://schemas.microsoft.com/office/drawing/2014/main" id="{14E996B4-F3D1-4B8D-3DC0-E692E33089D2}"/>
              </a:ext>
            </a:extLst>
          </p:cNvPr>
          <p:cNvSpPr>
            <a:spLocks noGrp="1"/>
          </p:cNvSpPr>
          <p:nvPr>
            <p:ph type="subTitle" idx="1"/>
          </p:nvPr>
        </p:nvSpPr>
        <p:spPr>
          <a:xfrm>
            <a:off x="913774" y="4572001"/>
            <a:ext cx="7216098" cy="1311274"/>
          </a:xfrm>
        </p:spPr>
        <p:txBody>
          <a:bodyPr anchor="b">
            <a:normAutofit/>
          </a:bodyPr>
          <a:lstStyle/>
          <a:p>
            <a:pPr algn="l"/>
            <a:r>
              <a:rPr lang="tr-TR" sz="2000">
                <a:solidFill>
                  <a:schemeClr val="tx1"/>
                </a:solidFill>
              </a:rPr>
              <a:t>DR.ÖĞR.ÜYESİ FATİH ÇALLI</a:t>
            </a:r>
          </a:p>
          <a:p>
            <a:pPr algn="l"/>
            <a:r>
              <a:rPr lang="tr-TR" sz="2000">
                <a:solidFill>
                  <a:schemeClr val="tx1"/>
                </a:solidFill>
              </a:rPr>
              <a:t>1.HAFTA</a:t>
            </a:r>
          </a:p>
        </p:txBody>
      </p:sp>
    </p:spTree>
    <p:extLst>
      <p:ext uri="{BB962C8B-B14F-4D97-AF65-F5344CB8AC3E}">
        <p14:creationId xmlns:p14="http://schemas.microsoft.com/office/powerpoint/2010/main" val="219158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E3254AE-C4CD-426D-A6E8-7FA13B0F8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etin, kırpıntı çizim, çizim, çizgi film içeren bir resim">
            <a:extLst>
              <a:ext uri="{FF2B5EF4-FFF2-40B4-BE49-F238E27FC236}">
                <a16:creationId xmlns:a16="http://schemas.microsoft.com/office/drawing/2014/main" id="{A4D5BDAB-F080-B67C-3AA6-DBABF8CCDD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17734" y="2421493"/>
            <a:ext cx="4770219" cy="3315302"/>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12" name="Picture 11">
            <a:extLst>
              <a:ext uri="{FF2B5EF4-FFF2-40B4-BE49-F238E27FC236}">
                <a16:creationId xmlns:a16="http://schemas.microsoft.com/office/drawing/2014/main" id="{F5C53434-A0C7-4A81-8EB0-D460DAD9B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B8D515BE-88C2-5CC7-274D-D4DA4CE63258}"/>
              </a:ext>
            </a:extLst>
          </p:cNvPr>
          <p:cNvSpPr>
            <a:spLocks noGrp="1"/>
          </p:cNvSpPr>
          <p:nvPr>
            <p:ph type="title"/>
          </p:nvPr>
        </p:nvSpPr>
        <p:spPr>
          <a:xfrm>
            <a:off x="913775" y="618517"/>
            <a:ext cx="10364451" cy="1596177"/>
          </a:xfrm>
        </p:spPr>
        <p:txBody>
          <a:bodyPr>
            <a:normAutofit/>
          </a:bodyPr>
          <a:lstStyle/>
          <a:p>
            <a:r>
              <a:rPr lang="tr-TR"/>
              <a:t>1.HAFTANIN AMACI</a:t>
            </a:r>
          </a:p>
        </p:txBody>
      </p:sp>
      <p:sp>
        <p:nvSpPr>
          <p:cNvPr id="3" name="İçerik Yer Tutucusu 2">
            <a:extLst>
              <a:ext uri="{FF2B5EF4-FFF2-40B4-BE49-F238E27FC236}">
                <a16:creationId xmlns:a16="http://schemas.microsoft.com/office/drawing/2014/main" id="{703D8F3C-5BD0-AE82-ECA2-F2E307A3027B}"/>
              </a:ext>
            </a:extLst>
          </p:cNvPr>
          <p:cNvSpPr>
            <a:spLocks noGrp="1"/>
          </p:cNvSpPr>
          <p:nvPr>
            <p:ph idx="1"/>
          </p:nvPr>
        </p:nvSpPr>
        <p:spPr>
          <a:xfrm>
            <a:off x="913774" y="2367092"/>
            <a:ext cx="4860493" cy="3424107"/>
          </a:xfrm>
        </p:spPr>
        <p:txBody>
          <a:bodyPr>
            <a:normAutofit/>
          </a:bodyPr>
          <a:lstStyle/>
          <a:p>
            <a:r>
              <a:rPr lang="tr-TR" sz="1900" cap="none"/>
              <a:t>Bu haftayı tamamladıktan sonra; işletme, ihtiyaçlar ve üretim faktörleri kavramlarını tanımlayabilecek, işletmenin amaçları ve fonksiyonlarını açıklayabilecek, işletmelerin çeşitli kriterlere göre sınıflandırılmasını yapabilecek, işletmelerin başarısındaki temel ilkeleri sıralayabileceksiniz.</a:t>
            </a:r>
          </a:p>
        </p:txBody>
      </p:sp>
    </p:spTree>
    <p:extLst>
      <p:ext uri="{BB962C8B-B14F-4D97-AF65-F5344CB8AC3E}">
        <p14:creationId xmlns:p14="http://schemas.microsoft.com/office/powerpoint/2010/main" val="2329244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etin, çizim, taslak, ofis malzemesi içeren bir resim&#10;&#10;Yapay zeka tarafından oluşturulan içerik yanlış olabilir.">
            <a:extLst>
              <a:ext uri="{FF2B5EF4-FFF2-40B4-BE49-F238E27FC236}">
                <a16:creationId xmlns:a16="http://schemas.microsoft.com/office/drawing/2014/main" id="{64CEF079-C63C-BF79-B671-CC4B25063EA1}"/>
              </a:ext>
            </a:extLst>
          </p:cNvPr>
          <p:cNvPicPr>
            <a:picLocks noChangeAspect="1"/>
          </p:cNvPicPr>
          <p:nvPr/>
        </p:nvPicPr>
        <p:blipFill>
          <a:blip r:embed="rId3">
            <a:extLst>
              <a:ext uri="{28A0092B-C50C-407E-A947-70E740481C1C}">
                <a14:useLocalDpi xmlns:a14="http://schemas.microsoft.com/office/drawing/2010/main" val="0"/>
              </a:ext>
            </a:extLst>
          </a:blip>
          <a:srcRect l="30929" r="23296" b="1"/>
          <a:stretch/>
        </p:blipFill>
        <p:spPr>
          <a:xfrm>
            <a:off x="20" y="10"/>
            <a:ext cx="4024741" cy="6857990"/>
          </a:xfrm>
          <a:prstGeom prst="rect">
            <a:avLst/>
          </a:prstGeom>
        </p:spPr>
      </p:pic>
      <p:sp>
        <p:nvSpPr>
          <p:cNvPr id="8" name="Rectangle 11">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1FAFA46E-78BF-7F88-F4BA-F1B2DE4C71A0}"/>
              </a:ext>
            </a:extLst>
          </p:cNvPr>
          <p:cNvSpPr>
            <a:spLocks noGrp="1"/>
          </p:cNvSpPr>
          <p:nvPr>
            <p:ph type="title"/>
          </p:nvPr>
        </p:nvSpPr>
        <p:spPr>
          <a:xfrm>
            <a:off x="4465050" y="618517"/>
            <a:ext cx="6672886" cy="1596177"/>
          </a:xfrm>
        </p:spPr>
        <p:txBody>
          <a:bodyPr>
            <a:normAutofit/>
          </a:bodyPr>
          <a:lstStyle/>
          <a:p>
            <a:r>
              <a:rPr lang="tr-TR"/>
              <a:t>İŞLETME KAVRAMI</a:t>
            </a:r>
          </a:p>
        </p:txBody>
      </p:sp>
      <p:sp>
        <p:nvSpPr>
          <p:cNvPr id="3" name="İçerik Yer Tutucusu 2">
            <a:extLst>
              <a:ext uri="{FF2B5EF4-FFF2-40B4-BE49-F238E27FC236}">
                <a16:creationId xmlns:a16="http://schemas.microsoft.com/office/drawing/2014/main" id="{4E99BDC0-4172-0CEA-088B-B9DD8D34A2A8}"/>
              </a:ext>
            </a:extLst>
          </p:cNvPr>
          <p:cNvSpPr>
            <a:spLocks noGrp="1"/>
          </p:cNvSpPr>
          <p:nvPr>
            <p:ph idx="1"/>
          </p:nvPr>
        </p:nvSpPr>
        <p:spPr>
          <a:xfrm>
            <a:off x="4465048" y="2367092"/>
            <a:ext cx="6672887" cy="3424107"/>
          </a:xfrm>
        </p:spPr>
        <p:txBody>
          <a:bodyPr>
            <a:normAutofit/>
          </a:bodyPr>
          <a:lstStyle/>
          <a:p>
            <a:r>
              <a:rPr lang="tr-TR" cap="none" dirty="0"/>
              <a:t>İşletmeler insanların yaşayış biçimleri üzerinde önemli derecede etkili olmuşlardır. İnsanların yaşamları bütün dönemlerde aynı kalmamış sürekli değişmiş ve bu değişimde işletmelerin önemli payı olmuştur. Aynı değişim işletmelerde de yaşanmıştır. Bugünkü işletmecilikle geçmiş yıllardaki işletmecilik, bugünkü insan yaşamı ile geçmiş dönemlerdeki insan yaşamı aynı kalmamıştır. </a:t>
            </a:r>
          </a:p>
        </p:txBody>
      </p:sp>
    </p:spTree>
    <p:extLst>
      <p:ext uri="{BB962C8B-B14F-4D97-AF65-F5344CB8AC3E}">
        <p14:creationId xmlns:p14="http://schemas.microsoft.com/office/powerpoint/2010/main" val="20572836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026FA609-404F-78EE-47BD-D1A53D507803}"/>
            </a:ext>
          </a:extLst>
        </p:cNvPr>
        <p:cNvGrpSpPr/>
        <p:nvPr/>
      </p:nvGrpSpPr>
      <p:grpSpPr>
        <a:xfrm>
          <a:off x="0" y="0"/>
          <a:ext cx="0" cy="0"/>
          <a:chOff x="0" y="0"/>
          <a:chExt cx="0" cy="0"/>
        </a:xfrm>
      </p:grpSpPr>
      <p:sp useBgFill="1">
        <p:nvSpPr>
          <p:cNvPr id="11" name="Rectangle 9">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1">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giyim, metin, kara tahta, sanat içeren bir resim&#10;&#10;Yapay zeka tarafından oluşturulan içerik yanlış olabilir.">
            <a:extLst>
              <a:ext uri="{FF2B5EF4-FFF2-40B4-BE49-F238E27FC236}">
                <a16:creationId xmlns:a16="http://schemas.microsoft.com/office/drawing/2014/main" id="{B0BB6929-27A3-C771-907B-4EB773CC462F}"/>
              </a:ext>
            </a:extLst>
          </p:cNvPr>
          <p:cNvPicPr>
            <a:picLocks noChangeAspect="1"/>
          </p:cNvPicPr>
          <p:nvPr/>
        </p:nvPicPr>
        <p:blipFill>
          <a:blip r:embed="rId3">
            <a:extLst>
              <a:ext uri="{28A0092B-C50C-407E-A947-70E740481C1C}">
                <a14:useLocalDpi xmlns:a14="http://schemas.microsoft.com/office/drawing/2010/main" val="0"/>
              </a:ext>
            </a:extLst>
          </a:blip>
          <a:srcRect l="34082" r="32826"/>
          <a:stretch/>
        </p:blipFill>
        <p:spPr>
          <a:xfrm>
            <a:off x="8157374" y="10"/>
            <a:ext cx="4034626" cy="6857990"/>
          </a:xfrm>
          <a:prstGeom prst="rect">
            <a:avLst/>
          </a:prstGeom>
        </p:spPr>
      </p:pic>
      <p:pic>
        <p:nvPicPr>
          <p:cNvPr id="15" name="Picture 13">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800FD333-1D28-5E2F-AFF6-6535FBB587EA}"/>
              </a:ext>
            </a:extLst>
          </p:cNvPr>
          <p:cNvSpPr>
            <a:spLocks noGrp="1"/>
          </p:cNvSpPr>
          <p:nvPr>
            <p:ph type="title"/>
          </p:nvPr>
        </p:nvSpPr>
        <p:spPr>
          <a:xfrm>
            <a:off x="913776" y="618517"/>
            <a:ext cx="6672886" cy="1596177"/>
          </a:xfrm>
        </p:spPr>
        <p:txBody>
          <a:bodyPr>
            <a:normAutofit/>
          </a:bodyPr>
          <a:lstStyle/>
          <a:p>
            <a:r>
              <a:rPr lang="tr-TR"/>
              <a:t>İŞLETME KAVRAMI</a:t>
            </a:r>
          </a:p>
        </p:txBody>
      </p:sp>
      <p:sp>
        <p:nvSpPr>
          <p:cNvPr id="3" name="İçerik Yer Tutucusu 2">
            <a:extLst>
              <a:ext uri="{FF2B5EF4-FFF2-40B4-BE49-F238E27FC236}">
                <a16:creationId xmlns:a16="http://schemas.microsoft.com/office/drawing/2014/main" id="{D667F81B-D257-9136-18CD-F43A7C989063}"/>
              </a:ext>
            </a:extLst>
          </p:cNvPr>
          <p:cNvSpPr>
            <a:spLocks noGrp="1"/>
          </p:cNvSpPr>
          <p:nvPr>
            <p:ph idx="1"/>
          </p:nvPr>
        </p:nvSpPr>
        <p:spPr>
          <a:xfrm>
            <a:off x="913774" y="2367092"/>
            <a:ext cx="6672887" cy="3424107"/>
          </a:xfrm>
        </p:spPr>
        <p:txBody>
          <a:bodyPr>
            <a:normAutofit fontScale="92500" lnSpcReduction="10000"/>
          </a:bodyPr>
          <a:lstStyle/>
          <a:p>
            <a:pPr>
              <a:lnSpc>
                <a:spcPct val="110000"/>
              </a:lnSpc>
            </a:pPr>
            <a:r>
              <a:rPr lang="tr-TR" cap="none"/>
              <a:t>Her geçen gün hayatımıza yeni ürünler ve hizmetler giriyor, bazıları da çıkıyor. Piyasadaki ürün ve hizmetlerin sayısı ve çeşidi gün geçtikçe artıyor. Bu da insanların önceki dönemlerden daha çok ürün ve hizmet kullandıkları ve talep ettikleri anlamına gelmektedir. Kullanılan ya da tüketilen her ürün ve hizmetin insan hayatını daha da kolaylaştıracağı düşünülürse insanlar her zaman daha kolay ve rahat hayatı yaşamayı isteyecekler. İnsanların bu yenilik arayışı da işletmelerin varlığının devam etmesini sağlayacak ve bu nedenle hiçbir zaman var olan ile yetinmeyip sürekli yeni ürün ve hizmet arayışı içerisinde olmaları kaçınılmaz olacaktır.</a:t>
            </a:r>
          </a:p>
        </p:txBody>
      </p:sp>
    </p:spTree>
    <p:extLst>
      <p:ext uri="{BB962C8B-B14F-4D97-AF65-F5344CB8AC3E}">
        <p14:creationId xmlns:p14="http://schemas.microsoft.com/office/powerpoint/2010/main" val="3437778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0917E639-5738-4605-929E-1222198314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3"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Başlık 1">
            <a:extLst>
              <a:ext uri="{FF2B5EF4-FFF2-40B4-BE49-F238E27FC236}">
                <a16:creationId xmlns:a16="http://schemas.microsoft.com/office/drawing/2014/main" id="{EBF3CAAA-172C-320C-20C3-AC78EDCE3D12}"/>
              </a:ext>
            </a:extLst>
          </p:cNvPr>
          <p:cNvSpPr>
            <a:spLocks noGrp="1"/>
          </p:cNvSpPr>
          <p:nvPr>
            <p:ph type="title"/>
          </p:nvPr>
        </p:nvSpPr>
        <p:spPr>
          <a:xfrm>
            <a:off x="643463" y="640831"/>
            <a:ext cx="3352128" cy="1573863"/>
          </a:xfrm>
        </p:spPr>
        <p:txBody>
          <a:bodyPr>
            <a:normAutofit/>
          </a:bodyPr>
          <a:lstStyle/>
          <a:p>
            <a:pPr algn="l"/>
            <a:r>
              <a:rPr lang="tr-TR"/>
              <a:t>İŞLETME KAVRAMI</a:t>
            </a:r>
          </a:p>
        </p:txBody>
      </p:sp>
      <p:sp>
        <p:nvSpPr>
          <p:cNvPr id="3" name="İçerik Yer Tutucusu 2">
            <a:extLst>
              <a:ext uri="{FF2B5EF4-FFF2-40B4-BE49-F238E27FC236}">
                <a16:creationId xmlns:a16="http://schemas.microsoft.com/office/drawing/2014/main" id="{CEA3327F-C540-0C48-7ADA-7FCD0ABAE1E4}"/>
              </a:ext>
            </a:extLst>
          </p:cNvPr>
          <p:cNvSpPr>
            <a:spLocks noGrp="1"/>
          </p:cNvSpPr>
          <p:nvPr>
            <p:ph idx="1"/>
          </p:nvPr>
        </p:nvSpPr>
        <p:spPr>
          <a:xfrm>
            <a:off x="643463" y="2367092"/>
            <a:ext cx="3651446" cy="3881309"/>
          </a:xfrm>
        </p:spPr>
        <p:txBody>
          <a:bodyPr>
            <a:normAutofit/>
          </a:bodyPr>
          <a:lstStyle/>
          <a:p>
            <a:r>
              <a:rPr lang="tr-TR" cap="none"/>
              <a:t>İnsanların satın aldığı her ürün ve hizmet onların bir sorununu çözecek, ihtiyacını giderecek ya da isteğini tatmin edecektir. İnsanlar için sorunların bazıları çözülse de bazı ihtiyaçlar giderilse de isteklerine cevap verilse de bunlar hiçbir zaman bitmeyecektir.</a:t>
            </a:r>
          </a:p>
        </p:txBody>
      </p:sp>
      <p:sp>
        <p:nvSpPr>
          <p:cNvPr id="14" name="Rectangle 13">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1525"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ofis malzemesi, dizüstü, bilgisayar, metin içeren bir resim&#10;&#10;Yapay zeka tarafından oluşturulan içerik yanlış olabilir.">
            <a:extLst>
              <a:ext uri="{FF2B5EF4-FFF2-40B4-BE49-F238E27FC236}">
                <a16:creationId xmlns:a16="http://schemas.microsoft.com/office/drawing/2014/main" id="{9C94A0FB-024F-3EFA-BF01-03618F8EE4F3}"/>
              </a:ext>
            </a:extLst>
          </p:cNvPr>
          <p:cNvPicPr>
            <a:picLocks noChangeAspect="1"/>
          </p:cNvPicPr>
          <p:nvPr/>
        </p:nvPicPr>
        <p:blipFill>
          <a:blip r:embed="rId3">
            <a:extLst>
              <a:ext uri="{28A0092B-C50C-407E-A947-70E740481C1C}">
                <a14:useLocalDpi xmlns:a14="http://schemas.microsoft.com/office/drawing/2010/main" val="0"/>
              </a:ext>
            </a:extLst>
          </a:blip>
          <a:srcRect l="14186" r="31285"/>
          <a:stretch/>
        </p:blipFill>
        <p:spPr>
          <a:xfrm>
            <a:off x="4712842" y="10"/>
            <a:ext cx="7479157" cy="6857990"/>
          </a:xfrm>
          <a:prstGeom prst="rect">
            <a:avLst/>
          </a:prstGeom>
        </p:spPr>
      </p:pic>
      <p:pic>
        <p:nvPicPr>
          <p:cNvPr id="16" name="Picture 15">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8150"/>
          <a:stretch/>
        </p:blipFill>
        <p:spPr>
          <a:xfrm>
            <a:off x="4651242" y="0"/>
            <a:ext cx="7540758" cy="6858000"/>
          </a:xfrm>
          <a:prstGeom prst="rect">
            <a:avLst/>
          </a:prstGeom>
        </p:spPr>
      </p:pic>
    </p:spTree>
    <p:extLst>
      <p:ext uri="{BB962C8B-B14F-4D97-AF65-F5344CB8AC3E}">
        <p14:creationId xmlns:p14="http://schemas.microsoft.com/office/powerpoint/2010/main" val="3444714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erimlilik öğeleri bulunan masa">
            <a:extLst>
              <a:ext uri="{FF2B5EF4-FFF2-40B4-BE49-F238E27FC236}">
                <a16:creationId xmlns:a16="http://schemas.microsoft.com/office/drawing/2014/main" id="{1B449FBF-24C9-DD09-8FA6-8C6D32D95647}"/>
              </a:ext>
            </a:extLst>
          </p:cNvPr>
          <p:cNvPicPr>
            <a:picLocks noChangeAspect="1"/>
          </p:cNvPicPr>
          <p:nvPr/>
        </p:nvPicPr>
        <p:blipFill>
          <a:blip r:embed="rId3"/>
          <a:srcRect l="20394" r="6809" b="-1"/>
          <a:stretch/>
        </p:blipFill>
        <p:spPr>
          <a:xfrm>
            <a:off x="1" y="10"/>
            <a:ext cx="7479157" cy="6857990"/>
          </a:xfrm>
          <a:prstGeom prst="rect">
            <a:avLst/>
          </a:prstGeom>
        </p:spPr>
      </p:pic>
      <p:sp>
        <p:nvSpPr>
          <p:cNvPr id="12" name="Rectangle 11">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9D07D10E-7102-3E8E-C7F4-402D761D69B1}"/>
              </a:ext>
            </a:extLst>
          </p:cNvPr>
          <p:cNvSpPr>
            <a:spLocks noGrp="1"/>
          </p:cNvSpPr>
          <p:nvPr>
            <p:ph type="title"/>
          </p:nvPr>
        </p:nvSpPr>
        <p:spPr>
          <a:xfrm>
            <a:off x="8196408" y="640831"/>
            <a:ext cx="3352128" cy="1573863"/>
          </a:xfrm>
        </p:spPr>
        <p:txBody>
          <a:bodyPr>
            <a:normAutofit/>
          </a:bodyPr>
          <a:lstStyle/>
          <a:p>
            <a:pPr algn="l"/>
            <a:r>
              <a:rPr lang="tr-TR"/>
              <a:t>İŞLETME KAVRAMI</a:t>
            </a:r>
          </a:p>
        </p:txBody>
      </p:sp>
      <p:sp>
        <p:nvSpPr>
          <p:cNvPr id="3" name="İçerik Yer Tutucusu 2">
            <a:extLst>
              <a:ext uri="{FF2B5EF4-FFF2-40B4-BE49-F238E27FC236}">
                <a16:creationId xmlns:a16="http://schemas.microsoft.com/office/drawing/2014/main" id="{E0D35959-904B-89A3-1C86-E35749D76E39}"/>
              </a:ext>
            </a:extLst>
          </p:cNvPr>
          <p:cNvSpPr>
            <a:spLocks noGrp="1"/>
          </p:cNvSpPr>
          <p:nvPr>
            <p:ph idx="1"/>
          </p:nvPr>
        </p:nvSpPr>
        <p:spPr>
          <a:xfrm>
            <a:off x="8196407" y="2367092"/>
            <a:ext cx="3524537" cy="3881309"/>
          </a:xfrm>
        </p:spPr>
        <p:txBody>
          <a:bodyPr>
            <a:normAutofit fontScale="92500" lnSpcReduction="10000"/>
          </a:bodyPr>
          <a:lstStyle/>
          <a:p>
            <a:pPr>
              <a:lnSpc>
                <a:spcPct val="110000"/>
              </a:lnSpc>
            </a:pPr>
            <a:r>
              <a:rPr lang="tr-TR" sz="1800" cap="none"/>
              <a:t>İnsanların yaşam düzeyleriyle ilgili bir ekonomik kavram olan refah ile işletmeler arasında bir ilişkinin varlığı kabul edilmektedir. Bu durum, işletmelerin ürettikleriyle ilgili olduğu gibi, işletmelerin istihdam yaratmalarıyla yani insan çalıştırmalarıyla da ilgilidir. Yani işletmeler için insan, hem yaşamı kolaylaştıran ürünlerin tüketicisi hem de işyerlerinde çalışarak ürünlerin üreticisi konumundadır. Diğer bir deyişle, işletmeler için insanlar hem üretici hem de tüketicidirler. </a:t>
            </a:r>
          </a:p>
        </p:txBody>
      </p:sp>
    </p:spTree>
    <p:extLst>
      <p:ext uri="{BB962C8B-B14F-4D97-AF65-F5344CB8AC3E}">
        <p14:creationId xmlns:p14="http://schemas.microsoft.com/office/powerpoint/2010/main" val="761121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çizgi film, tasarım içeren bir resim">
            <a:extLst>
              <a:ext uri="{FF2B5EF4-FFF2-40B4-BE49-F238E27FC236}">
                <a16:creationId xmlns:a16="http://schemas.microsoft.com/office/drawing/2014/main" id="{713E11C7-71A4-0861-A47C-D644CCD186E2}"/>
              </a:ext>
            </a:extLst>
          </p:cNvPr>
          <p:cNvPicPr>
            <a:picLocks noChangeAspect="1"/>
          </p:cNvPicPr>
          <p:nvPr/>
        </p:nvPicPr>
        <p:blipFill>
          <a:blip r:embed="rId2">
            <a:extLst>
              <a:ext uri="{28A0092B-C50C-407E-A947-70E740481C1C}">
                <a14:useLocalDpi xmlns:a14="http://schemas.microsoft.com/office/drawing/2010/main" val="0"/>
              </a:ext>
            </a:extLst>
          </a:blip>
          <a:srcRect l="27443" r="24128"/>
          <a:stretch/>
        </p:blipFill>
        <p:spPr>
          <a:xfrm>
            <a:off x="813481" y="1117085"/>
            <a:ext cx="3840815" cy="4655634"/>
          </a:xfrm>
          <a:prstGeom prst="rect">
            <a:avLst/>
          </a:prstGeom>
        </p:spPr>
      </p:pic>
      <p:pic>
        <p:nvPicPr>
          <p:cNvPr id="8" name="Picture 11">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İçerik Yer Tutucusu 2">
            <a:extLst>
              <a:ext uri="{FF2B5EF4-FFF2-40B4-BE49-F238E27FC236}">
                <a16:creationId xmlns:a16="http://schemas.microsoft.com/office/drawing/2014/main" id="{846E2BB5-DE54-F4D2-9952-37F2D9681083}"/>
              </a:ext>
            </a:extLst>
          </p:cNvPr>
          <p:cNvSpPr>
            <a:spLocks noGrp="1"/>
          </p:cNvSpPr>
          <p:nvPr>
            <p:ph idx="1"/>
          </p:nvPr>
        </p:nvSpPr>
        <p:spPr>
          <a:xfrm>
            <a:off x="5282520" y="2367092"/>
            <a:ext cx="5855415" cy="3847444"/>
          </a:xfrm>
        </p:spPr>
        <p:txBody>
          <a:bodyPr>
            <a:normAutofit fontScale="92500" lnSpcReduction="20000"/>
          </a:bodyPr>
          <a:lstStyle/>
          <a:p>
            <a:r>
              <a:rPr lang="tr-TR" sz="2400" cap="none"/>
              <a:t>İşletmelerin temel amacı insan ihtiyaçları ve isteklerini karşılamak için üretim yapmak ve üretim yaparken de ekonomik anlamdaki üretim faktörlerini kullanmaktır. Sözü edilen ihtiyaçlar ve istekler sonsuz, bunları karşılamak ürünlerin üretiminde kullanılan kaynaklar ya da üretim faktörleri (doğal kaynaklar, emek, sermaye, girişimci) sınırlıdır. </a:t>
            </a:r>
          </a:p>
          <a:p>
            <a:r>
              <a:rPr lang="tr-TR" sz="2400" cap="none"/>
              <a:t>Nasıl olacak da bu sınırlı kaynaklarla bu sonsuz ihtiyaçlar karşılanacaktır?</a:t>
            </a:r>
          </a:p>
        </p:txBody>
      </p:sp>
      <p:sp>
        <p:nvSpPr>
          <p:cNvPr id="2" name="Başlık 1">
            <a:extLst>
              <a:ext uri="{FF2B5EF4-FFF2-40B4-BE49-F238E27FC236}">
                <a16:creationId xmlns:a16="http://schemas.microsoft.com/office/drawing/2014/main" id="{035A36C0-DAA5-7F95-1461-97CEE5F4ADB8}"/>
              </a:ext>
            </a:extLst>
          </p:cNvPr>
          <p:cNvSpPr>
            <a:spLocks noGrp="1"/>
          </p:cNvSpPr>
          <p:nvPr>
            <p:ph type="title"/>
          </p:nvPr>
        </p:nvSpPr>
        <p:spPr>
          <a:xfrm>
            <a:off x="5282520" y="618517"/>
            <a:ext cx="5855416" cy="1596177"/>
          </a:xfrm>
        </p:spPr>
        <p:txBody>
          <a:bodyPr>
            <a:normAutofit/>
          </a:bodyPr>
          <a:lstStyle/>
          <a:p>
            <a:r>
              <a:rPr lang="tr-TR"/>
              <a:t>İŞLETME KAVRAMI</a:t>
            </a:r>
          </a:p>
        </p:txBody>
      </p:sp>
    </p:spTree>
    <p:extLst>
      <p:ext uri="{BB962C8B-B14F-4D97-AF65-F5344CB8AC3E}">
        <p14:creationId xmlns:p14="http://schemas.microsoft.com/office/powerpoint/2010/main" val="2616159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renklilik, sanat, tasarım içeren bir resim&#10;&#10;Yapay zeka tarafından oluşturulan içerik yanlış olabilir.">
            <a:extLst>
              <a:ext uri="{FF2B5EF4-FFF2-40B4-BE49-F238E27FC236}">
                <a16:creationId xmlns:a16="http://schemas.microsoft.com/office/drawing/2014/main" id="{BA198F20-9D8F-8AC5-E027-C7C329D862A1}"/>
              </a:ext>
            </a:extLst>
          </p:cNvPr>
          <p:cNvPicPr>
            <a:picLocks noChangeAspect="1"/>
          </p:cNvPicPr>
          <p:nvPr/>
        </p:nvPicPr>
        <p:blipFill>
          <a:blip r:embed="rId2">
            <a:extLst>
              <a:ext uri="{28A0092B-C50C-407E-A947-70E740481C1C}">
                <a14:useLocalDpi xmlns:a14="http://schemas.microsoft.com/office/drawing/2010/main" val="0"/>
              </a:ext>
            </a:extLst>
          </a:blip>
          <a:srcRect l="715" r="2" b="2"/>
          <a:stretch/>
        </p:blipFill>
        <p:spPr>
          <a:xfrm>
            <a:off x="643464" y="992209"/>
            <a:ext cx="3995592" cy="484863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8" name="Picture 11">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B37F7FCF-C269-00CD-DB93-980FC65B6F2A}"/>
              </a:ext>
            </a:extLst>
          </p:cNvPr>
          <p:cNvSpPr>
            <a:spLocks noGrp="1"/>
          </p:cNvSpPr>
          <p:nvPr>
            <p:ph type="title"/>
          </p:nvPr>
        </p:nvSpPr>
        <p:spPr>
          <a:xfrm>
            <a:off x="5282520" y="618517"/>
            <a:ext cx="5855416" cy="1596177"/>
          </a:xfrm>
        </p:spPr>
        <p:txBody>
          <a:bodyPr>
            <a:normAutofit/>
          </a:bodyPr>
          <a:lstStyle/>
          <a:p>
            <a:r>
              <a:rPr lang="tr-TR"/>
              <a:t>İŞLETME KAVRAMI</a:t>
            </a:r>
          </a:p>
        </p:txBody>
      </p:sp>
      <p:sp>
        <p:nvSpPr>
          <p:cNvPr id="3" name="İçerik Yer Tutucusu 2">
            <a:extLst>
              <a:ext uri="{FF2B5EF4-FFF2-40B4-BE49-F238E27FC236}">
                <a16:creationId xmlns:a16="http://schemas.microsoft.com/office/drawing/2014/main" id="{9B4A24B8-2F71-0447-254F-419F443B50BD}"/>
              </a:ext>
            </a:extLst>
          </p:cNvPr>
          <p:cNvSpPr>
            <a:spLocks noGrp="1"/>
          </p:cNvSpPr>
          <p:nvPr>
            <p:ph idx="1"/>
          </p:nvPr>
        </p:nvSpPr>
        <p:spPr>
          <a:xfrm>
            <a:off x="5282520" y="2367092"/>
            <a:ext cx="5855415" cy="3847444"/>
          </a:xfrm>
        </p:spPr>
        <p:txBody>
          <a:bodyPr>
            <a:normAutofit/>
          </a:bodyPr>
          <a:lstStyle/>
          <a:p>
            <a:pPr>
              <a:lnSpc>
                <a:spcPct val="110000"/>
              </a:lnSpc>
            </a:pPr>
            <a:r>
              <a:rPr lang="tr-TR" sz="1700" cap="none"/>
              <a:t> İşletmelerin tarihi gelişimi incelendiğinde konuyla önce hukuk biliminin uğraşmış olduğu, bunu adalet dağıtarak sağlamaya çalıştığı, daha sonra da iktisat (ekonomi) biliminin ilgilenmeye başladığı görülmektedir. Üretim ve paylaşım (üleşme), iktisadın en temel konularından sayılmış, hatta bu konuda ekonomik sistemler yaratılarak “daha iyi üretim ve paylaşım” ideolojisi savunulmuştur. Konu tüm yönleriyle hâlâ tartışılmaktadır. Öte yandan iktisadın, yeni alanları çalışma konuları içine dahil etmesi ve alanının genişlemesi nedeniyle yeni bir bilim dalı, </a:t>
            </a:r>
            <a:r>
              <a:rPr lang="tr-TR" b="1" cap="none"/>
              <a:t>işletme bilimi </a:t>
            </a:r>
            <a:r>
              <a:rPr lang="tr-TR" sz="1700" cap="none"/>
              <a:t>doğmuştur </a:t>
            </a:r>
          </a:p>
        </p:txBody>
      </p:sp>
    </p:spTree>
    <p:extLst>
      <p:ext uri="{BB962C8B-B14F-4D97-AF65-F5344CB8AC3E}">
        <p14:creationId xmlns:p14="http://schemas.microsoft.com/office/powerpoint/2010/main" val="140863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81D1AA68-5A7D-44B4-C6BE-964CDEC9E6A5}"/>
            </a:ext>
          </a:extLst>
        </p:cNvPr>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Resim 4" descr="metin, çizgi film, çizim, kırpıntı çizim içeren bir resim&#10;&#10;Yapay zeka tarafından oluşturulan içerik yanlış olabilir.">
            <a:extLst>
              <a:ext uri="{FF2B5EF4-FFF2-40B4-BE49-F238E27FC236}">
                <a16:creationId xmlns:a16="http://schemas.microsoft.com/office/drawing/2014/main" id="{F49CDE13-93D0-AF0C-C162-C5F580A58AC1}"/>
              </a:ext>
            </a:extLst>
          </p:cNvPr>
          <p:cNvPicPr>
            <a:picLocks noChangeAspect="1"/>
          </p:cNvPicPr>
          <p:nvPr/>
        </p:nvPicPr>
        <p:blipFill>
          <a:blip r:embed="rId2">
            <a:extLst>
              <a:ext uri="{28A0092B-C50C-407E-A947-70E740481C1C}">
                <a14:useLocalDpi xmlns:a14="http://schemas.microsoft.com/office/drawing/2010/main" val="0"/>
              </a:ext>
            </a:extLst>
          </a:blip>
          <a:srcRect r="-2" b="226"/>
          <a:stretch/>
        </p:blipFill>
        <p:spPr>
          <a:xfrm>
            <a:off x="643464" y="1926579"/>
            <a:ext cx="3995592" cy="2979895"/>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8" name="Picture 11">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55738E7A-BFDF-E42E-C9F1-4B9899049B25}"/>
              </a:ext>
            </a:extLst>
          </p:cNvPr>
          <p:cNvSpPr>
            <a:spLocks noGrp="1"/>
          </p:cNvSpPr>
          <p:nvPr>
            <p:ph type="title"/>
          </p:nvPr>
        </p:nvSpPr>
        <p:spPr>
          <a:xfrm>
            <a:off x="5282520" y="618517"/>
            <a:ext cx="5855416" cy="1596177"/>
          </a:xfrm>
        </p:spPr>
        <p:txBody>
          <a:bodyPr>
            <a:normAutofit/>
          </a:bodyPr>
          <a:lstStyle/>
          <a:p>
            <a:r>
              <a:rPr lang="tr-TR"/>
              <a:t>İŞLETME KAVRAMI</a:t>
            </a:r>
          </a:p>
        </p:txBody>
      </p:sp>
      <p:sp>
        <p:nvSpPr>
          <p:cNvPr id="3" name="İçerik Yer Tutucusu 2">
            <a:extLst>
              <a:ext uri="{FF2B5EF4-FFF2-40B4-BE49-F238E27FC236}">
                <a16:creationId xmlns:a16="http://schemas.microsoft.com/office/drawing/2014/main" id="{B17F8718-2380-B370-AE3E-04EDBE31B3D2}"/>
              </a:ext>
            </a:extLst>
          </p:cNvPr>
          <p:cNvSpPr>
            <a:spLocks noGrp="1"/>
          </p:cNvSpPr>
          <p:nvPr>
            <p:ph idx="1"/>
          </p:nvPr>
        </p:nvSpPr>
        <p:spPr>
          <a:xfrm>
            <a:off x="5282520" y="2367092"/>
            <a:ext cx="5855415" cy="3847444"/>
          </a:xfrm>
        </p:spPr>
        <p:txBody>
          <a:bodyPr>
            <a:normAutofit/>
          </a:bodyPr>
          <a:lstStyle/>
          <a:p>
            <a:r>
              <a:rPr lang="tr-TR"/>
              <a:t>İşletme bilimi bir taraftan karşılanmamış insan ihtiyaçlarını ve isteklerini, çözülmemiş sorunları bulmaya çalışırken diğer taraftan da bunların en az kaynak kullanarak nasıl çözülebileceği arayışı içindedir.</a:t>
            </a:r>
          </a:p>
        </p:txBody>
      </p:sp>
    </p:spTree>
    <p:extLst>
      <p:ext uri="{BB962C8B-B14F-4D97-AF65-F5344CB8AC3E}">
        <p14:creationId xmlns:p14="http://schemas.microsoft.com/office/powerpoint/2010/main" val="522803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1A6D77DF-10BE-B4FB-0932-9675E9958D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FDC5E13E-6D83-37F7-6110-343864D5872D}"/>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İŞLETME KAVRAMI</a:t>
            </a:r>
          </a:p>
        </p:txBody>
      </p:sp>
      <p:sp>
        <p:nvSpPr>
          <p:cNvPr id="3" name="İçerik Yer Tutucusu 2">
            <a:extLst>
              <a:ext uri="{FF2B5EF4-FFF2-40B4-BE49-F238E27FC236}">
                <a16:creationId xmlns:a16="http://schemas.microsoft.com/office/drawing/2014/main" id="{87CC0964-021C-7A5F-31A4-C273659C6230}"/>
              </a:ext>
            </a:extLst>
          </p:cNvPr>
          <p:cNvSpPr>
            <a:spLocks noGrp="1"/>
          </p:cNvSpPr>
          <p:nvPr>
            <p:ph idx="1"/>
          </p:nvPr>
        </p:nvSpPr>
        <p:spPr>
          <a:xfrm>
            <a:off x="4979078" y="960814"/>
            <a:ext cx="6247722" cy="4830385"/>
          </a:xfrm>
        </p:spPr>
        <p:txBody>
          <a:bodyPr anchor="ctr">
            <a:normAutofit/>
          </a:bodyPr>
          <a:lstStyle/>
          <a:p>
            <a:r>
              <a:rPr lang="tr-TR" sz="2400" cap="none"/>
              <a:t>İnsan ihtiyaçları ile üretim faktörleri arasında sürekli bir ilişki vardır. İkisinin de sahibi olan insanlar ellerindeki üretim faktörlerini piyasada işletmelere satıp ürün ve hizmet üretilmesini sağlayarak, hem üretimin yapılmasına neden olurlar hem de karşılığında bir gelir (satın alma gücü) elde ederler. Bu geliri de ihtiyaçlarının, isteklerinin giderilmesi ve sorunlarının çözülmesinde kullanırlar</a:t>
            </a:r>
          </a:p>
        </p:txBody>
      </p:sp>
    </p:spTree>
    <p:extLst>
      <p:ext uri="{BB962C8B-B14F-4D97-AF65-F5344CB8AC3E}">
        <p14:creationId xmlns:p14="http://schemas.microsoft.com/office/powerpoint/2010/main" val="2463031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601CF712-C02B-9D9F-7540-B6400803E99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31C7A7BB-E13D-2CB4-7BA8-436162A2EC40}"/>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İŞLETME KAVRAMI</a:t>
            </a:r>
          </a:p>
        </p:txBody>
      </p:sp>
      <p:sp>
        <p:nvSpPr>
          <p:cNvPr id="3" name="İçerik Yer Tutucusu 2">
            <a:extLst>
              <a:ext uri="{FF2B5EF4-FFF2-40B4-BE49-F238E27FC236}">
                <a16:creationId xmlns:a16="http://schemas.microsoft.com/office/drawing/2014/main" id="{20A013CB-BE0A-C939-1927-B761460E881C}"/>
              </a:ext>
            </a:extLst>
          </p:cNvPr>
          <p:cNvSpPr>
            <a:spLocks noGrp="1"/>
          </p:cNvSpPr>
          <p:nvPr>
            <p:ph idx="1"/>
          </p:nvPr>
        </p:nvSpPr>
        <p:spPr>
          <a:xfrm>
            <a:off x="4979078" y="960814"/>
            <a:ext cx="6247722" cy="4830385"/>
          </a:xfrm>
        </p:spPr>
        <p:txBody>
          <a:bodyPr anchor="ctr">
            <a:normAutofit/>
          </a:bodyPr>
          <a:lstStyle/>
          <a:p>
            <a:pPr>
              <a:lnSpc>
                <a:spcPct val="110000"/>
              </a:lnSpc>
            </a:pPr>
            <a:r>
              <a:rPr lang="tr-TR" sz="1700" cap="none"/>
              <a:t>Üretim faktörlerini satın alarak üretim yapan işletmeler de ürettiklerini mal ve hizmet piyasasına götürerek elinde satınalma gücü olanlara satarlar. Sonuç olarak, işletmelerin işleyişleriyle ekonomik döngü arasında ilişki böylece devam eder gider. Bir an “işletmelerin olmadığı bir dünya hayal edecek olursak durum nasıl olurdu?” Diye düşünebiliriz. Geçmişte olduğu gibi, insanlar yine kendi güçleriyle ihtiyaçlarını gidermeye, sorunlarını çözmeye çalışacaklardır. </a:t>
            </a:r>
          </a:p>
          <a:p>
            <a:pPr>
              <a:lnSpc>
                <a:spcPct val="110000"/>
              </a:lnSpc>
            </a:pPr>
            <a:r>
              <a:rPr lang="tr-TR" sz="1700" cap="none"/>
              <a:t>Demek ki ihtiyaçlar, sorunlar, istekler işletmelerin varlık nedenidir. İşletmelerin ürettiği her ürün ve hizmet mutlaka bir ihtiyacı giderir, bir isteği karşılar, bir sorunu çözer. Biz buna </a:t>
            </a:r>
            <a:r>
              <a:rPr lang="tr-TR" sz="1700" b="1" cap="none"/>
              <a:t>fayda</a:t>
            </a:r>
            <a:r>
              <a:rPr lang="tr-TR" sz="1700" cap="none"/>
              <a:t> diyoruz. O hâlde fayda, mal ve hizmetlerin insanların ihtiyaçlarını giderme özelliğine denir</a:t>
            </a:r>
          </a:p>
        </p:txBody>
      </p:sp>
    </p:spTree>
    <p:extLst>
      <p:ext uri="{BB962C8B-B14F-4D97-AF65-F5344CB8AC3E}">
        <p14:creationId xmlns:p14="http://schemas.microsoft.com/office/powerpoint/2010/main" val="2740408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CE49D5DB-3267-DF9C-3399-C5A51475497A}"/>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2" name="Başlık 1">
            <a:extLst>
              <a:ext uri="{FF2B5EF4-FFF2-40B4-BE49-F238E27FC236}">
                <a16:creationId xmlns:a16="http://schemas.microsoft.com/office/drawing/2014/main" id="{FD9AE3A0-B9E4-B9FB-3CB6-D6D228550E5C}"/>
              </a:ext>
            </a:extLst>
          </p:cNvPr>
          <p:cNvSpPr>
            <a:spLocks noGrp="1"/>
          </p:cNvSpPr>
          <p:nvPr>
            <p:ph type="title"/>
          </p:nvPr>
        </p:nvSpPr>
        <p:spPr>
          <a:xfrm>
            <a:off x="641074" y="1419900"/>
            <a:ext cx="2844002" cy="4018201"/>
          </a:xfrm>
        </p:spPr>
        <p:txBody>
          <a:bodyPr>
            <a:normAutofit/>
          </a:bodyPr>
          <a:lstStyle/>
          <a:p>
            <a:pPr algn="l"/>
            <a:r>
              <a:rPr lang="tr-TR" sz="4400"/>
              <a:t>İŞLETME KAVRAMI</a:t>
            </a:r>
          </a:p>
        </p:txBody>
      </p:sp>
      <p:sp>
        <p:nvSpPr>
          <p:cNvPr id="3" name="İçerik Yer Tutucusu 2">
            <a:extLst>
              <a:ext uri="{FF2B5EF4-FFF2-40B4-BE49-F238E27FC236}">
                <a16:creationId xmlns:a16="http://schemas.microsoft.com/office/drawing/2014/main" id="{20081585-B348-B18A-B7A8-989A32C8DBC9}"/>
              </a:ext>
            </a:extLst>
          </p:cNvPr>
          <p:cNvSpPr>
            <a:spLocks noGrp="1"/>
          </p:cNvSpPr>
          <p:nvPr>
            <p:ph idx="1"/>
          </p:nvPr>
        </p:nvSpPr>
        <p:spPr>
          <a:xfrm>
            <a:off x="4701008" y="1193576"/>
            <a:ext cx="6576591" cy="4470850"/>
          </a:xfrm>
        </p:spPr>
        <p:txBody>
          <a:bodyPr anchor="ctr">
            <a:normAutofit/>
          </a:bodyPr>
          <a:lstStyle/>
          <a:p>
            <a:pPr>
              <a:lnSpc>
                <a:spcPct val="110000"/>
              </a:lnSpc>
            </a:pPr>
            <a:r>
              <a:rPr lang="tr-TR" sz="1800" cap="none"/>
              <a:t>İşletme kavramını açıklamakta kullanılan kavramlardan biri olan fayda, işletmelerin faaliyetleriyle insanların ihtiyaçlarından doğmuştur. İşletmeler fayda yaratırlar, tüketiciler faydaya ödeme yaparlar. İşletmeler faydayı, şekil değişikliği, zaman değişikliği, yer değişikliği ve mülkiyet değişikliği ile yaparak müşterilerine sunarlar (Mucuk,2011, s.3). </a:t>
            </a:r>
          </a:p>
          <a:p>
            <a:pPr>
              <a:lnSpc>
                <a:spcPct val="110000"/>
              </a:lnSpc>
            </a:pPr>
            <a:r>
              <a:rPr lang="tr-TR" sz="1800" cap="none"/>
              <a:t>Şekil değişikliği ile fayda, işletmelerin yaptığı üretimle olur. Girdiler, işletmede üretim sırasında şekil değişikliğine uğrayarak faydalı ürün hâline gelirler. Mevsimsel tarım ürünleri ya da diğer endüstriyel ürünler saklanarak, korunarak ve depolanarak üretilmedikleri ya da üretilemedikleri zamanda piyasaya çıkarılmalarıyla zaman faydası yaratılmış olunur. </a:t>
            </a:r>
          </a:p>
        </p:txBody>
      </p:sp>
      <p:pic>
        <p:nvPicPr>
          <p:cNvPr id="23" name="Picture 22">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448998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02D9E6C-E7C2-DAA4-970C-2E6A5F6C7B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E5E7F0-03C2-9259-A1D9-2DD8FB1C95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3E91F9-3320-3752-0BBE-56790B9B1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59B79BAC-189E-2AB4-4DAA-9B1F898CFB9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15FFE749-39E2-BB7C-6569-35733269FCF6}"/>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İŞLETME KAVRAMI</a:t>
            </a:r>
          </a:p>
        </p:txBody>
      </p:sp>
      <p:sp>
        <p:nvSpPr>
          <p:cNvPr id="3" name="İçerik Yer Tutucusu 2">
            <a:extLst>
              <a:ext uri="{FF2B5EF4-FFF2-40B4-BE49-F238E27FC236}">
                <a16:creationId xmlns:a16="http://schemas.microsoft.com/office/drawing/2014/main" id="{125E42ED-940F-46E8-C39C-6AB1F388F27A}"/>
              </a:ext>
            </a:extLst>
          </p:cNvPr>
          <p:cNvSpPr>
            <a:spLocks noGrp="1"/>
          </p:cNvSpPr>
          <p:nvPr>
            <p:ph idx="1"/>
          </p:nvPr>
        </p:nvSpPr>
        <p:spPr>
          <a:xfrm>
            <a:off x="4979078" y="960814"/>
            <a:ext cx="6247722" cy="4830385"/>
          </a:xfrm>
        </p:spPr>
        <p:txBody>
          <a:bodyPr anchor="ctr">
            <a:normAutofit/>
          </a:bodyPr>
          <a:lstStyle/>
          <a:p>
            <a:pPr>
              <a:lnSpc>
                <a:spcPct val="110000"/>
              </a:lnSpc>
            </a:pPr>
            <a:r>
              <a:rPr lang="tr-TR" sz="1700" cap="none"/>
              <a:t>Aynı şekilde bir yerde üretilmiş mal, üretimin olmadığı yerde piyasaya sunulursa yer faydası yaratılmış olur. Diğer taraftan üretilen ürünlerin sahipliğinin değişmesinden dolayı ortaya çıkan faydaya mülkiyet faydası denir. Bir işletme bu dört faydadan sadece birini üreterek piyasaya çıkabildiği gibi, aynı zamanda ikisini, üçünü hatta tüm faydaları yaratarak piyasaya çıkabilir. </a:t>
            </a:r>
          </a:p>
        </p:txBody>
      </p:sp>
    </p:spTree>
    <p:extLst>
      <p:ext uri="{BB962C8B-B14F-4D97-AF65-F5344CB8AC3E}">
        <p14:creationId xmlns:p14="http://schemas.microsoft.com/office/powerpoint/2010/main" val="742294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F7E4363-FF25-15ED-8DC9-19AB20907E6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2" name="Başlık 1">
            <a:extLst>
              <a:ext uri="{FF2B5EF4-FFF2-40B4-BE49-F238E27FC236}">
                <a16:creationId xmlns:a16="http://schemas.microsoft.com/office/drawing/2014/main" id="{33255FCF-D226-81B9-E90A-8D5D12B1C6A2}"/>
              </a:ext>
            </a:extLst>
          </p:cNvPr>
          <p:cNvSpPr>
            <a:spLocks noGrp="1"/>
          </p:cNvSpPr>
          <p:nvPr>
            <p:ph type="title"/>
          </p:nvPr>
        </p:nvSpPr>
        <p:spPr>
          <a:xfrm>
            <a:off x="641074" y="1419900"/>
            <a:ext cx="2844002" cy="4018201"/>
          </a:xfrm>
        </p:spPr>
        <p:txBody>
          <a:bodyPr>
            <a:normAutofit/>
          </a:bodyPr>
          <a:lstStyle/>
          <a:p>
            <a:pPr algn="l"/>
            <a:r>
              <a:rPr lang="tr-TR" sz="4400"/>
              <a:t>İhtiyaçlar</a:t>
            </a:r>
          </a:p>
        </p:txBody>
      </p:sp>
      <p:sp>
        <p:nvSpPr>
          <p:cNvPr id="3" name="İçerik Yer Tutucusu 2">
            <a:extLst>
              <a:ext uri="{FF2B5EF4-FFF2-40B4-BE49-F238E27FC236}">
                <a16:creationId xmlns:a16="http://schemas.microsoft.com/office/drawing/2014/main" id="{A3EF220A-0B1A-E705-73B7-A96A42337A27}"/>
              </a:ext>
            </a:extLst>
          </p:cNvPr>
          <p:cNvSpPr>
            <a:spLocks noGrp="1"/>
          </p:cNvSpPr>
          <p:nvPr>
            <p:ph idx="1"/>
          </p:nvPr>
        </p:nvSpPr>
        <p:spPr>
          <a:xfrm>
            <a:off x="4701008" y="1193576"/>
            <a:ext cx="6576591" cy="4470850"/>
          </a:xfrm>
        </p:spPr>
        <p:txBody>
          <a:bodyPr anchor="ctr">
            <a:normAutofit/>
          </a:bodyPr>
          <a:lstStyle/>
          <a:p>
            <a:r>
              <a:rPr lang="tr-TR" cap="none"/>
              <a:t>İnsanların davranışlarının temelinde ihtiyaçlar bulunmaktadır. Motivasyon teorilerinin oluşumu da ihtiyaçlara dayanmaktadır. Bu durum, işletmeler için iki anlama gelmektedir. Birincisi, işletmeler tüketicilerin ihtiyaç duyduğu ürünleri üretirler. Onun için de özellikle günümüzde tüketiciyi iyi anlayabilen işletmeler neyi üreteceğini çok iyi bilir. Bu “neyi üretebiliyorsam onu satarım” değil, “neyi satabiliyorsam onu üretirim” demektir. Aksi takdirde satılmayanı üretmek gibi bir durum ortaya çıkar ki bu da işletmeleri başarısızlığa sürükleyebilir. İşletmeler için gerekli olan iş fikrinin temelinde bu anlayış bulunur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1039375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10CFDCB-CB81-A5FE-9757-ECF150051884}"/>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2" name="Başlık 1">
            <a:extLst>
              <a:ext uri="{FF2B5EF4-FFF2-40B4-BE49-F238E27FC236}">
                <a16:creationId xmlns:a16="http://schemas.microsoft.com/office/drawing/2014/main" id="{AD971BEC-EC3F-CBAA-E3D4-88F64226FCA9}"/>
              </a:ext>
            </a:extLst>
          </p:cNvPr>
          <p:cNvSpPr>
            <a:spLocks noGrp="1"/>
          </p:cNvSpPr>
          <p:nvPr>
            <p:ph type="title"/>
          </p:nvPr>
        </p:nvSpPr>
        <p:spPr>
          <a:xfrm>
            <a:off x="641074" y="1419900"/>
            <a:ext cx="2844002" cy="4018201"/>
          </a:xfrm>
        </p:spPr>
        <p:txBody>
          <a:bodyPr>
            <a:normAutofit/>
          </a:bodyPr>
          <a:lstStyle/>
          <a:p>
            <a:pPr algn="l"/>
            <a:r>
              <a:rPr lang="tr-TR" sz="4400"/>
              <a:t>İhtiyaçlar</a:t>
            </a:r>
          </a:p>
        </p:txBody>
      </p:sp>
      <p:sp>
        <p:nvSpPr>
          <p:cNvPr id="3" name="İçerik Yer Tutucusu 2">
            <a:extLst>
              <a:ext uri="{FF2B5EF4-FFF2-40B4-BE49-F238E27FC236}">
                <a16:creationId xmlns:a16="http://schemas.microsoft.com/office/drawing/2014/main" id="{B8D49DBF-DAF2-6EF4-DDC0-4B6FBAF3667C}"/>
              </a:ext>
            </a:extLst>
          </p:cNvPr>
          <p:cNvSpPr>
            <a:spLocks noGrp="1"/>
          </p:cNvSpPr>
          <p:nvPr>
            <p:ph idx="1"/>
          </p:nvPr>
        </p:nvSpPr>
        <p:spPr>
          <a:xfrm>
            <a:off x="4701008" y="1193576"/>
            <a:ext cx="6576591" cy="4470850"/>
          </a:xfrm>
        </p:spPr>
        <p:txBody>
          <a:bodyPr anchor="ctr">
            <a:normAutofit/>
          </a:bodyPr>
          <a:lstStyle/>
          <a:p>
            <a:r>
              <a:rPr lang="tr-TR" cap="none"/>
              <a:t>Diğer taraftan ihtiyaçların işletmeleri ilgilendiren ikinci yanı, işletmedeki insan kaynaklarıyla ilgilidir. İşletmeler insan çalıştırmaktadırlar ve bu insanların ihtiyaçları vardır. İşletmeler aynı zamanda verimli çalışmalıdırlar. Çalışan insanın verimliliği emeğin verimliliği demektir. Emeğin verimliliği için de motivasyon tekniklerinin uygulanması gerekmektedir. İşte motivasyon, çalışanların karşılanmamış ya da az karşılanmış ihtiyaçları yeterince karşılanarak sağlanabilir. Demek ki ihtiyaçlar hem üretimde hem de satış ve pazarlamada iyi bilinmesi gereken konular arasında sayılmaktadır. İhtiyaçları iyi bilen ve bu konuda analiz yapabilenler, işletmenin pek çok sorununu çözebilirler.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3525080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3" name="İçerik Yer Tutucusu 2">
            <a:extLst>
              <a:ext uri="{FF2B5EF4-FFF2-40B4-BE49-F238E27FC236}">
                <a16:creationId xmlns:a16="http://schemas.microsoft.com/office/drawing/2014/main" id="{75A69C66-FE2E-7CD4-A69E-FC7D846A2792}"/>
              </a:ext>
            </a:extLst>
          </p:cNvPr>
          <p:cNvSpPr>
            <a:spLocks noGrp="1"/>
          </p:cNvSpPr>
          <p:nvPr>
            <p:ph idx="1"/>
          </p:nvPr>
        </p:nvSpPr>
        <p:spPr>
          <a:xfrm>
            <a:off x="4979078" y="960814"/>
            <a:ext cx="6247722" cy="4830385"/>
          </a:xfrm>
        </p:spPr>
        <p:txBody>
          <a:bodyPr anchor="ctr">
            <a:normAutofit/>
          </a:bodyPr>
          <a:lstStyle/>
          <a:p>
            <a:r>
              <a:rPr lang="tr-TR" sz="1800"/>
              <a:t>Girişimciler ya da iç girişimci olarak işletmede çalışanlar, işletmenin üretim yeteneğine bakarak neyi üreteceği ile ilgili iş fikri değil, tüketicilerin çözülmemiş ya da giderilmemiş, farkına bile varılamamış sorun ve ihtiyacını bularak neyi üreteceği ile ilgili iş fikri yaratırlar.</a:t>
            </a:r>
          </a:p>
        </p:txBody>
      </p:sp>
    </p:spTree>
    <p:extLst>
      <p:ext uri="{BB962C8B-B14F-4D97-AF65-F5344CB8AC3E}">
        <p14:creationId xmlns:p14="http://schemas.microsoft.com/office/powerpoint/2010/main" val="2989969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0748AC-44DD-3589-6C4B-54FFD9FEB478}"/>
              </a:ext>
            </a:extLst>
          </p:cNvPr>
          <p:cNvSpPr>
            <a:spLocks noGrp="1"/>
          </p:cNvSpPr>
          <p:nvPr>
            <p:ph type="title"/>
          </p:nvPr>
        </p:nvSpPr>
        <p:spPr/>
        <p:txBody>
          <a:bodyPr/>
          <a:lstStyle/>
          <a:p>
            <a:r>
              <a:rPr lang="tr-TR"/>
              <a:t>İHTİYAÇLAR</a:t>
            </a:r>
          </a:p>
        </p:txBody>
      </p:sp>
      <p:sp>
        <p:nvSpPr>
          <p:cNvPr id="3" name="İçerik Yer Tutucusu 2">
            <a:extLst>
              <a:ext uri="{FF2B5EF4-FFF2-40B4-BE49-F238E27FC236}">
                <a16:creationId xmlns:a16="http://schemas.microsoft.com/office/drawing/2014/main" id="{D91FD208-283D-AD98-B035-6AAD72110237}"/>
              </a:ext>
            </a:extLst>
          </p:cNvPr>
          <p:cNvSpPr>
            <a:spLocks noGrp="1"/>
          </p:cNvSpPr>
          <p:nvPr>
            <p:ph idx="1"/>
          </p:nvPr>
        </p:nvSpPr>
        <p:spPr/>
        <p:txBody>
          <a:bodyPr>
            <a:normAutofit fontScale="92500" lnSpcReduction="10000"/>
          </a:bodyPr>
          <a:lstStyle/>
          <a:p>
            <a:r>
              <a:rPr lang="tr-TR"/>
              <a:t>İhtiyaçlar çeşitli açılardan incelenmiş ve her zaman araştırma konusu olmuştur. İhtiyaçlar sınıflamaya tabi tutulduğu gibi, hiyerarşik olarak da ele alınmıştır. Sınıflama yapılan ihtiyaçlar insanların fizyolojik ve psikolojik yapısı esas alınarak oluşturulmuştur. Buna göre birincil ihtiyaçlar yemek, içmek, barınmak, uyumak gibi ihtiyaçlardır (Ertürk, 2009, s.8). İkincil ihtiyaçlar fizyolojik ihtiyaçların dışında ki ihtiyaçlardır. Toplum içinde toplumla birlikte yaşam özelliğinden doğan ihtiyaçlardır. Bu ihtiyaçlar sevme, sevilme, beğenilme gibi toplum ve kişiyle ilgilidir (Can, Tuncer ve Ayhan, 1991, s.13). Bu ihtiyaçlar da diğer ihtiyaçlar gibi mal ve hizmetlerle giderilmektedir. Mutlaka karşılanması gerekmektedir. Karşılanmazsa insan davranışlarında sorunlar yaşanır. Davranış ve psikolojik bozukluklar ortaya çıkar. </a:t>
            </a:r>
          </a:p>
        </p:txBody>
      </p:sp>
    </p:spTree>
    <p:extLst>
      <p:ext uri="{BB962C8B-B14F-4D97-AF65-F5344CB8AC3E}">
        <p14:creationId xmlns:p14="http://schemas.microsoft.com/office/powerpoint/2010/main" val="1960955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E28AE8DB-E3C3-994F-B922-8BDC4D3807AC}"/>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8AE316E-87E6-3534-D0E6-E975677D6F94}"/>
              </a:ext>
            </a:extLst>
          </p:cNvPr>
          <p:cNvSpPr>
            <a:spLocks noGrp="1"/>
          </p:cNvSpPr>
          <p:nvPr>
            <p:ph type="title"/>
          </p:nvPr>
        </p:nvSpPr>
        <p:spPr>
          <a:xfrm>
            <a:off x="913775" y="618517"/>
            <a:ext cx="10364451" cy="1596177"/>
          </a:xfrm>
        </p:spPr>
        <p:txBody>
          <a:bodyPr>
            <a:normAutofit/>
          </a:bodyPr>
          <a:lstStyle/>
          <a:p>
            <a:r>
              <a:rPr lang="tr-TR"/>
              <a:t>İHTİYAÇLAR</a:t>
            </a:r>
          </a:p>
        </p:txBody>
      </p:sp>
      <p:sp>
        <p:nvSpPr>
          <p:cNvPr id="3" name="İçerik Yer Tutucusu 2">
            <a:extLst>
              <a:ext uri="{FF2B5EF4-FFF2-40B4-BE49-F238E27FC236}">
                <a16:creationId xmlns:a16="http://schemas.microsoft.com/office/drawing/2014/main" id="{2CBA53A4-46C2-D59E-D138-C91220157131}"/>
              </a:ext>
            </a:extLst>
          </p:cNvPr>
          <p:cNvSpPr>
            <a:spLocks noGrp="1"/>
          </p:cNvSpPr>
          <p:nvPr>
            <p:ph idx="1"/>
          </p:nvPr>
        </p:nvSpPr>
        <p:spPr>
          <a:xfrm>
            <a:off x="913774" y="2367092"/>
            <a:ext cx="6096626" cy="3424107"/>
          </a:xfrm>
        </p:spPr>
        <p:txBody>
          <a:bodyPr>
            <a:normAutofit/>
          </a:bodyPr>
          <a:lstStyle/>
          <a:p>
            <a:pPr>
              <a:lnSpc>
                <a:spcPct val="110000"/>
              </a:lnSpc>
            </a:pPr>
            <a:r>
              <a:rPr lang="tr-TR" sz="1300"/>
              <a:t>İşletmecilikte en çok kullanılan ihtiyaç araştırması </a:t>
            </a:r>
            <a:r>
              <a:rPr lang="tr-TR" sz="1300" b="1"/>
              <a:t>Abraham Maslow’un “İhtiyaçlar Hiyerarşisi”dir</a:t>
            </a:r>
            <a:r>
              <a:rPr lang="tr-TR" sz="1300"/>
              <a:t>. Söz konusu hiyerarşide ihtiyaçlar listelenerek gelişi güzel sıralanmamış, piramidin tabanından başlayarak tepesine kadar yerleştirilmiştir. Buradaki en temel varsayım ihtiyaçların hiyerarşik, insan davranışlarının ise ihtiyaca göre şekillenmesidir (Ertürk, 2009, s.9). Hiyerarşinin ya da piramidin tabanından başlayarak ihtiyaçlar, aşağıdaki gibi sıralanabilir.</a:t>
            </a:r>
          </a:p>
          <a:p>
            <a:pPr>
              <a:lnSpc>
                <a:spcPct val="110000"/>
              </a:lnSpc>
            </a:pPr>
            <a:r>
              <a:rPr lang="tr-TR" sz="1300"/>
              <a:t>Fizyolojik ihtiyaçlar </a:t>
            </a:r>
          </a:p>
          <a:p>
            <a:pPr>
              <a:lnSpc>
                <a:spcPct val="110000"/>
              </a:lnSpc>
            </a:pPr>
            <a:r>
              <a:rPr lang="tr-TR" sz="1300"/>
              <a:t>Güvenlik ihtiyacı</a:t>
            </a:r>
          </a:p>
          <a:p>
            <a:pPr>
              <a:lnSpc>
                <a:spcPct val="110000"/>
              </a:lnSpc>
            </a:pPr>
            <a:r>
              <a:rPr lang="tr-TR" sz="1300"/>
              <a:t>Ait olma ve sevgi ihtiyacı</a:t>
            </a:r>
          </a:p>
          <a:p>
            <a:pPr>
              <a:lnSpc>
                <a:spcPct val="110000"/>
              </a:lnSpc>
            </a:pPr>
            <a:r>
              <a:rPr lang="tr-TR" sz="1300"/>
              <a:t>Değer, Saygı ihtiyacı </a:t>
            </a:r>
          </a:p>
          <a:p>
            <a:pPr>
              <a:lnSpc>
                <a:spcPct val="110000"/>
              </a:lnSpc>
            </a:pPr>
            <a:r>
              <a:rPr lang="tr-TR" sz="1300"/>
              <a:t>Kendini gerçekleştirme ihtiyacı</a:t>
            </a:r>
          </a:p>
        </p:txBody>
      </p:sp>
      <p:pic>
        <p:nvPicPr>
          <p:cNvPr id="4" name="Resim 3">
            <a:extLst>
              <a:ext uri="{FF2B5EF4-FFF2-40B4-BE49-F238E27FC236}">
                <a16:creationId xmlns:a16="http://schemas.microsoft.com/office/drawing/2014/main" id="{2A7F1BC8-79F1-A921-4ADE-D59154170198}"/>
              </a:ext>
            </a:extLst>
          </p:cNvPr>
          <p:cNvPicPr>
            <a:picLocks noChangeAspect="1"/>
          </p:cNvPicPr>
          <p:nvPr/>
        </p:nvPicPr>
        <p:blipFill>
          <a:blip r:embed="rId2"/>
          <a:srcRect l="7171" r="7407" b="-3"/>
          <a:stretch/>
        </p:blipFill>
        <p:spPr>
          <a:xfrm>
            <a:off x="7370064" y="2505456"/>
            <a:ext cx="3494466" cy="293522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1593860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hvaltı">
            <a:extLst>
              <a:ext uri="{FF2B5EF4-FFF2-40B4-BE49-F238E27FC236}">
                <a16:creationId xmlns:a16="http://schemas.microsoft.com/office/drawing/2014/main" id="{F27A865F-7192-55C4-4348-C94CC0DF37FD}"/>
              </a:ext>
            </a:extLst>
          </p:cNvPr>
          <p:cNvPicPr>
            <a:picLocks noChangeAspect="1"/>
          </p:cNvPicPr>
          <p:nvPr/>
        </p:nvPicPr>
        <p:blipFill>
          <a:blip r:embed="rId3"/>
          <a:srcRect l="27071" r="33659" b="-1"/>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47849E20-66D0-400C-EE4D-1B81CB3345C5}"/>
              </a:ext>
            </a:extLst>
          </p:cNvPr>
          <p:cNvSpPr>
            <a:spLocks noGrp="1"/>
          </p:cNvSpPr>
          <p:nvPr>
            <p:ph type="title"/>
          </p:nvPr>
        </p:nvSpPr>
        <p:spPr>
          <a:xfrm>
            <a:off x="913776" y="618517"/>
            <a:ext cx="6672886" cy="1596177"/>
          </a:xfrm>
        </p:spPr>
        <p:txBody>
          <a:bodyPr>
            <a:normAutofit/>
          </a:bodyPr>
          <a:lstStyle/>
          <a:p>
            <a:r>
              <a:rPr lang="tr-TR"/>
              <a:t>Fizyolojik ihtiyaçlar</a:t>
            </a:r>
          </a:p>
        </p:txBody>
      </p:sp>
      <p:sp>
        <p:nvSpPr>
          <p:cNvPr id="3" name="İçerik Yer Tutucusu 2">
            <a:extLst>
              <a:ext uri="{FF2B5EF4-FFF2-40B4-BE49-F238E27FC236}">
                <a16:creationId xmlns:a16="http://schemas.microsoft.com/office/drawing/2014/main" id="{EA13EB4B-3465-C844-101E-1BB3CE5E8666}"/>
              </a:ext>
            </a:extLst>
          </p:cNvPr>
          <p:cNvSpPr>
            <a:spLocks noGrp="1"/>
          </p:cNvSpPr>
          <p:nvPr>
            <p:ph idx="1"/>
          </p:nvPr>
        </p:nvSpPr>
        <p:spPr>
          <a:xfrm>
            <a:off x="913774" y="2367092"/>
            <a:ext cx="6672887" cy="3424107"/>
          </a:xfrm>
        </p:spPr>
        <p:txBody>
          <a:bodyPr>
            <a:normAutofit/>
          </a:bodyPr>
          <a:lstStyle/>
          <a:p>
            <a:pPr>
              <a:lnSpc>
                <a:spcPct val="110000"/>
              </a:lnSpc>
            </a:pPr>
            <a:r>
              <a:rPr lang="tr-TR" sz="1700" cap="none"/>
              <a:t>İnsanın canlılığını, yani fizyolojik varlığını sürdürebilmesi için zorunlu olduğundan en temel ihtiyaçlar olarak görülmüştür. Bütün canlılar için geçerlidir. Bunlar yemek, içmek, nefes almak, uyumak, barınmak fiilleriyle yerine getirilen ihtiyaçlardır. Görünür, yani maddi özellikleri vardır. En başta bunların sürekli belli aralıklarla karşılanması gerekir. Diğer ihtiyaçlardan önce gelir. Örneğin insanlar güvenlikten önce karnının doyurulmasını ister. Bu ihtiyaçlar yeterince karşılanmazsa insan fizyolojisi varlığını istenildiği gibi sürdüremez hatta ölür. Bundan sonraki ihtiyaçların hiç anlamı kalmaz. İnsanlardaki bu ihtiyacın varlığını ve özelliğini anlamak işletmecilikte önemlidir</a:t>
            </a:r>
          </a:p>
        </p:txBody>
      </p:sp>
    </p:spTree>
    <p:extLst>
      <p:ext uri="{BB962C8B-B14F-4D97-AF65-F5344CB8AC3E}">
        <p14:creationId xmlns:p14="http://schemas.microsoft.com/office/powerpoint/2010/main" val="2169786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7079D64D-0D83-3903-4CD5-9ABF7DD77EA5}"/>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Güvenlik İhtiyacı</a:t>
            </a:r>
          </a:p>
        </p:txBody>
      </p:sp>
      <p:sp>
        <p:nvSpPr>
          <p:cNvPr id="3" name="İçerik Yer Tutucusu 2">
            <a:extLst>
              <a:ext uri="{FF2B5EF4-FFF2-40B4-BE49-F238E27FC236}">
                <a16:creationId xmlns:a16="http://schemas.microsoft.com/office/drawing/2014/main" id="{C1FAEDE7-DD21-8373-229F-DE84FC607545}"/>
              </a:ext>
            </a:extLst>
          </p:cNvPr>
          <p:cNvSpPr>
            <a:spLocks noGrp="1"/>
          </p:cNvSpPr>
          <p:nvPr>
            <p:ph idx="1"/>
          </p:nvPr>
        </p:nvSpPr>
        <p:spPr>
          <a:xfrm>
            <a:off x="4979078" y="960814"/>
            <a:ext cx="6247722" cy="4830385"/>
          </a:xfrm>
        </p:spPr>
        <p:txBody>
          <a:bodyPr anchor="ctr">
            <a:normAutofit/>
          </a:bodyPr>
          <a:lstStyle/>
          <a:p>
            <a:r>
              <a:rPr lang="tr-TR" sz="1700" cap="none"/>
              <a:t>Fizyolojik ihtiyaçlardan sonra piramidin aşağıdan yukarı ikinci basamağında güvenlik ihtiyacı vardır. Bu ihtiyacın gündeme gelebilmesi için bundan önceki ihtiyacın karşılanması gerekir. İnsanlar canlı olarak ve toplumda bir birey olarak çeşitli risklerle ve tehlikelerle karşı karşıya gelebilirler. Mal ve can güvenlikleri tehdit altında olabilir. Her zaman öldürülme ve gasp korkusuyla yaşayabilir. Bunu önlemenin, bu korkuyu ortadan kaldırmanın yolu bulunmalıdır. İnsanlar sürekli bu psikolojiyle yaşamamalıdır. Mal ve can güvenliğinin, eşit, özgür ve bağımsız yaşam koşullarının sağlanması, hemen hemen her dönemde insanlığın yakalamak istediği hedeflerin en başında yer almıştır. Bazı ihtiyaçlar insanın tek başına karşılayamayacağı türdendir (can ve diğerleri, 1991, s.13). Güvenlik ihtiyacı bunlardan biridir. Güvenlik ihtiyacı iki grupta toplanabilir. Birincisi “</a:t>
            </a:r>
            <a:r>
              <a:rPr lang="tr-TR" sz="1700" b="1" cap="none"/>
              <a:t>genel güvenlik</a:t>
            </a:r>
            <a:r>
              <a:rPr lang="tr-TR" sz="1700" cap="none"/>
              <a:t>” yani mal ve can güvenliği, ikincisi de “</a:t>
            </a:r>
            <a:r>
              <a:rPr lang="tr-TR" sz="1700" b="1" cap="none"/>
              <a:t>sosyal güvenlik</a:t>
            </a:r>
            <a:r>
              <a:rPr lang="tr-TR" sz="1700" cap="none"/>
              <a:t>”tir.</a:t>
            </a:r>
          </a:p>
        </p:txBody>
      </p:sp>
    </p:spTree>
    <p:extLst>
      <p:ext uri="{BB962C8B-B14F-4D97-AF65-F5344CB8AC3E}">
        <p14:creationId xmlns:p14="http://schemas.microsoft.com/office/powerpoint/2010/main" val="3294784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7079D64D-0D83-3903-4CD5-9ABF7DD77EA5}"/>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Güvenlik İhtiyacı</a:t>
            </a:r>
          </a:p>
        </p:txBody>
      </p:sp>
      <p:sp>
        <p:nvSpPr>
          <p:cNvPr id="3" name="İçerik Yer Tutucusu 2">
            <a:extLst>
              <a:ext uri="{FF2B5EF4-FFF2-40B4-BE49-F238E27FC236}">
                <a16:creationId xmlns:a16="http://schemas.microsoft.com/office/drawing/2014/main" id="{C1FAEDE7-DD21-8373-229F-DE84FC607545}"/>
              </a:ext>
            </a:extLst>
          </p:cNvPr>
          <p:cNvSpPr>
            <a:spLocks noGrp="1"/>
          </p:cNvSpPr>
          <p:nvPr>
            <p:ph idx="1"/>
          </p:nvPr>
        </p:nvSpPr>
        <p:spPr>
          <a:xfrm>
            <a:off x="4979078" y="960814"/>
            <a:ext cx="6539412" cy="5528476"/>
          </a:xfrm>
        </p:spPr>
        <p:txBody>
          <a:bodyPr anchor="ctr">
            <a:normAutofit/>
          </a:bodyPr>
          <a:lstStyle/>
          <a:p>
            <a:r>
              <a:rPr lang="tr-TR" sz="1100" dirty="0"/>
              <a:t>İşletmede çalışanların can güvenliğinin bir kısmını kendileri, bir kısmını da işyerleri ve devlet karşılar. İşyerleri çalışanların güvenliği için tedbirler alırlar. Ülkemizde iş ve işçi sağlığı konusunda oluşturulmuş mevzuatlar vardır. Genel mal ve can güvenliği konusunda ise görevi devlet üstlenmiştir. Devlet hem iç tehdit hem de dış tehditlere karşı tedbirler almakta, insanlarının mal ve can güvenliğinin garantisi olarak görülmektedir. Bu durum anayasada da belirtilmiştir. İnsanlar kendi kendine bu ihtiyacı karşılayamaz. Can ve mal güvenliğinin tam karşılanmadığı ülkelerde risk fazla olduğu için girişimciler, yatırımlar konusunda çekingen davranırlar.</a:t>
            </a:r>
          </a:p>
          <a:p>
            <a:r>
              <a:rPr lang="tr-TR" sz="1100" dirty="0"/>
              <a:t> İkinci güvenlik ihtiyacı Sosyal Güvenliktir. Sosyal güvenlik, insanın sürdürülebilir şekilde doğuştan hayatının sonuna kadar, başta fizyolojik ihtiyaçlar olmak üzere, diğer ihtiyaçlarının da karşılandığı bir sistemdir. Yani insanların işsiz kalması, hastalanması, engelli olması, iş kazası geçirmesi gibi gelir getirici faaliyetlerde bulunamadığı durumlarda insanca yaşamalarını sağlayan sistemlerdir. İnsanların normal koşullarda çalışabiliyorken aldığı ücretle, fizyolojik ihtiyaçlarını giderebildiği söylenebilir. Ama insan her zaman çalışma imkânı bulamayabilir. Peki, böyle bir durumda ihtiyaçlarını nasıl giderecek, hayatını nasıl devam ettirebilecek sorusunun cevabı Sosyal Güvenlik Sisteminde saklıdır. Sosyal Güvenlik Sistemi devreye girerek hayatın sorunsuzca devamını sağlamaktadır. Sosyal güvenliğin geliştiği ülkelerde insanların gelecek kaygıları yoktur; yaşlanınca, iş göremez duruma gelince gelir edinme sorunu yoktur. Gelişmemiş ve az gelişmiş toplumlarda sosyal güvenlik ihtiyacı tam anlamıyla giderilememektedir. Bu durumun aynı zamanda sosyal ve ekonomik gelişmişlik göstergesi olduğunu söylemek yanlış olmayacaktır</a:t>
            </a:r>
            <a:endParaRPr lang="tr-TR" sz="1700" cap="none" dirty="0"/>
          </a:p>
        </p:txBody>
      </p:sp>
    </p:spTree>
    <p:extLst>
      <p:ext uri="{BB962C8B-B14F-4D97-AF65-F5344CB8AC3E}">
        <p14:creationId xmlns:p14="http://schemas.microsoft.com/office/powerpoint/2010/main" val="2775540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C320421-B641-ABA7-5827-1166A91B072D}"/>
              </a:ext>
            </a:extLst>
          </p:cNvPr>
          <p:cNvPicPr>
            <a:picLocks noChangeAspect="1"/>
          </p:cNvPicPr>
          <p:nvPr/>
        </p:nvPicPr>
        <p:blipFill>
          <a:blip r:embed="rId3"/>
          <a:srcRect l="27753" r="33220"/>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EB620BFB-B7AA-C676-859F-8759D7974992}"/>
              </a:ext>
            </a:extLst>
          </p:cNvPr>
          <p:cNvSpPr>
            <a:spLocks noGrp="1"/>
          </p:cNvSpPr>
          <p:nvPr>
            <p:ph type="title"/>
          </p:nvPr>
        </p:nvSpPr>
        <p:spPr>
          <a:xfrm>
            <a:off x="4465050" y="618517"/>
            <a:ext cx="6672886" cy="1596177"/>
          </a:xfrm>
        </p:spPr>
        <p:txBody>
          <a:bodyPr>
            <a:normAutofit/>
          </a:bodyPr>
          <a:lstStyle/>
          <a:p>
            <a:r>
              <a:rPr lang="fi-FI"/>
              <a:t>A</a:t>
            </a:r>
            <a:r>
              <a:rPr lang="tr-TR"/>
              <a:t>İ</a:t>
            </a:r>
            <a:r>
              <a:rPr lang="fi-FI"/>
              <a:t>t Olma ve Sevg</a:t>
            </a:r>
            <a:r>
              <a:rPr lang="tr-TR"/>
              <a:t>İ</a:t>
            </a:r>
            <a:r>
              <a:rPr lang="fi-FI"/>
              <a:t> İhtiyacı</a:t>
            </a:r>
            <a:endParaRPr lang="tr-TR"/>
          </a:p>
        </p:txBody>
      </p:sp>
      <p:sp>
        <p:nvSpPr>
          <p:cNvPr id="3" name="İçerik Yer Tutucusu 2">
            <a:extLst>
              <a:ext uri="{FF2B5EF4-FFF2-40B4-BE49-F238E27FC236}">
                <a16:creationId xmlns:a16="http://schemas.microsoft.com/office/drawing/2014/main" id="{494DEF47-234B-D600-CE33-CB970D75583F}"/>
              </a:ext>
            </a:extLst>
          </p:cNvPr>
          <p:cNvSpPr>
            <a:spLocks noGrp="1"/>
          </p:cNvSpPr>
          <p:nvPr>
            <p:ph idx="1"/>
          </p:nvPr>
        </p:nvSpPr>
        <p:spPr>
          <a:xfrm>
            <a:off x="4465048" y="2367092"/>
            <a:ext cx="6672887" cy="3424107"/>
          </a:xfrm>
        </p:spPr>
        <p:txBody>
          <a:bodyPr>
            <a:normAutofit/>
          </a:bodyPr>
          <a:lstStyle/>
          <a:p>
            <a:pPr>
              <a:lnSpc>
                <a:spcPct val="110000"/>
              </a:lnSpc>
            </a:pPr>
            <a:r>
              <a:rPr lang="tr-TR" sz="1400" cap="none"/>
              <a:t>Piramidin geri kalan basamaklarında yer alan ihtiyaçlar toplumsaldır. Davranışları şekillendiren toplum, insanların varlığını kabul ederek, onlara toplumda bir yer vererek ait olma ihtiyaçlarının giderilmesini sağlar. İnsanlar hiçbir zaman tek başına toplumun dışında kalarak kendini diğer insanlardan ve toplumdan soyutlayarak yaşayamaz. Mutlaka bir gruba ya da topluma ait olması, toplumun ve grubun onun varlığını kabul etmesi, bağrına basması gerekmektedir. İnsanlar toplumsal yaşamda belki bilinçli belki de farkına varmayarak birden fazla grubun içinde bulunurlar. O grupların mensubu olurlar. Gruplar da onu kabul eder. Ait olma ihtiyacı da  kendini çok göstermeden giderilmiş olur. İnsanlar ancak giderilmediğinde farkına varabilirler. Bu gruplara örnek olarak başta aile, çeşitli dostluk grupları, spor kulüpleri, işyeri grupları, meslek grupları, cinsiyet grupları, hemşeri grupları, öğrenci kulüpleri, proje grupları, takımlar, ekipler, fan grupları ve çeşitli sosyal medya grupları gösterilebilir.</a:t>
            </a:r>
          </a:p>
        </p:txBody>
      </p:sp>
    </p:spTree>
    <p:extLst>
      <p:ext uri="{BB962C8B-B14F-4D97-AF65-F5344CB8AC3E}">
        <p14:creationId xmlns:p14="http://schemas.microsoft.com/office/powerpoint/2010/main" val="3748783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r komik, metal urn">
            <a:extLst>
              <a:ext uri="{FF2B5EF4-FFF2-40B4-BE49-F238E27FC236}">
                <a16:creationId xmlns:a16="http://schemas.microsoft.com/office/drawing/2014/main" id="{50EEE8A0-53A3-10F0-55E1-8693F3971BAD}"/>
              </a:ext>
            </a:extLst>
          </p:cNvPr>
          <p:cNvPicPr>
            <a:picLocks noChangeAspect="1"/>
          </p:cNvPicPr>
          <p:nvPr/>
        </p:nvPicPr>
        <p:blipFill>
          <a:blip r:embed="rId2"/>
          <a:srcRect l="21694" r="39036" b="-1"/>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8B3E0D45-ABD3-9ACC-5812-3C5E30785CDD}"/>
              </a:ext>
            </a:extLst>
          </p:cNvPr>
          <p:cNvSpPr>
            <a:spLocks noGrp="1"/>
          </p:cNvSpPr>
          <p:nvPr>
            <p:ph type="title"/>
          </p:nvPr>
        </p:nvSpPr>
        <p:spPr>
          <a:xfrm>
            <a:off x="913776" y="618517"/>
            <a:ext cx="6672886" cy="1596177"/>
          </a:xfrm>
        </p:spPr>
        <p:txBody>
          <a:bodyPr>
            <a:normAutofit/>
          </a:bodyPr>
          <a:lstStyle/>
          <a:p>
            <a:r>
              <a:rPr lang="tr-TR"/>
              <a:t>Saygı İhtiyacı</a:t>
            </a:r>
          </a:p>
        </p:txBody>
      </p:sp>
      <p:sp>
        <p:nvSpPr>
          <p:cNvPr id="3" name="İçerik Yer Tutucusu 2">
            <a:extLst>
              <a:ext uri="{FF2B5EF4-FFF2-40B4-BE49-F238E27FC236}">
                <a16:creationId xmlns:a16="http://schemas.microsoft.com/office/drawing/2014/main" id="{09F201E6-F0CD-E82E-24DB-E56A14AEB74F}"/>
              </a:ext>
            </a:extLst>
          </p:cNvPr>
          <p:cNvSpPr>
            <a:spLocks noGrp="1"/>
          </p:cNvSpPr>
          <p:nvPr>
            <p:ph idx="1"/>
          </p:nvPr>
        </p:nvSpPr>
        <p:spPr>
          <a:xfrm>
            <a:off x="913774" y="1843548"/>
            <a:ext cx="6672887" cy="3947651"/>
          </a:xfrm>
        </p:spPr>
        <p:txBody>
          <a:bodyPr>
            <a:normAutofit lnSpcReduction="10000"/>
          </a:bodyPr>
          <a:lstStyle/>
          <a:p>
            <a:pPr>
              <a:lnSpc>
                <a:spcPct val="110000"/>
              </a:lnSpc>
            </a:pPr>
            <a:r>
              <a:rPr lang="tr-TR" sz="1600" cap="none" dirty="0"/>
              <a:t>Saygı ihtiyacı, itibar, tanınma, değerli hissetme ve takdir edilmeyle ilgilidir. Bunların da yeterince karşılanması gerekir. Aynı zamanda iç motivasyon faktörü olarak da kullanılır. Saygı ihtiyacı iki şekilde ortaya çıkar. Birincisi insanın kendisine saygı duyması, ikincisi ise başkalarından saygı beklemesidir. İşletmelerde çalışanlar çalışma performanslarının gözlenmesini, başarılı olanların takdir edilmesini ve buna uygun statünün verilmesini isterler. Zaten takdir edilmek için başarı gereklidir. Takdir edildikçe başarı tekrarlanır. Başarıyla gelen takdir, itibarı ve tanınmayı artırır. </a:t>
            </a:r>
          </a:p>
          <a:p>
            <a:pPr>
              <a:lnSpc>
                <a:spcPct val="110000"/>
              </a:lnSpc>
            </a:pPr>
            <a:r>
              <a:rPr lang="tr-TR" sz="1600" cap="none" dirty="0"/>
              <a:t>Sonuçta insanın saygı ihtiyacı karşılandığı için tatmin olur ve çalışma istek ve arzusu artar. Bu durum iş yaşamında olduğu gibi özel yaşamda da aynı şekilde işler. İtibar, tanınma insanı değerli hissettirir. Bunların hepsinin gerçekleşmesi de saygı ihtiyacını giderir. İşletmeye maliyeti olmayan bir motivasyon faktörüdür. Bu faktör dış motivasyon faktörlerinden daha etkilidir. Ayrıca önemli ve özel olduğunu hissettirmek de aynı şekilde saygı ihtiyacının karşılandığını göstermektedir.</a:t>
            </a:r>
          </a:p>
        </p:txBody>
      </p:sp>
    </p:spTree>
    <p:extLst>
      <p:ext uri="{BB962C8B-B14F-4D97-AF65-F5344CB8AC3E}">
        <p14:creationId xmlns:p14="http://schemas.microsoft.com/office/powerpoint/2010/main" val="2570793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üneşe ulaşıyor">
            <a:extLst>
              <a:ext uri="{FF2B5EF4-FFF2-40B4-BE49-F238E27FC236}">
                <a16:creationId xmlns:a16="http://schemas.microsoft.com/office/drawing/2014/main" id="{4D4DF487-0AB5-7C21-F8E1-26940535E96D}"/>
              </a:ext>
            </a:extLst>
          </p:cNvPr>
          <p:cNvPicPr>
            <a:picLocks noChangeAspect="1"/>
          </p:cNvPicPr>
          <p:nvPr/>
        </p:nvPicPr>
        <p:blipFill>
          <a:blip r:embed="rId3"/>
          <a:srcRect l="39485" r="21099" b="2"/>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2947A4D9-04B6-7E85-53B2-FDB9D9803A96}"/>
              </a:ext>
            </a:extLst>
          </p:cNvPr>
          <p:cNvSpPr>
            <a:spLocks noGrp="1"/>
          </p:cNvSpPr>
          <p:nvPr>
            <p:ph type="title"/>
          </p:nvPr>
        </p:nvSpPr>
        <p:spPr>
          <a:xfrm>
            <a:off x="913776" y="618517"/>
            <a:ext cx="6672886" cy="1596177"/>
          </a:xfrm>
        </p:spPr>
        <p:txBody>
          <a:bodyPr>
            <a:normAutofit/>
          </a:bodyPr>
          <a:lstStyle/>
          <a:p>
            <a:r>
              <a:rPr lang="tr-TR"/>
              <a:t>Kendini Gerçekleştirme İhtiyacı</a:t>
            </a:r>
          </a:p>
        </p:txBody>
      </p:sp>
      <p:sp>
        <p:nvSpPr>
          <p:cNvPr id="3" name="İçerik Yer Tutucusu 2">
            <a:extLst>
              <a:ext uri="{FF2B5EF4-FFF2-40B4-BE49-F238E27FC236}">
                <a16:creationId xmlns:a16="http://schemas.microsoft.com/office/drawing/2014/main" id="{7BFAA6E3-BCD8-9190-2E52-76B4B67C8997}"/>
              </a:ext>
            </a:extLst>
          </p:cNvPr>
          <p:cNvSpPr>
            <a:spLocks noGrp="1"/>
          </p:cNvSpPr>
          <p:nvPr>
            <p:ph idx="1"/>
          </p:nvPr>
        </p:nvSpPr>
        <p:spPr>
          <a:xfrm>
            <a:off x="803986" y="1917290"/>
            <a:ext cx="6782676" cy="4322193"/>
          </a:xfrm>
        </p:spPr>
        <p:txBody>
          <a:bodyPr>
            <a:normAutofit fontScale="92500" lnSpcReduction="10000"/>
          </a:bodyPr>
          <a:lstStyle/>
          <a:p>
            <a:pPr>
              <a:lnSpc>
                <a:spcPct val="110000"/>
              </a:lnSpc>
            </a:pPr>
            <a:r>
              <a:rPr lang="tr-TR" sz="1600" cap="none" dirty="0"/>
              <a:t>İnsanların hayallerini, ideallerini ve yeteneklerini gerçekleştirmesi ihtiyacıdır. Ayrıca yaratıcılık, buluşçuluk, kapasite ve potansiyelini ortaya çıkarmak ve bütün bunları gerçekleştirdikten sonra haz duymak da kendini gerçekleştirme ihtiyacı kapsamında ele alınır. Özellikle son yıllarda önemli hâle gelen ve gittikçe de önemi artan yaratıcılık, yenilik ve inovasyon hareketlerini de bu ihtiyaç içinde görmek mümkündür. İşletmeler için ihtiyaç olan yaratıcılık, insanların da ihtiyacıdır. Yani işletmede çalışanların da ihtiyacıdır. İşletmeler, çalışanlarının yaratıcılık ihtiyaçlarını gidermekle hem onları motive ederek verimli çalışmalarını sağlayacaklar hem de kendilerinin yaratıcılık ihtiyaçlarını karşılayacaklardır. Günümüzde işletmeler bütün dönemlerin en rekabetçi ortamında faaliyetlerini sürdürmektedirler. Rekabetten kaçmak ve rekabette güçlü olabilmek için farklı olmak gerekmektedir. Farklılık da yaratıcılıkla mümkündür. Yaratıcılık konusunda yapılan pek çok çalışma, her insanın yaratıcı olduğunu söylemektedir. O hâlde çalışanlarının yaratıcılık potansiyellerini açığa çıkaran işletmeler, yaratıcılıklarını iyi yönetirlerse taklit edilemeyen stratejik üstünlüklere sahip olurlar. Yeni dünya 1. Ünite - işletmeler ve özellikleri  düzeninde işletmeler yaratıcılık güçlerine göre değerlendirilmektedir. Gelecek de yaratıcı işletmelerin olacaktır.</a:t>
            </a:r>
          </a:p>
        </p:txBody>
      </p:sp>
    </p:spTree>
    <p:extLst>
      <p:ext uri="{BB962C8B-B14F-4D97-AF65-F5344CB8AC3E}">
        <p14:creationId xmlns:p14="http://schemas.microsoft.com/office/powerpoint/2010/main" val="1991932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2894428D-DA5F-6EB3-D5A7-6448F1366C2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lgisayar tarafından oluşturulan ışıklar">
            <a:extLst>
              <a:ext uri="{FF2B5EF4-FFF2-40B4-BE49-F238E27FC236}">
                <a16:creationId xmlns:a16="http://schemas.microsoft.com/office/drawing/2014/main" id="{55CCB187-A41F-A3E1-5AB2-519C0301353A}"/>
              </a:ext>
            </a:extLst>
          </p:cNvPr>
          <p:cNvPicPr>
            <a:picLocks noChangeAspect="1"/>
          </p:cNvPicPr>
          <p:nvPr/>
        </p:nvPicPr>
        <p:blipFill>
          <a:blip r:embed="rId3"/>
          <a:srcRect l="22958" r="33507"/>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7FE503F1-71AE-DD29-EF8E-ABC30DA79AE1}"/>
              </a:ext>
            </a:extLst>
          </p:cNvPr>
          <p:cNvSpPr>
            <a:spLocks noGrp="1"/>
          </p:cNvSpPr>
          <p:nvPr>
            <p:ph type="title"/>
          </p:nvPr>
        </p:nvSpPr>
        <p:spPr>
          <a:xfrm>
            <a:off x="913776" y="618517"/>
            <a:ext cx="6672886" cy="1596177"/>
          </a:xfrm>
        </p:spPr>
        <p:txBody>
          <a:bodyPr>
            <a:normAutofit/>
          </a:bodyPr>
          <a:lstStyle/>
          <a:p>
            <a:r>
              <a:rPr lang="tr-TR"/>
              <a:t>Kendini Gerçekleştirme İhtiyacı</a:t>
            </a:r>
          </a:p>
        </p:txBody>
      </p:sp>
      <p:sp>
        <p:nvSpPr>
          <p:cNvPr id="3" name="İçerik Yer Tutucusu 2">
            <a:extLst>
              <a:ext uri="{FF2B5EF4-FFF2-40B4-BE49-F238E27FC236}">
                <a16:creationId xmlns:a16="http://schemas.microsoft.com/office/drawing/2014/main" id="{7025C026-5E87-7C2E-AE70-75788ED6110E}"/>
              </a:ext>
            </a:extLst>
          </p:cNvPr>
          <p:cNvSpPr>
            <a:spLocks noGrp="1"/>
          </p:cNvSpPr>
          <p:nvPr>
            <p:ph idx="1"/>
          </p:nvPr>
        </p:nvSpPr>
        <p:spPr>
          <a:xfrm>
            <a:off x="913774" y="2367092"/>
            <a:ext cx="6672887" cy="4195940"/>
          </a:xfrm>
        </p:spPr>
        <p:txBody>
          <a:bodyPr>
            <a:normAutofit lnSpcReduction="10000"/>
          </a:bodyPr>
          <a:lstStyle/>
          <a:p>
            <a:pPr>
              <a:lnSpc>
                <a:spcPct val="110000"/>
              </a:lnSpc>
            </a:pPr>
            <a:r>
              <a:rPr lang="tr-TR" sz="1600" cap="none" dirty="0"/>
              <a:t>İşletmeler çalışanlarının bu ihtiyacı ile şimdiye kadar çok yakından ilgilenmemişlerdi. Ancak günümüzde yaratıcılık, çalışanların kendini gerçekleştirme ihtiyacından çok, işletmelerin daha şiddetle istedikleri rekabet avantajı hâline gelmiştir. Bu ihtiyaç, işletmeler için beyin gücü şeklindeki emeğin ne kadar önemli olduğunu göstermektedir. Ayrıca işletmeler sadece çalışanlarının değil, işletme dışındaki insanların da yaratıcılığından yararlanabilecek ortam ve sistemler kurmaya başlamışlardır. Şimdiye kadar işletmeler farkına bile varamadıkları, o kadar da önemsemedikleri bu ihtiyacın karşılanmasıyla işletmelerde nelerin yapılabileceğini anlamaya başlamışlardır. İnsan ihtiyaç ve isteklerinin bitiş noktası yoktur yani sonsuzdurlar. Hiçbir zaman insanlar mal ve hizmet üreten işletmelere tüm ihtiyaçlarının karşılandığına dair bir geri bildirim sağlamayacaklardır. Her zaman daha iyisini, daha yenisini isteyecekler ve işletmeler de bu talebi karşılamaya çalışacaklardır. En iyisi ve en yenisinin talep edilmesi; işletmeleri yaratıcılığa, yeniliğe ve inovasyona yönlendirecektir. Burada yaratıcılık ve yenilikle ilgili olan </a:t>
            </a:r>
            <a:r>
              <a:rPr lang="tr-TR" sz="1600" cap="none" dirty="0" err="1"/>
              <a:t>innovasyon</a:t>
            </a:r>
            <a:r>
              <a:rPr lang="tr-TR" sz="1600" cap="none" dirty="0"/>
              <a:t> kavramını açıklamak gerekmektedir.</a:t>
            </a:r>
          </a:p>
        </p:txBody>
      </p:sp>
    </p:spTree>
    <p:extLst>
      <p:ext uri="{BB962C8B-B14F-4D97-AF65-F5344CB8AC3E}">
        <p14:creationId xmlns:p14="http://schemas.microsoft.com/office/powerpoint/2010/main" val="33619274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3534FE85-6E95-3630-2950-DAA5C0E4E359}"/>
              </a:ext>
            </a:extLst>
          </p:cNvPr>
          <p:cNvSpPr>
            <a:spLocks noGrp="1"/>
          </p:cNvSpPr>
          <p:nvPr>
            <p:ph type="title"/>
          </p:nvPr>
        </p:nvSpPr>
        <p:spPr>
          <a:xfrm>
            <a:off x="678426" y="960814"/>
            <a:ext cx="3013719" cy="4912936"/>
          </a:xfrm>
        </p:spPr>
        <p:txBody>
          <a:bodyPr anchor="b">
            <a:normAutofit/>
          </a:bodyPr>
          <a:lstStyle/>
          <a:p>
            <a:pPr algn="r"/>
            <a:r>
              <a:rPr lang="tr-TR" sz="3700" dirty="0">
                <a:solidFill>
                  <a:schemeClr val="bg1"/>
                </a:solidFill>
              </a:rPr>
              <a:t>inovasyon</a:t>
            </a:r>
          </a:p>
        </p:txBody>
      </p:sp>
      <p:sp>
        <p:nvSpPr>
          <p:cNvPr id="3" name="İçerik Yer Tutucusu 2">
            <a:extLst>
              <a:ext uri="{FF2B5EF4-FFF2-40B4-BE49-F238E27FC236}">
                <a16:creationId xmlns:a16="http://schemas.microsoft.com/office/drawing/2014/main" id="{1C193400-D795-2435-5066-67D4F7ECC3B9}"/>
              </a:ext>
            </a:extLst>
          </p:cNvPr>
          <p:cNvSpPr>
            <a:spLocks noGrp="1"/>
          </p:cNvSpPr>
          <p:nvPr>
            <p:ph idx="1"/>
          </p:nvPr>
        </p:nvSpPr>
        <p:spPr>
          <a:xfrm>
            <a:off x="4979078" y="960814"/>
            <a:ext cx="6247722" cy="5380992"/>
          </a:xfrm>
        </p:spPr>
        <p:txBody>
          <a:bodyPr anchor="ctr">
            <a:normAutofit/>
          </a:bodyPr>
          <a:lstStyle/>
          <a:p>
            <a:pPr>
              <a:lnSpc>
                <a:spcPct val="110000"/>
              </a:lnSpc>
            </a:pPr>
            <a:r>
              <a:rPr lang="tr-TR" sz="1500" cap="none" dirty="0"/>
              <a:t>İnovasyon, yeniliğin tam karşılığı değildir. Kökü hayallere ve yaratıcılığa dayanır. Hayallerden doğan yaratıcılık, içinden yeniliği çıkarır. Bu yenilik işletmelerin her türlü sürecini kapsayabilir. Ürünlerde, hizmetlerde, süreçlerde, dağıtım kanalında, yönetim tekniğinde, iş modelinde, iş yapış şeklinde vb. Gibi. Ancak yaratıcılıktan doğan yeniliklerin hepsinin uygulanması mümkün olmayabilir. Yani bazı yenilikler çeşitli nedenlerden uygulanamaz. Maliyet yüksektir, yasal değildir. Hammaddesi sınırlıdır. Ama bazıları uygulanır, piyasaya çıkar. İşletme de bundan kâr elde eder. İşte piyasaya çıkabilen ticari hâle gelen yeniliğe inovasyon denir. </a:t>
            </a:r>
          </a:p>
          <a:p>
            <a:pPr>
              <a:lnSpc>
                <a:spcPct val="110000"/>
              </a:lnSpc>
            </a:pPr>
            <a:r>
              <a:rPr lang="tr-TR" sz="1500" cap="none" dirty="0"/>
              <a:t>Öte yandan yaratıcılıklar sonucunda elde edilen yenilikler için sınai ve fikri mülkiyet hakkı bakımından tescil ya da patent alınabilir. Her patenti alınmış yenilik piyasaya çıkmaz. Ama piyasaya çıkan, ticari hâle gelen her türlü patent uygulamaları inovasyondur. İşletmelerin inovasyon uygulamaları son yıllarda artmaya başlamıştır. İşte işletmeler yaptıkları inovasyon uygulamaları ile her zaman tüketicilerin dillendirebildikleri ve dillendiremedikleri ihtiyaç ve beklentileri karşılayacak ürün ve hizmetleri üretirler. Söz konusu üretim için de girdi (kaynak, üretim faktörü) kullanırlar. Ancak bu girdiler sonsuz değil, kıttır.</a:t>
            </a:r>
          </a:p>
        </p:txBody>
      </p:sp>
    </p:spTree>
    <p:extLst>
      <p:ext uri="{BB962C8B-B14F-4D97-AF65-F5344CB8AC3E}">
        <p14:creationId xmlns:p14="http://schemas.microsoft.com/office/powerpoint/2010/main" val="1039265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46F2B05-D14A-46C1-B94D-81BAFA34C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13" descr="Kaynakçı">
            <a:extLst>
              <a:ext uri="{FF2B5EF4-FFF2-40B4-BE49-F238E27FC236}">
                <a16:creationId xmlns:a16="http://schemas.microsoft.com/office/drawing/2014/main" id="{83E10BD4-329C-D85F-1BAD-7238619954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7704" y="1524495"/>
            <a:ext cx="3840815" cy="3840815"/>
          </a:xfrm>
          <a:prstGeom prst="rect">
            <a:avLst/>
          </a:prstGeom>
        </p:spPr>
      </p:pic>
      <p:pic>
        <p:nvPicPr>
          <p:cNvPr id="19" name="Picture 18">
            <a:extLst>
              <a:ext uri="{FF2B5EF4-FFF2-40B4-BE49-F238E27FC236}">
                <a16:creationId xmlns:a16="http://schemas.microsoft.com/office/drawing/2014/main" id="{DC21F734-A85A-4FEA-8CB8-6C72B8195C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İçerik Yer Tutucusu 2">
            <a:extLst>
              <a:ext uri="{FF2B5EF4-FFF2-40B4-BE49-F238E27FC236}">
                <a16:creationId xmlns:a16="http://schemas.microsoft.com/office/drawing/2014/main" id="{38B4C57C-DA38-13B6-31A0-6C94D5B74BD6}"/>
              </a:ext>
            </a:extLst>
          </p:cNvPr>
          <p:cNvSpPr>
            <a:spLocks noGrp="1"/>
          </p:cNvSpPr>
          <p:nvPr>
            <p:ph idx="1"/>
          </p:nvPr>
        </p:nvSpPr>
        <p:spPr>
          <a:xfrm>
            <a:off x="1054065" y="2367092"/>
            <a:ext cx="5855415" cy="3847444"/>
          </a:xfrm>
        </p:spPr>
        <p:txBody>
          <a:bodyPr>
            <a:normAutofit/>
          </a:bodyPr>
          <a:lstStyle/>
          <a:p>
            <a:r>
              <a:rPr lang="tr-TR"/>
              <a:t>Üretim faktörleri, insan ihtiyaçlarını gidermek, sorunlarını çözmek için piyasaya sunulacak ürün ve hizmetlerin üretiminde kullanılan miktar ve çeşit yönünden sınırlı olan girdi ya da kaynaklardır. Dört temel çeşidi vardır. Bunlar; doğal kaynaklar, emek, sermaye ve girişimciliktir.</a:t>
            </a:r>
          </a:p>
        </p:txBody>
      </p:sp>
      <p:sp>
        <p:nvSpPr>
          <p:cNvPr id="2" name="Başlık 1">
            <a:extLst>
              <a:ext uri="{FF2B5EF4-FFF2-40B4-BE49-F238E27FC236}">
                <a16:creationId xmlns:a16="http://schemas.microsoft.com/office/drawing/2014/main" id="{3483E6F4-450A-9469-F568-B99D5E790CDC}"/>
              </a:ext>
            </a:extLst>
          </p:cNvPr>
          <p:cNvSpPr>
            <a:spLocks noGrp="1"/>
          </p:cNvSpPr>
          <p:nvPr>
            <p:ph type="title"/>
          </p:nvPr>
        </p:nvSpPr>
        <p:spPr>
          <a:xfrm>
            <a:off x="1054064" y="618517"/>
            <a:ext cx="5855416" cy="1596177"/>
          </a:xfrm>
        </p:spPr>
        <p:txBody>
          <a:bodyPr>
            <a:normAutofit/>
          </a:bodyPr>
          <a:lstStyle/>
          <a:p>
            <a:r>
              <a:rPr lang="tr-TR"/>
              <a:t>Üretim Faktörleri</a:t>
            </a:r>
          </a:p>
        </p:txBody>
      </p:sp>
    </p:spTree>
    <p:extLst>
      <p:ext uri="{BB962C8B-B14F-4D97-AF65-F5344CB8AC3E}">
        <p14:creationId xmlns:p14="http://schemas.microsoft.com/office/powerpoint/2010/main" val="603733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4000"/>
                <a:shade val="100000"/>
                <a:hueMod val="130000"/>
                <a:satMod val="150000"/>
                <a:lumMod val="112000"/>
              </a:schemeClr>
            </a:gs>
            <a:gs pos="100000">
              <a:schemeClr val="bg2">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1C0F6D-5AB0-457D-A2E5-4B8E77E39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56A97F-536A-4D70-BE3C-46ED7477A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D0D0D">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8F27DD5-AB09-4348-AEAE-38DD5BF3B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284159"/>
          </a:xfrm>
          <a:prstGeom prst="rect">
            <a:avLst/>
          </a:prstGeom>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AC9C46C-7236-EC84-7375-5C4CB74ECE6F}"/>
              </a:ext>
            </a:extLst>
          </p:cNvPr>
          <p:cNvSpPr>
            <a:spLocks noGrp="1"/>
          </p:cNvSpPr>
          <p:nvPr>
            <p:ph type="title"/>
          </p:nvPr>
        </p:nvSpPr>
        <p:spPr>
          <a:xfrm>
            <a:off x="913776" y="643466"/>
            <a:ext cx="3418784" cy="4308475"/>
          </a:xfrm>
        </p:spPr>
        <p:txBody>
          <a:bodyPr anchor="t">
            <a:normAutofit/>
          </a:bodyPr>
          <a:lstStyle/>
          <a:p>
            <a:pPr algn="l"/>
            <a:r>
              <a:rPr lang="tr-TR" sz="4400"/>
              <a:t>Doğal Kaynaklar</a:t>
            </a:r>
          </a:p>
        </p:txBody>
      </p:sp>
      <p:sp>
        <p:nvSpPr>
          <p:cNvPr id="3" name="İçerik Yer Tutucusu 2">
            <a:extLst>
              <a:ext uri="{FF2B5EF4-FFF2-40B4-BE49-F238E27FC236}">
                <a16:creationId xmlns:a16="http://schemas.microsoft.com/office/drawing/2014/main" id="{31711ABA-4B3D-7DF2-92A2-0C4CCDCE263E}"/>
              </a:ext>
            </a:extLst>
          </p:cNvPr>
          <p:cNvSpPr>
            <a:spLocks noGrp="1"/>
          </p:cNvSpPr>
          <p:nvPr>
            <p:ph idx="1"/>
          </p:nvPr>
        </p:nvSpPr>
        <p:spPr>
          <a:xfrm>
            <a:off x="3893575" y="643465"/>
            <a:ext cx="7816644" cy="4640693"/>
          </a:xfrm>
        </p:spPr>
        <p:txBody>
          <a:bodyPr>
            <a:normAutofit/>
          </a:bodyPr>
          <a:lstStyle/>
          <a:p>
            <a:pPr>
              <a:lnSpc>
                <a:spcPct val="110000"/>
              </a:lnSpc>
            </a:pPr>
            <a:r>
              <a:rPr lang="tr-TR" sz="1800" cap="none" dirty="0"/>
              <a:t>Doğal kaynaklar, insanoğlunun ilk keşfettiği üretim faktörüdür. Temel ihtiyaçların karşılanma zorunluluğu bu üretim faktörünü en önce ortaya çıkarmıştır. Doğal kaynaklar içinde üretim faktörü kapsamında hiç işlenmeden doğrudan tüketilen ürünler yanında, işlemden geçen ya da herhangi bir ürünün üretimi için kaynak olarak kullanılan girdiler de vardır. Bunların bazılarının girdi olarak kullanılabilmesi için de işlemden geçmesi, yani üretim faktörleri kullanılarak üretilmesi gerekir. Bunlara </a:t>
            </a:r>
            <a:r>
              <a:rPr lang="tr-TR" sz="1800" b="1" cap="none" dirty="0"/>
              <a:t>ekonomik mal </a:t>
            </a:r>
            <a:r>
              <a:rPr lang="tr-TR" sz="1800" cap="none" dirty="0"/>
              <a:t>denir. Örneğin; süt, pasta, telefon, otomobil. Ekonomik mallar genellikle sermaye üretim faktörü olarak görülür. </a:t>
            </a:r>
          </a:p>
          <a:p>
            <a:pPr>
              <a:lnSpc>
                <a:spcPct val="110000"/>
              </a:lnSpc>
            </a:pPr>
            <a:r>
              <a:rPr lang="tr-TR" sz="1800" cap="none" dirty="0"/>
              <a:t>Bir de hiç işlemden geçmeden üretim faktörleri kullanmadan doğada hazır bulunan mallar vardır; su, hava, gün ışığı gibi. Bunlar tüketim malı şeklinde doğrudan kullanıldığı gibi, bir başka ürünün üretiminde de doğrudan ve çaba sarf etmeden elde edilerek kullanılır. Bunlara da </a:t>
            </a:r>
            <a:r>
              <a:rPr lang="tr-TR" sz="1800" b="1" cap="none" dirty="0"/>
              <a:t>ekonomik olmayan mal </a:t>
            </a:r>
            <a:r>
              <a:rPr lang="tr-TR" sz="1800" cap="none" dirty="0"/>
              <a:t>denir</a:t>
            </a:r>
          </a:p>
        </p:txBody>
      </p:sp>
      <p:pic>
        <p:nvPicPr>
          <p:cNvPr id="14" name="Picture 13">
            <a:extLst>
              <a:ext uri="{FF2B5EF4-FFF2-40B4-BE49-F238E27FC236}">
                <a16:creationId xmlns:a16="http://schemas.microsoft.com/office/drawing/2014/main" id="{522BA091-022A-4EB4-BBA0-0309BF5F91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79187"/>
          <a:stretch/>
        </p:blipFill>
        <p:spPr>
          <a:xfrm>
            <a:off x="0" y="5430644"/>
            <a:ext cx="12192000" cy="1427356"/>
          </a:xfrm>
          <a:prstGeom prst="rect">
            <a:avLst/>
          </a:prstGeom>
        </p:spPr>
      </p:pic>
    </p:spTree>
    <p:extLst>
      <p:ext uri="{BB962C8B-B14F-4D97-AF65-F5344CB8AC3E}">
        <p14:creationId xmlns:p14="http://schemas.microsoft.com/office/powerpoint/2010/main" val="719134445"/>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668331D-C2DE-3A5B-84A1-8085939DB21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eniz yağı platformunun babalar bakışı">
            <a:extLst>
              <a:ext uri="{FF2B5EF4-FFF2-40B4-BE49-F238E27FC236}">
                <a16:creationId xmlns:a16="http://schemas.microsoft.com/office/drawing/2014/main" id="{EE30B8FE-07EF-A4E4-BAE2-BC2C0C6DD680}"/>
              </a:ext>
            </a:extLst>
          </p:cNvPr>
          <p:cNvPicPr>
            <a:picLocks noChangeAspect="1"/>
          </p:cNvPicPr>
          <p:nvPr/>
        </p:nvPicPr>
        <p:blipFill>
          <a:blip r:embed="rId2"/>
          <a:srcRect l="19300" r="41430" b="-1"/>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70ACBEDA-21E1-B5AF-5F59-8929BD4490D3}"/>
              </a:ext>
            </a:extLst>
          </p:cNvPr>
          <p:cNvSpPr>
            <a:spLocks noGrp="1"/>
          </p:cNvSpPr>
          <p:nvPr>
            <p:ph type="title"/>
          </p:nvPr>
        </p:nvSpPr>
        <p:spPr>
          <a:xfrm>
            <a:off x="913776" y="618517"/>
            <a:ext cx="6672886" cy="1596177"/>
          </a:xfrm>
        </p:spPr>
        <p:txBody>
          <a:bodyPr>
            <a:normAutofit/>
          </a:bodyPr>
          <a:lstStyle/>
          <a:p>
            <a:r>
              <a:rPr lang="tr-TR"/>
              <a:t>Doğal Kaynaklar</a:t>
            </a:r>
          </a:p>
        </p:txBody>
      </p:sp>
      <p:sp>
        <p:nvSpPr>
          <p:cNvPr id="3" name="İçerik Yer Tutucusu 2">
            <a:extLst>
              <a:ext uri="{FF2B5EF4-FFF2-40B4-BE49-F238E27FC236}">
                <a16:creationId xmlns:a16="http://schemas.microsoft.com/office/drawing/2014/main" id="{CCC9A729-BCC9-904C-FB4C-5CA6D79884EA}"/>
              </a:ext>
            </a:extLst>
          </p:cNvPr>
          <p:cNvSpPr>
            <a:spLocks noGrp="1"/>
          </p:cNvSpPr>
          <p:nvPr>
            <p:ph idx="1"/>
          </p:nvPr>
        </p:nvSpPr>
        <p:spPr>
          <a:xfrm>
            <a:off x="913774" y="1637072"/>
            <a:ext cx="6672887" cy="4154128"/>
          </a:xfrm>
        </p:spPr>
        <p:txBody>
          <a:bodyPr>
            <a:normAutofit fontScale="92500" lnSpcReduction="20000"/>
          </a:bodyPr>
          <a:lstStyle/>
          <a:p>
            <a:pPr>
              <a:lnSpc>
                <a:spcPct val="110000"/>
              </a:lnSpc>
            </a:pPr>
            <a:r>
              <a:rPr lang="tr-TR" cap="none" dirty="0"/>
              <a:t>Ekonomik olmayan mallar, doğal kaynaklar üretim faktörü içinde yer alır. Doğal kaynaklar yenilenebilmeleri bakımından ikiye ayrılır; yenilenemez kaynaklar, yenilenebilir kaynaklar (</a:t>
            </a:r>
            <a:r>
              <a:rPr lang="tr-TR" cap="none" dirty="0" err="1"/>
              <a:t>Mirze</a:t>
            </a:r>
            <a:r>
              <a:rPr lang="tr-TR" cap="none" dirty="0"/>
              <a:t>, 2010, s.358). Yenilenemez olanlara örnek olarak altın, bakır, petrol, doğalgaz, kömür gösterilebilir. Yenilenemez kaynaklar belirli bir süre kullanıldıklarında biter, yani tükenir. Tükendikleri için kıttırlar, kıt oldukları için fiyatı yüksektir. Onun için bu kaynaklar verimli, ekonomik ya da eski deyimle idareli kullanılmaktadır. Örneğin az yakıt harcayan otomobillerin talebi daha çok olmaktadır. Yenilenemez enerji kaynakları azaldığı için dünya yenilenebilir kaynaklar bulmak için yoğun araştırmalar yapmaktadır. İkinci doğal kaynaklar yenilenebilir olanlardır. Örneğin rüzgâr, güneş, hava. Yenilenebilir kaynaklar tüketilince eksilmez çünkü yerine yenisi konur. Onun için yenilenebilir denmiştir</a:t>
            </a:r>
          </a:p>
        </p:txBody>
      </p:sp>
    </p:spTree>
    <p:extLst>
      <p:ext uri="{BB962C8B-B14F-4D97-AF65-F5344CB8AC3E}">
        <p14:creationId xmlns:p14="http://schemas.microsoft.com/office/powerpoint/2010/main" val="2707745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D91D471C-3228-D38A-E70D-037701D74F30}"/>
            </a:ext>
          </a:extLst>
        </p:cNvPr>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descr="Hesap makinesi, kalem, pusula, para ve üzerinde grafik yazılı kağıt">
            <a:extLst>
              <a:ext uri="{FF2B5EF4-FFF2-40B4-BE49-F238E27FC236}">
                <a16:creationId xmlns:a16="http://schemas.microsoft.com/office/drawing/2014/main" id="{9B6BE50E-8144-F983-22A5-477C709DC36D}"/>
              </a:ext>
            </a:extLst>
          </p:cNvPr>
          <p:cNvPicPr>
            <a:picLocks noChangeAspect="1"/>
          </p:cNvPicPr>
          <p:nvPr/>
        </p:nvPicPr>
        <p:blipFill>
          <a:blip r:embed="rId2"/>
          <a:srcRect l="34432" r="30209" b="-1"/>
          <a:stretch/>
        </p:blipFill>
        <p:spPr>
          <a:xfrm>
            <a:off x="20" y="10"/>
            <a:ext cx="4024741" cy="6857990"/>
          </a:xfrm>
          <a:prstGeom prst="rect">
            <a:avLst/>
          </a:prstGeom>
        </p:spPr>
      </p:pic>
      <p:sp>
        <p:nvSpPr>
          <p:cNvPr id="17"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5E70BFB8-A34E-7D25-6A68-A2667B56AFEC}"/>
              </a:ext>
            </a:extLst>
          </p:cNvPr>
          <p:cNvSpPr>
            <a:spLocks noGrp="1"/>
          </p:cNvSpPr>
          <p:nvPr>
            <p:ph type="title"/>
          </p:nvPr>
        </p:nvSpPr>
        <p:spPr>
          <a:xfrm>
            <a:off x="4597786" y="131820"/>
            <a:ext cx="6672886" cy="1596177"/>
          </a:xfrm>
        </p:spPr>
        <p:txBody>
          <a:bodyPr>
            <a:normAutofit/>
          </a:bodyPr>
          <a:lstStyle/>
          <a:p>
            <a:r>
              <a:rPr lang="tr-TR" dirty="0"/>
              <a:t>Doğal Kaynaklar</a:t>
            </a:r>
          </a:p>
        </p:txBody>
      </p:sp>
      <p:sp>
        <p:nvSpPr>
          <p:cNvPr id="3" name="İçerik Yer Tutucusu 2">
            <a:extLst>
              <a:ext uri="{FF2B5EF4-FFF2-40B4-BE49-F238E27FC236}">
                <a16:creationId xmlns:a16="http://schemas.microsoft.com/office/drawing/2014/main" id="{D0A1B829-07D7-F037-0619-6A04A0CAD17D}"/>
              </a:ext>
            </a:extLst>
          </p:cNvPr>
          <p:cNvSpPr>
            <a:spLocks noGrp="1"/>
          </p:cNvSpPr>
          <p:nvPr>
            <p:ph idx="1"/>
          </p:nvPr>
        </p:nvSpPr>
        <p:spPr>
          <a:xfrm>
            <a:off x="4465048" y="1563330"/>
            <a:ext cx="7325170" cy="5017580"/>
          </a:xfrm>
        </p:spPr>
        <p:txBody>
          <a:bodyPr>
            <a:normAutofit/>
          </a:bodyPr>
          <a:lstStyle/>
          <a:p>
            <a:pPr>
              <a:lnSpc>
                <a:spcPct val="110000"/>
              </a:lnSpc>
            </a:pPr>
            <a:r>
              <a:rPr lang="tr-TR" sz="1600" cap="none" dirty="0"/>
              <a:t>Diğer taraftan konuyla ilgili pek de yeni sayılmayan bir kavram daha vardır. O da sürdürülebilirliktir. Bilindiği üzere kıt olan yenilenemez kaynaklar kullanıldıkça azalmaya, bitmeye başlamıştır. Bu nedenle işletmelerin tedarik, üretim ve pazarlama sürecinde ve tüketicilerin tüketimi sırasında kullandıkları ekonomik ve ekonomik olmayan kaynakların şimdiye kadar doğru bir şekilde sağlanmadığı, doğanın kötü kullanıldığı ortaya çıkmış ve gelecek kuşaklar için nasıl daha iyi bir dünya bırakabiliriz sorusu sorulmaya başlanmıştır. Bunun da karşılığı çevresel, ekonomik ve sosyal sürdürülebilirlik olmuştur. Bugün yaşarken, üretirken, tüketirken, dünyada kıt olan kaynaklardan gelecekte dünyada yaşayacaklara da yetecek kadar bırakmanın gerekli olduğu ortaya çıkmıştır. “Gelecek nesiller bizden daha kötü değil daha iyi yaşayabilsinler” anlayışı benimsenmiştir. Dünya’da bugün yaşayan herkes bunu anlamış durumdadır. Bu anlayışı benimsemiş ekonomiler, toplumun refah seviyesini artırmak ve kalkınmak için sürdürülebilirlik kavramına uygun hareket etmek isteyeceklerdir. Dolayısıyla sürdürülebilirliğe fayda sağlayacak ürün ve hizmetlerin talebi de gün geçtikçe artacaktır. Sürdürülebilirlik, inovasyon yapılacak alanların başında yer alacaktır.</a:t>
            </a:r>
          </a:p>
          <a:p>
            <a:pPr>
              <a:lnSpc>
                <a:spcPct val="110000"/>
              </a:lnSpc>
            </a:pPr>
            <a:r>
              <a:rPr lang="tr-TR" sz="1600" cap="none" dirty="0"/>
              <a:t>Doğal kaynaklar üretim faktörünün getirisi kira (rant)</a:t>
            </a:r>
            <a:r>
              <a:rPr lang="tr-TR" sz="1600" cap="none" dirty="0" err="1"/>
              <a:t>dır</a:t>
            </a:r>
            <a:r>
              <a:rPr lang="tr-TR" sz="1600" cap="none" dirty="0"/>
              <a:t>.</a:t>
            </a:r>
          </a:p>
        </p:txBody>
      </p:sp>
    </p:spTree>
    <p:extLst>
      <p:ext uri="{BB962C8B-B14F-4D97-AF65-F5344CB8AC3E}">
        <p14:creationId xmlns:p14="http://schemas.microsoft.com/office/powerpoint/2010/main" val="222131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descr="İnşaat silueti 'daki scafkatın batımı">
            <a:extLst>
              <a:ext uri="{FF2B5EF4-FFF2-40B4-BE49-F238E27FC236}">
                <a16:creationId xmlns:a16="http://schemas.microsoft.com/office/drawing/2014/main" id="{3392E85B-34CC-86D3-E967-2246BEA247BC}"/>
              </a:ext>
            </a:extLst>
          </p:cNvPr>
          <p:cNvPicPr>
            <a:picLocks noChangeAspect="1"/>
          </p:cNvPicPr>
          <p:nvPr/>
        </p:nvPicPr>
        <p:blipFill>
          <a:blip r:embed="rId2"/>
          <a:srcRect l="32341" r="28485" b="-1"/>
          <a:stretch/>
        </p:blipFill>
        <p:spPr>
          <a:xfrm>
            <a:off x="20" y="10"/>
            <a:ext cx="4024741" cy="6857990"/>
          </a:xfrm>
          <a:prstGeom prst="rect">
            <a:avLst/>
          </a:prstGeom>
        </p:spPr>
      </p:pic>
      <p:sp>
        <p:nvSpPr>
          <p:cNvPr id="17"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9CD3D4BE-BB20-DA5D-82BE-4443F259E039}"/>
              </a:ext>
            </a:extLst>
          </p:cNvPr>
          <p:cNvSpPr>
            <a:spLocks noGrp="1"/>
          </p:cNvSpPr>
          <p:nvPr>
            <p:ph type="title"/>
          </p:nvPr>
        </p:nvSpPr>
        <p:spPr>
          <a:xfrm>
            <a:off x="4653552" y="166231"/>
            <a:ext cx="6672886" cy="1596177"/>
          </a:xfrm>
        </p:spPr>
        <p:txBody>
          <a:bodyPr>
            <a:normAutofit/>
          </a:bodyPr>
          <a:lstStyle/>
          <a:p>
            <a:r>
              <a:rPr lang="tr-TR" dirty="0"/>
              <a:t>Emek</a:t>
            </a:r>
          </a:p>
        </p:txBody>
      </p:sp>
      <p:sp>
        <p:nvSpPr>
          <p:cNvPr id="3" name="İçerik Yer Tutucusu 2">
            <a:extLst>
              <a:ext uri="{FF2B5EF4-FFF2-40B4-BE49-F238E27FC236}">
                <a16:creationId xmlns:a16="http://schemas.microsoft.com/office/drawing/2014/main" id="{BCB4642A-9845-A7E3-1FAA-25143395E133}"/>
              </a:ext>
            </a:extLst>
          </p:cNvPr>
          <p:cNvSpPr>
            <a:spLocks noGrp="1"/>
          </p:cNvSpPr>
          <p:nvPr>
            <p:ph idx="1"/>
          </p:nvPr>
        </p:nvSpPr>
        <p:spPr>
          <a:xfrm>
            <a:off x="4465048" y="1489588"/>
            <a:ext cx="7049894" cy="4749896"/>
          </a:xfrm>
        </p:spPr>
        <p:txBody>
          <a:bodyPr>
            <a:normAutofit lnSpcReduction="10000"/>
          </a:bodyPr>
          <a:lstStyle/>
          <a:p>
            <a:pPr>
              <a:lnSpc>
                <a:spcPct val="110000"/>
              </a:lnSpc>
            </a:pPr>
            <a:r>
              <a:rPr lang="tr-TR" sz="1600" cap="none" dirty="0"/>
              <a:t>Emek, üretim faktörü olarak işletmenin önemli kaynaklarından biridir. İşletmelerde ister mal üretilsin isterse hizmet üretilsin ister düşük teknolojiyle çalışılsın, isterse çok teknolojik ve yüksek teknolojiyle iş yapılsın, emeğe (insan) mutlaka ihtiyaç vardır. Emek, işletmede çalışan tüm insanlardır. İşletme hem insanlar için vardır hem de üretimde insan emeğini girdi olarak kabul eder. Emeğin kas ve beyin gücü olmak üzere iki türü vardır. Kas gücü, eski ekonomilerde daha çok kullanılırken beyin gücü, yeni ekonomilerde kullanılmaktadır. Kas gücünün yaptığı iş teknolojiye yaptırılınca bu emeğin değeri azalmaya başlamıştır. Öte yandan beyin gücünün yaptığı işi henüz teknoloji yapamadığı için bu emeğin değeri daha da artmıştır. Özellikle yeni dünya düzeninde yaratıcılık, iş fikri, yenilik, inovasyon, tasarım, buluş, patent gibi konuların öne çıkması, beyin gücünün önemini daha da artırmıştır. Bu emek de iyi bir eğitimle, kaliteli ve yüksek düzeyde kullanılabilir hâle gelmektedir. Beyin gücü kullanılarak üretilen ürün ve hizmetlerin katma değeri yüksek olmaktadır. Bu kaynağın önemini anlayan ülkeler ve işletmeler kas gücüne dayalı üretim yöntemlerini bırakarak beyin gücüne dayalı üretimleri tercih etmeye başlamışlardır. Bunlar genellikle gelişmiş ülkelerdir. </a:t>
            </a:r>
          </a:p>
          <a:p>
            <a:pPr>
              <a:lnSpc>
                <a:spcPct val="110000"/>
              </a:lnSpc>
            </a:pPr>
            <a:r>
              <a:rPr lang="tr-TR" sz="1600" cap="none" dirty="0"/>
              <a:t>Çalışanlar için emeğin getirisi, ücrettir</a:t>
            </a:r>
            <a:r>
              <a:rPr lang="tr-TR" sz="1600" dirty="0"/>
              <a:t>.</a:t>
            </a:r>
          </a:p>
        </p:txBody>
      </p:sp>
    </p:spTree>
    <p:extLst>
      <p:ext uri="{BB962C8B-B14F-4D97-AF65-F5344CB8AC3E}">
        <p14:creationId xmlns:p14="http://schemas.microsoft.com/office/powerpoint/2010/main" val="3376764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esap makinesi, kalem, pusula, para ve üzerinde grafik yazılı kağıt">
            <a:extLst>
              <a:ext uri="{FF2B5EF4-FFF2-40B4-BE49-F238E27FC236}">
                <a16:creationId xmlns:a16="http://schemas.microsoft.com/office/drawing/2014/main" id="{C2363BD6-A3FC-B1FB-CBDF-E3902DC99991}"/>
              </a:ext>
            </a:extLst>
          </p:cNvPr>
          <p:cNvPicPr>
            <a:picLocks noChangeAspect="1"/>
          </p:cNvPicPr>
          <p:nvPr/>
        </p:nvPicPr>
        <p:blipFill>
          <a:blip r:embed="rId2"/>
          <a:srcRect l="34432" r="30209" b="-1"/>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DAD2FA53-5D64-F880-44EA-F02DA29ADA26}"/>
              </a:ext>
            </a:extLst>
          </p:cNvPr>
          <p:cNvSpPr>
            <a:spLocks noGrp="1"/>
          </p:cNvSpPr>
          <p:nvPr>
            <p:ph type="title"/>
          </p:nvPr>
        </p:nvSpPr>
        <p:spPr>
          <a:xfrm>
            <a:off x="4465048" y="268711"/>
            <a:ext cx="6672886" cy="1596177"/>
          </a:xfrm>
        </p:spPr>
        <p:txBody>
          <a:bodyPr>
            <a:normAutofit/>
          </a:bodyPr>
          <a:lstStyle/>
          <a:p>
            <a:r>
              <a:rPr lang="tr-TR" dirty="0"/>
              <a:t>Sermaye</a:t>
            </a:r>
          </a:p>
        </p:txBody>
      </p:sp>
      <p:sp>
        <p:nvSpPr>
          <p:cNvPr id="3" name="İçerik Yer Tutucusu 2">
            <a:extLst>
              <a:ext uri="{FF2B5EF4-FFF2-40B4-BE49-F238E27FC236}">
                <a16:creationId xmlns:a16="http://schemas.microsoft.com/office/drawing/2014/main" id="{A296C44C-92A2-BC91-07C4-9BB1EE8F2D57}"/>
              </a:ext>
            </a:extLst>
          </p:cNvPr>
          <p:cNvSpPr>
            <a:spLocks noGrp="1"/>
          </p:cNvSpPr>
          <p:nvPr>
            <p:ph idx="1"/>
          </p:nvPr>
        </p:nvSpPr>
        <p:spPr>
          <a:xfrm>
            <a:off x="4465048" y="1343892"/>
            <a:ext cx="7119166" cy="4447308"/>
          </a:xfrm>
        </p:spPr>
        <p:txBody>
          <a:bodyPr>
            <a:normAutofit/>
          </a:bodyPr>
          <a:lstStyle/>
          <a:p>
            <a:pPr>
              <a:lnSpc>
                <a:spcPct val="110000"/>
              </a:lnSpc>
            </a:pPr>
            <a:r>
              <a:rPr lang="tr-TR" sz="1800" cap="none" dirty="0"/>
              <a:t>İşletme için en önemli üretim faktörlerinden birisi de sermayedir. Sermaye, bir işletmenin sahip olduğu, ekonomik değeri olan maddi (üretim araçları) ve maddi olmayan (patent, lisans, marka) varlıklardır. Öte yandan hisse senedi, tahvil ve bono gibi hemen paraya çevrilebilecek değerler de sermaye olarak algılanır. Sermaye kavramı kapital yerine de kullanılabilir. Girişimci ya da girişimcilerin kendi tasarruflarıyla biriktirdiği ve işletmeye koyduğu sermayeye öz sermaye denir. İşletme için kendi sermayesinin yetmediği durumlarda girişimcilerin bankalardan ve yakın çevreden aldıkları sermayeye borç ya da kredi denir. İşletme tamamen öz sermaye ile kurulduğu ve faaliyetine devam edebildiği gibi, hiç öz sermayesiz de işletme kurulabilir, faaliyetini sürdürebilir ya da bir miktar öz sermaye ve bir miktar borçlanma ile de işletme kurulabilir. Ancak öz sermaye işletmeler için çok önemlidir. Öz sermaye ile kurulan işletmeler diğerlerine göre özellikle krizlere karşı daha dayanıklı olmaktadırlar.</a:t>
            </a:r>
          </a:p>
        </p:txBody>
      </p:sp>
    </p:spTree>
    <p:extLst>
      <p:ext uri="{BB962C8B-B14F-4D97-AF65-F5344CB8AC3E}">
        <p14:creationId xmlns:p14="http://schemas.microsoft.com/office/powerpoint/2010/main" val="853543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1ADA39F3-C373-58E0-2945-A6C77CC8D27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vi bloklar ve ağ teknolojisi arka planı">
            <a:extLst>
              <a:ext uri="{FF2B5EF4-FFF2-40B4-BE49-F238E27FC236}">
                <a16:creationId xmlns:a16="http://schemas.microsoft.com/office/drawing/2014/main" id="{C341B52C-DFDC-CDC6-6F65-6E221C281998}"/>
              </a:ext>
            </a:extLst>
          </p:cNvPr>
          <p:cNvPicPr>
            <a:picLocks noChangeAspect="1"/>
          </p:cNvPicPr>
          <p:nvPr/>
        </p:nvPicPr>
        <p:blipFill>
          <a:blip r:embed="rId2"/>
          <a:srcRect l="18039" r="48950" b="-446"/>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449D733B-9E19-73F9-CEBE-CD65EF77EF96}"/>
              </a:ext>
            </a:extLst>
          </p:cNvPr>
          <p:cNvSpPr>
            <a:spLocks noGrp="1"/>
          </p:cNvSpPr>
          <p:nvPr>
            <p:ph type="title"/>
          </p:nvPr>
        </p:nvSpPr>
        <p:spPr>
          <a:xfrm>
            <a:off x="4465050" y="618517"/>
            <a:ext cx="6672886" cy="1596177"/>
          </a:xfrm>
        </p:spPr>
        <p:txBody>
          <a:bodyPr>
            <a:normAutofit/>
          </a:bodyPr>
          <a:lstStyle/>
          <a:p>
            <a:r>
              <a:rPr lang="tr-TR"/>
              <a:t>Sermaye</a:t>
            </a:r>
          </a:p>
        </p:txBody>
      </p:sp>
      <p:sp>
        <p:nvSpPr>
          <p:cNvPr id="3" name="İçerik Yer Tutucusu 2">
            <a:extLst>
              <a:ext uri="{FF2B5EF4-FFF2-40B4-BE49-F238E27FC236}">
                <a16:creationId xmlns:a16="http://schemas.microsoft.com/office/drawing/2014/main" id="{82BFBBA3-ACDB-7107-330B-16F9312A9710}"/>
              </a:ext>
            </a:extLst>
          </p:cNvPr>
          <p:cNvSpPr>
            <a:spLocks noGrp="1"/>
          </p:cNvSpPr>
          <p:nvPr>
            <p:ph idx="1"/>
          </p:nvPr>
        </p:nvSpPr>
        <p:spPr>
          <a:xfrm>
            <a:off x="4465048" y="1637072"/>
            <a:ext cx="7134362" cy="4154128"/>
          </a:xfrm>
        </p:spPr>
        <p:txBody>
          <a:bodyPr>
            <a:normAutofit fontScale="92500" lnSpcReduction="10000"/>
          </a:bodyPr>
          <a:lstStyle/>
          <a:p>
            <a:pPr>
              <a:lnSpc>
                <a:spcPct val="110000"/>
              </a:lnSpc>
            </a:pPr>
            <a:r>
              <a:rPr lang="tr-TR" sz="1800" cap="none" dirty="0"/>
              <a:t>Sermaye; sabit sermaye ve işletme sermayesi şeklinde ikiye ayrılır. Sabit sermaye mal ve hizmet üretiminde kullanılan fabrika binası, içindeki teknoloji, tesisler, aletler gibi duran ve değişmeyen varlıklardır. Üretime bağlı olarak değişmezler. İşletme sermayesi üretime bağlı olarak değişir. Hammaddeler, ürünler, para işletme sermayesine örnek olarak gösterilebilir. Bir otomobil satın alıyorsanız, bu sabit sermayedir. Ancak bu otomobile yakıt doldurup hareket ettiriyorsanız, doldurduğunuz yakıt, işletme sermayesidir. Yani otomobil çalıştıkça yakıta ihtiyacı vardır. Diğer bir deyişle, ne kadar çalışırsa o kadar yakıta, yani işletme sermayesine ihtiyaç vardır. </a:t>
            </a:r>
          </a:p>
          <a:p>
            <a:pPr>
              <a:lnSpc>
                <a:spcPct val="110000"/>
              </a:lnSpc>
            </a:pPr>
            <a:r>
              <a:rPr lang="tr-TR" sz="1800" cap="none" dirty="0"/>
              <a:t>Sermaye, nakdi (parasal) ve ayni (mal) sermaye olarak da ikiye ayrılır. Ayni sermaye teknoloji, taşıt araçları, binalar, arsalar hammadde gibi para dışındaki sermayedir. Nakdi sermaye, parasal ve nakit varlık şeklindeki sermayedir. </a:t>
            </a:r>
          </a:p>
          <a:p>
            <a:pPr>
              <a:lnSpc>
                <a:spcPct val="110000"/>
              </a:lnSpc>
            </a:pPr>
            <a:r>
              <a:rPr lang="tr-TR" sz="1800" cap="none" dirty="0"/>
              <a:t>Sermayenin getirisi faizdir.</a:t>
            </a:r>
          </a:p>
        </p:txBody>
      </p:sp>
    </p:spTree>
    <p:extLst>
      <p:ext uri="{BB962C8B-B14F-4D97-AF65-F5344CB8AC3E}">
        <p14:creationId xmlns:p14="http://schemas.microsoft.com/office/powerpoint/2010/main" val="2876194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4DE4C86B-70CA-C88B-F032-0226CB86FBF9}"/>
              </a:ext>
            </a:extLst>
          </p:cNvPr>
          <p:cNvSpPr>
            <a:spLocks noGrp="1"/>
          </p:cNvSpPr>
          <p:nvPr>
            <p:ph type="title"/>
          </p:nvPr>
        </p:nvSpPr>
        <p:spPr>
          <a:xfrm>
            <a:off x="959896" y="960814"/>
            <a:ext cx="2732249" cy="4912936"/>
          </a:xfrm>
        </p:spPr>
        <p:txBody>
          <a:bodyPr anchor="b">
            <a:normAutofit/>
          </a:bodyPr>
          <a:lstStyle/>
          <a:p>
            <a:pPr algn="r"/>
            <a:r>
              <a:rPr lang="tr-TR" sz="3700">
                <a:solidFill>
                  <a:schemeClr val="bg1"/>
                </a:solidFill>
              </a:rPr>
              <a:t>Girişimcilik</a:t>
            </a:r>
          </a:p>
        </p:txBody>
      </p:sp>
      <p:sp>
        <p:nvSpPr>
          <p:cNvPr id="3" name="İçerik Yer Tutucusu 2">
            <a:extLst>
              <a:ext uri="{FF2B5EF4-FFF2-40B4-BE49-F238E27FC236}">
                <a16:creationId xmlns:a16="http://schemas.microsoft.com/office/drawing/2014/main" id="{33F8C69C-66F8-3FA5-BD54-4A80EBDAD53D}"/>
              </a:ext>
            </a:extLst>
          </p:cNvPr>
          <p:cNvSpPr>
            <a:spLocks noGrp="1"/>
          </p:cNvSpPr>
          <p:nvPr>
            <p:ph idx="1"/>
          </p:nvPr>
        </p:nvSpPr>
        <p:spPr>
          <a:xfrm>
            <a:off x="4979078" y="960814"/>
            <a:ext cx="6247722" cy="5100773"/>
          </a:xfrm>
        </p:spPr>
        <p:txBody>
          <a:bodyPr anchor="ctr">
            <a:normAutofit fontScale="92500"/>
          </a:bodyPr>
          <a:lstStyle/>
          <a:p>
            <a:pPr>
              <a:lnSpc>
                <a:spcPct val="110000"/>
              </a:lnSpc>
            </a:pPr>
            <a:r>
              <a:rPr lang="tr-TR" sz="1800" cap="none" dirty="0"/>
              <a:t>Girişimcilik, kendisi dışındaki üretim faktörlerini doğal kaynaklar, emek ve sermayeyi bir araya getirerek mal ve hizmet üretmektir. Bunu yapan kimseye de girişimci denir. Girişimci bunu yaparken inovasyon yapar, risk alır. Aslında işletmeler de insanlar gibi doğarlar. Onların da doğum öncesi dönemleri vardır. Girişimci işletmenin, hayata gelmesini sağlayan kimsedir. İşletmelerin doğum öncesi dönemleri iyi geçerse işletme de sağlıklı doğar. Sağlıklı doğan işletme yaşamını sorunsuz sürdürür. Girişimci, işletme kurmak için diğer üretim faktörleri yanında yaratıcı bir iş fikrine ihtiyaç duyar. Bunun için girişimciler yaratıcı olmak zorundadır. Bu iş fikri yapılabilir (</a:t>
            </a:r>
            <a:r>
              <a:rPr lang="tr-TR" sz="1800" cap="none" dirty="0" err="1"/>
              <a:t>fizibil</a:t>
            </a:r>
            <a:r>
              <a:rPr lang="tr-TR" sz="1800" cap="none" dirty="0"/>
              <a:t>) olmalıdır. Yapılabilir yaratıcı iş fikrini bulan herkes girişimci değildir. Bu iş fikrini uygulayarak yani işletme kurarak piyasaya çıkmakla girişimci olunur. Piyasaya </a:t>
            </a:r>
            <a:r>
              <a:rPr lang="tr-TR" sz="1800" cap="none" dirty="0" err="1"/>
              <a:t>çıkmak,içinde</a:t>
            </a:r>
            <a:r>
              <a:rPr lang="tr-TR" sz="1800" cap="none" dirty="0"/>
              <a:t> her zaman risk barındırır. Herkes bu riski alamaz. Toplumda insanların risk alma kapasiteleri birbirine eşit değildir. Onun için her insan girişimci olamamaktadır. Risk almak öğrenilebilen bir davranıştır. Girişimciler bu riski kontrollü olarak alırlar.</a:t>
            </a:r>
          </a:p>
        </p:txBody>
      </p:sp>
    </p:spTree>
    <p:extLst>
      <p:ext uri="{BB962C8B-B14F-4D97-AF65-F5344CB8AC3E}">
        <p14:creationId xmlns:p14="http://schemas.microsoft.com/office/powerpoint/2010/main" val="197535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80F54402-5A7A-9592-1413-5DDFDC46BF7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r yaprak üzerinde uğur böceği">
            <a:extLst>
              <a:ext uri="{FF2B5EF4-FFF2-40B4-BE49-F238E27FC236}">
                <a16:creationId xmlns:a16="http://schemas.microsoft.com/office/drawing/2014/main" id="{BD64A58E-9AD9-F3B8-70E0-952C1D2ED200}"/>
              </a:ext>
            </a:extLst>
          </p:cNvPr>
          <p:cNvPicPr>
            <a:picLocks noChangeAspect="1"/>
          </p:cNvPicPr>
          <p:nvPr/>
        </p:nvPicPr>
        <p:blipFill>
          <a:blip r:embed="rId3"/>
          <a:srcRect l="52280" r="8401" b="2"/>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0A81B36A-0917-6626-9D9F-A6F1D92BFEEB}"/>
              </a:ext>
            </a:extLst>
          </p:cNvPr>
          <p:cNvSpPr>
            <a:spLocks noGrp="1"/>
          </p:cNvSpPr>
          <p:nvPr>
            <p:ph type="title"/>
          </p:nvPr>
        </p:nvSpPr>
        <p:spPr>
          <a:xfrm>
            <a:off x="4465050" y="618517"/>
            <a:ext cx="6672886" cy="1596177"/>
          </a:xfrm>
        </p:spPr>
        <p:txBody>
          <a:bodyPr>
            <a:normAutofit/>
          </a:bodyPr>
          <a:lstStyle/>
          <a:p>
            <a:r>
              <a:rPr lang="tr-TR"/>
              <a:t>Girişimcilik</a:t>
            </a:r>
          </a:p>
        </p:txBody>
      </p:sp>
      <p:sp>
        <p:nvSpPr>
          <p:cNvPr id="3" name="İçerik Yer Tutucusu 2">
            <a:extLst>
              <a:ext uri="{FF2B5EF4-FFF2-40B4-BE49-F238E27FC236}">
                <a16:creationId xmlns:a16="http://schemas.microsoft.com/office/drawing/2014/main" id="{1B4A04A3-A265-38EE-ED56-F0C967A4B814}"/>
              </a:ext>
            </a:extLst>
          </p:cNvPr>
          <p:cNvSpPr>
            <a:spLocks noGrp="1"/>
          </p:cNvSpPr>
          <p:nvPr>
            <p:ph idx="1"/>
          </p:nvPr>
        </p:nvSpPr>
        <p:spPr>
          <a:xfrm>
            <a:off x="4465048" y="1710814"/>
            <a:ext cx="6672887" cy="4080386"/>
          </a:xfrm>
        </p:spPr>
        <p:txBody>
          <a:bodyPr>
            <a:normAutofit fontScale="92500"/>
          </a:bodyPr>
          <a:lstStyle/>
          <a:p>
            <a:pPr>
              <a:lnSpc>
                <a:spcPct val="110000"/>
              </a:lnSpc>
            </a:pPr>
            <a:r>
              <a:rPr lang="tr-TR" sz="1800" cap="none" dirty="0"/>
              <a:t>Girişimcilerde deneme ve uygulama süreklidir. Hata ve başarısızlık çok büyük engel değildir. Deneme yapan hata yapabilir, deneme yapmayan hiç hata yapmaz. Ancak yapılan hata tekrar etmemelidir. Her hata birbirinden farklı olmalıdır. Hata ve başarısızlık, başarı kadar değerlidir. Başarmak için ara sıra başarısız olmak girişimcilik kültüründe vardır. Girişimcinin aldığı risk sınırsız değildir. Kontrollü ve hesaplanabilir bir risk olmalıdır. Çünkü girişimcilik kumar oynamak değildir. Daha önce de değinildiği gibi, iş fikri işletmeler için çok önemlidir. Yaratıcılığın da en gerekli olduğu alan budur. İş fikri hem yeni kurulan işletmeler için hem de daha önce kurulmuş piyasada faaliyetlerine devam eden işletmeler için gereklidir. İşletme kurmakla girişimcilik bitmez. İşletmelerin gündeminde sürekli yeni iş fikirleri vardır. Piyasadaki işletmeler ürün ve hizmetlerde, dağıtımda, yönetimde, iş modelinde, akla gelebilecek her alanda yenilik yapabilirler. Bunun için iş fikirleri üretilebilir. Buna iç girişimcilik denir.</a:t>
            </a:r>
          </a:p>
        </p:txBody>
      </p:sp>
    </p:spTree>
    <p:extLst>
      <p:ext uri="{BB962C8B-B14F-4D97-AF65-F5344CB8AC3E}">
        <p14:creationId xmlns:p14="http://schemas.microsoft.com/office/powerpoint/2010/main" val="913247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244AA563-607F-D335-87D6-789B5142E56E}"/>
              </a:ext>
            </a:extLst>
          </p:cNvPr>
          <p:cNvSpPr>
            <a:spLocks noGrp="1"/>
          </p:cNvSpPr>
          <p:nvPr>
            <p:ph type="title"/>
          </p:nvPr>
        </p:nvSpPr>
        <p:spPr>
          <a:xfrm>
            <a:off x="641074" y="1588878"/>
            <a:ext cx="2844002" cy="3680244"/>
          </a:xfrm>
        </p:spPr>
        <p:txBody>
          <a:bodyPr>
            <a:normAutofit/>
          </a:bodyPr>
          <a:lstStyle/>
          <a:p>
            <a:pPr algn="l"/>
            <a:r>
              <a:rPr lang="tr-TR" sz="4100">
                <a:solidFill>
                  <a:srgbClr val="FFFFFF"/>
                </a:solidFill>
              </a:rPr>
              <a:t>İŞLETMENİN TANIMI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F9FF1E87-AB38-0AFA-1552-927FDE32A502}"/>
              </a:ext>
            </a:extLst>
          </p:cNvPr>
          <p:cNvSpPr>
            <a:spLocks noGrp="1"/>
          </p:cNvSpPr>
          <p:nvPr>
            <p:ph idx="1"/>
          </p:nvPr>
        </p:nvSpPr>
        <p:spPr>
          <a:xfrm>
            <a:off x="4634794" y="1049695"/>
            <a:ext cx="6642806" cy="4758611"/>
          </a:xfrm>
        </p:spPr>
        <p:txBody>
          <a:bodyPr anchor="ctr">
            <a:normAutofit/>
          </a:bodyPr>
          <a:lstStyle/>
          <a:p>
            <a:pPr>
              <a:lnSpc>
                <a:spcPct val="110000"/>
              </a:lnSpc>
            </a:pPr>
            <a:r>
              <a:rPr lang="tr-TR" cap="none" dirty="0"/>
              <a:t>İŞLETMENİN TANIMI: Şimdiye kadar ilgili akademik çevrelerce işletmenin birçok tanımı yapılmıştır.</a:t>
            </a:r>
          </a:p>
          <a:p>
            <a:pPr>
              <a:lnSpc>
                <a:spcPct val="110000"/>
              </a:lnSpc>
            </a:pPr>
            <a:r>
              <a:rPr lang="tr-TR" cap="none" dirty="0"/>
              <a:t>Bütün tanımlardaki ortak hususlar, insan ihtiyaçları, sorunları ve beklentileri karşılayabilecek ve çözebilecek derecede fayda sağlayan ürün ve hizmet üretmeleri, üretim yapabilmek için de üretim faktörlerini (doğa, emek, sermaye) kullanmaları gerektiği, işletmelerin daha çok ekonomik, sosyal, teknik bir birim olduğudur. İşletmeler kıt olan üretim faktörlerini kullanarak üretim yaptıkları için, elde ettikleri ürünler ekonomiktir. Bilindiği gibi, üretim faktörleri kullanımı olmaksızın, işletmeler tarafından üretilmeyen ama doğada hazır hâlde bulunan ürünler ekonomik ürün olarak nitelendirilmemektedir.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9862063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a:extLst>
            <a:ext uri="{FF2B5EF4-FFF2-40B4-BE49-F238E27FC236}">
              <a16:creationId xmlns:a16="http://schemas.microsoft.com/office/drawing/2014/main" id="{43E7AC4A-1D90-55A5-0F82-49B252997AB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27F95B0-6EA6-2CF8-275F-A7851B6063CD}"/>
              </a:ext>
            </a:extLst>
          </p:cNvPr>
          <p:cNvSpPr>
            <a:spLocks noGrp="1"/>
          </p:cNvSpPr>
          <p:nvPr>
            <p:ph type="title"/>
          </p:nvPr>
        </p:nvSpPr>
        <p:spPr>
          <a:xfrm>
            <a:off x="641074" y="1588878"/>
            <a:ext cx="2844002" cy="3680244"/>
          </a:xfrm>
        </p:spPr>
        <p:txBody>
          <a:bodyPr>
            <a:normAutofit/>
          </a:bodyPr>
          <a:lstStyle/>
          <a:p>
            <a:pPr algn="l"/>
            <a:r>
              <a:rPr lang="tr-TR" sz="4100">
                <a:solidFill>
                  <a:srgbClr val="FFFFFF"/>
                </a:solidFill>
              </a:rPr>
              <a:t>İŞLETMENİN TANIMI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BF136AEB-F171-3F28-3057-564303E7B181}"/>
              </a:ext>
            </a:extLst>
          </p:cNvPr>
          <p:cNvSpPr>
            <a:spLocks noGrp="1"/>
          </p:cNvSpPr>
          <p:nvPr>
            <p:ph idx="1"/>
          </p:nvPr>
        </p:nvSpPr>
        <p:spPr>
          <a:xfrm>
            <a:off x="4634794" y="634181"/>
            <a:ext cx="6642806" cy="5928851"/>
          </a:xfrm>
        </p:spPr>
        <p:txBody>
          <a:bodyPr anchor="ctr">
            <a:normAutofit fontScale="92500" lnSpcReduction="20000"/>
          </a:bodyPr>
          <a:lstStyle/>
          <a:p>
            <a:pPr>
              <a:lnSpc>
                <a:spcPct val="110000"/>
              </a:lnSpc>
            </a:pPr>
            <a:r>
              <a:rPr lang="tr-TR" sz="1800" cap="none" dirty="0"/>
              <a:t>Yukarıdaki parçaları birleştirerek bir işletme tanımı yapabiliriz. </a:t>
            </a:r>
            <a:r>
              <a:rPr lang="tr-TR" sz="1800" b="1" cap="none" dirty="0"/>
              <a:t>“İnsan ihtiyaçlarını giderecek, sorunlarını çözecek, beklentilerini karşılayacak derecede fayda sağlamak için üretim faktörlerini kullanarak mal ve hizmet üreten, çoğu kez kâr amacı güden ekonomik, teknik ve sosyal girişimlere işletme denir.” </a:t>
            </a:r>
            <a:r>
              <a:rPr lang="tr-TR" sz="1800" cap="none" dirty="0"/>
              <a:t>İşletmenin ne olduğunu anlayabilmek ve tanımını yapabilmek için iş modeli kavramını da açıklamak gerekir. Her işletme, içinde kendine has belirli bir iş modelini barındırır. İş modeli, işletmenin kuruluş amacına bağlı olarak, üretim faktörlerini ne şekilde katma değere dönüştüreceğinin planlandığı bir modeldir. </a:t>
            </a:r>
          </a:p>
          <a:p>
            <a:pPr marL="0" indent="0">
              <a:lnSpc>
                <a:spcPct val="110000"/>
              </a:lnSpc>
              <a:buNone/>
            </a:pPr>
            <a:r>
              <a:rPr lang="tr-TR" sz="1800" cap="none" dirty="0"/>
              <a:t>İyi bir iş modeli şu sorulara cevap verebilmelidir: </a:t>
            </a:r>
          </a:p>
          <a:p>
            <a:pPr marL="0" indent="0">
              <a:lnSpc>
                <a:spcPct val="110000"/>
              </a:lnSpc>
              <a:buNone/>
            </a:pPr>
            <a:r>
              <a:rPr lang="tr-TR" sz="1800" cap="none" dirty="0"/>
              <a:t>1.  Müşterinin sorunlarını çözecek, ihtiyaçlarını giderecek fayda üretebiliyor muyuz? </a:t>
            </a:r>
          </a:p>
          <a:p>
            <a:pPr marL="0" indent="0">
              <a:lnSpc>
                <a:spcPct val="110000"/>
              </a:lnSpc>
              <a:buNone/>
            </a:pPr>
            <a:r>
              <a:rPr lang="tr-TR" sz="1800" cap="none" dirty="0"/>
              <a:t>2.  Bu faydayı üretmek için ihtiyaç duyduğumuz kaynak var mı? </a:t>
            </a:r>
          </a:p>
          <a:p>
            <a:pPr marL="0" indent="0">
              <a:lnSpc>
                <a:spcPct val="110000"/>
              </a:lnSpc>
              <a:buNone/>
            </a:pPr>
            <a:r>
              <a:rPr lang="tr-TR" sz="1800" cap="none" dirty="0"/>
              <a:t>3.  Sahip olduğumuz kaynakları kullanarak fayda üretirken hangi süreçleri kullanıyoruz? </a:t>
            </a:r>
          </a:p>
          <a:p>
            <a:pPr marL="0" indent="0">
              <a:lnSpc>
                <a:spcPct val="110000"/>
              </a:lnSpc>
              <a:buNone/>
            </a:pPr>
            <a:r>
              <a:rPr lang="tr-TR" sz="1800" cap="none" dirty="0"/>
              <a:t>4.  Bunların sonucunda kâr edebiliyor muyuz? (kâr formülü?) </a:t>
            </a:r>
          </a:p>
          <a:p>
            <a:pPr>
              <a:lnSpc>
                <a:spcPct val="110000"/>
              </a:lnSpc>
            </a:pPr>
            <a:r>
              <a:rPr lang="tr-TR" sz="1800" cap="none" dirty="0"/>
              <a:t>İş modelini oluşturan bu dört kolondan biri eksikse ya da zayıfsa iş modelimiz sağlam değildir. Her an yıkılabilir yani işletme başarısız olabilir. İşletmenin tanımında sağlam bir iş modelinin unsurları olmalıdır.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844910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2" name="Başlık 1">
            <a:extLst>
              <a:ext uri="{FF2B5EF4-FFF2-40B4-BE49-F238E27FC236}">
                <a16:creationId xmlns:a16="http://schemas.microsoft.com/office/drawing/2014/main" id="{4B63E924-0FE6-E338-4657-19C9A1ADF3D1}"/>
              </a:ext>
            </a:extLst>
          </p:cNvPr>
          <p:cNvSpPr>
            <a:spLocks noGrp="1"/>
          </p:cNvSpPr>
          <p:nvPr>
            <p:ph type="title"/>
          </p:nvPr>
        </p:nvSpPr>
        <p:spPr>
          <a:xfrm>
            <a:off x="641074" y="1419900"/>
            <a:ext cx="2844002" cy="4018201"/>
          </a:xfrm>
        </p:spPr>
        <p:txBody>
          <a:bodyPr>
            <a:normAutofit/>
          </a:bodyPr>
          <a:lstStyle/>
          <a:p>
            <a:pPr algn="l"/>
            <a:r>
              <a:rPr lang="tr-TR" sz="3700"/>
              <a:t>İŞLETMELERİN AMAÇLARI VE İŞLEVLERİ</a:t>
            </a:r>
          </a:p>
        </p:txBody>
      </p:sp>
      <p:sp>
        <p:nvSpPr>
          <p:cNvPr id="3" name="İçerik Yer Tutucusu 2">
            <a:extLst>
              <a:ext uri="{FF2B5EF4-FFF2-40B4-BE49-F238E27FC236}">
                <a16:creationId xmlns:a16="http://schemas.microsoft.com/office/drawing/2014/main" id="{C66DF2CB-D1A6-0CF9-06C8-5E97C0472B17}"/>
              </a:ext>
            </a:extLst>
          </p:cNvPr>
          <p:cNvSpPr>
            <a:spLocks noGrp="1"/>
          </p:cNvSpPr>
          <p:nvPr>
            <p:ph idx="1"/>
          </p:nvPr>
        </p:nvSpPr>
        <p:spPr>
          <a:xfrm>
            <a:off x="4701008" y="1193575"/>
            <a:ext cx="6576591" cy="5310463"/>
          </a:xfrm>
        </p:spPr>
        <p:txBody>
          <a:bodyPr anchor="ctr">
            <a:normAutofit/>
          </a:bodyPr>
          <a:lstStyle/>
          <a:p>
            <a:pPr>
              <a:lnSpc>
                <a:spcPct val="110000"/>
              </a:lnSpc>
            </a:pPr>
            <a:r>
              <a:rPr lang="tr-TR" sz="1800" cap="none" dirty="0"/>
              <a:t>Amaçlar işletmeler çeşitli nedenlerden (yönetim yapısı, kuruluş nedeni, ekonomik koşullar, çağdaşlık tercihi) dolayı değişik amaçlar edinebilirler (</a:t>
            </a:r>
            <a:r>
              <a:rPr lang="tr-TR" sz="1800" cap="none" dirty="0" err="1"/>
              <a:t>sabuncuoğlu</a:t>
            </a:r>
            <a:r>
              <a:rPr lang="tr-TR" sz="1800" cap="none" dirty="0"/>
              <a:t> ve </a:t>
            </a:r>
            <a:r>
              <a:rPr lang="tr-TR" sz="1800" cap="none" dirty="0" err="1"/>
              <a:t>tokol</a:t>
            </a:r>
            <a:r>
              <a:rPr lang="tr-TR" sz="1800" cap="none" dirty="0"/>
              <a:t>, 1997, s. 14). İşletmenin sahibi ya da sahiplerinin amaçlarıyla, işletmeyi yönetenlerin amaçları farklı, özel mülkiyet sahibinin işletmesiyle kamu mülkiyetindeki işletmelerin amaçları farklı olabilir. Geleneksel ilkelere göre yönetilen işletmeyle çağdaş ilkelere göre yönetilen işletmenin amaçları farklı olabilir. İşletmelerin amaçları onların varlık nedenidir. Çağdaş anlamdaki işletmelerin amaçları aşağıdaki gibi sıralanabilir. </a:t>
            </a:r>
          </a:p>
          <a:p>
            <a:pPr>
              <a:lnSpc>
                <a:spcPct val="110000"/>
              </a:lnSpc>
            </a:pPr>
            <a:r>
              <a:rPr lang="tr-TR" sz="1800" cap="none" dirty="0"/>
              <a:t>Kâr	</a:t>
            </a:r>
          </a:p>
          <a:p>
            <a:pPr>
              <a:lnSpc>
                <a:spcPct val="110000"/>
              </a:lnSpc>
            </a:pPr>
            <a:r>
              <a:rPr lang="tr-TR" sz="1800" cap="none" dirty="0"/>
              <a:t>Ekonomik sürdürülebilirlik </a:t>
            </a:r>
          </a:p>
          <a:p>
            <a:pPr>
              <a:lnSpc>
                <a:spcPct val="110000"/>
              </a:lnSpc>
            </a:pPr>
            <a:r>
              <a:rPr lang="tr-TR" sz="1800" cap="none" dirty="0"/>
              <a:t>Sosyal	sürdürülebilirlik</a:t>
            </a:r>
          </a:p>
          <a:p>
            <a:pPr>
              <a:lnSpc>
                <a:spcPct val="110000"/>
              </a:lnSpc>
            </a:pPr>
            <a:r>
              <a:rPr lang="tr-TR" sz="1800" cap="none" dirty="0"/>
              <a:t>Çevresel sürdürülebilirlik</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4008627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470EE7F4-C18D-E2F6-B834-6E048A3C158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fikte kalemin açılı görüntüsü">
            <a:extLst>
              <a:ext uri="{FF2B5EF4-FFF2-40B4-BE49-F238E27FC236}">
                <a16:creationId xmlns:a16="http://schemas.microsoft.com/office/drawing/2014/main" id="{E4C1DB0F-81F6-8A5C-7B13-F66E36E6AF67}"/>
              </a:ext>
            </a:extLst>
          </p:cNvPr>
          <p:cNvPicPr>
            <a:picLocks noChangeAspect="1"/>
          </p:cNvPicPr>
          <p:nvPr/>
        </p:nvPicPr>
        <p:blipFill>
          <a:blip r:embed="rId3"/>
          <a:srcRect l="11680" r="49146" b="-1"/>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FF07B37D-1EA8-712B-550B-7A6FDE46C501}"/>
              </a:ext>
            </a:extLst>
          </p:cNvPr>
          <p:cNvSpPr>
            <a:spLocks noGrp="1"/>
          </p:cNvSpPr>
          <p:nvPr>
            <p:ph type="title"/>
          </p:nvPr>
        </p:nvSpPr>
        <p:spPr>
          <a:xfrm>
            <a:off x="4465050" y="618517"/>
            <a:ext cx="6672886" cy="1596177"/>
          </a:xfrm>
        </p:spPr>
        <p:txBody>
          <a:bodyPr>
            <a:normAutofit/>
          </a:bodyPr>
          <a:lstStyle/>
          <a:p>
            <a:r>
              <a:rPr lang="tr-TR"/>
              <a:t>kar</a:t>
            </a:r>
          </a:p>
        </p:txBody>
      </p:sp>
      <p:sp>
        <p:nvSpPr>
          <p:cNvPr id="3" name="İçerik Yer Tutucusu 2">
            <a:extLst>
              <a:ext uri="{FF2B5EF4-FFF2-40B4-BE49-F238E27FC236}">
                <a16:creationId xmlns:a16="http://schemas.microsoft.com/office/drawing/2014/main" id="{62EE625C-FF04-3874-014E-1C274DC380B0}"/>
              </a:ext>
            </a:extLst>
          </p:cNvPr>
          <p:cNvSpPr>
            <a:spLocks noGrp="1"/>
          </p:cNvSpPr>
          <p:nvPr>
            <p:ph idx="1"/>
          </p:nvPr>
        </p:nvSpPr>
        <p:spPr>
          <a:xfrm>
            <a:off x="4465048" y="1755058"/>
            <a:ext cx="6672887" cy="4036141"/>
          </a:xfrm>
        </p:spPr>
        <p:txBody>
          <a:bodyPr>
            <a:normAutofit lnSpcReduction="10000"/>
          </a:bodyPr>
          <a:lstStyle/>
          <a:p>
            <a:pPr>
              <a:lnSpc>
                <a:spcPct val="110000"/>
              </a:lnSpc>
            </a:pPr>
            <a:r>
              <a:rPr lang="tr-TR" sz="1800" cap="none" dirty="0"/>
              <a:t>Kâr Kâr, özel sektör işletmelerinin temel ve en öncelikli ihtiyacıdır. İşletmelerin sonraki ihtiyaçları buna bağlıdır. Kamu işletmelerinde kâr listenin başında değildir. İşletmelerde kâr toplam gelirlerin toplam giderlerden fazla olduğu durumlarda ortaya çıkar. Tersi durum söz konusu olursa, yani toplam gelirler toplam giderlerden az çıkarsa zarar oluşur. Kâr, üretim faktörü olan girişimciliğin getirisi ya da ödülüdür. Hiç şüphesiz “nasıl işletmecilik yaparsan yap” ya da “üretim yapma ama mutlaka kâr et” anlayışı günümüz işletmeciliğinde yoktur. Artık normal koşullarda bile elde edilen, giderler çıktıktan sonraki gelirin tamamını girişimci kasasına koymamakta, işletmenin paydaşlarıyla paylaşmaktadır. Kâr, işletmenin dönemsel olarak sonucunu ölçmesinin, işletmeyi denetlemesinin, çalışanları motive etmesinin ve büyüyerek yaşamını devam ettirmesinin aracıdır (Mucuk, 2011, s.27).</a:t>
            </a:r>
          </a:p>
        </p:txBody>
      </p:sp>
    </p:spTree>
    <p:extLst>
      <p:ext uri="{BB962C8B-B14F-4D97-AF65-F5344CB8AC3E}">
        <p14:creationId xmlns:p14="http://schemas.microsoft.com/office/powerpoint/2010/main" val="9611377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21F71738-9486-E709-95A3-D0CAD8D6EE1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rformans düşüşünü gösteren büyüteç">
            <a:extLst>
              <a:ext uri="{FF2B5EF4-FFF2-40B4-BE49-F238E27FC236}">
                <a16:creationId xmlns:a16="http://schemas.microsoft.com/office/drawing/2014/main" id="{CC264837-42E1-8827-7F59-C36586E3024E}"/>
              </a:ext>
            </a:extLst>
          </p:cNvPr>
          <p:cNvPicPr>
            <a:picLocks noChangeAspect="1"/>
          </p:cNvPicPr>
          <p:nvPr/>
        </p:nvPicPr>
        <p:blipFill>
          <a:blip r:embed="rId3"/>
          <a:srcRect l="15131" r="45695" b="-1"/>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D557C33E-917D-8CBB-A7DC-650F5BE22464}"/>
              </a:ext>
            </a:extLst>
          </p:cNvPr>
          <p:cNvSpPr>
            <a:spLocks noGrp="1"/>
          </p:cNvSpPr>
          <p:nvPr>
            <p:ph type="title"/>
          </p:nvPr>
        </p:nvSpPr>
        <p:spPr>
          <a:xfrm>
            <a:off x="4465050" y="618517"/>
            <a:ext cx="6672886" cy="1596177"/>
          </a:xfrm>
        </p:spPr>
        <p:txBody>
          <a:bodyPr>
            <a:normAutofit/>
          </a:bodyPr>
          <a:lstStyle/>
          <a:p>
            <a:r>
              <a:rPr lang="tr-TR"/>
              <a:t>kar</a:t>
            </a:r>
          </a:p>
        </p:txBody>
      </p:sp>
      <p:sp>
        <p:nvSpPr>
          <p:cNvPr id="3" name="İçerik Yer Tutucusu 2">
            <a:extLst>
              <a:ext uri="{FF2B5EF4-FFF2-40B4-BE49-F238E27FC236}">
                <a16:creationId xmlns:a16="http://schemas.microsoft.com/office/drawing/2014/main" id="{4E5AAE46-9AD7-AF6D-9D98-2E75D713E6A3}"/>
              </a:ext>
            </a:extLst>
          </p:cNvPr>
          <p:cNvSpPr>
            <a:spLocks noGrp="1"/>
          </p:cNvSpPr>
          <p:nvPr>
            <p:ph idx="1"/>
          </p:nvPr>
        </p:nvSpPr>
        <p:spPr>
          <a:xfrm>
            <a:off x="4465048" y="1696066"/>
            <a:ext cx="6672887" cy="4095134"/>
          </a:xfrm>
        </p:spPr>
        <p:txBody>
          <a:bodyPr>
            <a:normAutofit/>
          </a:bodyPr>
          <a:lstStyle/>
          <a:p>
            <a:pPr>
              <a:lnSpc>
                <a:spcPct val="110000"/>
              </a:lnSpc>
            </a:pPr>
            <a:r>
              <a:rPr lang="tr-TR" sz="1800" cap="none" dirty="0"/>
              <a:t>İşletmeyi yönetenler açısından, vergi alan devlet açısından, kredi verenler açısından, hissedarlar açısından kâr türleri farklıdır (Besler, 2009,s.23). İşletmeyi yönetenler kısa vadede işletmenin kâr etmesini isterler çünkü yöneticiler bu başarı ile kendini göstermek isteyebilirler. Aksi takdirde yöneticilerin bir işletmede uzun dönem kalmaları mümkün olmayabilir. Kısa dönemli kâr, işletme yöneticisini başarılı göstererek prim almasını ve başka işletmelere iyi koşullarda transfer olmasını sağlayabilir. Ancak kısa dönemli kâr, işletmenin uzun dönemdeki finansal performansını olumsuz etkileyebilir. İşte bu nedenle kısa dönemli kâr anlayışı yavaş yavaş terk edilmekte ve onun yerine uzun dönemde işletmenin finansal değerini artıran uygulamalar kabul edilmeye başlanmıştır. Bu durum küreselleşmeyle birlikte Kurumsal Sürdürülebilirliği ortaya çıkarmıştır.</a:t>
            </a:r>
          </a:p>
        </p:txBody>
      </p:sp>
    </p:spTree>
    <p:extLst>
      <p:ext uri="{BB962C8B-B14F-4D97-AF65-F5344CB8AC3E}">
        <p14:creationId xmlns:p14="http://schemas.microsoft.com/office/powerpoint/2010/main" val="436557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52ED17B-673E-03CE-A855-63D91FB39B0A}"/>
              </a:ext>
            </a:extLst>
          </p:cNvPr>
          <p:cNvPicPr>
            <a:picLocks noChangeAspect="1"/>
          </p:cNvPicPr>
          <p:nvPr/>
        </p:nvPicPr>
        <p:blipFill>
          <a:blip r:embed="rId3"/>
          <a:srcRect l="45931" r="21057"/>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9669B838-1763-0857-EE2C-78A44D3667B2}"/>
              </a:ext>
            </a:extLst>
          </p:cNvPr>
          <p:cNvSpPr>
            <a:spLocks noGrp="1"/>
          </p:cNvSpPr>
          <p:nvPr>
            <p:ph type="title"/>
          </p:nvPr>
        </p:nvSpPr>
        <p:spPr>
          <a:xfrm>
            <a:off x="4465050" y="618517"/>
            <a:ext cx="6672886" cy="1596177"/>
          </a:xfrm>
        </p:spPr>
        <p:txBody>
          <a:bodyPr>
            <a:normAutofit/>
          </a:bodyPr>
          <a:lstStyle/>
          <a:p>
            <a:r>
              <a:rPr lang="tr-TR"/>
              <a:t>Ekonomik Sürdürülebilirlik</a:t>
            </a:r>
          </a:p>
        </p:txBody>
      </p:sp>
      <p:sp>
        <p:nvSpPr>
          <p:cNvPr id="3" name="İçerik Yer Tutucusu 2">
            <a:extLst>
              <a:ext uri="{FF2B5EF4-FFF2-40B4-BE49-F238E27FC236}">
                <a16:creationId xmlns:a16="http://schemas.microsoft.com/office/drawing/2014/main" id="{8C46BBEF-ECDF-BBEB-8A84-1F437A3EB35F}"/>
              </a:ext>
            </a:extLst>
          </p:cNvPr>
          <p:cNvSpPr>
            <a:spLocks noGrp="1"/>
          </p:cNvSpPr>
          <p:nvPr>
            <p:ph idx="1"/>
          </p:nvPr>
        </p:nvSpPr>
        <p:spPr>
          <a:xfrm>
            <a:off x="4465048" y="1725562"/>
            <a:ext cx="7158916" cy="4758366"/>
          </a:xfrm>
        </p:spPr>
        <p:txBody>
          <a:bodyPr>
            <a:normAutofit/>
          </a:bodyPr>
          <a:lstStyle/>
          <a:p>
            <a:pPr>
              <a:lnSpc>
                <a:spcPct val="110000"/>
              </a:lnSpc>
            </a:pPr>
            <a:r>
              <a:rPr lang="tr-TR" sz="1600" cap="none" dirty="0"/>
              <a:t>İşletmenin ekonomik varlığını geliştirerek ve büyüterek sürdürmesidir. Kısa dönemde yüksek kârlılık yerine, uzun dönem için kâr yerine değer üreten bir anlayıştır. Kısa dönemli yüksek kâr uzun dönemde işletmenin değerini düşürebilir. Bu da işletmenin uzun dönemde varlığını tehlikeye düşürebilir hatta hayatını sonlandırabilir. Kısa dönemli yüksek kâr, uzun dönemde rekabet gücünü olumsuz şekilde etkileyebilir. Çünkü işletmeler kısa dönemde yüksek kârları, genellikle pay sahipleri, yani hissedarlar dışındaki paydaşların çıkarlarını göz ardı ederek elde ederler. Bu durum süreklilik kazanamaz çünkü baskı grupları şeklinde yapılacak tazyik yüksek kârı engeller.</a:t>
            </a:r>
          </a:p>
          <a:p>
            <a:pPr>
              <a:lnSpc>
                <a:spcPct val="110000"/>
              </a:lnSpc>
            </a:pPr>
            <a:r>
              <a:rPr lang="tr-TR" sz="1600" cap="none" dirty="0"/>
              <a:t> Ekonomik sürdürülebilirliğe sadece girişimci ya da hissedarlara değil, tüm paydaşlara sürekli, yüksek düzeyde getiri sağlayarak ulaşılabilir. Diğer bir deyişle, tüketicilerin sorunlarına, ihtiyaçlarına beklentilerine uygun ürün ve hizmet üretmeden, vergi vermeden, çalışanları işten çıkarmadan, kalanlara aşırı iş yaptırmadan, tedarikçilere yüksek fiyattan ödemeleri geciktirmeden, devletin ve toplumun kendi kendine çözemediği toplumsal sorunları çözmeye çalışmadan ve çevresel sorunlara duyarlı olmadan ekonomik sürdürülebilirlik amacına ulaşılamaz.</a:t>
            </a:r>
          </a:p>
        </p:txBody>
      </p:sp>
    </p:spTree>
    <p:extLst>
      <p:ext uri="{BB962C8B-B14F-4D97-AF65-F5344CB8AC3E}">
        <p14:creationId xmlns:p14="http://schemas.microsoft.com/office/powerpoint/2010/main" val="1588345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775BF3C1-5B32-D7BC-815B-B4D67935D5AB}"/>
              </a:ext>
            </a:extLst>
          </p:cNvPr>
          <p:cNvSpPr>
            <a:spLocks noGrp="1"/>
          </p:cNvSpPr>
          <p:nvPr>
            <p:ph type="title"/>
          </p:nvPr>
        </p:nvSpPr>
        <p:spPr>
          <a:xfrm>
            <a:off x="641074" y="1588878"/>
            <a:ext cx="2844002" cy="3680244"/>
          </a:xfrm>
        </p:spPr>
        <p:txBody>
          <a:bodyPr>
            <a:normAutofit/>
          </a:bodyPr>
          <a:lstStyle/>
          <a:p>
            <a:pPr algn="l"/>
            <a:r>
              <a:rPr lang="tr-TR" sz="2400">
                <a:solidFill>
                  <a:srgbClr val="FFFFFF"/>
                </a:solidFill>
              </a:rPr>
              <a:t>Sosyal Sürdürülebilirlik</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FFCE422F-A531-A690-C4FE-C372FC63891E}"/>
              </a:ext>
            </a:extLst>
          </p:cNvPr>
          <p:cNvSpPr>
            <a:spLocks noGrp="1"/>
          </p:cNvSpPr>
          <p:nvPr>
            <p:ph idx="1"/>
          </p:nvPr>
        </p:nvSpPr>
        <p:spPr>
          <a:xfrm>
            <a:off x="4634794" y="1049695"/>
            <a:ext cx="7044588" cy="5406523"/>
          </a:xfrm>
        </p:spPr>
        <p:txBody>
          <a:bodyPr anchor="ctr">
            <a:normAutofit lnSpcReduction="10000"/>
          </a:bodyPr>
          <a:lstStyle/>
          <a:p>
            <a:pPr marL="0" indent="0">
              <a:lnSpc>
                <a:spcPct val="110000"/>
              </a:lnSpc>
              <a:buNone/>
            </a:pPr>
            <a:r>
              <a:rPr lang="tr-TR" sz="1800" cap="none" dirty="0"/>
              <a:t>Sosyal sürdürülebilirlik amacı, işletmenin içinde ve dışında var olan, işletmeyle ilgili sosyal unsurların ihtiyaçlarının ve sorunlarının giderilmesine yönelik amaçları içermektedir. </a:t>
            </a:r>
          </a:p>
          <a:p>
            <a:pPr marL="0" indent="0">
              <a:lnSpc>
                <a:spcPct val="110000"/>
              </a:lnSpc>
              <a:buNone/>
            </a:pPr>
            <a:r>
              <a:rPr lang="tr-TR" sz="1800" cap="none" dirty="0"/>
              <a:t>İşletme içinde, </a:t>
            </a:r>
          </a:p>
          <a:p>
            <a:pPr marL="0" indent="0">
              <a:lnSpc>
                <a:spcPct val="110000"/>
              </a:lnSpc>
              <a:buNone/>
            </a:pPr>
            <a:r>
              <a:rPr lang="tr-TR" sz="1800" cap="none" dirty="0"/>
              <a:t>çalışanların yüksek ücret, iş ve sosyal güvence, eğitim yanında diğer sosyal ve psikolojik ihtiyaçlarının yeterli düzeyde karşılanması, </a:t>
            </a:r>
          </a:p>
          <a:p>
            <a:pPr marL="0" indent="0">
              <a:lnSpc>
                <a:spcPct val="110000"/>
              </a:lnSpc>
              <a:buNone/>
            </a:pPr>
            <a:r>
              <a:rPr lang="tr-TR" sz="1800" cap="none" dirty="0"/>
              <a:t>İşletme dışında ise </a:t>
            </a:r>
          </a:p>
          <a:p>
            <a:pPr>
              <a:lnSpc>
                <a:spcPct val="110000"/>
              </a:lnSpc>
            </a:pPr>
            <a:r>
              <a:rPr lang="tr-TR" sz="1800" cap="none" dirty="0"/>
              <a:t>tüketicilere çeşit, kalite, fiyat, miktar bakımından uygun mal ve hizmet üretimi, </a:t>
            </a:r>
          </a:p>
          <a:p>
            <a:pPr>
              <a:lnSpc>
                <a:spcPct val="110000"/>
              </a:lnSpc>
            </a:pPr>
            <a:r>
              <a:rPr lang="tr-TR" sz="1800" cap="none" dirty="0"/>
              <a:t>tedarikçilere uygun fiyat, miktar ve ödeme koşullarının sağlanması,</a:t>
            </a:r>
          </a:p>
          <a:p>
            <a:pPr>
              <a:lnSpc>
                <a:spcPct val="110000"/>
              </a:lnSpc>
            </a:pPr>
            <a:r>
              <a:rPr lang="tr-TR" sz="1800" cap="none" dirty="0"/>
              <a:t>devlet için mevzuata uygun hareket etmek, vergi vermek, işsizliğin azaltılması, ekonomik gelişim ve refah artışına katkı,</a:t>
            </a:r>
          </a:p>
          <a:p>
            <a:pPr>
              <a:lnSpc>
                <a:spcPct val="110000"/>
              </a:lnSpc>
            </a:pPr>
            <a:r>
              <a:rPr lang="tr-TR" sz="1800" cap="none" dirty="0"/>
              <a:t>toplum içinde bireylerin bire bir, grupların tek başına ve toplumun bir bütün olarak gideremediği ekonomik, toplumsal ve kültürel sorun ve ihtiyaçların karşılanması için sosyal sorumluluk anlayışı içinde gösterdiği çabalar, işletmelerin sosyal sürdürülebilirlik amacı kapsamındadır.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1195395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4C3700-D92F-E6BD-5F2F-43033420AE99}"/>
              </a:ext>
            </a:extLst>
          </p:cNvPr>
          <p:cNvPicPr>
            <a:picLocks noChangeAspect="1"/>
          </p:cNvPicPr>
          <p:nvPr/>
        </p:nvPicPr>
        <p:blipFill>
          <a:blip r:embed="rId3"/>
          <a:srcRect l="24094" r="18400" b="2"/>
          <a:stretch/>
        </p:blipFill>
        <p:spPr>
          <a:xfrm>
            <a:off x="8157374" y="10"/>
            <a:ext cx="4034626" cy="6857990"/>
          </a:xfrm>
          <a:prstGeom prst="rect">
            <a:avLst/>
          </a:prstGeom>
        </p:spPr>
      </p:pic>
      <p:pic>
        <p:nvPicPr>
          <p:cNvPr id="13"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3BE12CCA-522F-1474-B146-BBA8AFD1851C}"/>
              </a:ext>
            </a:extLst>
          </p:cNvPr>
          <p:cNvSpPr>
            <a:spLocks noGrp="1"/>
          </p:cNvSpPr>
          <p:nvPr>
            <p:ph type="title"/>
          </p:nvPr>
        </p:nvSpPr>
        <p:spPr>
          <a:xfrm>
            <a:off x="913776" y="618517"/>
            <a:ext cx="6672886" cy="1596177"/>
          </a:xfrm>
        </p:spPr>
        <p:txBody>
          <a:bodyPr>
            <a:normAutofit/>
          </a:bodyPr>
          <a:lstStyle/>
          <a:p>
            <a:r>
              <a:rPr lang="tr-TR"/>
              <a:t>Çevresel Sürdürülebilirlik</a:t>
            </a:r>
          </a:p>
        </p:txBody>
      </p:sp>
      <p:sp>
        <p:nvSpPr>
          <p:cNvPr id="3" name="İçerik Yer Tutucusu 2">
            <a:extLst>
              <a:ext uri="{FF2B5EF4-FFF2-40B4-BE49-F238E27FC236}">
                <a16:creationId xmlns:a16="http://schemas.microsoft.com/office/drawing/2014/main" id="{E5D7DC31-F55A-A10F-AE9C-B3381CE35BBE}"/>
              </a:ext>
            </a:extLst>
          </p:cNvPr>
          <p:cNvSpPr>
            <a:spLocks noGrp="1"/>
          </p:cNvSpPr>
          <p:nvPr>
            <p:ph idx="1"/>
          </p:nvPr>
        </p:nvSpPr>
        <p:spPr>
          <a:xfrm>
            <a:off x="913774" y="1887794"/>
            <a:ext cx="6672887" cy="3903405"/>
          </a:xfrm>
        </p:spPr>
        <p:txBody>
          <a:bodyPr>
            <a:normAutofit fontScale="92500"/>
          </a:bodyPr>
          <a:lstStyle/>
          <a:p>
            <a:pPr>
              <a:lnSpc>
                <a:spcPct val="110000"/>
              </a:lnSpc>
            </a:pPr>
            <a:r>
              <a:rPr lang="tr-TR" sz="1800" dirty="0"/>
              <a:t>Doğa üretim faktöründen elde edilen, ürün ve hizmet üretiminde genellikle girdi olarak kullanılan doğal kaynakların bazılarının yenilenebilir, bazılarının yenilenemez özellikte olduğundan bahsedilmişti. İşletmeler üretimlerinde kıt olan kaynakları özenli kullanmak durumundadırlar. Çünkü bu kaynaklar doğada hızla tükenmektedir. Doğal kaynaklara sadece bugünkü nesillerin değil gelecek nesillerin de ihtiyacı olacaktır. İşte gelecek nesilleri de düşünerek onlara da yeterli doğal kaynak mirası bırakma düşüncesine çevresel sürdürülebilirlik denir. Çevresel sürdürülebilirliğe ulaşmak dünyadaki her işletmenin bunu amaçları arasına yerleştirmesiyle mümkün olacaktır</a:t>
            </a:r>
            <a:r>
              <a:rPr lang="tr-TR" sz="1600" dirty="0"/>
              <a:t>.</a:t>
            </a:r>
          </a:p>
        </p:txBody>
      </p:sp>
    </p:spTree>
    <p:extLst>
      <p:ext uri="{BB962C8B-B14F-4D97-AF65-F5344CB8AC3E}">
        <p14:creationId xmlns:p14="http://schemas.microsoft.com/office/powerpoint/2010/main" val="3190190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4000"/>
                <a:shade val="100000"/>
                <a:hueMod val="130000"/>
                <a:satMod val="150000"/>
                <a:lumMod val="112000"/>
              </a:schemeClr>
            </a:gs>
            <a:gs pos="100000">
              <a:schemeClr val="bg2">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1C0F6D-5AB0-457D-A2E5-4B8E77E39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56A97F-536A-4D70-BE3C-46ED7477A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D0D0D">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8F27DD5-AB09-4348-AEAE-38DD5BF3B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284159"/>
          </a:xfrm>
          <a:prstGeom prst="rect">
            <a:avLst/>
          </a:prstGeom>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0B68CDE-3065-DCE6-7874-ADB125089347}"/>
              </a:ext>
            </a:extLst>
          </p:cNvPr>
          <p:cNvSpPr>
            <a:spLocks noGrp="1"/>
          </p:cNvSpPr>
          <p:nvPr>
            <p:ph type="title"/>
          </p:nvPr>
        </p:nvSpPr>
        <p:spPr>
          <a:xfrm>
            <a:off x="913776" y="643466"/>
            <a:ext cx="3418784" cy="4308475"/>
          </a:xfrm>
        </p:spPr>
        <p:txBody>
          <a:bodyPr anchor="t">
            <a:normAutofit/>
          </a:bodyPr>
          <a:lstStyle/>
          <a:p>
            <a:pPr algn="l"/>
            <a:r>
              <a:rPr lang="tr-TR" sz="3400"/>
              <a:t>İşletmenin İşlevleri (Fonksiyonları)</a:t>
            </a:r>
          </a:p>
        </p:txBody>
      </p:sp>
      <p:sp>
        <p:nvSpPr>
          <p:cNvPr id="3" name="İçerik Yer Tutucusu 2">
            <a:extLst>
              <a:ext uri="{FF2B5EF4-FFF2-40B4-BE49-F238E27FC236}">
                <a16:creationId xmlns:a16="http://schemas.microsoft.com/office/drawing/2014/main" id="{AB80A36F-1109-8B10-818A-6E0DBF0D1242}"/>
              </a:ext>
            </a:extLst>
          </p:cNvPr>
          <p:cNvSpPr>
            <a:spLocks noGrp="1"/>
          </p:cNvSpPr>
          <p:nvPr>
            <p:ph idx="1"/>
          </p:nvPr>
        </p:nvSpPr>
        <p:spPr>
          <a:xfrm>
            <a:off x="4654295" y="643465"/>
            <a:ext cx="7188660" cy="4787177"/>
          </a:xfrm>
        </p:spPr>
        <p:txBody>
          <a:bodyPr>
            <a:normAutofit/>
          </a:bodyPr>
          <a:lstStyle/>
          <a:p>
            <a:pPr>
              <a:lnSpc>
                <a:spcPct val="110000"/>
              </a:lnSpc>
            </a:pPr>
            <a:r>
              <a:rPr lang="tr-TR" sz="1800" cap="none" dirty="0"/>
              <a:t>Şimdiye kadar verilen bilgiler işletmenin statik yönüyle ilgili bilgilerdi. Yani insanın vücut yapısıyla ilgili bilgi veren anatomi gibi. İşletmenin fonksiyonları ya da işlevlerinin incelenmesi de insanın fizyolojisi yani insan vücudu ve organlarının çalışmasına benzetilebilir. </a:t>
            </a:r>
          </a:p>
          <a:p>
            <a:pPr>
              <a:lnSpc>
                <a:spcPct val="110000"/>
              </a:lnSpc>
            </a:pPr>
            <a:r>
              <a:rPr lang="tr-TR" sz="1800" cap="none" dirty="0"/>
              <a:t>İşletmenin fonksiyonlarının topluca kısa kısa incelenmesi, çok katlı binaya benzetilen işletmede her kata hatta her odaya girerek çok hızlı bir gezinti yapmaya benzer. Bunu yapmakla binaya dışarıdan bakmanın yanında, içeriye de bakarak anlamamız sağlanır. İşletme fonksiyonları demek, işletmenin gruplandırılmış faaliyetleri demektir. İşletmenin birbiriyle ilişkili, yakın ve benzer faaliyetleri gruplandırılır ve çok sayıda faaliyeti az sayıda gruplarda sınıflandırılarak; yönetim, pazarlama, üretim, finansman, muhasebe, insan kaynakları(personel), halkla ilişkiler (PR) ve araştırma geliştirme (ar-ge) fonksiyonları hâlinde gösterilir.</a:t>
            </a:r>
          </a:p>
        </p:txBody>
      </p:sp>
      <p:pic>
        <p:nvPicPr>
          <p:cNvPr id="14" name="Picture 13">
            <a:extLst>
              <a:ext uri="{FF2B5EF4-FFF2-40B4-BE49-F238E27FC236}">
                <a16:creationId xmlns:a16="http://schemas.microsoft.com/office/drawing/2014/main" id="{522BA091-022A-4EB4-BBA0-0309BF5F91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79187"/>
          <a:stretch/>
        </p:blipFill>
        <p:spPr>
          <a:xfrm>
            <a:off x="0" y="5430644"/>
            <a:ext cx="12192000" cy="1427356"/>
          </a:xfrm>
          <a:prstGeom prst="rect">
            <a:avLst/>
          </a:prstGeom>
        </p:spPr>
      </p:pic>
    </p:spTree>
    <p:extLst>
      <p:ext uri="{BB962C8B-B14F-4D97-AF65-F5344CB8AC3E}">
        <p14:creationId xmlns:p14="http://schemas.microsoft.com/office/powerpoint/2010/main" val="3869814112"/>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95F28E2D-2E12-454A-7968-6BC3454791C6}"/>
            </a:ext>
          </a:extLst>
        </p:cNvPr>
        <p:cNvGrpSpPr/>
        <p:nvPr/>
      </p:nvGrpSpPr>
      <p:grpSpPr>
        <a:xfrm>
          <a:off x="0" y="0"/>
          <a:ext cx="0" cy="0"/>
          <a:chOff x="0" y="0"/>
          <a:chExt cx="0" cy="0"/>
        </a:xfrm>
      </p:grpSpPr>
      <p:sp useBgFill="1">
        <p:nvSpPr>
          <p:cNvPr id="24" name="Rectangle 13">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çerik Yer Tutucusu 6" descr="metin, daire, diyagram, ekran görüntüsü içeren bir resim">
            <a:extLst>
              <a:ext uri="{FF2B5EF4-FFF2-40B4-BE49-F238E27FC236}">
                <a16:creationId xmlns:a16="http://schemas.microsoft.com/office/drawing/2014/main" id="{CF00E3F7-AB54-19DB-9EC1-3659D5E729CF}"/>
              </a:ext>
            </a:extLst>
          </p:cNvPr>
          <p:cNvPicPr>
            <a:picLocks noChangeAspect="1"/>
          </p:cNvPicPr>
          <p:nvPr/>
        </p:nvPicPr>
        <p:blipFill>
          <a:blip r:embed="rId3">
            <a:extLst>
              <a:ext uri="{28A0092B-C50C-407E-A947-70E740481C1C}">
                <a14:useLocalDpi xmlns:a14="http://schemas.microsoft.com/office/drawing/2010/main" val="0"/>
              </a:ext>
            </a:extLst>
          </a:blip>
          <a:srcRect l="30610" r="7772"/>
          <a:stretch/>
        </p:blipFill>
        <p:spPr>
          <a:xfrm>
            <a:off x="1" y="10"/>
            <a:ext cx="7479157" cy="6857990"/>
          </a:xfrm>
          <a:prstGeom prst="rect">
            <a:avLst/>
          </a:prstGeom>
        </p:spPr>
      </p:pic>
      <p:sp>
        <p:nvSpPr>
          <p:cNvPr id="25" name="Rectangle 15">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17">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1B91B24A-C57C-AE44-8019-AEF9B81B3A0E}"/>
              </a:ext>
            </a:extLst>
          </p:cNvPr>
          <p:cNvSpPr>
            <a:spLocks noGrp="1"/>
          </p:cNvSpPr>
          <p:nvPr>
            <p:ph type="title"/>
          </p:nvPr>
        </p:nvSpPr>
        <p:spPr>
          <a:xfrm>
            <a:off x="8196408" y="640831"/>
            <a:ext cx="3352128" cy="1573863"/>
          </a:xfrm>
        </p:spPr>
        <p:txBody>
          <a:bodyPr>
            <a:normAutofit/>
          </a:bodyPr>
          <a:lstStyle/>
          <a:p>
            <a:pPr algn="l"/>
            <a:r>
              <a:rPr lang="tr-TR" sz="3300"/>
              <a:t>İşletmenin İşlevleri (Fonksiyonları)</a:t>
            </a:r>
          </a:p>
        </p:txBody>
      </p:sp>
    </p:spTree>
    <p:extLst>
      <p:ext uri="{BB962C8B-B14F-4D97-AF65-F5344CB8AC3E}">
        <p14:creationId xmlns:p14="http://schemas.microsoft.com/office/powerpoint/2010/main" val="10259916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F7E90274-6C41-E253-1851-BA22CF0CD91C}"/>
            </a:ext>
          </a:extLst>
        </p:cNvPr>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0">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9" name="Picture 12">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566E15DA-FC57-B2BC-505A-1574F2C6D9C5}"/>
              </a:ext>
            </a:extLst>
          </p:cNvPr>
          <p:cNvSpPr>
            <a:spLocks noGrp="1"/>
          </p:cNvSpPr>
          <p:nvPr>
            <p:ph type="title"/>
          </p:nvPr>
        </p:nvSpPr>
        <p:spPr>
          <a:xfrm>
            <a:off x="959896" y="960814"/>
            <a:ext cx="2732249" cy="4912936"/>
          </a:xfrm>
        </p:spPr>
        <p:txBody>
          <a:bodyPr anchor="b">
            <a:normAutofit/>
          </a:bodyPr>
          <a:lstStyle/>
          <a:p>
            <a:pPr algn="r"/>
            <a:r>
              <a:rPr lang="tr-TR" sz="2500">
                <a:solidFill>
                  <a:schemeClr val="bg1"/>
                </a:solidFill>
              </a:rPr>
              <a:t>İşletmenin İşlevleri (Fonksiyonları)</a:t>
            </a:r>
          </a:p>
        </p:txBody>
      </p:sp>
      <p:sp>
        <p:nvSpPr>
          <p:cNvPr id="4" name="İçerik Yer Tutucusu 3">
            <a:extLst>
              <a:ext uri="{FF2B5EF4-FFF2-40B4-BE49-F238E27FC236}">
                <a16:creationId xmlns:a16="http://schemas.microsoft.com/office/drawing/2014/main" id="{78033ED0-43F2-0807-8D5E-9105244915A0}"/>
              </a:ext>
            </a:extLst>
          </p:cNvPr>
          <p:cNvSpPr>
            <a:spLocks noGrp="1"/>
          </p:cNvSpPr>
          <p:nvPr>
            <p:ph idx="1"/>
          </p:nvPr>
        </p:nvSpPr>
        <p:spPr>
          <a:xfrm>
            <a:off x="4979078" y="960814"/>
            <a:ext cx="6247722" cy="4830385"/>
          </a:xfrm>
        </p:spPr>
        <p:txBody>
          <a:bodyPr anchor="ctr">
            <a:normAutofit/>
          </a:bodyPr>
          <a:lstStyle/>
          <a:p>
            <a:r>
              <a:rPr lang="tr-TR" sz="1800" cap="none" dirty="0"/>
              <a:t>Belirli bir büyüklüğe erişmiş işletmelerde tüm fonksiyonlar bulunur ve bağımsız bölümler olarak da yönetilebilir. Söz konusu büyüklüğü yakalayamamış işletmelerde fonksiyonlar ikisi, üçü ya da daha fazlası bir araya getirilerek yönetilir. Örneğin idari ve mali işler müdürlüğü içinde insan kaynakları, finans ve muhasebe bölümlerinin faaliyetleri yer alabilir.</a:t>
            </a:r>
          </a:p>
        </p:txBody>
      </p:sp>
    </p:spTree>
    <p:extLst>
      <p:ext uri="{BB962C8B-B14F-4D97-AF65-F5344CB8AC3E}">
        <p14:creationId xmlns:p14="http://schemas.microsoft.com/office/powerpoint/2010/main" val="2663175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üyük bir mağazadan oluşan bulanık soyut arka plan">
            <a:extLst>
              <a:ext uri="{FF2B5EF4-FFF2-40B4-BE49-F238E27FC236}">
                <a16:creationId xmlns:a16="http://schemas.microsoft.com/office/drawing/2014/main" id="{1E4D694E-A38F-2F55-8460-6FAD6512DA5F}"/>
              </a:ext>
            </a:extLst>
          </p:cNvPr>
          <p:cNvPicPr>
            <a:picLocks noChangeAspect="1"/>
          </p:cNvPicPr>
          <p:nvPr/>
        </p:nvPicPr>
        <p:blipFill>
          <a:blip r:embed="rId3"/>
          <a:srcRect l="24457" r="36369" b="-1"/>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ADF01C2C-63FC-202B-EB8E-192070189778}"/>
              </a:ext>
            </a:extLst>
          </p:cNvPr>
          <p:cNvSpPr>
            <a:spLocks noGrp="1"/>
          </p:cNvSpPr>
          <p:nvPr>
            <p:ph type="title"/>
          </p:nvPr>
        </p:nvSpPr>
        <p:spPr>
          <a:xfrm>
            <a:off x="4465050" y="618517"/>
            <a:ext cx="6672886" cy="1596177"/>
          </a:xfrm>
        </p:spPr>
        <p:txBody>
          <a:bodyPr>
            <a:normAutofit/>
          </a:bodyPr>
          <a:lstStyle/>
          <a:p>
            <a:r>
              <a:rPr lang="tr-TR"/>
              <a:t>Pazarlama</a:t>
            </a:r>
          </a:p>
        </p:txBody>
      </p:sp>
      <p:sp>
        <p:nvSpPr>
          <p:cNvPr id="3" name="İçerik Yer Tutucusu 2">
            <a:extLst>
              <a:ext uri="{FF2B5EF4-FFF2-40B4-BE49-F238E27FC236}">
                <a16:creationId xmlns:a16="http://schemas.microsoft.com/office/drawing/2014/main" id="{19E18562-ACFC-E9AD-B8DC-0BB8BA52ED7F}"/>
              </a:ext>
            </a:extLst>
          </p:cNvPr>
          <p:cNvSpPr>
            <a:spLocks noGrp="1"/>
          </p:cNvSpPr>
          <p:nvPr>
            <p:ph idx="1"/>
          </p:nvPr>
        </p:nvSpPr>
        <p:spPr>
          <a:xfrm>
            <a:off x="4465048" y="2367092"/>
            <a:ext cx="6672887" cy="3424107"/>
          </a:xfrm>
        </p:spPr>
        <p:txBody>
          <a:bodyPr>
            <a:normAutofit fontScale="92500" lnSpcReduction="20000"/>
          </a:bodyPr>
          <a:lstStyle/>
          <a:p>
            <a:pPr>
              <a:lnSpc>
                <a:spcPct val="110000"/>
              </a:lnSpc>
            </a:pPr>
            <a:r>
              <a:rPr lang="tr-TR" sz="1800" cap="none" dirty="0"/>
              <a:t>İşletmenin merkezinde (odağında) tüketici vardır. Tüketici bir fonksiyon değil, fonksiyonların var olma nedenidir. İşletmedeki bütün faaliyetler ya da fonksiyonlar hatta işletmenin varlığı merkeze yerleştirilen tüketiciye bağlıdır. İşletmenin neyi üreteceği, nerede, ne kadar fiyattan satacağı, ne kadar üreteceği, nerede ne zaman halkla ilişkiler ve reklam yapacağı, ar-ge’de hangi ürün ve hizmet </a:t>
            </a:r>
            <a:r>
              <a:rPr lang="tr-TR" sz="1800" cap="none" dirty="0" err="1"/>
              <a:t>inovasyonu</a:t>
            </a:r>
            <a:r>
              <a:rPr lang="tr-TR" sz="1800" cap="none" dirty="0"/>
              <a:t> yapacağı tüketiciye bağlıdır. İşletmeler “ne üretebiliyorsak onu satarız” anlayışından, şimdi “neyi satabiliyorsak onu üretiriz” anlayışına geçmişlerdir. Bu da tüketici odaklı işletmecilik demektir. Günümüzde “hangi ürün veya hizmet üretilmelidir?” Sorusunun cevabının verilmesinde pazarlama fonksiyonu önemli rol oynamaktadır. İşletmelerde pazarlama fonksiyonu eskiye göre daha önemli hâle gelmeye başlamıştır. Hatta şöyle bir deyiş vardır. “Pazarlama, sadece pazarlamacılara bırakılmayacak kadar önemlidir”. </a:t>
            </a:r>
          </a:p>
        </p:txBody>
      </p:sp>
    </p:spTree>
    <p:extLst>
      <p:ext uri="{BB962C8B-B14F-4D97-AF65-F5344CB8AC3E}">
        <p14:creationId xmlns:p14="http://schemas.microsoft.com/office/powerpoint/2010/main" val="7351354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F6E2421-0E2F-59DF-5331-1D789315A94C}"/>
              </a:ext>
            </a:extLst>
          </p:cNvPr>
          <p:cNvPicPr>
            <a:picLocks noChangeAspect="1"/>
          </p:cNvPicPr>
          <p:nvPr/>
        </p:nvPicPr>
        <p:blipFill>
          <a:blip r:embed="rId3"/>
          <a:srcRect l="35711" r="31278"/>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F39D3796-3EEC-273A-3708-8C5617EFD163}"/>
              </a:ext>
            </a:extLst>
          </p:cNvPr>
          <p:cNvSpPr>
            <a:spLocks noGrp="1"/>
          </p:cNvSpPr>
          <p:nvPr>
            <p:ph type="title"/>
          </p:nvPr>
        </p:nvSpPr>
        <p:spPr>
          <a:xfrm>
            <a:off x="4465050" y="618517"/>
            <a:ext cx="6672886" cy="1596177"/>
          </a:xfrm>
        </p:spPr>
        <p:txBody>
          <a:bodyPr>
            <a:normAutofit/>
          </a:bodyPr>
          <a:lstStyle/>
          <a:p>
            <a:r>
              <a:rPr lang="tr-TR"/>
              <a:t>Üretim</a:t>
            </a:r>
          </a:p>
        </p:txBody>
      </p:sp>
      <p:sp>
        <p:nvSpPr>
          <p:cNvPr id="3" name="İçerik Yer Tutucusu 2">
            <a:extLst>
              <a:ext uri="{FF2B5EF4-FFF2-40B4-BE49-F238E27FC236}">
                <a16:creationId xmlns:a16="http://schemas.microsoft.com/office/drawing/2014/main" id="{CCBF2B5C-4287-E778-6773-B2DD15DC9598}"/>
              </a:ext>
            </a:extLst>
          </p:cNvPr>
          <p:cNvSpPr>
            <a:spLocks noGrp="1"/>
          </p:cNvSpPr>
          <p:nvPr>
            <p:ph idx="1"/>
          </p:nvPr>
        </p:nvSpPr>
        <p:spPr>
          <a:xfrm>
            <a:off x="4465048" y="1725562"/>
            <a:ext cx="6672887" cy="4065638"/>
          </a:xfrm>
        </p:spPr>
        <p:txBody>
          <a:bodyPr>
            <a:normAutofit fontScale="92500"/>
          </a:bodyPr>
          <a:lstStyle/>
          <a:p>
            <a:pPr>
              <a:lnSpc>
                <a:spcPct val="110000"/>
              </a:lnSpc>
            </a:pPr>
            <a:r>
              <a:rPr lang="tr-TR" sz="1600" cap="none" dirty="0"/>
              <a:t>İnsan ihtiyaçları ve isteklerinin karşılanması amacıyla üretim faktörlerini </a:t>
            </a:r>
            <a:r>
              <a:rPr lang="tr-TR" sz="1600" cap="none" dirty="0" err="1"/>
              <a:t>biraraya</a:t>
            </a:r>
            <a:r>
              <a:rPr lang="tr-TR" sz="1600" cap="none" dirty="0"/>
              <a:t> getirerek, üretim için gereken üretim teknolojisinin yardımı ile bir süreçten geçirerek ürün ya da hizmet elde etmek üretim fonksiyonunun yerine getirdiği iştir. Üretim fonksiyonu sonucunda elle tutulup gözle görünen bir çıktı elde edilir ise ürün üretimi, elle tutulup gözle görülmeyen, soyut bir çıktı elde edilir ise hizmet üretimi söz konusudur. Üretim fonksiyonu tarafından üretim yapılabilmesi için, hangi nitelikte, ne miktarda ve ne zaman üretim yapılacağına karar verilmesi gerekir. Bu kararların tamamı üretim fonksiyonun diğer fonksiyonlar ile iş birliği hâlinde, diğer fonksiyonların sağladıkları verilere dayanarak verilmesi gereken kararlardır. </a:t>
            </a:r>
          </a:p>
          <a:p>
            <a:pPr>
              <a:lnSpc>
                <a:spcPct val="110000"/>
              </a:lnSpc>
            </a:pPr>
            <a:r>
              <a:rPr lang="tr-TR" sz="1600" cap="none" dirty="0"/>
              <a:t>Bu yüzden de üretim fonksiyonu diğer tüm fonksiyonlar ile daima iletişim hâlindedir. Üretim yapılması amacıyla makinalar kullanılabilir ya da sadece el işçiliği kullanılabilir, çoğu durumda ise el işçiliği ve makinalar birlikte kullanılır. Kullanılan bütün üretim faktörleri, doğal kaynaklar, emek, teknoloji, belirli bir maliyet ile elde edilir. Çoğu zaman da sınırlı miktarda elde edilebilirler. </a:t>
            </a:r>
          </a:p>
        </p:txBody>
      </p:sp>
    </p:spTree>
    <p:extLst>
      <p:ext uri="{BB962C8B-B14F-4D97-AF65-F5344CB8AC3E}">
        <p14:creationId xmlns:p14="http://schemas.microsoft.com/office/powerpoint/2010/main" val="3715071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3ED93DB2-C396-D2AD-306A-F7998D7913A9}"/>
              </a:ext>
            </a:extLst>
          </p:cNvPr>
          <p:cNvSpPr>
            <a:spLocks noGrp="1"/>
          </p:cNvSpPr>
          <p:nvPr>
            <p:ph type="title"/>
          </p:nvPr>
        </p:nvSpPr>
        <p:spPr>
          <a:xfrm>
            <a:off x="641074" y="1588878"/>
            <a:ext cx="2844002" cy="3680244"/>
          </a:xfrm>
        </p:spPr>
        <p:txBody>
          <a:bodyPr>
            <a:normAutofit/>
          </a:bodyPr>
          <a:lstStyle/>
          <a:p>
            <a:pPr algn="l"/>
            <a:r>
              <a:rPr lang="tr-TR" sz="3700">
                <a:solidFill>
                  <a:srgbClr val="FFFFFF"/>
                </a:solidFill>
              </a:rPr>
              <a:t>İnsan Kaynakları</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8C73FC8C-4285-8CB6-E7D7-73015826DC5A}"/>
              </a:ext>
            </a:extLst>
          </p:cNvPr>
          <p:cNvSpPr>
            <a:spLocks noGrp="1"/>
          </p:cNvSpPr>
          <p:nvPr>
            <p:ph idx="1"/>
          </p:nvPr>
        </p:nvSpPr>
        <p:spPr>
          <a:xfrm>
            <a:off x="4634794" y="1049695"/>
            <a:ext cx="6642806" cy="5336357"/>
          </a:xfrm>
        </p:spPr>
        <p:txBody>
          <a:bodyPr anchor="ctr">
            <a:normAutofit/>
          </a:bodyPr>
          <a:lstStyle/>
          <a:p>
            <a:pPr>
              <a:lnSpc>
                <a:spcPct val="110000"/>
              </a:lnSpc>
            </a:pPr>
            <a:r>
              <a:rPr lang="tr-TR" sz="1800" cap="none" dirty="0"/>
              <a:t>İşletmeler amaçlarına ulaşabilmek için sürekli olarak nitelikli işgücüne ihtiyaç duyarlar. İnsan kaynakları, bu işgücünü gerek duyulduğu zaman iş ortamına sunabilmek için, önce işi analiz ederek hangi nitelikte, ne kadar işgücüne ihtiyaç duyulacağını tespit eder. Gerekli işgücünü seçerek işe alır, motive eder, eğitir, performanslarını ölçer ve ücretlendirir. İşlerin kesintisiz sürdürülmesi açısından insan kaynakları işletmelerin kritik bir fonksiyonudur. Özellikle son yıllarda iş dünyası, rekabette yenilikçi şirketler güçlü oldukları ve bu yönleri ile üstünlük sağladıkları için yaratıcılık, yenilik ve inovasyon işletmelerde temel strateji hâline gelmeye başlamıştır. Bunun için de beyin gücüne dayalı insan kaynağının önemi artmıştır. İşletme yönetimleri “nasıl yaratıcı insanları işe alırız ya da nasıl bir eğitim vererek hangi ortamlarda çalıştırarak, hangi motivasyonları yaparak ve nasıl bir örgüt yapısı içinde yöneterek daha fazla yaratıcı yapabiliriz?” Sorularının cevaplarını bulmaya çalışmaktadır. İşletmeler eskisi gibi birbirine benzeyen insanları değil, farklı insanları işe almaktadırlar. </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3161386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6D58954F-C5AC-4BE0-811D-8DFE18E35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0">
            <a:extLst>
              <a:ext uri="{FF2B5EF4-FFF2-40B4-BE49-F238E27FC236}">
                <a16:creationId xmlns:a16="http://schemas.microsoft.com/office/drawing/2014/main" id="{C359E835-CE77-4DCC-8EC3-1924094D3B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760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Verimlilik öğeleri bulunan masa">
            <a:extLst>
              <a:ext uri="{FF2B5EF4-FFF2-40B4-BE49-F238E27FC236}">
                <a16:creationId xmlns:a16="http://schemas.microsoft.com/office/drawing/2014/main" id="{51EAC38C-1BD4-4188-72C1-B32691C12FDB}"/>
              </a:ext>
            </a:extLst>
          </p:cNvPr>
          <p:cNvPicPr>
            <a:picLocks noChangeAspect="1"/>
          </p:cNvPicPr>
          <p:nvPr/>
        </p:nvPicPr>
        <p:blipFill>
          <a:blip r:embed="rId2"/>
          <a:srcRect l="37990" r="22740" b="-1"/>
          <a:stretch/>
        </p:blipFill>
        <p:spPr>
          <a:xfrm>
            <a:off x="8157374" y="10"/>
            <a:ext cx="4034626" cy="6857990"/>
          </a:xfrm>
          <a:prstGeom prst="rect">
            <a:avLst/>
          </a:prstGeom>
        </p:spPr>
      </p:pic>
      <p:pic>
        <p:nvPicPr>
          <p:cNvPr id="18" name="Picture 12">
            <a:extLst>
              <a:ext uri="{FF2B5EF4-FFF2-40B4-BE49-F238E27FC236}">
                <a16:creationId xmlns:a16="http://schemas.microsoft.com/office/drawing/2014/main" id="{B03B59B5-123A-4DC5-87BD-6D3E22FA650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48C8FFB5-8C6B-BFC9-0302-8B0517A74007}"/>
              </a:ext>
            </a:extLst>
          </p:cNvPr>
          <p:cNvSpPr>
            <a:spLocks noGrp="1"/>
          </p:cNvSpPr>
          <p:nvPr>
            <p:ph type="title"/>
          </p:nvPr>
        </p:nvSpPr>
        <p:spPr>
          <a:xfrm>
            <a:off x="913776" y="618517"/>
            <a:ext cx="6672886" cy="1596177"/>
          </a:xfrm>
        </p:spPr>
        <p:txBody>
          <a:bodyPr>
            <a:normAutofit/>
          </a:bodyPr>
          <a:lstStyle/>
          <a:p>
            <a:r>
              <a:rPr lang="tr-TR"/>
              <a:t>Finansman</a:t>
            </a:r>
          </a:p>
        </p:txBody>
      </p:sp>
      <p:sp>
        <p:nvSpPr>
          <p:cNvPr id="3" name="İçerik Yer Tutucusu 2">
            <a:extLst>
              <a:ext uri="{FF2B5EF4-FFF2-40B4-BE49-F238E27FC236}">
                <a16:creationId xmlns:a16="http://schemas.microsoft.com/office/drawing/2014/main" id="{60D1F2A4-12AE-8CC6-FE62-F7FE4972F7E0}"/>
              </a:ext>
            </a:extLst>
          </p:cNvPr>
          <p:cNvSpPr>
            <a:spLocks noGrp="1"/>
          </p:cNvSpPr>
          <p:nvPr>
            <p:ph idx="1"/>
          </p:nvPr>
        </p:nvSpPr>
        <p:spPr>
          <a:xfrm>
            <a:off x="913774" y="1784556"/>
            <a:ext cx="6672887" cy="4006644"/>
          </a:xfrm>
        </p:spPr>
        <p:txBody>
          <a:bodyPr>
            <a:normAutofit/>
          </a:bodyPr>
          <a:lstStyle/>
          <a:p>
            <a:pPr>
              <a:lnSpc>
                <a:spcPct val="110000"/>
              </a:lnSpc>
            </a:pPr>
            <a:r>
              <a:rPr lang="tr-TR" sz="1800" cap="none" dirty="0"/>
              <a:t>İşletmenin üretimde kullanılacak üretim faktörlerini satın almak için ihtiyaç duyacağı kaynakların temin edilmesi finansman fonksiyonunun görevidir. İşletmedeki diğer üretim faktörleri gibi finansman da yönetilmelidir. Yatırım ve işletme sermayesi bakımından, işletme kurulurken ihtiyaç duyulan finansmanın belirlenmesi, bu finansmanın en uygun şekilde tedarik edilmesi ve verimli kullanılabilmesi için yönetilmesi gerekir. İyi yönetilemeyen finansman, işletmelerin üretimde ihtiyaç duyacağı kaynakları tehlikeye sokacağından sık sık krizlere neden olur. Bu da	işletmelerin ekonomik sürdürülebilirliğini tehlikeye sokar. Finansman, diğer fonksiyonlarla iş birliği yapmalı; ne zaman, ne miktarda kaynağa ihtiyaç duyulacağı bilgilerine bağlı olarak, kullanılabilecek finansal kaynak seçeneklerini araştırmalı ve en uygun maliyetle sağlamalıdır.</a:t>
            </a:r>
          </a:p>
        </p:txBody>
      </p:sp>
    </p:spTree>
    <p:extLst>
      <p:ext uri="{BB962C8B-B14F-4D97-AF65-F5344CB8AC3E}">
        <p14:creationId xmlns:p14="http://schemas.microsoft.com/office/powerpoint/2010/main" val="18628038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AB0446CB-3155-D245-E6A7-CEA78D84A0B3}"/>
              </a:ext>
            </a:extLst>
          </p:cNvPr>
          <p:cNvSpPr>
            <a:spLocks noGrp="1"/>
          </p:cNvSpPr>
          <p:nvPr>
            <p:ph type="title"/>
          </p:nvPr>
        </p:nvSpPr>
        <p:spPr>
          <a:xfrm>
            <a:off x="641074" y="1588878"/>
            <a:ext cx="2844002" cy="3680244"/>
          </a:xfrm>
        </p:spPr>
        <p:txBody>
          <a:bodyPr>
            <a:normAutofit/>
          </a:bodyPr>
          <a:lstStyle/>
          <a:p>
            <a:pPr algn="l"/>
            <a:r>
              <a:rPr lang="tr-TR" sz="4400">
                <a:solidFill>
                  <a:srgbClr val="FFFFFF"/>
                </a:solidFill>
              </a:rPr>
              <a:t>Muhasebe</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BF28C226-6CF3-8F21-CC37-D1F37D67B7E5}"/>
              </a:ext>
            </a:extLst>
          </p:cNvPr>
          <p:cNvSpPr>
            <a:spLocks noGrp="1"/>
          </p:cNvSpPr>
          <p:nvPr>
            <p:ph idx="1"/>
          </p:nvPr>
        </p:nvSpPr>
        <p:spPr>
          <a:xfrm>
            <a:off x="4634794" y="1049695"/>
            <a:ext cx="6642806" cy="4758611"/>
          </a:xfrm>
        </p:spPr>
        <p:txBody>
          <a:bodyPr anchor="ctr">
            <a:normAutofit/>
          </a:bodyPr>
          <a:lstStyle/>
          <a:p>
            <a:pPr>
              <a:lnSpc>
                <a:spcPct val="110000"/>
              </a:lnSpc>
            </a:pPr>
            <a:r>
              <a:rPr lang="tr-TR" sz="1900" cap="none"/>
              <a:t>Yönetim için söylenen bir söz vardır. “Ölçemediğiniz şeyi yönetemezsiniz”. İşte muhasebe, yönetimde kararların veriye ve işlem kayıtlarına dayalı alınmasını sağlayan bir fonksiyondur. İşletmedeki paranın, mal ve hizmetlerin, borçların, alacakların, gelirlerin, giderlerin kaydını tutarak, analizini yaparak veri ve bilgi üretir. Ancak muhasebe demek, sadece kayıt tutmak demek değildir. Üretilen veri ve bilginin analizini yaparak işletme için ne anlama geldiğini ortaya koymaktır. Ayrıca devlet kâr eden işletmelerden vergi alır. Tam ve doğru vergi alabilmesi için de işletmedeki muhasebenin mevzuata uygun tutulmasını ister. Aksi takdirde kayıt dışılık ve vergi kaçakçılığı artacağından devletin işletmelerden aldığı vergiler düşer. İşte hem devletin aldığı vergiler hem de işletme yönetimi için alınan kararlar bakımından muhasebe fonksiyonu gerekli görülmüştür.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1108308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3857ED8-6A3F-2D59-8EEA-BDBB33CF3693}"/>
              </a:ext>
            </a:extLst>
          </p:cNvPr>
          <p:cNvPicPr>
            <a:picLocks noChangeAspect="1"/>
          </p:cNvPicPr>
          <p:nvPr/>
        </p:nvPicPr>
        <p:blipFill>
          <a:blip r:embed="rId3"/>
          <a:srcRect l="9465" r="57523"/>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D301A00B-28B2-8248-8A9A-6248285647DE}"/>
              </a:ext>
            </a:extLst>
          </p:cNvPr>
          <p:cNvSpPr>
            <a:spLocks noGrp="1"/>
          </p:cNvSpPr>
          <p:nvPr>
            <p:ph type="title"/>
          </p:nvPr>
        </p:nvSpPr>
        <p:spPr>
          <a:xfrm>
            <a:off x="4465050" y="618517"/>
            <a:ext cx="6672886" cy="1596177"/>
          </a:xfrm>
        </p:spPr>
        <p:txBody>
          <a:bodyPr>
            <a:normAutofit/>
          </a:bodyPr>
          <a:lstStyle/>
          <a:p>
            <a:r>
              <a:rPr lang="tr-TR"/>
              <a:t>Halkla İlişkiler</a:t>
            </a:r>
          </a:p>
        </p:txBody>
      </p:sp>
      <p:sp>
        <p:nvSpPr>
          <p:cNvPr id="3" name="İçerik Yer Tutucusu 2">
            <a:extLst>
              <a:ext uri="{FF2B5EF4-FFF2-40B4-BE49-F238E27FC236}">
                <a16:creationId xmlns:a16="http://schemas.microsoft.com/office/drawing/2014/main" id="{55D30651-482F-079E-520B-CE7620333841}"/>
              </a:ext>
            </a:extLst>
          </p:cNvPr>
          <p:cNvSpPr>
            <a:spLocks noGrp="1"/>
          </p:cNvSpPr>
          <p:nvPr>
            <p:ph idx="1"/>
          </p:nvPr>
        </p:nvSpPr>
        <p:spPr>
          <a:xfrm>
            <a:off x="4465048" y="1755058"/>
            <a:ext cx="6672887" cy="4719484"/>
          </a:xfrm>
        </p:spPr>
        <p:txBody>
          <a:bodyPr>
            <a:normAutofit/>
          </a:bodyPr>
          <a:lstStyle/>
          <a:p>
            <a:pPr>
              <a:lnSpc>
                <a:spcPct val="110000"/>
              </a:lnSpc>
            </a:pPr>
            <a:r>
              <a:rPr lang="tr-TR" sz="1800" cap="none" dirty="0"/>
              <a:t>İşletmelerin de insanlar gibi itibarları vardır. İşletme itibarı, işletmelerin çevresiyle olan ilişkileri, toplumun çözmeye çalıştığı toplumsal, kültürel ve çevre sorunlarına duyarlı olması, katkı sağlaması gibi sosyal sorumluluklarının farkında olmak ve yerine getirmekle sağlanır. Reklam, nasıl işletmenin mal ve hizmetlerinin tanıtımında fayda sağlarsa halkla ilişkiler de işletmenin kurum olarak tanıtımını yapar ve ona itibar (prestij ve imaj) kazandırır (</a:t>
            </a:r>
            <a:r>
              <a:rPr lang="tr-TR" sz="1800" cap="none" dirty="0" err="1"/>
              <a:t>mirze</a:t>
            </a:r>
            <a:r>
              <a:rPr lang="tr-TR" sz="1800" cap="none" dirty="0"/>
              <a:t>, 2010, s.346). Örneğin işletme toplumun herhangi bir sorununu çözmeyi amaçlayan proje için sponsor olmuşsa bir halkla ilişkiler faaliyeti yapmış olur.</a:t>
            </a:r>
          </a:p>
          <a:p>
            <a:pPr>
              <a:lnSpc>
                <a:spcPct val="110000"/>
              </a:lnSpc>
            </a:pPr>
            <a:r>
              <a:rPr lang="tr-TR" sz="1800" cap="none" dirty="0"/>
              <a:t>İtibar işletme için önemlidir. İyi itibarı olmayan bir işletmenin değerli bir markası yoktur. Bu bakımdan işletmelerin doğdukları yerdeki (yerel) itibarlar onlara yetmemekte, ulusal, bölgesel ve hatta küresel itibar için çaba göstermektedirler.</a:t>
            </a:r>
          </a:p>
        </p:txBody>
      </p:sp>
    </p:spTree>
    <p:extLst>
      <p:ext uri="{BB962C8B-B14F-4D97-AF65-F5344CB8AC3E}">
        <p14:creationId xmlns:p14="http://schemas.microsoft.com/office/powerpoint/2010/main" val="3119542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ir molesel modelin yakınlarının yakından">
            <a:extLst>
              <a:ext uri="{FF2B5EF4-FFF2-40B4-BE49-F238E27FC236}">
                <a16:creationId xmlns:a16="http://schemas.microsoft.com/office/drawing/2014/main" id="{18E399B6-4E91-2119-F2EA-BEC986663597}"/>
              </a:ext>
            </a:extLst>
          </p:cNvPr>
          <p:cNvPicPr>
            <a:picLocks noChangeAspect="1"/>
          </p:cNvPicPr>
          <p:nvPr/>
        </p:nvPicPr>
        <p:blipFill>
          <a:blip r:embed="rId3"/>
          <a:srcRect l="48103" r="7882"/>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F228A575-2238-2B29-0D1F-F4A27C153689}"/>
              </a:ext>
            </a:extLst>
          </p:cNvPr>
          <p:cNvSpPr>
            <a:spLocks noGrp="1"/>
          </p:cNvSpPr>
          <p:nvPr>
            <p:ph type="title"/>
          </p:nvPr>
        </p:nvSpPr>
        <p:spPr>
          <a:xfrm>
            <a:off x="4465050" y="618517"/>
            <a:ext cx="6672886" cy="1596177"/>
          </a:xfrm>
        </p:spPr>
        <p:txBody>
          <a:bodyPr>
            <a:normAutofit/>
          </a:bodyPr>
          <a:lstStyle/>
          <a:p>
            <a:r>
              <a:rPr lang="tr-TR"/>
              <a:t>Araştırma Geliştirme (Ar-Ge)</a:t>
            </a:r>
          </a:p>
        </p:txBody>
      </p:sp>
      <p:sp>
        <p:nvSpPr>
          <p:cNvPr id="3" name="İçerik Yer Tutucusu 2">
            <a:extLst>
              <a:ext uri="{FF2B5EF4-FFF2-40B4-BE49-F238E27FC236}">
                <a16:creationId xmlns:a16="http://schemas.microsoft.com/office/drawing/2014/main" id="{8CC0C605-5097-F655-DC8E-B53EF8744769}"/>
              </a:ext>
            </a:extLst>
          </p:cNvPr>
          <p:cNvSpPr>
            <a:spLocks noGrp="1"/>
          </p:cNvSpPr>
          <p:nvPr>
            <p:ph idx="1"/>
          </p:nvPr>
        </p:nvSpPr>
        <p:spPr>
          <a:xfrm>
            <a:off x="4465048" y="1681316"/>
            <a:ext cx="6672887" cy="4109883"/>
          </a:xfrm>
        </p:spPr>
        <p:txBody>
          <a:bodyPr>
            <a:normAutofit fontScale="92500" lnSpcReduction="10000"/>
          </a:bodyPr>
          <a:lstStyle/>
          <a:p>
            <a:pPr>
              <a:lnSpc>
                <a:spcPct val="110000"/>
              </a:lnSpc>
            </a:pPr>
            <a:r>
              <a:rPr lang="tr-TR" sz="1800" cap="none" dirty="0"/>
              <a:t>Bilim ve teknolojide meydana gelen gelişmeler ülkeler arasındaki sınırların kolayca aşılmasını, ürünlerin, hizmetlerin, bilginin, kültürlerin, paranın, insanların dünyadaki hareketini arttırmıştır. Bu hareket, dünyadaki firmalar ve ülke ekonomileri arasındaki rekabeti hızlandırmıştır. Ülkelerdeki işletmeler düne göre yerel olmaktan çıkmış uluslararası olmuştur. İşte bu değişiklikler işletmelerin ar-ge fonksiyonunu daha önemli hâle getirmiştir. Rekabet üstünlüğü sağlayabilmek için yaratıcı-yenilikçi ve inovatif olmak gerekmektedir. İşletmede bu fonksiyonlar genellikle ar-ge’de toplanmıştır. Bilindiği gibi iki türlü araştırma yapılır. 1. Temel araştırma, 2. Uygulamalı araştırma. Temel araştırma daha akademik ve bilimseldir. Uygulamalı araştırma ise temel araştırmadaki bilimsel bilgileri de kullanarak piyasa için ekonomik ve toplumsal fayda üreten ürün ve hizmet araştırmalarıdır. İşte ar-ge’de daha çok uygulamalı araştırmalar yapılır. Çünkü işletme piyasaya çıkaracak yeni ürün arayışı içindedir.</a:t>
            </a:r>
          </a:p>
        </p:txBody>
      </p:sp>
    </p:spTree>
    <p:extLst>
      <p:ext uri="{BB962C8B-B14F-4D97-AF65-F5344CB8AC3E}">
        <p14:creationId xmlns:p14="http://schemas.microsoft.com/office/powerpoint/2010/main" val="1099062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enkli grafikler ve grafikler">
            <a:extLst>
              <a:ext uri="{FF2B5EF4-FFF2-40B4-BE49-F238E27FC236}">
                <a16:creationId xmlns:a16="http://schemas.microsoft.com/office/drawing/2014/main" id="{7A9C491F-77DA-1597-60BD-FBA5BE5AF717}"/>
              </a:ext>
            </a:extLst>
          </p:cNvPr>
          <p:cNvPicPr>
            <a:picLocks noChangeAspect="1"/>
          </p:cNvPicPr>
          <p:nvPr/>
        </p:nvPicPr>
        <p:blipFill>
          <a:blip r:embed="rId2"/>
          <a:srcRect l="32464" r="28361" b="-1"/>
          <a:stretch/>
        </p:blipFill>
        <p:spPr>
          <a:xfrm>
            <a:off x="20" y="10"/>
            <a:ext cx="4024741" cy="6857990"/>
          </a:xfrm>
          <a:prstGeom prst="rect">
            <a:avLst/>
          </a:prstGeom>
        </p:spPr>
      </p:pic>
      <p:sp>
        <p:nvSpPr>
          <p:cNvPr id="11" name="Rectangle 10">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47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Başlık 1">
            <a:extLst>
              <a:ext uri="{FF2B5EF4-FFF2-40B4-BE49-F238E27FC236}">
                <a16:creationId xmlns:a16="http://schemas.microsoft.com/office/drawing/2014/main" id="{22B8A903-F96C-0D15-5F58-11DDF60C22A8}"/>
              </a:ext>
            </a:extLst>
          </p:cNvPr>
          <p:cNvSpPr>
            <a:spLocks noGrp="1"/>
          </p:cNvSpPr>
          <p:nvPr>
            <p:ph type="title"/>
          </p:nvPr>
        </p:nvSpPr>
        <p:spPr>
          <a:xfrm>
            <a:off x="4465050" y="618517"/>
            <a:ext cx="6672886" cy="1596177"/>
          </a:xfrm>
        </p:spPr>
        <p:txBody>
          <a:bodyPr>
            <a:normAutofit/>
          </a:bodyPr>
          <a:lstStyle/>
          <a:p>
            <a:r>
              <a:rPr lang="tr-TR"/>
              <a:t>İŞLETMELERİN SINIFLANDIRILMASI</a:t>
            </a:r>
          </a:p>
        </p:txBody>
      </p:sp>
      <p:sp>
        <p:nvSpPr>
          <p:cNvPr id="3" name="İçerik Yer Tutucusu 2">
            <a:extLst>
              <a:ext uri="{FF2B5EF4-FFF2-40B4-BE49-F238E27FC236}">
                <a16:creationId xmlns:a16="http://schemas.microsoft.com/office/drawing/2014/main" id="{139A50CC-D785-79E0-DC45-5DE85B6A61F3}"/>
              </a:ext>
            </a:extLst>
          </p:cNvPr>
          <p:cNvSpPr>
            <a:spLocks noGrp="1"/>
          </p:cNvSpPr>
          <p:nvPr>
            <p:ph idx="1"/>
          </p:nvPr>
        </p:nvSpPr>
        <p:spPr>
          <a:xfrm>
            <a:off x="4465048" y="2367092"/>
            <a:ext cx="6672887" cy="3424107"/>
          </a:xfrm>
        </p:spPr>
        <p:txBody>
          <a:bodyPr>
            <a:normAutofit/>
          </a:bodyPr>
          <a:lstStyle/>
          <a:p>
            <a:r>
              <a:rPr lang="tr-TR"/>
              <a:t>İşletmeleri daha iyi anlayabilmek için sınıflara ayırmak gerekir. Sınıflandırmada çeşitli kriterler temel alınır. Bu kriterlerden bazıları büyüklük (ölçek), yaptıkları iş, sermayenin mülkiyeti, dünya ölçeği, kâr ve yasal statüdür. Ayrıca bu kriterlere başka kriterler de eklenebilir.</a:t>
            </a:r>
          </a:p>
        </p:txBody>
      </p:sp>
    </p:spTree>
    <p:extLst>
      <p:ext uri="{BB962C8B-B14F-4D97-AF65-F5344CB8AC3E}">
        <p14:creationId xmlns:p14="http://schemas.microsoft.com/office/powerpoint/2010/main" val="4701012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D7E6738C-3891-2A31-4500-6022D38A9703}"/>
              </a:ext>
            </a:extLst>
          </p:cNvPr>
          <p:cNvSpPr>
            <a:spLocks noGrp="1"/>
          </p:cNvSpPr>
          <p:nvPr>
            <p:ph type="title"/>
          </p:nvPr>
        </p:nvSpPr>
        <p:spPr>
          <a:xfrm>
            <a:off x="641074" y="1588878"/>
            <a:ext cx="2844002" cy="3680244"/>
          </a:xfrm>
        </p:spPr>
        <p:txBody>
          <a:bodyPr>
            <a:normAutofit/>
          </a:bodyPr>
          <a:lstStyle/>
          <a:p>
            <a:pPr algn="l"/>
            <a:r>
              <a:rPr lang="tr-TR" sz="3400">
                <a:solidFill>
                  <a:srgbClr val="FFFFFF"/>
                </a:solidFill>
              </a:rPr>
              <a:t>Büyüklükleri Bakımından İşletme Türleri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3A13E128-DCE0-39CF-C202-C290956D6209}"/>
              </a:ext>
            </a:extLst>
          </p:cNvPr>
          <p:cNvSpPr>
            <a:spLocks noGrp="1"/>
          </p:cNvSpPr>
          <p:nvPr>
            <p:ph idx="1"/>
          </p:nvPr>
        </p:nvSpPr>
        <p:spPr>
          <a:xfrm>
            <a:off x="4634794" y="1049695"/>
            <a:ext cx="6642806" cy="5513337"/>
          </a:xfrm>
        </p:spPr>
        <p:txBody>
          <a:bodyPr anchor="ctr">
            <a:normAutofit fontScale="92500" lnSpcReduction="10000"/>
          </a:bodyPr>
          <a:lstStyle/>
          <a:p>
            <a:pPr>
              <a:lnSpc>
                <a:spcPct val="110000"/>
              </a:lnSpc>
            </a:pPr>
            <a:r>
              <a:rPr lang="tr-TR" sz="1800" cap="none" dirty="0"/>
              <a:t>İşletmelerin büyüklüklerini belirlemede birçok ölçek bulunur. Bunlar da iki grup altında toplanabilir. </a:t>
            </a:r>
          </a:p>
          <a:p>
            <a:pPr>
              <a:lnSpc>
                <a:spcPct val="110000"/>
              </a:lnSpc>
            </a:pPr>
            <a:r>
              <a:rPr lang="tr-TR" sz="1800" cap="none" dirty="0"/>
              <a:t>1. Niceliksel (</a:t>
            </a:r>
            <a:r>
              <a:rPr lang="tr-TR" sz="1800" cap="none" dirty="0" err="1"/>
              <a:t>kantititatif</a:t>
            </a:r>
            <a:r>
              <a:rPr lang="tr-TR" sz="1800" cap="none" dirty="0"/>
              <a:t>) ölçek </a:t>
            </a:r>
          </a:p>
          <a:p>
            <a:pPr>
              <a:lnSpc>
                <a:spcPct val="110000"/>
              </a:lnSpc>
            </a:pPr>
            <a:r>
              <a:rPr lang="tr-TR" sz="1800" cap="none" dirty="0"/>
              <a:t>2. Niteliksel (</a:t>
            </a:r>
            <a:r>
              <a:rPr lang="tr-TR" sz="1800" cap="none" dirty="0" err="1"/>
              <a:t>kalititatif</a:t>
            </a:r>
            <a:r>
              <a:rPr lang="tr-TR" sz="1800" cap="none" dirty="0"/>
              <a:t>) ölçek niceliksel ölçüler: </a:t>
            </a:r>
          </a:p>
          <a:p>
            <a:pPr marL="0" indent="0">
              <a:lnSpc>
                <a:spcPct val="110000"/>
              </a:lnSpc>
              <a:buNone/>
            </a:pPr>
            <a:r>
              <a:rPr lang="tr-TR" sz="1800" cap="none" dirty="0"/>
              <a:t>işletmede çalışan insan sayısı, kullanılan sermaye miktarı, kapalı alan, teknolojik güç, harcanan enerji, satış gibi sayısal olarak ölçülebilen kriterlerdir. Bu kriterlerin sayısı işletmelerin bulunduğu sektörlere ve ülkelere göre değişir. Türkiye’de işletmelerin niceliksel ölçülere göre büyüklüklerinin saptanmasında 3143 sayılı sanayi ve ticaret bakanlığının teşkilat ve görevleri hakkındaki </a:t>
            </a:r>
            <a:r>
              <a:rPr lang="tr-TR" sz="1800" cap="none" dirty="0" err="1"/>
              <a:t>kanun’un</a:t>
            </a:r>
            <a:r>
              <a:rPr lang="tr-TR" sz="1800" cap="none" dirty="0"/>
              <a:t> ek birinci maddesine dayanılarak hazırlanan “küçük ve orta büyüklükteki işletmelerin tanımı, nitelikleri ve sınıflandırılması hakkındaki yönetmelik” belirleyicidir. Buna göre, önce </a:t>
            </a:r>
            <a:r>
              <a:rPr lang="tr-TR" sz="1800" cap="none" dirty="0" err="1"/>
              <a:t>türkiye’de</a:t>
            </a:r>
            <a:r>
              <a:rPr lang="tr-TR" sz="1800" cap="none" dirty="0"/>
              <a:t> çok kullanılan KOBİ tanımı yapılmıştır. “Küçük ve orta büyüklükte işletme (KOBİ): 250 kişiden az yıllık çalışan istihdam eden ve yıllık net satış hasılatı ya da mali bilançosundan herhangi biri 40 milyon </a:t>
            </a:r>
            <a:r>
              <a:rPr lang="tr-TR" sz="1800" cap="none" dirty="0" err="1"/>
              <a:t>türk</a:t>
            </a:r>
            <a:r>
              <a:rPr lang="tr-TR" sz="1800" cap="none" dirty="0"/>
              <a:t> lirasını aşmayan ve yönetmelikte mikro işletme, küçük işletme ve orta büyüklükteki işletme olarak sınıflandırılan ve kısaca KOBİ olarak sınıflandırılan ekonomik birimler veya girişimlerdir.”.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4492056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C752B16C-209C-FC37-16F0-EEA12E7827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175CB464-AD73-EB87-41FF-6AF03B8818F5}"/>
              </a:ext>
            </a:extLst>
          </p:cNvPr>
          <p:cNvSpPr>
            <a:spLocks noGrp="1"/>
          </p:cNvSpPr>
          <p:nvPr>
            <p:ph type="title"/>
          </p:nvPr>
        </p:nvSpPr>
        <p:spPr>
          <a:xfrm>
            <a:off x="959896" y="960814"/>
            <a:ext cx="2732249" cy="4912936"/>
          </a:xfrm>
        </p:spPr>
        <p:txBody>
          <a:bodyPr anchor="b">
            <a:normAutofit/>
          </a:bodyPr>
          <a:lstStyle/>
          <a:p>
            <a:pPr algn="r"/>
            <a:r>
              <a:rPr lang="tr-TR" sz="3400">
                <a:solidFill>
                  <a:schemeClr val="bg1"/>
                </a:solidFill>
              </a:rPr>
              <a:t>Büyüklükleri Bakımından İşletme Türleri</a:t>
            </a:r>
          </a:p>
        </p:txBody>
      </p:sp>
      <p:sp>
        <p:nvSpPr>
          <p:cNvPr id="3" name="İçerik Yer Tutucusu 2">
            <a:extLst>
              <a:ext uri="{FF2B5EF4-FFF2-40B4-BE49-F238E27FC236}">
                <a16:creationId xmlns:a16="http://schemas.microsoft.com/office/drawing/2014/main" id="{45DCF270-B50F-B415-EFF1-4ABF7AEE0804}"/>
              </a:ext>
            </a:extLst>
          </p:cNvPr>
          <p:cNvSpPr>
            <a:spLocks noGrp="1"/>
          </p:cNvSpPr>
          <p:nvPr>
            <p:ph idx="1"/>
          </p:nvPr>
        </p:nvSpPr>
        <p:spPr>
          <a:xfrm>
            <a:off x="4979078" y="960814"/>
            <a:ext cx="6247722" cy="5897185"/>
          </a:xfrm>
        </p:spPr>
        <p:txBody>
          <a:bodyPr anchor="ctr">
            <a:normAutofit fontScale="92500" lnSpcReduction="10000"/>
          </a:bodyPr>
          <a:lstStyle/>
          <a:p>
            <a:pPr>
              <a:lnSpc>
                <a:spcPct val="110000"/>
              </a:lnSpc>
            </a:pPr>
            <a:r>
              <a:rPr lang="tr-TR" sz="1800" cap="none" dirty="0"/>
              <a:t>Tanımda kullanılan mali bilanço, bir işletmenin belirli bir tarihte sahip olduğu varlıklar ile bu varlıkların sağladığı kaynakları gösteren mali tabloyu ifade eder. Net satış hasılatı, bir işletmenin brüt satışlarından satış </a:t>
            </a:r>
            <a:r>
              <a:rPr lang="tr-TR" sz="1800" cap="none" dirty="0" err="1"/>
              <a:t>iskontoları</a:t>
            </a:r>
            <a:r>
              <a:rPr lang="tr-TR" sz="1800" cap="none" dirty="0"/>
              <a:t> ve iadeleri ile diğer indirimlerin düşülmesi sonucu bulunan tutarı gösterir. Bu durumda KOBİ yönetmeliği olarak da anılan bu düzenlemeye göre, Türkiye’de işletmelerin nicel ölçülere göre sınıflandırılması aşağıdaki gibi olmaktadır.</a:t>
            </a:r>
          </a:p>
          <a:p>
            <a:pPr>
              <a:lnSpc>
                <a:spcPct val="110000"/>
              </a:lnSpc>
            </a:pPr>
            <a:r>
              <a:rPr lang="tr-TR" sz="1800" cap="none" dirty="0"/>
              <a:t> Mikro işletme: 10 kişiden az yıllık çalışan istihdam eden ve yıllık net satış hasılatı ya da mali bilançosundan herhangi biri 1 milyon Türk lirasını aşmayan çok küçük işletmeler. </a:t>
            </a:r>
          </a:p>
          <a:p>
            <a:pPr>
              <a:lnSpc>
                <a:spcPct val="110000"/>
              </a:lnSpc>
            </a:pPr>
            <a:r>
              <a:rPr lang="tr-TR" sz="1800" cap="none" dirty="0"/>
              <a:t>Küçük işletme: 50 kişiden az yıllık çalışan istihdam eden ve yıllık net satış hasılatı ya da mali bilançosundan herhangi biri 8 milyon Türk lirasını aşmayan işletmeler. </a:t>
            </a:r>
          </a:p>
          <a:p>
            <a:pPr>
              <a:lnSpc>
                <a:spcPct val="110000"/>
              </a:lnSpc>
            </a:pPr>
            <a:r>
              <a:rPr lang="tr-TR" sz="1800" cap="none" dirty="0"/>
              <a:t>Orta büyüklükteki işletme: 250 kişiden az yıllık çalışan istihdam eden ve yıllık net satış hasılatı ya da mali bilançosundan herhangi biri 40 milyon Türk lirasını aşmayan işletmeler. </a:t>
            </a:r>
          </a:p>
          <a:p>
            <a:pPr>
              <a:lnSpc>
                <a:spcPct val="110000"/>
              </a:lnSpc>
            </a:pPr>
            <a:r>
              <a:rPr lang="tr-TR" sz="1800" cap="none" dirty="0"/>
              <a:t>Büyük işletme: 250 kişiden fazla yıllık çalışan istihdam eden ve yıllık net satış hasılatı ya da mali bilançosu 40 milyon Türk lirasını aşan işletmelerdir.</a:t>
            </a:r>
          </a:p>
        </p:txBody>
      </p:sp>
    </p:spTree>
    <p:extLst>
      <p:ext uri="{BB962C8B-B14F-4D97-AF65-F5344CB8AC3E}">
        <p14:creationId xmlns:p14="http://schemas.microsoft.com/office/powerpoint/2010/main" val="12326154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a:extLst>
            <a:ext uri="{FF2B5EF4-FFF2-40B4-BE49-F238E27FC236}">
              <a16:creationId xmlns:a16="http://schemas.microsoft.com/office/drawing/2014/main" id="{B3D983FB-7953-27E8-4725-188E9AD270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D32A958-3F35-8747-DB49-B2EA0B54EBAF}"/>
              </a:ext>
            </a:extLst>
          </p:cNvPr>
          <p:cNvSpPr>
            <a:spLocks noGrp="1"/>
          </p:cNvSpPr>
          <p:nvPr>
            <p:ph type="title"/>
          </p:nvPr>
        </p:nvSpPr>
        <p:spPr>
          <a:xfrm>
            <a:off x="641074" y="1588878"/>
            <a:ext cx="2844002" cy="3680244"/>
          </a:xfrm>
        </p:spPr>
        <p:txBody>
          <a:bodyPr>
            <a:normAutofit/>
          </a:bodyPr>
          <a:lstStyle/>
          <a:p>
            <a:pPr algn="l"/>
            <a:r>
              <a:rPr lang="tr-TR" sz="3400">
                <a:solidFill>
                  <a:srgbClr val="FFFFFF"/>
                </a:solidFill>
              </a:rPr>
              <a:t>Büyüklükleri Bakımından İşletme Türleri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5DDB1264-3A3A-F160-F381-F494D0C918AF}"/>
              </a:ext>
            </a:extLst>
          </p:cNvPr>
          <p:cNvSpPr>
            <a:spLocks noGrp="1"/>
          </p:cNvSpPr>
          <p:nvPr>
            <p:ph idx="1"/>
          </p:nvPr>
        </p:nvSpPr>
        <p:spPr>
          <a:xfrm>
            <a:off x="4634794" y="1049695"/>
            <a:ext cx="6642806" cy="5454344"/>
          </a:xfrm>
        </p:spPr>
        <p:txBody>
          <a:bodyPr anchor="ctr">
            <a:normAutofit/>
          </a:bodyPr>
          <a:lstStyle/>
          <a:p>
            <a:pPr>
              <a:lnSpc>
                <a:spcPct val="110000"/>
              </a:lnSpc>
            </a:pPr>
            <a:r>
              <a:rPr lang="tr-TR" sz="1600" cap="none" dirty="0"/>
              <a:t>Girmeye çalıştığımız ve bunun için hemen hemen her konuda uyum çalışması yaptığımız Avrupa Birliği (AB)’</a:t>
            </a:r>
            <a:r>
              <a:rPr lang="tr-TR" sz="1600" cap="none" dirty="0" err="1"/>
              <a:t>nde</a:t>
            </a:r>
            <a:r>
              <a:rPr lang="tr-TR" sz="1600" cap="none" dirty="0"/>
              <a:t> de benzer sınıflandırmanın yapıldığını görmekteyiz. Zaten ülkemizdeki sınıflandırmanın AB ile uyumlu olduğu söylenebilir. AB’de de sınıflandırma aşağıdaki gibidir (Karalar, 2009, s.139). </a:t>
            </a:r>
          </a:p>
          <a:p>
            <a:pPr>
              <a:lnSpc>
                <a:spcPct val="110000"/>
              </a:lnSpc>
            </a:pPr>
            <a:r>
              <a:rPr lang="tr-TR" sz="1600" cap="none" dirty="0"/>
              <a:t>Mikro işletme: 10 kişiden az çalışan sayısı, 2 milyon Euro’dan az cirosu olanlar. </a:t>
            </a:r>
          </a:p>
          <a:p>
            <a:pPr>
              <a:lnSpc>
                <a:spcPct val="110000"/>
              </a:lnSpc>
            </a:pPr>
            <a:r>
              <a:rPr lang="tr-TR" sz="1600" cap="none" dirty="0"/>
              <a:t>Küçük işletme: 50 kişiden az çalışan sayısı, 10 milyon Euro’dan az cirosu olanlar. </a:t>
            </a:r>
          </a:p>
          <a:p>
            <a:pPr>
              <a:lnSpc>
                <a:spcPct val="110000"/>
              </a:lnSpc>
            </a:pPr>
            <a:r>
              <a:rPr lang="tr-TR" sz="1600" cap="none" dirty="0"/>
              <a:t>Orta büyüklükteki işletme: 250 kişiden az çalışan sayısı, 10 milyon Euro’dan az cirosu olanlar</a:t>
            </a:r>
          </a:p>
          <a:p>
            <a:pPr>
              <a:lnSpc>
                <a:spcPct val="110000"/>
              </a:lnSpc>
            </a:pPr>
            <a:r>
              <a:rPr lang="tr-TR" sz="1600" cap="none" dirty="0"/>
              <a:t> Büyük işletme: 250 kişiden çok çalışan sayısı, 10 milyon Euro’dan fazla cirosu olanlar.</a:t>
            </a:r>
          </a:p>
          <a:p>
            <a:pPr marL="0" indent="0">
              <a:lnSpc>
                <a:spcPct val="110000"/>
              </a:lnSpc>
              <a:buNone/>
            </a:pPr>
            <a:r>
              <a:rPr lang="tr-TR" sz="1600" cap="none" dirty="0"/>
              <a:t> Öte yandan Amerika Birleşik Devletleri’nde büyüklükleri belirlemede çalışanların sayısı kullanılır. Ancak miktarı farklıdır. Mikro işletmelerde çalışan sayısı 10’dan az, küçük işletmelerde 100’den az, orta büyüklükteki işletmelerde 500’den az ve büyük işletmelerde ise çalışan sayısı 500’den fazladır.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32948448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9FE08B87-E566-B48A-DD0B-F090EE34FF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D15FAE66-2DDF-4107-C49C-6409B461F2B8}"/>
              </a:ext>
            </a:extLst>
          </p:cNvPr>
          <p:cNvSpPr>
            <a:spLocks noGrp="1"/>
          </p:cNvSpPr>
          <p:nvPr>
            <p:ph type="title"/>
          </p:nvPr>
        </p:nvSpPr>
        <p:spPr>
          <a:xfrm>
            <a:off x="959896" y="960814"/>
            <a:ext cx="2732249" cy="4912936"/>
          </a:xfrm>
        </p:spPr>
        <p:txBody>
          <a:bodyPr anchor="b">
            <a:normAutofit/>
          </a:bodyPr>
          <a:lstStyle/>
          <a:p>
            <a:pPr algn="r"/>
            <a:r>
              <a:rPr lang="tr-TR" sz="3100">
                <a:solidFill>
                  <a:schemeClr val="bg1"/>
                </a:solidFill>
              </a:rPr>
              <a:t>Büyüklükleri Bakımından İşletme Türleri</a:t>
            </a:r>
          </a:p>
        </p:txBody>
      </p:sp>
      <p:sp>
        <p:nvSpPr>
          <p:cNvPr id="3" name="İçerik Yer Tutucusu 2">
            <a:extLst>
              <a:ext uri="{FF2B5EF4-FFF2-40B4-BE49-F238E27FC236}">
                <a16:creationId xmlns:a16="http://schemas.microsoft.com/office/drawing/2014/main" id="{55D51663-1845-107C-2564-6319FAB9B399}"/>
              </a:ext>
            </a:extLst>
          </p:cNvPr>
          <p:cNvSpPr>
            <a:spLocks noGrp="1"/>
          </p:cNvSpPr>
          <p:nvPr>
            <p:ph idx="1"/>
          </p:nvPr>
        </p:nvSpPr>
        <p:spPr>
          <a:xfrm>
            <a:off x="4979078" y="960814"/>
            <a:ext cx="6247722" cy="5602218"/>
          </a:xfrm>
        </p:spPr>
        <p:txBody>
          <a:bodyPr anchor="ctr">
            <a:normAutofit/>
          </a:bodyPr>
          <a:lstStyle/>
          <a:p>
            <a:pPr>
              <a:lnSpc>
                <a:spcPct val="110000"/>
              </a:lnSpc>
            </a:pPr>
            <a:r>
              <a:rPr lang="tr-TR" sz="1800" cap="none" dirty="0"/>
              <a:t>Niteliksel Ölçüler: İşletme büyüklüklerinin belirlenmesinde niceliksel ölçütlerin yanında işletmelerin yönetim, ilişkiler, sermaye sağlama, pazarlık gücü, hukuki statüsü gibi niteliksel ölçülerine de bakabiliriz. Küçük işletmelerin yönetimleri merkezci, bağımsız ve yalındır. Örgüt modeli dikeydir. Oysa büyük işletmelerde yönetim giderek karmaşık hâle gelir. Merkezci değildir. Büyük işletmelerin örgütsel yapısı ise son yıllarda dikey-kurmay, dikey-fonksiyonel olmakla birlikte, yatay organizasyon uygulamaları artmaya başlamıştır (Ertürk, 2009, s. 46-47). Küçük işletmelerde işletme sahipliği ile işletme yönetimi ayrı ayrı kişi ya da kişilerde değildir. Aynı kişide toplanmıştır. Büyük işletmelerde aynı kişi ya da kişilerde yönetim ve sahiplik birlikte bulunmaz. Yönetim artık profesyonellere devredilmiştir. Bu özellik yönetimde kurumsallaşmanın bir parçasıdır. Hukuki statüleri bakımından tek kişi işletmeleri ve şahıs şirketi statüsündeki işletmelerin sermaye şirketlerine göre küçük olduğu görülmektedir</a:t>
            </a:r>
          </a:p>
        </p:txBody>
      </p:sp>
    </p:spTree>
    <p:extLst>
      <p:ext uri="{BB962C8B-B14F-4D97-AF65-F5344CB8AC3E}">
        <p14:creationId xmlns:p14="http://schemas.microsoft.com/office/powerpoint/2010/main" val="41028633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5D32C74F-2C7C-96BC-15AC-379F6B040A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F95DE6-BC61-4DB8-97B8-E32959EA0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48D9C176-456B-4F71-AB87-9D14B8B3D1C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46466" t="75007" r="30510"/>
          <a:stretch/>
        </p:blipFill>
        <p:spPr>
          <a:xfrm>
            <a:off x="0" y="138157"/>
            <a:ext cx="1712063" cy="1045389"/>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
        <p:nvSpPr>
          <p:cNvPr id="2" name="Başlık 1">
            <a:extLst>
              <a:ext uri="{FF2B5EF4-FFF2-40B4-BE49-F238E27FC236}">
                <a16:creationId xmlns:a16="http://schemas.microsoft.com/office/drawing/2014/main" id="{F67EC8F0-DDE4-B60A-5ACA-09814ECE5F0E}"/>
              </a:ext>
            </a:extLst>
          </p:cNvPr>
          <p:cNvSpPr>
            <a:spLocks noGrp="1"/>
          </p:cNvSpPr>
          <p:nvPr>
            <p:ph type="title"/>
          </p:nvPr>
        </p:nvSpPr>
        <p:spPr>
          <a:xfrm>
            <a:off x="913775" y="618517"/>
            <a:ext cx="7859564" cy="1596177"/>
          </a:xfrm>
        </p:spPr>
        <p:txBody>
          <a:bodyPr>
            <a:normAutofit/>
          </a:bodyPr>
          <a:lstStyle/>
          <a:p>
            <a:r>
              <a:rPr lang="tr-TR" sz="4000"/>
              <a:t>Büyüklükleri Bakımından İşletme Türleri</a:t>
            </a:r>
          </a:p>
        </p:txBody>
      </p:sp>
      <p:pic>
        <p:nvPicPr>
          <p:cNvPr id="12" name="Picture 11">
            <a:extLst>
              <a:ext uri="{FF2B5EF4-FFF2-40B4-BE49-F238E27FC236}">
                <a16:creationId xmlns:a16="http://schemas.microsoft.com/office/drawing/2014/main" id="{CFF97C55-868F-4FDD-BD3C-D2F191796F4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55183" t="89413" r="18746"/>
          <a:stretch/>
        </p:blipFill>
        <p:spPr>
          <a:xfrm>
            <a:off x="8404564" y="0"/>
            <a:ext cx="2589690" cy="591546"/>
          </a:xfrm>
          <a:prstGeom prst="rect">
            <a:avLst/>
          </a:prstGeom>
        </p:spPr>
      </p:pic>
      <p:pic>
        <p:nvPicPr>
          <p:cNvPr id="14" name="Picture 13">
            <a:extLst>
              <a:ext uri="{FF2B5EF4-FFF2-40B4-BE49-F238E27FC236}">
                <a16:creationId xmlns:a16="http://schemas.microsoft.com/office/drawing/2014/main" id="{69722FB9-EA01-42A6-96B2-185F5CC12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73623" t="43915" r="1" b="10213"/>
          <a:stretch/>
        </p:blipFill>
        <p:spPr>
          <a:xfrm>
            <a:off x="10471066" y="183232"/>
            <a:ext cx="1720934" cy="1683522"/>
          </a:xfrm>
          <a:prstGeom prst="rect">
            <a:avLst/>
          </a:prstGeom>
        </p:spPr>
      </p:pic>
      <p:sp>
        <p:nvSpPr>
          <p:cNvPr id="3" name="İçerik Yer Tutucusu 2">
            <a:extLst>
              <a:ext uri="{FF2B5EF4-FFF2-40B4-BE49-F238E27FC236}">
                <a16:creationId xmlns:a16="http://schemas.microsoft.com/office/drawing/2014/main" id="{8E2561B2-B4A7-3E73-BA12-91CE960069BE}"/>
              </a:ext>
            </a:extLst>
          </p:cNvPr>
          <p:cNvSpPr>
            <a:spLocks noGrp="1"/>
          </p:cNvSpPr>
          <p:nvPr>
            <p:ph idx="1"/>
          </p:nvPr>
        </p:nvSpPr>
        <p:spPr>
          <a:xfrm>
            <a:off x="913773" y="2367092"/>
            <a:ext cx="9557293" cy="3872391"/>
          </a:xfrm>
        </p:spPr>
        <p:txBody>
          <a:bodyPr>
            <a:normAutofit/>
          </a:bodyPr>
          <a:lstStyle/>
          <a:p>
            <a:pPr>
              <a:lnSpc>
                <a:spcPct val="110000"/>
              </a:lnSpc>
            </a:pPr>
            <a:r>
              <a:rPr lang="tr-TR" sz="1800" cap="none" dirty="0"/>
              <a:t>Küçük işletmelerin satın almalarda ve satışlarda pazarlık güçleri zayıftır. Çünkü satın almaların ve satışların miktarı azdır. Oysa büyük işletmeler büyük miktarlarda satın alma ve satış yaptıkları için pazarlıkta güçlüdürler. Küçük işletmeler, gerek işletme içinde gerekse işletme dışındaki ilişkilerinde daha yoğundur. Bunun için çalışanlarını ve müşterilerini tanır. Büyük işletmelerde çalışan sayısı ve müşteri sayısı çok olduğu için ilişki yoğun değildir. Küçük işletmelerde genellikle herkes, her işi yapar. Çünkü uzmanlaşma yoktur. Büyük işletmelerde uzmanlaşma olduğu için herkes her işi yapamaz. Sermaye sağlama bakımından küçük işletmeler, kısa vadeli düşük miktarlarda sermaye sağlayabilirken büyük işletmeler yüksek miktarlarda ve uzun vadeli sermaye sağlayabilirler. Küçük işletmelerde öz sermaye çok yaygınken büyük işletmelerde borçlanma daha çoktur. Küçük işletmenin sahibi ya da sahipleri genellikle o yörenin insanıdır. Büyük işletmelerin sahipleri genellikle o yörenin insanı değildir. Bu nedenle küçük işletmeler bulundukları yörenin sorunlarıyla daha fazla ilgilenirler.</a:t>
            </a:r>
          </a:p>
        </p:txBody>
      </p:sp>
      <p:pic>
        <p:nvPicPr>
          <p:cNvPr id="16" name="Picture 15">
            <a:extLst>
              <a:ext uri="{FF2B5EF4-FFF2-40B4-BE49-F238E27FC236}">
                <a16:creationId xmlns:a16="http://schemas.microsoft.com/office/drawing/2014/main" id="{D2B4E49C-E7B4-4F6A-8B93-646A0E2411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91927" t="72411" b="10341"/>
          <a:stretch/>
        </p:blipFill>
        <p:spPr>
          <a:xfrm>
            <a:off x="11494523" y="2664767"/>
            <a:ext cx="635958" cy="764233"/>
          </a:xfrm>
          <a:custGeom>
            <a:avLst/>
            <a:gdLst>
              <a:gd name="connsiteX0" fmla="*/ 0 w 984308"/>
              <a:gd name="connsiteY0" fmla="*/ 0 h 1182847"/>
              <a:gd name="connsiteX1" fmla="*/ 984308 w 984308"/>
              <a:gd name="connsiteY1" fmla="*/ 0 h 1182847"/>
              <a:gd name="connsiteX2" fmla="*/ 984308 w 984308"/>
              <a:gd name="connsiteY2" fmla="*/ 1161661 h 1182847"/>
              <a:gd name="connsiteX3" fmla="*/ 966627 w 984308"/>
              <a:gd name="connsiteY3" fmla="*/ 1165915 h 1182847"/>
              <a:gd name="connsiteX4" fmla="*/ 787132 w 984308"/>
              <a:gd name="connsiteY4" fmla="*/ 1182847 h 1182847"/>
              <a:gd name="connsiteX5" fmla="*/ 48601 w 984308"/>
              <a:gd name="connsiteY5" fmla="*/ 815395 h 1182847"/>
              <a:gd name="connsiteX6" fmla="*/ 0 w 984308"/>
              <a:gd name="connsiteY6" fmla="*/ 731606 h 1182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4308" h="1182847">
                <a:moveTo>
                  <a:pt x="0" y="0"/>
                </a:moveTo>
                <a:lnTo>
                  <a:pt x="984308" y="0"/>
                </a:lnTo>
                <a:lnTo>
                  <a:pt x="984308" y="1161661"/>
                </a:lnTo>
                <a:lnTo>
                  <a:pt x="966627" y="1165915"/>
                </a:lnTo>
                <a:cubicBezTo>
                  <a:pt x="908648" y="1177017"/>
                  <a:pt x="848618" y="1182847"/>
                  <a:pt x="787132" y="1182847"/>
                </a:cubicBezTo>
                <a:cubicBezTo>
                  <a:pt x="479703" y="1182847"/>
                  <a:pt x="208655" y="1037089"/>
                  <a:pt x="48601" y="815395"/>
                </a:cubicBezTo>
                <a:lnTo>
                  <a:pt x="0" y="731606"/>
                </a:lnTo>
                <a:close/>
              </a:path>
            </a:pathLst>
          </a:custGeom>
        </p:spPr>
      </p:pic>
      <p:pic>
        <p:nvPicPr>
          <p:cNvPr id="18" name="Picture 17">
            <a:extLst>
              <a:ext uri="{FF2B5EF4-FFF2-40B4-BE49-F238E27FC236}">
                <a16:creationId xmlns:a16="http://schemas.microsoft.com/office/drawing/2014/main" id="{46528FBF-1727-4546-8131-BA22ED8B54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65973" t="81531" r="19879"/>
          <a:stretch/>
        </p:blipFill>
        <p:spPr>
          <a:xfrm>
            <a:off x="8887626" y="5982056"/>
            <a:ext cx="1192806" cy="875944"/>
          </a:xfrm>
          <a:custGeom>
            <a:avLst/>
            <a:gdLst>
              <a:gd name="connsiteX0" fmla="*/ 2051608 w 4103216"/>
              <a:gd name="connsiteY0" fmla="*/ 0 h 1714050"/>
              <a:gd name="connsiteX1" fmla="*/ 4103216 w 4103216"/>
              <a:gd name="connsiteY1" fmla="*/ 1266738 h 1714050"/>
              <a:gd name="connsiteX2" fmla="*/ 4010980 w 4103216"/>
              <a:gd name="connsiteY2" fmla="*/ 1643427 h 1714050"/>
              <a:gd name="connsiteX3" fmla="*/ 3969116 w 4103216"/>
              <a:gd name="connsiteY3" fmla="*/ 1714050 h 1714050"/>
              <a:gd name="connsiteX4" fmla="*/ 134100 w 4103216"/>
              <a:gd name="connsiteY4" fmla="*/ 1714050 h 1714050"/>
              <a:gd name="connsiteX5" fmla="*/ 92237 w 4103216"/>
              <a:gd name="connsiteY5" fmla="*/ 1643427 h 1714050"/>
              <a:gd name="connsiteX6" fmla="*/ 0 w 4103216"/>
              <a:gd name="connsiteY6" fmla="*/ 1266738 h 1714050"/>
              <a:gd name="connsiteX7" fmla="*/ 2051608 w 4103216"/>
              <a:gd name="connsiteY7" fmla="*/ 0 h 17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03216" h="1714050">
                <a:moveTo>
                  <a:pt x="2051608" y="0"/>
                </a:moveTo>
                <a:cubicBezTo>
                  <a:pt x="3184680" y="0"/>
                  <a:pt x="4103216" y="567138"/>
                  <a:pt x="4103216" y="1266738"/>
                </a:cubicBezTo>
                <a:cubicBezTo>
                  <a:pt x="4103216" y="1397913"/>
                  <a:pt x="4070924" y="1524431"/>
                  <a:pt x="4010980" y="1643427"/>
                </a:cubicBezTo>
                <a:lnTo>
                  <a:pt x="3969116" y="1714050"/>
                </a:lnTo>
                <a:lnTo>
                  <a:pt x="134100" y="1714050"/>
                </a:lnTo>
                <a:lnTo>
                  <a:pt x="92237" y="1643427"/>
                </a:lnTo>
                <a:cubicBezTo>
                  <a:pt x="32293" y="1524431"/>
                  <a:pt x="0" y="1397913"/>
                  <a:pt x="0" y="1266738"/>
                </a:cubicBezTo>
                <a:cubicBezTo>
                  <a:pt x="0" y="567138"/>
                  <a:pt x="918536" y="0"/>
                  <a:pt x="2051608" y="0"/>
                </a:cubicBezTo>
                <a:close/>
              </a:path>
            </a:pathLst>
          </a:custGeom>
        </p:spPr>
      </p:pic>
    </p:spTree>
    <p:extLst>
      <p:ext uri="{BB962C8B-B14F-4D97-AF65-F5344CB8AC3E}">
        <p14:creationId xmlns:p14="http://schemas.microsoft.com/office/powerpoint/2010/main" val="15948153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B5AA48-E37B-CC05-8E67-35C7E05EDFFF}"/>
              </a:ext>
            </a:extLst>
          </p:cNvPr>
          <p:cNvSpPr>
            <a:spLocks noGrp="1"/>
          </p:cNvSpPr>
          <p:nvPr>
            <p:ph type="title"/>
          </p:nvPr>
        </p:nvSpPr>
        <p:spPr/>
        <p:txBody>
          <a:bodyPr/>
          <a:lstStyle/>
          <a:p>
            <a:r>
              <a:rPr lang="tr-TR"/>
              <a:t>Yaptıkları İş Bakımından İşletme Türleri</a:t>
            </a:r>
          </a:p>
        </p:txBody>
      </p:sp>
      <p:graphicFrame>
        <p:nvGraphicFramePr>
          <p:cNvPr id="7" name="İçerik Yer Tutucusu 2">
            <a:extLst>
              <a:ext uri="{FF2B5EF4-FFF2-40B4-BE49-F238E27FC236}">
                <a16:creationId xmlns:a16="http://schemas.microsoft.com/office/drawing/2014/main" id="{E2EA737D-ABD3-7531-E8CC-F4AD7F43B521}"/>
              </a:ext>
            </a:extLst>
          </p:cNvPr>
          <p:cNvGraphicFramePr>
            <a:graphicFrameLocks noGrp="1"/>
          </p:cNvGraphicFramePr>
          <p:nvPr>
            <p:ph idx="1"/>
          </p:nvPr>
        </p:nvGraphicFramePr>
        <p:xfrm>
          <a:off x="913775" y="2367093"/>
          <a:ext cx="10364452" cy="41722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4147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06C4DAFE-D250-0E3D-E83A-0E8B0C841B2E}"/>
              </a:ext>
            </a:extLst>
          </p:cNvPr>
          <p:cNvSpPr>
            <a:spLocks noGrp="1"/>
          </p:cNvSpPr>
          <p:nvPr>
            <p:ph type="title"/>
          </p:nvPr>
        </p:nvSpPr>
        <p:spPr>
          <a:xfrm>
            <a:off x="641074" y="1588878"/>
            <a:ext cx="2844002" cy="3680244"/>
          </a:xfrm>
        </p:spPr>
        <p:txBody>
          <a:bodyPr>
            <a:normAutofit/>
          </a:bodyPr>
          <a:lstStyle/>
          <a:p>
            <a:pPr algn="l"/>
            <a:r>
              <a:rPr lang="tr-TR" sz="3700">
                <a:solidFill>
                  <a:srgbClr val="FFFFFF"/>
                </a:solidFill>
              </a:rPr>
              <a:t>Sermaye Mülkiyeti Bakımından İşletme Türleri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B3E50664-FB48-07CB-14CB-5681F1060B2B}"/>
              </a:ext>
            </a:extLst>
          </p:cNvPr>
          <p:cNvSpPr>
            <a:spLocks noGrp="1"/>
          </p:cNvSpPr>
          <p:nvPr>
            <p:ph idx="1"/>
          </p:nvPr>
        </p:nvSpPr>
        <p:spPr>
          <a:xfrm>
            <a:off x="4634794" y="1049695"/>
            <a:ext cx="6642806" cy="4758611"/>
          </a:xfrm>
        </p:spPr>
        <p:txBody>
          <a:bodyPr anchor="ctr">
            <a:normAutofit/>
          </a:bodyPr>
          <a:lstStyle/>
          <a:p>
            <a:r>
              <a:rPr lang="tr-TR" cap="none" dirty="0"/>
              <a:t>İşletmelerde sermayenin kime ait olduğunu açıklayabilmek için, önce dünya ölçeğinde bakmak gerekmektedir. Buna göre işletmeleri; </a:t>
            </a:r>
          </a:p>
          <a:p>
            <a:pPr marL="0" indent="0">
              <a:buNone/>
            </a:pPr>
            <a:r>
              <a:rPr lang="tr-TR" cap="none" dirty="0"/>
              <a:t>1. Yerli işletmeler, </a:t>
            </a:r>
          </a:p>
          <a:p>
            <a:pPr marL="0" indent="0">
              <a:buNone/>
            </a:pPr>
            <a:r>
              <a:rPr lang="tr-TR" cap="none" dirty="0"/>
              <a:t>2. Yabancı işletmeler şeklinde iki gruba ayırabiliriz.</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3208343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890BA-4E4F-035E-C85C-63018BA64BE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685E5E58-9087-7B96-F29B-61B6E321D323}"/>
              </a:ext>
            </a:extLst>
          </p:cNvPr>
          <p:cNvSpPr>
            <a:spLocks noGrp="1"/>
          </p:cNvSpPr>
          <p:nvPr>
            <p:ph type="title"/>
          </p:nvPr>
        </p:nvSpPr>
        <p:spPr/>
        <p:txBody>
          <a:bodyPr/>
          <a:lstStyle/>
          <a:p>
            <a:r>
              <a:rPr lang="tr-TR"/>
              <a:t>Sermaye Mülkiyeti Bakımından İşletme Türleri</a:t>
            </a:r>
          </a:p>
        </p:txBody>
      </p:sp>
      <p:sp>
        <p:nvSpPr>
          <p:cNvPr id="3" name="İçerik Yer Tutucusu 2">
            <a:extLst>
              <a:ext uri="{FF2B5EF4-FFF2-40B4-BE49-F238E27FC236}">
                <a16:creationId xmlns:a16="http://schemas.microsoft.com/office/drawing/2014/main" id="{BD3AF4CD-CD74-3B9F-0F90-4D7F7BB28956}"/>
              </a:ext>
            </a:extLst>
          </p:cNvPr>
          <p:cNvSpPr>
            <a:spLocks noGrp="1"/>
          </p:cNvSpPr>
          <p:nvPr>
            <p:ph idx="1"/>
          </p:nvPr>
        </p:nvSpPr>
        <p:spPr/>
        <p:txBody>
          <a:bodyPr>
            <a:normAutofit fontScale="70000" lnSpcReduction="20000"/>
          </a:bodyPr>
          <a:lstStyle/>
          <a:p>
            <a:r>
              <a:rPr lang="tr-TR" b="1" cap="none"/>
              <a:t>Yerli İşletmeler </a:t>
            </a:r>
            <a:r>
              <a:rPr lang="tr-TR" cap="none"/>
              <a:t>Bir ülkedeki işletmelerin mülkiyeti, o ülkedeki girişimci kişi ya da kurumların (devlet, yerel yönetimler, sivil kuruluşlar) ise bunlar tarafından yönetiliyorsa bunlara yerli işletmeler denir (Mirze, s.65). Ülke içinde yerli işletmelerin mülkiyeti de çeşitlilik gösterir. Özel işletmeler, kamu işletmeleri gibi.</a:t>
            </a:r>
          </a:p>
          <a:p>
            <a:r>
              <a:rPr lang="tr-TR" b="1" cap="none"/>
              <a:t> Özel İşletmeler </a:t>
            </a:r>
            <a:r>
              <a:rPr lang="tr-TR" cap="none"/>
              <a:t>Bir üretim faktörü olan girişimci ya da girişimcilerin genellikle kâr getirisi için sahibi oldukları sermayeyle kurdukları işletmelere özel işletmeler denir. İçindeki sermayeye de özel sermaye denir. Ekonomik sistemlerden biri olan kapitalizmin girişimcilik özgürlüğü, piyasayı ve piyasadaki özel mülkiyete dayalı işletmelerin kurulmasına neden olmuştur. Ayrıca piyasanın işleyişini de geniş ölçüde rekabete dayandırmıştır. Rekabetin yapılabilmesi için piyasadaki işletmelerin çok sayıda olması büyüklüklerinin birbirine yakın olması işletmenin sahiplerinin yani girişimcilerinin farklı kişiler olması gerekmektedir. Bu açıdan bakıldığında özel işletmeler piyasanın ve rekabetin hem nedeni hem de sonucu olmuşlardır.</a:t>
            </a:r>
          </a:p>
          <a:p>
            <a:r>
              <a:rPr lang="tr-TR" cap="none"/>
              <a:t> </a:t>
            </a:r>
            <a:r>
              <a:rPr lang="tr-TR" b="1" cap="none"/>
              <a:t>Kamu İşletmeleri Kamu İktisadi Teşebbüsleri (KİT) </a:t>
            </a:r>
            <a:r>
              <a:rPr lang="tr-TR" cap="none"/>
              <a:t>olarak adlandırılan devlet işletmeleri ile belediyelere ve özel idarelere ait işletmelere kamu işletmeleri denir. Geçmişte devlet, sermaye ve girişimci üretim faktörlerinin yetersiz olduğu koşullarda, halkın ihtiyaçlarının giderilmesi için işletmeler kurma durumunda kalmıştır. Bunların kuruluş ve işleyişleriyle ilgili hükümleri de Anayasa ve ilgili yasalara koymuştur. Kamu işletmeleri içinde önemli yere sahip KİT’ler; İktisadi Devlet Teşekkülleri (İDT) ve Kamu İktisadi Kuruluşları (KİK) olarak iki gruba ayrılır.</a:t>
            </a:r>
          </a:p>
        </p:txBody>
      </p:sp>
    </p:spTree>
    <p:extLst>
      <p:ext uri="{BB962C8B-B14F-4D97-AF65-F5344CB8AC3E}">
        <p14:creationId xmlns:p14="http://schemas.microsoft.com/office/powerpoint/2010/main" val="926556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F012C5-2940-4F3E-BB5E-B8B2C9E829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B37C977-E7E3-44AC-AEC8-2E27641909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13876" cy="6858000"/>
          </a:xfrm>
          <a:prstGeom prst="rect">
            <a:avLst/>
          </a:prstGeom>
          <a:ln>
            <a:noFill/>
          </a:ln>
          <a:effectLst>
            <a:outerShdw blurRad="88900" dist="25400" algn="l" rotWithShape="0">
              <a:prstClr val="black">
                <a:alpha val="40000"/>
              </a:prstClr>
            </a:outerShdw>
          </a:effectLst>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A70DF37D-86A3-45DB-B1C1-580462D4BB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77037" b="73004"/>
          <a:stretch/>
        </p:blipFill>
        <p:spPr>
          <a:xfrm>
            <a:off x="1" y="-2"/>
            <a:ext cx="3321978" cy="2196792"/>
          </a:xfrm>
          <a:prstGeom prst="rect">
            <a:avLst/>
          </a:prstGeom>
        </p:spPr>
      </p:pic>
      <p:sp>
        <p:nvSpPr>
          <p:cNvPr id="2" name="Başlık 1">
            <a:extLst>
              <a:ext uri="{FF2B5EF4-FFF2-40B4-BE49-F238E27FC236}">
                <a16:creationId xmlns:a16="http://schemas.microsoft.com/office/drawing/2014/main" id="{896DB817-0F59-2AA0-17BC-36A560DE60D7}"/>
              </a:ext>
            </a:extLst>
          </p:cNvPr>
          <p:cNvSpPr>
            <a:spLocks noGrp="1"/>
          </p:cNvSpPr>
          <p:nvPr>
            <p:ph type="title"/>
          </p:nvPr>
        </p:nvSpPr>
        <p:spPr>
          <a:xfrm>
            <a:off x="959896" y="960814"/>
            <a:ext cx="2732249" cy="4912936"/>
          </a:xfrm>
        </p:spPr>
        <p:txBody>
          <a:bodyPr anchor="b">
            <a:normAutofit/>
          </a:bodyPr>
          <a:lstStyle/>
          <a:p>
            <a:pPr algn="r"/>
            <a:r>
              <a:rPr lang="tr-TR" sz="4000">
                <a:solidFill>
                  <a:schemeClr val="bg1"/>
                </a:solidFill>
              </a:rPr>
              <a:t>Dünya Ölçeğine Göre İşletmeler</a:t>
            </a:r>
          </a:p>
        </p:txBody>
      </p:sp>
      <p:sp>
        <p:nvSpPr>
          <p:cNvPr id="3" name="İçerik Yer Tutucusu 2">
            <a:extLst>
              <a:ext uri="{FF2B5EF4-FFF2-40B4-BE49-F238E27FC236}">
                <a16:creationId xmlns:a16="http://schemas.microsoft.com/office/drawing/2014/main" id="{3DB7761A-283C-A856-B49E-1B19B0A69E62}"/>
              </a:ext>
            </a:extLst>
          </p:cNvPr>
          <p:cNvSpPr>
            <a:spLocks noGrp="1"/>
          </p:cNvSpPr>
          <p:nvPr>
            <p:ph idx="1"/>
          </p:nvPr>
        </p:nvSpPr>
        <p:spPr>
          <a:xfrm>
            <a:off x="4979078" y="960814"/>
            <a:ext cx="6247722" cy="4830385"/>
          </a:xfrm>
        </p:spPr>
        <p:txBody>
          <a:bodyPr anchor="ctr">
            <a:normAutofit/>
          </a:bodyPr>
          <a:lstStyle/>
          <a:p>
            <a:pPr>
              <a:lnSpc>
                <a:spcPct val="110000"/>
              </a:lnSpc>
            </a:pPr>
            <a:r>
              <a:rPr lang="tr-TR" sz="1500" cap="none"/>
              <a:t>İşletmeler sahiplik, yönetim, üretim ve satış bakımından bir ülke sınırları içinde ve dışında olmalarına göre şu şekilde sınıflandırılabilir: 1. Ulusal işletmeler 2. Uluslararası işletmeler 3. Çokuluslu işletmeler ulusal işletmeler bir ülkede kurulmuş sahipliği ve yönetimi, kurulduğu ülke insanları tarafından yürütülen, üretimi ve pazarlaması o ülke içerinde yapılan işletmeler ulusal işletmelerdir. Bu işletmelere yerel işletmeler de denir. İşletmelerin özel ya da kamu niteliği taşıması önemli değildir. Genellikle kapalı ekonomilerde çok görülür. Uluslararası işletmeler bir ülkede kurulmuş ancak faaliyetlerden bir kısmı başka ülkelerde yürütülüyorsa örneğin türkiye’de üretim yapılıyor, üretimin önemli bir kısmı başka ülkelerde satılıyorsa, bu tür işletmelere uluslararası işletme denir. Çünkü faaliyetleri ülke sınırları dışına taşmıştır. Yönetimleri genellikle kurulduğu ülkenin insanları tarafından yapılan işletmelerdir. Çokuluslu işletmeler çokuluslu işletmeler, uluslararası işletmelerin büyümüş şeklidir. İşletmelerde toplam üretimin, pazarlamanın, insan kaynakları ve yönetiminin önemli bir kısmı, yabancı ülkelerde yapılıyorsa bu işletme çokuluslu işletme olarak adlandırılır</a:t>
            </a:r>
          </a:p>
        </p:txBody>
      </p:sp>
    </p:spTree>
    <p:extLst>
      <p:ext uri="{BB962C8B-B14F-4D97-AF65-F5344CB8AC3E}">
        <p14:creationId xmlns:p14="http://schemas.microsoft.com/office/powerpoint/2010/main" val="3096950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a:extLst>
            <a:ext uri="{FF2B5EF4-FFF2-40B4-BE49-F238E27FC236}">
              <a16:creationId xmlns:a16="http://schemas.microsoft.com/office/drawing/2014/main" id="{1CEC3A6A-4AEC-A4E6-8FA2-4AE2CF2C0D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8DC45A7B-DD42-EA95-C3EF-0A001BF5E577}"/>
              </a:ext>
            </a:extLst>
          </p:cNvPr>
          <p:cNvSpPr>
            <a:spLocks noGrp="1"/>
          </p:cNvSpPr>
          <p:nvPr>
            <p:ph type="title"/>
          </p:nvPr>
        </p:nvSpPr>
        <p:spPr>
          <a:xfrm>
            <a:off x="641074" y="1588878"/>
            <a:ext cx="2844002" cy="3680244"/>
          </a:xfrm>
        </p:spPr>
        <p:txBody>
          <a:bodyPr>
            <a:normAutofit/>
          </a:bodyPr>
          <a:lstStyle/>
          <a:p>
            <a:pPr algn="l"/>
            <a:r>
              <a:rPr lang="tr-TR" sz="4400">
                <a:solidFill>
                  <a:srgbClr val="FFFFFF"/>
                </a:solidFill>
              </a:rPr>
              <a:t>Dünya Ölçeğine Göre İşletmeler</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52E9B1D7-796B-D6F3-4DF3-0073BE533FC8}"/>
              </a:ext>
            </a:extLst>
          </p:cNvPr>
          <p:cNvSpPr>
            <a:spLocks noGrp="1"/>
          </p:cNvSpPr>
          <p:nvPr>
            <p:ph idx="1"/>
          </p:nvPr>
        </p:nvSpPr>
        <p:spPr>
          <a:xfrm>
            <a:off x="4634794" y="1049695"/>
            <a:ext cx="6642806" cy="4758611"/>
          </a:xfrm>
        </p:spPr>
        <p:txBody>
          <a:bodyPr anchor="ctr">
            <a:normAutofit/>
          </a:bodyPr>
          <a:lstStyle/>
          <a:p>
            <a:pPr>
              <a:lnSpc>
                <a:spcPct val="110000"/>
              </a:lnSpc>
            </a:pPr>
            <a:r>
              <a:rPr lang="tr-TR" sz="1400" cap="none"/>
              <a:t>Uluslararası ticaret odası’nın 1969 yılındaki istanbul’da yapılan 22.Kongre (mucuk, 2011, s.47) raporunda; “bir uluslararası işletmenin yabancı ülkelerdeki üretimi, toplam üretimin en az %25-30’unu geçtiği zaman veya üretim bilinmiyorsa, yabancı ülkelerdeki kârlar, toplam kârların önemli bir oranına veya bunlar da bilinmiyorsa, yabancı ülkelerdeki personeli, toplam personelin önemli bir oranına ulaştığı zaman bu işletmeye çokuluslu işletme denir.” Şeklinde bir tanım yapılmıştır. Anlaşılacağı üzere, yabancı ülkelerdeki faaliyetlerle ilgili çalıştırılan insan kaynağı, kâr veya üretim gibi temel kriterlerden birinin toplam içindeki payı bize o işletmenin çokuluslu olup olmadığını göstermektedir. Çokuluslu işletmelerin bazı özellikleri şunlardır (mucuk, 2011, s.48):</a:t>
            </a:r>
          </a:p>
          <a:p>
            <a:pPr>
              <a:lnSpc>
                <a:spcPct val="110000"/>
              </a:lnSpc>
            </a:pPr>
            <a:r>
              <a:rPr lang="tr-TR" sz="1400" cap="none"/>
              <a:t>Üretim birden fazla dış ülkede yapılır.</a:t>
            </a:r>
          </a:p>
          <a:p>
            <a:pPr>
              <a:lnSpc>
                <a:spcPct val="110000"/>
              </a:lnSpc>
            </a:pPr>
            <a:r>
              <a:rPr lang="tr-TR" sz="1400" cap="none"/>
              <a:t>Ülke birimleri, belirli bir bağımsızlık	 içinde çalışır. </a:t>
            </a:r>
          </a:p>
          <a:p>
            <a:pPr>
              <a:lnSpc>
                <a:spcPct val="110000"/>
              </a:lnSpc>
            </a:pPr>
            <a:r>
              <a:rPr lang="tr-TR" sz="1400" cap="none"/>
              <a:t>Sermaye	sahipliği ikiden fazla ülkeye yayılmıştır.</a:t>
            </a:r>
          </a:p>
          <a:p>
            <a:pPr>
              <a:lnSpc>
                <a:spcPct val="110000"/>
              </a:lnSpc>
            </a:pPr>
            <a:r>
              <a:rPr lang="tr-TR" sz="1400" cap="none"/>
              <a:t>Birimlerin	tepe yöneticileri genel merkezden görevlendirilir.</a:t>
            </a:r>
          </a:p>
          <a:p>
            <a:pPr>
              <a:lnSpc>
                <a:spcPct val="110000"/>
              </a:lnSpc>
            </a:pPr>
            <a:r>
              <a:rPr lang="tr-TR" sz="1400" cap="none"/>
              <a:t>İhtiyaç duyulan finansman uluslararası sermaye	piyasalarından sağlanır.	</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22026236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84000"/>
                <a:shade val="100000"/>
                <a:hueMod val="130000"/>
                <a:satMod val="150000"/>
                <a:lumMod val="112000"/>
              </a:schemeClr>
            </a:gs>
            <a:gs pos="100000">
              <a:schemeClr val="bg1">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solidFill>
            <a:schemeClr val="accent1">
              <a:lumMod val="75000"/>
            </a:schemeClr>
          </a:solidFill>
          <a:ln>
            <a:noFill/>
          </a:ln>
          <a:effectLst>
            <a:outerShdw blurRad="50800" dist="12700" algn="l" rotWithShape="0">
              <a:prstClr val="black">
                <a:alpha val="30000"/>
              </a:prstClr>
            </a:outerShdw>
          </a:effectLst>
        </p:spPr>
        <p:style>
          <a:lnRef idx="2">
            <a:schemeClr val="accent1">
              <a:shade val="50000"/>
            </a:schemeClr>
          </a:lnRef>
          <a:fillRef idx="1002">
            <a:schemeClr val="l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712C462-8366-1ECB-87DA-5A1991CB723E}"/>
              </a:ext>
            </a:extLst>
          </p:cNvPr>
          <p:cNvSpPr>
            <a:spLocks noGrp="1"/>
          </p:cNvSpPr>
          <p:nvPr>
            <p:ph type="title"/>
          </p:nvPr>
        </p:nvSpPr>
        <p:spPr>
          <a:xfrm>
            <a:off x="641074" y="1588878"/>
            <a:ext cx="2844002" cy="3680244"/>
          </a:xfrm>
        </p:spPr>
        <p:txBody>
          <a:bodyPr>
            <a:normAutofit/>
          </a:bodyPr>
          <a:lstStyle/>
          <a:p>
            <a:pPr algn="l"/>
            <a:r>
              <a:rPr lang="tr-TR" sz="3700">
                <a:solidFill>
                  <a:srgbClr val="FFFFFF"/>
                </a:solidFill>
              </a:rPr>
              <a:t>Yasal Statü Bakımından İşletme Türleri</a:t>
            </a:r>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3" name="İçerik Yer Tutucusu 2">
            <a:extLst>
              <a:ext uri="{FF2B5EF4-FFF2-40B4-BE49-F238E27FC236}">
                <a16:creationId xmlns:a16="http://schemas.microsoft.com/office/drawing/2014/main" id="{C6CE2298-9009-2A13-22D8-D894A0BF8501}"/>
              </a:ext>
            </a:extLst>
          </p:cNvPr>
          <p:cNvSpPr>
            <a:spLocks noGrp="1"/>
          </p:cNvSpPr>
          <p:nvPr>
            <p:ph idx="1"/>
          </p:nvPr>
        </p:nvSpPr>
        <p:spPr>
          <a:xfrm>
            <a:off x="4634794" y="1049695"/>
            <a:ext cx="6642806" cy="4758611"/>
          </a:xfrm>
        </p:spPr>
        <p:txBody>
          <a:bodyPr anchor="ctr">
            <a:normAutofit lnSpcReduction="10000"/>
          </a:bodyPr>
          <a:lstStyle/>
          <a:p>
            <a:pPr>
              <a:lnSpc>
                <a:spcPct val="110000"/>
              </a:lnSpc>
            </a:pPr>
            <a:r>
              <a:rPr lang="tr-TR" sz="1300" cap="none"/>
              <a:t>Bilindiği gibi uygulanmakta olan ekonomik sistem gereği piyasada üç tür mülkiyete dayalı işletme vardır: özel işletmeler, kamu işletmeleri, yabancı sermayeli işletmeler. Bu kısımda sadece özel işletmelerin hukuki statüleri liste hâlinde verilecektir. </a:t>
            </a:r>
          </a:p>
          <a:p>
            <a:pPr>
              <a:lnSpc>
                <a:spcPct val="110000"/>
              </a:lnSpc>
            </a:pPr>
            <a:r>
              <a:rPr lang="tr-TR" sz="1300" cap="none"/>
              <a:t>Özel işletmeler</a:t>
            </a:r>
          </a:p>
          <a:p>
            <a:pPr marL="0" indent="0">
              <a:lnSpc>
                <a:spcPct val="110000"/>
              </a:lnSpc>
              <a:buNone/>
            </a:pPr>
            <a:r>
              <a:rPr lang="tr-TR" sz="1300" cap="none"/>
              <a:t> I.  Tek kişi işletmeleri </a:t>
            </a:r>
          </a:p>
          <a:p>
            <a:pPr marL="0" indent="0">
              <a:lnSpc>
                <a:spcPct val="110000"/>
              </a:lnSpc>
              <a:buNone/>
            </a:pPr>
            <a:r>
              <a:rPr lang="tr-TR" sz="1300" cap="none"/>
              <a:t>II.  Şirket şeklindeki işletmeler </a:t>
            </a:r>
          </a:p>
          <a:p>
            <a:pPr lvl="1">
              <a:lnSpc>
                <a:spcPct val="110000"/>
              </a:lnSpc>
            </a:pPr>
            <a:r>
              <a:rPr lang="tr-TR" sz="1300" cap="none"/>
              <a:t>Adi şirketler </a:t>
            </a:r>
          </a:p>
          <a:p>
            <a:pPr lvl="1">
              <a:lnSpc>
                <a:spcPct val="110000"/>
              </a:lnSpc>
            </a:pPr>
            <a:r>
              <a:rPr lang="tr-TR" sz="1300" cap="none"/>
              <a:t>Ticaret şirketleri </a:t>
            </a:r>
          </a:p>
          <a:p>
            <a:pPr marL="0" indent="0">
              <a:lnSpc>
                <a:spcPct val="110000"/>
              </a:lnSpc>
              <a:buNone/>
            </a:pPr>
            <a:r>
              <a:rPr lang="tr-TR" sz="1300" cap="none"/>
              <a:t>	Şahıs şirketleri    </a:t>
            </a:r>
          </a:p>
          <a:p>
            <a:pPr lvl="2">
              <a:lnSpc>
                <a:spcPct val="110000"/>
              </a:lnSpc>
              <a:buFont typeface="Courier New" panose="02070309020205020404" pitchFamily="49" charset="0"/>
              <a:buChar char="o"/>
            </a:pPr>
            <a:r>
              <a:rPr lang="tr-TR" sz="1300" cap="none"/>
              <a:t>kollektif şirket     </a:t>
            </a:r>
          </a:p>
          <a:p>
            <a:pPr lvl="2">
              <a:lnSpc>
                <a:spcPct val="110000"/>
              </a:lnSpc>
              <a:buFont typeface="Courier New" panose="02070309020205020404" pitchFamily="49" charset="0"/>
              <a:buChar char="o"/>
            </a:pPr>
            <a:r>
              <a:rPr lang="tr-TR" sz="1300" cap="none"/>
              <a:t>adi komandit şirket</a:t>
            </a:r>
          </a:p>
          <a:p>
            <a:pPr marL="0" indent="0">
              <a:lnSpc>
                <a:spcPct val="110000"/>
              </a:lnSpc>
              <a:buNone/>
            </a:pPr>
            <a:r>
              <a:rPr lang="tr-TR" sz="1300" cap="none"/>
              <a:t>	Sermaye şirketleri    </a:t>
            </a:r>
          </a:p>
          <a:p>
            <a:pPr lvl="2">
              <a:lnSpc>
                <a:spcPct val="110000"/>
              </a:lnSpc>
              <a:buFont typeface="Courier New" panose="02070309020205020404" pitchFamily="49" charset="0"/>
              <a:buChar char="o"/>
            </a:pPr>
            <a:r>
              <a:rPr lang="tr-TR" sz="1300" cap="none"/>
              <a:t>anonim şirket    </a:t>
            </a:r>
          </a:p>
          <a:p>
            <a:pPr lvl="2">
              <a:lnSpc>
                <a:spcPct val="110000"/>
              </a:lnSpc>
              <a:buFont typeface="Courier New" panose="02070309020205020404" pitchFamily="49" charset="0"/>
              <a:buChar char="o"/>
            </a:pPr>
            <a:r>
              <a:rPr lang="tr-TR" sz="1300" cap="none"/>
              <a:t>limited şirket    </a:t>
            </a:r>
          </a:p>
          <a:p>
            <a:pPr lvl="2">
              <a:lnSpc>
                <a:spcPct val="110000"/>
              </a:lnSpc>
              <a:buFont typeface="Courier New" panose="02070309020205020404" pitchFamily="49" charset="0"/>
              <a:buChar char="o"/>
            </a:pPr>
            <a:r>
              <a:rPr lang="tr-TR" sz="1300" cap="none"/>
              <a:t>sermayesi paylara bölünmüş komandit şirket</a:t>
            </a:r>
          </a:p>
          <a:p>
            <a:pPr marL="0" indent="0">
              <a:lnSpc>
                <a:spcPct val="110000"/>
              </a:lnSpc>
              <a:buNone/>
            </a:pPr>
            <a:r>
              <a:rPr lang="tr-TR" sz="1300" cap="none"/>
              <a:t>III. Kooperatifler, dernek, vakıf ve meslek kuruluşlarının iktisadi işletmeleri</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4730772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84000"/>
                <a:shade val="100000"/>
                <a:hueMod val="130000"/>
                <a:satMod val="150000"/>
                <a:lumMod val="112000"/>
              </a:schemeClr>
            </a:gs>
            <a:gs pos="100000">
              <a:schemeClr val="bg2">
                <a:shade val="92000"/>
                <a:satMod val="140000"/>
                <a:lumMod val="110000"/>
              </a:schemeClr>
            </a:gs>
          </a:gsLst>
          <a:lin ang="540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1C0F6D-5AB0-457D-A2E5-4B8E77E39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56A97F-536A-4D70-BE3C-46ED7477A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D0D0D">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8F27DD5-AB09-4348-AEAE-38DD5BF3B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284159"/>
          </a:xfrm>
          <a:prstGeom prst="rect">
            <a:avLst/>
          </a:prstGeom>
          <a:ln>
            <a:noFill/>
          </a:ln>
          <a:effectLst>
            <a:outerShdw blurRad="889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4E17C287-4051-B604-1ABD-907F8D4A8E46}"/>
              </a:ext>
            </a:extLst>
          </p:cNvPr>
          <p:cNvSpPr>
            <a:spLocks noGrp="1"/>
          </p:cNvSpPr>
          <p:nvPr>
            <p:ph type="title"/>
          </p:nvPr>
        </p:nvSpPr>
        <p:spPr>
          <a:xfrm>
            <a:off x="913776" y="643466"/>
            <a:ext cx="3418784" cy="4308475"/>
          </a:xfrm>
        </p:spPr>
        <p:txBody>
          <a:bodyPr anchor="t">
            <a:normAutofit/>
          </a:bodyPr>
          <a:lstStyle/>
          <a:p>
            <a:pPr algn="l"/>
            <a:r>
              <a:rPr lang="tr-TR" sz="4100"/>
              <a:t>İŞLETMELERİN BAŞARISININ TEMEL GÖSTERGELERİ</a:t>
            </a:r>
          </a:p>
        </p:txBody>
      </p:sp>
      <p:sp>
        <p:nvSpPr>
          <p:cNvPr id="3" name="İçerik Yer Tutucusu 2">
            <a:extLst>
              <a:ext uri="{FF2B5EF4-FFF2-40B4-BE49-F238E27FC236}">
                <a16:creationId xmlns:a16="http://schemas.microsoft.com/office/drawing/2014/main" id="{47BF40C4-A80D-3D85-8865-1DFB2739266E}"/>
              </a:ext>
            </a:extLst>
          </p:cNvPr>
          <p:cNvSpPr>
            <a:spLocks noGrp="1"/>
          </p:cNvSpPr>
          <p:nvPr>
            <p:ph idx="1"/>
          </p:nvPr>
        </p:nvSpPr>
        <p:spPr>
          <a:xfrm>
            <a:off x="4654295" y="643466"/>
            <a:ext cx="6623305" cy="4308476"/>
          </a:xfrm>
        </p:spPr>
        <p:txBody>
          <a:bodyPr>
            <a:normAutofit/>
          </a:bodyPr>
          <a:lstStyle/>
          <a:p>
            <a:r>
              <a:rPr lang="tr-TR" sz="1800"/>
              <a:t>İşletmeler önceden belirlenen amaçlara ulaşmak için bazı ilkelere uymak zorundadırlar. Bu ilkeler, işletmelerin her döneminde ve tüm yaşamı boyunca geçerlidir. Bunlar uzun yıllar işletmecilik uygulamaları sonucunda ortaya çıkmıştır. Ekonomik ve toplumsal değişmeler yeni ilkeleri gündeme getirmiştir. Yenilikçilik de ilkeler listesine girmiştir. Bu ilkeler, özel ya da kamu her işletme için geçerlidir.</a:t>
            </a:r>
          </a:p>
        </p:txBody>
      </p:sp>
      <p:pic>
        <p:nvPicPr>
          <p:cNvPr id="14" name="Picture 13">
            <a:extLst>
              <a:ext uri="{FF2B5EF4-FFF2-40B4-BE49-F238E27FC236}">
                <a16:creationId xmlns:a16="http://schemas.microsoft.com/office/drawing/2014/main" id="{522BA091-022A-4EB4-BBA0-0309BF5F919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79187"/>
          <a:stretch/>
        </p:blipFill>
        <p:spPr>
          <a:xfrm>
            <a:off x="0" y="5430644"/>
            <a:ext cx="12192000" cy="1427356"/>
          </a:xfrm>
          <a:prstGeom prst="rect">
            <a:avLst/>
          </a:prstGeom>
        </p:spPr>
      </p:pic>
    </p:spTree>
    <p:extLst>
      <p:ext uri="{BB962C8B-B14F-4D97-AF65-F5344CB8AC3E}">
        <p14:creationId xmlns:p14="http://schemas.microsoft.com/office/powerpoint/2010/main" val="1562599834"/>
      </p:ext>
    </p:extLst>
  </p:cSld>
  <p:clrMapOvr>
    <a:overrideClrMapping bg1="dk1" tx1="lt1" bg2="dk2" tx2="lt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a:extLst>
            <a:ext uri="{FF2B5EF4-FFF2-40B4-BE49-F238E27FC236}">
              <a16:creationId xmlns:a16="http://schemas.microsoft.com/office/drawing/2014/main" id="{E2C6B5C6-F9BC-9CE8-6D1A-05D445DCD80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A9C15D4-2EE7-4D05-B87C-91D1F3B96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4ED7B0FB-9654-4441-9545-02D458B68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BB94C57-FDF3-45A3-9D1F-904523D795D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sp>
        <p:nvSpPr>
          <p:cNvPr id="2" name="Başlık 1">
            <a:extLst>
              <a:ext uri="{FF2B5EF4-FFF2-40B4-BE49-F238E27FC236}">
                <a16:creationId xmlns:a16="http://schemas.microsoft.com/office/drawing/2014/main" id="{DB4CC182-D09F-2124-F795-1FB23F9D7F2A}"/>
              </a:ext>
            </a:extLst>
          </p:cNvPr>
          <p:cNvSpPr>
            <a:spLocks noGrp="1"/>
          </p:cNvSpPr>
          <p:nvPr>
            <p:ph type="title"/>
          </p:nvPr>
        </p:nvSpPr>
        <p:spPr>
          <a:xfrm>
            <a:off x="641074" y="1419900"/>
            <a:ext cx="2844002" cy="4018201"/>
          </a:xfrm>
        </p:spPr>
        <p:txBody>
          <a:bodyPr>
            <a:normAutofit/>
          </a:bodyPr>
          <a:lstStyle/>
          <a:p>
            <a:pPr algn="l"/>
            <a:r>
              <a:rPr lang="tr-TR" sz="3100"/>
              <a:t>İŞLETMELERİN BAŞARISININ TEMEL GÖSTERGELERİ</a:t>
            </a:r>
          </a:p>
        </p:txBody>
      </p:sp>
      <p:sp>
        <p:nvSpPr>
          <p:cNvPr id="3" name="İçerik Yer Tutucusu 2">
            <a:extLst>
              <a:ext uri="{FF2B5EF4-FFF2-40B4-BE49-F238E27FC236}">
                <a16:creationId xmlns:a16="http://schemas.microsoft.com/office/drawing/2014/main" id="{382D3E64-F046-C82A-C480-BEB12C2F3A15}"/>
              </a:ext>
            </a:extLst>
          </p:cNvPr>
          <p:cNvSpPr>
            <a:spLocks noGrp="1"/>
          </p:cNvSpPr>
          <p:nvPr>
            <p:ph idx="1"/>
          </p:nvPr>
        </p:nvSpPr>
        <p:spPr>
          <a:xfrm>
            <a:off x="4701008" y="1193576"/>
            <a:ext cx="6576591" cy="4470850"/>
          </a:xfrm>
        </p:spPr>
        <p:txBody>
          <a:bodyPr anchor="ctr">
            <a:normAutofit/>
          </a:bodyPr>
          <a:lstStyle/>
          <a:p>
            <a:pPr>
              <a:lnSpc>
                <a:spcPct val="110000"/>
              </a:lnSpc>
            </a:pPr>
            <a:r>
              <a:rPr lang="tr-TR" sz="1700"/>
              <a:t>Verimlilik (Prodüktivite) Verimlilik girdi ile çıktı arasındaki bir ilişkidir. İşletmenin başarısını bildiren çok önemli bir göstergedir. İşletmeler ister ürün isterse hizmet üretsinler, genel anlamda üretim faktörlerini girdi olarak kullanarak, mümkün olan en çok çıktıyı yani ürün ve hizmeti üretmelidir. Aynı miktar girdiden ne kadar çok çıktı üretirsek ya da aynı çıktıyı ne kadar az girdiden üretirsek verimliliği yakalamış oluruz. Aynı şekilde girdi ve çıktı ilişkisinde herhangi birinin ya da ikisinin de miktarında değişiklikler yaparak ve rimliliği elde edebiliriz. Hangi seçeneği uygulamış olursak olalım, yapmış olduğumuz şey girdileri daha üretken kullanmamızdır. Bir işletmede kullanılan toplam üretim faktörlerinin verimliliğini ölçmek için aşağıdaki formül uygulanır.</a:t>
            </a:r>
          </a:p>
        </p:txBody>
      </p:sp>
      <p:pic>
        <p:nvPicPr>
          <p:cNvPr id="14" name="Picture 13">
            <a:extLst>
              <a:ext uri="{FF2B5EF4-FFF2-40B4-BE49-F238E27FC236}">
                <a16:creationId xmlns:a16="http://schemas.microsoft.com/office/drawing/2014/main" id="{6AEBDF1A-221A-4497-BBA9-57A70D1615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Tree>
    <p:extLst>
      <p:ext uri="{BB962C8B-B14F-4D97-AF65-F5344CB8AC3E}">
        <p14:creationId xmlns:p14="http://schemas.microsoft.com/office/powerpoint/2010/main" val="1040098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333CE-DA45-6D04-4ACD-F6C51C18EE1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7506934-02CD-E54F-16BA-A016489BF501}"/>
              </a:ext>
            </a:extLst>
          </p:cNvPr>
          <p:cNvSpPr>
            <a:spLocks noGrp="1"/>
          </p:cNvSpPr>
          <p:nvPr>
            <p:ph type="title"/>
          </p:nvPr>
        </p:nvSpPr>
        <p:spPr>
          <a:xfrm>
            <a:off x="542242" y="513774"/>
            <a:ext cx="10364451" cy="1596177"/>
          </a:xfrm>
        </p:spPr>
        <p:txBody>
          <a:bodyPr/>
          <a:lstStyle/>
          <a:p>
            <a:r>
              <a:rPr lang="tr-TR"/>
              <a:t>İŞLETMELERİN BAŞARISININ TEMEL GÖSTERGELERİ</a:t>
            </a:r>
          </a:p>
        </p:txBody>
      </p:sp>
      <p:pic>
        <p:nvPicPr>
          <p:cNvPr id="5" name="İçerik Yer Tutucusu 4" descr="metin, ekran görüntüsü, yazı tipi, cebir içeren bir resim&#10;&#10;Yapay zeka tarafından oluşturulan içerik yanlış olabilir.">
            <a:extLst>
              <a:ext uri="{FF2B5EF4-FFF2-40B4-BE49-F238E27FC236}">
                <a16:creationId xmlns:a16="http://schemas.microsoft.com/office/drawing/2014/main" id="{13DCD9F6-DCC2-F4BD-6BD0-E81CD638E1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609352" y="2214694"/>
            <a:ext cx="7559883" cy="4042437"/>
          </a:xfrm>
        </p:spPr>
      </p:pic>
    </p:spTree>
    <p:extLst>
      <p:ext uri="{BB962C8B-B14F-4D97-AF65-F5344CB8AC3E}">
        <p14:creationId xmlns:p14="http://schemas.microsoft.com/office/powerpoint/2010/main" val="2882488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AD5BD3-8968-0532-0396-385607BCD840}"/>
              </a:ext>
            </a:extLst>
          </p:cNvPr>
          <p:cNvSpPr>
            <a:spLocks noGrp="1"/>
          </p:cNvSpPr>
          <p:nvPr>
            <p:ph type="title"/>
          </p:nvPr>
        </p:nvSpPr>
        <p:spPr/>
        <p:txBody>
          <a:bodyPr/>
          <a:lstStyle/>
          <a:p>
            <a:r>
              <a:rPr lang="tr-TR"/>
              <a:t>Kârlılık (Rantabilite)</a:t>
            </a:r>
          </a:p>
        </p:txBody>
      </p:sp>
      <p:sp>
        <p:nvSpPr>
          <p:cNvPr id="3" name="İçerik Yer Tutucusu 2">
            <a:extLst>
              <a:ext uri="{FF2B5EF4-FFF2-40B4-BE49-F238E27FC236}">
                <a16:creationId xmlns:a16="http://schemas.microsoft.com/office/drawing/2014/main" id="{8F892399-182E-1F59-99CA-D893BF67AC9F}"/>
              </a:ext>
            </a:extLst>
          </p:cNvPr>
          <p:cNvSpPr>
            <a:spLocks noGrp="1"/>
          </p:cNvSpPr>
          <p:nvPr>
            <p:ph idx="1"/>
          </p:nvPr>
        </p:nvSpPr>
        <p:spPr/>
        <p:txBody>
          <a:bodyPr>
            <a:normAutofit fontScale="85000" lnSpcReduction="10000"/>
          </a:bodyPr>
          <a:lstStyle/>
          <a:p>
            <a:r>
              <a:rPr lang="tr-TR"/>
              <a:t>Bilindiği gibi kâr belirli bir dönemdeki gelirlerle giderler arasındaki olumlu farktır. Kârlılık, işletmenin başarısını gösteren en temel göstergedir. Çünkü kâr işletmenin varlık nedenidir. İşletme kâr edemezse diğer amaçlarını da yerine getiremez. İşletmenin piyasadaki varlığı kâra bağlıdır. Kârlılık durumu, işletme için çok önemlidir. İşletme kararlarını buna göre almaktadır. Genel olarak kârın sermayeye oranı kârlılığı gösterir.</a:t>
            </a:r>
          </a:p>
          <a:p>
            <a:r>
              <a:rPr lang="tr-TR"/>
              <a:t>Genel olarak kârın sermayeye oranı kârlılığı gösterir. Kârlılık dönemsel olarak hesaplanır. Oranın yüksekliği kârlılığın yükseldiğini gösterir. Kârın sermayeye oranı sermayenin kârlılığını gösterir. Bunu yükseltmek için ya kârın yükseltilmesi ya da sermayenin azaltılması gerekir. Bunu yükseltmek için de maliyeti düşürmek ya da gelirleri (miktar x fiyat) artırmak gerekir. Gelirleri artırmak da miktarı ya da fiyatı veya ikisini birden artırmakla mümkündür. Bir de işletmenin finansal kârlılık oranı vardır (Sabuncuoğlu ve Tokol, 1997, s. 61).</a:t>
            </a:r>
          </a:p>
        </p:txBody>
      </p:sp>
      <p:pic>
        <p:nvPicPr>
          <p:cNvPr id="5" name="Resim 4" descr="metin, yazı tipi, beyaz, logo içeren bir resim&#10;&#10;Yapay zeka tarafından oluşturulan içerik yanlış olabilir.">
            <a:extLst>
              <a:ext uri="{FF2B5EF4-FFF2-40B4-BE49-F238E27FC236}">
                <a16:creationId xmlns:a16="http://schemas.microsoft.com/office/drawing/2014/main" id="{5B338AC5-9D1E-7991-3D7F-4B365B05F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8597" y="5939403"/>
            <a:ext cx="1771897" cy="600159"/>
          </a:xfrm>
          <a:prstGeom prst="rect">
            <a:avLst/>
          </a:prstGeom>
        </p:spPr>
      </p:pic>
      <p:pic>
        <p:nvPicPr>
          <p:cNvPr id="7" name="Resim 6" descr="metin, yazı tipi, beyaz, tasarım içeren bir resim&#10;&#10;Yapay zeka tarafından oluşturulan içerik yanlış olabilir.">
            <a:extLst>
              <a:ext uri="{FF2B5EF4-FFF2-40B4-BE49-F238E27FC236}">
                <a16:creationId xmlns:a16="http://schemas.microsoft.com/office/drawing/2014/main" id="{BC699E88-1647-2A0E-4A1C-0C017382A2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5616" y="5791200"/>
            <a:ext cx="2524477" cy="733527"/>
          </a:xfrm>
          <a:prstGeom prst="rect">
            <a:avLst/>
          </a:prstGeom>
        </p:spPr>
      </p:pic>
    </p:spTree>
    <p:extLst>
      <p:ext uri="{BB962C8B-B14F-4D97-AF65-F5344CB8AC3E}">
        <p14:creationId xmlns:p14="http://schemas.microsoft.com/office/powerpoint/2010/main" val="21944888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1">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9" name="Rectangle 13">
            <a:extLst>
              <a:ext uri="{FF2B5EF4-FFF2-40B4-BE49-F238E27FC236}">
                <a16:creationId xmlns:a16="http://schemas.microsoft.com/office/drawing/2014/main" id="{31CA2540-FD07-4286-91E4-8D0DE4E50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7D323A54-8777-AADC-84D2-EB60DDE463E8}"/>
              </a:ext>
            </a:extLst>
          </p:cNvPr>
          <p:cNvSpPr>
            <a:spLocks noGrp="1"/>
          </p:cNvSpPr>
          <p:nvPr>
            <p:ph type="title"/>
          </p:nvPr>
        </p:nvSpPr>
        <p:spPr>
          <a:xfrm>
            <a:off x="1126762" y="1227279"/>
            <a:ext cx="4328819" cy="2509213"/>
          </a:xfrm>
        </p:spPr>
        <p:txBody>
          <a:bodyPr vert="horz" lIns="91440" tIns="45720" rIns="91440" bIns="45720" rtlCol="0" anchor="b">
            <a:normAutofit/>
          </a:bodyPr>
          <a:lstStyle/>
          <a:p>
            <a:r>
              <a:rPr lang="en-US" sz="4800"/>
              <a:t>Etkililik ve yenilikçilik</a:t>
            </a:r>
          </a:p>
        </p:txBody>
      </p:sp>
      <p:pic>
        <p:nvPicPr>
          <p:cNvPr id="16" name="Picture 15">
            <a:extLst>
              <a:ext uri="{FF2B5EF4-FFF2-40B4-BE49-F238E27FC236}">
                <a16:creationId xmlns:a16="http://schemas.microsoft.com/office/drawing/2014/main" id="{214924F5-CDC2-4DFA-82F3-4843ADD678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55295" t="89389" r="26987" b="24"/>
          <a:stretch/>
        </p:blipFill>
        <p:spPr>
          <a:xfrm flipH="1">
            <a:off x="0" y="-1"/>
            <a:ext cx="2596444" cy="872709"/>
          </a:xfrm>
          <a:prstGeom prst="rect">
            <a:avLst/>
          </a:prstGeom>
        </p:spPr>
      </p:pic>
      <p:pic>
        <p:nvPicPr>
          <p:cNvPr id="18" name="Picture 17">
            <a:extLst>
              <a:ext uri="{FF2B5EF4-FFF2-40B4-BE49-F238E27FC236}">
                <a16:creationId xmlns:a16="http://schemas.microsoft.com/office/drawing/2014/main" id="{AED59812-6820-446C-B994-0D059C97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91927" t="72411" b="13751"/>
          <a:stretch/>
        </p:blipFill>
        <p:spPr>
          <a:xfrm>
            <a:off x="10473994" y="5564567"/>
            <a:ext cx="1341545" cy="1293433"/>
          </a:xfrm>
          <a:custGeom>
            <a:avLst/>
            <a:gdLst>
              <a:gd name="connsiteX0" fmla="*/ 0 w 1341545"/>
              <a:gd name="connsiteY0" fmla="*/ 0 h 1293433"/>
              <a:gd name="connsiteX1" fmla="*/ 1341545 w 1341545"/>
              <a:gd name="connsiteY1" fmla="*/ 0 h 1293433"/>
              <a:gd name="connsiteX2" fmla="*/ 1341545 w 1341545"/>
              <a:gd name="connsiteY2" fmla="*/ 1293433 h 1293433"/>
              <a:gd name="connsiteX3" fmla="*/ 150847 w 1341545"/>
              <a:gd name="connsiteY3" fmla="*/ 1293433 h 1293433"/>
              <a:gd name="connsiteX4" fmla="*/ 66240 w 1341545"/>
              <a:gd name="connsiteY4" fmla="*/ 1183451 h 1293433"/>
              <a:gd name="connsiteX5" fmla="*/ 0 w 1341545"/>
              <a:gd name="connsiteY5" fmla="*/ 1061841 h 1293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1545" h="1293433">
                <a:moveTo>
                  <a:pt x="0" y="0"/>
                </a:moveTo>
                <a:lnTo>
                  <a:pt x="1341545" y="0"/>
                </a:lnTo>
                <a:lnTo>
                  <a:pt x="1341545" y="1293433"/>
                </a:lnTo>
                <a:lnTo>
                  <a:pt x="150847" y="1293433"/>
                </a:lnTo>
                <a:lnTo>
                  <a:pt x="66240" y="1183451"/>
                </a:lnTo>
                <a:lnTo>
                  <a:pt x="0" y="1061841"/>
                </a:lnTo>
                <a:close/>
              </a:path>
            </a:pathLst>
          </a:custGeom>
        </p:spPr>
      </p:pic>
      <p:pic>
        <p:nvPicPr>
          <p:cNvPr id="5" name="İçerik Yer Tutucusu 4" descr="metin, ekran görüntüsü, yazı tipi, doküman, belge içeren bir resim&#10;&#10;Yapay zeka tarafından oluşturulan içerik yanlış olabilir.">
            <a:extLst>
              <a:ext uri="{FF2B5EF4-FFF2-40B4-BE49-F238E27FC236}">
                <a16:creationId xmlns:a16="http://schemas.microsoft.com/office/drawing/2014/main" id="{CBDEF9A9-DB9F-9B2F-1B16-B6BA103455F7}"/>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303379" y="1241378"/>
            <a:ext cx="6512159" cy="5274848"/>
          </a:xfrm>
          <a:prstGeom prst="rect">
            <a:avLst/>
          </a:prstGeom>
        </p:spPr>
      </p:pic>
      <p:pic>
        <p:nvPicPr>
          <p:cNvPr id="20" name="Picture 19">
            <a:extLst>
              <a:ext uri="{FF2B5EF4-FFF2-40B4-BE49-F238E27FC236}">
                <a16:creationId xmlns:a16="http://schemas.microsoft.com/office/drawing/2014/main" id="{E844ED7C-1917-40D8-8B42-1B1C27BC5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73623" t="43915" r="1" b="18252"/>
          <a:stretch/>
        </p:blipFill>
        <p:spPr>
          <a:xfrm flipH="1">
            <a:off x="0" y="3142319"/>
            <a:ext cx="4605339" cy="3715682"/>
          </a:xfrm>
          <a:prstGeom prst="rect">
            <a:avLst/>
          </a:prstGeom>
        </p:spPr>
      </p:pic>
    </p:spTree>
    <p:extLst>
      <p:ext uri="{BB962C8B-B14F-4D97-AF65-F5344CB8AC3E}">
        <p14:creationId xmlns:p14="http://schemas.microsoft.com/office/powerpoint/2010/main" val="17341930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CBC8F51-05C1-62F5-933D-76D7816C0FA8}"/>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68030510-DBDC-3319-F33E-666D4F2FE134}"/>
              </a:ext>
            </a:extLst>
          </p:cNvPr>
          <p:cNvSpPr>
            <a:spLocks noGrp="1"/>
          </p:cNvSpPr>
          <p:nvPr>
            <p:ph idx="1"/>
          </p:nvPr>
        </p:nvSpPr>
        <p:spPr/>
        <p:txBody>
          <a:bodyPr/>
          <a:lstStyle/>
          <a:p>
            <a:r>
              <a:rPr lang="tr-TR"/>
              <a:t>TEŞEKKÜRLER </a:t>
            </a:r>
            <a:r>
              <a:rPr lang="tr-TR">
                <a:sym typeface="Wingdings" panose="05000000000000000000" pitchFamily="2" charset="2"/>
              </a:rPr>
              <a:t></a:t>
            </a:r>
            <a:endParaRPr lang="tr-TR"/>
          </a:p>
        </p:txBody>
      </p:sp>
    </p:spTree>
    <p:extLst>
      <p:ext uri="{BB962C8B-B14F-4D97-AF65-F5344CB8AC3E}">
        <p14:creationId xmlns:p14="http://schemas.microsoft.com/office/powerpoint/2010/main" val="4238281063"/>
      </p:ext>
    </p:extLst>
  </p:cSld>
  <p:clrMapOvr>
    <a:masterClrMapping/>
  </p:clrMapOvr>
</p:sld>
</file>

<file path=ppt/theme/theme1.xml><?xml version="1.0" encoding="utf-8"?>
<a:theme xmlns:a="http://schemas.openxmlformats.org/drawingml/2006/main" name="Damla">
  <a:themeElements>
    <a:clrScheme name="Daml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aml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l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TM04033925[[fn=Damla]]</Template>
  <TotalTime>334</TotalTime>
  <Words>8352</Words>
  <Application>Microsoft Macintosh PowerPoint</Application>
  <PresentationFormat>Geniş ekran</PresentationFormat>
  <Paragraphs>245</Paragraphs>
  <Slides>71</Slides>
  <Notes>30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71</vt:i4>
      </vt:variant>
    </vt:vector>
  </HeadingPairs>
  <TitlesOfParts>
    <vt:vector size="76" baseType="lpstr">
      <vt:lpstr>Aptos</vt:lpstr>
      <vt:lpstr>Arial</vt:lpstr>
      <vt:lpstr>Courier New</vt:lpstr>
      <vt:lpstr>Tw Cen MT</vt:lpstr>
      <vt:lpstr>Damla</vt:lpstr>
      <vt:lpstr>İŞLETME BİLİMİNE GİRİŞ</vt:lpstr>
      <vt:lpstr>1.HAFTANIN AMACI</vt:lpstr>
      <vt:lpstr>İŞLETME KAVRAMI</vt:lpstr>
      <vt:lpstr>İŞLETME KAVRAMI</vt:lpstr>
      <vt:lpstr>İŞLETME KAVRAMI</vt:lpstr>
      <vt:lpstr>İŞLETME KAVRAMI</vt:lpstr>
      <vt:lpstr>İŞLETME KAVRAMI</vt:lpstr>
      <vt:lpstr>İŞLETME KAVRAMI</vt:lpstr>
      <vt:lpstr>İŞLETME KAVRAMI</vt:lpstr>
      <vt:lpstr>İŞLETME KAVRAMI</vt:lpstr>
      <vt:lpstr>İŞLETME KAVRAMI</vt:lpstr>
      <vt:lpstr>İŞLETME KAVRAMI</vt:lpstr>
      <vt:lpstr>İŞLETME KAVRAMI</vt:lpstr>
      <vt:lpstr>İhtiyaçlar</vt:lpstr>
      <vt:lpstr>İhtiyaçlar</vt:lpstr>
      <vt:lpstr>PowerPoint Sunusu</vt:lpstr>
      <vt:lpstr>İHTİYAÇLAR</vt:lpstr>
      <vt:lpstr>İHTİYAÇLAR</vt:lpstr>
      <vt:lpstr>Fizyolojik ihtiyaçlar</vt:lpstr>
      <vt:lpstr>Güvenlik İhtiyacı</vt:lpstr>
      <vt:lpstr>Güvenlik İhtiyacı</vt:lpstr>
      <vt:lpstr>Aİt Olma ve Sevgİ İhtiyacı</vt:lpstr>
      <vt:lpstr>Saygı İhtiyacı</vt:lpstr>
      <vt:lpstr>Kendini Gerçekleştirme İhtiyacı</vt:lpstr>
      <vt:lpstr>Kendini Gerçekleştirme İhtiyacı</vt:lpstr>
      <vt:lpstr>inovasyon</vt:lpstr>
      <vt:lpstr>Üretim Faktörleri</vt:lpstr>
      <vt:lpstr>Doğal Kaynaklar</vt:lpstr>
      <vt:lpstr>Doğal Kaynaklar</vt:lpstr>
      <vt:lpstr>Doğal Kaynaklar</vt:lpstr>
      <vt:lpstr>Emek</vt:lpstr>
      <vt:lpstr>Sermaye</vt:lpstr>
      <vt:lpstr>Sermaye</vt:lpstr>
      <vt:lpstr>Girişimcilik</vt:lpstr>
      <vt:lpstr>Girişimcilik</vt:lpstr>
      <vt:lpstr>İŞLETMENİN TANIMI</vt:lpstr>
      <vt:lpstr>İŞLETMENİN TANIMI</vt:lpstr>
      <vt:lpstr>İŞLETMELERİN AMAÇLARI VE İŞLEVLERİ</vt:lpstr>
      <vt:lpstr>kar</vt:lpstr>
      <vt:lpstr>kar</vt:lpstr>
      <vt:lpstr>Ekonomik Sürdürülebilirlik</vt:lpstr>
      <vt:lpstr>Sosyal Sürdürülebilirlik</vt:lpstr>
      <vt:lpstr>Çevresel Sürdürülebilirlik</vt:lpstr>
      <vt:lpstr>İşletmenin İşlevleri (Fonksiyonları)</vt:lpstr>
      <vt:lpstr>İşletmenin İşlevleri (Fonksiyonları)</vt:lpstr>
      <vt:lpstr>İşletmenin İşlevleri (Fonksiyonları)</vt:lpstr>
      <vt:lpstr>Pazarlama</vt:lpstr>
      <vt:lpstr>Üretim</vt:lpstr>
      <vt:lpstr>İnsan Kaynakları</vt:lpstr>
      <vt:lpstr>Finansman</vt:lpstr>
      <vt:lpstr>Muhasebe</vt:lpstr>
      <vt:lpstr>Halkla İlişkiler</vt:lpstr>
      <vt:lpstr>Araştırma Geliştirme (Ar-Ge)</vt:lpstr>
      <vt:lpstr>İŞLETMELERİN SINIFLANDIRILMASI</vt:lpstr>
      <vt:lpstr>Büyüklükleri Bakımından İşletme Türleri</vt:lpstr>
      <vt:lpstr>Büyüklükleri Bakımından İşletme Türleri</vt:lpstr>
      <vt:lpstr>Büyüklükleri Bakımından İşletme Türleri</vt:lpstr>
      <vt:lpstr>Büyüklükleri Bakımından İşletme Türleri</vt:lpstr>
      <vt:lpstr>Büyüklükleri Bakımından İşletme Türleri</vt:lpstr>
      <vt:lpstr>Yaptıkları İş Bakımından İşletme Türleri</vt:lpstr>
      <vt:lpstr>Sermaye Mülkiyeti Bakımından İşletme Türleri</vt:lpstr>
      <vt:lpstr>Sermaye Mülkiyeti Bakımından İşletme Türleri</vt:lpstr>
      <vt:lpstr>Dünya Ölçeğine Göre İşletmeler</vt:lpstr>
      <vt:lpstr>Dünya Ölçeğine Göre İşletmeler</vt:lpstr>
      <vt:lpstr>Yasal Statü Bakımından İşletme Türleri</vt:lpstr>
      <vt:lpstr>İŞLETMELERİN BAŞARISININ TEMEL GÖSTERGELERİ</vt:lpstr>
      <vt:lpstr>İŞLETMELERİN BAŞARISININ TEMEL GÖSTERGELERİ</vt:lpstr>
      <vt:lpstr>İŞLETMELERİN BAŞARISININ TEMEL GÖSTERGELERİ</vt:lpstr>
      <vt:lpstr>Kârlılık (Rantabilite)</vt:lpstr>
      <vt:lpstr>Etkililik ve yenilikçilik</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İŞLETME BİLİMİNE GİRİŞ</dc:title>
  <dc:creator>Fatih Çallı</dc:creator>
  <cp:lastModifiedBy>Fatih Çallı</cp:lastModifiedBy>
  <cp:revision>6</cp:revision>
  <dcterms:created xsi:type="dcterms:W3CDTF">2025-02-17T07:39:46Z</dcterms:created>
  <dcterms:modified xsi:type="dcterms:W3CDTF">2025-02-24T16:29:08Z</dcterms:modified>
</cp:coreProperties>
</file>